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8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Lst>
  <p:sldSz cx="12192000" cy="6858000"/>
  <p:notesSz cx="6858000" cy="12192000"/>
  <p:embeddedFontLst>
    <p:embeddedFont>
      <p:font typeface="Consolas" panose="020B0609020204030204" pitchFamily="49" charset="0"/>
      <p:regular r:id="rId82"/>
      <p:bold r:id="rId83"/>
      <p:italic r:id="rId84"/>
      <p:boldItalic r:id="rId85"/>
    </p:embeddedFont>
    <p:embeddedFont>
      <p:font typeface="Poppins" panose="00000500000000000000" pitchFamily="2" charset="0"/>
      <p:regular r:id="rId86"/>
      <p:bold r:id="rId87"/>
      <p:italic r:id="rId88"/>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E73151B2-BC9A-42DA-B892-A2DC73DB680A}">
          <p14:sldIdLst>
            <p14:sldId id="256"/>
            <p14:sldId id="257"/>
            <p14:sldId id="258"/>
            <p14:sldId id="259"/>
          </p14:sldIdLst>
        </p14:section>
        <p14:section name="T1 · Comment pense une IA" id="{8B70E562-D3E5-1C2F-53DE-7955EEF30C1D}">
          <p14:sldIdLst>
            <p14:sldId id="260"/>
            <p14:sldId id="261"/>
            <p14:sldId id="262"/>
            <p14:sldId id="263"/>
            <p14:sldId id="264"/>
            <p14:sldId id="265"/>
            <p14:sldId id="266"/>
            <p14:sldId id="267"/>
            <p14:sldId id="268"/>
          </p14:sldIdLst>
        </p14:section>
        <p14:section name="Panorama des outils" id="{5941D490-1A5C-19F0-E300-CA12B8421A5E}">
          <p14:sldIdLst>
            <p14:sldId id="269"/>
            <p14:sldId id="270"/>
            <p14:sldId id="271"/>
            <p14:sldId id="272"/>
            <p14:sldId id="273"/>
            <p14:sldId id="274"/>
            <p14:sldId id="275"/>
            <p14:sldId id="276"/>
            <p14:sldId id="277"/>
          </p14:sldIdLst>
        </p14:section>
        <p14:section name="Recherche scientifique assistée par IA" id="{6AAB7389-B4B5-B54E-2A0A-F2A607350C6A}">
          <p14:sldIdLst>
            <p14:sldId id="278"/>
            <p14:sldId id="279"/>
            <p14:sldId id="280"/>
            <p14:sldId id="281"/>
            <p14:sldId id="282"/>
            <p14:sldId id="283"/>
            <p14:sldId id="284"/>
            <p14:sldId id="285"/>
            <p14:sldId id="286"/>
            <p14:sldId id="287"/>
            <p14:sldId id="288"/>
            <p14:sldId id="289"/>
            <p14:sldId id="290"/>
          </p14:sldIdLst>
        </p14:section>
        <p14:section name="T2 · L'art de bien demander" id="{4CB0681F-5889-F0D6-D796-3BAC7F688243}">
          <p14:sldIdLst>
            <p14:sldId id="291"/>
            <p14:sldId id="292"/>
            <p14:sldId id="293"/>
            <p14:sldId id="294"/>
            <p14:sldId id="295"/>
            <p14:sldId id="296"/>
            <p14:sldId id="297"/>
            <p14:sldId id="298"/>
            <p14:sldId id="299"/>
          </p14:sldIdLst>
        </p14:section>
        <p14:section name="T3 · RAG et Gemini Notebook" id="{EE047FAD-3920-2D63-F53A-66E6DB312CAF}">
          <p14:sldIdLst>
            <p14:sldId id="300"/>
            <p14:sldId id="301"/>
            <p14:sldId id="302"/>
            <p14:sldId id="303"/>
            <p14:sldId id="304"/>
            <p14:sldId id="305"/>
            <p14:sldId id="306"/>
            <p14:sldId id="307"/>
            <p14:sldId id="308"/>
            <p14:sldId id="309"/>
            <p14:sldId id="310"/>
            <p14:sldId id="311"/>
            <p14:sldId id="312"/>
            <p14:sldId id="313"/>
            <p14:sldId id="314"/>
            <p14:sldId id="315"/>
          </p14:sldIdLst>
        </p14:section>
        <p14:section name="T4 · Traduire avec l'IA" id="{EAC169FE-213B-6DB2-F6AF-0AC65EC616BC}">
          <p14:sldIdLst>
            <p14:sldId id="316"/>
            <p14:sldId id="317"/>
            <p14:sldId id="318"/>
            <p14:sldId id="319"/>
            <p14:sldId id="320"/>
          </p14:sldIdLst>
        </p14:section>
        <p14:section name="T5 · IA agentique" id="{56BF2719-60D3-7B08-D4DC-1E78131742BF}">
          <p14:sldIdLst>
            <p14:sldId id="321"/>
            <p14:sldId id="322"/>
            <p14:sldId id="323"/>
            <p14:sldId id="324"/>
            <p14:sldId id="325"/>
            <p14:sldId id="326"/>
            <p14:sldId id="327"/>
            <p14:sldId id="328"/>
            <p14:sldId id="329"/>
            <p14:sldId id="330"/>
          </p14:sldIdLst>
        </p14:section>
        <p14:section name="Clôture" id="{6B52DACD-AFB5-92EC-0409-789BD08B4EBF}">
          <p14:sldIdLst>
            <p14:sldId id="331"/>
            <p14:sldId id="332"/>
            <p14:sldId id="333"/>
            <p14:sldId id="33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font" Target="fonts/font3.fntdata"/><Relationship Id="rId89" Type="http://schemas.openxmlformats.org/officeDocument/2006/relationships/presProps" Target="pres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viewProps" Target="viewProps.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font" Target="fonts/font4.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font" Target="fonts/font2.fntdata"/><Relationship Id="rId88" Type="http://schemas.openxmlformats.org/officeDocument/2006/relationships/font" Target="fonts/font7.fntdata"/><Relationship Id="rId9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notesMaster" Target="notesMasters/notesMaster1.xml"/><Relationship Id="rId86"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ableStyles" Target="tableStyle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font" Target="fonts/font6.fntdata"/><Relationship Id="rId61" Type="http://schemas.openxmlformats.org/officeDocument/2006/relationships/slide" Target="slides/slide60.xml"/><Relationship Id="rId82" Type="http://schemas.openxmlformats.org/officeDocument/2006/relationships/font" Target="fonts/font1.fntdata"/><Relationship Id="rId19" Type="http://schemas.openxmlformats.org/officeDocument/2006/relationships/slide" Target="slides/slide1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title>
      <c:tx>
        <c:rich>
          <a:bodyPr/>
          <a:lstStyle/>
          <a:p>
            <a:pPr>
              <a:defRPr sz="1400" b="0" i="0" u="none" strike="noStrike">
                <a:solidFill>
                  <a:srgbClr val="0B3C49"/>
                </a:solidFill>
                <a:latin typeface="+mn-lt"/>
              </a:defRPr>
            </a:pPr>
            <a:r>
              <a:rPr sz="1400" b="0" i="0" u="none" strike="noStrike">
                <a:solidFill>
                  <a:srgbClr val="0B3C49"/>
                </a:solidFill>
                <a:latin typeface="+mn-lt"/>
              </a:rPr>
              <a:t>Mots candidats et leur probabilité</a:t>
            </a:r>
          </a:p>
        </c:rich>
      </c:tx>
      <c:overlay val="0"/>
    </c:title>
    <c:autoTitleDeleted val="0"/>
    <c:plotArea>
      <c:layout/>
      <c:barChart>
        <c:barDir val="bar"/>
        <c:grouping val="clustered"/>
        <c:varyColors val="0"/>
        <c:ser>
          <c:idx val="0"/>
          <c:order val="0"/>
          <c:tx>
            <c:strRef>
              <c:f>Sheet1!$B$1</c:f>
              <c:strCache>
                <c:ptCount val="1"/>
                <c:pt idx="0">
                  <c:v>Probabilité</c:v>
                </c:pt>
              </c:strCache>
            </c:strRef>
          </c:tx>
          <c:spPr>
            <a:solidFill>
              <a:srgbClr val="E0A526"/>
            </a:solidFill>
            <a:effectLst/>
          </c:spPr>
          <c:invertIfNegative val="0"/>
          <c:dLbls>
            <c:numFmt formatCode="0&quot;%&quot;" sourceLinked="0"/>
            <c:spPr>
              <a:noFill/>
              <a:ln>
                <a:noFill/>
              </a:ln>
              <a:effectLst/>
            </c:spPr>
            <c:txPr>
              <a:bodyPr/>
              <a:lstStyle/>
              <a:p>
                <a:pPr>
                  <a:defRPr sz="1300" b="0" i="0" u="none" strike="noStrike">
                    <a:solidFill>
                      <a:srgbClr val="1A2B32"/>
                    </a:solidFill>
                    <a:latin typeface="+mn-lt"/>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revue</c:v>
                </c:pt>
                <c:pt idx="1">
                  <c:v>conférence</c:v>
                </c:pt>
                <c:pt idx="2">
                  <c:v>thèse</c:v>
                </c:pt>
                <c:pt idx="3">
                  <c:v>maison d'édition</c:v>
                </c:pt>
                <c:pt idx="4">
                  <c:v>autre</c:v>
                </c:pt>
              </c:strCache>
            </c:strRef>
          </c:cat>
          <c:val>
            <c:numRef>
              <c:f>Sheet1!$B$2:$B$6</c:f>
              <c:numCache>
                <c:formatCode>General</c:formatCode>
                <c:ptCount val="5"/>
                <c:pt idx="0">
                  <c:v>62</c:v>
                </c:pt>
                <c:pt idx="1">
                  <c:v>15</c:v>
                </c:pt>
                <c:pt idx="2">
                  <c:v>9</c:v>
                </c:pt>
                <c:pt idx="3">
                  <c:v>6</c:v>
                </c:pt>
                <c:pt idx="4">
                  <c:v>8</c:v>
                </c:pt>
              </c:numCache>
            </c:numRef>
          </c:val>
          <c:extLst>
            <c:ext xmlns:c16="http://schemas.microsoft.com/office/drawing/2014/chart" uri="{C3380CC4-5D6E-409C-BE32-E72D297353CC}">
              <c16:uniqueId val="{00000000-8032-44B8-AC77-5163A48CB02E}"/>
            </c:ext>
          </c:extLst>
        </c:ser>
        <c:dLbls>
          <c:showLegendKey val="0"/>
          <c:showVal val="1"/>
          <c:showCatName val="0"/>
          <c:showSerName val="0"/>
          <c:showPercent val="0"/>
          <c:showBubbleSize val="0"/>
        </c:dLbls>
        <c:gapWidth val="15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1A2B32"/>
                </a:solidFill>
                <a:latin typeface="+mn-lt"/>
              </a:defRPr>
            </a:pPr>
            <a:endParaRPr lang="en-US"/>
          </a:p>
        </c:txPr>
        <c:crossAx val="2094734552"/>
        <c:crosses val="autoZero"/>
        <c:auto val="1"/>
        <c:lblAlgn val="ctr"/>
        <c:lblOffset val="100"/>
        <c:noMultiLvlLbl val="1"/>
      </c:catAx>
      <c:valAx>
        <c:axId val="2094734552"/>
        <c:scaling>
          <c:orientation val="minMax"/>
          <c:max val="8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882500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Accueil (8h00). Se présenter en 2 phrases : parcours, ce que je fais avec l'IA au quotidien. Rappeler J2 (recherche documentaire) et J3 (no-code). Vérifier que tout le monde est connecté au Wi-Fi.</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Présenter les 6 objectifs comme 6 productions concrètes, utilisables dans sa propre recherche.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Chaque capsule théorique est suivie immédiatement d'un lab qui l'applique. Le Lab 2 se fait sur la bibliographie de chacune (PDF apportés), le Lab 3 dans un 2e carnet avec les entretiens fictifs. En cas de retard, raccourcir le Défi, jamais la vérification.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Faire choisir à chacune sa piste maintenant (main levée par piste) et écrire son sujet de thèse en une phrase en haut du cahier. Les labs 1, 2 et 5 se font sur la thèse de chacune ; le pack commun sert de solution de repli (Labs 1 et 2) et les entretiens de la piste servent au Lab 3. Le niveau Base suffit pour valider ; le Défi est un bonus. Vérifier qui a apporté ses PDF et son résumé de thèse.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8h15. Pas de mathématiques. Comprendre assez le fonctionnement pour savoir quand faire confiance et quand vérifier. Les fondements de l'IA ont été vus en J1.</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Définition à faire reformuler par une participante. Insister sur la dernière ligne : l'IA générative produit, elle ne vérifie pas. Lien avec J1 : l'IA générative est une branche de l'apprentissage automatique.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le « user flow » d'une IA générative. Faire le lien : l'étape 2 est celle que l'on contrôle avec un bon prompt (T2) et avec le RAG (T3). L'étape 4 explique les hallucinations. Un token correspond en moyenne à un peu moins d'un mot.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Démo en direct : taper la phrase dans Gemini et demander 5 complétions possibles. L'IA ne « sait » rien au sens d'une encyclopédie : elle calcule ce qui est probable. D'où la fluidité… et les erreurs dites avec aplomb.</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référence affichée est fictive, construite pour l'exemple. Ce phénomène s'appelle « hallucination ». Le Lab 0 va le montrer concrètement.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 réel, présenté avec l'accord de Dr Pagdame Tiebekabe : il a découvert dans un manuscrit soumis en 2025 une référence à un article qu'il n'a jamais écrit. Ne pas nommer les auteurs du manuscrit ni la revue : le manuscrit est confidentiel (relecture par les pairs). Faire deviner : qu'est-ce qui rend cette référence crédible ? (vrai auteur, vrai co-auteur, vrai sujet, revue prestigieuse). Puis montrer la vérification : les initiales sont fausses, la revue ne contient pas l'article, les pages appartiennent à un autre article. Message : une référence inventée peut nuire à un collègue réel, et c'est l'auteur du manuscrit qui en porte la responsabilité. Le Lab 0 fait refaire exactement cette vérification.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Analogie : une collègue brillante qui arrive chaque matin sans aucun souvenir de la veille. Certains outils proposent une « mémoire » entre conversations : elle est partielle et se gère dans les paramètres.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Montrer à l'écran, dans chaque outil, où se trouve le réglage d'utilisation des données (les intitulés changent : chercher « Données », « Confidentialité » ou « Améliorer le modèle »). Rappel : aujourd'hui, on travaille sur des articles publiés, son propre résumé et des corpus fictifs. Un chapitre inédit est une donnée sensible : antériorité des résultats, propriété intellectuelle.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À recommander pour approfondir après la formation. La vidéo de l'Inria (5 min) peut être projetée en ouverture si le temps le permet.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8h45. Ouvrir chaque outil en direct pendant sa présentation. ChatGPT reste utilisable, mais on se concentre sur ces 4 outils complémentaires.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Vue d'ensemble avant les fiches détaillées. Insister : ce ne sont pas des concurrents à départager, mais des outils complémentaires. Une chercheure efficace en maîtrise deux ou trois.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Ouvrir notebook.google.com en direct (l'ancienne adresse notebooklm.google.com redirige). C'est l'outil central de l'après-midi (Labs 2 et 3). Le nom a changé en juillet 2026 : certaines participantes le connaissent sous le nom NotebookLM.</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Démo : lancer un Deep Research court sur un sujet d'une participante, et montrer le rapport avec ses liens. Montrer la création d'un Gem (utile pour le Lab 5).</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Démo : charger un brouillon d'article et demander une relecture critique en 3 points. Montrer où se trouvent les réglages de confidentialité.</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Présenter Grok comme un outil de veille, pas comme un outil de rédaction scientifique. Faire la démonstration d'une question d'actualité, puis vérifier les sources citées.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Faire réagir la salle : chacune repère la ligne qui correspond à sa tâche la plus fréquente. Les « Possible » signifient que l'outil fonctionne, sans être le plus adapté.</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vidéos sur NotebookLM restent valables : seul le nom a changé (Gemini Notebook). Les interfaces évoluent vite : certaines captures peuvent différer.</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9h15. Mise en commun (5 min) : total des références inventées au tableau, outil par outil. Le constat justifie la capsule suivante sur les moteurs de recherche académiques. Si le temps manque, ResearchRabbit est montré en démo pendant la capsule R.</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10h00, après la pause. Lien direct avec le Lab 0 : « Si le chatbot invente, où chercher ? ». Rappel : Semantic Scholar, Connected Papers et Elicit ont été vus au J2. Ici, on complète et on relie ces outils à la vérification.</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Message clé : un chatbot génère, un moteur académique retrouve. Les « Deep Research » des chatbots sont un entre-deux : ils cherchent sur le web, mais pas uniquement dans la littérature scientifique.</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 pas tout montrer : faire une démo de Semantic Scholar et de Consensus sur la question d'une participante, puis montrer ResearchRabbit si le temps le permet. Les autres outils sont dans l'annuaire du cahier.</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la démo Gemini Deep Research a été faite pendant le panorama, y faire référence ici. Insister : un rapport d'IA est un point de départ, jamais une source citable.</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Démonstration avec une référence inventée du Lab 0 : montrer qu'elle est introuvable. Puis avec une vraie référence, par exemple Braun &amp; Clarke (2006), qui apparaît immédiatement.</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10h05. Message clé : l'IA accélère l'exploration (étapes 2 à 4), mais le choix du sujet reste celui de la chercheure et de sa direction de thèse. Pour des doctorantes déjà inscrites, la démarche sert aussi à préciser un chapitre, un article ou un projet postdoctoral. FINER : Hulley et al., Designing Clinical Research.</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10h10. Typologie simplifiée, inspirée de Müller-Bloch &amp; Kranz (2015) et de Miles (2017). Faire réagir la salle : « Dans quelle case est votre thèse ? ». Les exemples reprennent le thème du pack commun (les femmes dans la recherche en Afrique). Message : un gap se démontre avec des références, il ne se décrète pas.</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L'IA aide à voir la littérature d'en haut ; c'est la chercheure qui décide si le vide est réel et s'il vaut une thèse. Le gap final se valide toujours avec la direction de thèse. Démo rapide : ResearchRabbit à partir de Sougou et al. (2022), article 1 du pack commun.</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prompt 1 fonctionne sur le carnet du Lab 2 : on peut y revenir l'après-midi. Le prompt 3 est le plus utile pour préparer une soutenance de projet de thèse ou un comité de suivi.</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 usines à articles » (paper mills) vendent des articles fabriqués, de plus en plus avec l'IA. Les phrases torturées viennent de logiciels de paraphrase qui remplacent les termes techniques par des synonymes absurdes. Citer un tel article dans sa thèse fragilise toute l'argumentation. Le Lab R contient un article suspect fictif à analyser.</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Faire le lien avec la diapo sur l'intégrité (T2) et la charte d'usage (Lab 5). Les détecteurs d'IA se trompent souvent, en particulier sur les textes écrits par des non-anglophones : la meilleure protection est la traçabilité de votre travail.</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 vidéo courte par outil. À partager après la formation avec l'annuaire du cahier.</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10h30 – 10h55, puis mise en commun jusqu'à 11h00 : un gap vérifié et une question de recherche par piste. Rappeler qu'un gap se valide avec la direction de thèse.</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11h00. Lien avec le Lab 0 : une partie des mauvaises réponses vient de questions trop vagues.</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Faire répondre la salle (2 minutes) : on obtient naturellement le rôle, le contexte, la tâche et le format.</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Inviter chacune à écrire R-C-T-F en haut de sa feuille. Ajouter oralement un 5e élément : les règles (« n'invente rien », « signale les chiffres manquants »).</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Démo en direct : lancer les deux prompts côte à côte. Souligner la dernière phrase « N'ajoute aucune information » : c'est une protection contre les inventions.</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Chaque piste a ajouté une règle propre à sa discipline : pas d'invention (SHS), signaler les chiffres manquants (santé), unités et pas de généralisation (sciences). Ce sont exactement les pièges du Lab 1.</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troisième astuce est la plus puissante et la moins connue : l'IA vous aide à construire le bon contexte. Elle sera réutilisée au Lab 5.</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COPE (Committee on Publication Ethics) considère qu'une IA ne peut pas être auteure, car elle ne peut pas assumer la responsabilité du contenu. Anti-plagiat : reformuler avec l'IA le texte d'un autre reste du plagiat. Les détecteurs d'IA intégrés aux logiciels anti-plagiat peuvent aussi signaler votre texte, parfois à tort : gardez vos brouillons et l'historique de vos versions. La charte d'usage de la Fiche 5 prolonge cette diapo. Les biais de genre seront traités au J5.</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vidéo de Microsoft (5 min) résume bien la méthode : elle peut servir de rappel avant le Lab 1.</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11h15 – 11h55, puis mise en commun jusqu'à 12h00 : une participante par piste lit son prompt final. Celles qui travaillent sur leur propre texte vérifient que l'IA n'a rien ajouté ni durci. Le résumé de thèse fictif du pack commun (solution de repli) contient 4 pièges volontaires (voir le guide formateur).</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13h00. C'est le cœur technique de la journée, présenté sans jargon. RAG = Retrieval-Augmented Generation, génération augmentée par la recherche.</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Faire répéter la définition en une phrase : « l'IA cherche d'abord dans mes documents, puis répond en les citant ». Rappeler la diapo du user flow (étape 2 : assemblage du contexte).</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Expliquer « l'empreinte de sens » (embedding) avec une image : deux phrases qui disent la même chose avec des mots différents ont des empreintes proches. C'est pourquoi le RAG retrouve « coût du traitement » même si l'entretien dit « je n'ai pas l'argent pour les comprimés ».</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Nuance importante : un RAG peut encore mal interpréter un passage ou en oublier un. Mais comme il cite, la vérification devient rapide.</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Faire le parallèle avec le schéma précédent : le panneau Sources correspond aux étapes 1 à 3, la Discussion aux étapes 4 et 5. Puis ouvrir l'outil réel en direct.</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la diapo de référence pour le Lab 2. La laisser affichée pendant l'atelier. Les réglages du chat (étape 4) ont changé plusieurs fois : vérifier la veille où ils se trouvent.</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principe « garbage in, garbage out » : un RAG ne peut pas être meilleur que les sources qu'on lui donne. Les corpus du jour respectent déjà ces règles : un entretien par fichier, avec des métadonnées.</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question « Tester les limites » est essentielle : un bon RAG doit répondre que l'information n'est pas dans les sources. Si l'outil invente, c'est un signal d'alerte.</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les enseignantes : les fiches et quiz générés à partir de leurs propres supports de cours sont souvent l'usage le plus immédiatement rentable. Le contenu du Studio se vérifie comme le reste.</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vers le Lab 2 : on construit maintenant son propre carnet avec sa bibliographie de thèse.</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pack commun sert aux participantes qui n'ont pas apporté leurs PDF, ou dont les PDF ne se chargent pas (PDF scannés). Il est sur clé USB et sur le Drive. Les 12 articles, dont 5 en français (articles 8 à 12), mêlent plusieurs méthodes (qualitative, quantitative, mixte, opinion, entretien, recension des écrits) : c'est ce qui rend la matrice intéressante. L'article 7 est un article d'opinion : voir si la matrice le signale. L'article 8 donne la parole à une maîtresse de conférences de l'Université de Lomé : le présenter comme une étude de cas, avec respect. Les rapports volumineux par piste restent dans le cahier (Annexe 1, pour aller plus loin).</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13h20. La matrice est directement réutilisable pour l'état de l'art de la thèse : insister sur la vérification de 3 cases. Pack commun, réponses attendues : Fisher et al. (2020) ont interrogé 227 docteurs de 17 pays ; les femmes avaient environ un article accepté de moins et mettaient environ six mois de plus à finir. Le chiffre de 30 % de femmes parmi les chercheurs en STEM apparaît dans les articles 2 et 7 : l'outil doit citer les deux. Seul l'article 8 porte sur le Togo. Piège : aucun article ne donne le salaire d'une enseignante-chercheure au Togo, l'outil doit le dire.</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six étapes de l'analyse thématique de Braun et Clarke. Pour les non-SHS : on lit, on étiquette les passages, on regroupe en thèmes, on vérifie, on nomme, on rédige.</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terrains au Togo produisent des entretiens multilingues : les passages traduits par l'enquêteur restent la référence. L'IA est une seconde lectrice, pas la première.</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13h50 – 14h30, puis mise en commun jusqu'à 14h40. Coder d'abord à la main est essentiel. Questions de mise en commun : l'IA a-t-elle trouvé un thème que vous aviez manqué ? A-t-elle déformé une citation ? Qu'a-t-elle fait du passage en kabiyè (SHS) ? Pour les doctorantes qui ont un terrain qualitatif : leurs vrais entretiens seulement anonymisés, si le consentement et l'avis éthique le permettent, et jamais pendant l'atelier.</a:t>
            </a: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vidéo d'Ali Bezzaa montre exactement le Lab 3 (codage d'entretiens avec NotebookLM, l'ancien nom de Gemini Notebook).</a:t>
            </a:r>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14h55. Lien avec le Lab 1 : le résumé rédigé ce matin va être traduit.</a:t>
            </a:r>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un article soumis à une revue internationale, la relecture humaine reste recommandée.</a:t>
            </a:r>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Faire ajouter par la salle d'autres faux-amis de leur discipline (formation / training, littérature / literature review…).</a:t>
            </a:r>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rétro-traduction est la technique la plus simple pour qui n'est pas parfaitement à l'aise en anglais.</a:t>
            </a:r>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15h10 – 15h45. Les anglophones à l'aise peuvent aider leurs voisines. Deux retours rapides à la fin.</a:t>
            </a:r>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15h45. Faire le lien avec le matin : Deep Research et la recherche de sources de Gemini Notebook sont déjà des agents. C'est aussi le domaine du formateur (applye.io) : rester concret et sans jargon.</a:t>
            </a:r>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Différence clé avec le user flow du matin : un assistant fait UNE prédiction de réponse ; un agent enchaîne de nombreuses actions et décisions avant de vous rendre un résultat.</a:t>
            </a:r>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Comparer avec le user flow du matin (6 étapes linéaires) : ici, la boucle Planifier-Agir-Observer-Ajuster se répète. Montrer, dans Gemini Deep Research, le plan proposé avant le lancement : c'est le moment où l'humain peut corriger la trajectoire.</a:t>
            </a:r>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Démo de 3-4 minutes maximum, sans jargon.</a:t>
            </a:r>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participantes ont déjà utilisé un agent ce matin (Deep Research, Lab 0) : le leur faire remarquer.</a:t>
            </a:r>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niveau 3 (agent supervisé) est le bon compromis pour une chercheure : on gagne du temps sans perdre le contrôle.</a:t>
            </a:r>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Plus l'IA est autonome, plus la vérification humaine compte. La règle du jour reste vraie : l'IA propose, vous vérifiez.</a:t>
            </a:r>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assistant personnalisé est le premier pas vers un agent : il a des consignes permanentes et des documents. L'option A du Lab 5.</a:t>
            </a:r>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16h05 – 16h40. Laisser chacune choisir. L'option B convient bien aux participantes qui préparent une revue de littérature. Si Deep Research est saturé, faire l'audit sur le rapport généré en démonstration. Garder 5 minutes à la fin pour la charte d'usage de l'IA dans la thèse (Fiche 5).</a:t>
            </a:r>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vidéo de Cookie connecté reprend toute la logique de la journée : LLM (T1), RAG (T3), IA agentique (T5).</a:t>
            </a:r>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16h40. Faire répéter les 5 réflexes. Distribuer la fiche d'évaluation.</a:t>
            </a:r>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Préciser le format attendu par la coordination pour le J5. La vérification (bloc 5) est l'élément le plus important.</a:t>
            </a:r>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 liens figurent aussi dans l'annuaire du cahier de labs.</a:t>
            </a:r>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17h00. Rappeler le rendez-vous du J5 et remercier.</a:t>
            </a:r>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B3C49"/>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2011680"/>
            <a:ext cx="10698480" cy="1737360"/>
          </a:xfrm>
          <a:prstGeom prst="rect">
            <a:avLst/>
          </a:prstGeom>
          <a:noFill/>
          <a:ln/>
        </p:spPr>
        <p:txBody>
          <a:bodyPr wrap="square" rtlCol="0"/>
          <a:lstStyle>
            <a:lvl1pPr marL="0" indent="0" algn="l">
              <a:buNone/>
              <a:defRPr lang="en-US" sz="4000" b="1" dirty="0">
                <a:solidFill>
                  <a:schemeClr val="bg1"/>
                </a:solidFill>
                <a:latin typeface="Poppins" pitchFamily="34" charset="0"/>
                <a:ea typeface="Poppins" pitchFamily="34" charset="-122"/>
                <a:cs typeface="Poppins" pitchFamily="34" charset="-120"/>
              </a:defRPr>
            </a:lvl1pPr>
          </a:lstStyle>
          <a:p>
            <a:pPr marL="0" indent="0" algn="l">
              <a:buNone/>
            </a:pPr>
            <a:endParaRPr lang="en-US" sz="4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
    <p:bg>
      <p:bgPr>
        <a:solidFill>
          <a:srgbClr val="0B3C49"/>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3291840" y="2286000"/>
            <a:ext cx="8321040" cy="1463040"/>
          </a:xfrm>
          <a:prstGeom prst="rect">
            <a:avLst/>
          </a:prstGeom>
          <a:noFill/>
          <a:ln/>
        </p:spPr>
        <p:txBody>
          <a:bodyPr wrap="square" rtlCol="0"/>
          <a:lstStyle>
            <a:lvl1pPr marL="0" indent="0" algn="l">
              <a:buNone/>
              <a:defRPr lang="en-US" sz="3400" b="1" dirty="0">
                <a:solidFill>
                  <a:schemeClr val="bg1"/>
                </a:solidFill>
                <a:latin typeface="Poppins" pitchFamily="34" charset="0"/>
                <a:ea typeface="Poppins" pitchFamily="34" charset="-122"/>
                <a:cs typeface="Poppins" pitchFamily="34" charset="-120"/>
              </a:defRPr>
            </a:lvl1pPr>
          </a:lstStyle>
          <a:p>
            <a:pPr marL="0" indent="0" algn="l">
              <a:buNone/>
            </a:pPr>
            <a:endParaRPr lang="en-US" sz="34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566928"/>
            <a:ext cx="11064240" cy="777240"/>
          </a:xfrm>
          <a:prstGeom prst="rect">
            <a:avLst/>
          </a:prstGeom>
          <a:noFill/>
          <a:ln/>
        </p:spPr>
        <p:txBody>
          <a:bodyPr wrap="square" rtlCol="0"/>
          <a:lstStyle>
            <a:lvl1pPr marL="0" indent="0" algn="l">
              <a:buNone/>
              <a:defRPr lang="en-US" sz="2700" b="1" dirty="0">
                <a:solidFill>
                  <a:schemeClr val="tx2"/>
                </a:solidFill>
                <a:latin typeface="Poppins" pitchFamily="34" charset="0"/>
                <a:ea typeface="Poppins" pitchFamily="34" charset="-122"/>
                <a:cs typeface="Poppins" pitchFamily="34" charset="-120"/>
              </a:defRPr>
            </a:lvl1pPr>
          </a:lstStyle>
          <a:p>
            <a:pPr marL="0" indent="0" algn="l">
              <a:buNone/>
            </a:pPr>
            <a:endParaRPr lang="en-US" sz="2700" dirty="0"/>
          </a:p>
        </p:txBody>
      </p:sp>
      <p:sp>
        <p:nvSpPr>
          <p:cNvPr id="3" name="Text 0"/>
          <p:cNvSpPr>
            <a:spLocks noGrp="1"/>
          </p:cNvSpPr>
          <p:nvPr>
            <p:ph type="body" idx="101" hasCustomPrompt="1"/>
          </p:nvPr>
        </p:nvSpPr>
        <p:spPr>
          <a:xfrm>
            <a:off x="548640" y="256032"/>
            <a:ext cx="8229600" cy="292608"/>
          </a:xfrm>
          <a:prstGeom prst="rect">
            <a:avLst/>
          </a:prstGeom>
          <a:noFill/>
          <a:ln/>
        </p:spPr>
        <p:txBody>
          <a:bodyPr wrap="square" rtlCol="0"/>
          <a:lstStyle>
            <a:lvl1pPr marL="0" indent="0">
              <a:buNone/>
              <a:defRPr lang="en-US" sz="1100" b="1" dirty="0">
                <a:solidFill>
                  <a:schemeClr val="accent1"/>
                </a:solidFill>
                <a:latin typeface="Poppins" pitchFamily="34" charset="0"/>
                <a:ea typeface="Poppins" pitchFamily="34" charset="-122"/>
                <a:cs typeface="Poppins" pitchFamily="34" charset="-120"/>
              </a:defRPr>
            </a:lvl1pPr>
          </a:lstStyle>
          <a:p>
            <a:pPr marL="0" indent="0">
              <a:buNone/>
            </a:pPr>
            <a:endParaRPr lang="en-US" sz="1100" dirty="0"/>
          </a:p>
        </p:txBody>
      </p:sp>
      <p:sp>
        <p:nvSpPr>
          <p:cNvPr id="4" name="Text 0"/>
          <p:cNvSpPr/>
          <p:nvPr/>
        </p:nvSpPr>
        <p:spPr>
          <a:xfrm>
            <a:off x="548640" y="6400800"/>
            <a:ext cx="8229600" cy="256032"/>
          </a:xfrm>
          <a:prstGeom prst="rect">
            <a:avLst/>
          </a:prstGeom>
          <a:noFill/>
          <a:ln/>
        </p:spPr>
        <p:txBody>
          <a:bodyPr wrap="square" lIns="0" tIns="0" rIns="0" bIns="0" rtlCol="0" anchor="ctr"/>
          <a:lstStyle/>
          <a:p>
            <a:pPr marL="0" indent="0">
              <a:buNone/>
            </a:pPr>
            <a:r>
              <a:rPr lang="en-US" sz="900" dirty="0">
                <a:solidFill>
                  <a:srgbClr val="6B7C82"/>
                </a:solidFill>
                <a:latin typeface="Poppins" pitchFamily="34" charset="0"/>
                <a:ea typeface="Poppins" pitchFamily="34" charset="-122"/>
                <a:cs typeface="Poppins" pitchFamily="34" charset="-120"/>
              </a:rPr>
              <a:t>M4-nonIT · IA générative appliquée à la recherche · Jour 4</a:t>
            </a:r>
            <a:endParaRPr lang="en-US" sz="900" dirty="0"/>
          </a:p>
        </p:txBody>
      </p:sp>
      <p:sp>
        <p:nvSpPr>
          <p:cNvPr id="25" name="Slide Number Placeholder 0"/>
          <p:cNvSpPr>
            <a:spLocks noGrp="1"/>
          </p:cNvSpPr>
          <p:nvPr>
            <p:ph type="sldNum" sz="quarter" idx="4294967295"/>
          </p:nvPr>
        </p:nvSpPr>
        <p:spPr>
          <a:xfrm>
            <a:off x="11064240" y="6400800"/>
            <a:ext cx="54864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C82"/>
                </a:solidFill>
                <a:latin typeface="Poppins"/>
                <a:ea typeface="Poppins"/>
                <a:cs typeface="Poppins"/>
              </a:defRPr>
            </a:lvl1pPr>
          </a:lstStyle>
          <a:p>
            <a:pPr algn="r"/>
            <a:fld id="{F7021451-1387-4CA6-816F-3879F97B5CBC}" type="slidenum">
              <a:rPr lang="en-US" b="0"/>
              <a:t>‹N°›</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LAB">
    <p:bg>
      <p:bgPr>
        <a:solidFill>
          <a:srgbClr val="EAF3F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566928"/>
            <a:ext cx="11064240" cy="777240"/>
          </a:xfrm>
          <a:prstGeom prst="rect">
            <a:avLst/>
          </a:prstGeom>
          <a:noFill/>
          <a:ln/>
        </p:spPr>
        <p:txBody>
          <a:bodyPr wrap="square" rtlCol="0"/>
          <a:lstStyle>
            <a:lvl1pPr marL="0" indent="0" algn="l">
              <a:buNone/>
              <a:defRPr lang="en-US" sz="2700" b="1" dirty="0">
                <a:solidFill>
                  <a:schemeClr val="tx2"/>
                </a:solidFill>
                <a:latin typeface="Poppins" pitchFamily="34" charset="0"/>
                <a:ea typeface="Poppins" pitchFamily="34" charset="-122"/>
                <a:cs typeface="Poppins" pitchFamily="34" charset="-120"/>
              </a:defRPr>
            </a:lvl1pPr>
          </a:lstStyle>
          <a:p>
            <a:pPr marL="0" indent="0" algn="l">
              <a:buNone/>
            </a:pPr>
            <a:endParaRPr lang="en-US" sz="2700" dirty="0"/>
          </a:p>
        </p:txBody>
      </p:sp>
      <p:sp>
        <p:nvSpPr>
          <p:cNvPr id="3" name="Text 0"/>
          <p:cNvSpPr>
            <a:spLocks noGrp="1"/>
          </p:cNvSpPr>
          <p:nvPr>
            <p:ph type="body" idx="101" hasCustomPrompt="1"/>
          </p:nvPr>
        </p:nvSpPr>
        <p:spPr>
          <a:xfrm>
            <a:off x="548640" y="256032"/>
            <a:ext cx="8229600" cy="292608"/>
          </a:xfrm>
          <a:prstGeom prst="rect">
            <a:avLst/>
          </a:prstGeom>
          <a:noFill/>
          <a:ln/>
        </p:spPr>
        <p:txBody>
          <a:bodyPr wrap="square" rtlCol="0"/>
          <a:lstStyle>
            <a:lvl1pPr marL="0" indent="0">
              <a:buNone/>
              <a:defRPr lang="en-US" sz="1100" b="1" dirty="0">
                <a:solidFill>
                  <a:schemeClr val="accent1"/>
                </a:solidFill>
                <a:latin typeface="Poppins" pitchFamily="34" charset="0"/>
                <a:ea typeface="Poppins" pitchFamily="34" charset="-122"/>
                <a:cs typeface="Poppins" pitchFamily="34" charset="-120"/>
              </a:defRPr>
            </a:lvl1pPr>
          </a:lstStyle>
          <a:p>
            <a:pPr marL="0" indent="0">
              <a:buNone/>
            </a:pPr>
            <a:endParaRPr lang="en-US" sz="1100" dirty="0"/>
          </a:p>
        </p:txBody>
      </p:sp>
      <p:sp>
        <p:nvSpPr>
          <p:cNvPr id="4" name="Text 0"/>
          <p:cNvSpPr/>
          <p:nvPr/>
        </p:nvSpPr>
        <p:spPr>
          <a:xfrm>
            <a:off x="548640" y="6400800"/>
            <a:ext cx="8229600" cy="256032"/>
          </a:xfrm>
          <a:prstGeom prst="rect">
            <a:avLst/>
          </a:prstGeom>
          <a:noFill/>
          <a:ln/>
        </p:spPr>
        <p:txBody>
          <a:bodyPr wrap="square" lIns="0" tIns="0" rIns="0" bIns="0" rtlCol="0" anchor="ctr"/>
          <a:lstStyle/>
          <a:p>
            <a:pPr marL="0" indent="0">
              <a:buNone/>
            </a:pPr>
            <a:r>
              <a:rPr lang="en-US" sz="900" dirty="0">
                <a:solidFill>
                  <a:srgbClr val="6B7C82"/>
                </a:solidFill>
                <a:latin typeface="Poppins" pitchFamily="34" charset="0"/>
                <a:ea typeface="Poppins" pitchFamily="34" charset="-122"/>
                <a:cs typeface="Poppins" pitchFamily="34" charset="-120"/>
              </a:rPr>
              <a:t>M4-nonIT · IA générative appliquée à la recherche · Jour 4</a:t>
            </a:r>
            <a:endParaRPr lang="en-US" sz="900" dirty="0"/>
          </a:p>
        </p:txBody>
      </p:sp>
      <p:sp>
        <p:nvSpPr>
          <p:cNvPr id="25" name="Slide Number Placeholder 0"/>
          <p:cNvSpPr>
            <a:spLocks noGrp="1"/>
          </p:cNvSpPr>
          <p:nvPr>
            <p:ph type="sldNum" sz="quarter" idx="4294967295"/>
          </p:nvPr>
        </p:nvSpPr>
        <p:spPr>
          <a:xfrm>
            <a:off x="11064240" y="6400800"/>
            <a:ext cx="54864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C82"/>
                </a:solidFill>
                <a:latin typeface="Poppins"/>
                <a:ea typeface="Poppins"/>
                <a:cs typeface="Poppins"/>
              </a:defRPr>
            </a:lvl1pPr>
          </a:lstStyle>
          <a:p>
            <a:pPr algn="r"/>
            <a:fld id="{F7021451-1387-4CA6-816F-3879F97B5CBC}" type="slidenum">
              <a:rPr lang="en-US" b="0"/>
              <a:t>‹N°›</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00800"/>
            <a:ext cx="54864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C82"/>
                </a:solidFill>
                <a:latin typeface="Poppins"/>
                <a:ea typeface="Poppins"/>
                <a:cs typeface="Poppins"/>
              </a:defRPr>
            </a:lvl1pPr>
          </a:lstStyle>
          <a:p>
            <a:pPr algn="r"/>
            <a:fld id="{F7021451-1387-4CA6-816F-3879F97B5CBC}" type="slidenum">
              <a:rPr lang="en-US" b="0"/>
              <a:t>‹N°›</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4.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4.xml"/><Relationship Id="rId6" Type="http://schemas.openxmlformats.org/officeDocument/2006/relationships/chart" Target="../charts/chart1.xml"/><Relationship Id="rId5" Type="http://schemas.openxmlformats.org/officeDocument/2006/relationships/image" Target="../media/image24.png"/><Relationship Id="rId4" Type="http://schemas.openxmlformats.org/officeDocument/2006/relationships/image" Target="../media/image23.png"/></Relationships>
</file>

<file path=ppt/slides/_rels/slide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9.xml"/><Relationship Id="rId1" Type="http://schemas.openxmlformats.org/officeDocument/2006/relationships/slideLayout" Target="../slideLayouts/slideLayout4.xml"/><Relationship Id="rId5" Type="http://schemas.openxmlformats.org/officeDocument/2006/relationships/image" Target="../media/image27.png"/><Relationship Id="rId4" Type="http://schemas.openxmlformats.org/officeDocument/2006/relationships/image" Target="../media/image26.png"/></Relationships>
</file>

<file path=ppt/slides/_rels/slide1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1.xml"/><Relationship Id="rId1" Type="http://schemas.openxmlformats.org/officeDocument/2006/relationships/slideLayout" Target="../slideLayouts/slideLayout4.xml"/><Relationship Id="rId5" Type="http://schemas.openxmlformats.org/officeDocument/2006/relationships/image" Target="../media/image31.png"/><Relationship Id="rId4" Type="http://schemas.openxmlformats.org/officeDocument/2006/relationships/image" Target="../media/image30.png"/></Relationships>
</file>

<file path=ppt/slides/_rels/slide1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2.xml"/><Relationship Id="rId1" Type="http://schemas.openxmlformats.org/officeDocument/2006/relationships/slideLayout" Target="../slideLayouts/slideLayout4.xml"/><Relationship Id="rId4" Type="http://schemas.openxmlformats.org/officeDocument/2006/relationships/image" Target="../media/image33.png"/></Relationships>
</file>

<file path=ppt/slides/_rels/slide13.xml.rels><?xml version="1.0" encoding="UTF-8" standalone="yes"?>
<Relationships xmlns="http://schemas.openxmlformats.org/package/2006/relationships"><Relationship Id="rId3" Type="http://schemas.openxmlformats.org/officeDocument/2006/relationships/hyperlink" Target="https://youtu.be/7ell8KEbhJo" TargetMode="External"/><Relationship Id="rId2" Type="http://schemas.openxmlformats.org/officeDocument/2006/relationships/notesSlide" Target="../notesSlides/notesSlide13.xml"/><Relationship Id="rId1" Type="http://schemas.openxmlformats.org/officeDocument/2006/relationships/slideLayout" Target="../slideLayouts/slideLayout4.xml"/><Relationship Id="rId6" Type="http://schemas.openxmlformats.org/officeDocument/2006/relationships/hyperlink" Target="https://youtu.be/kISRpDfbS4Y" TargetMode="External"/><Relationship Id="rId5" Type="http://schemas.openxmlformats.org/officeDocument/2006/relationships/hyperlink" Target="https://youtu.be/9KMHluiejdU" TargetMode="External"/><Relationship Id="rId4" Type="http://schemas.openxmlformats.org/officeDocument/2006/relationships/hyperlink" Target="https://youtu.be/K8gOvC8gvB4" TargetMode="Externa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4.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1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hyperlink" Target="https://youtu.be/YmgKqTFhZ5k" TargetMode="External"/><Relationship Id="rId2" Type="http://schemas.openxmlformats.org/officeDocument/2006/relationships/notesSlide" Target="../notesSlides/notesSlide21.xml"/><Relationship Id="rId1" Type="http://schemas.openxmlformats.org/officeDocument/2006/relationships/slideLayout" Target="../slideLayouts/slideLayout4.xml"/><Relationship Id="rId6" Type="http://schemas.openxmlformats.org/officeDocument/2006/relationships/hyperlink" Target="https://youtu.be/Hk_8kq26SRY" TargetMode="External"/><Relationship Id="rId5" Type="http://schemas.openxmlformats.org/officeDocument/2006/relationships/hyperlink" Target="https://youtu.be/nHXND_R4Jy8" TargetMode="External"/><Relationship Id="rId4" Type="http://schemas.openxmlformats.org/officeDocument/2006/relationships/hyperlink" Target="https://youtu.be/DbcGMKx3Iyo" TargetMode="External"/></Relationships>
</file>

<file path=ppt/slides/_rels/slide2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2.xml"/><Relationship Id="rId1" Type="http://schemas.openxmlformats.org/officeDocument/2006/relationships/slideLayout" Target="../slideLayouts/slideLayout5.xml"/><Relationship Id="rId4" Type="http://schemas.openxmlformats.org/officeDocument/2006/relationships/image" Target="../media/image42.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43.png"/><Relationship Id="rId7" Type="http://schemas.openxmlformats.org/officeDocument/2006/relationships/image" Target="../media/image45.png"/><Relationship Id="rId2" Type="http://schemas.openxmlformats.org/officeDocument/2006/relationships/notesSlide" Target="../notesSlides/notesSlide24.xml"/><Relationship Id="rId1" Type="http://schemas.openxmlformats.org/officeDocument/2006/relationships/slideLayout" Target="../slideLayouts/slideLayout4.xml"/><Relationship Id="rId6" Type="http://schemas.openxmlformats.org/officeDocument/2006/relationships/image" Target="../media/image4.png"/><Relationship Id="rId5" Type="http://schemas.openxmlformats.org/officeDocument/2006/relationships/image" Target="../media/image29.png"/><Relationship Id="rId4" Type="http://schemas.openxmlformats.org/officeDocument/2006/relationships/image" Target="../media/image44.png"/></Relationships>
</file>

<file path=ppt/slides/_rels/slide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5.xml"/><Relationship Id="rId1" Type="http://schemas.openxmlformats.org/officeDocument/2006/relationships/slideLayout" Target="../slideLayouts/slideLayout4.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7.xml"/><Relationship Id="rId1" Type="http://schemas.openxmlformats.org/officeDocument/2006/relationships/slideLayout" Target="../slideLayouts/slideLayout4.xml"/><Relationship Id="rId5" Type="http://schemas.openxmlformats.org/officeDocument/2006/relationships/image" Target="../media/image51.png"/><Relationship Id="rId4" Type="http://schemas.openxmlformats.org/officeDocument/2006/relationships/image" Target="../media/image50.png"/></Relationships>
</file>

<file path=ppt/slides/_rels/slide28.xml.rels><?xml version="1.0" encoding="UTF-8" standalone="yes"?>
<Relationships xmlns="http://schemas.openxmlformats.org/package/2006/relationships"><Relationship Id="rId3" Type="http://schemas.openxmlformats.org/officeDocument/2006/relationships/image" Target="../media/image52.png"/><Relationship Id="rId7" Type="http://schemas.openxmlformats.org/officeDocument/2006/relationships/image" Target="../media/image55.png"/><Relationship Id="rId2" Type="http://schemas.openxmlformats.org/officeDocument/2006/relationships/notesSlide" Target="../notesSlides/notesSlide28.xml"/><Relationship Id="rId1" Type="http://schemas.openxmlformats.org/officeDocument/2006/relationships/slideLayout" Target="../slideLayouts/slideLayout4.xml"/><Relationship Id="rId6" Type="http://schemas.openxmlformats.org/officeDocument/2006/relationships/image" Target="../media/image54.png"/><Relationship Id="rId5" Type="http://schemas.openxmlformats.org/officeDocument/2006/relationships/image" Target="../media/image46.png"/><Relationship Id="rId4" Type="http://schemas.openxmlformats.org/officeDocument/2006/relationships/image" Target="../media/image53.png"/></Relationships>
</file>

<file path=ppt/slides/_rels/slide29.xml.rels><?xml version="1.0" encoding="UTF-8" standalone="yes"?>
<Relationships xmlns="http://schemas.openxmlformats.org/package/2006/relationships"><Relationship Id="rId8" Type="http://schemas.openxmlformats.org/officeDocument/2006/relationships/image" Target="../media/image60.png"/><Relationship Id="rId3" Type="http://schemas.openxmlformats.org/officeDocument/2006/relationships/image" Target="../media/image56.png"/><Relationship Id="rId7" Type="http://schemas.openxmlformats.org/officeDocument/2006/relationships/image" Target="../media/image59.png"/><Relationship Id="rId2" Type="http://schemas.openxmlformats.org/officeDocument/2006/relationships/notesSlide" Target="../notesSlides/notesSlide29.xml"/><Relationship Id="rId1" Type="http://schemas.openxmlformats.org/officeDocument/2006/relationships/slideLayout" Target="../slideLayouts/slideLayout4.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9.png"/></Relationships>
</file>

<file path=ppt/slides/_rels/slide30.xml.rels><?xml version="1.0" encoding="UTF-8" standalone="yes"?>
<Relationships xmlns="http://schemas.openxmlformats.org/package/2006/relationships"><Relationship Id="rId3" Type="http://schemas.openxmlformats.org/officeDocument/2006/relationships/image" Target="../media/image46.png"/><Relationship Id="rId7" Type="http://schemas.openxmlformats.org/officeDocument/2006/relationships/image" Target="../media/image63.png"/><Relationship Id="rId2" Type="http://schemas.openxmlformats.org/officeDocument/2006/relationships/notesSlide" Target="../notesSlides/notesSlide30.xml"/><Relationship Id="rId1" Type="http://schemas.openxmlformats.org/officeDocument/2006/relationships/slideLayout" Target="../slideLayouts/slideLayout4.xml"/><Relationship Id="rId6" Type="http://schemas.openxmlformats.org/officeDocument/2006/relationships/image" Target="../media/image62.png"/><Relationship Id="rId5" Type="http://schemas.openxmlformats.org/officeDocument/2006/relationships/image" Target="../media/image54.png"/><Relationship Id="rId4" Type="http://schemas.openxmlformats.org/officeDocument/2006/relationships/image" Target="../media/image61.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7.png"/><Relationship Id="rId7" Type="http://schemas.openxmlformats.org/officeDocument/2006/relationships/image" Target="../media/image67.png"/><Relationship Id="rId2" Type="http://schemas.openxmlformats.org/officeDocument/2006/relationships/notesSlide" Target="../notesSlides/notesSlide32.xml"/><Relationship Id="rId1" Type="http://schemas.openxmlformats.org/officeDocument/2006/relationships/slideLayout" Target="../slideLayouts/slideLayout4.xml"/><Relationship Id="rId6" Type="http://schemas.openxmlformats.org/officeDocument/2006/relationships/image" Target="../media/image66.png"/><Relationship Id="rId5" Type="http://schemas.openxmlformats.org/officeDocument/2006/relationships/image" Target="../media/image65.png"/><Relationship Id="rId4" Type="http://schemas.openxmlformats.org/officeDocument/2006/relationships/image" Target="../media/image64.png"/></Relationships>
</file>

<file path=ppt/slides/_rels/slide33.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33.xml"/><Relationship Id="rId1" Type="http://schemas.openxmlformats.org/officeDocument/2006/relationships/slideLayout" Target="../slideLayouts/slideLayout4.xml"/><Relationship Id="rId4" Type="http://schemas.openxmlformats.org/officeDocument/2006/relationships/image" Target="../media/image62.png"/></Relationships>
</file>

<file path=ppt/slides/_rels/slide34.xml.rels><?xml version="1.0" encoding="UTF-8" standalone="yes"?>
<Relationships xmlns="http://schemas.openxmlformats.org/package/2006/relationships"><Relationship Id="rId3" Type="http://schemas.openxmlformats.org/officeDocument/2006/relationships/hyperlink" Target="https://youtu.be/WNpQfp-Sxmw" TargetMode="External"/><Relationship Id="rId7" Type="http://schemas.openxmlformats.org/officeDocument/2006/relationships/hyperlink" Target="https://youtu.be/2xLJM0fDHRs" TargetMode="External"/><Relationship Id="rId2" Type="http://schemas.openxmlformats.org/officeDocument/2006/relationships/notesSlide" Target="../notesSlides/notesSlide34.xml"/><Relationship Id="rId1" Type="http://schemas.openxmlformats.org/officeDocument/2006/relationships/slideLayout" Target="../slideLayouts/slideLayout4.xml"/><Relationship Id="rId6" Type="http://schemas.openxmlformats.org/officeDocument/2006/relationships/hyperlink" Target="https://youtu.be/IQjGfD8sljI" TargetMode="External"/><Relationship Id="rId5" Type="http://schemas.openxmlformats.org/officeDocument/2006/relationships/hyperlink" Target="https://youtu.be/LyeiII4DnzI" TargetMode="External"/><Relationship Id="rId4" Type="http://schemas.openxmlformats.org/officeDocument/2006/relationships/hyperlink" Target="https://youtu.be/flOMEUwdzMg" TargetMode="External"/></Relationships>
</file>

<file path=ppt/slides/_rels/slide3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5.xml"/><Relationship Id="rId1" Type="http://schemas.openxmlformats.org/officeDocument/2006/relationships/slideLayout" Target="../slideLayouts/slideLayout5.xml"/><Relationship Id="rId4" Type="http://schemas.openxmlformats.org/officeDocument/2006/relationships/image" Target="../media/image42.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37.xml"/><Relationship Id="rId1" Type="http://schemas.openxmlformats.org/officeDocument/2006/relationships/slideLayout" Target="../slideLayouts/slideLayout4.xml"/><Relationship Id="rId5" Type="http://schemas.openxmlformats.org/officeDocument/2006/relationships/image" Target="../media/image71.png"/><Relationship Id="rId4" Type="http://schemas.openxmlformats.org/officeDocument/2006/relationships/image" Target="../media/image70.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39.xml"/><Relationship Id="rId1" Type="http://schemas.openxmlformats.org/officeDocument/2006/relationships/slideLayout" Target="../slideLayouts/slideLayout4.xml"/><Relationship Id="rId4" Type="http://schemas.openxmlformats.org/officeDocument/2006/relationships/image" Target="../media/image73.png"/></Relationships>
</file>

<file path=ppt/slides/_rels/slide4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0.xml"/><Relationship Id="rId1" Type="http://schemas.openxmlformats.org/officeDocument/2006/relationships/slideLayout" Target="../slideLayouts/slideLayout4.xml"/><Relationship Id="rId5" Type="http://schemas.openxmlformats.org/officeDocument/2006/relationships/image" Target="../media/image11.png"/><Relationship Id="rId4" Type="http://schemas.openxmlformats.org/officeDocument/2006/relationships/image" Target="../media/image10.png"/></Relationships>
</file>

<file path=ppt/slides/_rels/slide41.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41.xml"/><Relationship Id="rId1" Type="http://schemas.openxmlformats.org/officeDocument/2006/relationships/slideLayout" Target="../slideLayouts/slideLayout4.xml"/><Relationship Id="rId5" Type="http://schemas.openxmlformats.org/officeDocument/2006/relationships/image" Target="../media/image76.png"/><Relationship Id="rId4" Type="http://schemas.openxmlformats.org/officeDocument/2006/relationships/image" Target="../media/image75.png"/></Relationships>
</file>

<file path=ppt/slides/_rels/slide42.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42.xml"/><Relationship Id="rId1" Type="http://schemas.openxmlformats.org/officeDocument/2006/relationships/slideLayout" Target="../slideLayouts/slideLayout4.xml"/><Relationship Id="rId6" Type="http://schemas.openxmlformats.org/officeDocument/2006/relationships/image" Target="../media/image79.png"/><Relationship Id="rId5" Type="http://schemas.openxmlformats.org/officeDocument/2006/relationships/image" Target="../media/image59.png"/><Relationship Id="rId4" Type="http://schemas.openxmlformats.org/officeDocument/2006/relationships/image" Target="../media/image78.png"/></Relationships>
</file>

<file path=ppt/slides/_rels/slide43.xml.rels><?xml version="1.0" encoding="UTF-8" standalone="yes"?>
<Relationships xmlns="http://schemas.openxmlformats.org/package/2006/relationships"><Relationship Id="rId3" Type="http://schemas.openxmlformats.org/officeDocument/2006/relationships/hyperlink" Target="https://youtu.be/ulvp6w7y8UY" TargetMode="External"/><Relationship Id="rId2" Type="http://schemas.openxmlformats.org/officeDocument/2006/relationships/notesSlide" Target="../notesSlides/notesSlide43.xml"/><Relationship Id="rId1" Type="http://schemas.openxmlformats.org/officeDocument/2006/relationships/slideLayout" Target="../slideLayouts/slideLayout4.xml"/><Relationship Id="rId4" Type="http://schemas.openxmlformats.org/officeDocument/2006/relationships/hyperlink" Target="https://youtu.be/KtRCp6LpF3U" TargetMode="External"/></Relationships>
</file>

<file path=ppt/slides/_rels/slide4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4.xml"/><Relationship Id="rId1" Type="http://schemas.openxmlformats.org/officeDocument/2006/relationships/slideLayout" Target="../slideLayouts/slideLayout5.xml"/><Relationship Id="rId4" Type="http://schemas.openxmlformats.org/officeDocument/2006/relationships/image" Target="../media/image42.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3" Type="http://schemas.openxmlformats.org/officeDocument/2006/relationships/image" Target="../media/image80.png"/><Relationship Id="rId7" Type="http://schemas.openxmlformats.org/officeDocument/2006/relationships/image" Target="../media/image83.png"/><Relationship Id="rId2" Type="http://schemas.openxmlformats.org/officeDocument/2006/relationships/notesSlide" Target="../notesSlides/notesSlide47.xml"/><Relationship Id="rId1" Type="http://schemas.openxmlformats.org/officeDocument/2006/relationships/slideLayout" Target="../slideLayouts/slideLayout4.xml"/><Relationship Id="rId6" Type="http://schemas.openxmlformats.org/officeDocument/2006/relationships/image" Target="../media/image5.png"/><Relationship Id="rId5" Type="http://schemas.openxmlformats.org/officeDocument/2006/relationships/image" Target="../media/image82.png"/><Relationship Id="rId4" Type="http://schemas.openxmlformats.org/officeDocument/2006/relationships/image" Target="../media/image81.png"/></Relationships>
</file>

<file path=ppt/slides/_rels/slide4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8.xml"/><Relationship Id="rId1" Type="http://schemas.openxmlformats.org/officeDocument/2006/relationships/slideLayout" Target="../slideLayouts/slideLayout4.xml"/><Relationship Id="rId4" Type="http://schemas.openxmlformats.org/officeDocument/2006/relationships/image" Target="../media/image33.pn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8" Type="http://schemas.openxmlformats.org/officeDocument/2006/relationships/image" Target="../media/image89.png"/><Relationship Id="rId3" Type="http://schemas.openxmlformats.org/officeDocument/2006/relationships/image" Target="../media/image84.png"/><Relationship Id="rId7" Type="http://schemas.openxmlformats.org/officeDocument/2006/relationships/image" Target="../media/image88.png"/><Relationship Id="rId2" Type="http://schemas.openxmlformats.org/officeDocument/2006/relationships/notesSlide" Target="../notesSlides/notesSlide50.xml"/><Relationship Id="rId1" Type="http://schemas.openxmlformats.org/officeDocument/2006/relationships/slideLayout" Target="../slideLayouts/slideLayout4.xml"/><Relationship Id="rId6" Type="http://schemas.openxmlformats.org/officeDocument/2006/relationships/image" Target="../media/image87.png"/><Relationship Id="rId5" Type="http://schemas.openxmlformats.org/officeDocument/2006/relationships/image" Target="../media/image86.png"/><Relationship Id="rId4" Type="http://schemas.openxmlformats.org/officeDocument/2006/relationships/image" Target="../media/image85.png"/></Relationships>
</file>

<file path=ppt/slides/_rels/slide51.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90.png"/><Relationship Id="rId7" Type="http://schemas.openxmlformats.org/officeDocument/2006/relationships/image" Target="../media/image94.png"/><Relationship Id="rId2" Type="http://schemas.openxmlformats.org/officeDocument/2006/relationships/notesSlide" Target="../notesSlides/notesSlide51.xml"/><Relationship Id="rId1" Type="http://schemas.openxmlformats.org/officeDocument/2006/relationships/slideLayout" Target="../slideLayouts/slideLayout4.xml"/><Relationship Id="rId6" Type="http://schemas.openxmlformats.org/officeDocument/2006/relationships/image" Target="../media/image93.png"/><Relationship Id="rId5" Type="http://schemas.openxmlformats.org/officeDocument/2006/relationships/image" Target="../media/image92.png"/><Relationship Id="rId4" Type="http://schemas.openxmlformats.org/officeDocument/2006/relationships/image" Target="../media/image91.png"/></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8" Type="http://schemas.openxmlformats.org/officeDocument/2006/relationships/image" Target="../media/image56.png"/><Relationship Id="rId3" Type="http://schemas.openxmlformats.org/officeDocument/2006/relationships/image" Target="../media/image29.png"/><Relationship Id="rId7" Type="http://schemas.openxmlformats.org/officeDocument/2006/relationships/image" Target="../media/image97.png"/><Relationship Id="rId2" Type="http://schemas.openxmlformats.org/officeDocument/2006/relationships/notesSlide" Target="../notesSlides/notesSlide53.xml"/><Relationship Id="rId1" Type="http://schemas.openxmlformats.org/officeDocument/2006/relationships/slideLayout" Target="../slideLayouts/slideLayout4.xml"/><Relationship Id="rId6" Type="http://schemas.openxmlformats.org/officeDocument/2006/relationships/image" Target="../media/image14.png"/><Relationship Id="rId5" Type="http://schemas.openxmlformats.org/officeDocument/2006/relationships/image" Target="../media/image96.png"/><Relationship Id="rId4" Type="http://schemas.openxmlformats.org/officeDocument/2006/relationships/image" Target="../media/image95.png"/></Relationships>
</file>

<file path=ppt/slides/_rels/slide54.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54.xml"/><Relationship Id="rId1" Type="http://schemas.openxmlformats.org/officeDocument/2006/relationships/slideLayout" Target="../slideLayouts/slideLayout4.xml"/><Relationship Id="rId6" Type="http://schemas.openxmlformats.org/officeDocument/2006/relationships/image" Target="../media/image54.png"/><Relationship Id="rId5" Type="http://schemas.openxmlformats.org/officeDocument/2006/relationships/image" Target="../media/image88.png"/><Relationship Id="rId4" Type="http://schemas.openxmlformats.org/officeDocument/2006/relationships/image" Target="../media/image18.png"/></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56.xml"/><Relationship Id="rId1" Type="http://schemas.openxmlformats.org/officeDocument/2006/relationships/slideLayout" Target="../slideLayouts/slideLayout5.xml"/><Relationship Id="rId4" Type="http://schemas.openxmlformats.org/officeDocument/2006/relationships/image" Target="../media/image42.png"/></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3" Type="http://schemas.openxmlformats.org/officeDocument/2006/relationships/image" Target="../media/image54.png"/><Relationship Id="rId7" Type="http://schemas.openxmlformats.org/officeDocument/2006/relationships/image" Target="../media/image33.png"/><Relationship Id="rId2" Type="http://schemas.openxmlformats.org/officeDocument/2006/relationships/notesSlide" Target="../notesSlides/notesSlide58.xml"/><Relationship Id="rId1" Type="http://schemas.openxmlformats.org/officeDocument/2006/relationships/slideLayout" Target="../slideLayouts/slideLayout4.xml"/><Relationship Id="rId6" Type="http://schemas.openxmlformats.org/officeDocument/2006/relationships/image" Target="../media/image99.png"/><Relationship Id="rId5" Type="http://schemas.openxmlformats.org/officeDocument/2006/relationships/image" Target="../media/image6.png"/><Relationship Id="rId4" Type="http://schemas.openxmlformats.org/officeDocument/2006/relationships/image" Target="../media/image56.png"/></Relationships>
</file>

<file path=ppt/slides/_rels/slide59.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42.png"/><Relationship Id="rId2" Type="http://schemas.openxmlformats.org/officeDocument/2006/relationships/notesSlide" Target="../notesSlides/notesSlide59.xml"/><Relationship Id="rId1" Type="http://schemas.openxmlformats.org/officeDocument/2006/relationships/slideLayout" Target="../slideLayouts/slideLayout5.xml"/><Relationship Id="rId6" Type="http://schemas.openxmlformats.org/officeDocument/2006/relationships/image" Target="../media/image41.png"/><Relationship Id="rId5" Type="http://schemas.openxmlformats.org/officeDocument/2006/relationships/image" Target="../media/image11.png"/><Relationship Id="rId4" Type="http://schemas.openxmlformats.org/officeDocument/2006/relationships/image" Target="../media/image10.png"/></Relationships>
</file>

<file path=ppt/slides/_rels/slide60.xml.rels><?xml version="1.0" encoding="UTF-8" standalone="yes"?>
<Relationships xmlns="http://schemas.openxmlformats.org/package/2006/relationships"><Relationship Id="rId3" Type="http://schemas.openxmlformats.org/officeDocument/2006/relationships/hyperlink" Target="https://youtu.be/5V3t7YXYjZc" TargetMode="External"/><Relationship Id="rId2" Type="http://schemas.openxmlformats.org/officeDocument/2006/relationships/notesSlide" Target="../notesSlides/notesSlide60.xml"/><Relationship Id="rId1" Type="http://schemas.openxmlformats.org/officeDocument/2006/relationships/slideLayout" Target="../slideLayouts/slideLayout4.xml"/><Relationship Id="rId6" Type="http://schemas.openxmlformats.org/officeDocument/2006/relationships/hyperlink" Target="https://youtu.be/8DZ9T5epwxc" TargetMode="External"/><Relationship Id="rId5" Type="http://schemas.openxmlformats.org/officeDocument/2006/relationships/hyperlink" Target="https://youtu.be/hp2i2qhbKM0" TargetMode="External"/><Relationship Id="rId4" Type="http://schemas.openxmlformats.org/officeDocument/2006/relationships/hyperlink" Target="https://youtu.be/EU_xYZ01k1E" TargetMode="Externa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62.xml"/><Relationship Id="rId1" Type="http://schemas.openxmlformats.org/officeDocument/2006/relationships/slideLayout" Target="../slideLayouts/slideLayout4.xml"/><Relationship Id="rId5" Type="http://schemas.openxmlformats.org/officeDocument/2006/relationships/image" Target="../media/image101.png"/><Relationship Id="rId4" Type="http://schemas.openxmlformats.org/officeDocument/2006/relationships/image" Target="../media/image7.png"/></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64.xml"/><Relationship Id="rId1" Type="http://schemas.openxmlformats.org/officeDocument/2006/relationships/slideLayout" Target="../slideLayouts/slideLayout4.xml"/><Relationship Id="rId6" Type="http://schemas.openxmlformats.org/officeDocument/2006/relationships/image" Target="../media/image104.png"/><Relationship Id="rId5" Type="http://schemas.openxmlformats.org/officeDocument/2006/relationships/image" Target="../media/image103.png"/><Relationship Id="rId4" Type="http://schemas.openxmlformats.org/officeDocument/2006/relationships/image" Target="../media/image6.png"/></Relationships>
</file>

<file path=ppt/slides/_rels/slide6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65.xml"/><Relationship Id="rId1" Type="http://schemas.openxmlformats.org/officeDocument/2006/relationships/slideLayout" Target="../slideLayouts/slideLayout5.xml"/><Relationship Id="rId4" Type="http://schemas.openxmlformats.org/officeDocument/2006/relationships/image" Target="../media/image42.png"/></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67.xml"/><Relationship Id="rId1" Type="http://schemas.openxmlformats.org/officeDocument/2006/relationships/slideLayout" Target="../slideLayouts/slideLayout4.xml"/><Relationship Id="rId6" Type="http://schemas.openxmlformats.org/officeDocument/2006/relationships/image" Target="../media/image107.png"/><Relationship Id="rId5" Type="http://schemas.openxmlformats.org/officeDocument/2006/relationships/image" Target="../media/image106.png"/><Relationship Id="rId4" Type="http://schemas.openxmlformats.org/officeDocument/2006/relationships/image" Target="../media/image105.png"/></Relationships>
</file>

<file path=ppt/slides/_rels/slide68.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68.xml"/><Relationship Id="rId1" Type="http://schemas.openxmlformats.org/officeDocument/2006/relationships/slideLayout" Target="../slideLayouts/slideLayout4.xml"/><Relationship Id="rId6" Type="http://schemas.openxmlformats.org/officeDocument/2006/relationships/image" Target="../media/image30.png"/><Relationship Id="rId5" Type="http://schemas.openxmlformats.org/officeDocument/2006/relationships/image" Target="../media/image107.png"/><Relationship Id="rId4" Type="http://schemas.openxmlformats.org/officeDocument/2006/relationships/image" Target="../media/image106.png"/></Relationships>
</file>

<file path=ppt/slides/_rels/slide69.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48.png"/><Relationship Id="rId2" Type="http://schemas.openxmlformats.org/officeDocument/2006/relationships/notesSlide" Target="../notesSlides/notesSlide69.xml"/><Relationship Id="rId1" Type="http://schemas.openxmlformats.org/officeDocument/2006/relationships/slideLayout" Target="../slideLayouts/slideLayout4.xml"/><Relationship Id="rId6" Type="http://schemas.openxmlformats.org/officeDocument/2006/relationships/image" Target="../media/image3.png"/><Relationship Id="rId5" Type="http://schemas.openxmlformats.org/officeDocument/2006/relationships/image" Target="../media/image17.png"/><Relationship Id="rId4" Type="http://schemas.openxmlformats.org/officeDocument/2006/relationships/image" Target="../media/image47.png"/></Relationships>
</file>

<file path=ppt/slides/_rels/slide70.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70.xml"/><Relationship Id="rId1" Type="http://schemas.openxmlformats.org/officeDocument/2006/relationships/slideLayout" Target="../slideLayouts/slideLayout4.xml"/><Relationship Id="rId6" Type="http://schemas.openxmlformats.org/officeDocument/2006/relationships/image" Target="../media/image61.png"/><Relationship Id="rId5" Type="http://schemas.openxmlformats.org/officeDocument/2006/relationships/image" Target="../media/image108.png"/><Relationship Id="rId4" Type="http://schemas.openxmlformats.org/officeDocument/2006/relationships/image" Target="../media/image22.png"/></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72.xml"/><Relationship Id="rId1" Type="http://schemas.openxmlformats.org/officeDocument/2006/relationships/slideLayout" Target="../slideLayouts/slideLayout4.xml"/><Relationship Id="rId4" Type="http://schemas.openxmlformats.org/officeDocument/2006/relationships/image" Target="../media/image33.png"/></Relationships>
</file>

<file path=ppt/slides/_rels/slide73.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notesSlide" Target="../notesSlides/notesSlide73.xml"/><Relationship Id="rId1" Type="http://schemas.openxmlformats.org/officeDocument/2006/relationships/slideLayout" Target="../slideLayouts/slideLayout4.xml"/><Relationship Id="rId5" Type="http://schemas.openxmlformats.org/officeDocument/2006/relationships/image" Target="../media/image35.png"/><Relationship Id="rId4" Type="http://schemas.openxmlformats.org/officeDocument/2006/relationships/image" Target="../media/image80.png"/></Relationships>
</file>

<file path=ppt/slides/_rels/slide7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74.xml"/><Relationship Id="rId1" Type="http://schemas.openxmlformats.org/officeDocument/2006/relationships/slideLayout" Target="../slideLayouts/slideLayout5.xml"/><Relationship Id="rId4" Type="http://schemas.openxmlformats.org/officeDocument/2006/relationships/image" Target="../media/image42.png"/></Relationships>
</file>

<file path=ppt/slides/_rels/slide75.xml.rels><?xml version="1.0" encoding="UTF-8" standalone="yes"?>
<Relationships xmlns="http://schemas.openxmlformats.org/package/2006/relationships"><Relationship Id="rId3" Type="http://schemas.openxmlformats.org/officeDocument/2006/relationships/hyperlink" Target="https://youtu.be/1auRbtW3b3s" TargetMode="External"/><Relationship Id="rId2" Type="http://schemas.openxmlformats.org/officeDocument/2006/relationships/notesSlide" Target="../notesSlides/notesSlide75.xml"/><Relationship Id="rId1" Type="http://schemas.openxmlformats.org/officeDocument/2006/relationships/slideLayout" Target="../slideLayouts/slideLayout4.xml"/><Relationship Id="rId6" Type="http://schemas.openxmlformats.org/officeDocument/2006/relationships/hyperlink" Target="https://youtu.be/vD8KtxFKlEE" TargetMode="External"/><Relationship Id="rId5" Type="http://schemas.openxmlformats.org/officeDocument/2006/relationships/hyperlink" Target="https://youtu.be/kISRpDfbS4Y" TargetMode="External"/><Relationship Id="rId4" Type="http://schemas.openxmlformats.org/officeDocument/2006/relationships/hyperlink" Target="https://youtu.be/IGEfN3qHDsg" TargetMode="External"/></Relationships>
</file>

<file path=ppt/slides/_rels/slide7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6.xml"/><Relationship Id="rId1" Type="http://schemas.openxmlformats.org/officeDocument/2006/relationships/slideLayout" Target="../slideLayouts/slideLayout4.xml"/></Relationships>
</file>

<file path=ppt/slides/_rels/slide77.xml.rels><?xml version="1.0" encoding="UTF-8" standalone="yes"?>
<Relationships xmlns="http://schemas.openxmlformats.org/package/2006/relationships"><Relationship Id="rId8" Type="http://schemas.openxmlformats.org/officeDocument/2006/relationships/image" Target="../media/image111.png"/><Relationship Id="rId3" Type="http://schemas.openxmlformats.org/officeDocument/2006/relationships/image" Target="../media/image26.png"/><Relationship Id="rId7" Type="http://schemas.openxmlformats.org/officeDocument/2006/relationships/image" Target="../media/image33.png"/><Relationship Id="rId2" Type="http://schemas.openxmlformats.org/officeDocument/2006/relationships/notesSlide" Target="../notesSlides/notesSlide77.xml"/><Relationship Id="rId1" Type="http://schemas.openxmlformats.org/officeDocument/2006/relationships/slideLayout" Target="../slideLayouts/slideLayout4.xml"/><Relationship Id="rId6" Type="http://schemas.openxmlformats.org/officeDocument/2006/relationships/image" Target="../media/image29.png"/><Relationship Id="rId5" Type="http://schemas.openxmlformats.org/officeDocument/2006/relationships/image" Target="../media/image110.png"/><Relationship Id="rId4" Type="http://schemas.openxmlformats.org/officeDocument/2006/relationships/image" Target="../media/image106.png"/></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4.xml"/></Relationships>
</file>

<file path=ppt/slides/_rels/slide7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xt-1"/>
          <p:cNvSpPr txBox="1"/>
          <p:nvPr/>
        </p:nvSpPr>
        <p:spPr>
          <a:xfrm>
            <a:off x="731520" y="1371600"/>
            <a:ext cx="10698480" cy="457200"/>
          </a:xfrm>
          <a:prstGeom prst="rect">
            <a:avLst/>
          </a:prstGeom>
          <a:noFill/>
          <a:ln/>
        </p:spPr>
        <p:txBody>
          <a:bodyPr wrap="square" lIns="0" tIns="0" rIns="0" bIns="0" rtlCol="0" anchor="t"/>
          <a:lstStyle/>
          <a:p>
            <a:pPr marL="0" indent="0">
              <a:buNone/>
            </a:pPr>
            <a:r>
              <a:rPr lang="en-US" sz="1400" b="1" kern="0" spc="200" dirty="0">
                <a:solidFill>
                  <a:schemeClr val="accent1"/>
                </a:solidFill>
              </a:rPr>
              <a:t>FORMATION IA · FEMMES CHERCHEURES · VOLET NON-IT</a:t>
            </a:r>
            <a:endParaRPr lang="en-US" sz="1400" dirty="0"/>
          </a:p>
        </p:txBody>
      </p:sp>
      <p:sp>
        <p:nvSpPr>
          <p:cNvPr id="3" name="Text 0"/>
          <p:cNvSpPr>
            <a:spLocks noGrp="1"/>
          </p:cNvSpPr>
          <p:nvPr>
            <p:ph type="title" idx="100" hasCustomPrompt="1"/>
          </p:nvPr>
        </p:nvSpPr>
        <p:spPr>
          <a:xfrm>
            <a:off x="731520" y="2011680"/>
            <a:ext cx="10698480" cy="1737360"/>
          </a:xfrm>
          <a:prstGeom prst="rect">
            <a:avLst/>
          </a:prstGeom>
          <a:noFill/>
          <a:ln/>
        </p:spPr>
        <p:txBody>
          <a:bodyPr wrap="square" lIns="0" tIns="0" rIns="0" bIns="0" rtlCol="0" anchor="b"/>
          <a:lstStyle/>
          <a:p>
            <a:pPr marL="0" indent="0" algn="l">
              <a:buNone/>
            </a:pPr>
            <a:r>
              <a:rPr lang="en-US" sz="4000" b="1" dirty="0">
                <a:solidFill>
                  <a:schemeClr val="bg1"/>
                </a:solidFill>
                <a:latin typeface="Poppins" pitchFamily="34" charset="0"/>
                <a:ea typeface="Poppins" pitchFamily="34" charset="-122"/>
                <a:cs typeface="Poppins" pitchFamily="34" charset="-120"/>
              </a:rPr>
              <a:t>IA générative appliquée à la recherche</a:t>
            </a:r>
            <a:endParaRPr lang="en-US" sz="4000" dirty="0"/>
          </a:p>
        </p:txBody>
      </p:sp>
      <p:sp>
        <p:nvSpPr>
          <p:cNvPr id="4" name="txt-2"/>
          <p:cNvSpPr txBox="1"/>
          <p:nvPr/>
        </p:nvSpPr>
        <p:spPr>
          <a:xfrm>
            <a:off x="731520" y="3931920"/>
            <a:ext cx="10698480" cy="457200"/>
          </a:xfrm>
          <a:prstGeom prst="rect">
            <a:avLst/>
          </a:prstGeom>
          <a:noFill/>
          <a:ln/>
        </p:spPr>
        <p:txBody>
          <a:bodyPr wrap="square" lIns="0" tIns="0" rIns="0" bIns="0" rtlCol="0" anchor="t"/>
          <a:lstStyle/>
          <a:p>
            <a:pPr marL="0" indent="0">
              <a:buNone/>
            </a:pPr>
            <a:r>
              <a:rPr lang="en-US" sz="2000" dirty="0">
                <a:solidFill>
                  <a:schemeClr val="bg2"/>
                </a:solidFill>
              </a:rPr>
              <a:t>Rédiger · Analyser · Traduire · Créer son assistant</a:t>
            </a:r>
            <a:endParaRPr lang="en-US" sz="2000" dirty="0"/>
          </a:p>
        </p:txBody>
      </p:sp>
      <p:sp>
        <p:nvSpPr>
          <p:cNvPr id="5" name="txt-3"/>
          <p:cNvSpPr txBox="1"/>
          <p:nvPr/>
        </p:nvSpPr>
        <p:spPr>
          <a:xfrm>
            <a:off x="731520" y="5120640"/>
            <a:ext cx="8229600" cy="822960"/>
          </a:xfrm>
          <a:prstGeom prst="rect">
            <a:avLst/>
          </a:prstGeom>
          <a:noFill/>
          <a:ln/>
        </p:spPr>
        <p:txBody>
          <a:bodyPr wrap="square" lIns="0" tIns="0" rIns="0" bIns="0" rtlCol="0" anchor="t"/>
          <a:lstStyle/>
          <a:p>
            <a:pPr marL="0" indent="0">
              <a:buNone/>
            </a:pPr>
            <a:r>
              <a:rPr lang="en-US" sz="1400" dirty="0">
                <a:solidFill>
                  <a:schemeClr val="bg2"/>
                </a:solidFill>
              </a:rPr>
              <a:t>Module M4-nonIT · Jour 4</a:t>
            </a:r>
            <a:endParaRPr lang="en-US" sz="1400" dirty="0"/>
          </a:p>
          <a:p>
            <a:pPr marL="0" indent="0">
              <a:buNone/>
            </a:pPr>
            <a:r>
              <a:rPr lang="en-US" sz="1400" dirty="0">
                <a:solidFill>
                  <a:schemeClr val="bg2"/>
                </a:solidFill>
              </a:rPr>
              <a:t>Ditoma KEGDIGOMA · UniPod, Université de Lomé</a:t>
            </a:r>
            <a:endParaRPr lang="en-US" sz="1400" dirty="0"/>
          </a:p>
        </p:txBody>
      </p:sp>
      <p:sp>
        <p:nvSpPr>
          <p:cNvPr id="6" name="circle-4"/>
          <p:cNvSpPr/>
          <p:nvPr/>
        </p:nvSpPr>
        <p:spPr>
          <a:xfrm>
            <a:off x="10332720" y="4937760"/>
            <a:ext cx="1097280" cy="1097280"/>
          </a:xfrm>
          <a:prstGeom prst="ellipse">
            <a:avLst/>
          </a:prstGeom>
          <a:solidFill>
            <a:schemeClr val="accent1"/>
          </a:solidFill>
          <a:ln w="12700">
            <a:solidFill>
              <a:schemeClr val="accent1"/>
            </a:solidFill>
            <a:prstDash val="solid"/>
          </a:ln>
        </p:spPr>
      </p:sp>
      <p:pic>
        <p:nvPicPr>
          <p:cNvPr id="7" name="icon-5" descr="preencoded.png"/>
          <p:cNvPicPr>
            <a:picLocks noChangeAspect="1"/>
          </p:cNvPicPr>
          <p:nvPr/>
        </p:nvPicPr>
        <p:blipFill>
          <a:blip r:embed="rId3"/>
          <a:stretch>
            <a:fillRect/>
          </a:stretch>
        </p:blipFill>
        <p:spPr>
          <a:xfrm>
            <a:off x="10607040" y="5212080"/>
            <a:ext cx="548640" cy="5486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566928"/>
            <a:ext cx="11064240" cy="777240"/>
          </a:xfrm>
          <a:prstGeom prst="rect">
            <a:avLst/>
          </a:prstGeom>
          <a:noFill/>
          <a:ln/>
        </p:spPr>
        <p:txBody>
          <a:bodyPr wrap="square" lIns="0" tIns="0" rIns="0" bIns="0" rtlCol="0" anchor="ctr"/>
          <a:lstStyle/>
          <a:p>
            <a:pPr marL="0" indent="0" algn="l">
              <a:buNone/>
            </a:pPr>
            <a:r>
              <a:rPr lang="en-US" sz="2700" b="1" dirty="0">
                <a:solidFill>
                  <a:schemeClr val="tx2"/>
                </a:solidFill>
                <a:latin typeface="Poppins" pitchFamily="34" charset="0"/>
                <a:ea typeface="Poppins" pitchFamily="34" charset="-122"/>
                <a:cs typeface="Poppins" pitchFamily="34" charset="-120"/>
              </a:rPr>
              <a:t>Ce que vous saurez faire à 17h</a:t>
            </a:r>
            <a:endParaRPr lang="en-US" sz="2700" dirty="0"/>
          </a:p>
        </p:txBody>
      </p:sp>
      <p:sp>
        <p:nvSpPr>
          <p:cNvPr id="3" name="Text 0"/>
          <p:cNvSpPr>
            <a:spLocks noGrp="1"/>
          </p:cNvSpPr>
          <p:nvPr>
            <p:ph type="body" idx="101" hasCustomPrompt="1"/>
          </p:nvPr>
        </p:nvSpPr>
        <p:spPr>
          <a:xfrm>
            <a:off x="548640" y="256032"/>
            <a:ext cx="8229600" cy="292608"/>
          </a:xfrm>
          <a:prstGeom prst="rect">
            <a:avLst/>
          </a:prstGeom>
          <a:noFill/>
          <a:ln/>
        </p:spPr>
        <p:txBody>
          <a:bodyPr wrap="square" lIns="0" tIns="0" rIns="0" bIns="0" rtlCol="0" anchor="ctr"/>
          <a:lstStyle/>
          <a:p>
            <a:pPr marL="0" indent="0">
              <a:buNone/>
            </a:pPr>
            <a:r>
              <a:rPr lang="en-US" sz="1100" b="1" dirty="0">
                <a:solidFill>
                  <a:schemeClr val="accent1"/>
                </a:solidFill>
                <a:latin typeface="Poppins" pitchFamily="34" charset="0"/>
                <a:ea typeface="Poppins" pitchFamily="34" charset="-122"/>
                <a:cs typeface="Poppins" pitchFamily="34" charset="-120"/>
              </a:rPr>
              <a:t>OUVERTURE</a:t>
            </a:r>
            <a:endParaRPr lang="en-US" sz="1100" dirty="0"/>
          </a:p>
        </p:txBody>
      </p:sp>
      <p:sp>
        <p:nvSpPr>
          <p:cNvPr id="4" name="card-6"/>
          <p:cNvSpPr/>
          <p:nvPr/>
        </p:nvSpPr>
        <p:spPr>
          <a:xfrm>
            <a:off x="548640" y="1600200"/>
            <a:ext cx="1737360" cy="3429000"/>
          </a:xfrm>
          <a:prstGeom prst="roundRect">
            <a:avLst>
              <a:gd name="adj" fmla="val 4211"/>
            </a:avLst>
          </a:prstGeom>
          <a:solidFill>
            <a:schemeClr val="bg2"/>
          </a:solidFill>
          <a:ln w="6350">
            <a:solidFill>
              <a:schemeClr val="bg2"/>
            </a:solidFill>
            <a:prstDash val="solid"/>
          </a:ln>
        </p:spPr>
      </p:sp>
      <p:sp>
        <p:nvSpPr>
          <p:cNvPr id="5" name="circle-7"/>
          <p:cNvSpPr/>
          <p:nvPr/>
        </p:nvSpPr>
        <p:spPr>
          <a:xfrm>
            <a:off x="731520" y="1828800"/>
            <a:ext cx="685800" cy="685800"/>
          </a:xfrm>
          <a:prstGeom prst="ellipse">
            <a:avLst/>
          </a:prstGeom>
          <a:solidFill>
            <a:schemeClr val="accent1"/>
          </a:solidFill>
          <a:ln w="12700">
            <a:solidFill>
              <a:schemeClr val="accent1"/>
            </a:solidFill>
            <a:prstDash val="solid"/>
          </a:ln>
        </p:spPr>
      </p:sp>
      <p:pic>
        <p:nvPicPr>
          <p:cNvPr id="6" name="icon-8" descr="preencoded.png"/>
          <p:cNvPicPr>
            <a:picLocks noChangeAspect="1"/>
          </p:cNvPicPr>
          <p:nvPr/>
        </p:nvPicPr>
        <p:blipFill>
          <a:blip r:embed="rId3"/>
          <a:stretch>
            <a:fillRect/>
          </a:stretch>
        </p:blipFill>
        <p:spPr>
          <a:xfrm>
            <a:off x="902970" y="2000250"/>
            <a:ext cx="342900" cy="342900"/>
          </a:xfrm>
          <a:prstGeom prst="rect">
            <a:avLst/>
          </a:prstGeom>
        </p:spPr>
      </p:pic>
      <p:sp>
        <p:nvSpPr>
          <p:cNvPr id="7" name="txt-9"/>
          <p:cNvSpPr txBox="1"/>
          <p:nvPr/>
        </p:nvSpPr>
        <p:spPr>
          <a:xfrm>
            <a:off x="731520" y="2743200"/>
            <a:ext cx="1463040" cy="411480"/>
          </a:xfrm>
          <a:prstGeom prst="rect">
            <a:avLst/>
          </a:prstGeom>
          <a:noFill/>
          <a:ln/>
        </p:spPr>
        <p:txBody>
          <a:bodyPr wrap="square" lIns="0" tIns="0" rIns="0" bIns="0" rtlCol="0" anchor="t"/>
          <a:lstStyle/>
          <a:p>
            <a:pPr marL="0" indent="0">
              <a:buNone/>
            </a:pPr>
            <a:r>
              <a:rPr lang="en-US" sz="1700" b="1" dirty="0">
                <a:solidFill>
                  <a:schemeClr val="tx2"/>
                </a:solidFill>
              </a:rPr>
              <a:t>Cibler</a:t>
            </a:r>
            <a:endParaRPr lang="en-US" sz="1700" dirty="0"/>
          </a:p>
        </p:txBody>
      </p:sp>
      <p:sp>
        <p:nvSpPr>
          <p:cNvPr id="8" name="txt-10"/>
          <p:cNvSpPr txBox="1"/>
          <p:nvPr/>
        </p:nvSpPr>
        <p:spPr>
          <a:xfrm>
            <a:off x="731520" y="3200400"/>
            <a:ext cx="1417320" cy="1737360"/>
          </a:xfrm>
          <a:prstGeom prst="rect">
            <a:avLst/>
          </a:prstGeom>
          <a:noFill/>
          <a:ln/>
        </p:spPr>
        <p:txBody>
          <a:bodyPr wrap="square" lIns="0" tIns="0" rIns="0" bIns="0" rtlCol="0" anchor="t"/>
          <a:lstStyle/>
          <a:p>
            <a:pPr marL="0" indent="0">
              <a:buNone/>
            </a:pPr>
            <a:r>
              <a:rPr lang="en-US" sz="1200" dirty="0">
                <a:solidFill>
                  <a:schemeClr val="tx1"/>
                </a:solidFill>
              </a:rPr>
              <a:t>Trouver un gap et formuler votre question de recherche</a:t>
            </a:r>
            <a:endParaRPr lang="en-US" sz="1200" dirty="0"/>
          </a:p>
        </p:txBody>
      </p:sp>
      <p:sp>
        <p:nvSpPr>
          <p:cNvPr id="9" name="card-11"/>
          <p:cNvSpPr/>
          <p:nvPr/>
        </p:nvSpPr>
        <p:spPr>
          <a:xfrm>
            <a:off x="2414016" y="1600200"/>
            <a:ext cx="1737360" cy="3429000"/>
          </a:xfrm>
          <a:prstGeom prst="roundRect">
            <a:avLst>
              <a:gd name="adj" fmla="val 4211"/>
            </a:avLst>
          </a:prstGeom>
          <a:solidFill>
            <a:schemeClr val="bg2"/>
          </a:solidFill>
          <a:ln w="6350">
            <a:solidFill>
              <a:schemeClr val="bg2"/>
            </a:solidFill>
            <a:prstDash val="solid"/>
          </a:ln>
        </p:spPr>
      </p:sp>
      <p:sp>
        <p:nvSpPr>
          <p:cNvPr id="10" name="circle-12"/>
          <p:cNvSpPr/>
          <p:nvPr/>
        </p:nvSpPr>
        <p:spPr>
          <a:xfrm>
            <a:off x="2596896" y="1828800"/>
            <a:ext cx="685800" cy="685800"/>
          </a:xfrm>
          <a:prstGeom prst="ellipse">
            <a:avLst/>
          </a:prstGeom>
          <a:solidFill>
            <a:schemeClr val="accent4"/>
          </a:solidFill>
          <a:ln w="12700">
            <a:solidFill>
              <a:schemeClr val="accent4"/>
            </a:solidFill>
            <a:prstDash val="solid"/>
          </a:ln>
        </p:spPr>
      </p:sp>
      <p:pic>
        <p:nvPicPr>
          <p:cNvPr id="11" name="icon-13" descr="preencoded.png"/>
          <p:cNvPicPr>
            <a:picLocks noChangeAspect="1"/>
          </p:cNvPicPr>
          <p:nvPr/>
        </p:nvPicPr>
        <p:blipFill>
          <a:blip r:embed="rId4"/>
          <a:stretch>
            <a:fillRect/>
          </a:stretch>
        </p:blipFill>
        <p:spPr>
          <a:xfrm>
            <a:off x="2768346" y="2000250"/>
            <a:ext cx="342900" cy="342900"/>
          </a:xfrm>
          <a:prstGeom prst="rect">
            <a:avLst/>
          </a:prstGeom>
        </p:spPr>
      </p:pic>
      <p:sp>
        <p:nvSpPr>
          <p:cNvPr id="12" name="txt-14"/>
          <p:cNvSpPr txBox="1"/>
          <p:nvPr/>
        </p:nvSpPr>
        <p:spPr>
          <a:xfrm>
            <a:off x="2596896" y="2743200"/>
            <a:ext cx="1463040" cy="411480"/>
          </a:xfrm>
          <a:prstGeom prst="rect">
            <a:avLst/>
          </a:prstGeom>
          <a:noFill/>
          <a:ln/>
        </p:spPr>
        <p:txBody>
          <a:bodyPr wrap="square" lIns="0" tIns="0" rIns="0" bIns="0" rtlCol="0" anchor="t"/>
          <a:lstStyle/>
          <a:p>
            <a:pPr marL="0" indent="0">
              <a:buNone/>
            </a:pPr>
            <a:r>
              <a:rPr lang="en-US" sz="1700" b="1" dirty="0">
                <a:solidFill>
                  <a:schemeClr val="tx2"/>
                </a:solidFill>
              </a:rPr>
              <a:t>Rédiger</a:t>
            </a:r>
            <a:endParaRPr lang="en-US" sz="1700" dirty="0"/>
          </a:p>
        </p:txBody>
      </p:sp>
      <p:sp>
        <p:nvSpPr>
          <p:cNvPr id="13" name="txt-15"/>
          <p:cNvSpPr txBox="1"/>
          <p:nvPr/>
        </p:nvSpPr>
        <p:spPr>
          <a:xfrm>
            <a:off x="2596896" y="3200400"/>
            <a:ext cx="1417320" cy="1737360"/>
          </a:xfrm>
          <a:prstGeom prst="rect">
            <a:avLst/>
          </a:prstGeom>
          <a:noFill/>
          <a:ln/>
        </p:spPr>
        <p:txBody>
          <a:bodyPr wrap="square" lIns="0" tIns="0" rIns="0" bIns="0" rtlCol="0" anchor="t"/>
          <a:lstStyle/>
          <a:p>
            <a:pPr marL="0" indent="0">
              <a:buNone/>
            </a:pPr>
            <a:r>
              <a:rPr lang="en-US" sz="1200" dirty="0">
                <a:solidFill>
                  <a:schemeClr val="tx1"/>
                </a:solidFill>
              </a:rPr>
              <a:t>Améliorer votre résumé de thèse ou d'article avec l'IA</a:t>
            </a:r>
            <a:endParaRPr lang="en-US" sz="1200" dirty="0"/>
          </a:p>
        </p:txBody>
      </p:sp>
      <p:sp>
        <p:nvSpPr>
          <p:cNvPr id="14" name="card-16"/>
          <p:cNvSpPr/>
          <p:nvPr/>
        </p:nvSpPr>
        <p:spPr>
          <a:xfrm>
            <a:off x="4279392" y="1600200"/>
            <a:ext cx="1737360" cy="3429000"/>
          </a:xfrm>
          <a:prstGeom prst="roundRect">
            <a:avLst>
              <a:gd name="adj" fmla="val 4211"/>
            </a:avLst>
          </a:prstGeom>
          <a:solidFill>
            <a:schemeClr val="bg2"/>
          </a:solidFill>
          <a:ln w="6350">
            <a:solidFill>
              <a:schemeClr val="bg2"/>
            </a:solidFill>
            <a:prstDash val="solid"/>
          </a:ln>
        </p:spPr>
      </p:sp>
      <p:sp>
        <p:nvSpPr>
          <p:cNvPr id="15" name="circle-17"/>
          <p:cNvSpPr/>
          <p:nvPr/>
        </p:nvSpPr>
        <p:spPr>
          <a:xfrm>
            <a:off x="4462272" y="1828800"/>
            <a:ext cx="685800" cy="685800"/>
          </a:xfrm>
          <a:prstGeom prst="ellipse">
            <a:avLst/>
          </a:prstGeom>
          <a:solidFill>
            <a:schemeClr val="accent6"/>
          </a:solidFill>
          <a:ln w="12700">
            <a:solidFill>
              <a:schemeClr val="accent6"/>
            </a:solidFill>
            <a:prstDash val="solid"/>
          </a:ln>
        </p:spPr>
      </p:sp>
      <p:pic>
        <p:nvPicPr>
          <p:cNvPr id="16" name="icon-18" descr="preencoded.png"/>
          <p:cNvPicPr>
            <a:picLocks noChangeAspect="1"/>
          </p:cNvPicPr>
          <p:nvPr/>
        </p:nvPicPr>
        <p:blipFill>
          <a:blip r:embed="rId5"/>
          <a:stretch>
            <a:fillRect/>
          </a:stretch>
        </p:blipFill>
        <p:spPr>
          <a:xfrm>
            <a:off x="4633722" y="2000250"/>
            <a:ext cx="342900" cy="342900"/>
          </a:xfrm>
          <a:prstGeom prst="rect">
            <a:avLst/>
          </a:prstGeom>
        </p:spPr>
      </p:pic>
      <p:sp>
        <p:nvSpPr>
          <p:cNvPr id="17" name="txt-19"/>
          <p:cNvSpPr txBox="1"/>
          <p:nvPr/>
        </p:nvSpPr>
        <p:spPr>
          <a:xfrm>
            <a:off x="4462272" y="2743200"/>
            <a:ext cx="1463040" cy="411480"/>
          </a:xfrm>
          <a:prstGeom prst="rect">
            <a:avLst/>
          </a:prstGeom>
          <a:noFill/>
          <a:ln/>
        </p:spPr>
        <p:txBody>
          <a:bodyPr wrap="square" lIns="0" tIns="0" rIns="0" bIns="0" rtlCol="0" anchor="t"/>
          <a:lstStyle/>
          <a:p>
            <a:pPr marL="0" indent="0">
              <a:buNone/>
            </a:pPr>
            <a:r>
              <a:rPr lang="en-US" sz="1700" b="1" dirty="0">
                <a:solidFill>
                  <a:schemeClr val="tx2"/>
                </a:solidFill>
              </a:rPr>
              <a:t>Interroger</a:t>
            </a:r>
            <a:endParaRPr lang="en-US" sz="1700" dirty="0"/>
          </a:p>
        </p:txBody>
      </p:sp>
      <p:sp>
        <p:nvSpPr>
          <p:cNvPr id="18" name="txt-20"/>
          <p:cNvSpPr txBox="1"/>
          <p:nvPr/>
        </p:nvSpPr>
        <p:spPr>
          <a:xfrm>
            <a:off x="4462272" y="3200400"/>
            <a:ext cx="1417320" cy="1737360"/>
          </a:xfrm>
          <a:prstGeom prst="rect">
            <a:avLst/>
          </a:prstGeom>
          <a:noFill/>
          <a:ln/>
        </p:spPr>
        <p:txBody>
          <a:bodyPr wrap="square" lIns="0" tIns="0" rIns="0" bIns="0" rtlCol="0" anchor="t"/>
          <a:lstStyle/>
          <a:p>
            <a:pPr marL="0" indent="0">
              <a:buNone/>
            </a:pPr>
            <a:r>
              <a:rPr lang="en-US" sz="1200" dirty="0">
                <a:solidFill>
                  <a:schemeClr val="tx1"/>
                </a:solidFill>
              </a:rPr>
              <a:t>Construire un RAG sur votre bibliographie avec Gemini Notebook</a:t>
            </a:r>
            <a:endParaRPr lang="en-US" sz="1200" dirty="0"/>
          </a:p>
        </p:txBody>
      </p:sp>
      <p:sp>
        <p:nvSpPr>
          <p:cNvPr id="19" name="card-21"/>
          <p:cNvSpPr/>
          <p:nvPr/>
        </p:nvSpPr>
        <p:spPr>
          <a:xfrm>
            <a:off x="6144768" y="1600200"/>
            <a:ext cx="1737360" cy="3429000"/>
          </a:xfrm>
          <a:prstGeom prst="roundRect">
            <a:avLst>
              <a:gd name="adj" fmla="val 4211"/>
            </a:avLst>
          </a:prstGeom>
          <a:solidFill>
            <a:schemeClr val="bg2"/>
          </a:solidFill>
          <a:ln w="6350">
            <a:solidFill>
              <a:schemeClr val="bg2"/>
            </a:solidFill>
            <a:prstDash val="solid"/>
          </a:ln>
        </p:spPr>
      </p:sp>
      <p:sp>
        <p:nvSpPr>
          <p:cNvPr id="20" name="circle-22"/>
          <p:cNvSpPr/>
          <p:nvPr/>
        </p:nvSpPr>
        <p:spPr>
          <a:xfrm>
            <a:off x="6327648" y="1828800"/>
            <a:ext cx="685800" cy="685800"/>
          </a:xfrm>
          <a:prstGeom prst="ellipse">
            <a:avLst/>
          </a:prstGeom>
          <a:solidFill>
            <a:schemeClr val="accent3"/>
          </a:solidFill>
          <a:ln w="12700">
            <a:solidFill>
              <a:schemeClr val="accent3"/>
            </a:solidFill>
            <a:prstDash val="solid"/>
          </a:ln>
        </p:spPr>
      </p:sp>
      <p:pic>
        <p:nvPicPr>
          <p:cNvPr id="21" name="icon-23" descr="preencoded.png"/>
          <p:cNvPicPr>
            <a:picLocks noChangeAspect="1"/>
          </p:cNvPicPr>
          <p:nvPr/>
        </p:nvPicPr>
        <p:blipFill>
          <a:blip r:embed="rId6"/>
          <a:stretch>
            <a:fillRect/>
          </a:stretch>
        </p:blipFill>
        <p:spPr>
          <a:xfrm>
            <a:off x="6499098" y="2000250"/>
            <a:ext cx="342900" cy="342900"/>
          </a:xfrm>
          <a:prstGeom prst="rect">
            <a:avLst/>
          </a:prstGeom>
        </p:spPr>
      </p:pic>
      <p:sp>
        <p:nvSpPr>
          <p:cNvPr id="22" name="txt-24"/>
          <p:cNvSpPr txBox="1"/>
          <p:nvPr/>
        </p:nvSpPr>
        <p:spPr>
          <a:xfrm>
            <a:off x="6327648" y="2743200"/>
            <a:ext cx="1463040" cy="411480"/>
          </a:xfrm>
          <a:prstGeom prst="rect">
            <a:avLst/>
          </a:prstGeom>
          <a:noFill/>
          <a:ln/>
        </p:spPr>
        <p:txBody>
          <a:bodyPr wrap="square" lIns="0" tIns="0" rIns="0" bIns="0" rtlCol="0" anchor="t"/>
          <a:lstStyle/>
          <a:p>
            <a:pPr marL="0" indent="0">
              <a:buNone/>
            </a:pPr>
            <a:r>
              <a:rPr lang="en-US" sz="1700" b="1" dirty="0">
                <a:solidFill>
                  <a:schemeClr val="tx2"/>
                </a:solidFill>
              </a:rPr>
              <a:t>Analyser</a:t>
            </a:r>
            <a:endParaRPr lang="en-US" sz="1700" dirty="0"/>
          </a:p>
        </p:txBody>
      </p:sp>
      <p:sp>
        <p:nvSpPr>
          <p:cNvPr id="23" name="txt-25"/>
          <p:cNvSpPr txBox="1"/>
          <p:nvPr/>
        </p:nvSpPr>
        <p:spPr>
          <a:xfrm>
            <a:off x="6327648" y="3200400"/>
            <a:ext cx="1417320" cy="1737360"/>
          </a:xfrm>
          <a:prstGeom prst="rect">
            <a:avLst/>
          </a:prstGeom>
          <a:noFill/>
          <a:ln/>
        </p:spPr>
        <p:txBody>
          <a:bodyPr wrap="square" lIns="0" tIns="0" rIns="0" bIns="0" rtlCol="0" anchor="t"/>
          <a:lstStyle/>
          <a:p>
            <a:pPr marL="0" indent="0">
              <a:buNone/>
            </a:pPr>
            <a:r>
              <a:rPr lang="en-US" sz="1200" dirty="0">
                <a:solidFill>
                  <a:schemeClr val="tx1"/>
                </a:solidFill>
              </a:rPr>
              <a:t>Accélérer le codage d'entretiens sans perdre en rigueur</a:t>
            </a:r>
            <a:endParaRPr lang="en-US" sz="1200" dirty="0"/>
          </a:p>
        </p:txBody>
      </p:sp>
      <p:sp>
        <p:nvSpPr>
          <p:cNvPr id="24" name="card-26"/>
          <p:cNvSpPr/>
          <p:nvPr/>
        </p:nvSpPr>
        <p:spPr>
          <a:xfrm>
            <a:off x="8010144" y="1600200"/>
            <a:ext cx="1737360" cy="3429000"/>
          </a:xfrm>
          <a:prstGeom prst="roundRect">
            <a:avLst>
              <a:gd name="adj" fmla="val 4211"/>
            </a:avLst>
          </a:prstGeom>
          <a:solidFill>
            <a:schemeClr val="bg2"/>
          </a:solidFill>
          <a:ln w="6350">
            <a:solidFill>
              <a:schemeClr val="bg2"/>
            </a:solidFill>
            <a:prstDash val="solid"/>
          </a:ln>
        </p:spPr>
      </p:sp>
      <p:sp>
        <p:nvSpPr>
          <p:cNvPr id="25" name="circle-27"/>
          <p:cNvSpPr/>
          <p:nvPr/>
        </p:nvSpPr>
        <p:spPr>
          <a:xfrm>
            <a:off x="8193024" y="1828800"/>
            <a:ext cx="685800" cy="685800"/>
          </a:xfrm>
          <a:prstGeom prst="ellipse">
            <a:avLst/>
          </a:prstGeom>
          <a:solidFill>
            <a:schemeClr val="accent2"/>
          </a:solidFill>
          <a:ln w="12700">
            <a:solidFill>
              <a:schemeClr val="accent2"/>
            </a:solidFill>
            <a:prstDash val="solid"/>
          </a:ln>
        </p:spPr>
      </p:sp>
      <p:pic>
        <p:nvPicPr>
          <p:cNvPr id="26" name="icon-28" descr="preencoded.png"/>
          <p:cNvPicPr>
            <a:picLocks noChangeAspect="1"/>
          </p:cNvPicPr>
          <p:nvPr/>
        </p:nvPicPr>
        <p:blipFill>
          <a:blip r:embed="rId7"/>
          <a:stretch>
            <a:fillRect/>
          </a:stretch>
        </p:blipFill>
        <p:spPr>
          <a:xfrm>
            <a:off x="8364474" y="2000250"/>
            <a:ext cx="342900" cy="342900"/>
          </a:xfrm>
          <a:prstGeom prst="rect">
            <a:avLst/>
          </a:prstGeom>
        </p:spPr>
      </p:pic>
      <p:sp>
        <p:nvSpPr>
          <p:cNvPr id="27" name="txt-29"/>
          <p:cNvSpPr txBox="1"/>
          <p:nvPr/>
        </p:nvSpPr>
        <p:spPr>
          <a:xfrm>
            <a:off x="8193024" y="2743200"/>
            <a:ext cx="1463040" cy="411480"/>
          </a:xfrm>
          <a:prstGeom prst="rect">
            <a:avLst/>
          </a:prstGeom>
          <a:noFill/>
          <a:ln/>
        </p:spPr>
        <p:txBody>
          <a:bodyPr wrap="square" lIns="0" tIns="0" rIns="0" bIns="0" rtlCol="0" anchor="t"/>
          <a:lstStyle/>
          <a:p>
            <a:pPr marL="0" indent="0">
              <a:buNone/>
            </a:pPr>
            <a:r>
              <a:rPr lang="en-US" sz="1700" b="1" dirty="0">
                <a:solidFill>
                  <a:schemeClr val="tx2"/>
                </a:solidFill>
              </a:rPr>
              <a:t>Traduire</a:t>
            </a:r>
            <a:endParaRPr lang="en-US" sz="1700" dirty="0"/>
          </a:p>
        </p:txBody>
      </p:sp>
      <p:sp>
        <p:nvSpPr>
          <p:cNvPr id="28" name="txt-30"/>
          <p:cNvSpPr txBox="1"/>
          <p:nvPr/>
        </p:nvSpPr>
        <p:spPr>
          <a:xfrm>
            <a:off x="8193024" y="3200400"/>
            <a:ext cx="1417320" cy="1737360"/>
          </a:xfrm>
          <a:prstGeom prst="rect">
            <a:avLst/>
          </a:prstGeom>
          <a:noFill/>
          <a:ln/>
        </p:spPr>
        <p:txBody>
          <a:bodyPr wrap="square" lIns="0" tIns="0" rIns="0" bIns="0" rtlCol="0" anchor="t"/>
          <a:lstStyle/>
          <a:p>
            <a:pPr marL="0" indent="0">
              <a:buNone/>
            </a:pPr>
            <a:r>
              <a:rPr lang="en-US" sz="1200" dirty="0">
                <a:solidFill>
                  <a:schemeClr val="tx1"/>
                </a:solidFill>
              </a:rPr>
              <a:t>Produire un abstract anglais fiable et vérifié</a:t>
            </a:r>
            <a:endParaRPr lang="en-US" sz="1200" dirty="0"/>
          </a:p>
        </p:txBody>
      </p:sp>
      <p:sp>
        <p:nvSpPr>
          <p:cNvPr id="29" name="card-31"/>
          <p:cNvSpPr/>
          <p:nvPr/>
        </p:nvSpPr>
        <p:spPr>
          <a:xfrm>
            <a:off x="9875520" y="1600200"/>
            <a:ext cx="1737360" cy="3429000"/>
          </a:xfrm>
          <a:prstGeom prst="roundRect">
            <a:avLst>
              <a:gd name="adj" fmla="val 4211"/>
            </a:avLst>
          </a:prstGeom>
          <a:solidFill>
            <a:schemeClr val="bg2"/>
          </a:solidFill>
          <a:ln w="6350">
            <a:solidFill>
              <a:schemeClr val="bg2"/>
            </a:solidFill>
            <a:prstDash val="solid"/>
          </a:ln>
        </p:spPr>
      </p:sp>
      <p:sp>
        <p:nvSpPr>
          <p:cNvPr id="30" name="circle-32"/>
          <p:cNvSpPr/>
          <p:nvPr/>
        </p:nvSpPr>
        <p:spPr>
          <a:xfrm>
            <a:off x="10058400" y="1828800"/>
            <a:ext cx="685800" cy="685800"/>
          </a:xfrm>
          <a:prstGeom prst="ellipse">
            <a:avLst/>
          </a:prstGeom>
          <a:solidFill>
            <a:schemeClr val="tx2"/>
          </a:solidFill>
          <a:ln w="12700">
            <a:solidFill>
              <a:schemeClr val="tx2"/>
            </a:solidFill>
            <a:prstDash val="solid"/>
          </a:ln>
        </p:spPr>
      </p:sp>
      <p:pic>
        <p:nvPicPr>
          <p:cNvPr id="31" name="icon-33" descr="preencoded.png"/>
          <p:cNvPicPr>
            <a:picLocks noChangeAspect="1"/>
          </p:cNvPicPr>
          <p:nvPr/>
        </p:nvPicPr>
        <p:blipFill>
          <a:blip r:embed="rId8"/>
          <a:stretch>
            <a:fillRect/>
          </a:stretch>
        </p:blipFill>
        <p:spPr>
          <a:xfrm>
            <a:off x="10229850" y="2000250"/>
            <a:ext cx="342900" cy="342900"/>
          </a:xfrm>
          <a:prstGeom prst="rect">
            <a:avLst/>
          </a:prstGeom>
        </p:spPr>
      </p:pic>
      <p:sp>
        <p:nvSpPr>
          <p:cNvPr id="32" name="txt-34"/>
          <p:cNvSpPr txBox="1"/>
          <p:nvPr/>
        </p:nvSpPr>
        <p:spPr>
          <a:xfrm>
            <a:off x="10058400" y="2743200"/>
            <a:ext cx="1463040" cy="411480"/>
          </a:xfrm>
          <a:prstGeom prst="rect">
            <a:avLst/>
          </a:prstGeom>
          <a:noFill/>
          <a:ln/>
        </p:spPr>
        <p:txBody>
          <a:bodyPr wrap="square" lIns="0" tIns="0" rIns="0" bIns="0" rtlCol="0" anchor="t"/>
          <a:lstStyle/>
          <a:p>
            <a:pPr marL="0" indent="0">
              <a:buNone/>
            </a:pPr>
            <a:r>
              <a:rPr lang="en-US" sz="1700" b="1" dirty="0">
                <a:solidFill>
                  <a:schemeClr val="tx2"/>
                </a:solidFill>
              </a:rPr>
              <a:t>Piloter</a:t>
            </a:r>
            <a:endParaRPr lang="en-US" sz="1700" dirty="0"/>
          </a:p>
        </p:txBody>
      </p:sp>
      <p:sp>
        <p:nvSpPr>
          <p:cNvPr id="33" name="txt-35"/>
          <p:cNvSpPr txBox="1"/>
          <p:nvPr/>
        </p:nvSpPr>
        <p:spPr>
          <a:xfrm>
            <a:off x="10058400" y="3200400"/>
            <a:ext cx="1417320" cy="1737360"/>
          </a:xfrm>
          <a:prstGeom prst="rect">
            <a:avLst/>
          </a:prstGeom>
          <a:noFill/>
          <a:ln/>
        </p:spPr>
        <p:txBody>
          <a:bodyPr wrap="square" lIns="0" tIns="0" rIns="0" bIns="0" rtlCol="0" anchor="t"/>
          <a:lstStyle/>
          <a:p>
            <a:pPr marL="0" indent="0">
              <a:buNone/>
            </a:pPr>
            <a:r>
              <a:rPr lang="en-US" sz="1200" dirty="0">
                <a:solidFill>
                  <a:schemeClr val="tx1"/>
                </a:solidFill>
              </a:rPr>
              <a:t>Configurer un assistant et piloter un agent IA</a:t>
            </a:r>
            <a:endParaRPr lang="en-US" sz="1200" dirty="0"/>
          </a:p>
        </p:txBody>
      </p:sp>
      <p:sp>
        <p:nvSpPr>
          <p:cNvPr id="34" name="txt-36"/>
          <p:cNvSpPr txBox="1"/>
          <p:nvPr/>
        </p:nvSpPr>
        <p:spPr>
          <a:xfrm>
            <a:off x="548640" y="5349240"/>
            <a:ext cx="11064240" cy="502920"/>
          </a:xfrm>
          <a:prstGeom prst="rect">
            <a:avLst/>
          </a:prstGeom>
          <a:noFill/>
          <a:ln/>
        </p:spPr>
        <p:txBody>
          <a:bodyPr wrap="square" lIns="0" tIns="0" rIns="0" bIns="0" rtlCol="0" anchor="t"/>
          <a:lstStyle/>
          <a:p>
            <a:pPr marL="0" indent="0">
              <a:buNone/>
            </a:pPr>
            <a:r>
              <a:rPr lang="en-US" sz="1700" i="1" dirty="0">
                <a:solidFill>
                  <a:schemeClr val="accent6"/>
                </a:solidFill>
              </a:rPr>
              <a:t>Chacune repart avec 6 productions utiles pour sa thèse… et la base de son cas d'usage pour le J5.</a:t>
            </a:r>
            <a:endParaRPr lang="en-US" sz="1700" dirty="0"/>
          </a:p>
        </p:txBody>
      </p:sp>
      <p:sp>
        <p:nvSpPr>
          <p:cNvPr id="35" name="Slide Number Placeholder 0"/>
          <p:cNvSpPr>
            <a:spLocks noGrp="1"/>
          </p:cNvSpPr>
          <p:nvPr>
            <p:ph type="sldNum" sz="quarter" idx="4294967295"/>
          </p:nvPr>
        </p:nvSpPr>
        <p:spPr>
          <a:xfrm>
            <a:off x="11064240" y="6400800"/>
            <a:ext cx="54864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C82"/>
                </a:solidFill>
                <a:latin typeface="Poppins"/>
                <a:ea typeface="Poppins"/>
                <a:cs typeface="Poppins"/>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566928"/>
            <a:ext cx="11064240" cy="777240"/>
          </a:xfrm>
          <a:prstGeom prst="rect">
            <a:avLst/>
          </a:prstGeom>
          <a:noFill/>
          <a:ln/>
        </p:spPr>
        <p:txBody>
          <a:bodyPr wrap="square" lIns="0" tIns="0" rIns="0" bIns="0" rtlCol="0" anchor="ctr"/>
          <a:lstStyle/>
          <a:p>
            <a:pPr marL="0" indent="0" algn="l">
              <a:buNone/>
            </a:pPr>
            <a:r>
              <a:rPr lang="en-US" sz="2700" b="1" dirty="0">
                <a:solidFill>
                  <a:schemeClr val="tx2"/>
                </a:solidFill>
                <a:latin typeface="Poppins" pitchFamily="34" charset="0"/>
                <a:ea typeface="Poppins" pitchFamily="34" charset="-122"/>
                <a:cs typeface="Poppins" pitchFamily="34" charset="-120"/>
              </a:rPr>
              <a:t>Le déroulé complet de la journée</a:t>
            </a:r>
            <a:endParaRPr lang="en-US" sz="2700" dirty="0"/>
          </a:p>
        </p:txBody>
      </p:sp>
      <p:sp>
        <p:nvSpPr>
          <p:cNvPr id="3" name="Text 0"/>
          <p:cNvSpPr>
            <a:spLocks noGrp="1"/>
          </p:cNvSpPr>
          <p:nvPr>
            <p:ph type="body" idx="101" hasCustomPrompt="1"/>
          </p:nvPr>
        </p:nvSpPr>
        <p:spPr>
          <a:xfrm>
            <a:off x="548640" y="256032"/>
            <a:ext cx="8229600" cy="292608"/>
          </a:xfrm>
          <a:prstGeom prst="rect">
            <a:avLst/>
          </a:prstGeom>
          <a:noFill/>
          <a:ln/>
        </p:spPr>
        <p:txBody>
          <a:bodyPr wrap="square" lIns="0" tIns="0" rIns="0" bIns="0" rtlCol="0" anchor="ctr"/>
          <a:lstStyle/>
          <a:p>
            <a:pPr marL="0" indent="0">
              <a:buNone/>
            </a:pPr>
            <a:r>
              <a:rPr lang="en-US" sz="1100" b="1" dirty="0">
                <a:solidFill>
                  <a:schemeClr val="accent1"/>
                </a:solidFill>
                <a:latin typeface="Poppins" pitchFamily="34" charset="0"/>
                <a:ea typeface="Poppins" pitchFamily="34" charset="-122"/>
                <a:cs typeface="Poppins" pitchFamily="34" charset="-120"/>
              </a:rPr>
              <a:t>OUVERTURE</a:t>
            </a:r>
            <a:endParaRPr lang="en-US" sz="1100" dirty="0"/>
          </a:p>
        </p:txBody>
      </p:sp>
      <p:sp>
        <p:nvSpPr>
          <p:cNvPr id="4" name="txt-37"/>
          <p:cNvSpPr txBox="1"/>
          <p:nvPr/>
        </p:nvSpPr>
        <p:spPr>
          <a:xfrm>
            <a:off x="548640" y="1371600"/>
            <a:ext cx="5349240" cy="329184"/>
          </a:xfrm>
          <a:prstGeom prst="rect">
            <a:avLst/>
          </a:prstGeom>
          <a:noFill/>
          <a:ln/>
        </p:spPr>
        <p:txBody>
          <a:bodyPr wrap="square" lIns="0" tIns="0" rIns="0" bIns="0" rtlCol="0" anchor="t"/>
          <a:lstStyle/>
          <a:p>
            <a:pPr marL="0" indent="0">
              <a:buNone/>
            </a:pPr>
            <a:r>
              <a:rPr lang="en-US" sz="1500" b="1" dirty="0">
                <a:solidFill>
                  <a:schemeClr val="accent6"/>
                </a:solidFill>
              </a:rPr>
              <a:t>Matin</a:t>
            </a:r>
            <a:endParaRPr lang="en-US" sz="1500" dirty="0"/>
          </a:p>
        </p:txBody>
      </p:sp>
      <p:sp>
        <p:nvSpPr>
          <p:cNvPr id="5" name="txt-38"/>
          <p:cNvSpPr txBox="1"/>
          <p:nvPr/>
        </p:nvSpPr>
        <p:spPr>
          <a:xfrm>
            <a:off x="548640" y="1783080"/>
            <a:ext cx="1325880" cy="365760"/>
          </a:xfrm>
          <a:prstGeom prst="rect">
            <a:avLst/>
          </a:prstGeom>
          <a:noFill/>
          <a:ln/>
        </p:spPr>
        <p:txBody>
          <a:bodyPr wrap="square" lIns="0" tIns="0" rIns="0" bIns="0" rtlCol="0" anchor="ctr"/>
          <a:lstStyle/>
          <a:p>
            <a:pPr marL="0" indent="0">
              <a:buNone/>
            </a:pPr>
            <a:r>
              <a:rPr lang="en-US" sz="1200" b="1" dirty="0">
                <a:solidFill>
                  <a:schemeClr val="tx2"/>
                </a:solidFill>
              </a:rPr>
              <a:t>8h00 – 8h15</a:t>
            </a:r>
            <a:endParaRPr lang="en-US" sz="1200" dirty="0"/>
          </a:p>
        </p:txBody>
      </p:sp>
      <p:sp>
        <p:nvSpPr>
          <p:cNvPr id="6" name="card-39"/>
          <p:cNvSpPr/>
          <p:nvPr/>
        </p:nvSpPr>
        <p:spPr>
          <a:xfrm>
            <a:off x="1920240" y="1783080"/>
            <a:ext cx="3977640" cy="365760"/>
          </a:xfrm>
          <a:prstGeom prst="roundRect">
            <a:avLst>
              <a:gd name="adj" fmla="val 20000"/>
            </a:avLst>
          </a:prstGeom>
          <a:solidFill>
            <a:schemeClr val="accent5"/>
          </a:solidFill>
          <a:ln w="6350">
            <a:solidFill>
              <a:schemeClr val="accent5"/>
            </a:solidFill>
            <a:prstDash val="solid"/>
          </a:ln>
        </p:spPr>
      </p:sp>
      <p:sp>
        <p:nvSpPr>
          <p:cNvPr id="7" name="txt-40"/>
          <p:cNvSpPr txBox="1"/>
          <p:nvPr/>
        </p:nvSpPr>
        <p:spPr>
          <a:xfrm>
            <a:off x="2057400" y="1783080"/>
            <a:ext cx="3749040" cy="365760"/>
          </a:xfrm>
          <a:prstGeom prst="rect">
            <a:avLst/>
          </a:prstGeom>
          <a:noFill/>
          <a:ln/>
        </p:spPr>
        <p:txBody>
          <a:bodyPr wrap="square" lIns="0" tIns="0" rIns="0" bIns="0" rtlCol="0" anchor="ctr"/>
          <a:lstStyle/>
          <a:p>
            <a:pPr marL="0" indent="0">
              <a:buNone/>
            </a:pPr>
            <a:r>
              <a:rPr lang="en-US" sz="1200" dirty="0">
                <a:solidFill>
                  <a:schemeClr val="bg1"/>
                </a:solidFill>
              </a:rPr>
              <a:t>Ouverture et objectifs</a:t>
            </a:r>
            <a:endParaRPr lang="en-US" sz="1200" dirty="0"/>
          </a:p>
        </p:txBody>
      </p:sp>
      <p:sp>
        <p:nvSpPr>
          <p:cNvPr id="8" name="txt-41"/>
          <p:cNvSpPr txBox="1"/>
          <p:nvPr/>
        </p:nvSpPr>
        <p:spPr>
          <a:xfrm>
            <a:off x="548640" y="2212848"/>
            <a:ext cx="1325880" cy="365760"/>
          </a:xfrm>
          <a:prstGeom prst="rect">
            <a:avLst/>
          </a:prstGeom>
          <a:noFill/>
          <a:ln/>
        </p:spPr>
        <p:txBody>
          <a:bodyPr wrap="square" lIns="0" tIns="0" rIns="0" bIns="0" rtlCol="0" anchor="ctr"/>
          <a:lstStyle/>
          <a:p>
            <a:pPr marL="0" indent="0">
              <a:buNone/>
            </a:pPr>
            <a:r>
              <a:rPr lang="en-US" sz="1200" b="1" dirty="0">
                <a:solidFill>
                  <a:schemeClr val="tx2"/>
                </a:solidFill>
              </a:rPr>
              <a:t>8h15 – 8h45</a:t>
            </a:r>
            <a:endParaRPr lang="en-US" sz="1200" dirty="0"/>
          </a:p>
        </p:txBody>
      </p:sp>
      <p:sp>
        <p:nvSpPr>
          <p:cNvPr id="9" name="card-42"/>
          <p:cNvSpPr/>
          <p:nvPr/>
        </p:nvSpPr>
        <p:spPr>
          <a:xfrm>
            <a:off x="1920240" y="2212848"/>
            <a:ext cx="3977640" cy="365760"/>
          </a:xfrm>
          <a:prstGeom prst="roundRect">
            <a:avLst>
              <a:gd name="adj" fmla="val 20000"/>
            </a:avLst>
          </a:prstGeom>
          <a:solidFill>
            <a:schemeClr val="tx2"/>
          </a:solidFill>
          <a:ln w="6350">
            <a:solidFill>
              <a:schemeClr val="tx2"/>
            </a:solidFill>
            <a:prstDash val="solid"/>
          </a:ln>
        </p:spPr>
      </p:sp>
      <p:sp>
        <p:nvSpPr>
          <p:cNvPr id="10" name="txt-43"/>
          <p:cNvSpPr txBox="1"/>
          <p:nvPr/>
        </p:nvSpPr>
        <p:spPr>
          <a:xfrm>
            <a:off x="2057400" y="2212848"/>
            <a:ext cx="3749040" cy="365760"/>
          </a:xfrm>
          <a:prstGeom prst="rect">
            <a:avLst/>
          </a:prstGeom>
          <a:noFill/>
          <a:ln/>
        </p:spPr>
        <p:txBody>
          <a:bodyPr wrap="square" lIns="0" tIns="0" rIns="0" bIns="0" rtlCol="0" anchor="ctr"/>
          <a:lstStyle/>
          <a:p>
            <a:pPr marL="0" indent="0">
              <a:buNone/>
            </a:pPr>
            <a:r>
              <a:rPr lang="en-US" sz="1200" dirty="0">
                <a:solidFill>
                  <a:schemeClr val="bg1"/>
                </a:solidFill>
              </a:rPr>
              <a:t>T1 · Comment « pense » une IA</a:t>
            </a:r>
            <a:endParaRPr lang="en-US" sz="1200" dirty="0"/>
          </a:p>
        </p:txBody>
      </p:sp>
      <p:sp>
        <p:nvSpPr>
          <p:cNvPr id="11" name="txt-44"/>
          <p:cNvSpPr txBox="1"/>
          <p:nvPr/>
        </p:nvSpPr>
        <p:spPr>
          <a:xfrm>
            <a:off x="548640" y="2642616"/>
            <a:ext cx="1325880" cy="365760"/>
          </a:xfrm>
          <a:prstGeom prst="rect">
            <a:avLst/>
          </a:prstGeom>
          <a:noFill/>
          <a:ln/>
        </p:spPr>
        <p:txBody>
          <a:bodyPr wrap="square" lIns="0" tIns="0" rIns="0" bIns="0" rtlCol="0" anchor="ctr"/>
          <a:lstStyle/>
          <a:p>
            <a:pPr marL="0" indent="0">
              <a:buNone/>
            </a:pPr>
            <a:r>
              <a:rPr lang="en-US" sz="1200" b="1" dirty="0">
                <a:solidFill>
                  <a:schemeClr val="tx2"/>
                </a:solidFill>
              </a:rPr>
              <a:t>8h45 – 9h15</a:t>
            </a:r>
            <a:endParaRPr lang="en-US" sz="1200" dirty="0"/>
          </a:p>
        </p:txBody>
      </p:sp>
      <p:sp>
        <p:nvSpPr>
          <p:cNvPr id="12" name="card-45"/>
          <p:cNvSpPr/>
          <p:nvPr/>
        </p:nvSpPr>
        <p:spPr>
          <a:xfrm>
            <a:off x="1920240" y="2642616"/>
            <a:ext cx="3977640" cy="365760"/>
          </a:xfrm>
          <a:prstGeom prst="roundRect">
            <a:avLst>
              <a:gd name="adj" fmla="val 20000"/>
            </a:avLst>
          </a:prstGeom>
          <a:solidFill>
            <a:schemeClr val="tx2"/>
          </a:solidFill>
          <a:ln w="6350">
            <a:solidFill>
              <a:schemeClr val="tx2"/>
            </a:solidFill>
            <a:prstDash val="solid"/>
          </a:ln>
        </p:spPr>
      </p:sp>
      <p:sp>
        <p:nvSpPr>
          <p:cNvPr id="13" name="txt-46"/>
          <p:cNvSpPr txBox="1"/>
          <p:nvPr/>
        </p:nvSpPr>
        <p:spPr>
          <a:xfrm>
            <a:off x="2057400" y="2642616"/>
            <a:ext cx="3749040" cy="365760"/>
          </a:xfrm>
          <a:prstGeom prst="rect">
            <a:avLst/>
          </a:prstGeom>
          <a:noFill/>
          <a:ln/>
        </p:spPr>
        <p:txBody>
          <a:bodyPr wrap="square" lIns="0" tIns="0" rIns="0" bIns="0" rtlCol="0" anchor="ctr"/>
          <a:lstStyle/>
          <a:p>
            <a:pPr marL="0" indent="0">
              <a:buNone/>
            </a:pPr>
            <a:r>
              <a:rPr lang="en-US" sz="1200" dirty="0">
                <a:solidFill>
                  <a:schemeClr val="bg1"/>
                </a:solidFill>
              </a:rPr>
              <a:t>Panorama des outils IA</a:t>
            </a:r>
            <a:endParaRPr lang="en-US" sz="1200" dirty="0"/>
          </a:p>
        </p:txBody>
      </p:sp>
      <p:sp>
        <p:nvSpPr>
          <p:cNvPr id="14" name="txt-47"/>
          <p:cNvSpPr txBox="1"/>
          <p:nvPr/>
        </p:nvSpPr>
        <p:spPr>
          <a:xfrm>
            <a:off x="548640" y="3072384"/>
            <a:ext cx="1325880" cy="365760"/>
          </a:xfrm>
          <a:prstGeom prst="rect">
            <a:avLst/>
          </a:prstGeom>
          <a:noFill/>
          <a:ln/>
        </p:spPr>
        <p:txBody>
          <a:bodyPr wrap="square" lIns="0" tIns="0" rIns="0" bIns="0" rtlCol="0" anchor="ctr"/>
          <a:lstStyle/>
          <a:p>
            <a:pPr marL="0" indent="0">
              <a:buNone/>
            </a:pPr>
            <a:r>
              <a:rPr lang="en-US" sz="1200" b="1" dirty="0">
                <a:solidFill>
                  <a:schemeClr val="tx2"/>
                </a:solidFill>
              </a:rPr>
              <a:t>9h15 – 9h45</a:t>
            </a:r>
            <a:endParaRPr lang="en-US" sz="1200" dirty="0"/>
          </a:p>
        </p:txBody>
      </p:sp>
      <p:sp>
        <p:nvSpPr>
          <p:cNvPr id="15" name="card-48"/>
          <p:cNvSpPr/>
          <p:nvPr/>
        </p:nvSpPr>
        <p:spPr>
          <a:xfrm>
            <a:off x="1920240" y="3072384"/>
            <a:ext cx="3977640" cy="365760"/>
          </a:xfrm>
          <a:prstGeom prst="roundRect">
            <a:avLst>
              <a:gd name="adj" fmla="val 20000"/>
            </a:avLst>
          </a:prstGeom>
          <a:solidFill>
            <a:schemeClr val="accent1"/>
          </a:solidFill>
          <a:ln w="6350">
            <a:solidFill>
              <a:schemeClr val="accent1"/>
            </a:solidFill>
            <a:prstDash val="solid"/>
          </a:ln>
        </p:spPr>
      </p:sp>
      <p:sp>
        <p:nvSpPr>
          <p:cNvPr id="16" name="txt-49"/>
          <p:cNvSpPr txBox="1"/>
          <p:nvPr/>
        </p:nvSpPr>
        <p:spPr>
          <a:xfrm>
            <a:off x="2057400" y="3072384"/>
            <a:ext cx="3749040" cy="365760"/>
          </a:xfrm>
          <a:prstGeom prst="rect">
            <a:avLst/>
          </a:prstGeom>
          <a:noFill/>
          <a:ln/>
        </p:spPr>
        <p:txBody>
          <a:bodyPr wrap="square" lIns="0" tIns="0" rIns="0" bIns="0" rtlCol="0" anchor="ctr"/>
          <a:lstStyle/>
          <a:p>
            <a:pPr marL="0" indent="0">
              <a:buNone/>
            </a:pPr>
            <a:r>
              <a:rPr lang="en-US" sz="1200" b="1" dirty="0">
                <a:solidFill>
                  <a:schemeClr val="tx2"/>
                </a:solidFill>
              </a:rPr>
              <a:t>Lab 0 · Prise en main + piège</a:t>
            </a:r>
            <a:endParaRPr lang="en-US" sz="1200" dirty="0"/>
          </a:p>
        </p:txBody>
      </p:sp>
      <p:sp>
        <p:nvSpPr>
          <p:cNvPr id="17" name="txt-50"/>
          <p:cNvSpPr txBox="1"/>
          <p:nvPr/>
        </p:nvSpPr>
        <p:spPr>
          <a:xfrm>
            <a:off x="548640" y="3502152"/>
            <a:ext cx="1325880" cy="365760"/>
          </a:xfrm>
          <a:prstGeom prst="rect">
            <a:avLst/>
          </a:prstGeom>
          <a:noFill/>
          <a:ln/>
        </p:spPr>
        <p:txBody>
          <a:bodyPr wrap="square" lIns="0" tIns="0" rIns="0" bIns="0" rtlCol="0" anchor="ctr"/>
          <a:lstStyle/>
          <a:p>
            <a:pPr marL="0" indent="0">
              <a:buNone/>
            </a:pPr>
            <a:r>
              <a:rPr lang="en-US" sz="1200" b="1" dirty="0">
                <a:solidFill>
                  <a:schemeClr val="tx2"/>
                </a:solidFill>
              </a:rPr>
              <a:t>9h45 – 10h00</a:t>
            </a:r>
            <a:endParaRPr lang="en-US" sz="1200" dirty="0"/>
          </a:p>
        </p:txBody>
      </p:sp>
      <p:sp>
        <p:nvSpPr>
          <p:cNvPr id="18" name="card-51"/>
          <p:cNvSpPr/>
          <p:nvPr/>
        </p:nvSpPr>
        <p:spPr>
          <a:xfrm>
            <a:off x="1920240" y="3502152"/>
            <a:ext cx="3977640" cy="365760"/>
          </a:xfrm>
          <a:prstGeom prst="roundRect">
            <a:avLst>
              <a:gd name="adj" fmla="val 20000"/>
            </a:avLst>
          </a:prstGeom>
          <a:solidFill>
            <a:schemeClr val="bg2"/>
          </a:solidFill>
          <a:ln w="6350">
            <a:solidFill>
              <a:schemeClr val="bg2"/>
            </a:solidFill>
            <a:prstDash val="solid"/>
          </a:ln>
        </p:spPr>
      </p:sp>
      <p:sp>
        <p:nvSpPr>
          <p:cNvPr id="19" name="txt-52"/>
          <p:cNvSpPr txBox="1"/>
          <p:nvPr/>
        </p:nvSpPr>
        <p:spPr>
          <a:xfrm>
            <a:off x="2057400" y="3502152"/>
            <a:ext cx="3749040" cy="365760"/>
          </a:xfrm>
          <a:prstGeom prst="rect">
            <a:avLst/>
          </a:prstGeom>
          <a:noFill/>
          <a:ln/>
        </p:spPr>
        <p:txBody>
          <a:bodyPr wrap="square" lIns="0" tIns="0" rIns="0" bIns="0" rtlCol="0" anchor="ctr"/>
          <a:lstStyle/>
          <a:p>
            <a:pPr marL="0" indent="0">
              <a:buNone/>
            </a:pPr>
            <a:r>
              <a:rPr lang="en-US" sz="1200" i="1" dirty="0">
                <a:solidFill>
                  <a:schemeClr val="accent5"/>
                </a:solidFill>
              </a:rPr>
              <a:t>Pause</a:t>
            </a:r>
            <a:endParaRPr lang="en-US" sz="1200" dirty="0"/>
          </a:p>
        </p:txBody>
      </p:sp>
      <p:sp>
        <p:nvSpPr>
          <p:cNvPr id="20" name="txt-53"/>
          <p:cNvSpPr txBox="1"/>
          <p:nvPr/>
        </p:nvSpPr>
        <p:spPr>
          <a:xfrm>
            <a:off x="548640" y="3931920"/>
            <a:ext cx="1325880" cy="365760"/>
          </a:xfrm>
          <a:prstGeom prst="rect">
            <a:avLst/>
          </a:prstGeom>
          <a:noFill/>
          <a:ln/>
        </p:spPr>
        <p:txBody>
          <a:bodyPr wrap="square" lIns="0" tIns="0" rIns="0" bIns="0" rtlCol="0" anchor="ctr"/>
          <a:lstStyle/>
          <a:p>
            <a:pPr marL="0" indent="0">
              <a:buNone/>
            </a:pPr>
            <a:r>
              <a:rPr lang="en-US" sz="1200" b="1" dirty="0">
                <a:solidFill>
                  <a:schemeClr val="tx2"/>
                </a:solidFill>
              </a:rPr>
              <a:t>10h00 – 10h30</a:t>
            </a:r>
            <a:endParaRPr lang="en-US" sz="1200" dirty="0"/>
          </a:p>
        </p:txBody>
      </p:sp>
      <p:sp>
        <p:nvSpPr>
          <p:cNvPr id="21" name="card-54"/>
          <p:cNvSpPr/>
          <p:nvPr/>
        </p:nvSpPr>
        <p:spPr>
          <a:xfrm>
            <a:off x="1920240" y="3931920"/>
            <a:ext cx="3977640" cy="365760"/>
          </a:xfrm>
          <a:prstGeom prst="roundRect">
            <a:avLst>
              <a:gd name="adj" fmla="val 20000"/>
            </a:avLst>
          </a:prstGeom>
          <a:solidFill>
            <a:schemeClr val="tx2"/>
          </a:solidFill>
          <a:ln w="6350">
            <a:solidFill>
              <a:schemeClr val="tx2"/>
            </a:solidFill>
            <a:prstDash val="solid"/>
          </a:ln>
        </p:spPr>
      </p:sp>
      <p:sp>
        <p:nvSpPr>
          <p:cNvPr id="22" name="txt-55"/>
          <p:cNvSpPr txBox="1"/>
          <p:nvPr/>
        </p:nvSpPr>
        <p:spPr>
          <a:xfrm>
            <a:off x="2057400" y="3931920"/>
            <a:ext cx="3749040" cy="365760"/>
          </a:xfrm>
          <a:prstGeom prst="rect">
            <a:avLst/>
          </a:prstGeom>
          <a:noFill/>
          <a:ln/>
        </p:spPr>
        <p:txBody>
          <a:bodyPr wrap="square" lIns="0" tIns="0" rIns="0" bIns="0" rtlCol="0" anchor="ctr"/>
          <a:lstStyle/>
          <a:p>
            <a:pPr marL="0" indent="0">
              <a:buNone/>
            </a:pPr>
            <a:r>
              <a:rPr lang="en-US" sz="1200" dirty="0">
                <a:solidFill>
                  <a:schemeClr val="bg1"/>
                </a:solidFill>
              </a:rPr>
              <a:t>R · Trouver son sujet : sources et gaps</a:t>
            </a:r>
            <a:endParaRPr lang="en-US" sz="1200" dirty="0"/>
          </a:p>
        </p:txBody>
      </p:sp>
      <p:sp>
        <p:nvSpPr>
          <p:cNvPr id="23" name="txt-56"/>
          <p:cNvSpPr txBox="1"/>
          <p:nvPr/>
        </p:nvSpPr>
        <p:spPr>
          <a:xfrm>
            <a:off x="548640" y="4361688"/>
            <a:ext cx="1325880" cy="365760"/>
          </a:xfrm>
          <a:prstGeom prst="rect">
            <a:avLst/>
          </a:prstGeom>
          <a:noFill/>
          <a:ln/>
        </p:spPr>
        <p:txBody>
          <a:bodyPr wrap="square" lIns="0" tIns="0" rIns="0" bIns="0" rtlCol="0" anchor="ctr"/>
          <a:lstStyle/>
          <a:p>
            <a:pPr marL="0" indent="0">
              <a:buNone/>
            </a:pPr>
            <a:r>
              <a:rPr lang="en-US" sz="1200" b="1" dirty="0">
                <a:solidFill>
                  <a:schemeClr val="tx2"/>
                </a:solidFill>
              </a:rPr>
              <a:t>10h30 – 11h00</a:t>
            </a:r>
            <a:endParaRPr lang="en-US" sz="1200" dirty="0"/>
          </a:p>
        </p:txBody>
      </p:sp>
      <p:sp>
        <p:nvSpPr>
          <p:cNvPr id="24" name="card-57"/>
          <p:cNvSpPr/>
          <p:nvPr/>
        </p:nvSpPr>
        <p:spPr>
          <a:xfrm>
            <a:off x="1920240" y="4361688"/>
            <a:ext cx="3977640" cy="365760"/>
          </a:xfrm>
          <a:prstGeom prst="roundRect">
            <a:avLst>
              <a:gd name="adj" fmla="val 20000"/>
            </a:avLst>
          </a:prstGeom>
          <a:solidFill>
            <a:schemeClr val="accent1"/>
          </a:solidFill>
          <a:ln w="6350">
            <a:solidFill>
              <a:schemeClr val="accent1"/>
            </a:solidFill>
            <a:prstDash val="solid"/>
          </a:ln>
        </p:spPr>
      </p:sp>
      <p:sp>
        <p:nvSpPr>
          <p:cNvPr id="25" name="txt-58"/>
          <p:cNvSpPr txBox="1"/>
          <p:nvPr/>
        </p:nvSpPr>
        <p:spPr>
          <a:xfrm>
            <a:off x="2057400" y="4361688"/>
            <a:ext cx="3749040" cy="365760"/>
          </a:xfrm>
          <a:prstGeom prst="rect">
            <a:avLst/>
          </a:prstGeom>
          <a:noFill/>
          <a:ln/>
        </p:spPr>
        <p:txBody>
          <a:bodyPr wrap="square" lIns="0" tIns="0" rIns="0" bIns="0" rtlCol="0" anchor="ctr"/>
          <a:lstStyle/>
          <a:p>
            <a:pPr marL="0" indent="0">
              <a:buNone/>
            </a:pPr>
            <a:r>
              <a:rPr lang="en-US" sz="1200" b="1" dirty="0">
                <a:solidFill>
                  <a:schemeClr val="tx2"/>
                </a:solidFill>
              </a:rPr>
              <a:t>Lab R · Du domaine au gap</a:t>
            </a:r>
            <a:endParaRPr lang="en-US" sz="1200" dirty="0"/>
          </a:p>
        </p:txBody>
      </p:sp>
      <p:sp>
        <p:nvSpPr>
          <p:cNvPr id="26" name="txt-59"/>
          <p:cNvSpPr txBox="1"/>
          <p:nvPr/>
        </p:nvSpPr>
        <p:spPr>
          <a:xfrm>
            <a:off x="548640" y="4791456"/>
            <a:ext cx="1325880" cy="365760"/>
          </a:xfrm>
          <a:prstGeom prst="rect">
            <a:avLst/>
          </a:prstGeom>
          <a:noFill/>
          <a:ln/>
        </p:spPr>
        <p:txBody>
          <a:bodyPr wrap="square" lIns="0" tIns="0" rIns="0" bIns="0" rtlCol="0" anchor="ctr"/>
          <a:lstStyle/>
          <a:p>
            <a:pPr marL="0" indent="0">
              <a:buNone/>
            </a:pPr>
            <a:r>
              <a:rPr lang="en-US" sz="1200" b="1" dirty="0">
                <a:solidFill>
                  <a:schemeClr val="tx2"/>
                </a:solidFill>
              </a:rPr>
              <a:t>11h00 – 11h15</a:t>
            </a:r>
            <a:endParaRPr lang="en-US" sz="1200" dirty="0"/>
          </a:p>
        </p:txBody>
      </p:sp>
      <p:sp>
        <p:nvSpPr>
          <p:cNvPr id="27" name="card-60"/>
          <p:cNvSpPr/>
          <p:nvPr/>
        </p:nvSpPr>
        <p:spPr>
          <a:xfrm>
            <a:off x="1920240" y="4791456"/>
            <a:ext cx="3977640" cy="365760"/>
          </a:xfrm>
          <a:prstGeom prst="roundRect">
            <a:avLst>
              <a:gd name="adj" fmla="val 20000"/>
            </a:avLst>
          </a:prstGeom>
          <a:solidFill>
            <a:schemeClr val="tx2"/>
          </a:solidFill>
          <a:ln w="6350">
            <a:solidFill>
              <a:schemeClr val="tx2"/>
            </a:solidFill>
            <a:prstDash val="solid"/>
          </a:ln>
        </p:spPr>
      </p:sp>
      <p:sp>
        <p:nvSpPr>
          <p:cNvPr id="28" name="txt-61"/>
          <p:cNvSpPr txBox="1"/>
          <p:nvPr/>
        </p:nvSpPr>
        <p:spPr>
          <a:xfrm>
            <a:off x="2057400" y="4791456"/>
            <a:ext cx="3749040" cy="365760"/>
          </a:xfrm>
          <a:prstGeom prst="rect">
            <a:avLst/>
          </a:prstGeom>
          <a:noFill/>
          <a:ln/>
        </p:spPr>
        <p:txBody>
          <a:bodyPr wrap="square" lIns="0" tIns="0" rIns="0" bIns="0" rtlCol="0" anchor="ctr"/>
          <a:lstStyle/>
          <a:p>
            <a:pPr marL="0" indent="0">
              <a:buNone/>
            </a:pPr>
            <a:r>
              <a:rPr lang="en-US" sz="1200" dirty="0">
                <a:solidFill>
                  <a:schemeClr val="bg1"/>
                </a:solidFill>
              </a:rPr>
              <a:t>T2 · L'art de bien demander</a:t>
            </a:r>
            <a:endParaRPr lang="en-US" sz="1200" dirty="0"/>
          </a:p>
        </p:txBody>
      </p:sp>
      <p:sp>
        <p:nvSpPr>
          <p:cNvPr id="29" name="txt-62"/>
          <p:cNvSpPr txBox="1"/>
          <p:nvPr/>
        </p:nvSpPr>
        <p:spPr>
          <a:xfrm>
            <a:off x="548640" y="5221224"/>
            <a:ext cx="1325880" cy="365760"/>
          </a:xfrm>
          <a:prstGeom prst="rect">
            <a:avLst/>
          </a:prstGeom>
          <a:noFill/>
          <a:ln/>
        </p:spPr>
        <p:txBody>
          <a:bodyPr wrap="square" lIns="0" tIns="0" rIns="0" bIns="0" rtlCol="0" anchor="ctr"/>
          <a:lstStyle/>
          <a:p>
            <a:pPr marL="0" indent="0">
              <a:buNone/>
            </a:pPr>
            <a:r>
              <a:rPr lang="en-US" sz="1200" b="1" dirty="0">
                <a:solidFill>
                  <a:schemeClr val="tx2"/>
                </a:solidFill>
              </a:rPr>
              <a:t>11h15 – 12h00</a:t>
            </a:r>
            <a:endParaRPr lang="en-US" sz="1200" dirty="0"/>
          </a:p>
        </p:txBody>
      </p:sp>
      <p:sp>
        <p:nvSpPr>
          <p:cNvPr id="30" name="card-63"/>
          <p:cNvSpPr/>
          <p:nvPr/>
        </p:nvSpPr>
        <p:spPr>
          <a:xfrm>
            <a:off x="1920240" y="5221224"/>
            <a:ext cx="3977640" cy="365760"/>
          </a:xfrm>
          <a:prstGeom prst="roundRect">
            <a:avLst>
              <a:gd name="adj" fmla="val 20000"/>
            </a:avLst>
          </a:prstGeom>
          <a:solidFill>
            <a:schemeClr val="accent1"/>
          </a:solidFill>
          <a:ln w="6350">
            <a:solidFill>
              <a:schemeClr val="accent1"/>
            </a:solidFill>
            <a:prstDash val="solid"/>
          </a:ln>
        </p:spPr>
      </p:sp>
      <p:sp>
        <p:nvSpPr>
          <p:cNvPr id="31" name="txt-64"/>
          <p:cNvSpPr txBox="1"/>
          <p:nvPr/>
        </p:nvSpPr>
        <p:spPr>
          <a:xfrm>
            <a:off x="2057400" y="5221224"/>
            <a:ext cx="3749040" cy="365760"/>
          </a:xfrm>
          <a:prstGeom prst="rect">
            <a:avLst/>
          </a:prstGeom>
          <a:noFill/>
          <a:ln/>
        </p:spPr>
        <p:txBody>
          <a:bodyPr wrap="square" lIns="0" tIns="0" rIns="0" bIns="0" rtlCol="0" anchor="ctr"/>
          <a:lstStyle/>
          <a:p>
            <a:pPr marL="0" indent="0">
              <a:buNone/>
            </a:pPr>
            <a:r>
              <a:rPr lang="en-US" sz="1200" b="1" dirty="0">
                <a:solidFill>
                  <a:schemeClr val="tx2"/>
                </a:solidFill>
              </a:rPr>
              <a:t>Lab 1 · Rédaction scientifique</a:t>
            </a:r>
            <a:endParaRPr lang="en-US" sz="1200" dirty="0"/>
          </a:p>
        </p:txBody>
      </p:sp>
      <p:sp>
        <p:nvSpPr>
          <p:cNvPr id="32" name="txt-65"/>
          <p:cNvSpPr txBox="1"/>
          <p:nvPr/>
        </p:nvSpPr>
        <p:spPr>
          <a:xfrm>
            <a:off x="6263640" y="1371600"/>
            <a:ext cx="5349240" cy="329184"/>
          </a:xfrm>
          <a:prstGeom prst="rect">
            <a:avLst/>
          </a:prstGeom>
          <a:noFill/>
          <a:ln/>
        </p:spPr>
        <p:txBody>
          <a:bodyPr wrap="square" lIns="0" tIns="0" rIns="0" bIns="0" rtlCol="0" anchor="t"/>
          <a:lstStyle/>
          <a:p>
            <a:pPr marL="0" indent="0">
              <a:buNone/>
            </a:pPr>
            <a:r>
              <a:rPr lang="en-US" sz="1500" b="1" dirty="0">
                <a:solidFill>
                  <a:schemeClr val="accent6"/>
                </a:solidFill>
              </a:rPr>
              <a:t>Après-midi</a:t>
            </a:r>
            <a:endParaRPr lang="en-US" sz="1500" dirty="0"/>
          </a:p>
        </p:txBody>
      </p:sp>
      <p:sp>
        <p:nvSpPr>
          <p:cNvPr id="33" name="txt-66"/>
          <p:cNvSpPr txBox="1"/>
          <p:nvPr/>
        </p:nvSpPr>
        <p:spPr>
          <a:xfrm>
            <a:off x="6263640" y="1783080"/>
            <a:ext cx="1325880" cy="365760"/>
          </a:xfrm>
          <a:prstGeom prst="rect">
            <a:avLst/>
          </a:prstGeom>
          <a:noFill/>
          <a:ln/>
        </p:spPr>
        <p:txBody>
          <a:bodyPr wrap="square" lIns="0" tIns="0" rIns="0" bIns="0" rtlCol="0" anchor="ctr"/>
          <a:lstStyle/>
          <a:p>
            <a:pPr marL="0" indent="0">
              <a:buNone/>
            </a:pPr>
            <a:r>
              <a:rPr lang="en-US" sz="1200" b="1" dirty="0">
                <a:solidFill>
                  <a:schemeClr val="tx2"/>
                </a:solidFill>
              </a:rPr>
              <a:t>12h00 – 13h00</a:t>
            </a:r>
            <a:endParaRPr lang="en-US" sz="1200" dirty="0"/>
          </a:p>
        </p:txBody>
      </p:sp>
      <p:sp>
        <p:nvSpPr>
          <p:cNvPr id="34" name="card-67"/>
          <p:cNvSpPr/>
          <p:nvPr/>
        </p:nvSpPr>
        <p:spPr>
          <a:xfrm>
            <a:off x="7635240" y="1783080"/>
            <a:ext cx="3977640" cy="365760"/>
          </a:xfrm>
          <a:prstGeom prst="roundRect">
            <a:avLst>
              <a:gd name="adj" fmla="val 20000"/>
            </a:avLst>
          </a:prstGeom>
          <a:solidFill>
            <a:schemeClr val="bg2"/>
          </a:solidFill>
          <a:ln w="6350">
            <a:solidFill>
              <a:schemeClr val="bg2"/>
            </a:solidFill>
            <a:prstDash val="solid"/>
          </a:ln>
        </p:spPr>
      </p:sp>
      <p:sp>
        <p:nvSpPr>
          <p:cNvPr id="35" name="txt-68"/>
          <p:cNvSpPr txBox="1"/>
          <p:nvPr/>
        </p:nvSpPr>
        <p:spPr>
          <a:xfrm>
            <a:off x="7772400" y="1783080"/>
            <a:ext cx="3749040" cy="365760"/>
          </a:xfrm>
          <a:prstGeom prst="rect">
            <a:avLst/>
          </a:prstGeom>
          <a:noFill/>
          <a:ln/>
        </p:spPr>
        <p:txBody>
          <a:bodyPr wrap="square" lIns="0" tIns="0" rIns="0" bIns="0" rtlCol="0" anchor="ctr"/>
          <a:lstStyle/>
          <a:p>
            <a:pPr marL="0" indent="0">
              <a:buNone/>
            </a:pPr>
            <a:r>
              <a:rPr lang="en-US" sz="1200" i="1" dirty="0">
                <a:solidFill>
                  <a:schemeClr val="accent5"/>
                </a:solidFill>
              </a:rPr>
              <a:t>Déjeuner</a:t>
            </a:r>
            <a:endParaRPr lang="en-US" sz="1200" dirty="0"/>
          </a:p>
        </p:txBody>
      </p:sp>
      <p:sp>
        <p:nvSpPr>
          <p:cNvPr id="36" name="txt-69"/>
          <p:cNvSpPr txBox="1"/>
          <p:nvPr/>
        </p:nvSpPr>
        <p:spPr>
          <a:xfrm>
            <a:off x="6263640" y="2212848"/>
            <a:ext cx="1325880" cy="365760"/>
          </a:xfrm>
          <a:prstGeom prst="rect">
            <a:avLst/>
          </a:prstGeom>
          <a:noFill/>
          <a:ln/>
        </p:spPr>
        <p:txBody>
          <a:bodyPr wrap="square" lIns="0" tIns="0" rIns="0" bIns="0" rtlCol="0" anchor="ctr"/>
          <a:lstStyle/>
          <a:p>
            <a:pPr marL="0" indent="0">
              <a:buNone/>
            </a:pPr>
            <a:r>
              <a:rPr lang="en-US" sz="1200" b="1" dirty="0">
                <a:solidFill>
                  <a:schemeClr val="tx2"/>
                </a:solidFill>
              </a:rPr>
              <a:t>13h00 – 13h20</a:t>
            </a:r>
            <a:endParaRPr lang="en-US" sz="1200" dirty="0"/>
          </a:p>
        </p:txBody>
      </p:sp>
      <p:sp>
        <p:nvSpPr>
          <p:cNvPr id="37" name="card-70"/>
          <p:cNvSpPr/>
          <p:nvPr/>
        </p:nvSpPr>
        <p:spPr>
          <a:xfrm>
            <a:off x="7635240" y="2212848"/>
            <a:ext cx="3977640" cy="365760"/>
          </a:xfrm>
          <a:prstGeom prst="roundRect">
            <a:avLst>
              <a:gd name="adj" fmla="val 20000"/>
            </a:avLst>
          </a:prstGeom>
          <a:solidFill>
            <a:schemeClr val="tx2"/>
          </a:solidFill>
          <a:ln w="6350">
            <a:solidFill>
              <a:schemeClr val="tx2"/>
            </a:solidFill>
            <a:prstDash val="solid"/>
          </a:ln>
        </p:spPr>
      </p:sp>
      <p:sp>
        <p:nvSpPr>
          <p:cNvPr id="38" name="txt-71"/>
          <p:cNvSpPr txBox="1"/>
          <p:nvPr/>
        </p:nvSpPr>
        <p:spPr>
          <a:xfrm>
            <a:off x="7772400" y="2212848"/>
            <a:ext cx="3749040" cy="365760"/>
          </a:xfrm>
          <a:prstGeom prst="rect">
            <a:avLst/>
          </a:prstGeom>
          <a:noFill/>
          <a:ln/>
        </p:spPr>
        <p:txBody>
          <a:bodyPr wrap="square" lIns="0" tIns="0" rIns="0" bIns="0" rtlCol="0" anchor="ctr"/>
          <a:lstStyle/>
          <a:p>
            <a:pPr marL="0" indent="0">
              <a:buNone/>
            </a:pPr>
            <a:r>
              <a:rPr lang="en-US" sz="1200" dirty="0">
                <a:solidFill>
                  <a:schemeClr val="bg1"/>
                </a:solidFill>
              </a:rPr>
              <a:t>T3 · Le RAG avec Gemini Notebook</a:t>
            </a:r>
            <a:endParaRPr lang="en-US" sz="1200" dirty="0"/>
          </a:p>
        </p:txBody>
      </p:sp>
      <p:sp>
        <p:nvSpPr>
          <p:cNvPr id="39" name="txt-72"/>
          <p:cNvSpPr txBox="1"/>
          <p:nvPr/>
        </p:nvSpPr>
        <p:spPr>
          <a:xfrm>
            <a:off x="6263640" y="2642616"/>
            <a:ext cx="1325880" cy="365760"/>
          </a:xfrm>
          <a:prstGeom prst="rect">
            <a:avLst/>
          </a:prstGeom>
          <a:noFill/>
          <a:ln/>
        </p:spPr>
        <p:txBody>
          <a:bodyPr wrap="square" lIns="0" tIns="0" rIns="0" bIns="0" rtlCol="0" anchor="ctr"/>
          <a:lstStyle/>
          <a:p>
            <a:pPr marL="0" indent="0">
              <a:buNone/>
            </a:pPr>
            <a:r>
              <a:rPr lang="en-US" sz="1200" b="1" dirty="0">
                <a:solidFill>
                  <a:schemeClr val="tx2"/>
                </a:solidFill>
              </a:rPr>
              <a:t>13h20 – 13h50</a:t>
            </a:r>
            <a:endParaRPr lang="en-US" sz="1200" dirty="0"/>
          </a:p>
        </p:txBody>
      </p:sp>
      <p:sp>
        <p:nvSpPr>
          <p:cNvPr id="40" name="card-73"/>
          <p:cNvSpPr/>
          <p:nvPr/>
        </p:nvSpPr>
        <p:spPr>
          <a:xfrm>
            <a:off x="7635240" y="2642616"/>
            <a:ext cx="3977640" cy="365760"/>
          </a:xfrm>
          <a:prstGeom prst="roundRect">
            <a:avLst>
              <a:gd name="adj" fmla="val 20000"/>
            </a:avLst>
          </a:prstGeom>
          <a:solidFill>
            <a:schemeClr val="accent1"/>
          </a:solidFill>
          <a:ln w="6350">
            <a:solidFill>
              <a:schemeClr val="accent1"/>
            </a:solidFill>
            <a:prstDash val="solid"/>
          </a:ln>
        </p:spPr>
      </p:sp>
      <p:sp>
        <p:nvSpPr>
          <p:cNvPr id="41" name="txt-74"/>
          <p:cNvSpPr txBox="1"/>
          <p:nvPr/>
        </p:nvSpPr>
        <p:spPr>
          <a:xfrm>
            <a:off x="7772400" y="2642616"/>
            <a:ext cx="3749040" cy="365760"/>
          </a:xfrm>
          <a:prstGeom prst="rect">
            <a:avLst/>
          </a:prstGeom>
          <a:noFill/>
          <a:ln/>
        </p:spPr>
        <p:txBody>
          <a:bodyPr wrap="square" lIns="0" tIns="0" rIns="0" bIns="0" rtlCol="0" anchor="ctr"/>
          <a:lstStyle/>
          <a:p>
            <a:pPr marL="0" indent="0">
              <a:buNone/>
            </a:pPr>
            <a:r>
              <a:rPr lang="en-US" sz="1200" b="1" dirty="0">
                <a:solidFill>
                  <a:schemeClr val="tx2"/>
                </a:solidFill>
              </a:rPr>
              <a:t>Lab 2 · Un RAG sur votre bibliographie</a:t>
            </a:r>
            <a:endParaRPr lang="en-US" sz="1200" dirty="0"/>
          </a:p>
        </p:txBody>
      </p:sp>
      <p:sp>
        <p:nvSpPr>
          <p:cNvPr id="42" name="txt-75"/>
          <p:cNvSpPr txBox="1"/>
          <p:nvPr/>
        </p:nvSpPr>
        <p:spPr>
          <a:xfrm>
            <a:off x="6263640" y="3072384"/>
            <a:ext cx="1325880" cy="365760"/>
          </a:xfrm>
          <a:prstGeom prst="rect">
            <a:avLst/>
          </a:prstGeom>
          <a:noFill/>
          <a:ln/>
        </p:spPr>
        <p:txBody>
          <a:bodyPr wrap="square" lIns="0" tIns="0" rIns="0" bIns="0" rtlCol="0" anchor="ctr"/>
          <a:lstStyle/>
          <a:p>
            <a:pPr marL="0" indent="0">
              <a:buNone/>
            </a:pPr>
            <a:r>
              <a:rPr lang="en-US" sz="1200" b="1" dirty="0">
                <a:solidFill>
                  <a:schemeClr val="tx2"/>
                </a:solidFill>
              </a:rPr>
              <a:t>13h50 – 14h40</a:t>
            </a:r>
            <a:endParaRPr lang="en-US" sz="1200" dirty="0"/>
          </a:p>
        </p:txBody>
      </p:sp>
      <p:sp>
        <p:nvSpPr>
          <p:cNvPr id="43" name="card-76"/>
          <p:cNvSpPr/>
          <p:nvPr/>
        </p:nvSpPr>
        <p:spPr>
          <a:xfrm>
            <a:off x="7635240" y="3072384"/>
            <a:ext cx="3977640" cy="365760"/>
          </a:xfrm>
          <a:prstGeom prst="roundRect">
            <a:avLst>
              <a:gd name="adj" fmla="val 20000"/>
            </a:avLst>
          </a:prstGeom>
          <a:solidFill>
            <a:schemeClr val="accent1"/>
          </a:solidFill>
          <a:ln w="6350">
            <a:solidFill>
              <a:schemeClr val="accent1"/>
            </a:solidFill>
            <a:prstDash val="solid"/>
          </a:ln>
        </p:spPr>
      </p:sp>
      <p:sp>
        <p:nvSpPr>
          <p:cNvPr id="44" name="txt-77"/>
          <p:cNvSpPr txBox="1"/>
          <p:nvPr/>
        </p:nvSpPr>
        <p:spPr>
          <a:xfrm>
            <a:off x="7772400" y="3072384"/>
            <a:ext cx="3749040" cy="365760"/>
          </a:xfrm>
          <a:prstGeom prst="rect">
            <a:avLst/>
          </a:prstGeom>
          <a:noFill/>
          <a:ln/>
        </p:spPr>
        <p:txBody>
          <a:bodyPr wrap="square" lIns="0" tIns="0" rIns="0" bIns="0" rtlCol="0" anchor="ctr"/>
          <a:lstStyle/>
          <a:p>
            <a:pPr marL="0" indent="0">
              <a:buNone/>
            </a:pPr>
            <a:r>
              <a:rPr lang="en-US" sz="1200" b="1" dirty="0">
                <a:solidFill>
                  <a:schemeClr val="tx2"/>
                </a:solidFill>
              </a:rPr>
              <a:t>Lab 3 · Analyse qualitative</a:t>
            </a:r>
            <a:endParaRPr lang="en-US" sz="1200" dirty="0"/>
          </a:p>
        </p:txBody>
      </p:sp>
      <p:sp>
        <p:nvSpPr>
          <p:cNvPr id="45" name="txt-78"/>
          <p:cNvSpPr txBox="1"/>
          <p:nvPr/>
        </p:nvSpPr>
        <p:spPr>
          <a:xfrm>
            <a:off x="6263640" y="3502152"/>
            <a:ext cx="1325880" cy="365760"/>
          </a:xfrm>
          <a:prstGeom prst="rect">
            <a:avLst/>
          </a:prstGeom>
          <a:noFill/>
          <a:ln/>
        </p:spPr>
        <p:txBody>
          <a:bodyPr wrap="square" lIns="0" tIns="0" rIns="0" bIns="0" rtlCol="0" anchor="ctr"/>
          <a:lstStyle/>
          <a:p>
            <a:pPr marL="0" indent="0">
              <a:buNone/>
            </a:pPr>
            <a:r>
              <a:rPr lang="en-US" sz="1200" b="1" dirty="0">
                <a:solidFill>
                  <a:schemeClr val="tx2"/>
                </a:solidFill>
              </a:rPr>
              <a:t>14h40 – 14h55</a:t>
            </a:r>
            <a:endParaRPr lang="en-US" sz="1200" dirty="0"/>
          </a:p>
        </p:txBody>
      </p:sp>
      <p:sp>
        <p:nvSpPr>
          <p:cNvPr id="46" name="card-79"/>
          <p:cNvSpPr/>
          <p:nvPr/>
        </p:nvSpPr>
        <p:spPr>
          <a:xfrm>
            <a:off x="7635240" y="3502152"/>
            <a:ext cx="3977640" cy="365760"/>
          </a:xfrm>
          <a:prstGeom prst="roundRect">
            <a:avLst>
              <a:gd name="adj" fmla="val 20000"/>
            </a:avLst>
          </a:prstGeom>
          <a:solidFill>
            <a:schemeClr val="bg2"/>
          </a:solidFill>
          <a:ln w="6350">
            <a:solidFill>
              <a:schemeClr val="bg2"/>
            </a:solidFill>
            <a:prstDash val="solid"/>
          </a:ln>
        </p:spPr>
      </p:sp>
      <p:sp>
        <p:nvSpPr>
          <p:cNvPr id="47" name="txt-80"/>
          <p:cNvSpPr txBox="1"/>
          <p:nvPr/>
        </p:nvSpPr>
        <p:spPr>
          <a:xfrm>
            <a:off x="7772400" y="3502152"/>
            <a:ext cx="3749040" cy="365760"/>
          </a:xfrm>
          <a:prstGeom prst="rect">
            <a:avLst/>
          </a:prstGeom>
          <a:noFill/>
          <a:ln/>
        </p:spPr>
        <p:txBody>
          <a:bodyPr wrap="square" lIns="0" tIns="0" rIns="0" bIns="0" rtlCol="0" anchor="ctr"/>
          <a:lstStyle/>
          <a:p>
            <a:pPr marL="0" indent="0">
              <a:buNone/>
            </a:pPr>
            <a:r>
              <a:rPr lang="en-US" sz="1200" i="1" dirty="0">
                <a:solidFill>
                  <a:schemeClr val="accent5"/>
                </a:solidFill>
              </a:rPr>
              <a:t>Pause</a:t>
            </a:r>
            <a:endParaRPr lang="en-US" sz="1200" dirty="0"/>
          </a:p>
        </p:txBody>
      </p:sp>
      <p:sp>
        <p:nvSpPr>
          <p:cNvPr id="48" name="txt-81"/>
          <p:cNvSpPr txBox="1"/>
          <p:nvPr/>
        </p:nvSpPr>
        <p:spPr>
          <a:xfrm>
            <a:off x="6263640" y="3931920"/>
            <a:ext cx="1325880" cy="365760"/>
          </a:xfrm>
          <a:prstGeom prst="rect">
            <a:avLst/>
          </a:prstGeom>
          <a:noFill/>
          <a:ln/>
        </p:spPr>
        <p:txBody>
          <a:bodyPr wrap="square" lIns="0" tIns="0" rIns="0" bIns="0" rtlCol="0" anchor="ctr"/>
          <a:lstStyle/>
          <a:p>
            <a:pPr marL="0" indent="0">
              <a:buNone/>
            </a:pPr>
            <a:r>
              <a:rPr lang="en-US" sz="1200" b="1" dirty="0">
                <a:solidFill>
                  <a:schemeClr val="tx2"/>
                </a:solidFill>
              </a:rPr>
              <a:t>14h55 – 15h10</a:t>
            </a:r>
            <a:endParaRPr lang="en-US" sz="1200" dirty="0"/>
          </a:p>
        </p:txBody>
      </p:sp>
      <p:sp>
        <p:nvSpPr>
          <p:cNvPr id="49" name="card-82"/>
          <p:cNvSpPr/>
          <p:nvPr/>
        </p:nvSpPr>
        <p:spPr>
          <a:xfrm>
            <a:off x="7635240" y="3931920"/>
            <a:ext cx="3977640" cy="365760"/>
          </a:xfrm>
          <a:prstGeom prst="roundRect">
            <a:avLst>
              <a:gd name="adj" fmla="val 20000"/>
            </a:avLst>
          </a:prstGeom>
          <a:solidFill>
            <a:schemeClr val="tx2"/>
          </a:solidFill>
          <a:ln w="6350">
            <a:solidFill>
              <a:schemeClr val="tx2"/>
            </a:solidFill>
            <a:prstDash val="solid"/>
          </a:ln>
        </p:spPr>
      </p:sp>
      <p:sp>
        <p:nvSpPr>
          <p:cNvPr id="50" name="txt-83"/>
          <p:cNvSpPr txBox="1"/>
          <p:nvPr/>
        </p:nvSpPr>
        <p:spPr>
          <a:xfrm>
            <a:off x="7772400" y="3931920"/>
            <a:ext cx="3749040" cy="365760"/>
          </a:xfrm>
          <a:prstGeom prst="rect">
            <a:avLst/>
          </a:prstGeom>
          <a:noFill/>
          <a:ln/>
        </p:spPr>
        <p:txBody>
          <a:bodyPr wrap="square" lIns="0" tIns="0" rIns="0" bIns="0" rtlCol="0" anchor="ctr"/>
          <a:lstStyle/>
          <a:p>
            <a:pPr marL="0" indent="0">
              <a:buNone/>
            </a:pPr>
            <a:r>
              <a:rPr lang="en-US" sz="1200" dirty="0">
                <a:solidFill>
                  <a:schemeClr val="bg1"/>
                </a:solidFill>
              </a:rPr>
              <a:t>T4 · Traduire avec l'IA</a:t>
            </a:r>
            <a:endParaRPr lang="en-US" sz="1200" dirty="0"/>
          </a:p>
        </p:txBody>
      </p:sp>
      <p:sp>
        <p:nvSpPr>
          <p:cNvPr id="51" name="txt-84"/>
          <p:cNvSpPr txBox="1"/>
          <p:nvPr/>
        </p:nvSpPr>
        <p:spPr>
          <a:xfrm>
            <a:off x="6263640" y="4361688"/>
            <a:ext cx="1325880" cy="365760"/>
          </a:xfrm>
          <a:prstGeom prst="rect">
            <a:avLst/>
          </a:prstGeom>
          <a:noFill/>
          <a:ln/>
        </p:spPr>
        <p:txBody>
          <a:bodyPr wrap="square" lIns="0" tIns="0" rIns="0" bIns="0" rtlCol="0" anchor="ctr"/>
          <a:lstStyle/>
          <a:p>
            <a:pPr marL="0" indent="0">
              <a:buNone/>
            </a:pPr>
            <a:r>
              <a:rPr lang="en-US" sz="1200" b="1" dirty="0">
                <a:solidFill>
                  <a:schemeClr val="tx2"/>
                </a:solidFill>
              </a:rPr>
              <a:t>15h10 – 15h45</a:t>
            </a:r>
            <a:endParaRPr lang="en-US" sz="1200" dirty="0"/>
          </a:p>
        </p:txBody>
      </p:sp>
      <p:sp>
        <p:nvSpPr>
          <p:cNvPr id="52" name="card-85"/>
          <p:cNvSpPr/>
          <p:nvPr/>
        </p:nvSpPr>
        <p:spPr>
          <a:xfrm>
            <a:off x="7635240" y="4361688"/>
            <a:ext cx="3977640" cy="365760"/>
          </a:xfrm>
          <a:prstGeom prst="roundRect">
            <a:avLst>
              <a:gd name="adj" fmla="val 20000"/>
            </a:avLst>
          </a:prstGeom>
          <a:solidFill>
            <a:schemeClr val="accent1"/>
          </a:solidFill>
          <a:ln w="6350">
            <a:solidFill>
              <a:schemeClr val="accent1"/>
            </a:solidFill>
            <a:prstDash val="solid"/>
          </a:ln>
        </p:spPr>
      </p:sp>
      <p:sp>
        <p:nvSpPr>
          <p:cNvPr id="53" name="txt-86"/>
          <p:cNvSpPr txBox="1"/>
          <p:nvPr/>
        </p:nvSpPr>
        <p:spPr>
          <a:xfrm>
            <a:off x="7772400" y="4361688"/>
            <a:ext cx="3749040" cy="365760"/>
          </a:xfrm>
          <a:prstGeom prst="rect">
            <a:avLst/>
          </a:prstGeom>
          <a:noFill/>
          <a:ln/>
        </p:spPr>
        <p:txBody>
          <a:bodyPr wrap="square" lIns="0" tIns="0" rIns="0" bIns="0" rtlCol="0" anchor="ctr"/>
          <a:lstStyle/>
          <a:p>
            <a:pPr marL="0" indent="0">
              <a:buNone/>
            </a:pPr>
            <a:r>
              <a:rPr lang="en-US" sz="1200" b="1" dirty="0">
                <a:solidFill>
                  <a:schemeClr val="tx2"/>
                </a:solidFill>
              </a:rPr>
              <a:t>Lab 4 · Traduction FR → EN</a:t>
            </a:r>
            <a:endParaRPr lang="en-US" sz="1200" dirty="0"/>
          </a:p>
        </p:txBody>
      </p:sp>
      <p:sp>
        <p:nvSpPr>
          <p:cNvPr id="54" name="txt-87"/>
          <p:cNvSpPr txBox="1"/>
          <p:nvPr/>
        </p:nvSpPr>
        <p:spPr>
          <a:xfrm>
            <a:off x="6263640" y="4791456"/>
            <a:ext cx="1325880" cy="365760"/>
          </a:xfrm>
          <a:prstGeom prst="rect">
            <a:avLst/>
          </a:prstGeom>
          <a:noFill/>
          <a:ln/>
        </p:spPr>
        <p:txBody>
          <a:bodyPr wrap="square" lIns="0" tIns="0" rIns="0" bIns="0" rtlCol="0" anchor="ctr"/>
          <a:lstStyle/>
          <a:p>
            <a:pPr marL="0" indent="0">
              <a:buNone/>
            </a:pPr>
            <a:r>
              <a:rPr lang="en-US" sz="1200" b="1" dirty="0">
                <a:solidFill>
                  <a:schemeClr val="tx2"/>
                </a:solidFill>
              </a:rPr>
              <a:t>15h45 – 16h05</a:t>
            </a:r>
            <a:endParaRPr lang="en-US" sz="1200" dirty="0"/>
          </a:p>
        </p:txBody>
      </p:sp>
      <p:sp>
        <p:nvSpPr>
          <p:cNvPr id="55" name="card-88"/>
          <p:cNvSpPr/>
          <p:nvPr/>
        </p:nvSpPr>
        <p:spPr>
          <a:xfrm>
            <a:off x="7635240" y="4791456"/>
            <a:ext cx="3977640" cy="365760"/>
          </a:xfrm>
          <a:prstGeom prst="roundRect">
            <a:avLst>
              <a:gd name="adj" fmla="val 20000"/>
            </a:avLst>
          </a:prstGeom>
          <a:solidFill>
            <a:schemeClr val="tx2"/>
          </a:solidFill>
          <a:ln w="6350">
            <a:solidFill>
              <a:schemeClr val="tx2"/>
            </a:solidFill>
            <a:prstDash val="solid"/>
          </a:ln>
        </p:spPr>
      </p:sp>
      <p:sp>
        <p:nvSpPr>
          <p:cNvPr id="56" name="txt-89"/>
          <p:cNvSpPr txBox="1"/>
          <p:nvPr/>
        </p:nvSpPr>
        <p:spPr>
          <a:xfrm>
            <a:off x="7772400" y="4791456"/>
            <a:ext cx="3749040" cy="365760"/>
          </a:xfrm>
          <a:prstGeom prst="rect">
            <a:avLst/>
          </a:prstGeom>
          <a:noFill/>
          <a:ln/>
        </p:spPr>
        <p:txBody>
          <a:bodyPr wrap="square" lIns="0" tIns="0" rIns="0" bIns="0" rtlCol="0" anchor="ctr"/>
          <a:lstStyle/>
          <a:p>
            <a:pPr marL="0" indent="0">
              <a:buNone/>
            </a:pPr>
            <a:r>
              <a:rPr lang="en-US" sz="1200" dirty="0">
                <a:solidFill>
                  <a:schemeClr val="bg1"/>
                </a:solidFill>
              </a:rPr>
              <a:t>T5 · L'IA agentique</a:t>
            </a:r>
            <a:endParaRPr lang="en-US" sz="1200" dirty="0"/>
          </a:p>
        </p:txBody>
      </p:sp>
      <p:sp>
        <p:nvSpPr>
          <p:cNvPr id="57" name="txt-90"/>
          <p:cNvSpPr txBox="1"/>
          <p:nvPr/>
        </p:nvSpPr>
        <p:spPr>
          <a:xfrm>
            <a:off x="6263640" y="5221224"/>
            <a:ext cx="1325880" cy="365760"/>
          </a:xfrm>
          <a:prstGeom prst="rect">
            <a:avLst/>
          </a:prstGeom>
          <a:noFill/>
          <a:ln/>
        </p:spPr>
        <p:txBody>
          <a:bodyPr wrap="square" lIns="0" tIns="0" rIns="0" bIns="0" rtlCol="0" anchor="ctr"/>
          <a:lstStyle/>
          <a:p>
            <a:pPr marL="0" indent="0">
              <a:buNone/>
            </a:pPr>
            <a:r>
              <a:rPr lang="en-US" sz="1200" b="1" dirty="0">
                <a:solidFill>
                  <a:schemeClr val="tx2"/>
                </a:solidFill>
              </a:rPr>
              <a:t>16h05 – 16h40</a:t>
            </a:r>
            <a:endParaRPr lang="en-US" sz="1200" dirty="0"/>
          </a:p>
        </p:txBody>
      </p:sp>
      <p:sp>
        <p:nvSpPr>
          <p:cNvPr id="58" name="card-91"/>
          <p:cNvSpPr/>
          <p:nvPr/>
        </p:nvSpPr>
        <p:spPr>
          <a:xfrm>
            <a:off x="7635240" y="5221224"/>
            <a:ext cx="3977640" cy="365760"/>
          </a:xfrm>
          <a:prstGeom prst="roundRect">
            <a:avLst>
              <a:gd name="adj" fmla="val 20000"/>
            </a:avLst>
          </a:prstGeom>
          <a:solidFill>
            <a:schemeClr val="accent1"/>
          </a:solidFill>
          <a:ln w="6350">
            <a:solidFill>
              <a:schemeClr val="accent1"/>
            </a:solidFill>
            <a:prstDash val="solid"/>
          </a:ln>
        </p:spPr>
      </p:sp>
      <p:sp>
        <p:nvSpPr>
          <p:cNvPr id="59" name="txt-92"/>
          <p:cNvSpPr txBox="1"/>
          <p:nvPr/>
        </p:nvSpPr>
        <p:spPr>
          <a:xfrm>
            <a:off x="7772400" y="5221224"/>
            <a:ext cx="3749040" cy="365760"/>
          </a:xfrm>
          <a:prstGeom prst="rect">
            <a:avLst/>
          </a:prstGeom>
          <a:noFill/>
          <a:ln/>
        </p:spPr>
        <p:txBody>
          <a:bodyPr wrap="square" lIns="0" tIns="0" rIns="0" bIns="0" rtlCol="0" anchor="ctr"/>
          <a:lstStyle/>
          <a:p>
            <a:pPr marL="0" indent="0">
              <a:buNone/>
            </a:pPr>
            <a:r>
              <a:rPr lang="en-US" sz="1200" b="1" dirty="0">
                <a:solidFill>
                  <a:schemeClr val="tx2"/>
                </a:solidFill>
              </a:rPr>
              <a:t>Lab 5 · Assistant ou agent</a:t>
            </a:r>
            <a:endParaRPr lang="en-US" sz="1200" dirty="0"/>
          </a:p>
        </p:txBody>
      </p:sp>
      <p:sp>
        <p:nvSpPr>
          <p:cNvPr id="60" name="txt-93"/>
          <p:cNvSpPr txBox="1"/>
          <p:nvPr/>
        </p:nvSpPr>
        <p:spPr>
          <a:xfrm>
            <a:off x="6263640" y="5650992"/>
            <a:ext cx="1325880" cy="365760"/>
          </a:xfrm>
          <a:prstGeom prst="rect">
            <a:avLst/>
          </a:prstGeom>
          <a:noFill/>
          <a:ln/>
        </p:spPr>
        <p:txBody>
          <a:bodyPr wrap="square" lIns="0" tIns="0" rIns="0" bIns="0" rtlCol="0" anchor="ctr"/>
          <a:lstStyle/>
          <a:p>
            <a:pPr marL="0" indent="0">
              <a:buNone/>
            </a:pPr>
            <a:r>
              <a:rPr lang="en-US" sz="1200" b="1" dirty="0">
                <a:solidFill>
                  <a:schemeClr val="tx2"/>
                </a:solidFill>
              </a:rPr>
              <a:t>16h40 – 17h00</a:t>
            </a:r>
            <a:endParaRPr lang="en-US" sz="1200" dirty="0"/>
          </a:p>
        </p:txBody>
      </p:sp>
      <p:sp>
        <p:nvSpPr>
          <p:cNvPr id="61" name="card-94"/>
          <p:cNvSpPr/>
          <p:nvPr/>
        </p:nvSpPr>
        <p:spPr>
          <a:xfrm>
            <a:off x="7635240" y="5650992"/>
            <a:ext cx="3977640" cy="365760"/>
          </a:xfrm>
          <a:prstGeom prst="roundRect">
            <a:avLst>
              <a:gd name="adj" fmla="val 20000"/>
            </a:avLst>
          </a:prstGeom>
          <a:solidFill>
            <a:schemeClr val="accent5"/>
          </a:solidFill>
          <a:ln w="6350">
            <a:solidFill>
              <a:schemeClr val="accent5"/>
            </a:solidFill>
            <a:prstDash val="solid"/>
          </a:ln>
        </p:spPr>
      </p:sp>
      <p:sp>
        <p:nvSpPr>
          <p:cNvPr id="62" name="txt-95"/>
          <p:cNvSpPr txBox="1"/>
          <p:nvPr/>
        </p:nvSpPr>
        <p:spPr>
          <a:xfrm>
            <a:off x="7772400" y="5650992"/>
            <a:ext cx="3749040" cy="365760"/>
          </a:xfrm>
          <a:prstGeom prst="rect">
            <a:avLst/>
          </a:prstGeom>
          <a:noFill/>
          <a:ln/>
        </p:spPr>
        <p:txBody>
          <a:bodyPr wrap="square" lIns="0" tIns="0" rIns="0" bIns="0" rtlCol="0" anchor="ctr"/>
          <a:lstStyle/>
          <a:p>
            <a:pPr marL="0" indent="0">
              <a:buNone/>
            </a:pPr>
            <a:r>
              <a:rPr lang="en-US" sz="1200" dirty="0">
                <a:solidFill>
                  <a:schemeClr val="bg1"/>
                </a:solidFill>
              </a:rPr>
              <a:t>Clôture et consignes du J5</a:t>
            </a:r>
            <a:endParaRPr lang="en-US" sz="1200" dirty="0"/>
          </a:p>
        </p:txBody>
      </p:sp>
      <p:sp>
        <p:nvSpPr>
          <p:cNvPr id="63" name="card-96"/>
          <p:cNvSpPr/>
          <p:nvPr/>
        </p:nvSpPr>
        <p:spPr>
          <a:xfrm>
            <a:off x="548640" y="6035040"/>
            <a:ext cx="320040" cy="237744"/>
          </a:xfrm>
          <a:prstGeom prst="roundRect">
            <a:avLst>
              <a:gd name="adj" fmla="val 30769"/>
            </a:avLst>
          </a:prstGeom>
          <a:solidFill>
            <a:schemeClr val="tx2"/>
          </a:solidFill>
          <a:ln w="6350">
            <a:solidFill>
              <a:schemeClr val="tx2"/>
            </a:solidFill>
            <a:prstDash val="solid"/>
          </a:ln>
        </p:spPr>
      </p:sp>
      <p:sp>
        <p:nvSpPr>
          <p:cNvPr id="64" name="txt-97"/>
          <p:cNvSpPr txBox="1"/>
          <p:nvPr/>
        </p:nvSpPr>
        <p:spPr>
          <a:xfrm>
            <a:off x="960120" y="5998464"/>
            <a:ext cx="2194560" cy="310896"/>
          </a:xfrm>
          <a:prstGeom prst="rect">
            <a:avLst/>
          </a:prstGeom>
          <a:noFill/>
          <a:ln/>
        </p:spPr>
        <p:txBody>
          <a:bodyPr wrap="square" lIns="0" tIns="0" rIns="0" bIns="0" rtlCol="0" anchor="ctr"/>
          <a:lstStyle/>
          <a:p>
            <a:pPr marL="0" indent="0">
              <a:buNone/>
            </a:pPr>
            <a:r>
              <a:rPr lang="en-US" sz="1200" dirty="0">
                <a:solidFill>
                  <a:schemeClr val="tx1"/>
                </a:solidFill>
              </a:rPr>
              <a:t>Théorie : 2h40 (39 %)</a:t>
            </a:r>
            <a:endParaRPr lang="en-US" sz="1200" dirty="0"/>
          </a:p>
        </p:txBody>
      </p:sp>
      <p:sp>
        <p:nvSpPr>
          <p:cNvPr id="65" name="card-98"/>
          <p:cNvSpPr/>
          <p:nvPr/>
        </p:nvSpPr>
        <p:spPr>
          <a:xfrm>
            <a:off x="3200400" y="6035040"/>
            <a:ext cx="320040" cy="237744"/>
          </a:xfrm>
          <a:prstGeom prst="roundRect">
            <a:avLst>
              <a:gd name="adj" fmla="val 30769"/>
            </a:avLst>
          </a:prstGeom>
          <a:solidFill>
            <a:schemeClr val="accent1"/>
          </a:solidFill>
          <a:ln w="6350">
            <a:solidFill>
              <a:schemeClr val="accent1"/>
            </a:solidFill>
            <a:prstDash val="solid"/>
          </a:ln>
        </p:spPr>
      </p:sp>
      <p:sp>
        <p:nvSpPr>
          <p:cNvPr id="66" name="txt-99"/>
          <p:cNvSpPr txBox="1"/>
          <p:nvPr/>
        </p:nvSpPr>
        <p:spPr>
          <a:xfrm>
            <a:off x="3611880" y="5998464"/>
            <a:ext cx="2377440" cy="310896"/>
          </a:xfrm>
          <a:prstGeom prst="rect">
            <a:avLst/>
          </a:prstGeom>
          <a:noFill/>
          <a:ln/>
        </p:spPr>
        <p:txBody>
          <a:bodyPr wrap="square" lIns="0" tIns="0" rIns="0" bIns="0" rtlCol="0" anchor="ctr"/>
          <a:lstStyle/>
          <a:p>
            <a:pPr marL="0" indent="0">
              <a:buNone/>
            </a:pPr>
            <a:r>
              <a:rPr lang="en-US" sz="1200" dirty="0">
                <a:solidFill>
                  <a:schemeClr val="tx1"/>
                </a:solidFill>
              </a:rPr>
              <a:t>Pratique : 4h15 (61 %)</a:t>
            </a:r>
            <a:endParaRPr lang="en-US" sz="1200" dirty="0"/>
          </a:p>
        </p:txBody>
      </p:sp>
      <p:sp>
        <p:nvSpPr>
          <p:cNvPr id="67" name="Slide Number Placeholder 0"/>
          <p:cNvSpPr>
            <a:spLocks noGrp="1"/>
          </p:cNvSpPr>
          <p:nvPr>
            <p:ph type="sldNum" sz="quarter" idx="4294967295"/>
          </p:nvPr>
        </p:nvSpPr>
        <p:spPr>
          <a:xfrm>
            <a:off x="11064240" y="6400800"/>
            <a:ext cx="54864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C82"/>
                </a:solidFill>
                <a:latin typeface="Poppins"/>
                <a:ea typeface="Poppins"/>
                <a:cs typeface="Poppins"/>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566928"/>
            <a:ext cx="11064240" cy="777240"/>
          </a:xfrm>
          <a:prstGeom prst="rect">
            <a:avLst/>
          </a:prstGeom>
          <a:noFill/>
          <a:ln/>
        </p:spPr>
        <p:txBody>
          <a:bodyPr wrap="square" lIns="0" tIns="0" rIns="0" bIns="0" rtlCol="0" anchor="ctr"/>
          <a:lstStyle/>
          <a:p>
            <a:pPr marL="0" indent="0" algn="l">
              <a:buNone/>
            </a:pPr>
            <a:r>
              <a:rPr lang="en-US" sz="2700" b="1" dirty="0">
                <a:solidFill>
                  <a:schemeClr val="tx2"/>
                </a:solidFill>
                <a:latin typeface="Poppins" pitchFamily="34" charset="0"/>
                <a:ea typeface="Poppins" pitchFamily="34" charset="-122"/>
                <a:cs typeface="Poppins" pitchFamily="34" charset="-120"/>
              </a:rPr>
              <a:t>Notre fil rouge pour la journée</a:t>
            </a:r>
            <a:endParaRPr lang="en-US" sz="2700" dirty="0"/>
          </a:p>
        </p:txBody>
      </p:sp>
      <p:sp>
        <p:nvSpPr>
          <p:cNvPr id="3" name="Text 0"/>
          <p:cNvSpPr>
            <a:spLocks noGrp="1"/>
          </p:cNvSpPr>
          <p:nvPr>
            <p:ph type="body" idx="101" hasCustomPrompt="1"/>
          </p:nvPr>
        </p:nvSpPr>
        <p:spPr>
          <a:xfrm>
            <a:off x="548640" y="256032"/>
            <a:ext cx="8229600" cy="292608"/>
          </a:xfrm>
          <a:prstGeom prst="rect">
            <a:avLst/>
          </a:prstGeom>
          <a:noFill/>
          <a:ln/>
        </p:spPr>
        <p:txBody>
          <a:bodyPr wrap="square" lIns="0" tIns="0" rIns="0" bIns="0" rtlCol="0" anchor="ctr"/>
          <a:lstStyle/>
          <a:p>
            <a:pPr marL="0" indent="0">
              <a:buNone/>
            </a:pPr>
            <a:r>
              <a:rPr lang="en-US" sz="1100" b="1" dirty="0">
                <a:solidFill>
                  <a:schemeClr val="accent1"/>
                </a:solidFill>
                <a:latin typeface="Poppins" pitchFamily="34" charset="0"/>
                <a:ea typeface="Poppins" pitchFamily="34" charset="-122"/>
                <a:cs typeface="Poppins" pitchFamily="34" charset="-120"/>
              </a:rPr>
              <a:t>OUVERTURE</a:t>
            </a:r>
            <a:endParaRPr lang="en-US" sz="1100" dirty="0"/>
          </a:p>
        </p:txBody>
      </p:sp>
      <p:sp>
        <p:nvSpPr>
          <p:cNvPr id="4" name="card-100"/>
          <p:cNvSpPr/>
          <p:nvPr/>
        </p:nvSpPr>
        <p:spPr>
          <a:xfrm>
            <a:off x="548640" y="1554480"/>
            <a:ext cx="5120640" cy="4526280"/>
          </a:xfrm>
          <a:prstGeom prst="roundRect">
            <a:avLst>
              <a:gd name="adj" fmla="val 1616"/>
            </a:avLst>
          </a:prstGeom>
          <a:solidFill>
            <a:schemeClr val="tx2"/>
          </a:solidFill>
          <a:ln w="6350">
            <a:solidFill>
              <a:schemeClr val="tx2"/>
            </a:solidFill>
            <a:prstDash val="solid"/>
          </a:ln>
        </p:spPr>
      </p:sp>
      <p:sp>
        <p:nvSpPr>
          <p:cNvPr id="5" name="circle-101"/>
          <p:cNvSpPr/>
          <p:nvPr/>
        </p:nvSpPr>
        <p:spPr>
          <a:xfrm>
            <a:off x="868680" y="1828800"/>
            <a:ext cx="914400" cy="914400"/>
          </a:xfrm>
          <a:prstGeom prst="ellipse">
            <a:avLst/>
          </a:prstGeom>
          <a:solidFill>
            <a:schemeClr val="accent1"/>
          </a:solidFill>
          <a:ln w="12700">
            <a:solidFill>
              <a:schemeClr val="accent1"/>
            </a:solidFill>
            <a:prstDash val="solid"/>
          </a:ln>
        </p:spPr>
      </p:sp>
      <p:pic>
        <p:nvPicPr>
          <p:cNvPr id="6" name="icon-102" descr="preencoded.png"/>
          <p:cNvPicPr>
            <a:picLocks noChangeAspect="1"/>
          </p:cNvPicPr>
          <p:nvPr/>
        </p:nvPicPr>
        <p:blipFill>
          <a:blip r:embed="rId3"/>
          <a:stretch>
            <a:fillRect/>
          </a:stretch>
        </p:blipFill>
        <p:spPr>
          <a:xfrm>
            <a:off x="1097280" y="2057400"/>
            <a:ext cx="457200" cy="457200"/>
          </a:xfrm>
          <a:prstGeom prst="rect">
            <a:avLst/>
          </a:prstGeom>
        </p:spPr>
      </p:pic>
      <p:sp>
        <p:nvSpPr>
          <p:cNvPr id="7" name="txt-103"/>
          <p:cNvSpPr txBox="1"/>
          <p:nvPr/>
        </p:nvSpPr>
        <p:spPr>
          <a:xfrm>
            <a:off x="868680" y="2971800"/>
            <a:ext cx="4572000" cy="1097280"/>
          </a:xfrm>
          <a:prstGeom prst="rect">
            <a:avLst/>
          </a:prstGeom>
          <a:noFill/>
          <a:ln/>
        </p:spPr>
        <p:txBody>
          <a:bodyPr wrap="square" lIns="0" tIns="0" rIns="0" bIns="0" rtlCol="0" anchor="t"/>
          <a:lstStyle/>
          <a:p>
            <a:pPr marL="0" indent="0">
              <a:buNone/>
            </a:pPr>
            <a:r>
              <a:rPr lang="en-US" sz="2600" b="1" dirty="0">
                <a:solidFill>
                  <a:schemeClr val="bg1"/>
                </a:solidFill>
              </a:rPr>
              <a:t>L'IA propose, vous vérifiez.</a:t>
            </a:r>
            <a:endParaRPr lang="en-US" sz="2600" dirty="0"/>
          </a:p>
        </p:txBody>
      </p:sp>
      <p:sp>
        <p:nvSpPr>
          <p:cNvPr id="8" name="txt-104"/>
          <p:cNvSpPr txBox="1"/>
          <p:nvPr/>
        </p:nvSpPr>
        <p:spPr>
          <a:xfrm>
            <a:off x="868680" y="4160520"/>
            <a:ext cx="4572000" cy="1554480"/>
          </a:xfrm>
          <a:prstGeom prst="rect">
            <a:avLst/>
          </a:prstGeom>
          <a:noFill/>
          <a:ln/>
        </p:spPr>
        <p:txBody>
          <a:bodyPr wrap="square" lIns="0" tIns="0" rIns="0" bIns="0" rtlCol="0" anchor="t"/>
          <a:lstStyle/>
          <a:p>
            <a:pPr marL="0" indent="0">
              <a:buNone/>
            </a:pPr>
            <a:r>
              <a:rPr lang="en-US" sz="1500" dirty="0">
                <a:solidFill>
                  <a:schemeClr val="bg2"/>
                </a:solidFill>
              </a:rPr>
              <a:t>Chaque lab se termine par une vérification humaine. C'est elle qui est évaluée, pas le texte produit par l'IA.</a:t>
            </a:r>
            <a:endParaRPr lang="en-US" sz="1500" dirty="0"/>
          </a:p>
        </p:txBody>
      </p:sp>
      <p:sp>
        <p:nvSpPr>
          <p:cNvPr id="9" name="txt-105"/>
          <p:cNvSpPr txBox="1"/>
          <p:nvPr/>
        </p:nvSpPr>
        <p:spPr>
          <a:xfrm>
            <a:off x="6126480" y="1554480"/>
            <a:ext cx="5486400" cy="365760"/>
          </a:xfrm>
          <a:prstGeom prst="rect">
            <a:avLst/>
          </a:prstGeom>
          <a:noFill/>
          <a:ln/>
        </p:spPr>
        <p:txBody>
          <a:bodyPr wrap="square" lIns="0" tIns="0" rIns="0" bIns="0" rtlCol="0" anchor="t"/>
          <a:lstStyle/>
          <a:p>
            <a:pPr marL="0" indent="0">
              <a:buNone/>
            </a:pPr>
            <a:r>
              <a:rPr lang="en-US" sz="1600" b="1" dirty="0">
                <a:solidFill>
                  <a:schemeClr val="tx2"/>
                </a:solidFill>
              </a:rPr>
              <a:t>3 pistes : travaillez sur votre domaine</a:t>
            </a:r>
            <a:endParaRPr lang="en-US" sz="1600" dirty="0"/>
          </a:p>
        </p:txBody>
      </p:sp>
      <p:sp>
        <p:nvSpPr>
          <p:cNvPr id="10" name="circle-106"/>
          <p:cNvSpPr/>
          <p:nvPr/>
        </p:nvSpPr>
        <p:spPr>
          <a:xfrm>
            <a:off x="6126480" y="2011680"/>
            <a:ext cx="548640" cy="548640"/>
          </a:xfrm>
          <a:prstGeom prst="ellipse">
            <a:avLst/>
          </a:prstGeom>
          <a:solidFill>
            <a:schemeClr val="accent4"/>
          </a:solidFill>
          <a:ln w="12700">
            <a:solidFill>
              <a:schemeClr val="accent4"/>
            </a:solidFill>
            <a:prstDash val="solid"/>
          </a:ln>
        </p:spPr>
      </p:sp>
      <p:pic>
        <p:nvPicPr>
          <p:cNvPr id="11" name="icon-107" descr="preencoded.png"/>
          <p:cNvPicPr>
            <a:picLocks noChangeAspect="1"/>
          </p:cNvPicPr>
          <p:nvPr/>
        </p:nvPicPr>
        <p:blipFill>
          <a:blip r:embed="rId4"/>
          <a:stretch>
            <a:fillRect/>
          </a:stretch>
        </p:blipFill>
        <p:spPr>
          <a:xfrm>
            <a:off x="6263640" y="2148840"/>
            <a:ext cx="274320" cy="274320"/>
          </a:xfrm>
          <a:prstGeom prst="rect">
            <a:avLst/>
          </a:prstGeom>
        </p:spPr>
      </p:pic>
      <p:sp>
        <p:nvSpPr>
          <p:cNvPr id="12" name="txt-108"/>
          <p:cNvSpPr txBox="1"/>
          <p:nvPr/>
        </p:nvSpPr>
        <p:spPr>
          <a:xfrm>
            <a:off x="6812280" y="1938528"/>
            <a:ext cx="4800600" cy="694944"/>
          </a:xfrm>
          <a:prstGeom prst="rect">
            <a:avLst/>
          </a:prstGeom>
          <a:noFill/>
          <a:ln/>
        </p:spPr>
        <p:txBody>
          <a:bodyPr wrap="square" lIns="0" tIns="0" rIns="0" bIns="0" rtlCol="0" anchor="ctr"/>
          <a:lstStyle/>
          <a:p>
            <a:pPr marL="0" indent="0">
              <a:buNone/>
            </a:pPr>
            <a:r>
              <a:rPr lang="en-US" sz="1300" b="1" dirty="0">
                <a:solidFill>
                  <a:schemeClr val="accent4"/>
                </a:solidFill>
              </a:rPr>
              <a:t>SHS : </a:t>
            </a:r>
            <a:r>
              <a:rPr lang="en-US" sz="1300" dirty="0">
                <a:solidFill>
                  <a:schemeClr val="tx1"/>
                </a:solidFill>
              </a:rPr>
              <a:t>Sociologie, psychologie, histoire, géographie, éducation, économie, lettres, droit</a:t>
            </a:r>
            <a:endParaRPr lang="en-US" sz="1300" dirty="0"/>
          </a:p>
        </p:txBody>
      </p:sp>
      <p:sp>
        <p:nvSpPr>
          <p:cNvPr id="13" name="circle-109"/>
          <p:cNvSpPr/>
          <p:nvPr/>
        </p:nvSpPr>
        <p:spPr>
          <a:xfrm>
            <a:off x="6126480" y="2788920"/>
            <a:ext cx="548640" cy="548640"/>
          </a:xfrm>
          <a:prstGeom prst="ellipse">
            <a:avLst/>
          </a:prstGeom>
          <a:solidFill>
            <a:schemeClr val="accent3"/>
          </a:solidFill>
          <a:ln w="12700">
            <a:solidFill>
              <a:schemeClr val="accent3"/>
            </a:solidFill>
            <a:prstDash val="solid"/>
          </a:ln>
        </p:spPr>
      </p:sp>
      <p:pic>
        <p:nvPicPr>
          <p:cNvPr id="14" name="icon-110" descr="preencoded.png"/>
          <p:cNvPicPr>
            <a:picLocks noChangeAspect="1"/>
          </p:cNvPicPr>
          <p:nvPr/>
        </p:nvPicPr>
        <p:blipFill>
          <a:blip r:embed="rId5"/>
          <a:stretch>
            <a:fillRect/>
          </a:stretch>
        </p:blipFill>
        <p:spPr>
          <a:xfrm>
            <a:off x="6263640" y="2926080"/>
            <a:ext cx="274320" cy="274320"/>
          </a:xfrm>
          <a:prstGeom prst="rect">
            <a:avLst/>
          </a:prstGeom>
        </p:spPr>
      </p:pic>
      <p:sp>
        <p:nvSpPr>
          <p:cNvPr id="15" name="txt-111"/>
          <p:cNvSpPr txBox="1"/>
          <p:nvPr/>
        </p:nvSpPr>
        <p:spPr>
          <a:xfrm>
            <a:off x="6812280" y="2715768"/>
            <a:ext cx="4800600" cy="694944"/>
          </a:xfrm>
          <a:prstGeom prst="rect">
            <a:avLst/>
          </a:prstGeom>
          <a:noFill/>
          <a:ln/>
        </p:spPr>
        <p:txBody>
          <a:bodyPr wrap="square" lIns="0" tIns="0" rIns="0" bIns="0" rtlCol="0" anchor="ctr"/>
          <a:lstStyle/>
          <a:p>
            <a:pPr marL="0" indent="0">
              <a:buNone/>
            </a:pPr>
            <a:r>
              <a:rPr lang="en-US" sz="1300" b="1" dirty="0">
                <a:solidFill>
                  <a:schemeClr val="accent3"/>
                </a:solidFill>
              </a:rPr>
              <a:t>Santé : </a:t>
            </a:r>
            <a:r>
              <a:rPr lang="en-US" sz="1300" dirty="0">
                <a:solidFill>
                  <a:schemeClr val="tx1"/>
                </a:solidFill>
              </a:rPr>
              <a:t>Médecine, pharmacie, biomédical</a:t>
            </a:r>
            <a:endParaRPr lang="en-US" sz="1300" dirty="0"/>
          </a:p>
        </p:txBody>
      </p:sp>
      <p:sp>
        <p:nvSpPr>
          <p:cNvPr id="16" name="circle-112"/>
          <p:cNvSpPr/>
          <p:nvPr/>
        </p:nvSpPr>
        <p:spPr>
          <a:xfrm>
            <a:off x="6126480" y="3566160"/>
            <a:ext cx="548640" cy="548640"/>
          </a:xfrm>
          <a:prstGeom prst="ellipse">
            <a:avLst/>
          </a:prstGeom>
          <a:solidFill>
            <a:schemeClr val="accent2"/>
          </a:solidFill>
          <a:ln w="12700">
            <a:solidFill>
              <a:schemeClr val="accent2"/>
            </a:solidFill>
            <a:prstDash val="solid"/>
          </a:ln>
        </p:spPr>
      </p:sp>
      <p:pic>
        <p:nvPicPr>
          <p:cNvPr id="17" name="icon-113" descr="preencoded.png"/>
          <p:cNvPicPr>
            <a:picLocks noChangeAspect="1"/>
          </p:cNvPicPr>
          <p:nvPr/>
        </p:nvPicPr>
        <p:blipFill>
          <a:blip r:embed="rId6"/>
          <a:stretch>
            <a:fillRect/>
          </a:stretch>
        </p:blipFill>
        <p:spPr>
          <a:xfrm>
            <a:off x="6263640" y="3703320"/>
            <a:ext cx="274320" cy="274320"/>
          </a:xfrm>
          <a:prstGeom prst="rect">
            <a:avLst/>
          </a:prstGeom>
        </p:spPr>
      </p:pic>
      <p:sp>
        <p:nvSpPr>
          <p:cNvPr id="18" name="txt-114"/>
          <p:cNvSpPr txBox="1"/>
          <p:nvPr/>
        </p:nvSpPr>
        <p:spPr>
          <a:xfrm>
            <a:off x="6812280" y="3493008"/>
            <a:ext cx="4800600" cy="694944"/>
          </a:xfrm>
          <a:prstGeom prst="rect">
            <a:avLst/>
          </a:prstGeom>
          <a:noFill/>
          <a:ln/>
        </p:spPr>
        <p:txBody>
          <a:bodyPr wrap="square" lIns="0" tIns="0" rIns="0" bIns="0" rtlCol="0" anchor="ctr"/>
          <a:lstStyle/>
          <a:p>
            <a:pPr marL="0" indent="0">
              <a:buNone/>
            </a:pPr>
            <a:r>
              <a:rPr lang="en-US" sz="1300" b="1" dirty="0">
                <a:solidFill>
                  <a:schemeClr val="accent2"/>
                </a:solidFill>
              </a:rPr>
              <a:t>Sciences &amp; environnement : </a:t>
            </a:r>
            <a:r>
              <a:rPr lang="en-US" sz="1300" dirty="0">
                <a:solidFill>
                  <a:schemeClr val="tx1"/>
                </a:solidFill>
              </a:rPr>
              <a:t>Chimie, microbiologie, agronomie, énergie</a:t>
            </a:r>
            <a:endParaRPr lang="en-US" sz="1300" dirty="0"/>
          </a:p>
        </p:txBody>
      </p:sp>
      <p:sp>
        <p:nvSpPr>
          <p:cNvPr id="19" name="txt-115"/>
          <p:cNvSpPr txBox="1"/>
          <p:nvPr/>
        </p:nvSpPr>
        <p:spPr>
          <a:xfrm>
            <a:off x="6126480" y="4434840"/>
            <a:ext cx="5486400" cy="365760"/>
          </a:xfrm>
          <a:prstGeom prst="rect">
            <a:avLst/>
          </a:prstGeom>
          <a:noFill/>
          <a:ln/>
        </p:spPr>
        <p:txBody>
          <a:bodyPr wrap="square" lIns="0" tIns="0" rIns="0" bIns="0" rtlCol="0" anchor="t"/>
          <a:lstStyle/>
          <a:p>
            <a:pPr marL="0" indent="0">
              <a:buNone/>
            </a:pPr>
            <a:r>
              <a:rPr lang="en-US" sz="1600" b="1" dirty="0">
                <a:solidFill>
                  <a:schemeClr val="tx2"/>
                </a:solidFill>
              </a:rPr>
              <a:t>2 niveaux : avancez à votre rythme</a:t>
            </a:r>
            <a:endParaRPr lang="en-US" sz="1600" dirty="0"/>
          </a:p>
        </p:txBody>
      </p:sp>
      <p:sp>
        <p:nvSpPr>
          <p:cNvPr id="20" name="card-116"/>
          <p:cNvSpPr/>
          <p:nvPr/>
        </p:nvSpPr>
        <p:spPr>
          <a:xfrm>
            <a:off x="6126480" y="4892040"/>
            <a:ext cx="2651760" cy="1188720"/>
          </a:xfrm>
          <a:prstGeom prst="roundRect">
            <a:avLst>
              <a:gd name="adj" fmla="val 6154"/>
            </a:avLst>
          </a:prstGeom>
          <a:solidFill>
            <a:schemeClr val="bg2"/>
          </a:solidFill>
          <a:ln w="6350">
            <a:solidFill>
              <a:schemeClr val="bg2"/>
            </a:solidFill>
            <a:prstDash val="solid"/>
          </a:ln>
        </p:spPr>
      </p:sp>
      <p:sp>
        <p:nvSpPr>
          <p:cNvPr id="21" name="txt-117"/>
          <p:cNvSpPr txBox="1"/>
          <p:nvPr/>
        </p:nvSpPr>
        <p:spPr>
          <a:xfrm>
            <a:off x="6309360" y="5029200"/>
            <a:ext cx="2286000" cy="914400"/>
          </a:xfrm>
          <a:prstGeom prst="rect">
            <a:avLst/>
          </a:prstGeom>
          <a:noFill/>
          <a:ln/>
        </p:spPr>
        <p:txBody>
          <a:bodyPr wrap="square" lIns="0" tIns="0" rIns="0" bIns="0" rtlCol="0" anchor="t"/>
          <a:lstStyle/>
          <a:p>
            <a:pPr marL="0" indent="0">
              <a:buNone/>
            </a:pPr>
            <a:r>
              <a:rPr lang="en-US" sz="1300" b="1" dirty="0">
                <a:solidFill>
                  <a:schemeClr val="tx2"/>
                </a:solidFill>
              </a:rPr>
              <a:t>Base</a:t>
            </a:r>
            <a:endParaRPr lang="en-US" sz="1300" dirty="0"/>
          </a:p>
          <a:p>
            <a:pPr marL="0" indent="0">
              <a:buNone/>
            </a:pPr>
            <a:r>
              <a:rPr lang="en-US" sz="1300" dirty="0">
                <a:solidFill>
                  <a:schemeClr val="tx1"/>
                </a:solidFill>
              </a:rPr>
              <a:t>Guidé pas à pas, pour toutes</a:t>
            </a:r>
            <a:endParaRPr lang="en-US" sz="1300" dirty="0"/>
          </a:p>
        </p:txBody>
      </p:sp>
      <p:sp>
        <p:nvSpPr>
          <p:cNvPr id="22" name="card-118"/>
          <p:cNvSpPr/>
          <p:nvPr/>
        </p:nvSpPr>
        <p:spPr>
          <a:xfrm>
            <a:off x="8961120" y="4892040"/>
            <a:ext cx="2651760" cy="1188720"/>
          </a:xfrm>
          <a:prstGeom prst="roundRect">
            <a:avLst>
              <a:gd name="adj" fmla="val 6154"/>
            </a:avLst>
          </a:prstGeom>
          <a:solidFill>
            <a:schemeClr val="accent1"/>
          </a:solidFill>
          <a:ln w="6350">
            <a:solidFill>
              <a:schemeClr val="accent1"/>
            </a:solidFill>
            <a:prstDash val="solid"/>
          </a:ln>
        </p:spPr>
      </p:sp>
      <p:sp>
        <p:nvSpPr>
          <p:cNvPr id="23" name="txt-119"/>
          <p:cNvSpPr txBox="1"/>
          <p:nvPr/>
        </p:nvSpPr>
        <p:spPr>
          <a:xfrm>
            <a:off x="9144000" y="5029200"/>
            <a:ext cx="2286000" cy="914400"/>
          </a:xfrm>
          <a:prstGeom prst="rect">
            <a:avLst/>
          </a:prstGeom>
          <a:noFill/>
          <a:ln/>
        </p:spPr>
        <p:txBody>
          <a:bodyPr wrap="square" lIns="0" tIns="0" rIns="0" bIns="0" rtlCol="0" anchor="t"/>
          <a:lstStyle/>
          <a:p>
            <a:pPr marL="0" indent="0">
              <a:buNone/>
            </a:pPr>
            <a:r>
              <a:rPr lang="en-US" sz="1300" b="1" dirty="0">
                <a:solidFill>
                  <a:schemeClr val="tx2"/>
                </a:solidFill>
              </a:rPr>
              <a:t>Défi</a:t>
            </a:r>
            <a:endParaRPr lang="en-US" sz="1300" dirty="0"/>
          </a:p>
          <a:p>
            <a:pPr marL="0" indent="0">
              <a:buNone/>
            </a:pPr>
            <a:r>
              <a:rPr lang="en-US" sz="1300" dirty="0">
                <a:solidFill>
                  <a:schemeClr val="tx2"/>
                </a:solidFill>
              </a:rPr>
              <a:t>Pour aller plus loin si vous finissez tôt</a:t>
            </a:r>
            <a:endParaRPr lang="en-US" sz="1300" dirty="0"/>
          </a:p>
        </p:txBody>
      </p:sp>
      <p:sp>
        <p:nvSpPr>
          <p:cNvPr id="25" name="Slide Number Placeholder 0"/>
          <p:cNvSpPr>
            <a:spLocks noGrp="1"/>
          </p:cNvSpPr>
          <p:nvPr>
            <p:ph type="sldNum" sz="quarter" idx="4294967295"/>
          </p:nvPr>
        </p:nvSpPr>
        <p:spPr>
          <a:xfrm>
            <a:off x="11064240" y="6400800"/>
            <a:ext cx="54864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C82"/>
                </a:solidFill>
                <a:latin typeface="Poppins"/>
                <a:ea typeface="Poppins"/>
                <a:cs typeface="Poppins"/>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xt-120"/>
          <p:cNvSpPr txBox="1"/>
          <p:nvPr/>
        </p:nvSpPr>
        <p:spPr>
          <a:xfrm>
            <a:off x="640080" y="2011680"/>
            <a:ext cx="2560320" cy="2011680"/>
          </a:xfrm>
          <a:prstGeom prst="rect">
            <a:avLst/>
          </a:prstGeom>
          <a:noFill/>
          <a:ln/>
        </p:spPr>
        <p:txBody>
          <a:bodyPr wrap="square" lIns="0" tIns="0" rIns="0" bIns="0" rtlCol="0" anchor="ctr"/>
          <a:lstStyle/>
          <a:p>
            <a:pPr marL="0" indent="0">
              <a:buNone/>
            </a:pPr>
            <a:r>
              <a:rPr lang="en-US" sz="9600" b="1" dirty="0">
                <a:solidFill>
                  <a:schemeClr val="accent1"/>
                </a:solidFill>
              </a:rPr>
              <a:t>T1</a:t>
            </a:r>
            <a:endParaRPr lang="en-US" sz="9600" dirty="0"/>
          </a:p>
        </p:txBody>
      </p:sp>
      <p:sp>
        <p:nvSpPr>
          <p:cNvPr id="3" name="txt-121"/>
          <p:cNvSpPr txBox="1"/>
          <p:nvPr/>
        </p:nvSpPr>
        <p:spPr>
          <a:xfrm>
            <a:off x="3291840" y="1737360"/>
            <a:ext cx="8229600" cy="457200"/>
          </a:xfrm>
          <a:prstGeom prst="rect">
            <a:avLst/>
          </a:prstGeom>
          <a:noFill/>
          <a:ln/>
        </p:spPr>
        <p:txBody>
          <a:bodyPr wrap="square" lIns="0" tIns="0" rIns="0" bIns="0" rtlCol="0" anchor="t"/>
          <a:lstStyle/>
          <a:p>
            <a:pPr marL="0" indent="0">
              <a:buNone/>
            </a:pPr>
            <a:r>
              <a:rPr lang="en-US" sz="1600" b="1" dirty="0">
                <a:solidFill>
                  <a:schemeClr val="accent1"/>
                </a:solidFill>
              </a:rPr>
              <a:t>Capsule théorique · 30 min</a:t>
            </a:r>
            <a:endParaRPr lang="en-US" sz="1600" dirty="0"/>
          </a:p>
        </p:txBody>
      </p:sp>
      <p:sp>
        <p:nvSpPr>
          <p:cNvPr id="4" name="Text 0"/>
          <p:cNvSpPr>
            <a:spLocks noGrp="1"/>
          </p:cNvSpPr>
          <p:nvPr>
            <p:ph type="title" idx="100" hasCustomPrompt="1"/>
          </p:nvPr>
        </p:nvSpPr>
        <p:spPr>
          <a:xfrm>
            <a:off x="3291840" y="2286000"/>
            <a:ext cx="8321040" cy="1463040"/>
          </a:xfrm>
          <a:prstGeom prst="rect">
            <a:avLst/>
          </a:prstGeom>
          <a:noFill/>
          <a:ln/>
        </p:spPr>
        <p:txBody>
          <a:bodyPr wrap="square" lIns="0" tIns="0" rIns="0" bIns="0" rtlCol="0" anchor="ctr"/>
          <a:lstStyle/>
          <a:p>
            <a:pPr marL="0" indent="0" algn="l">
              <a:buNone/>
            </a:pPr>
            <a:r>
              <a:rPr lang="en-US" sz="3400" b="1" dirty="0">
                <a:solidFill>
                  <a:schemeClr val="bg1"/>
                </a:solidFill>
                <a:latin typeface="Poppins" pitchFamily="34" charset="0"/>
                <a:ea typeface="Poppins" pitchFamily="34" charset="-122"/>
                <a:cs typeface="Poppins" pitchFamily="34" charset="-120"/>
              </a:rPr>
              <a:t>Comment « pense » une IA générative</a:t>
            </a:r>
            <a:endParaRPr lang="en-US" sz="3400" dirty="0"/>
          </a:p>
        </p:txBody>
      </p:sp>
      <p:sp>
        <p:nvSpPr>
          <p:cNvPr id="5" name="txt-122"/>
          <p:cNvSpPr txBox="1"/>
          <p:nvPr/>
        </p:nvSpPr>
        <p:spPr>
          <a:xfrm>
            <a:off x="3291840" y="3931920"/>
            <a:ext cx="8229600" cy="1828800"/>
          </a:xfrm>
          <a:prstGeom prst="rect">
            <a:avLst/>
          </a:prstGeom>
          <a:noFill/>
          <a:ln/>
        </p:spPr>
        <p:txBody>
          <a:bodyPr wrap="square" lIns="0" tIns="0" rIns="0" bIns="0" rtlCol="0" anchor="t"/>
          <a:lstStyle/>
          <a:p>
            <a:pPr marL="177800" indent="-177800">
              <a:spcAft>
                <a:spcPts val="600"/>
              </a:spcAft>
              <a:buSzPct val="100000"/>
              <a:buChar char="•"/>
            </a:pPr>
            <a:r>
              <a:rPr lang="en-US" sz="1600" dirty="0">
                <a:solidFill>
                  <a:schemeClr val="bg2"/>
                </a:solidFill>
              </a:rPr>
              <a:t>Ce qu'est l'IA générative, et ce qui se passe quand vous posez une question</a:t>
            </a:r>
            <a:endParaRPr lang="en-US" sz="1600" dirty="0"/>
          </a:p>
          <a:p>
            <a:pPr marL="177800" indent="-177800">
              <a:spcAft>
                <a:spcPts val="600"/>
              </a:spcAft>
              <a:buSzPct val="100000"/>
              <a:buChar char="•"/>
            </a:pPr>
            <a:r>
              <a:rPr lang="en-US" sz="1600" dirty="0">
                <a:solidFill>
                  <a:schemeClr val="bg2"/>
                </a:solidFill>
              </a:rPr>
              <a:t>Pourquoi elle écrit si bien… et se trompe avec assurance</a:t>
            </a:r>
            <a:endParaRPr lang="en-US" sz="1600" dirty="0"/>
          </a:p>
          <a:p>
            <a:pPr marL="177800" indent="-177800">
              <a:spcAft>
                <a:spcPts val="600"/>
              </a:spcAft>
              <a:buSzPct val="100000"/>
              <a:buChar char="•"/>
            </a:pPr>
            <a:r>
              <a:rPr lang="en-US" sz="1600" dirty="0">
                <a:solidFill>
                  <a:schemeClr val="bg2"/>
                </a:solidFill>
              </a:rPr>
              <a:t>Ce qu'elle retient, ce qu'elle oublie, et comment protéger vos données</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566928"/>
            <a:ext cx="11064240" cy="777240"/>
          </a:xfrm>
          <a:prstGeom prst="rect">
            <a:avLst/>
          </a:prstGeom>
          <a:noFill/>
          <a:ln/>
        </p:spPr>
        <p:txBody>
          <a:bodyPr wrap="square" lIns="0" tIns="0" rIns="0" bIns="0" rtlCol="0" anchor="ctr"/>
          <a:lstStyle/>
          <a:p>
            <a:pPr marL="0" indent="0" algn="l">
              <a:buNone/>
            </a:pPr>
            <a:r>
              <a:rPr lang="en-US" sz="2700" b="1" dirty="0">
                <a:solidFill>
                  <a:schemeClr val="tx2"/>
                </a:solidFill>
                <a:latin typeface="Poppins" pitchFamily="34" charset="0"/>
                <a:ea typeface="Poppins" pitchFamily="34" charset="-122"/>
                <a:cs typeface="Poppins" pitchFamily="34" charset="-120"/>
              </a:rPr>
              <a:t>Qu'est-ce que l'IA générative ?</a:t>
            </a:r>
            <a:endParaRPr lang="en-US" sz="2700" dirty="0"/>
          </a:p>
        </p:txBody>
      </p:sp>
      <p:sp>
        <p:nvSpPr>
          <p:cNvPr id="3" name="Text 0"/>
          <p:cNvSpPr>
            <a:spLocks noGrp="1"/>
          </p:cNvSpPr>
          <p:nvPr>
            <p:ph type="body" idx="101" hasCustomPrompt="1"/>
          </p:nvPr>
        </p:nvSpPr>
        <p:spPr>
          <a:xfrm>
            <a:off x="548640" y="256032"/>
            <a:ext cx="8229600" cy="292608"/>
          </a:xfrm>
          <a:prstGeom prst="rect">
            <a:avLst/>
          </a:prstGeom>
          <a:noFill/>
          <a:ln/>
        </p:spPr>
        <p:txBody>
          <a:bodyPr wrap="square" lIns="0" tIns="0" rIns="0" bIns="0" rtlCol="0" anchor="ctr"/>
          <a:lstStyle/>
          <a:p>
            <a:pPr marL="0" indent="0">
              <a:buNone/>
            </a:pPr>
            <a:r>
              <a:rPr lang="en-US" sz="1100" b="1" dirty="0">
                <a:solidFill>
                  <a:schemeClr val="accent1"/>
                </a:solidFill>
                <a:latin typeface="Poppins" pitchFamily="34" charset="0"/>
                <a:ea typeface="Poppins" pitchFamily="34" charset="-122"/>
                <a:cs typeface="Poppins" pitchFamily="34" charset="-120"/>
              </a:rPr>
              <a:t>T1 · COMMENT PENSE UNE IA</a:t>
            </a:r>
            <a:endParaRPr lang="en-US" sz="1100" dirty="0"/>
          </a:p>
        </p:txBody>
      </p:sp>
      <p:sp>
        <p:nvSpPr>
          <p:cNvPr id="4" name="card-123"/>
          <p:cNvSpPr/>
          <p:nvPr/>
        </p:nvSpPr>
        <p:spPr>
          <a:xfrm>
            <a:off x="548640" y="1554480"/>
            <a:ext cx="5669280" cy="2834640"/>
          </a:xfrm>
          <a:prstGeom prst="roundRect">
            <a:avLst>
              <a:gd name="adj" fmla="val 2581"/>
            </a:avLst>
          </a:prstGeom>
          <a:solidFill>
            <a:schemeClr val="tx2"/>
          </a:solidFill>
          <a:ln w="6350">
            <a:solidFill>
              <a:schemeClr val="tx2"/>
            </a:solidFill>
            <a:prstDash val="solid"/>
          </a:ln>
        </p:spPr>
      </p:sp>
      <p:sp>
        <p:nvSpPr>
          <p:cNvPr id="5" name="txt-124"/>
          <p:cNvSpPr txBox="1"/>
          <p:nvPr/>
        </p:nvSpPr>
        <p:spPr>
          <a:xfrm>
            <a:off x="822960" y="1719072"/>
            <a:ext cx="5120640" cy="365760"/>
          </a:xfrm>
          <a:prstGeom prst="rect">
            <a:avLst/>
          </a:prstGeom>
          <a:noFill/>
          <a:ln/>
        </p:spPr>
        <p:txBody>
          <a:bodyPr wrap="square" lIns="0" tIns="0" rIns="0" bIns="0" rtlCol="0" anchor="t"/>
          <a:lstStyle/>
          <a:p>
            <a:pPr marL="0" indent="0">
              <a:buNone/>
            </a:pPr>
            <a:r>
              <a:rPr lang="en-US" sz="1400" b="1" dirty="0">
                <a:solidFill>
                  <a:schemeClr val="accent1"/>
                </a:solidFill>
              </a:rPr>
              <a:t>Définition</a:t>
            </a:r>
            <a:endParaRPr lang="en-US" sz="1400" dirty="0"/>
          </a:p>
        </p:txBody>
      </p:sp>
      <p:sp>
        <p:nvSpPr>
          <p:cNvPr id="6" name="txt-125"/>
          <p:cNvSpPr txBox="1"/>
          <p:nvPr/>
        </p:nvSpPr>
        <p:spPr>
          <a:xfrm>
            <a:off x="822960" y="2103120"/>
            <a:ext cx="5120640" cy="2194560"/>
          </a:xfrm>
          <a:prstGeom prst="rect">
            <a:avLst/>
          </a:prstGeom>
          <a:noFill/>
          <a:ln/>
        </p:spPr>
        <p:txBody>
          <a:bodyPr wrap="square" lIns="0" tIns="0" rIns="0" bIns="0" rtlCol="0" anchor="t"/>
          <a:lstStyle/>
          <a:p>
            <a:pPr marL="0" indent="0">
              <a:buNone/>
            </a:pPr>
            <a:r>
              <a:rPr lang="en-US" sz="1500" dirty="0">
                <a:solidFill>
                  <a:schemeClr val="bg1"/>
                </a:solidFill>
              </a:rPr>
              <a:t>L'IA générative est une famille de systèmes capables de créer un contenu nouveau (texte, image, son, vidéo, code) à partir d'une demande formulée en langage courant, en s'appuyant sur des régularités apprises dans d'immenses volumes de données.</a:t>
            </a:r>
            <a:endParaRPr lang="en-US" sz="1500" dirty="0"/>
          </a:p>
        </p:txBody>
      </p:sp>
      <p:sp>
        <p:nvSpPr>
          <p:cNvPr id="7" name="card-126"/>
          <p:cNvSpPr/>
          <p:nvPr/>
        </p:nvSpPr>
        <p:spPr>
          <a:xfrm>
            <a:off x="548640" y="4572000"/>
            <a:ext cx="5669280" cy="1371600"/>
          </a:xfrm>
          <a:prstGeom prst="roundRect">
            <a:avLst>
              <a:gd name="adj" fmla="val 5333"/>
            </a:avLst>
          </a:prstGeom>
          <a:solidFill>
            <a:schemeClr val="bg2"/>
          </a:solidFill>
          <a:ln w="6350">
            <a:solidFill>
              <a:schemeClr val="bg2"/>
            </a:solidFill>
            <a:prstDash val="solid"/>
          </a:ln>
        </p:spPr>
      </p:sp>
      <p:sp>
        <p:nvSpPr>
          <p:cNvPr id="8" name="txt-127"/>
          <p:cNvSpPr txBox="1"/>
          <p:nvPr/>
        </p:nvSpPr>
        <p:spPr>
          <a:xfrm>
            <a:off x="822960" y="4663440"/>
            <a:ext cx="5120640" cy="1188720"/>
          </a:xfrm>
          <a:prstGeom prst="rect">
            <a:avLst/>
          </a:prstGeom>
          <a:noFill/>
          <a:ln/>
        </p:spPr>
        <p:txBody>
          <a:bodyPr wrap="square" lIns="0" tIns="0" rIns="0" bIns="0" rtlCol="0" anchor="ctr"/>
          <a:lstStyle/>
          <a:p>
            <a:pPr marL="0" indent="0">
              <a:buNone/>
            </a:pPr>
            <a:r>
              <a:rPr lang="en-US" sz="1300" b="1" dirty="0">
                <a:solidFill>
                  <a:schemeClr val="tx2"/>
                </a:solidFill>
              </a:rPr>
              <a:t>Au cœur des outils texte : un LLM </a:t>
            </a:r>
            <a:r>
              <a:rPr lang="en-US" sz="1300" dirty="0">
                <a:solidFill>
                  <a:schemeClr val="tx1"/>
                </a:solidFill>
              </a:rPr>
              <a:t>(grand modèle de langage), entraîné à prédire la suite d'un texte. ChatGPT, Gemini, Claude et Grok reposent tous sur des LLM.</a:t>
            </a:r>
            <a:endParaRPr lang="en-US" sz="1300" dirty="0"/>
          </a:p>
        </p:txBody>
      </p:sp>
      <p:sp>
        <p:nvSpPr>
          <p:cNvPr id="9" name="circle-128"/>
          <p:cNvSpPr/>
          <p:nvPr/>
        </p:nvSpPr>
        <p:spPr>
          <a:xfrm>
            <a:off x="6583680" y="1554480"/>
            <a:ext cx="640080" cy="640080"/>
          </a:xfrm>
          <a:prstGeom prst="ellipse">
            <a:avLst/>
          </a:prstGeom>
          <a:solidFill>
            <a:schemeClr val="accent6"/>
          </a:solidFill>
          <a:ln w="12700">
            <a:solidFill>
              <a:schemeClr val="accent6"/>
            </a:solidFill>
            <a:prstDash val="solid"/>
          </a:ln>
        </p:spPr>
      </p:sp>
      <p:pic>
        <p:nvPicPr>
          <p:cNvPr id="10" name="icon-129" descr="preencoded.png"/>
          <p:cNvPicPr>
            <a:picLocks noChangeAspect="1"/>
          </p:cNvPicPr>
          <p:nvPr/>
        </p:nvPicPr>
        <p:blipFill>
          <a:blip r:embed="rId3"/>
          <a:stretch>
            <a:fillRect/>
          </a:stretch>
        </p:blipFill>
        <p:spPr>
          <a:xfrm>
            <a:off x="6743700" y="1714500"/>
            <a:ext cx="320040" cy="320040"/>
          </a:xfrm>
          <a:prstGeom prst="rect">
            <a:avLst/>
          </a:prstGeom>
        </p:spPr>
      </p:pic>
      <p:sp>
        <p:nvSpPr>
          <p:cNvPr id="11" name="txt-130"/>
          <p:cNvSpPr txBox="1"/>
          <p:nvPr/>
        </p:nvSpPr>
        <p:spPr>
          <a:xfrm>
            <a:off x="7406640" y="1536192"/>
            <a:ext cx="4206240" cy="731520"/>
          </a:xfrm>
          <a:prstGeom prst="rect">
            <a:avLst/>
          </a:prstGeom>
          <a:noFill/>
          <a:ln/>
        </p:spPr>
        <p:txBody>
          <a:bodyPr wrap="square" lIns="0" tIns="0" rIns="0" bIns="0" rtlCol="0" anchor="t"/>
          <a:lstStyle/>
          <a:p>
            <a:pPr marL="0" indent="0">
              <a:buNone/>
            </a:pPr>
            <a:r>
              <a:rPr lang="en-US" sz="1500" b="1" dirty="0">
                <a:solidFill>
                  <a:schemeClr val="tx2"/>
                </a:solidFill>
              </a:rPr>
              <a:t>Texte</a:t>
            </a:r>
            <a:endParaRPr lang="en-US" sz="1500" dirty="0"/>
          </a:p>
          <a:p>
            <a:pPr marL="0" indent="0">
              <a:buNone/>
            </a:pPr>
            <a:r>
              <a:rPr lang="en-US" sz="1200" dirty="0">
                <a:solidFill>
                  <a:schemeClr val="tx1"/>
                </a:solidFill>
              </a:rPr>
              <a:t>Résumés, articles, traductions, courriels</a:t>
            </a:r>
            <a:endParaRPr lang="en-US" sz="1500" dirty="0"/>
          </a:p>
        </p:txBody>
      </p:sp>
      <p:sp>
        <p:nvSpPr>
          <p:cNvPr id="12" name="circle-131"/>
          <p:cNvSpPr/>
          <p:nvPr/>
        </p:nvSpPr>
        <p:spPr>
          <a:xfrm>
            <a:off x="6583680" y="2423160"/>
            <a:ext cx="640080" cy="640080"/>
          </a:xfrm>
          <a:prstGeom prst="ellipse">
            <a:avLst/>
          </a:prstGeom>
          <a:solidFill>
            <a:schemeClr val="accent6"/>
          </a:solidFill>
          <a:ln w="12700">
            <a:solidFill>
              <a:schemeClr val="accent6"/>
            </a:solidFill>
            <a:prstDash val="solid"/>
          </a:ln>
        </p:spPr>
      </p:sp>
      <p:pic>
        <p:nvPicPr>
          <p:cNvPr id="13" name="icon-132" descr="preencoded.png"/>
          <p:cNvPicPr>
            <a:picLocks noChangeAspect="1"/>
          </p:cNvPicPr>
          <p:nvPr/>
        </p:nvPicPr>
        <p:blipFill>
          <a:blip r:embed="rId4"/>
          <a:stretch>
            <a:fillRect/>
          </a:stretch>
        </p:blipFill>
        <p:spPr>
          <a:xfrm>
            <a:off x="6743700" y="2583180"/>
            <a:ext cx="320040" cy="320040"/>
          </a:xfrm>
          <a:prstGeom prst="rect">
            <a:avLst/>
          </a:prstGeom>
        </p:spPr>
      </p:pic>
      <p:sp>
        <p:nvSpPr>
          <p:cNvPr id="14" name="txt-133"/>
          <p:cNvSpPr txBox="1"/>
          <p:nvPr/>
        </p:nvSpPr>
        <p:spPr>
          <a:xfrm>
            <a:off x="7406640" y="2404872"/>
            <a:ext cx="4206240" cy="731520"/>
          </a:xfrm>
          <a:prstGeom prst="rect">
            <a:avLst/>
          </a:prstGeom>
          <a:noFill/>
          <a:ln/>
        </p:spPr>
        <p:txBody>
          <a:bodyPr wrap="square" lIns="0" tIns="0" rIns="0" bIns="0" rtlCol="0" anchor="t"/>
          <a:lstStyle/>
          <a:p>
            <a:pPr marL="0" indent="0">
              <a:buNone/>
            </a:pPr>
            <a:r>
              <a:rPr lang="en-US" sz="1500" b="1" dirty="0">
                <a:solidFill>
                  <a:schemeClr val="tx2"/>
                </a:solidFill>
              </a:rPr>
              <a:t>Images</a:t>
            </a:r>
            <a:endParaRPr lang="en-US" sz="1500" dirty="0"/>
          </a:p>
          <a:p>
            <a:pPr marL="0" indent="0">
              <a:buNone/>
            </a:pPr>
            <a:r>
              <a:rPr lang="en-US" sz="1200" dirty="0">
                <a:solidFill>
                  <a:schemeClr val="tx1"/>
                </a:solidFill>
              </a:rPr>
              <a:t>Illustrations, schémas, affiches</a:t>
            </a:r>
            <a:endParaRPr lang="en-US" sz="1500" dirty="0"/>
          </a:p>
        </p:txBody>
      </p:sp>
      <p:sp>
        <p:nvSpPr>
          <p:cNvPr id="15" name="circle-134"/>
          <p:cNvSpPr/>
          <p:nvPr/>
        </p:nvSpPr>
        <p:spPr>
          <a:xfrm>
            <a:off x="6583680" y="3291840"/>
            <a:ext cx="640080" cy="640080"/>
          </a:xfrm>
          <a:prstGeom prst="ellipse">
            <a:avLst/>
          </a:prstGeom>
          <a:solidFill>
            <a:schemeClr val="accent6"/>
          </a:solidFill>
          <a:ln w="12700">
            <a:solidFill>
              <a:schemeClr val="accent6"/>
            </a:solidFill>
            <a:prstDash val="solid"/>
          </a:ln>
        </p:spPr>
      </p:sp>
      <p:pic>
        <p:nvPicPr>
          <p:cNvPr id="16" name="icon-135" descr="preencoded.png"/>
          <p:cNvPicPr>
            <a:picLocks noChangeAspect="1"/>
          </p:cNvPicPr>
          <p:nvPr/>
        </p:nvPicPr>
        <p:blipFill>
          <a:blip r:embed="rId5"/>
          <a:stretch>
            <a:fillRect/>
          </a:stretch>
        </p:blipFill>
        <p:spPr>
          <a:xfrm>
            <a:off x="6743700" y="3451860"/>
            <a:ext cx="320040" cy="320040"/>
          </a:xfrm>
          <a:prstGeom prst="rect">
            <a:avLst/>
          </a:prstGeom>
        </p:spPr>
      </p:pic>
      <p:sp>
        <p:nvSpPr>
          <p:cNvPr id="17" name="txt-136"/>
          <p:cNvSpPr txBox="1"/>
          <p:nvPr/>
        </p:nvSpPr>
        <p:spPr>
          <a:xfrm>
            <a:off x="7406640" y="3273552"/>
            <a:ext cx="4206240" cy="731520"/>
          </a:xfrm>
          <a:prstGeom prst="rect">
            <a:avLst/>
          </a:prstGeom>
          <a:noFill/>
          <a:ln/>
        </p:spPr>
        <p:txBody>
          <a:bodyPr wrap="square" lIns="0" tIns="0" rIns="0" bIns="0" rtlCol="0" anchor="t"/>
          <a:lstStyle/>
          <a:p>
            <a:pPr marL="0" indent="0">
              <a:buNone/>
            </a:pPr>
            <a:r>
              <a:rPr lang="en-US" sz="1500" b="1" dirty="0">
                <a:solidFill>
                  <a:schemeClr val="tx2"/>
                </a:solidFill>
              </a:rPr>
              <a:t>Audio et vidéo</a:t>
            </a:r>
            <a:endParaRPr lang="en-US" sz="1500" dirty="0"/>
          </a:p>
          <a:p>
            <a:pPr marL="0" indent="0">
              <a:buNone/>
            </a:pPr>
            <a:r>
              <a:rPr lang="en-US" sz="1200" dirty="0">
                <a:solidFill>
                  <a:schemeClr val="tx1"/>
                </a:solidFill>
              </a:rPr>
              <a:t>Voix, podcasts, vidéos</a:t>
            </a:r>
            <a:endParaRPr lang="en-US" sz="1500" dirty="0"/>
          </a:p>
        </p:txBody>
      </p:sp>
      <p:sp>
        <p:nvSpPr>
          <p:cNvPr id="18" name="circle-137"/>
          <p:cNvSpPr/>
          <p:nvPr/>
        </p:nvSpPr>
        <p:spPr>
          <a:xfrm>
            <a:off x="6583680" y="4160520"/>
            <a:ext cx="640080" cy="640080"/>
          </a:xfrm>
          <a:prstGeom prst="ellipse">
            <a:avLst/>
          </a:prstGeom>
          <a:solidFill>
            <a:schemeClr val="accent6"/>
          </a:solidFill>
          <a:ln w="12700">
            <a:solidFill>
              <a:schemeClr val="accent6"/>
            </a:solidFill>
            <a:prstDash val="solid"/>
          </a:ln>
        </p:spPr>
      </p:sp>
      <p:pic>
        <p:nvPicPr>
          <p:cNvPr id="19" name="icon-138" descr="preencoded.png"/>
          <p:cNvPicPr>
            <a:picLocks noChangeAspect="1"/>
          </p:cNvPicPr>
          <p:nvPr/>
        </p:nvPicPr>
        <p:blipFill>
          <a:blip r:embed="rId6"/>
          <a:stretch>
            <a:fillRect/>
          </a:stretch>
        </p:blipFill>
        <p:spPr>
          <a:xfrm>
            <a:off x="6743700" y="4320540"/>
            <a:ext cx="320040" cy="320040"/>
          </a:xfrm>
          <a:prstGeom prst="rect">
            <a:avLst/>
          </a:prstGeom>
        </p:spPr>
      </p:pic>
      <p:sp>
        <p:nvSpPr>
          <p:cNvPr id="20" name="txt-139"/>
          <p:cNvSpPr txBox="1"/>
          <p:nvPr/>
        </p:nvSpPr>
        <p:spPr>
          <a:xfrm>
            <a:off x="7406640" y="4142232"/>
            <a:ext cx="4206240" cy="731520"/>
          </a:xfrm>
          <a:prstGeom prst="rect">
            <a:avLst/>
          </a:prstGeom>
          <a:noFill/>
          <a:ln/>
        </p:spPr>
        <p:txBody>
          <a:bodyPr wrap="square" lIns="0" tIns="0" rIns="0" bIns="0" rtlCol="0" anchor="t"/>
          <a:lstStyle/>
          <a:p>
            <a:pPr marL="0" indent="0">
              <a:buNone/>
            </a:pPr>
            <a:r>
              <a:rPr lang="en-US" sz="1500" b="1" dirty="0">
                <a:solidFill>
                  <a:schemeClr val="tx2"/>
                </a:solidFill>
              </a:rPr>
              <a:t>Code</a:t>
            </a:r>
            <a:endParaRPr lang="en-US" sz="1500" dirty="0"/>
          </a:p>
          <a:p>
            <a:pPr marL="0" indent="0">
              <a:buNone/>
            </a:pPr>
            <a:r>
              <a:rPr lang="en-US" sz="1200" dirty="0">
                <a:solidFill>
                  <a:schemeClr val="tx1"/>
                </a:solidFill>
              </a:rPr>
              <a:t>Scripts d'analyse, tableaux, formules</a:t>
            </a:r>
            <a:endParaRPr lang="en-US" sz="1500" dirty="0"/>
          </a:p>
        </p:txBody>
      </p:sp>
      <p:sp>
        <p:nvSpPr>
          <p:cNvPr id="21" name="card-140"/>
          <p:cNvSpPr/>
          <p:nvPr/>
        </p:nvSpPr>
        <p:spPr>
          <a:xfrm>
            <a:off x="6583680" y="5074920"/>
            <a:ext cx="5029200" cy="868680"/>
          </a:xfrm>
          <a:prstGeom prst="roundRect">
            <a:avLst>
              <a:gd name="adj" fmla="val 8421"/>
            </a:avLst>
          </a:prstGeom>
          <a:solidFill>
            <a:schemeClr val="bg1"/>
          </a:solidFill>
          <a:ln w="12700">
            <a:solidFill>
              <a:srgbClr val="C8553D"/>
            </a:solidFill>
            <a:prstDash val="solid"/>
          </a:ln>
        </p:spPr>
      </p:sp>
      <p:sp>
        <p:nvSpPr>
          <p:cNvPr id="22" name="txt-141"/>
          <p:cNvSpPr txBox="1"/>
          <p:nvPr/>
        </p:nvSpPr>
        <p:spPr>
          <a:xfrm>
            <a:off x="6766560" y="5074920"/>
            <a:ext cx="4663440" cy="868680"/>
          </a:xfrm>
          <a:prstGeom prst="rect">
            <a:avLst/>
          </a:prstGeom>
          <a:noFill/>
          <a:ln/>
        </p:spPr>
        <p:txBody>
          <a:bodyPr wrap="square" lIns="0" tIns="0" rIns="0" bIns="0" rtlCol="0" anchor="ctr"/>
          <a:lstStyle/>
          <a:p>
            <a:pPr marL="0" indent="0">
              <a:buNone/>
            </a:pPr>
            <a:r>
              <a:rPr lang="en-US" sz="1300" b="1" dirty="0">
                <a:solidFill>
                  <a:schemeClr val="accent3"/>
                </a:solidFill>
              </a:rPr>
              <a:t>Ce n'est pas </a:t>
            </a:r>
            <a:r>
              <a:rPr lang="en-US" sz="1300" dirty="0">
                <a:solidFill>
                  <a:schemeClr val="tx1"/>
                </a:solidFill>
              </a:rPr>
              <a:t>un moteur de recherche, ni une base de données, ni une encyclopédie vérifiée.</a:t>
            </a:r>
            <a:endParaRPr lang="en-US" sz="1300" dirty="0"/>
          </a:p>
        </p:txBody>
      </p:sp>
      <p:sp>
        <p:nvSpPr>
          <p:cNvPr id="25" name="Slide Number Placeholder 0"/>
          <p:cNvSpPr>
            <a:spLocks noGrp="1"/>
          </p:cNvSpPr>
          <p:nvPr>
            <p:ph type="sldNum" sz="quarter" idx="4294967295"/>
          </p:nvPr>
        </p:nvSpPr>
        <p:spPr>
          <a:xfrm>
            <a:off x="11064240" y="6400800"/>
            <a:ext cx="54864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C82"/>
                </a:solidFill>
                <a:latin typeface="Poppins"/>
                <a:ea typeface="Poppins"/>
                <a:cs typeface="Poppins"/>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566928"/>
            <a:ext cx="11064240" cy="777240"/>
          </a:xfrm>
          <a:prstGeom prst="rect">
            <a:avLst/>
          </a:prstGeom>
          <a:noFill/>
          <a:ln/>
        </p:spPr>
        <p:txBody>
          <a:bodyPr wrap="square" lIns="0" tIns="0" rIns="0" bIns="0" rtlCol="0" anchor="ctr"/>
          <a:lstStyle/>
          <a:p>
            <a:pPr marL="0" indent="0" algn="l">
              <a:buNone/>
            </a:pPr>
            <a:r>
              <a:rPr lang="en-US" sz="2700" b="1" dirty="0">
                <a:solidFill>
                  <a:schemeClr val="tx2"/>
                </a:solidFill>
                <a:latin typeface="Poppins" pitchFamily="34" charset="0"/>
                <a:ea typeface="Poppins" pitchFamily="34" charset="-122"/>
                <a:cs typeface="Poppins" pitchFamily="34" charset="-120"/>
              </a:rPr>
              <a:t>Ce qui se passe quand vous posez une question</a:t>
            </a:r>
            <a:endParaRPr lang="en-US" sz="2700" dirty="0"/>
          </a:p>
        </p:txBody>
      </p:sp>
      <p:sp>
        <p:nvSpPr>
          <p:cNvPr id="3" name="Text 0"/>
          <p:cNvSpPr>
            <a:spLocks noGrp="1"/>
          </p:cNvSpPr>
          <p:nvPr>
            <p:ph type="body" idx="101" hasCustomPrompt="1"/>
          </p:nvPr>
        </p:nvSpPr>
        <p:spPr>
          <a:xfrm>
            <a:off x="548640" y="256032"/>
            <a:ext cx="8229600" cy="292608"/>
          </a:xfrm>
          <a:prstGeom prst="rect">
            <a:avLst/>
          </a:prstGeom>
          <a:noFill/>
          <a:ln/>
        </p:spPr>
        <p:txBody>
          <a:bodyPr wrap="square" lIns="0" tIns="0" rIns="0" bIns="0" rtlCol="0" anchor="ctr"/>
          <a:lstStyle/>
          <a:p>
            <a:pPr marL="0" indent="0">
              <a:buNone/>
            </a:pPr>
            <a:r>
              <a:rPr lang="en-US" sz="1100" b="1" dirty="0">
                <a:solidFill>
                  <a:schemeClr val="accent1"/>
                </a:solidFill>
                <a:latin typeface="Poppins" pitchFamily="34" charset="0"/>
                <a:ea typeface="Poppins" pitchFamily="34" charset="-122"/>
                <a:cs typeface="Poppins" pitchFamily="34" charset="-120"/>
              </a:rPr>
              <a:t>T1 · COMMENT PENSE UNE IA</a:t>
            </a:r>
            <a:endParaRPr lang="en-US" sz="1100" dirty="0"/>
          </a:p>
        </p:txBody>
      </p:sp>
      <p:sp>
        <p:nvSpPr>
          <p:cNvPr id="4" name="card-142"/>
          <p:cNvSpPr/>
          <p:nvPr/>
        </p:nvSpPr>
        <p:spPr>
          <a:xfrm>
            <a:off x="548640" y="1600200"/>
            <a:ext cx="1691640" cy="3246120"/>
          </a:xfrm>
          <a:prstGeom prst="roundRect">
            <a:avLst>
              <a:gd name="adj" fmla="val 4324"/>
            </a:avLst>
          </a:prstGeom>
          <a:solidFill>
            <a:schemeClr val="bg2"/>
          </a:solidFill>
          <a:ln w="6350">
            <a:solidFill>
              <a:schemeClr val="bg2"/>
            </a:solidFill>
            <a:prstDash val="solid"/>
          </a:ln>
        </p:spPr>
      </p:sp>
      <p:sp>
        <p:nvSpPr>
          <p:cNvPr id="5" name="num-143"/>
          <p:cNvSpPr/>
          <p:nvPr/>
        </p:nvSpPr>
        <p:spPr>
          <a:xfrm>
            <a:off x="658368" y="1709928"/>
            <a:ext cx="365760" cy="365760"/>
          </a:xfrm>
          <a:prstGeom prst="ellipse">
            <a:avLst/>
          </a:prstGeom>
          <a:solidFill>
            <a:schemeClr val="accent1"/>
          </a:solidFill>
          <a:ln w="12700">
            <a:solidFill>
              <a:schemeClr val="accent1"/>
            </a:solidFill>
            <a:prstDash val="solid"/>
          </a:ln>
        </p:spPr>
      </p:sp>
      <p:sp>
        <p:nvSpPr>
          <p:cNvPr id="6" name="txt-144"/>
          <p:cNvSpPr txBox="1"/>
          <p:nvPr/>
        </p:nvSpPr>
        <p:spPr>
          <a:xfrm>
            <a:off x="658368" y="1709928"/>
            <a:ext cx="365760" cy="365760"/>
          </a:xfrm>
          <a:prstGeom prst="rect">
            <a:avLst/>
          </a:prstGeom>
          <a:noFill/>
          <a:ln/>
        </p:spPr>
        <p:txBody>
          <a:bodyPr wrap="square" lIns="0" tIns="0" rIns="0" bIns="0" rtlCol="0" anchor="ctr"/>
          <a:lstStyle/>
          <a:p>
            <a:pPr marL="0" indent="0" algn="ctr">
              <a:buNone/>
            </a:pPr>
            <a:r>
              <a:rPr lang="en-US" sz="1200" b="1" dirty="0">
                <a:solidFill>
                  <a:schemeClr val="tx2"/>
                </a:solidFill>
              </a:rPr>
              <a:t>1</a:t>
            </a:r>
            <a:endParaRPr lang="en-US" sz="1200" dirty="0"/>
          </a:p>
        </p:txBody>
      </p:sp>
      <p:sp>
        <p:nvSpPr>
          <p:cNvPr id="7" name="circle-145"/>
          <p:cNvSpPr/>
          <p:nvPr/>
        </p:nvSpPr>
        <p:spPr>
          <a:xfrm>
            <a:off x="1051560" y="2103120"/>
            <a:ext cx="685800" cy="685800"/>
          </a:xfrm>
          <a:prstGeom prst="ellipse">
            <a:avLst/>
          </a:prstGeom>
          <a:solidFill>
            <a:schemeClr val="accent6"/>
          </a:solidFill>
          <a:ln w="12700">
            <a:solidFill>
              <a:schemeClr val="accent6"/>
            </a:solidFill>
            <a:prstDash val="solid"/>
          </a:ln>
        </p:spPr>
      </p:sp>
      <p:pic>
        <p:nvPicPr>
          <p:cNvPr id="8" name="icon-146" descr="preencoded.png"/>
          <p:cNvPicPr>
            <a:picLocks noChangeAspect="1"/>
          </p:cNvPicPr>
          <p:nvPr/>
        </p:nvPicPr>
        <p:blipFill>
          <a:blip r:embed="rId3"/>
          <a:stretch>
            <a:fillRect/>
          </a:stretch>
        </p:blipFill>
        <p:spPr>
          <a:xfrm>
            <a:off x="1223010" y="2274570"/>
            <a:ext cx="342900" cy="342900"/>
          </a:xfrm>
          <a:prstGeom prst="rect">
            <a:avLst/>
          </a:prstGeom>
        </p:spPr>
      </p:pic>
      <p:sp>
        <p:nvSpPr>
          <p:cNvPr id="9" name="txt-147"/>
          <p:cNvSpPr txBox="1"/>
          <p:nvPr/>
        </p:nvSpPr>
        <p:spPr>
          <a:xfrm>
            <a:off x="658368" y="2880360"/>
            <a:ext cx="1481328" cy="566928"/>
          </a:xfrm>
          <a:prstGeom prst="rect">
            <a:avLst/>
          </a:prstGeom>
          <a:noFill/>
          <a:ln/>
        </p:spPr>
        <p:txBody>
          <a:bodyPr wrap="square" lIns="0" tIns="0" rIns="0" bIns="0" rtlCol="0" anchor="ctr"/>
          <a:lstStyle/>
          <a:p>
            <a:pPr marL="0" indent="0" algn="ctr">
              <a:buNone/>
            </a:pPr>
            <a:r>
              <a:rPr lang="en-US" sz="1300" b="1" dirty="0">
                <a:solidFill>
                  <a:schemeClr val="tx2"/>
                </a:solidFill>
              </a:rPr>
              <a:t>Votre prompt</a:t>
            </a:r>
            <a:endParaRPr lang="en-US" sz="1300" dirty="0"/>
          </a:p>
        </p:txBody>
      </p:sp>
      <p:sp>
        <p:nvSpPr>
          <p:cNvPr id="10" name="txt-148"/>
          <p:cNvSpPr txBox="1"/>
          <p:nvPr/>
        </p:nvSpPr>
        <p:spPr>
          <a:xfrm>
            <a:off x="658368" y="3474720"/>
            <a:ext cx="1481328" cy="1325880"/>
          </a:xfrm>
          <a:prstGeom prst="rect">
            <a:avLst/>
          </a:prstGeom>
          <a:noFill/>
          <a:ln/>
        </p:spPr>
        <p:txBody>
          <a:bodyPr wrap="square" lIns="0" tIns="0" rIns="0" bIns="0" rtlCol="0" anchor="t"/>
          <a:lstStyle/>
          <a:p>
            <a:pPr marL="0" indent="0" algn="ctr">
              <a:buNone/>
            </a:pPr>
            <a:r>
              <a:rPr lang="en-US" sz="1100" dirty="0">
                <a:solidFill>
                  <a:schemeClr val="tx1"/>
                </a:solidFill>
              </a:rPr>
              <a:t>« Résume cet article en 200 mots »</a:t>
            </a:r>
            <a:endParaRPr lang="en-US" sz="1100" dirty="0"/>
          </a:p>
        </p:txBody>
      </p:sp>
      <p:sp>
        <p:nvSpPr>
          <p:cNvPr id="11" name="arrow-149"/>
          <p:cNvSpPr/>
          <p:nvPr/>
        </p:nvSpPr>
        <p:spPr>
          <a:xfrm>
            <a:off x="2249424" y="2743200"/>
            <a:ext cx="164592" cy="0"/>
          </a:xfrm>
          <a:prstGeom prst="line">
            <a:avLst/>
          </a:prstGeom>
          <a:noFill/>
          <a:ln w="22225">
            <a:solidFill>
              <a:srgbClr val="6B7C82"/>
            </a:solidFill>
            <a:prstDash val="solid"/>
            <a:tailEnd type="triangle"/>
          </a:ln>
        </p:spPr>
      </p:sp>
      <p:sp>
        <p:nvSpPr>
          <p:cNvPr id="12" name="card-150"/>
          <p:cNvSpPr/>
          <p:nvPr/>
        </p:nvSpPr>
        <p:spPr>
          <a:xfrm>
            <a:off x="2423160" y="1600200"/>
            <a:ext cx="1691640" cy="3246120"/>
          </a:xfrm>
          <a:prstGeom prst="roundRect">
            <a:avLst>
              <a:gd name="adj" fmla="val 4324"/>
            </a:avLst>
          </a:prstGeom>
          <a:solidFill>
            <a:schemeClr val="bg2"/>
          </a:solidFill>
          <a:ln w="6350">
            <a:solidFill>
              <a:schemeClr val="bg2"/>
            </a:solidFill>
            <a:prstDash val="solid"/>
          </a:ln>
        </p:spPr>
      </p:sp>
      <p:sp>
        <p:nvSpPr>
          <p:cNvPr id="13" name="num-151"/>
          <p:cNvSpPr/>
          <p:nvPr/>
        </p:nvSpPr>
        <p:spPr>
          <a:xfrm>
            <a:off x="2532888" y="1709928"/>
            <a:ext cx="365760" cy="365760"/>
          </a:xfrm>
          <a:prstGeom prst="ellipse">
            <a:avLst/>
          </a:prstGeom>
          <a:solidFill>
            <a:schemeClr val="accent1"/>
          </a:solidFill>
          <a:ln w="12700">
            <a:solidFill>
              <a:schemeClr val="accent1"/>
            </a:solidFill>
            <a:prstDash val="solid"/>
          </a:ln>
        </p:spPr>
      </p:sp>
      <p:sp>
        <p:nvSpPr>
          <p:cNvPr id="14" name="txt-152"/>
          <p:cNvSpPr txBox="1"/>
          <p:nvPr/>
        </p:nvSpPr>
        <p:spPr>
          <a:xfrm>
            <a:off x="2532888" y="1709928"/>
            <a:ext cx="365760" cy="365760"/>
          </a:xfrm>
          <a:prstGeom prst="rect">
            <a:avLst/>
          </a:prstGeom>
          <a:noFill/>
          <a:ln/>
        </p:spPr>
        <p:txBody>
          <a:bodyPr wrap="square" lIns="0" tIns="0" rIns="0" bIns="0" rtlCol="0" anchor="ctr"/>
          <a:lstStyle/>
          <a:p>
            <a:pPr marL="0" indent="0" algn="ctr">
              <a:buNone/>
            </a:pPr>
            <a:r>
              <a:rPr lang="en-US" sz="1200" b="1" dirty="0">
                <a:solidFill>
                  <a:schemeClr val="tx2"/>
                </a:solidFill>
              </a:rPr>
              <a:t>2</a:t>
            </a:r>
            <a:endParaRPr lang="en-US" sz="1200" dirty="0"/>
          </a:p>
        </p:txBody>
      </p:sp>
      <p:sp>
        <p:nvSpPr>
          <p:cNvPr id="15" name="circle-153"/>
          <p:cNvSpPr/>
          <p:nvPr/>
        </p:nvSpPr>
        <p:spPr>
          <a:xfrm>
            <a:off x="2926080" y="2103120"/>
            <a:ext cx="685800" cy="685800"/>
          </a:xfrm>
          <a:prstGeom prst="ellipse">
            <a:avLst/>
          </a:prstGeom>
          <a:solidFill>
            <a:schemeClr val="accent6"/>
          </a:solidFill>
          <a:ln w="12700">
            <a:solidFill>
              <a:schemeClr val="accent6"/>
            </a:solidFill>
            <a:prstDash val="solid"/>
          </a:ln>
        </p:spPr>
      </p:sp>
      <p:pic>
        <p:nvPicPr>
          <p:cNvPr id="16" name="icon-154" descr="preencoded.png"/>
          <p:cNvPicPr>
            <a:picLocks noChangeAspect="1"/>
          </p:cNvPicPr>
          <p:nvPr/>
        </p:nvPicPr>
        <p:blipFill>
          <a:blip r:embed="rId4"/>
          <a:stretch>
            <a:fillRect/>
          </a:stretch>
        </p:blipFill>
        <p:spPr>
          <a:xfrm>
            <a:off x="3097530" y="2274570"/>
            <a:ext cx="342900" cy="342900"/>
          </a:xfrm>
          <a:prstGeom prst="rect">
            <a:avLst/>
          </a:prstGeom>
        </p:spPr>
      </p:pic>
      <p:sp>
        <p:nvSpPr>
          <p:cNvPr id="17" name="txt-155"/>
          <p:cNvSpPr txBox="1"/>
          <p:nvPr/>
        </p:nvSpPr>
        <p:spPr>
          <a:xfrm>
            <a:off x="2532888" y="2880360"/>
            <a:ext cx="1481328" cy="566928"/>
          </a:xfrm>
          <a:prstGeom prst="rect">
            <a:avLst/>
          </a:prstGeom>
          <a:noFill/>
          <a:ln/>
        </p:spPr>
        <p:txBody>
          <a:bodyPr wrap="square" lIns="0" tIns="0" rIns="0" bIns="0" rtlCol="0" anchor="ctr"/>
          <a:lstStyle/>
          <a:p>
            <a:pPr marL="0" indent="0" algn="ctr">
              <a:buNone/>
            </a:pPr>
            <a:r>
              <a:rPr lang="en-US" sz="1300" b="1" dirty="0">
                <a:solidFill>
                  <a:schemeClr val="tx2"/>
                </a:solidFill>
              </a:rPr>
              <a:t>Le contexte est assemblé</a:t>
            </a:r>
            <a:endParaRPr lang="en-US" sz="1300" dirty="0"/>
          </a:p>
        </p:txBody>
      </p:sp>
      <p:sp>
        <p:nvSpPr>
          <p:cNvPr id="18" name="txt-156"/>
          <p:cNvSpPr txBox="1"/>
          <p:nvPr/>
        </p:nvSpPr>
        <p:spPr>
          <a:xfrm>
            <a:off x="2532888" y="3474720"/>
            <a:ext cx="1481328" cy="1325880"/>
          </a:xfrm>
          <a:prstGeom prst="rect">
            <a:avLst/>
          </a:prstGeom>
          <a:noFill/>
          <a:ln/>
        </p:spPr>
        <p:txBody>
          <a:bodyPr wrap="square" lIns="0" tIns="0" rIns="0" bIns="0" rtlCol="0" anchor="t"/>
          <a:lstStyle/>
          <a:p>
            <a:pPr marL="0" indent="0" algn="ctr">
              <a:buNone/>
            </a:pPr>
            <a:r>
              <a:rPr lang="en-US" sz="1100" dirty="0">
                <a:solidFill>
                  <a:schemeClr val="tx1"/>
                </a:solidFill>
              </a:rPr>
              <a:t>Consignes cachées de l'outil + historique + fichiers joints (+ résultats web si activés)</a:t>
            </a:r>
            <a:endParaRPr lang="en-US" sz="1100" dirty="0"/>
          </a:p>
        </p:txBody>
      </p:sp>
      <p:sp>
        <p:nvSpPr>
          <p:cNvPr id="19" name="arrow-157"/>
          <p:cNvSpPr/>
          <p:nvPr/>
        </p:nvSpPr>
        <p:spPr>
          <a:xfrm>
            <a:off x="4123944" y="2743200"/>
            <a:ext cx="164592" cy="0"/>
          </a:xfrm>
          <a:prstGeom prst="line">
            <a:avLst/>
          </a:prstGeom>
          <a:noFill/>
          <a:ln w="22225">
            <a:solidFill>
              <a:srgbClr val="6B7C82"/>
            </a:solidFill>
            <a:prstDash val="solid"/>
            <a:tailEnd type="triangle"/>
          </a:ln>
        </p:spPr>
      </p:sp>
      <p:sp>
        <p:nvSpPr>
          <p:cNvPr id="20" name="card-158"/>
          <p:cNvSpPr/>
          <p:nvPr/>
        </p:nvSpPr>
        <p:spPr>
          <a:xfrm>
            <a:off x="4297680" y="1600200"/>
            <a:ext cx="1691640" cy="3246120"/>
          </a:xfrm>
          <a:prstGeom prst="roundRect">
            <a:avLst>
              <a:gd name="adj" fmla="val 4324"/>
            </a:avLst>
          </a:prstGeom>
          <a:solidFill>
            <a:schemeClr val="bg2"/>
          </a:solidFill>
          <a:ln w="6350">
            <a:solidFill>
              <a:schemeClr val="bg2"/>
            </a:solidFill>
            <a:prstDash val="solid"/>
          </a:ln>
        </p:spPr>
      </p:sp>
      <p:sp>
        <p:nvSpPr>
          <p:cNvPr id="21" name="num-159"/>
          <p:cNvSpPr/>
          <p:nvPr/>
        </p:nvSpPr>
        <p:spPr>
          <a:xfrm>
            <a:off x="4407408" y="1709928"/>
            <a:ext cx="365760" cy="365760"/>
          </a:xfrm>
          <a:prstGeom prst="ellipse">
            <a:avLst/>
          </a:prstGeom>
          <a:solidFill>
            <a:schemeClr val="accent1"/>
          </a:solidFill>
          <a:ln w="12700">
            <a:solidFill>
              <a:schemeClr val="accent1"/>
            </a:solidFill>
            <a:prstDash val="solid"/>
          </a:ln>
        </p:spPr>
      </p:sp>
      <p:sp>
        <p:nvSpPr>
          <p:cNvPr id="22" name="txt-160"/>
          <p:cNvSpPr txBox="1"/>
          <p:nvPr/>
        </p:nvSpPr>
        <p:spPr>
          <a:xfrm>
            <a:off x="4407408" y="1709928"/>
            <a:ext cx="365760" cy="365760"/>
          </a:xfrm>
          <a:prstGeom prst="rect">
            <a:avLst/>
          </a:prstGeom>
          <a:noFill/>
          <a:ln/>
        </p:spPr>
        <p:txBody>
          <a:bodyPr wrap="square" lIns="0" tIns="0" rIns="0" bIns="0" rtlCol="0" anchor="ctr"/>
          <a:lstStyle/>
          <a:p>
            <a:pPr marL="0" indent="0" algn="ctr">
              <a:buNone/>
            </a:pPr>
            <a:r>
              <a:rPr lang="en-US" sz="1200" b="1" dirty="0">
                <a:solidFill>
                  <a:schemeClr val="tx2"/>
                </a:solidFill>
              </a:rPr>
              <a:t>3</a:t>
            </a:r>
            <a:endParaRPr lang="en-US" sz="1200" dirty="0"/>
          </a:p>
        </p:txBody>
      </p:sp>
      <p:sp>
        <p:nvSpPr>
          <p:cNvPr id="23" name="circle-161"/>
          <p:cNvSpPr/>
          <p:nvPr/>
        </p:nvSpPr>
        <p:spPr>
          <a:xfrm>
            <a:off x="4800600" y="2103120"/>
            <a:ext cx="685800" cy="685800"/>
          </a:xfrm>
          <a:prstGeom prst="ellipse">
            <a:avLst/>
          </a:prstGeom>
          <a:solidFill>
            <a:schemeClr val="accent6"/>
          </a:solidFill>
          <a:ln w="12700">
            <a:solidFill>
              <a:schemeClr val="accent6"/>
            </a:solidFill>
            <a:prstDash val="solid"/>
          </a:ln>
        </p:spPr>
      </p:sp>
      <p:pic>
        <p:nvPicPr>
          <p:cNvPr id="24" name="icon-162" descr="preencoded.png"/>
          <p:cNvPicPr>
            <a:picLocks noChangeAspect="1"/>
          </p:cNvPicPr>
          <p:nvPr/>
        </p:nvPicPr>
        <p:blipFill>
          <a:blip r:embed="rId5"/>
          <a:stretch>
            <a:fillRect/>
          </a:stretch>
        </p:blipFill>
        <p:spPr>
          <a:xfrm>
            <a:off x="4972050" y="2274570"/>
            <a:ext cx="342900" cy="342900"/>
          </a:xfrm>
          <a:prstGeom prst="rect">
            <a:avLst/>
          </a:prstGeom>
        </p:spPr>
      </p:pic>
      <p:sp>
        <p:nvSpPr>
          <p:cNvPr id="25" name="txt-163"/>
          <p:cNvSpPr txBox="1"/>
          <p:nvPr/>
        </p:nvSpPr>
        <p:spPr>
          <a:xfrm>
            <a:off x="4407408" y="2880360"/>
            <a:ext cx="1481328" cy="566928"/>
          </a:xfrm>
          <a:prstGeom prst="rect">
            <a:avLst/>
          </a:prstGeom>
          <a:noFill/>
          <a:ln/>
        </p:spPr>
        <p:txBody>
          <a:bodyPr wrap="square" lIns="0" tIns="0" rIns="0" bIns="0" rtlCol="0" anchor="ctr"/>
          <a:lstStyle/>
          <a:p>
            <a:pPr marL="0" indent="0" algn="ctr">
              <a:buNone/>
            </a:pPr>
            <a:r>
              <a:rPr lang="en-US" sz="1300" b="1" dirty="0">
                <a:solidFill>
                  <a:schemeClr val="tx2"/>
                </a:solidFill>
              </a:rPr>
              <a:t>Découpage en tokens</a:t>
            </a:r>
            <a:endParaRPr lang="en-US" sz="1300" dirty="0"/>
          </a:p>
        </p:txBody>
      </p:sp>
      <p:sp>
        <p:nvSpPr>
          <p:cNvPr id="26" name="txt-164"/>
          <p:cNvSpPr txBox="1"/>
          <p:nvPr/>
        </p:nvSpPr>
        <p:spPr>
          <a:xfrm>
            <a:off x="4407408" y="3474720"/>
            <a:ext cx="1481328" cy="1325880"/>
          </a:xfrm>
          <a:prstGeom prst="rect">
            <a:avLst/>
          </a:prstGeom>
          <a:noFill/>
          <a:ln/>
        </p:spPr>
        <p:txBody>
          <a:bodyPr wrap="square" lIns="0" tIns="0" rIns="0" bIns="0" rtlCol="0" anchor="t"/>
          <a:lstStyle/>
          <a:p>
            <a:pPr marL="0" indent="0" algn="ctr">
              <a:buNone/>
            </a:pPr>
            <a:r>
              <a:rPr lang="en-US" sz="1100" dirty="0">
                <a:solidFill>
                  <a:schemeClr val="tx1"/>
                </a:solidFill>
              </a:rPr>
              <a:t>Le texte devient des morceaux de mots que le modèle sait traiter</a:t>
            </a:r>
            <a:endParaRPr lang="en-US" sz="1100" dirty="0"/>
          </a:p>
        </p:txBody>
      </p:sp>
      <p:sp>
        <p:nvSpPr>
          <p:cNvPr id="27" name="arrow-165"/>
          <p:cNvSpPr/>
          <p:nvPr/>
        </p:nvSpPr>
        <p:spPr>
          <a:xfrm>
            <a:off x="5998464" y="2743200"/>
            <a:ext cx="164592" cy="0"/>
          </a:xfrm>
          <a:prstGeom prst="line">
            <a:avLst/>
          </a:prstGeom>
          <a:noFill/>
          <a:ln w="22225">
            <a:solidFill>
              <a:srgbClr val="6B7C82"/>
            </a:solidFill>
            <a:prstDash val="solid"/>
            <a:tailEnd type="triangle"/>
          </a:ln>
        </p:spPr>
      </p:sp>
      <p:sp>
        <p:nvSpPr>
          <p:cNvPr id="28" name="card-166"/>
          <p:cNvSpPr/>
          <p:nvPr/>
        </p:nvSpPr>
        <p:spPr>
          <a:xfrm>
            <a:off x="6172200" y="1600200"/>
            <a:ext cx="1691640" cy="3246120"/>
          </a:xfrm>
          <a:prstGeom prst="roundRect">
            <a:avLst>
              <a:gd name="adj" fmla="val 4324"/>
            </a:avLst>
          </a:prstGeom>
          <a:solidFill>
            <a:schemeClr val="tx2"/>
          </a:solidFill>
          <a:ln w="6350">
            <a:solidFill>
              <a:schemeClr val="tx2"/>
            </a:solidFill>
            <a:prstDash val="solid"/>
          </a:ln>
        </p:spPr>
      </p:sp>
      <p:sp>
        <p:nvSpPr>
          <p:cNvPr id="29" name="num-167"/>
          <p:cNvSpPr/>
          <p:nvPr/>
        </p:nvSpPr>
        <p:spPr>
          <a:xfrm>
            <a:off x="6281928" y="1709928"/>
            <a:ext cx="365760" cy="365760"/>
          </a:xfrm>
          <a:prstGeom prst="ellipse">
            <a:avLst/>
          </a:prstGeom>
          <a:solidFill>
            <a:schemeClr val="accent1"/>
          </a:solidFill>
          <a:ln w="12700">
            <a:solidFill>
              <a:schemeClr val="accent1"/>
            </a:solidFill>
            <a:prstDash val="solid"/>
          </a:ln>
        </p:spPr>
      </p:sp>
      <p:sp>
        <p:nvSpPr>
          <p:cNvPr id="30" name="txt-168"/>
          <p:cNvSpPr txBox="1"/>
          <p:nvPr/>
        </p:nvSpPr>
        <p:spPr>
          <a:xfrm>
            <a:off x="6281928" y="1709928"/>
            <a:ext cx="365760" cy="365760"/>
          </a:xfrm>
          <a:prstGeom prst="rect">
            <a:avLst/>
          </a:prstGeom>
          <a:noFill/>
          <a:ln/>
        </p:spPr>
        <p:txBody>
          <a:bodyPr wrap="square" lIns="0" tIns="0" rIns="0" bIns="0" rtlCol="0" anchor="ctr"/>
          <a:lstStyle/>
          <a:p>
            <a:pPr marL="0" indent="0" algn="ctr">
              <a:buNone/>
            </a:pPr>
            <a:r>
              <a:rPr lang="en-US" sz="1200" b="1" dirty="0">
                <a:solidFill>
                  <a:schemeClr val="tx2"/>
                </a:solidFill>
              </a:rPr>
              <a:t>4</a:t>
            </a:r>
            <a:endParaRPr lang="en-US" sz="1200" dirty="0"/>
          </a:p>
        </p:txBody>
      </p:sp>
      <p:sp>
        <p:nvSpPr>
          <p:cNvPr id="31" name="circle-169"/>
          <p:cNvSpPr/>
          <p:nvPr/>
        </p:nvSpPr>
        <p:spPr>
          <a:xfrm>
            <a:off x="6675120" y="2103120"/>
            <a:ext cx="685800" cy="685800"/>
          </a:xfrm>
          <a:prstGeom prst="ellipse">
            <a:avLst/>
          </a:prstGeom>
          <a:solidFill>
            <a:schemeClr val="accent1"/>
          </a:solidFill>
          <a:ln w="12700">
            <a:solidFill>
              <a:schemeClr val="accent1"/>
            </a:solidFill>
            <a:prstDash val="solid"/>
          </a:ln>
        </p:spPr>
      </p:sp>
      <p:pic>
        <p:nvPicPr>
          <p:cNvPr id="32" name="icon-170" descr="preencoded.png"/>
          <p:cNvPicPr>
            <a:picLocks noChangeAspect="1"/>
          </p:cNvPicPr>
          <p:nvPr/>
        </p:nvPicPr>
        <p:blipFill>
          <a:blip r:embed="rId6"/>
          <a:stretch>
            <a:fillRect/>
          </a:stretch>
        </p:blipFill>
        <p:spPr>
          <a:xfrm>
            <a:off x="6846570" y="2274570"/>
            <a:ext cx="342900" cy="342900"/>
          </a:xfrm>
          <a:prstGeom prst="rect">
            <a:avLst/>
          </a:prstGeom>
        </p:spPr>
      </p:pic>
      <p:sp>
        <p:nvSpPr>
          <p:cNvPr id="33" name="txt-171"/>
          <p:cNvSpPr txBox="1"/>
          <p:nvPr/>
        </p:nvSpPr>
        <p:spPr>
          <a:xfrm>
            <a:off x="6281928" y="2880360"/>
            <a:ext cx="1481328" cy="566928"/>
          </a:xfrm>
          <a:prstGeom prst="rect">
            <a:avLst/>
          </a:prstGeom>
          <a:noFill/>
          <a:ln/>
        </p:spPr>
        <p:txBody>
          <a:bodyPr wrap="square" lIns="0" tIns="0" rIns="0" bIns="0" rtlCol="0" anchor="ctr"/>
          <a:lstStyle/>
          <a:p>
            <a:pPr marL="0" indent="0" algn="ctr">
              <a:buNone/>
            </a:pPr>
            <a:r>
              <a:rPr lang="en-US" sz="1300" b="1" dirty="0">
                <a:solidFill>
                  <a:schemeClr val="bg1"/>
                </a:solidFill>
              </a:rPr>
              <a:t>Prédiction</a:t>
            </a:r>
            <a:endParaRPr lang="en-US" sz="1300" dirty="0"/>
          </a:p>
        </p:txBody>
      </p:sp>
      <p:sp>
        <p:nvSpPr>
          <p:cNvPr id="34" name="txt-172"/>
          <p:cNvSpPr txBox="1"/>
          <p:nvPr/>
        </p:nvSpPr>
        <p:spPr>
          <a:xfrm>
            <a:off x="6281928" y="3474720"/>
            <a:ext cx="1481328" cy="1325880"/>
          </a:xfrm>
          <a:prstGeom prst="rect">
            <a:avLst/>
          </a:prstGeom>
          <a:noFill/>
          <a:ln/>
        </p:spPr>
        <p:txBody>
          <a:bodyPr wrap="square" lIns="0" tIns="0" rIns="0" bIns="0" rtlCol="0" anchor="t"/>
          <a:lstStyle/>
          <a:p>
            <a:pPr marL="0" indent="0" algn="ctr">
              <a:buNone/>
            </a:pPr>
            <a:r>
              <a:rPr lang="en-US" sz="1100" dirty="0">
                <a:solidFill>
                  <a:schemeClr val="bg2"/>
                </a:solidFill>
              </a:rPr>
              <a:t>Le modèle calcule le token suivant le plus probable, puis recommence des centaines de fois</a:t>
            </a:r>
            <a:endParaRPr lang="en-US" sz="1100" dirty="0"/>
          </a:p>
        </p:txBody>
      </p:sp>
      <p:sp>
        <p:nvSpPr>
          <p:cNvPr id="35" name="arrow-173"/>
          <p:cNvSpPr/>
          <p:nvPr/>
        </p:nvSpPr>
        <p:spPr>
          <a:xfrm>
            <a:off x="7872984" y="2743200"/>
            <a:ext cx="164592" cy="0"/>
          </a:xfrm>
          <a:prstGeom prst="line">
            <a:avLst/>
          </a:prstGeom>
          <a:noFill/>
          <a:ln w="22225">
            <a:solidFill>
              <a:srgbClr val="6B7C82"/>
            </a:solidFill>
            <a:prstDash val="solid"/>
            <a:tailEnd type="triangle"/>
          </a:ln>
        </p:spPr>
      </p:sp>
      <p:sp>
        <p:nvSpPr>
          <p:cNvPr id="36" name="card-174"/>
          <p:cNvSpPr/>
          <p:nvPr/>
        </p:nvSpPr>
        <p:spPr>
          <a:xfrm>
            <a:off x="8046720" y="1600200"/>
            <a:ext cx="1691640" cy="3246120"/>
          </a:xfrm>
          <a:prstGeom prst="roundRect">
            <a:avLst>
              <a:gd name="adj" fmla="val 4324"/>
            </a:avLst>
          </a:prstGeom>
          <a:solidFill>
            <a:schemeClr val="bg2"/>
          </a:solidFill>
          <a:ln w="6350">
            <a:solidFill>
              <a:schemeClr val="bg2"/>
            </a:solidFill>
            <a:prstDash val="solid"/>
          </a:ln>
        </p:spPr>
      </p:sp>
      <p:sp>
        <p:nvSpPr>
          <p:cNvPr id="37" name="num-175"/>
          <p:cNvSpPr/>
          <p:nvPr/>
        </p:nvSpPr>
        <p:spPr>
          <a:xfrm>
            <a:off x="8156448" y="1709928"/>
            <a:ext cx="365760" cy="365760"/>
          </a:xfrm>
          <a:prstGeom prst="ellipse">
            <a:avLst/>
          </a:prstGeom>
          <a:solidFill>
            <a:schemeClr val="accent1"/>
          </a:solidFill>
          <a:ln w="12700">
            <a:solidFill>
              <a:schemeClr val="accent1"/>
            </a:solidFill>
            <a:prstDash val="solid"/>
          </a:ln>
        </p:spPr>
      </p:sp>
      <p:sp>
        <p:nvSpPr>
          <p:cNvPr id="38" name="txt-176"/>
          <p:cNvSpPr txBox="1"/>
          <p:nvPr/>
        </p:nvSpPr>
        <p:spPr>
          <a:xfrm>
            <a:off x="8156448" y="1709928"/>
            <a:ext cx="365760" cy="365760"/>
          </a:xfrm>
          <a:prstGeom prst="rect">
            <a:avLst/>
          </a:prstGeom>
          <a:noFill/>
          <a:ln/>
        </p:spPr>
        <p:txBody>
          <a:bodyPr wrap="square" lIns="0" tIns="0" rIns="0" bIns="0" rtlCol="0" anchor="ctr"/>
          <a:lstStyle/>
          <a:p>
            <a:pPr marL="0" indent="0" algn="ctr">
              <a:buNone/>
            </a:pPr>
            <a:r>
              <a:rPr lang="en-US" sz="1200" b="1" dirty="0">
                <a:solidFill>
                  <a:schemeClr val="tx2"/>
                </a:solidFill>
              </a:rPr>
              <a:t>5</a:t>
            </a:r>
            <a:endParaRPr lang="en-US" sz="1200" dirty="0"/>
          </a:p>
        </p:txBody>
      </p:sp>
      <p:sp>
        <p:nvSpPr>
          <p:cNvPr id="39" name="circle-177"/>
          <p:cNvSpPr/>
          <p:nvPr/>
        </p:nvSpPr>
        <p:spPr>
          <a:xfrm>
            <a:off x="8549640" y="2103120"/>
            <a:ext cx="685800" cy="685800"/>
          </a:xfrm>
          <a:prstGeom prst="ellipse">
            <a:avLst/>
          </a:prstGeom>
          <a:solidFill>
            <a:schemeClr val="accent6"/>
          </a:solidFill>
          <a:ln w="12700">
            <a:solidFill>
              <a:schemeClr val="accent6"/>
            </a:solidFill>
            <a:prstDash val="solid"/>
          </a:ln>
        </p:spPr>
      </p:sp>
      <p:pic>
        <p:nvPicPr>
          <p:cNvPr id="40" name="icon-178" descr="preencoded.png"/>
          <p:cNvPicPr>
            <a:picLocks noChangeAspect="1"/>
          </p:cNvPicPr>
          <p:nvPr/>
        </p:nvPicPr>
        <p:blipFill>
          <a:blip r:embed="rId7"/>
          <a:stretch>
            <a:fillRect/>
          </a:stretch>
        </p:blipFill>
        <p:spPr>
          <a:xfrm>
            <a:off x="8721090" y="2274570"/>
            <a:ext cx="342900" cy="342900"/>
          </a:xfrm>
          <a:prstGeom prst="rect">
            <a:avLst/>
          </a:prstGeom>
        </p:spPr>
      </p:pic>
      <p:sp>
        <p:nvSpPr>
          <p:cNvPr id="41" name="txt-179"/>
          <p:cNvSpPr txBox="1"/>
          <p:nvPr/>
        </p:nvSpPr>
        <p:spPr>
          <a:xfrm>
            <a:off x="8156448" y="2880360"/>
            <a:ext cx="1481328" cy="566928"/>
          </a:xfrm>
          <a:prstGeom prst="rect">
            <a:avLst/>
          </a:prstGeom>
          <a:noFill/>
          <a:ln/>
        </p:spPr>
        <p:txBody>
          <a:bodyPr wrap="square" lIns="0" tIns="0" rIns="0" bIns="0" rtlCol="0" anchor="ctr"/>
          <a:lstStyle/>
          <a:p>
            <a:pPr marL="0" indent="0" algn="ctr">
              <a:buNone/>
            </a:pPr>
            <a:r>
              <a:rPr lang="en-US" sz="1300" b="1" dirty="0">
                <a:solidFill>
                  <a:schemeClr val="tx2"/>
                </a:solidFill>
              </a:rPr>
              <a:t>Filtres</a:t>
            </a:r>
            <a:endParaRPr lang="en-US" sz="1300" dirty="0"/>
          </a:p>
        </p:txBody>
      </p:sp>
      <p:sp>
        <p:nvSpPr>
          <p:cNvPr id="42" name="txt-180"/>
          <p:cNvSpPr txBox="1"/>
          <p:nvPr/>
        </p:nvSpPr>
        <p:spPr>
          <a:xfrm>
            <a:off x="8156448" y="3474720"/>
            <a:ext cx="1481328" cy="1325880"/>
          </a:xfrm>
          <a:prstGeom prst="rect">
            <a:avLst/>
          </a:prstGeom>
          <a:noFill/>
          <a:ln/>
        </p:spPr>
        <p:txBody>
          <a:bodyPr wrap="square" lIns="0" tIns="0" rIns="0" bIns="0" rtlCol="0" anchor="t"/>
          <a:lstStyle/>
          <a:p>
            <a:pPr marL="0" indent="0" algn="ctr">
              <a:buNone/>
            </a:pPr>
            <a:r>
              <a:rPr lang="en-US" sz="1100" dirty="0">
                <a:solidFill>
                  <a:schemeClr val="tx1"/>
                </a:solidFill>
              </a:rPr>
              <a:t>Règles de sécurité de l'éditeur appliquées à la réponse</a:t>
            </a:r>
            <a:endParaRPr lang="en-US" sz="1100" dirty="0"/>
          </a:p>
        </p:txBody>
      </p:sp>
      <p:sp>
        <p:nvSpPr>
          <p:cNvPr id="43" name="arrow-181"/>
          <p:cNvSpPr/>
          <p:nvPr/>
        </p:nvSpPr>
        <p:spPr>
          <a:xfrm>
            <a:off x="9747504" y="2743200"/>
            <a:ext cx="164592" cy="0"/>
          </a:xfrm>
          <a:prstGeom prst="line">
            <a:avLst/>
          </a:prstGeom>
          <a:noFill/>
          <a:ln w="22225">
            <a:solidFill>
              <a:srgbClr val="6B7C82"/>
            </a:solidFill>
            <a:prstDash val="solid"/>
            <a:tailEnd type="triangle"/>
          </a:ln>
        </p:spPr>
      </p:sp>
      <p:sp>
        <p:nvSpPr>
          <p:cNvPr id="44" name="card-182"/>
          <p:cNvSpPr/>
          <p:nvPr/>
        </p:nvSpPr>
        <p:spPr>
          <a:xfrm>
            <a:off x="9921240" y="1600200"/>
            <a:ext cx="1691640" cy="3246120"/>
          </a:xfrm>
          <a:prstGeom prst="roundRect">
            <a:avLst>
              <a:gd name="adj" fmla="val 4324"/>
            </a:avLst>
          </a:prstGeom>
          <a:solidFill>
            <a:schemeClr val="bg2"/>
          </a:solidFill>
          <a:ln w="6350">
            <a:solidFill>
              <a:schemeClr val="bg2"/>
            </a:solidFill>
            <a:prstDash val="solid"/>
          </a:ln>
        </p:spPr>
      </p:sp>
      <p:sp>
        <p:nvSpPr>
          <p:cNvPr id="45" name="num-183"/>
          <p:cNvSpPr/>
          <p:nvPr/>
        </p:nvSpPr>
        <p:spPr>
          <a:xfrm>
            <a:off x="10030968" y="1709928"/>
            <a:ext cx="365760" cy="365760"/>
          </a:xfrm>
          <a:prstGeom prst="ellipse">
            <a:avLst/>
          </a:prstGeom>
          <a:solidFill>
            <a:schemeClr val="accent1"/>
          </a:solidFill>
          <a:ln w="12700">
            <a:solidFill>
              <a:schemeClr val="accent1"/>
            </a:solidFill>
            <a:prstDash val="solid"/>
          </a:ln>
        </p:spPr>
      </p:sp>
      <p:sp>
        <p:nvSpPr>
          <p:cNvPr id="46" name="txt-184"/>
          <p:cNvSpPr txBox="1"/>
          <p:nvPr/>
        </p:nvSpPr>
        <p:spPr>
          <a:xfrm>
            <a:off x="10030968" y="1709928"/>
            <a:ext cx="365760" cy="365760"/>
          </a:xfrm>
          <a:prstGeom prst="rect">
            <a:avLst/>
          </a:prstGeom>
          <a:noFill/>
          <a:ln/>
        </p:spPr>
        <p:txBody>
          <a:bodyPr wrap="square" lIns="0" tIns="0" rIns="0" bIns="0" rtlCol="0" anchor="ctr"/>
          <a:lstStyle/>
          <a:p>
            <a:pPr marL="0" indent="0" algn="ctr">
              <a:buNone/>
            </a:pPr>
            <a:r>
              <a:rPr lang="en-US" sz="1200" b="1" dirty="0">
                <a:solidFill>
                  <a:schemeClr val="tx2"/>
                </a:solidFill>
              </a:rPr>
              <a:t>6</a:t>
            </a:r>
            <a:endParaRPr lang="en-US" sz="1200" dirty="0"/>
          </a:p>
        </p:txBody>
      </p:sp>
      <p:sp>
        <p:nvSpPr>
          <p:cNvPr id="47" name="circle-185"/>
          <p:cNvSpPr/>
          <p:nvPr/>
        </p:nvSpPr>
        <p:spPr>
          <a:xfrm>
            <a:off x="10424160" y="2103120"/>
            <a:ext cx="685800" cy="685800"/>
          </a:xfrm>
          <a:prstGeom prst="ellipse">
            <a:avLst/>
          </a:prstGeom>
          <a:solidFill>
            <a:schemeClr val="accent6"/>
          </a:solidFill>
          <a:ln w="12700">
            <a:solidFill>
              <a:schemeClr val="accent6"/>
            </a:solidFill>
            <a:prstDash val="solid"/>
          </a:ln>
        </p:spPr>
      </p:sp>
      <p:pic>
        <p:nvPicPr>
          <p:cNvPr id="48" name="icon-186" descr="preencoded.png"/>
          <p:cNvPicPr>
            <a:picLocks noChangeAspect="1"/>
          </p:cNvPicPr>
          <p:nvPr/>
        </p:nvPicPr>
        <p:blipFill>
          <a:blip r:embed="rId8"/>
          <a:stretch>
            <a:fillRect/>
          </a:stretch>
        </p:blipFill>
        <p:spPr>
          <a:xfrm>
            <a:off x="10595610" y="2274570"/>
            <a:ext cx="342900" cy="342900"/>
          </a:xfrm>
          <a:prstGeom prst="rect">
            <a:avLst/>
          </a:prstGeom>
        </p:spPr>
      </p:pic>
      <p:sp>
        <p:nvSpPr>
          <p:cNvPr id="49" name="txt-187"/>
          <p:cNvSpPr txBox="1"/>
          <p:nvPr/>
        </p:nvSpPr>
        <p:spPr>
          <a:xfrm>
            <a:off x="10030968" y="2880360"/>
            <a:ext cx="1481328" cy="566928"/>
          </a:xfrm>
          <a:prstGeom prst="rect">
            <a:avLst/>
          </a:prstGeom>
          <a:noFill/>
          <a:ln/>
        </p:spPr>
        <p:txBody>
          <a:bodyPr wrap="square" lIns="0" tIns="0" rIns="0" bIns="0" rtlCol="0" anchor="ctr"/>
          <a:lstStyle/>
          <a:p>
            <a:pPr marL="0" indent="0" algn="ctr">
              <a:buNone/>
            </a:pPr>
            <a:r>
              <a:rPr lang="en-US" sz="1300" b="1" dirty="0">
                <a:solidFill>
                  <a:schemeClr val="tx2"/>
                </a:solidFill>
              </a:rPr>
              <a:t>La réponse</a:t>
            </a:r>
            <a:endParaRPr lang="en-US" sz="1300" dirty="0"/>
          </a:p>
        </p:txBody>
      </p:sp>
      <p:sp>
        <p:nvSpPr>
          <p:cNvPr id="50" name="txt-188"/>
          <p:cNvSpPr txBox="1"/>
          <p:nvPr/>
        </p:nvSpPr>
        <p:spPr>
          <a:xfrm>
            <a:off x="10030968" y="3474720"/>
            <a:ext cx="1481328" cy="1325880"/>
          </a:xfrm>
          <a:prstGeom prst="rect">
            <a:avLst/>
          </a:prstGeom>
          <a:noFill/>
          <a:ln/>
        </p:spPr>
        <p:txBody>
          <a:bodyPr wrap="square" lIns="0" tIns="0" rIns="0" bIns="0" rtlCol="0" anchor="t"/>
          <a:lstStyle/>
          <a:p>
            <a:pPr marL="0" indent="0" algn="ctr">
              <a:buNone/>
            </a:pPr>
            <a:r>
              <a:rPr lang="en-US" sz="1100" dirty="0">
                <a:solidFill>
                  <a:schemeClr val="tx1"/>
                </a:solidFill>
              </a:rPr>
              <a:t>Affichée mot à mot, en quelques secondes</a:t>
            </a:r>
            <a:endParaRPr lang="en-US" sz="1100" dirty="0"/>
          </a:p>
        </p:txBody>
      </p:sp>
      <p:sp>
        <p:nvSpPr>
          <p:cNvPr id="51" name="card-189"/>
          <p:cNvSpPr/>
          <p:nvPr/>
        </p:nvSpPr>
        <p:spPr>
          <a:xfrm>
            <a:off x="548640" y="5074920"/>
            <a:ext cx="11064240" cy="868680"/>
          </a:xfrm>
          <a:prstGeom prst="roundRect">
            <a:avLst>
              <a:gd name="adj" fmla="val 8421"/>
            </a:avLst>
          </a:prstGeom>
          <a:solidFill>
            <a:schemeClr val="accent1"/>
          </a:solidFill>
          <a:ln w="6350">
            <a:solidFill>
              <a:schemeClr val="accent1"/>
            </a:solidFill>
            <a:prstDash val="solid"/>
          </a:ln>
        </p:spPr>
      </p:sp>
      <p:sp>
        <p:nvSpPr>
          <p:cNvPr id="52" name="txt-190"/>
          <p:cNvSpPr txBox="1"/>
          <p:nvPr/>
        </p:nvSpPr>
        <p:spPr>
          <a:xfrm>
            <a:off x="822960" y="5074920"/>
            <a:ext cx="10515600" cy="868680"/>
          </a:xfrm>
          <a:prstGeom prst="rect">
            <a:avLst/>
          </a:prstGeom>
          <a:noFill/>
          <a:ln/>
        </p:spPr>
        <p:txBody>
          <a:bodyPr wrap="square" lIns="0" tIns="0" rIns="0" bIns="0" rtlCol="0" anchor="ctr"/>
          <a:lstStyle/>
          <a:p>
            <a:pPr marL="0" indent="0">
              <a:buNone/>
            </a:pPr>
            <a:r>
              <a:rPr lang="en-US" sz="1500" b="1" dirty="0">
                <a:solidFill>
                  <a:schemeClr val="tx2"/>
                </a:solidFill>
              </a:rPr>
              <a:t>À aucune étape le modèle ne vérifie les faits. Pour ancrer la réponse dans des sources : la recherche web, ou le RAG (cet après-midi).</a:t>
            </a:r>
            <a:endParaRPr lang="en-US" sz="1500" dirty="0"/>
          </a:p>
        </p:txBody>
      </p:sp>
      <p:sp>
        <p:nvSpPr>
          <p:cNvPr id="53" name="Slide Number Placeholder 0"/>
          <p:cNvSpPr>
            <a:spLocks noGrp="1"/>
          </p:cNvSpPr>
          <p:nvPr>
            <p:ph type="sldNum" sz="quarter" idx="4294967295"/>
          </p:nvPr>
        </p:nvSpPr>
        <p:spPr>
          <a:xfrm>
            <a:off x="11064240" y="6400800"/>
            <a:ext cx="54864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C82"/>
                </a:solidFill>
                <a:latin typeface="Poppins"/>
                <a:ea typeface="Poppins"/>
                <a:cs typeface="Poppins"/>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566928"/>
            <a:ext cx="11064240" cy="777240"/>
          </a:xfrm>
          <a:prstGeom prst="rect">
            <a:avLst/>
          </a:prstGeom>
          <a:noFill/>
          <a:ln/>
        </p:spPr>
        <p:txBody>
          <a:bodyPr wrap="square" lIns="0" tIns="0" rIns="0" bIns="0" rtlCol="0" anchor="ctr"/>
          <a:lstStyle/>
          <a:p>
            <a:pPr marL="0" indent="0" algn="l">
              <a:buNone/>
            </a:pPr>
            <a:r>
              <a:rPr lang="en-US" sz="2700" b="1" dirty="0">
                <a:solidFill>
                  <a:schemeClr val="tx2"/>
                </a:solidFill>
                <a:latin typeface="Poppins" pitchFamily="34" charset="0"/>
                <a:ea typeface="Poppins" pitchFamily="34" charset="-122"/>
                <a:cs typeface="Poppins" pitchFamily="34" charset="-120"/>
              </a:rPr>
              <a:t>Elle prédit le mot suivant, encore et encore</a:t>
            </a:r>
            <a:endParaRPr lang="en-US" sz="2700" dirty="0"/>
          </a:p>
        </p:txBody>
      </p:sp>
      <p:sp>
        <p:nvSpPr>
          <p:cNvPr id="3" name="Text 0"/>
          <p:cNvSpPr>
            <a:spLocks noGrp="1"/>
          </p:cNvSpPr>
          <p:nvPr>
            <p:ph type="body" idx="101" hasCustomPrompt="1"/>
          </p:nvPr>
        </p:nvSpPr>
        <p:spPr>
          <a:xfrm>
            <a:off x="548640" y="256032"/>
            <a:ext cx="8229600" cy="292608"/>
          </a:xfrm>
          <a:prstGeom prst="rect">
            <a:avLst/>
          </a:prstGeom>
          <a:noFill/>
          <a:ln/>
        </p:spPr>
        <p:txBody>
          <a:bodyPr wrap="square" lIns="0" tIns="0" rIns="0" bIns="0" rtlCol="0" anchor="ctr"/>
          <a:lstStyle/>
          <a:p>
            <a:pPr marL="0" indent="0">
              <a:buNone/>
            </a:pPr>
            <a:r>
              <a:rPr lang="en-US" sz="1100" b="1" dirty="0">
                <a:solidFill>
                  <a:schemeClr val="accent1"/>
                </a:solidFill>
                <a:latin typeface="Poppins" pitchFamily="34" charset="0"/>
                <a:ea typeface="Poppins" pitchFamily="34" charset="-122"/>
                <a:cs typeface="Poppins" pitchFamily="34" charset="-120"/>
              </a:rPr>
              <a:t>T1 · COMMENT PENSE UNE IA</a:t>
            </a:r>
            <a:endParaRPr lang="en-US" sz="1100" dirty="0"/>
          </a:p>
        </p:txBody>
      </p:sp>
      <p:sp>
        <p:nvSpPr>
          <p:cNvPr id="4" name="card-191"/>
          <p:cNvSpPr/>
          <p:nvPr/>
        </p:nvSpPr>
        <p:spPr>
          <a:xfrm>
            <a:off x="548640" y="1554480"/>
            <a:ext cx="5486400" cy="1188720"/>
          </a:xfrm>
          <a:prstGeom prst="roundRect">
            <a:avLst>
              <a:gd name="adj" fmla="val 6154"/>
            </a:avLst>
          </a:prstGeom>
          <a:solidFill>
            <a:schemeClr val="bg2"/>
          </a:solidFill>
          <a:ln w="6350">
            <a:solidFill>
              <a:schemeClr val="bg2"/>
            </a:solidFill>
            <a:prstDash val="solid"/>
          </a:ln>
        </p:spPr>
      </p:sp>
      <p:sp>
        <p:nvSpPr>
          <p:cNvPr id="5" name="txt-192"/>
          <p:cNvSpPr txBox="1"/>
          <p:nvPr/>
        </p:nvSpPr>
        <p:spPr>
          <a:xfrm>
            <a:off x="777240" y="1645920"/>
            <a:ext cx="5029200" cy="1005840"/>
          </a:xfrm>
          <a:prstGeom prst="rect">
            <a:avLst/>
          </a:prstGeom>
          <a:noFill/>
          <a:ln/>
        </p:spPr>
        <p:txBody>
          <a:bodyPr wrap="square" lIns="0" tIns="0" rIns="0" bIns="0" rtlCol="0" anchor="ctr"/>
          <a:lstStyle/>
          <a:p>
            <a:pPr marL="0" indent="0">
              <a:buNone/>
            </a:pPr>
            <a:r>
              <a:rPr lang="en-US" sz="1900" i="1" dirty="0">
                <a:solidFill>
                  <a:schemeClr val="tx2"/>
                </a:solidFill>
              </a:rPr>
              <a:t>« La chercheuse publie son article dans une … »</a:t>
            </a:r>
            <a:endParaRPr lang="en-US" sz="1900" dirty="0"/>
          </a:p>
        </p:txBody>
      </p:sp>
      <p:sp>
        <p:nvSpPr>
          <p:cNvPr id="6" name="circle-193"/>
          <p:cNvSpPr/>
          <p:nvPr/>
        </p:nvSpPr>
        <p:spPr>
          <a:xfrm>
            <a:off x="548640" y="3017520"/>
            <a:ext cx="640080" cy="640080"/>
          </a:xfrm>
          <a:prstGeom prst="ellipse">
            <a:avLst/>
          </a:prstGeom>
          <a:solidFill>
            <a:schemeClr val="accent6"/>
          </a:solidFill>
          <a:ln w="12700">
            <a:solidFill>
              <a:schemeClr val="accent6"/>
            </a:solidFill>
            <a:prstDash val="solid"/>
          </a:ln>
        </p:spPr>
      </p:sp>
      <p:pic>
        <p:nvPicPr>
          <p:cNvPr id="7" name="icon-194" descr="preencoded.png"/>
          <p:cNvPicPr>
            <a:picLocks noChangeAspect="1"/>
          </p:cNvPicPr>
          <p:nvPr/>
        </p:nvPicPr>
        <p:blipFill>
          <a:blip r:embed="rId3"/>
          <a:stretch>
            <a:fillRect/>
          </a:stretch>
        </p:blipFill>
        <p:spPr>
          <a:xfrm>
            <a:off x="708660" y="3177540"/>
            <a:ext cx="320040" cy="320040"/>
          </a:xfrm>
          <a:prstGeom prst="rect">
            <a:avLst/>
          </a:prstGeom>
        </p:spPr>
      </p:pic>
      <p:sp>
        <p:nvSpPr>
          <p:cNvPr id="8" name="txt-195"/>
          <p:cNvSpPr txBox="1"/>
          <p:nvPr/>
        </p:nvSpPr>
        <p:spPr>
          <a:xfrm>
            <a:off x="1371600" y="3017520"/>
            <a:ext cx="4663440" cy="640080"/>
          </a:xfrm>
          <a:prstGeom prst="rect">
            <a:avLst/>
          </a:prstGeom>
          <a:noFill/>
          <a:ln/>
        </p:spPr>
        <p:txBody>
          <a:bodyPr wrap="square" lIns="0" tIns="0" rIns="0" bIns="0" rtlCol="0" anchor="ctr"/>
          <a:lstStyle/>
          <a:p>
            <a:pPr marL="0" indent="0">
              <a:buNone/>
            </a:pPr>
            <a:r>
              <a:rPr lang="en-US" sz="1500" dirty="0">
                <a:solidFill>
                  <a:schemeClr val="tx1"/>
                </a:solidFill>
              </a:rPr>
              <a:t>Elle a lu des milliards de pages de texte</a:t>
            </a:r>
            <a:endParaRPr lang="en-US" sz="1500" dirty="0"/>
          </a:p>
        </p:txBody>
      </p:sp>
      <p:sp>
        <p:nvSpPr>
          <p:cNvPr id="9" name="circle-196"/>
          <p:cNvSpPr/>
          <p:nvPr/>
        </p:nvSpPr>
        <p:spPr>
          <a:xfrm>
            <a:off x="548640" y="3977640"/>
            <a:ext cx="640080" cy="640080"/>
          </a:xfrm>
          <a:prstGeom prst="ellipse">
            <a:avLst/>
          </a:prstGeom>
          <a:solidFill>
            <a:schemeClr val="accent6"/>
          </a:solidFill>
          <a:ln w="12700">
            <a:solidFill>
              <a:schemeClr val="accent6"/>
            </a:solidFill>
            <a:prstDash val="solid"/>
          </a:ln>
        </p:spPr>
      </p:sp>
      <p:pic>
        <p:nvPicPr>
          <p:cNvPr id="10" name="icon-197" descr="preencoded.png"/>
          <p:cNvPicPr>
            <a:picLocks noChangeAspect="1"/>
          </p:cNvPicPr>
          <p:nvPr/>
        </p:nvPicPr>
        <p:blipFill>
          <a:blip r:embed="rId4"/>
          <a:stretch>
            <a:fillRect/>
          </a:stretch>
        </p:blipFill>
        <p:spPr>
          <a:xfrm>
            <a:off x="708660" y="4137660"/>
            <a:ext cx="320040" cy="320040"/>
          </a:xfrm>
          <a:prstGeom prst="rect">
            <a:avLst/>
          </a:prstGeom>
        </p:spPr>
      </p:pic>
      <p:sp>
        <p:nvSpPr>
          <p:cNvPr id="11" name="txt-198"/>
          <p:cNvSpPr txBox="1"/>
          <p:nvPr/>
        </p:nvSpPr>
        <p:spPr>
          <a:xfrm>
            <a:off x="1371600" y="3977640"/>
            <a:ext cx="4663440" cy="640080"/>
          </a:xfrm>
          <a:prstGeom prst="rect">
            <a:avLst/>
          </a:prstGeom>
          <a:noFill/>
          <a:ln/>
        </p:spPr>
        <p:txBody>
          <a:bodyPr wrap="square" lIns="0" tIns="0" rIns="0" bIns="0" rtlCol="0" anchor="ctr"/>
          <a:lstStyle/>
          <a:p>
            <a:pPr marL="0" indent="0">
              <a:buNone/>
            </a:pPr>
            <a:r>
              <a:rPr lang="en-US" sz="1500" dirty="0">
                <a:solidFill>
                  <a:schemeClr val="tx1"/>
                </a:solidFill>
              </a:rPr>
              <a:t>Elle choisit un mot probable, puis le suivant, puis le suivant…</a:t>
            </a:r>
            <a:endParaRPr lang="en-US" sz="1500" dirty="0"/>
          </a:p>
        </p:txBody>
      </p:sp>
      <p:sp>
        <p:nvSpPr>
          <p:cNvPr id="12" name="circle-199"/>
          <p:cNvSpPr/>
          <p:nvPr/>
        </p:nvSpPr>
        <p:spPr>
          <a:xfrm>
            <a:off x="548640" y="4937760"/>
            <a:ext cx="640080" cy="640080"/>
          </a:xfrm>
          <a:prstGeom prst="ellipse">
            <a:avLst/>
          </a:prstGeom>
          <a:solidFill>
            <a:schemeClr val="accent3"/>
          </a:solidFill>
          <a:ln w="12700">
            <a:solidFill>
              <a:schemeClr val="accent3"/>
            </a:solidFill>
            <a:prstDash val="solid"/>
          </a:ln>
        </p:spPr>
      </p:sp>
      <p:pic>
        <p:nvPicPr>
          <p:cNvPr id="13" name="icon-200" descr="preencoded.png"/>
          <p:cNvPicPr>
            <a:picLocks noChangeAspect="1"/>
          </p:cNvPicPr>
          <p:nvPr/>
        </p:nvPicPr>
        <p:blipFill>
          <a:blip r:embed="rId5"/>
          <a:stretch>
            <a:fillRect/>
          </a:stretch>
        </p:blipFill>
        <p:spPr>
          <a:xfrm>
            <a:off x="708660" y="5097780"/>
            <a:ext cx="320040" cy="320040"/>
          </a:xfrm>
          <a:prstGeom prst="rect">
            <a:avLst/>
          </a:prstGeom>
        </p:spPr>
      </p:pic>
      <p:sp>
        <p:nvSpPr>
          <p:cNvPr id="14" name="txt-201"/>
          <p:cNvSpPr txBox="1"/>
          <p:nvPr/>
        </p:nvSpPr>
        <p:spPr>
          <a:xfrm>
            <a:off x="1371600" y="4937760"/>
            <a:ext cx="4663440" cy="640080"/>
          </a:xfrm>
          <a:prstGeom prst="rect">
            <a:avLst/>
          </a:prstGeom>
          <a:noFill/>
          <a:ln/>
        </p:spPr>
        <p:txBody>
          <a:bodyPr wrap="square" lIns="0" tIns="0" rIns="0" bIns="0" rtlCol="0" anchor="ctr"/>
          <a:lstStyle/>
          <a:p>
            <a:pPr marL="0" indent="0">
              <a:buNone/>
            </a:pPr>
            <a:r>
              <a:rPr lang="en-US" sz="1500" b="1" dirty="0">
                <a:solidFill>
                  <a:schemeClr val="tx1"/>
                </a:solidFill>
              </a:rPr>
              <a:t>Elle ne consulte pas une base de faits : elle produit du texte plausible</a:t>
            </a:r>
            <a:endParaRPr lang="en-US" sz="1500" dirty="0"/>
          </a:p>
        </p:txBody>
      </p:sp>
      <p:graphicFrame>
        <p:nvGraphicFramePr>
          <p:cNvPr id="15" name="Chart 0"/>
          <p:cNvGraphicFramePr/>
          <p:nvPr/>
        </p:nvGraphicFramePr>
        <p:xfrm>
          <a:off x="6400800" y="1463040"/>
          <a:ext cx="5212080" cy="4206240"/>
        </p:xfrm>
        <a:graphic>
          <a:graphicData uri="http://schemas.openxmlformats.org/drawingml/2006/chart">
            <c:chart xmlns:c="http://schemas.openxmlformats.org/drawingml/2006/chart" xmlns:r="http://schemas.openxmlformats.org/officeDocument/2006/relationships" r:id="rId6"/>
          </a:graphicData>
        </a:graphic>
      </p:graphicFrame>
      <p:sp>
        <p:nvSpPr>
          <p:cNvPr id="16" name="txt-202"/>
          <p:cNvSpPr txBox="1"/>
          <p:nvPr/>
        </p:nvSpPr>
        <p:spPr>
          <a:xfrm>
            <a:off x="548640" y="6053328"/>
            <a:ext cx="11064240" cy="256032"/>
          </a:xfrm>
          <a:prstGeom prst="rect">
            <a:avLst/>
          </a:prstGeom>
          <a:noFill/>
          <a:ln/>
        </p:spPr>
        <p:txBody>
          <a:bodyPr wrap="square" lIns="0" tIns="0" rIns="0" bIns="0" rtlCol="0" anchor="t"/>
          <a:lstStyle/>
          <a:p>
            <a:pPr marL="0" indent="0">
              <a:buNone/>
            </a:pPr>
            <a:r>
              <a:rPr lang="en-US" sz="1000" i="1" dirty="0">
                <a:solidFill>
                  <a:schemeClr val="accent5"/>
                </a:solidFill>
              </a:rPr>
              <a:t>Chiffres illustratifs.</a:t>
            </a:r>
            <a:endParaRPr lang="en-US" sz="1000" dirty="0"/>
          </a:p>
        </p:txBody>
      </p:sp>
      <p:sp>
        <p:nvSpPr>
          <p:cNvPr id="25" name="Slide Number Placeholder 0"/>
          <p:cNvSpPr>
            <a:spLocks noGrp="1"/>
          </p:cNvSpPr>
          <p:nvPr>
            <p:ph type="sldNum" sz="quarter" idx="4294967295"/>
          </p:nvPr>
        </p:nvSpPr>
        <p:spPr>
          <a:xfrm>
            <a:off x="11064240" y="6400800"/>
            <a:ext cx="54864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C82"/>
                </a:solidFill>
                <a:latin typeface="Poppins"/>
                <a:ea typeface="Poppins"/>
                <a:cs typeface="Poppins"/>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566928"/>
            <a:ext cx="11064240" cy="777240"/>
          </a:xfrm>
          <a:prstGeom prst="rect">
            <a:avLst/>
          </a:prstGeom>
          <a:noFill/>
          <a:ln/>
        </p:spPr>
        <p:txBody>
          <a:bodyPr wrap="square" lIns="0" tIns="0" rIns="0" bIns="0" rtlCol="0" anchor="ctr"/>
          <a:lstStyle/>
          <a:p>
            <a:pPr marL="0" indent="0" algn="l">
              <a:buNone/>
            </a:pPr>
            <a:r>
              <a:rPr lang="en-US" sz="2700" b="1" dirty="0">
                <a:solidFill>
                  <a:schemeClr val="tx2"/>
                </a:solidFill>
                <a:latin typeface="Poppins" pitchFamily="34" charset="0"/>
                <a:ea typeface="Poppins" pitchFamily="34" charset="-122"/>
                <a:cs typeface="Poppins" pitchFamily="34" charset="-120"/>
              </a:rPr>
              <a:t>Pourquoi elle invente avec assurance</a:t>
            </a:r>
            <a:endParaRPr lang="en-US" sz="2700" dirty="0"/>
          </a:p>
        </p:txBody>
      </p:sp>
      <p:sp>
        <p:nvSpPr>
          <p:cNvPr id="3" name="Text 0"/>
          <p:cNvSpPr>
            <a:spLocks noGrp="1"/>
          </p:cNvSpPr>
          <p:nvPr>
            <p:ph type="body" idx="101" hasCustomPrompt="1"/>
          </p:nvPr>
        </p:nvSpPr>
        <p:spPr>
          <a:xfrm>
            <a:off x="548640" y="256032"/>
            <a:ext cx="8229600" cy="292608"/>
          </a:xfrm>
          <a:prstGeom prst="rect">
            <a:avLst/>
          </a:prstGeom>
          <a:noFill/>
          <a:ln/>
        </p:spPr>
        <p:txBody>
          <a:bodyPr wrap="square" lIns="0" tIns="0" rIns="0" bIns="0" rtlCol="0" anchor="ctr"/>
          <a:lstStyle/>
          <a:p>
            <a:pPr marL="0" indent="0">
              <a:buNone/>
            </a:pPr>
            <a:r>
              <a:rPr lang="en-US" sz="1100" b="1" dirty="0">
                <a:solidFill>
                  <a:schemeClr val="accent1"/>
                </a:solidFill>
                <a:latin typeface="Poppins" pitchFamily="34" charset="0"/>
                <a:ea typeface="Poppins" pitchFamily="34" charset="-122"/>
                <a:cs typeface="Poppins" pitchFamily="34" charset="-120"/>
              </a:rPr>
              <a:t>T1 · COMMENT PENSE UNE IA</a:t>
            </a:r>
            <a:endParaRPr lang="en-US" sz="1100" dirty="0"/>
          </a:p>
        </p:txBody>
      </p:sp>
      <p:sp>
        <p:nvSpPr>
          <p:cNvPr id="4" name="card-203"/>
          <p:cNvSpPr/>
          <p:nvPr/>
        </p:nvSpPr>
        <p:spPr>
          <a:xfrm>
            <a:off x="548640" y="1554480"/>
            <a:ext cx="5852160" cy="3017520"/>
          </a:xfrm>
          <a:prstGeom prst="roundRect">
            <a:avLst>
              <a:gd name="adj" fmla="val 2424"/>
            </a:avLst>
          </a:prstGeom>
          <a:solidFill>
            <a:schemeClr val="bg2"/>
          </a:solidFill>
          <a:ln w="6350">
            <a:solidFill>
              <a:schemeClr val="bg2"/>
            </a:solidFill>
            <a:prstDash val="solid"/>
          </a:ln>
        </p:spPr>
      </p:sp>
      <p:sp>
        <p:nvSpPr>
          <p:cNvPr id="5" name="txt-204"/>
          <p:cNvSpPr txBox="1"/>
          <p:nvPr/>
        </p:nvSpPr>
        <p:spPr>
          <a:xfrm>
            <a:off x="822960" y="1719072"/>
            <a:ext cx="5303520" cy="320040"/>
          </a:xfrm>
          <a:prstGeom prst="rect">
            <a:avLst/>
          </a:prstGeom>
          <a:noFill/>
          <a:ln/>
        </p:spPr>
        <p:txBody>
          <a:bodyPr wrap="square" lIns="0" tIns="0" rIns="0" bIns="0" rtlCol="0" anchor="t"/>
          <a:lstStyle/>
          <a:p>
            <a:pPr marL="0" indent="0">
              <a:buNone/>
            </a:pPr>
            <a:r>
              <a:rPr lang="en-US" sz="1200" b="1" dirty="0">
                <a:solidFill>
                  <a:schemeClr val="accent5"/>
                </a:solidFill>
              </a:rPr>
              <a:t>Réponse obtenue</a:t>
            </a:r>
            <a:endParaRPr lang="en-US" sz="1200" dirty="0"/>
          </a:p>
        </p:txBody>
      </p:sp>
      <p:sp>
        <p:nvSpPr>
          <p:cNvPr id="6" name="txt-205"/>
          <p:cNvSpPr txBox="1"/>
          <p:nvPr/>
        </p:nvSpPr>
        <p:spPr>
          <a:xfrm>
            <a:off x="822960" y="2103120"/>
            <a:ext cx="5303520" cy="1463040"/>
          </a:xfrm>
          <a:prstGeom prst="rect">
            <a:avLst/>
          </a:prstGeom>
          <a:noFill/>
          <a:ln/>
        </p:spPr>
        <p:txBody>
          <a:bodyPr wrap="square" lIns="0" tIns="0" rIns="0" bIns="0" rtlCol="0" anchor="t"/>
          <a:lstStyle/>
          <a:p>
            <a:pPr marL="0" indent="0">
              <a:buNone/>
            </a:pPr>
            <a:r>
              <a:rPr lang="en-US" sz="1600" i="1" dirty="0">
                <a:solidFill>
                  <a:schemeClr val="tx2"/>
                </a:solidFill>
              </a:rPr>
              <a:t>Kodjo, A. &amp; Mensah, E. (2019). L'impact du numérique sur la scolarisation des filles au Nord-Togo. Revue africaine de sociologie, 12(3), 45-67.</a:t>
            </a:r>
            <a:endParaRPr lang="en-US" sz="1600" dirty="0"/>
          </a:p>
        </p:txBody>
      </p:sp>
      <p:sp>
        <p:nvSpPr>
          <p:cNvPr id="7" name="card-206"/>
          <p:cNvSpPr/>
          <p:nvPr/>
        </p:nvSpPr>
        <p:spPr>
          <a:xfrm>
            <a:off x="822960" y="3749040"/>
            <a:ext cx="3291840" cy="548640"/>
          </a:xfrm>
          <a:prstGeom prst="roundRect">
            <a:avLst>
              <a:gd name="adj" fmla="val 13333"/>
            </a:avLst>
          </a:prstGeom>
          <a:solidFill>
            <a:schemeClr val="accent3"/>
          </a:solidFill>
          <a:ln w="6350">
            <a:solidFill>
              <a:schemeClr val="accent3"/>
            </a:solidFill>
            <a:prstDash val="solid"/>
          </a:ln>
        </p:spPr>
      </p:sp>
      <p:sp>
        <p:nvSpPr>
          <p:cNvPr id="8" name="txt-207"/>
          <p:cNvSpPr txBox="1"/>
          <p:nvPr/>
        </p:nvSpPr>
        <p:spPr>
          <a:xfrm>
            <a:off x="822960" y="3749040"/>
            <a:ext cx="3291840" cy="548640"/>
          </a:xfrm>
          <a:prstGeom prst="rect">
            <a:avLst/>
          </a:prstGeom>
          <a:noFill/>
          <a:ln/>
        </p:spPr>
        <p:txBody>
          <a:bodyPr wrap="square" lIns="0" tIns="0" rIns="0" bIns="0" rtlCol="0" anchor="ctr"/>
          <a:lstStyle/>
          <a:p>
            <a:pPr marL="0" indent="0" algn="ctr">
              <a:buNone/>
            </a:pPr>
            <a:r>
              <a:rPr lang="en-US" sz="1400" b="1" dirty="0">
                <a:solidFill>
                  <a:schemeClr val="bg1"/>
                </a:solidFill>
              </a:rPr>
              <a:t>Plausible… mais inventée</a:t>
            </a:r>
            <a:endParaRPr lang="en-US" sz="1400" dirty="0"/>
          </a:p>
        </p:txBody>
      </p:sp>
      <p:sp>
        <p:nvSpPr>
          <p:cNvPr id="9" name="circle-208"/>
          <p:cNvSpPr/>
          <p:nvPr/>
        </p:nvSpPr>
        <p:spPr>
          <a:xfrm>
            <a:off x="6766560" y="1554480"/>
            <a:ext cx="640080" cy="640080"/>
          </a:xfrm>
          <a:prstGeom prst="ellipse">
            <a:avLst/>
          </a:prstGeom>
          <a:solidFill>
            <a:schemeClr val="accent3"/>
          </a:solidFill>
          <a:ln w="12700">
            <a:solidFill>
              <a:schemeClr val="accent3"/>
            </a:solidFill>
            <a:prstDash val="solid"/>
          </a:ln>
        </p:spPr>
      </p:sp>
      <p:pic>
        <p:nvPicPr>
          <p:cNvPr id="10" name="icon-209" descr="preencoded.png"/>
          <p:cNvPicPr>
            <a:picLocks noChangeAspect="1"/>
          </p:cNvPicPr>
          <p:nvPr/>
        </p:nvPicPr>
        <p:blipFill>
          <a:blip r:embed="rId3"/>
          <a:stretch>
            <a:fillRect/>
          </a:stretch>
        </p:blipFill>
        <p:spPr>
          <a:xfrm>
            <a:off x="6926580" y="1714500"/>
            <a:ext cx="320040" cy="320040"/>
          </a:xfrm>
          <a:prstGeom prst="rect">
            <a:avLst/>
          </a:prstGeom>
        </p:spPr>
      </p:pic>
      <p:sp>
        <p:nvSpPr>
          <p:cNvPr id="11" name="txt-210"/>
          <p:cNvSpPr txBox="1"/>
          <p:nvPr/>
        </p:nvSpPr>
        <p:spPr>
          <a:xfrm>
            <a:off x="7589520" y="1508760"/>
            <a:ext cx="4023360" cy="896112"/>
          </a:xfrm>
          <a:prstGeom prst="rect">
            <a:avLst/>
          </a:prstGeom>
          <a:noFill/>
          <a:ln/>
        </p:spPr>
        <p:txBody>
          <a:bodyPr wrap="square" lIns="0" tIns="0" rIns="0" bIns="0" rtlCol="0" anchor="t"/>
          <a:lstStyle/>
          <a:p>
            <a:pPr marL="0" indent="0">
              <a:buNone/>
            </a:pPr>
            <a:r>
              <a:rPr lang="en-US" sz="1400" b="1" dirty="0">
                <a:solidFill>
                  <a:schemeClr val="tx2"/>
                </a:solidFill>
              </a:rPr>
              <a:t>Plausible ≠ vrai</a:t>
            </a:r>
            <a:endParaRPr lang="en-US" sz="1400" dirty="0"/>
          </a:p>
          <a:p>
            <a:pPr marL="0" indent="0">
              <a:buNone/>
            </a:pPr>
            <a:r>
              <a:rPr lang="en-US" sz="1400" dirty="0">
                <a:solidFill>
                  <a:schemeClr val="tx1"/>
                </a:solidFill>
              </a:rPr>
              <a:t>Le style est parfait, la source n'existe pas</a:t>
            </a:r>
            <a:endParaRPr lang="en-US" sz="1400" dirty="0"/>
          </a:p>
        </p:txBody>
      </p:sp>
      <p:sp>
        <p:nvSpPr>
          <p:cNvPr id="12" name="circle-211"/>
          <p:cNvSpPr/>
          <p:nvPr/>
        </p:nvSpPr>
        <p:spPr>
          <a:xfrm>
            <a:off x="6766560" y="2578608"/>
            <a:ext cx="640080" cy="640080"/>
          </a:xfrm>
          <a:prstGeom prst="ellipse">
            <a:avLst/>
          </a:prstGeom>
          <a:solidFill>
            <a:schemeClr val="accent3"/>
          </a:solidFill>
          <a:ln w="12700">
            <a:solidFill>
              <a:schemeClr val="accent3"/>
            </a:solidFill>
            <a:prstDash val="solid"/>
          </a:ln>
        </p:spPr>
      </p:sp>
      <p:pic>
        <p:nvPicPr>
          <p:cNvPr id="13" name="icon-212" descr="preencoded.png"/>
          <p:cNvPicPr>
            <a:picLocks noChangeAspect="1"/>
          </p:cNvPicPr>
          <p:nvPr/>
        </p:nvPicPr>
        <p:blipFill>
          <a:blip r:embed="rId4"/>
          <a:stretch>
            <a:fillRect/>
          </a:stretch>
        </p:blipFill>
        <p:spPr>
          <a:xfrm>
            <a:off x="6926580" y="2738628"/>
            <a:ext cx="320040" cy="320040"/>
          </a:xfrm>
          <a:prstGeom prst="rect">
            <a:avLst/>
          </a:prstGeom>
        </p:spPr>
      </p:pic>
      <p:sp>
        <p:nvSpPr>
          <p:cNvPr id="14" name="txt-213"/>
          <p:cNvSpPr txBox="1"/>
          <p:nvPr/>
        </p:nvSpPr>
        <p:spPr>
          <a:xfrm>
            <a:off x="7589520" y="2532888"/>
            <a:ext cx="4023360" cy="896112"/>
          </a:xfrm>
          <a:prstGeom prst="rect">
            <a:avLst/>
          </a:prstGeom>
          <a:noFill/>
          <a:ln/>
        </p:spPr>
        <p:txBody>
          <a:bodyPr wrap="square" lIns="0" tIns="0" rIns="0" bIns="0" rtlCol="0" anchor="t"/>
          <a:lstStyle/>
          <a:p>
            <a:pPr marL="0" indent="0">
              <a:buNone/>
            </a:pPr>
            <a:r>
              <a:rPr lang="en-US" sz="1400" b="1" dirty="0">
                <a:solidFill>
                  <a:schemeClr val="tx2"/>
                </a:solidFill>
              </a:rPr>
              <a:t>Rarement « je ne sais pas »</a:t>
            </a:r>
            <a:endParaRPr lang="en-US" sz="1400" dirty="0"/>
          </a:p>
          <a:p>
            <a:pPr marL="0" indent="0">
              <a:buNone/>
            </a:pPr>
            <a:r>
              <a:rPr lang="en-US" sz="1400" dirty="0">
                <a:solidFill>
                  <a:schemeClr val="tx1"/>
                </a:solidFill>
              </a:rPr>
              <a:t>Par défaut, elle préfère répondre que se taire</a:t>
            </a:r>
            <a:endParaRPr lang="en-US" sz="1400" dirty="0"/>
          </a:p>
        </p:txBody>
      </p:sp>
      <p:sp>
        <p:nvSpPr>
          <p:cNvPr id="15" name="circle-214"/>
          <p:cNvSpPr/>
          <p:nvPr/>
        </p:nvSpPr>
        <p:spPr>
          <a:xfrm>
            <a:off x="6766560" y="3602736"/>
            <a:ext cx="640080" cy="640080"/>
          </a:xfrm>
          <a:prstGeom prst="ellipse">
            <a:avLst/>
          </a:prstGeom>
          <a:solidFill>
            <a:schemeClr val="accent3"/>
          </a:solidFill>
          <a:ln w="12700">
            <a:solidFill>
              <a:schemeClr val="accent3"/>
            </a:solidFill>
            <a:prstDash val="solid"/>
          </a:ln>
        </p:spPr>
      </p:sp>
      <p:pic>
        <p:nvPicPr>
          <p:cNvPr id="16" name="icon-215" descr="preencoded.png"/>
          <p:cNvPicPr>
            <a:picLocks noChangeAspect="1"/>
          </p:cNvPicPr>
          <p:nvPr/>
        </p:nvPicPr>
        <p:blipFill>
          <a:blip r:embed="rId5"/>
          <a:stretch>
            <a:fillRect/>
          </a:stretch>
        </p:blipFill>
        <p:spPr>
          <a:xfrm>
            <a:off x="6926580" y="3762756"/>
            <a:ext cx="320040" cy="320040"/>
          </a:xfrm>
          <a:prstGeom prst="rect">
            <a:avLst/>
          </a:prstGeom>
        </p:spPr>
      </p:pic>
      <p:sp>
        <p:nvSpPr>
          <p:cNvPr id="17" name="txt-216"/>
          <p:cNvSpPr txBox="1"/>
          <p:nvPr/>
        </p:nvSpPr>
        <p:spPr>
          <a:xfrm>
            <a:off x="7589520" y="3557016"/>
            <a:ext cx="4023360" cy="896112"/>
          </a:xfrm>
          <a:prstGeom prst="rect">
            <a:avLst/>
          </a:prstGeom>
          <a:noFill/>
          <a:ln/>
        </p:spPr>
        <p:txBody>
          <a:bodyPr wrap="square" lIns="0" tIns="0" rIns="0" bIns="0" rtlCol="0" anchor="t"/>
          <a:lstStyle/>
          <a:p>
            <a:pPr marL="0" indent="0">
              <a:buNone/>
            </a:pPr>
            <a:r>
              <a:rPr lang="en-US" sz="1400" b="1" dirty="0">
                <a:solidFill>
                  <a:schemeClr val="tx2"/>
                </a:solidFill>
              </a:rPr>
              <a:t>Zones à risque</a:t>
            </a:r>
            <a:endParaRPr lang="en-US" sz="1400" dirty="0"/>
          </a:p>
          <a:p>
            <a:pPr marL="0" indent="0">
              <a:buNone/>
            </a:pPr>
            <a:r>
              <a:rPr lang="en-US" sz="1400" dirty="0">
                <a:solidFill>
                  <a:schemeClr val="tx1"/>
                </a:solidFill>
              </a:rPr>
              <a:t>Références, chiffres, citations, dates, noms propres</a:t>
            </a:r>
            <a:endParaRPr lang="en-US" sz="1400" dirty="0"/>
          </a:p>
        </p:txBody>
      </p:sp>
      <p:sp>
        <p:nvSpPr>
          <p:cNvPr id="18" name="card-217"/>
          <p:cNvSpPr/>
          <p:nvPr/>
        </p:nvSpPr>
        <p:spPr>
          <a:xfrm>
            <a:off x="548640" y="4892040"/>
            <a:ext cx="11064240" cy="1005840"/>
          </a:xfrm>
          <a:prstGeom prst="roundRect">
            <a:avLst>
              <a:gd name="adj" fmla="val 7273"/>
            </a:avLst>
          </a:prstGeom>
          <a:solidFill>
            <a:schemeClr val="tx2"/>
          </a:solidFill>
          <a:ln w="6350">
            <a:solidFill>
              <a:schemeClr val="tx2"/>
            </a:solidFill>
            <a:prstDash val="solid"/>
          </a:ln>
        </p:spPr>
      </p:sp>
      <p:sp>
        <p:nvSpPr>
          <p:cNvPr id="19" name="txt-218"/>
          <p:cNvSpPr txBox="1"/>
          <p:nvPr/>
        </p:nvSpPr>
        <p:spPr>
          <a:xfrm>
            <a:off x="822960" y="4892040"/>
            <a:ext cx="10515600" cy="1005840"/>
          </a:xfrm>
          <a:prstGeom prst="rect">
            <a:avLst/>
          </a:prstGeom>
          <a:noFill/>
          <a:ln/>
        </p:spPr>
        <p:txBody>
          <a:bodyPr wrap="square" lIns="0" tIns="0" rIns="0" bIns="0" rtlCol="0" anchor="ctr"/>
          <a:lstStyle/>
          <a:p>
            <a:pPr marL="0" indent="0">
              <a:buNone/>
            </a:pPr>
            <a:r>
              <a:rPr lang="en-US" sz="1600" b="1" dirty="0">
                <a:solidFill>
                  <a:schemeClr val="bg1"/>
                </a:solidFill>
              </a:rPr>
              <a:t>Règle : toute référence produite par une IA se vérifie dans Google Scholar, Semantic Scholar ou sur le site de la revue.</a:t>
            </a:r>
            <a:endParaRPr lang="en-US" sz="1600" dirty="0"/>
          </a:p>
        </p:txBody>
      </p:sp>
      <p:sp>
        <p:nvSpPr>
          <p:cNvPr id="25" name="Slide Number Placeholder 0"/>
          <p:cNvSpPr>
            <a:spLocks noGrp="1"/>
          </p:cNvSpPr>
          <p:nvPr>
            <p:ph type="sldNum" sz="quarter" idx="4294967295"/>
          </p:nvPr>
        </p:nvSpPr>
        <p:spPr>
          <a:xfrm>
            <a:off x="11064240" y="6400800"/>
            <a:ext cx="54864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C82"/>
                </a:solidFill>
                <a:latin typeface="Poppins"/>
                <a:ea typeface="Poppins"/>
                <a:cs typeface="Poppins"/>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566928"/>
            <a:ext cx="11064240" cy="777240"/>
          </a:xfrm>
          <a:prstGeom prst="rect">
            <a:avLst/>
          </a:prstGeom>
          <a:noFill/>
          <a:ln/>
        </p:spPr>
        <p:txBody>
          <a:bodyPr wrap="square" lIns="0" tIns="0" rIns="0" bIns="0" rtlCol="0" anchor="ctr"/>
          <a:lstStyle/>
          <a:p>
            <a:pPr marL="0" indent="0" algn="l">
              <a:buNone/>
            </a:pPr>
            <a:r>
              <a:rPr lang="en-US" sz="2700" b="1" dirty="0">
                <a:solidFill>
                  <a:schemeClr val="tx2"/>
                </a:solidFill>
                <a:latin typeface="Poppins" pitchFamily="34" charset="0"/>
                <a:ea typeface="Poppins" pitchFamily="34" charset="-122"/>
                <a:cs typeface="Poppins" pitchFamily="34" charset="-120"/>
              </a:rPr>
              <a:t>Cité pour un article qu'il n'a jamais écrit</a:t>
            </a:r>
            <a:endParaRPr lang="en-US" sz="2700" dirty="0"/>
          </a:p>
        </p:txBody>
      </p:sp>
      <p:sp>
        <p:nvSpPr>
          <p:cNvPr id="3" name="Text 0"/>
          <p:cNvSpPr>
            <a:spLocks noGrp="1"/>
          </p:cNvSpPr>
          <p:nvPr>
            <p:ph type="body" idx="101" hasCustomPrompt="1"/>
          </p:nvPr>
        </p:nvSpPr>
        <p:spPr>
          <a:xfrm>
            <a:off x="548640" y="256032"/>
            <a:ext cx="8229600" cy="292608"/>
          </a:xfrm>
          <a:prstGeom prst="rect">
            <a:avLst/>
          </a:prstGeom>
          <a:noFill/>
          <a:ln/>
        </p:spPr>
        <p:txBody>
          <a:bodyPr wrap="square" lIns="0" tIns="0" rIns="0" bIns="0" rtlCol="0" anchor="ctr"/>
          <a:lstStyle/>
          <a:p>
            <a:pPr marL="0" indent="0">
              <a:buNone/>
            </a:pPr>
            <a:r>
              <a:rPr lang="en-US" sz="1100" b="1" dirty="0">
                <a:solidFill>
                  <a:schemeClr val="accent1"/>
                </a:solidFill>
                <a:latin typeface="Poppins" pitchFamily="34" charset="0"/>
                <a:ea typeface="Poppins" pitchFamily="34" charset="-122"/>
                <a:cs typeface="Poppins" pitchFamily="34" charset="-120"/>
              </a:rPr>
              <a:t>T1 · CAS RÉEL</a:t>
            </a:r>
            <a:endParaRPr lang="en-US" sz="1100" dirty="0"/>
          </a:p>
        </p:txBody>
      </p:sp>
      <p:sp>
        <p:nvSpPr>
          <p:cNvPr id="4" name="card-219"/>
          <p:cNvSpPr/>
          <p:nvPr/>
        </p:nvSpPr>
        <p:spPr>
          <a:xfrm>
            <a:off x="548640" y="1463040"/>
            <a:ext cx="11064240" cy="1371600"/>
          </a:xfrm>
          <a:prstGeom prst="roundRect">
            <a:avLst>
              <a:gd name="adj" fmla="val 5333"/>
            </a:avLst>
          </a:prstGeom>
          <a:solidFill>
            <a:schemeClr val="bg2"/>
          </a:solidFill>
          <a:ln w="6350">
            <a:solidFill>
              <a:schemeClr val="bg2"/>
            </a:solidFill>
            <a:prstDash val="solid"/>
          </a:ln>
        </p:spPr>
      </p:sp>
      <p:sp>
        <p:nvSpPr>
          <p:cNvPr id="5" name="txt-220"/>
          <p:cNvSpPr txBox="1"/>
          <p:nvPr/>
        </p:nvSpPr>
        <p:spPr>
          <a:xfrm>
            <a:off x="777240" y="1554480"/>
            <a:ext cx="10607040" cy="292608"/>
          </a:xfrm>
          <a:prstGeom prst="rect">
            <a:avLst/>
          </a:prstGeom>
          <a:noFill/>
          <a:ln/>
        </p:spPr>
        <p:txBody>
          <a:bodyPr wrap="square" lIns="0" tIns="0" rIns="0" bIns="0" rtlCol="0" anchor="t"/>
          <a:lstStyle/>
          <a:p>
            <a:pPr marL="0" indent="0">
              <a:buNone/>
            </a:pPr>
            <a:r>
              <a:rPr lang="en-US" sz="1200" b="1" dirty="0">
                <a:solidFill>
                  <a:schemeClr val="accent5"/>
                </a:solidFill>
              </a:rPr>
              <a:t>Référence [9] d'un manuscrit de mathématiques soumis à une revue internationale (2025)</a:t>
            </a:r>
            <a:endParaRPr lang="en-US" sz="1200" dirty="0"/>
          </a:p>
        </p:txBody>
      </p:sp>
      <p:pic>
        <p:nvPicPr>
          <p:cNvPr id="6" name="img-221" descr="C:\Users\dkegdigo\AppData\Local\Temp\claude\C--Users-dkegdigo-Documents-FORMATION-ENSEIGNANT-CHERCHEUR\9ad8ff36-eb1e-48a4-995d-a91c73f486f9\scratchpad\deck\ref9_tiebekabe.png"/>
          <p:cNvPicPr>
            <a:picLocks noChangeAspect="1"/>
          </p:cNvPicPr>
          <p:nvPr/>
        </p:nvPicPr>
        <p:blipFill>
          <a:blip r:embed="rId3"/>
          <a:stretch>
            <a:fillRect/>
          </a:stretch>
        </p:blipFill>
        <p:spPr>
          <a:xfrm>
            <a:off x="777240" y="1874520"/>
            <a:ext cx="10607040" cy="887882"/>
          </a:xfrm>
          <a:prstGeom prst="rect">
            <a:avLst/>
          </a:prstGeom>
        </p:spPr>
      </p:pic>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3017520"/>
          <a:ext cx="11064240" cy="914400"/>
        </p:xfrm>
        <a:graphic>
          <a:graphicData uri="http://schemas.openxmlformats.org/drawingml/2006/table">
            <a:tbl>
              <a:tblPr/>
              <a:tblGrid>
                <a:gridCol w="155448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5852160">
                  <a:extLst>
                    <a:ext uri="{9D8B030D-6E8A-4147-A177-3AD203B41FA5}">
                      <a16:colId xmlns:a16="http://schemas.microsoft.com/office/drawing/2014/main" val="20002"/>
                    </a:ext>
                  </a:extLst>
                </a:gridCol>
              </a:tblGrid>
              <a:tr h="329184">
                <a:tc>
                  <a:txBody>
                    <a:bodyPr/>
                    <a:lstStyle/>
                    <a:p>
                      <a:pPr marL="0" indent="0">
                        <a:buNone/>
                      </a:pPr>
                      <a:endParaRPr lang="en-US" sz="1300" dirty="0">
                        <a:latin typeface="Poppins" charset="0"/>
                        <a:ea typeface="Poppins" charset="0"/>
                        <a:cs typeface="Poppins" charset="0"/>
                      </a:endParaRPr>
                    </a:p>
                  </a:txBody>
                  <a:tcPr anchor="ctr">
                    <a:lnL w="9525" cap="flat" cmpd="sng" algn="ctr">
                      <a:solidFill>
                        <a:srgbClr val="B9C9CC"/>
                      </a:solidFill>
                      <a:prstDash val="solid"/>
                      <a:round/>
                      <a:headEnd type="none" w="med" len="med"/>
                      <a:tailEnd type="none" w="med" len="med"/>
                    </a:lnL>
                    <a:lnR w="9525" cap="flat" cmpd="sng" algn="ctr">
                      <a:solidFill>
                        <a:srgbClr val="B9C9CC"/>
                      </a:solidFill>
                      <a:prstDash val="solid"/>
                      <a:round/>
                      <a:headEnd type="none" w="med" len="med"/>
                      <a:tailEnd type="none" w="med" len="med"/>
                    </a:lnR>
                    <a:lnT w="9525" cap="flat" cmpd="sng" algn="ctr">
                      <a:solidFill>
                        <a:srgbClr val="B9C9CC"/>
                      </a:solidFill>
                      <a:prstDash val="solid"/>
                      <a:round/>
                      <a:headEnd type="none" w="med" len="med"/>
                      <a:tailEnd type="none" w="med" len="med"/>
                    </a:lnT>
                    <a:lnB w="9525" cap="flat" cmpd="sng" algn="ctr">
                      <a:solidFill>
                        <a:srgbClr val="B9C9CC"/>
                      </a:solidFill>
                      <a:prstDash val="solid"/>
                      <a:round/>
                      <a:headEnd type="none" w="med" len="med"/>
                      <a:tailEnd type="none" w="med" len="med"/>
                    </a:lnB>
                    <a:solidFill>
                      <a:schemeClr val="tx2"/>
                    </a:solidFill>
                  </a:tcPr>
                </a:tc>
                <a:tc>
                  <a:txBody>
                    <a:bodyPr/>
                    <a:lstStyle/>
                    <a:p>
                      <a:pPr marL="0" indent="0">
                        <a:buNone/>
                      </a:pPr>
                      <a:r>
                        <a:rPr lang="en-US" sz="1300" b="1" dirty="0">
                          <a:solidFill>
                            <a:schemeClr val="bg1"/>
                          </a:solidFill>
                          <a:latin typeface="Poppins" pitchFamily="34" charset="0"/>
                          <a:ea typeface="Poppins" pitchFamily="34" charset="-122"/>
                          <a:cs typeface="Poppins" pitchFamily="34" charset="-120"/>
                        </a:rPr>
                        <a:t>Ce que dit la référence</a:t>
                      </a:r>
                      <a:endParaRPr lang="en-US" sz="1300" dirty="0">
                        <a:latin typeface="Poppins" charset="0"/>
                        <a:ea typeface="Poppins" charset="0"/>
                        <a:cs typeface="Poppins" charset="0"/>
                      </a:endParaRPr>
                    </a:p>
                  </a:txBody>
                  <a:tcPr anchor="ctr">
                    <a:lnL w="9525" cap="flat" cmpd="sng" algn="ctr">
                      <a:solidFill>
                        <a:srgbClr val="B9C9CC"/>
                      </a:solidFill>
                      <a:prstDash val="solid"/>
                      <a:round/>
                      <a:headEnd type="none" w="med" len="med"/>
                      <a:tailEnd type="none" w="med" len="med"/>
                    </a:lnL>
                    <a:lnR w="9525" cap="flat" cmpd="sng" algn="ctr">
                      <a:solidFill>
                        <a:srgbClr val="B9C9CC"/>
                      </a:solidFill>
                      <a:prstDash val="solid"/>
                      <a:round/>
                      <a:headEnd type="none" w="med" len="med"/>
                      <a:tailEnd type="none" w="med" len="med"/>
                    </a:lnR>
                    <a:lnT w="9525" cap="flat" cmpd="sng" algn="ctr">
                      <a:solidFill>
                        <a:srgbClr val="B9C9CC"/>
                      </a:solidFill>
                      <a:prstDash val="solid"/>
                      <a:round/>
                      <a:headEnd type="none" w="med" len="med"/>
                      <a:tailEnd type="none" w="med" len="med"/>
                    </a:lnT>
                    <a:lnB w="9525" cap="flat" cmpd="sng" algn="ctr">
                      <a:solidFill>
                        <a:srgbClr val="B9C9CC"/>
                      </a:solidFill>
                      <a:prstDash val="solid"/>
                      <a:round/>
                      <a:headEnd type="none" w="med" len="med"/>
                      <a:tailEnd type="none" w="med" len="med"/>
                    </a:lnB>
                    <a:solidFill>
                      <a:schemeClr val="accent3"/>
                    </a:solidFill>
                  </a:tcPr>
                </a:tc>
                <a:tc>
                  <a:txBody>
                    <a:bodyPr/>
                    <a:lstStyle/>
                    <a:p>
                      <a:pPr marL="0" indent="0">
                        <a:buNone/>
                      </a:pPr>
                      <a:r>
                        <a:rPr lang="en-US" sz="1300" b="1" dirty="0">
                          <a:solidFill>
                            <a:schemeClr val="bg1"/>
                          </a:solidFill>
                          <a:latin typeface="Poppins" pitchFamily="34" charset="0"/>
                          <a:ea typeface="Poppins" pitchFamily="34" charset="-122"/>
                          <a:cs typeface="Poppins" pitchFamily="34" charset="-120"/>
                        </a:rPr>
                        <a:t>Ce que montre la vérification (Crossref)</a:t>
                      </a:r>
                      <a:endParaRPr lang="en-US" sz="1300" dirty="0">
                        <a:latin typeface="Poppins" charset="0"/>
                        <a:ea typeface="Poppins" charset="0"/>
                        <a:cs typeface="Poppins" charset="0"/>
                      </a:endParaRPr>
                    </a:p>
                  </a:txBody>
                  <a:tcPr anchor="ctr">
                    <a:lnL w="9525" cap="flat" cmpd="sng" algn="ctr">
                      <a:solidFill>
                        <a:srgbClr val="B9C9CC"/>
                      </a:solidFill>
                      <a:prstDash val="solid"/>
                      <a:round/>
                      <a:headEnd type="none" w="med" len="med"/>
                      <a:tailEnd type="none" w="med" len="med"/>
                    </a:lnL>
                    <a:lnR w="9525" cap="flat" cmpd="sng" algn="ctr">
                      <a:solidFill>
                        <a:srgbClr val="B9C9CC"/>
                      </a:solidFill>
                      <a:prstDash val="solid"/>
                      <a:round/>
                      <a:headEnd type="none" w="med" len="med"/>
                      <a:tailEnd type="none" w="med" len="med"/>
                    </a:lnR>
                    <a:lnT w="9525" cap="flat" cmpd="sng" algn="ctr">
                      <a:solidFill>
                        <a:srgbClr val="B9C9CC"/>
                      </a:solidFill>
                      <a:prstDash val="solid"/>
                      <a:round/>
                      <a:headEnd type="none" w="med" len="med"/>
                      <a:tailEnd type="none" w="med" len="med"/>
                    </a:lnT>
                    <a:lnB w="9525" cap="flat" cmpd="sng" algn="ctr">
                      <a:solidFill>
                        <a:srgbClr val="B9C9CC"/>
                      </a:solidFill>
                      <a:prstDash val="solid"/>
                      <a:round/>
                      <a:headEnd type="none" w="med" len="med"/>
                      <a:tailEnd type="none" w="med" len="med"/>
                    </a:lnB>
                    <a:solidFill>
                      <a:schemeClr val="accent2"/>
                    </a:solidFill>
                  </a:tcPr>
                </a:tc>
                <a:extLst>
                  <a:ext uri="{0D108BD9-81ED-4DB2-BD59-A6C34878D82A}">
                    <a16:rowId xmlns:a16="http://schemas.microsoft.com/office/drawing/2014/main" val="10000"/>
                  </a:ext>
                </a:extLst>
              </a:tr>
              <a:tr h="329184">
                <a:tc>
                  <a:txBody>
                    <a:bodyPr/>
                    <a:lstStyle/>
                    <a:p>
                      <a:pPr marL="0" indent="0">
                        <a:buNone/>
                      </a:pPr>
                      <a:r>
                        <a:rPr lang="en-US" sz="1200" b="1" dirty="0">
                          <a:solidFill>
                            <a:schemeClr val="tx1"/>
                          </a:solidFill>
                          <a:latin typeface="Poppins" pitchFamily="34" charset="0"/>
                          <a:ea typeface="Poppins" pitchFamily="34" charset="-122"/>
                          <a:cs typeface="Poppins" pitchFamily="34" charset="-120"/>
                        </a:rPr>
                        <a:t>Auteurs</a:t>
                      </a:r>
                      <a:endParaRPr lang="en-US" sz="1200" dirty="0">
                        <a:latin typeface="Poppins" charset="0"/>
                        <a:ea typeface="Poppins" charset="0"/>
                        <a:cs typeface="Poppins" charset="0"/>
                      </a:endParaRPr>
                    </a:p>
                  </a:txBody>
                  <a:tcPr anchor="ctr">
                    <a:lnL w="9525" cap="flat" cmpd="sng" algn="ctr">
                      <a:solidFill>
                        <a:srgbClr val="B9C9CC"/>
                      </a:solidFill>
                      <a:prstDash val="solid"/>
                      <a:round/>
                      <a:headEnd type="none" w="med" len="med"/>
                      <a:tailEnd type="none" w="med" len="med"/>
                    </a:lnL>
                    <a:lnR w="9525" cap="flat" cmpd="sng" algn="ctr">
                      <a:solidFill>
                        <a:srgbClr val="B9C9CC"/>
                      </a:solidFill>
                      <a:prstDash val="solid"/>
                      <a:round/>
                      <a:headEnd type="none" w="med" len="med"/>
                      <a:tailEnd type="none" w="med" len="med"/>
                    </a:lnR>
                    <a:lnT w="9525" cap="flat" cmpd="sng" algn="ctr">
                      <a:solidFill>
                        <a:srgbClr val="B9C9CC"/>
                      </a:solidFill>
                      <a:prstDash val="solid"/>
                      <a:round/>
                      <a:headEnd type="none" w="med" len="med"/>
                      <a:tailEnd type="none" w="med" len="med"/>
                    </a:lnT>
                    <a:lnB w="9525" cap="flat" cmpd="sng" algn="ctr">
                      <a:solidFill>
                        <a:srgbClr val="B9C9CC"/>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latin typeface="Poppins" pitchFamily="34" charset="0"/>
                          <a:ea typeface="Poppins" pitchFamily="34" charset="-122"/>
                          <a:cs typeface="Poppins" pitchFamily="34" charset="-120"/>
                        </a:rPr>
                        <a:t>A. Tiebekabe et M. Diouf</a:t>
                      </a:r>
                      <a:endParaRPr lang="en-US" sz="1200" dirty="0">
                        <a:latin typeface="Poppins" charset="0"/>
                        <a:ea typeface="Poppins" charset="0"/>
                        <a:cs typeface="Poppins" charset="0"/>
                      </a:endParaRPr>
                    </a:p>
                  </a:txBody>
                  <a:tcPr anchor="ctr">
                    <a:lnL w="9525" cap="flat" cmpd="sng" algn="ctr">
                      <a:solidFill>
                        <a:srgbClr val="B9C9CC"/>
                      </a:solidFill>
                      <a:prstDash val="solid"/>
                      <a:round/>
                      <a:headEnd type="none" w="med" len="med"/>
                      <a:tailEnd type="none" w="med" len="med"/>
                    </a:lnL>
                    <a:lnR w="9525" cap="flat" cmpd="sng" algn="ctr">
                      <a:solidFill>
                        <a:srgbClr val="B9C9CC"/>
                      </a:solidFill>
                      <a:prstDash val="solid"/>
                      <a:round/>
                      <a:headEnd type="none" w="med" len="med"/>
                      <a:tailEnd type="none" w="med" len="med"/>
                    </a:lnR>
                    <a:lnT w="9525" cap="flat" cmpd="sng" algn="ctr">
                      <a:solidFill>
                        <a:srgbClr val="B9C9CC"/>
                      </a:solidFill>
                      <a:prstDash val="solid"/>
                      <a:round/>
                      <a:headEnd type="none" w="med" len="med"/>
                      <a:tailEnd type="none" w="med" len="med"/>
                    </a:lnT>
                    <a:lnB w="9525" cap="flat" cmpd="sng" algn="ctr">
                      <a:solidFill>
                        <a:srgbClr val="B9C9CC"/>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latin typeface="Poppins" pitchFamily="34" charset="0"/>
                          <a:ea typeface="Poppins" pitchFamily="34" charset="-122"/>
                          <a:cs typeface="Poppins" pitchFamily="34" charset="-120"/>
                        </a:rPr>
                        <a:t>Pagdame Tiebekabe et Ismaïla Diouf : les deux initiales sont fausses</a:t>
                      </a:r>
                      <a:endParaRPr lang="en-US" sz="1200" dirty="0">
                        <a:latin typeface="Poppins" charset="0"/>
                        <a:ea typeface="Poppins" charset="0"/>
                        <a:cs typeface="Poppins" charset="0"/>
                      </a:endParaRPr>
                    </a:p>
                  </a:txBody>
                  <a:tcPr anchor="ctr">
                    <a:lnL w="9525" cap="flat" cmpd="sng" algn="ctr">
                      <a:solidFill>
                        <a:srgbClr val="B9C9CC"/>
                      </a:solidFill>
                      <a:prstDash val="solid"/>
                      <a:round/>
                      <a:headEnd type="none" w="med" len="med"/>
                      <a:tailEnd type="none" w="med" len="med"/>
                    </a:lnL>
                    <a:lnR w="9525" cap="flat" cmpd="sng" algn="ctr">
                      <a:solidFill>
                        <a:srgbClr val="B9C9CC"/>
                      </a:solidFill>
                      <a:prstDash val="solid"/>
                      <a:round/>
                      <a:headEnd type="none" w="med" len="med"/>
                      <a:tailEnd type="none" w="med" len="med"/>
                    </a:lnR>
                    <a:lnT w="9525" cap="flat" cmpd="sng" algn="ctr">
                      <a:solidFill>
                        <a:srgbClr val="B9C9CC"/>
                      </a:solidFill>
                      <a:prstDash val="solid"/>
                      <a:round/>
                      <a:headEnd type="none" w="med" len="med"/>
                      <a:tailEnd type="none" w="med" len="med"/>
                    </a:lnT>
                    <a:lnB w="9525" cap="flat" cmpd="sng" algn="ctr">
                      <a:solidFill>
                        <a:srgbClr val="B9C9CC"/>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29184">
                <a:tc>
                  <a:txBody>
                    <a:bodyPr/>
                    <a:lstStyle/>
                    <a:p>
                      <a:pPr marL="0" indent="0">
                        <a:buNone/>
                      </a:pPr>
                      <a:r>
                        <a:rPr lang="en-US" sz="1200" b="1" dirty="0">
                          <a:solidFill>
                            <a:schemeClr val="tx1"/>
                          </a:solidFill>
                          <a:latin typeface="Poppins" pitchFamily="34" charset="0"/>
                          <a:ea typeface="Poppins" pitchFamily="34" charset="-122"/>
                          <a:cs typeface="Poppins" pitchFamily="34" charset="-120"/>
                        </a:rPr>
                        <a:t>Revue</a:t>
                      </a:r>
                      <a:endParaRPr lang="en-US" sz="1200" dirty="0">
                        <a:latin typeface="Poppins" charset="0"/>
                        <a:ea typeface="Poppins" charset="0"/>
                        <a:cs typeface="Poppins" charset="0"/>
                      </a:endParaRPr>
                    </a:p>
                  </a:txBody>
                  <a:tcPr anchor="ctr">
                    <a:lnL w="9525" cap="flat" cmpd="sng" algn="ctr">
                      <a:solidFill>
                        <a:srgbClr val="B9C9CC"/>
                      </a:solidFill>
                      <a:prstDash val="solid"/>
                      <a:round/>
                      <a:headEnd type="none" w="med" len="med"/>
                      <a:tailEnd type="none" w="med" len="med"/>
                    </a:lnL>
                    <a:lnR w="9525" cap="flat" cmpd="sng" algn="ctr">
                      <a:solidFill>
                        <a:srgbClr val="B9C9CC"/>
                      </a:solidFill>
                      <a:prstDash val="solid"/>
                      <a:round/>
                      <a:headEnd type="none" w="med" len="med"/>
                      <a:tailEnd type="none" w="med" len="med"/>
                    </a:lnR>
                    <a:lnT w="9525" cap="flat" cmpd="sng" algn="ctr">
                      <a:solidFill>
                        <a:srgbClr val="B9C9CC"/>
                      </a:solidFill>
                      <a:prstDash val="solid"/>
                      <a:round/>
                      <a:headEnd type="none" w="med" len="med"/>
                      <a:tailEnd type="none" w="med" len="med"/>
                    </a:lnT>
                    <a:lnB w="9525" cap="flat" cmpd="sng" algn="ctr">
                      <a:solidFill>
                        <a:srgbClr val="B9C9CC"/>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latin typeface="Poppins" pitchFamily="34" charset="0"/>
                          <a:ea typeface="Poppins" pitchFamily="34" charset="-122"/>
                          <a:cs typeface="Poppins" pitchFamily="34" charset="-120"/>
                        </a:rPr>
                        <a:t>Comptes Rendus Math., vol. 360, 2022</a:t>
                      </a:r>
                      <a:endParaRPr lang="en-US" sz="1200" dirty="0">
                        <a:latin typeface="Poppins" charset="0"/>
                        <a:ea typeface="Poppins" charset="0"/>
                        <a:cs typeface="Poppins" charset="0"/>
                      </a:endParaRPr>
                    </a:p>
                  </a:txBody>
                  <a:tcPr anchor="ctr">
                    <a:lnL w="9525" cap="flat" cmpd="sng" algn="ctr">
                      <a:solidFill>
                        <a:srgbClr val="B9C9CC"/>
                      </a:solidFill>
                      <a:prstDash val="solid"/>
                      <a:round/>
                      <a:headEnd type="none" w="med" len="med"/>
                      <a:tailEnd type="none" w="med" len="med"/>
                    </a:lnL>
                    <a:lnR w="9525" cap="flat" cmpd="sng" algn="ctr">
                      <a:solidFill>
                        <a:srgbClr val="B9C9CC"/>
                      </a:solidFill>
                      <a:prstDash val="solid"/>
                      <a:round/>
                      <a:headEnd type="none" w="med" len="med"/>
                      <a:tailEnd type="none" w="med" len="med"/>
                    </a:lnR>
                    <a:lnT w="9525" cap="flat" cmpd="sng" algn="ctr">
                      <a:solidFill>
                        <a:srgbClr val="B9C9CC"/>
                      </a:solidFill>
                      <a:prstDash val="solid"/>
                      <a:round/>
                      <a:headEnd type="none" w="med" len="med"/>
                      <a:tailEnd type="none" w="med" len="med"/>
                    </a:lnT>
                    <a:lnB w="9525" cap="flat" cmpd="sng" algn="ctr">
                      <a:solidFill>
                        <a:srgbClr val="B9C9CC"/>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latin typeface="Poppins" pitchFamily="34" charset="0"/>
                          <a:ea typeface="Poppins" pitchFamily="34" charset="-122"/>
                          <a:cs typeface="Poppins" pitchFamily="34" charset="-120"/>
                        </a:rPr>
                        <a:t>Aucun article de ces auteurs dans cette revue</a:t>
                      </a:r>
                      <a:endParaRPr lang="en-US" sz="1200" dirty="0">
                        <a:latin typeface="Poppins" charset="0"/>
                        <a:ea typeface="Poppins" charset="0"/>
                        <a:cs typeface="Poppins" charset="0"/>
                      </a:endParaRPr>
                    </a:p>
                  </a:txBody>
                  <a:tcPr anchor="ctr">
                    <a:lnL w="9525" cap="flat" cmpd="sng" algn="ctr">
                      <a:solidFill>
                        <a:srgbClr val="B9C9CC"/>
                      </a:solidFill>
                      <a:prstDash val="solid"/>
                      <a:round/>
                      <a:headEnd type="none" w="med" len="med"/>
                      <a:tailEnd type="none" w="med" len="med"/>
                    </a:lnL>
                    <a:lnR w="9525" cap="flat" cmpd="sng" algn="ctr">
                      <a:solidFill>
                        <a:srgbClr val="B9C9CC"/>
                      </a:solidFill>
                      <a:prstDash val="solid"/>
                      <a:round/>
                      <a:headEnd type="none" w="med" len="med"/>
                      <a:tailEnd type="none" w="med" len="med"/>
                    </a:lnR>
                    <a:lnT w="9525" cap="flat" cmpd="sng" algn="ctr">
                      <a:solidFill>
                        <a:srgbClr val="B9C9CC"/>
                      </a:solidFill>
                      <a:prstDash val="solid"/>
                      <a:round/>
                      <a:headEnd type="none" w="med" len="med"/>
                      <a:tailEnd type="none" w="med" len="med"/>
                    </a:lnT>
                    <a:lnB w="9525" cap="flat" cmpd="sng" algn="ctr">
                      <a:solidFill>
                        <a:srgbClr val="B9C9CC"/>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29184">
                <a:tc>
                  <a:txBody>
                    <a:bodyPr/>
                    <a:lstStyle/>
                    <a:p>
                      <a:pPr marL="0" indent="0">
                        <a:buNone/>
                      </a:pPr>
                      <a:r>
                        <a:rPr lang="en-US" sz="1200" b="1" dirty="0">
                          <a:solidFill>
                            <a:schemeClr val="tx1"/>
                          </a:solidFill>
                          <a:latin typeface="Poppins" pitchFamily="34" charset="0"/>
                          <a:ea typeface="Poppins" pitchFamily="34" charset="-122"/>
                          <a:cs typeface="Poppins" pitchFamily="34" charset="-120"/>
                        </a:rPr>
                        <a:t>Pages</a:t>
                      </a:r>
                      <a:endParaRPr lang="en-US" sz="1200" dirty="0">
                        <a:latin typeface="Poppins" charset="0"/>
                        <a:ea typeface="Poppins" charset="0"/>
                        <a:cs typeface="Poppins" charset="0"/>
                      </a:endParaRPr>
                    </a:p>
                  </a:txBody>
                  <a:tcPr anchor="ctr">
                    <a:lnL w="9525" cap="flat" cmpd="sng" algn="ctr">
                      <a:solidFill>
                        <a:srgbClr val="B9C9CC"/>
                      </a:solidFill>
                      <a:prstDash val="solid"/>
                      <a:round/>
                      <a:headEnd type="none" w="med" len="med"/>
                      <a:tailEnd type="none" w="med" len="med"/>
                    </a:lnL>
                    <a:lnR w="9525" cap="flat" cmpd="sng" algn="ctr">
                      <a:solidFill>
                        <a:srgbClr val="B9C9CC"/>
                      </a:solidFill>
                      <a:prstDash val="solid"/>
                      <a:round/>
                      <a:headEnd type="none" w="med" len="med"/>
                      <a:tailEnd type="none" w="med" len="med"/>
                    </a:lnR>
                    <a:lnT w="9525" cap="flat" cmpd="sng" algn="ctr">
                      <a:solidFill>
                        <a:srgbClr val="B9C9CC"/>
                      </a:solidFill>
                      <a:prstDash val="solid"/>
                      <a:round/>
                      <a:headEnd type="none" w="med" len="med"/>
                      <a:tailEnd type="none" w="med" len="med"/>
                    </a:lnT>
                    <a:lnB w="9525" cap="flat" cmpd="sng" algn="ctr">
                      <a:solidFill>
                        <a:srgbClr val="B9C9CC"/>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latin typeface="Poppins" pitchFamily="34" charset="0"/>
                          <a:ea typeface="Poppins" pitchFamily="34" charset="-122"/>
                          <a:cs typeface="Poppins" pitchFamily="34" charset="-120"/>
                        </a:rPr>
                        <a:t>45–58</a:t>
                      </a:r>
                      <a:endParaRPr lang="en-US" sz="1200" dirty="0">
                        <a:latin typeface="Poppins" charset="0"/>
                        <a:ea typeface="Poppins" charset="0"/>
                        <a:cs typeface="Poppins" charset="0"/>
                      </a:endParaRPr>
                    </a:p>
                  </a:txBody>
                  <a:tcPr anchor="ctr">
                    <a:lnL w="9525" cap="flat" cmpd="sng" algn="ctr">
                      <a:solidFill>
                        <a:srgbClr val="B9C9CC"/>
                      </a:solidFill>
                      <a:prstDash val="solid"/>
                      <a:round/>
                      <a:headEnd type="none" w="med" len="med"/>
                      <a:tailEnd type="none" w="med" len="med"/>
                    </a:lnL>
                    <a:lnR w="9525" cap="flat" cmpd="sng" algn="ctr">
                      <a:solidFill>
                        <a:srgbClr val="B9C9CC"/>
                      </a:solidFill>
                      <a:prstDash val="solid"/>
                      <a:round/>
                      <a:headEnd type="none" w="med" len="med"/>
                      <a:tailEnd type="none" w="med" len="med"/>
                    </a:lnR>
                    <a:lnT w="9525" cap="flat" cmpd="sng" algn="ctr">
                      <a:solidFill>
                        <a:srgbClr val="B9C9CC"/>
                      </a:solidFill>
                      <a:prstDash val="solid"/>
                      <a:round/>
                      <a:headEnd type="none" w="med" len="med"/>
                      <a:tailEnd type="none" w="med" len="med"/>
                    </a:lnT>
                    <a:lnB w="9525" cap="flat" cmpd="sng" algn="ctr">
                      <a:solidFill>
                        <a:srgbClr val="B9C9CC"/>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latin typeface="Poppins" pitchFamily="34" charset="0"/>
                          <a:ea typeface="Poppins" pitchFamily="34" charset="-122"/>
                          <a:cs typeface="Poppins" pitchFamily="34" charset="-120"/>
                        </a:rPr>
                        <a:t>Les pages 53–57 du vol. 360 sont un autre article (Wu et Yan)</a:t>
                      </a:r>
                      <a:endParaRPr lang="en-US" sz="1200" dirty="0">
                        <a:latin typeface="Poppins" charset="0"/>
                        <a:ea typeface="Poppins" charset="0"/>
                        <a:cs typeface="Poppins" charset="0"/>
                      </a:endParaRPr>
                    </a:p>
                  </a:txBody>
                  <a:tcPr anchor="ctr">
                    <a:lnL w="9525" cap="flat" cmpd="sng" algn="ctr">
                      <a:solidFill>
                        <a:srgbClr val="B9C9CC"/>
                      </a:solidFill>
                      <a:prstDash val="solid"/>
                      <a:round/>
                      <a:headEnd type="none" w="med" len="med"/>
                      <a:tailEnd type="none" w="med" len="med"/>
                    </a:lnL>
                    <a:lnR w="9525" cap="flat" cmpd="sng" algn="ctr">
                      <a:solidFill>
                        <a:srgbClr val="B9C9CC"/>
                      </a:solidFill>
                      <a:prstDash val="solid"/>
                      <a:round/>
                      <a:headEnd type="none" w="med" len="med"/>
                      <a:tailEnd type="none" w="med" len="med"/>
                    </a:lnR>
                    <a:lnT w="9525" cap="flat" cmpd="sng" algn="ctr">
                      <a:solidFill>
                        <a:srgbClr val="B9C9CC"/>
                      </a:solidFill>
                      <a:prstDash val="solid"/>
                      <a:round/>
                      <a:headEnd type="none" w="med" len="med"/>
                      <a:tailEnd type="none" w="med" len="med"/>
                    </a:lnT>
                    <a:lnB w="9525" cap="flat" cmpd="sng" algn="ctr">
                      <a:solidFill>
                        <a:srgbClr val="B9C9CC"/>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29184">
                <a:tc>
                  <a:txBody>
                    <a:bodyPr/>
                    <a:lstStyle/>
                    <a:p>
                      <a:pPr marL="0" indent="0">
                        <a:buNone/>
                      </a:pPr>
                      <a:r>
                        <a:rPr lang="en-US" sz="1200" b="1" dirty="0">
                          <a:solidFill>
                            <a:schemeClr val="tx1"/>
                          </a:solidFill>
                          <a:latin typeface="Poppins" pitchFamily="34" charset="0"/>
                          <a:ea typeface="Poppins" pitchFamily="34" charset="-122"/>
                          <a:cs typeface="Poppins" pitchFamily="34" charset="-120"/>
                        </a:rPr>
                        <a:t>Travail réel</a:t>
                      </a:r>
                      <a:endParaRPr lang="en-US" sz="1200" dirty="0">
                        <a:latin typeface="Poppins" charset="0"/>
                        <a:ea typeface="Poppins" charset="0"/>
                        <a:cs typeface="Poppins" charset="0"/>
                      </a:endParaRPr>
                    </a:p>
                  </a:txBody>
                  <a:tcPr anchor="ctr">
                    <a:lnL w="9525" cap="flat" cmpd="sng" algn="ctr">
                      <a:solidFill>
                        <a:srgbClr val="B9C9CC"/>
                      </a:solidFill>
                      <a:prstDash val="solid"/>
                      <a:round/>
                      <a:headEnd type="none" w="med" len="med"/>
                      <a:tailEnd type="none" w="med" len="med"/>
                    </a:lnL>
                    <a:lnR w="9525" cap="flat" cmpd="sng" algn="ctr">
                      <a:solidFill>
                        <a:srgbClr val="B9C9CC"/>
                      </a:solidFill>
                      <a:prstDash val="solid"/>
                      <a:round/>
                      <a:headEnd type="none" w="med" len="med"/>
                      <a:tailEnd type="none" w="med" len="med"/>
                    </a:lnR>
                    <a:lnT w="9525" cap="flat" cmpd="sng" algn="ctr">
                      <a:solidFill>
                        <a:srgbClr val="B9C9CC"/>
                      </a:solidFill>
                      <a:prstDash val="solid"/>
                      <a:round/>
                      <a:headEnd type="none" w="med" len="med"/>
                      <a:tailEnd type="none" w="med" len="med"/>
                    </a:lnT>
                    <a:lnB w="9525" cap="flat" cmpd="sng" algn="ctr">
                      <a:solidFill>
                        <a:srgbClr val="B9C9CC"/>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latin typeface="Poppins" pitchFamily="34" charset="0"/>
                          <a:ea typeface="Poppins" pitchFamily="34" charset="-122"/>
                          <a:cs typeface="Poppins" pitchFamily="34" charset="-120"/>
                        </a:rPr>
                        <a:t>—</a:t>
                      </a:r>
                      <a:endParaRPr lang="en-US" sz="1200" dirty="0">
                        <a:latin typeface="Poppins" charset="0"/>
                        <a:ea typeface="Poppins" charset="0"/>
                        <a:cs typeface="Poppins" charset="0"/>
                      </a:endParaRPr>
                    </a:p>
                  </a:txBody>
                  <a:tcPr anchor="ctr">
                    <a:lnL w="9525" cap="flat" cmpd="sng" algn="ctr">
                      <a:solidFill>
                        <a:srgbClr val="B9C9CC"/>
                      </a:solidFill>
                      <a:prstDash val="solid"/>
                      <a:round/>
                      <a:headEnd type="none" w="med" len="med"/>
                      <a:tailEnd type="none" w="med" len="med"/>
                    </a:lnL>
                    <a:lnR w="9525" cap="flat" cmpd="sng" algn="ctr">
                      <a:solidFill>
                        <a:srgbClr val="B9C9CC"/>
                      </a:solidFill>
                      <a:prstDash val="solid"/>
                      <a:round/>
                      <a:headEnd type="none" w="med" len="med"/>
                      <a:tailEnd type="none" w="med" len="med"/>
                    </a:lnR>
                    <a:lnT w="9525" cap="flat" cmpd="sng" algn="ctr">
                      <a:solidFill>
                        <a:srgbClr val="B9C9CC"/>
                      </a:solidFill>
                      <a:prstDash val="solid"/>
                      <a:round/>
                      <a:headEnd type="none" w="med" len="med"/>
                      <a:tailEnd type="none" w="med" len="med"/>
                    </a:lnT>
                    <a:lnB w="9525" cap="flat" cmpd="sng" algn="ctr">
                      <a:solidFill>
                        <a:srgbClr val="B9C9CC"/>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latin typeface="Poppins" pitchFamily="34" charset="0"/>
                          <a:ea typeface="Poppins" pitchFamily="34" charset="-122"/>
                          <a:cs typeface="Poppins" pitchFamily="34" charset="-120"/>
                        </a:rPr>
                        <a:t>Un article proche : The Fibonacci Quarterly, 60(5), 2022</a:t>
                      </a:r>
                      <a:endParaRPr lang="en-US" sz="1200" dirty="0">
                        <a:latin typeface="Poppins" charset="0"/>
                        <a:ea typeface="Poppins" charset="0"/>
                        <a:cs typeface="Poppins" charset="0"/>
                      </a:endParaRPr>
                    </a:p>
                  </a:txBody>
                  <a:tcPr anchor="ctr">
                    <a:lnL w="9525" cap="flat" cmpd="sng" algn="ctr">
                      <a:solidFill>
                        <a:srgbClr val="B9C9CC"/>
                      </a:solidFill>
                      <a:prstDash val="solid"/>
                      <a:round/>
                      <a:headEnd type="none" w="med" len="med"/>
                      <a:tailEnd type="none" w="med" len="med"/>
                    </a:lnL>
                    <a:lnR w="9525" cap="flat" cmpd="sng" algn="ctr">
                      <a:solidFill>
                        <a:srgbClr val="B9C9CC"/>
                      </a:solidFill>
                      <a:prstDash val="solid"/>
                      <a:round/>
                      <a:headEnd type="none" w="med" len="med"/>
                      <a:tailEnd type="none" w="med" len="med"/>
                    </a:lnR>
                    <a:lnT w="9525" cap="flat" cmpd="sng" algn="ctr">
                      <a:solidFill>
                        <a:srgbClr val="B9C9CC"/>
                      </a:solidFill>
                      <a:prstDash val="solid"/>
                      <a:round/>
                      <a:headEnd type="none" w="med" len="med"/>
                      <a:tailEnd type="none" w="med" len="med"/>
                    </a:lnT>
                    <a:lnB w="9525" cap="flat" cmpd="sng" algn="ctr">
                      <a:solidFill>
                        <a:srgbClr val="B9C9CC"/>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
        <p:nvSpPr>
          <p:cNvPr id="8" name="card-222"/>
          <p:cNvSpPr/>
          <p:nvPr/>
        </p:nvSpPr>
        <p:spPr>
          <a:xfrm>
            <a:off x="548640" y="4983480"/>
            <a:ext cx="11064240" cy="868680"/>
          </a:xfrm>
          <a:prstGeom prst="roundRect">
            <a:avLst>
              <a:gd name="adj" fmla="val 8421"/>
            </a:avLst>
          </a:prstGeom>
          <a:solidFill>
            <a:schemeClr val="tx2"/>
          </a:solidFill>
          <a:ln w="6350">
            <a:solidFill>
              <a:schemeClr val="tx2"/>
            </a:solidFill>
            <a:prstDash val="solid"/>
          </a:ln>
        </p:spPr>
      </p:sp>
      <p:sp>
        <p:nvSpPr>
          <p:cNvPr id="9" name="txt-223"/>
          <p:cNvSpPr txBox="1"/>
          <p:nvPr/>
        </p:nvSpPr>
        <p:spPr>
          <a:xfrm>
            <a:off x="822960" y="4983480"/>
            <a:ext cx="10515600" cy="868680"/>
          </a:xfrm>
          <a:prstGeom prst="rect">
            <a:avLst/>
          </a:prstGeom>
          <a:noFill/>
          <a:ln/>
        </p:spPr>
        <p:txBody>
          <a:bodyPr wrap="square" lIns="0" tIns="0" rIns="0" bIns="0" rtlCol="0" anchor="ctr"/>
          <a:lstStyle/>
          <a:p>
            <a:pPr marL="0" indent="0">
              <a:buNone/>
            </a:pPr>
            <a:r>
              <a:rPr lang="en-US" sz="1400" b="1" dirty="0">
                <a:solidFill>
                  <a:schemeClr val="accent1"/>
                </a:solidFill>
              </a:rPr>
              <a:t>« Cet article n'existe pas. » </a:t>
            </a:r>
            <a:r>
              <a:rPr lang="en-US" sz="1400" dirty="0">
                <a:solidFill>
                  <a:schemeClr val="bg1"/>
                </a:solidFill>
              </a:rPr>
              <a:t>Dr Pagdame Tiebekabe, mathématicien togolais. Vrai auteur + vrai sujet + revue prestigieuse + pages inventées : la signature d'une référence générée par IA.</a:t>
            </a:r>
            <a:endParaRPr lang="en-US" sz="1400" dirty="0"/>
          </a:p>
        </p:txBody>
      </p:sp>
      <p:sp>
        <p:nvSpPr>
          <p:cNvPr id="10" name="txt-224"/>
          <p:cNvSpPr txBox="1"/>
          <p:nvPr/>
        </p:nvSpPr>
        <p:spPr>
          <a:xfrm>
            <a:off x="548640" y="6053328"/>
            <a:ext cx="11064240" cy="256032"/>
          </a:xfrm>
          <a:prstGeom prst="rect">
            <a:avLst/>
          </a:prstGeom>
          <a:noFill/>
          <a:ln/>
        </p:spPr>
        <p:txBody>
          <a:bodyPr wrap="square" lIns="0" tIns="0" rIns="0" bIns="0" rtlCol="0" anchor="t"/>
          <a:lstStyle/>
          <a:p>
            <a:pPr marL="0" indent="0">
              <a:buNone/>
            </a:pPr>
            <a:r>
              <a:rPr lang="en-US" sz="1000" i="1" dirty="0">
                <a:solidFill>
                  <a:schemeClr val="accent5"/>
                </a:solidFill>
              </a:rPr>
              <a:t>Exemple présenté avec l'accord de Dr Tiebekabe. Vérification faite dans Crossref en octobre 2026.</a:t>
            </a:r>
            <a:endParaRPr lang="en-US" sz="1000" dirty="0"/>
          </a:p>
        </p:txBody>
      </p:sp>
      <p:sp>
        <p:nvSpPr>
          <p:cNvPr id="25" name="Slide Number Placeholder 0"/>
          <p:cNvSpPr>
            <a:spLocks noGrp="1"/>
          </p:cNvSpPr>
          <p:nvPr>
            <p:ph type="sldNum" sz="quarter" idx="4294967295"/>
          </p:nvPr>
        </p:nvSpPr>
        <p:spPr>
          <a:xfrm>
            <a:off x="11064240" y="6400800"/>
            <a:ext cx="54864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C82"/>
                </a:solidFill>
                <a:latin typeface="Poppins"/>
                <a:ea typeface="Poppins"/>
                <a:cs typeface="Poppins"/>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566928"/>
            <a:ext cx="11064240" cy="777240"/>
          </a:xfrm>
          <a:prstGeom prst="rect">
            <a:avLst/>
          </a:prstGeom>
          <a:noFill/>
          <a:ln/>
        </p:spPr>
        <p:txBody>
          <a:bodyPr wrap="square" lIns="0" tIns="0" rIns="0" bIns="0" rtlCol="0" anchor="ctr"/>
          <a:lstStyle/>
          <a:p>
            <a:pPr marL="0" indent="0" algn="l">
              <a:buNone/>
            </a:pPr>
            <a:r>
              <a:rPr lang="en-US" sz="2700" b="1" dirty="0">
                <a:solidFill>
                  <a:schemeClr val="tx2"/>
                </a:solidFill>
                <a:latin typeface="Poppins" pitchFamily="34" charset="0"/>
                <a:ea typeface="Poppins" pitchFamily="34" charset="-122"/>
                <a:cs typeface="Poppins" pitchFamily="34" charset="-120"/>
              </a:rPr>
              <a:t>Sa mémoire : une page de travail, pas un disque dur</a:t>
            </a:r>
            <a:endParaRPr lang="en-US" sz="2700" dirty="0"/>
          </a:p>
        </p:txBody>
      </p:sp>
      <p:sp>
        <p:nvSpPr>
          <p:cNvPr id="3" name="Text 0"/>
          <p:cNvSpPr>
            <a:spLocks noGrp="1"/>
          </p:cNvSpPr>
          <p:nvPr>
            <p:ph type="body" idx="101" hasCustomPrompt="1"/>
          </p:nvPr>
        </p:nvSpPr>
        <p:spPr>
          <a:xfrm>
            <a:off x="548640" y="256032"/>
            <a:ext cx="8229600" cy="292608"/>
          </a:xfrm>
          <a:prstGeom prst="rect">
            <a:avLst/>
          </a:prstGeom>
          <a:noFill/>
          <a:ln/>
        </p:spPr>
        <p:txBody>
          <a:bodyPr wrap="square" lIns="0" tIns="0" rIns="0" bIns="0" rtlCol="0" anchor="ctr"/>
          <a:lstStyle/>
          <a:p>
            <a:pPr marL="0" indent="0">
              <a:buNone/>
            </a:pPr>
            <a:r>
              <a:rPr lang="en-US" sz="1100" b="1" dirty="0">
                <a:solidFill>
                  <a:schemeClr val="accent1"/>
                </a:solidFill>
                <a:latin typeface="Poppins" pitchFamily="34" charset="0"/>
                <a:ea typeface="Poppins" pitchFamily="34" charset="-122"/>
                <a:cs typeface="Poppins" pitchFamily="34" charset="-120"/>
              </a:rPr>
              <a:t>T1 · COMMENT PENSE UNE IA</a:t>
            </a:r>
            <a:endParaRPr lang="en-US" sz="1100" dirty="0"/>
          </a:p>
        </p:txBody>
      </p:sp>
      <p:sp>
        <p:nvSpPr>
          <p:cNvPr id="4" name="card-225"/>
          <p:cNvSpPr/>
          <p:nvPr/>
        </p:nvSpPr>
        <p:spPr>
          <a:xfrm>
            <a:off x="548640" y="1600200"/>
            <a:ext cx="3474720" cy="3154680"/>
          </a:xfrm>
          <a:prstGeom prst="roundRect">
            <a:avLst>
              <a:gd name="adj" fmla="val 2319"/>
            </a:avLst>
          </a:prstGeom>
          <a:solidFill>
            <a:schemeClr val="bg2"/>
          </a:solidFill>
          <a:ln w="6350">
            <a:solidFill>
              <a:schemeClr val="bg2"/>
            </a:solidFill>
            <a:prstDash val="solid"/>
          </a:ln>
        </p:spPr>
      </p:sp>
      <p:sp>
        <p:nvSpPr>
          <p:cNvPr id="5" name="circle-226"/>
          <p:cNvSpPr/>
          <p:nvPr/>
        </p:nvSpPr>
        <p:spPr>
          <a:xfrm>
            <a:off x="822960" y="1828800"/>
            <a:ext cx="731520" cy="731520"/>
          </a:xfrm>
          <a:prstGeom prst="ellipse">
            <a:avLst/>
          </a:prstGeom>
          <a:solidFill>
            <a:schemeClr val="accent6"/>
          </a:solidFill>
          <a:ln w="12700">
            <a:solidFill>
              <a:schemeClr val="accent6"/>
            </a:solidFill>
            <a:prstDash val="solid"/>
          </a:ln>
        </p:spPr>
      </p:sp>
      <p:pic>
        <p:nvPicPr>
          <p:cNvPr id="6" name="icon-227" descr="preencoded.png"/>
          <p:cNvPicPr>
            <a:picLocks noChangeAspect="1"/>
          </p:cNvPicPr>
          <p:nvPr/>
        </p:nvPicPr>
        <p:blipFill>
          <a:blip r:embed="rId3"/>
          <a:stretch>
            <a:fillRect/>
          </a:stretch>
        </p:blipFill>
        <p:spPr>
          <a:xfrm>
            <a:off x="1005840" y="2011680"/>
            <a:ext cx="365760" cy="365760"/>
          </a:xfrm>
          <a:prstGeom prst="rect">
            <a:avLst/>
          </a:prstGeom>
        </p:spPr>
      </p:pic>
      <p:sp>
        <p:nvSpPr>
          <p:cNvPr id="7" name="txt-228"/>
          <p:cNvSpPr txBox="1"/>
          <p:nvPr/>
        </p:nvSpPr>
        <p:spPr>
          <a:xfrm>
            <a:off x="822960" y="2697480"/>
            <a:ext cx="2971800" cy="731520"/>
          </a:xfrm>
          <a:prstGeom prst="rect">
            <a:avLst/>
          </a:prstGeom>
          <a:noFill/>
          <a:ln/>
        </p:spPr>
        <p:txBody>
          <a:bodyPr wrap="square" lIns="0" tIns="0" rIns="0" bIns="0" rtlCol="0" anchor="t"/>
          <a:lstStyle/>
          <a:p>
            <a:pPr marL="0" indent="0">
              <a:buNone/>
            </a:pPr>
            <a:r>
              <a:rPr lang="en-US" sz="1600" b="1" dirty="0">
                <a:solidFill>
                  <a:schemeClr val="tx2"/>
                </a:solidFill>
              </a:rPr>
              <a:t>Elle ne voit que la conversation</a:t>
            </a:r>
            <a:endParaRPr lang="en-US" sz="1600" dirty="0"/>
          </a:p>
        </p:txBody>
      </p:sp>
      <p:sp>
        <p:nvSpPr>
          <p:cNvPr id="8" name="txt-229"/>
          <p:cNvSpPr txBox="1"/>
          <p:nvPr/>
        </p:nvSpPr>
        <p:spPr>
          <a:xfrm>
            <a:off x="822960" y="3429000"/>
            <a:ext cx="2971800" cy="1280160"/>
          </a:xfrm>
          <a:prstGeom prst="rect">
            <a:avLst/>
          </a:prstGeom>
          <a:noFill/>
          <a:ln/>
        </p:spPr>
        <p:txBody>
          <a:bodyPr wrap="square" lIns="0" tIns="0" rIns="0" bIns="0" rtlCol="0" anchor="t"/>
          <a:lstStyle/>
          <a:p>
            <a:pPr marL="0" indent="0">
              <a:buNone/>
            </a:pPr>
            <a:r>
              <a:rPr lang="en-US" sz="1300" dirty="0">
                <a:solidFill>
                  <a:schemeClr val="tx1"/>
                </a:solidFill>
              </a:rPr>
              <a:t>Vos messages et les documents fournis. Rien d'autre.</a:t>
            </a:r>
            <a:endParaRPr lang="en-US" sz="1300" dirty="0"/>
          </a:p>
        </p:txBody>
      </p:sp>
      <p:sp>
        <p:nvSpPr>
          <p:cNvPr id="9" name="card-230"/>
          <p:cNvSpPr/>
          <p:nvPr/>
        </p:nvSpPr>
        <p:spPr>
          <a:xfrm>
            <a:off x="4297680" y="1600200"/>
            <a:ext cx="3474720" cy="3154680"/>
          </a:xfrm>
          <a:prstGeom prst="roundRect">
            <a:avLst>
              <a:gd name="adj" fmla="val 2319"/>
            </a:avLst>
          </a:prstGeom>
          <a:solidFill>
            <a:schemeClr val="bg2"/>
          </a:solidFill>
          <a:ln w="6350">
            <a:solidFill>
              <a:schemeClr val="bg2"/>
            </a:solidFill>
            <a:prstDash val="solid"/>
          </a:ln>
        </p:spPr>
      </p:sp>
      <p:sp>
        <p:nvSpPr>
          <p:cNvPr id="10" name="circle-231"/>
          <p:cNvSpPr/>
          <p:nvPr/>
        </p:nvSpPr>
        <p:spPr>
          <a:xfrm>
            <a:off x="4572000" y="1828800"/>
            <a:ext cx="731520" cy="731520"/>
          </a:xfrm>
          <a:prstGeom prst="ellipse">
            <a:avLst/>
          </a:prstGeom>
          <a:solidFill>
            <a:schemeClr val="accent6"/>
          </a:solidFill>
          <a:ln w="12700">
            <a:solidFill>
              <a:schemeClr val="accent6"/>
            </a:solidFill>
            <a:prstDash val="solid"/>
          </a:ln>
        </p:spPr>
      </p:sp>
      <p:pic>
        <p:nvPicPr>
          <p:cNvPr id="11" name="icon-232" descr="preencoded.png"/>
          <p:cNvPicPr>
            <a:picLocks noChangeAspect="1"/>
          </p:cNvPicPr>
          <p:nvPr/>
        </p:nvPicPr>
        <p:blipFill>
          <a:blip r:embed="rId4"/>
          <a:stretch>
            <a:fillRect/>
          </a:stretch>
        </p:blipFill>
        <p:spPr>
          <a:xfrm>
            <a:off x="4754880" y="2011680"/>
            <a:ext cx="365760" cy="365760"/>
          </a:xfrm>
          <a:prstGeom prst="rect">
            <a:avLst/>
          </a:prstGeom>
        </p:spPr>
      </p:pic>
      <p:sp>
        <p:nvSpPr>
          <p:cNvPr id="12" name="txt-233"/>
          <p:cNvSpPr txBox="1"/>
          <p:nvPr/>
        </p:nvSpPr>
        <p:spPr>
          <a:xfrm>
            <a:off x="4572000" y="2697480"/>
            <a:ext cx="2971800" cy="731520"/>
          </a:xfrm>
          <a:prstGeom prst="rect">
            <a:avLst/>
          </a:prstGeom>
          <a:noFill/>
          <a:ln/>
        </p:spPr>
        <p:txBody>
          <a:bodyPr wrap="square" lIns="0" tIns="0" rIns="0" bIns="0" rtlCol="0" anchor="t"/>
          <a:lstStyle/>
          <a:p>
            <a:pPr marL="0" indent="0">
              <a:buNone/>
            </a:pPr>
            <a:r>
              <a:rPr lang="en-US" sz="1600" b="1" dirty="0">
                <a:solidFill>
                  <a:schemeClr val="tx2"/>
                </a:solidFill>
              </a:rPr>
              <a:t>Nouvelle conversation = page blanche</a:t>
            </a:r>
            <a:endParaRPr lang="en-US" sz="1600" dirty="0"/>
          </a:p>
        </p:txBody>
      </p:sp>
      <p:sp>
        <p:nvSpPr>
          <p:cNvPr id="13" name="txt-234"/>
          <p:cNvSpPr txBox="1"/>
          <p:nvPr/>
        </p:nvSpPr>
        <p:spPr>
          <a:xfrm>
            <a:off x="4572000" y="3429000"/>
            <a:ext cx="2971800" cy="1280160"/>
          </a:xfrm>
          <a:prstGeom prst="rect">
            <a:avLst/>
          </a:prstGeom>
          <a:noFill/>
          <a:ln/>
        </p:spPr>
        <p:txBody>
          <a:bodyPr wrap="square" lIns="0" tIns="0" rIns="0" bIns="0" rtlCol="0" anchor="t"/>
          <a:lstStyle/>
          <a:p>
            <a:pPr marL="0" indent="0">
              <a:buNone/>
            </a:pPr>
            <a:r>
              <a:rPr lang="en-US" sz="1300" dirty="0">
                <a:solidFill>
                  <a:schemeClr val="tx1"/>
                </a:solidFill>
              </a:rPr>
              <a:t>Elle a oublié votre sujet et vos consignes (sauf mémoire activée).</a:t>
            </a:r>
            <a:endParaRPr lang="en-US" sz="1300" dirty="0"/>
          </a:p>
        </p:txBody>
      </p:sp>
      <p:sp>
        <p:nvSpPr>
          <p:cNvPr id="14" name="card-235"/>
          <p:cNvSpPr/>
          <p:nvPr/>
        </p:nvSpPr>
        <p:spPr>
          <a:xfrm>
            <a:off x="8046720" y="1600200"/>
            <a:ext cx="3474720" cy="3154680"/>
          </a:xfrm>
          <a:prstGeom prst="roundRect">
            <a:avLst>
              <a:gd name="adj" fmla="val 2319"/>
            </a:avLst>
          </a:prstGeom>
          <a:solidFill>
            <a:schemeClr val="bg2"/>
          </a:solidFill>
          <a:ln w="6350">
            <a:solidFill>
              <a:schemeClr val="bg2"/>
            </a:solidFill>
            <a:prstDash val="solid"/>
          </a:ln>
        </p:spPr>
      </p:sp>
      <p:sp>
        <p:nvSpPr>
          <p:cNvPr id="15" name="circle-236"/>
          <p:cNvSpPr/>
          <p:nvPr/>
        </p:nvSpPr>
        <p:spPr>
          <a:xfrm>
            <a:off x="8321040" y="1828800"/>
            <a:ext cx="731520" cy="731520"/>
          </a:xfrm>
          <a:prstGeom prst="ellipse">
            <a:avLst/>
          </a:prstGeom>
          <a:solidFill>
            <a:schemeClr val="accent6"/>
          </a:solidFill>
          <a:ln w="12700">
            <a:solidFill>
              <a:schemeClr val="accent6"/>
            </a:solidFill>
            <a:prstDash val="solid"/>
          </a:ln>
        </p:spPr>
      </p:sp>
      <p:pic>
        <p:nvPicPr>
          <p:cNvPr id="16" name="icon-237" descr="preencoded.png"/>
          <p:cNvPicPr>
            <a:picLocks noChangeAspect="1"/>
          </p:cNvPicPr>
          <p:nvPr/>
        </p:nvPicPr>
        <p:blipFill>
          <a:blip r:embed="rId5"/>
          <a:stretch>
            <a:fillRect/>
          </a:stretch>
        </p:blipFill>
        <p:spPr>
          <a:xfrm>
            <a:off x="8503920" y="2011680"/>
            <a:ext cx="365760" cy="365760"/>
          </a:xfrm>
          <a:prstGeom prst="rect">
            <a:avLst/>
          </a:prstGeom>
        </p:spPr>
      </p:pic>
      <p:sp>
        <p:nvSpPr>
          <p:cNvPr id="17" name="txt-238"/>
          <p:cNvSpPr txBox="1"/>
          <p:nvPr/>
        </p:nvSpPr>
        <p:spPr>
          <a:xfrm>
            <a:off x="8321040" y="2697480"/>
            <a:ext cx="2971800" cy="731520"/>
          </a:xfrm>
          <a:prstGeom prst="rect">
            <a:avLst/>
          </a:prstGeom>
          <a:noFill/>
          <a:ln/>
        </p:spPr>
        <p:txBody>
          <a:bodyPr wrap="square" lIns="0" tIns="0" rIns="0" bIns="0" rtlCol="0" anchor="t"/>
          <a:lstStyle/>
          <a:p>
            <a:pPr marL="0" indent="0">
              <a:buNone/>
            </a:pPr>
            <a:r>
              <a:rPr lang="en-US" sz="1600" b="1" dirty="0">
                <a:solidFill>
                  <a:schemeClr val="tx2"/>
                </a:solidFill>
              </a:rPr>
              <a:t>Connaissances datées</a:t>
            </a:r>
            <a:endParaRPr lang="en-US" sz="1600" dirty="0"/>
          </a:p>
        </p:txBody>
      </p:sp>
      <p:sp>
        <p:nvSpPr>
          <p:cNvPr id="18" name="txt-239"/>
          <p:cNvSpPr txBox="1"/>
          <p:nvPr/>
        </p:nvSpPr>
        <p:spPr>
          <a:xfrm>
            <a:off x="8321040" y="3429000"/>
            <a:ext cx="2971800" cy="1280160"/>
          </a:xfrm>
          <a:prstGeom prst="rect">
            <a:avLst/>
          </a:prstGeom>
          <a:noFill/>
          <a:ln/>
        </p:spPr>
        <p:txBody>
          <a:bodyPr wrap="square" lIns="0" tIns="0" rIns="0" bIns="0" rtlCol="0" anchor="t"/>
          <a:lstStyle/>
          <a:p>
            <a:pPr marL="0" indent="0">
              <a:buNone/>
            </a:pPr>
            <a:r>
              <a:rPr lang="en-US" sz="1300" dirty="0">
                <a:solidFill>
                  <a:schemeClr val="tx1"/>
                </a:solidFill>
              </a:rPr>
              <a:t>Elle a appris jusqu'à une certaine date. Pour l'actualité : recherche web activée, et vérification.</a:t>
            </a:r>
            <a:endParaRPr lang="en-US" sz="1300" dirty="0"/>
          </a:p>
        </p:txBody>
      </p:sp>
      <p:sp>
        <p:nvSpPr>
          <p:cNvPr id="19" name="card-240"/>
          <p:cNvSpPr/>
          <p:nvPr/>
        </p:nvSpPr>
        <p:spPr>
          <a:xfrm>
            <a:off x="548640" y="5029200"/>
            <a:ext cx="11064240" cy="868680"/>
          </a:xfrm>
          <a:prstGeom prst="roundRect">
            <a:avLst>
              <a:gd name="adj" fmla="val 8421"/>
            </a:avLst>
          </a:prstGeom>
          <a:solidFill>
            <a:schemeClr val="accent1"/>
          </a:solidFill>
          <a:ln w="6350">
            <a:solidFill>
              <a:schemeClr val="accent1"/>
            </a:solidFill>
            <a:prstDash val="solid"/>
          </a:ln>
        </p:spPr>
      </p:sp>
      <p:sp>
        <p:nvSpPr>
          <p:cNvPr id="20" name="txt-241"/>
          <p:cNvSpPr txBox="1"/>
          <p:nvPr/>
        </p:nvSpPr>
        <p:spPr>
          <a:xfrm>
            <a:off x="822960" y="5029200"/>
            <a:ext cx="10515600" cy="868680"/>
          </a:xfrm>
          <a:prstGeom prst="rect">
            <a:avLst/>
          </a:prstGeom>
          <a:noFill/>
          <a:ln/>
        </p:spPr>
        <p:txBody>
          <a:bodyPr wrap="square" lIns="0" tIns="0" rIns="0" bIns="0" rtlCol="0" anchor="ctr"/>
          <a:lstStyle/>
          <a:p>
            <a:pPr marL="0" indent="0">
              <a:buNone/>
            </a:pPr>
            <a:r>
              <a:rPr lang="en-US" sz="1600" b="1" dirty="0">
                <a:solidFill>
                  <a:schemeClr val="tx2"/>
                </a:solidFill>
              </a:rPr>
              <a:t>En pratique : donnez-lui tout le contexte utile, à chaque fois. C'est ce qu'on appelle le « context engineering ».</a:t>
            </a:r>
            <a:endParaRPr lang="en-US" sz="1600" dirty="0"/>
          </a:p>
        </p:txBody>
      </p:sp>
      <p:sp>
        <p:nvSpPr>
          <p:cNvPr id="25" name="Slide Number Placeholder 0"/>
          <p:cNvSpPr>
            <a:spLocks noGrp="1"/>
          </p:cNvSpPr>
          <p:nvPr>
            <p:ph type="sldNum" sz="quarter" idx="4294967295"/>
          </p:nvPr>
        </p:nvSpPr>
        <p:spPr>
          <a:xfrm>
            <a:off x="11064240" y="6400800"/>
            <a:ext cx="54864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C82"/>
                </a:solidFill>
                <a:latin typeface="Poppins"/>
                <a:ea typeface="Poppins"/>
                <a:cs typeface="Poppins"/>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566928"/>
            <a:ext cx="11064240" cy="777240"/>
          </a:xfrm>
          <a:prstGeom prst="rect">
            <a:avLst/>
          </a:prstGeom>
          <a:noFill/>
          <a:ln/>
        </p:spPr>
        <p:txBody>
          <a:bodyPr wrap="square" lIns="0" tIns="0" rIns="0" bIns="0" rtlCol="0" anchor="ctr"/>
          <a:lstStyle/>
          <a:p>
            <a:pPr marL="0" indent="0" algn="l">
              <a:buNone/>
            </a:pPr>
            <a:r>
              <a:rPr lang="en-US" sz="2700" b="1" dirty="0">
                <a:solidFill>
                  <a:schemeClr val="tx2"/>
                </a:solidFill>
                <a:latin typeface="Poppins" pitchFamily="34" charset="0"/>
                <a:ea typeface="Poppins" pitchFamily="34" charset="-122"/>
                <a:cs typeface="Poppins" pitchFamily="34" charset="-120"/>
              </a:rPr>
              <a:t>Vos données : ce qu'on ne met jamais dans une IA</a:t>
            </a:r>
            <a:endParaRPr lang="en-US" sz="2700" dirty="0"/>
          </a:p>
        </p:txBody>
      </p:sp>
      <p:sp>
        <p:nvSpPr>
          <p:cNvPr id="3" name="Text 0"/>
          <p:cNvSpPr>
            <a:spLocks noGrp="1"/>
          </p:cNvSpPr>
          <p:nvPr>
            <p:ph type="body" idx="101" hasCustomPrompt="1"/>
          </p:nvPr>
        </p:nvSpPr>
        <p:spPr>
          <a:xfrm>
            <a:off x="548640" y="256032"/>
            <a:ext cx="8229600" cy="292608"/>
          </a:xfrm>
          <a:prstGeom prst="rect">
            <a:avLst/>
          </a:prstGeom>
          <a:noFill/>
          <a:ln/>
        </p:spPr>
        <p:txBody>
          <a:bodyPr wrap="square" lIns="0" tIns="0" rIns="0" bIns="0" rtlCol="0" anchor="ctr"/>
          <a:lstStyle/>
          <a:p>
            <a:pPr marL="0" indent="0">
              <a:buNone/>
            </a:pPr>
            <a:r>
              <a:rPr lang="en-US" sz="1100" b="1" dirty="0">
                <a:solidFill>
                  <a:schemeClr val="accent1"/>
                </a:solidFill>
                <a:latin typeface="Poppins" pitchFamily="34" charset="0"/>
                <a:ea typeface="Poppins" pitchFamily="34" charset="-122"/>
                <a:cs typeface="Poppins" pitchFamily="34" charset="-120"/>
              </a:rPr>
              <a:t>T1 · COMMENT PENSE UNE IA</a:t>
            </a:r>
            <a:endParaRPr lang="en-US" sz="1100" dirty="0"/>
          </a:p>
        </p:txBody>
      </p:sp>
      <p:sp>
        <p:nvSpPr>
          <p:cNvPr id="4" name="card-242"/>
          <p:cNvSpPr/>
          <p:nvPr/>
        </p:nvSpPr>
        <p:spPr>
          <a:xfrm>
            <a:off x="548640" y="1554480"/>
            <a:ext cx="5394960" cy="4389120"/>
          </a:xfrm>
          <a:prstGeom prst="roundRect">
            <a:avLst>
              <a:gd name="adj" fmla="val 1667"/>
            </a:avLst>
          </a:prstGeom>
          <a:solidFill>
            <a:schemeClr val="bg2"/>
          </a:solidFill>
          <a:ln w="6350">
            <a:solidFill>
              <a:schemeClr val="bg2"/>
            </a:solidFill>
            <a:prstDash val="solid"/>
          </a:ln>
        </p:spPr>
      </p:sp>
      <p:sp>
        <p:nvSpPr>
          <p:cNvPr id="5" name="txt-243"/>
          <p:cNvSpPr txBox="1"/>
          <p:nvPr/>
        </p:nvSpPr>
        <p:spPr>
          <a:xfrm>
            <a:off x="822960" y="1719072"/>
            <a:ext cx="4937760" cy="411480"/>
          </a:xfrm>
          <a:prstGeom prst="rect">
            <a:avLst/>
          </a:prstGeom>
          <a:noFill/>
          <a:ln/>
        </p:spPr>
        <p:txBody>
          <a:bodyPr wrap="square" lIns="0" tIns="0" rIns="0" bIns="0" rtlCol="0" anchor="t"/>
          <a:lstStyle/>
          <a:p>
            <a:pPr marL="0" indent="0">
              <a:buNone/>
            </a:pPr>
            <a:r>
              <a:rPr lang="en-US" sz="1600" b="1" dirty="0">
                <a:solidFill>
                  <a:schemeClr val="accent3"/>
                </a:solidFill>
              </a:rPr>
              <a:t>Jamais dans un outil grand public</a:t>
            </a:r>
            <a:endParaRPr lang="en-US" sz="1600" dirty="0"/>
          </a:p>
        </p:txBody>
      </p:sp>
      <p:sp>
        <p:nvSpPr>
          <p:cNvPr id="6" name="circle-244"/>
          <p:cNvSpPr/>
          <p:nvPr/>
        </p:nvSpPr>
        <p:spPr>
          <a:xfrm>
            <a:off x="822960" y="2286000"/>
            <a:ext cx="502920" cy="502920"/>
          </a:xfrm>
          <a:prstGeom prst="ellipse">
            <a:avLst/>
          </a:prstGeom>
          <a:solidFill>
            <a:schemeClr val="accent3"/>
          </a:solidFill>
          <a:ln w="12700">
            <a:solidFill>
              <a:schemeClr val="accent3"/>
            </a:solidFill>
            <a:prstDash val="solid"/>
          </a:ln>
        </p:spPr>
      </p:sp>
      <p:pic>
        <p:nvPicPr>
          <p:cNvPr id="7" name="icon-245" descr="preencoded.png"/>
          <p:cNvPicPr>
            <a:picLocks noChangeAspect="1"/>
          </p:cNvPicPr>
          <p:nvPr/>
        </p:nvPicPr>
        <p:blipFill>
          <a:blip r:embed="rId3"/>
          <a:stretch>
            <a:fillRect/>
          </a:stretch>
        </p:blipFill>
        <p:spPr>
          <a:xfrm>
            <a:off x="948690" y="2411730"/>
            <a:ext cx="251460" cy="251460"/>
          </a:xfrm>
          <a:prstGeom prst="rect">
            <a:avLst/>
          </a:prstGeom>
        </p:spPr>
      </p:pic>
      <p:sp>
        <p:nvSpPr>
          <p:cNvPr id="8" name="txt-246"/>
          <p:cNvSpPr txBox="1"/>
          <p:nvPr/>
        </p:nvSpPr>
        <p:spPr>
          <a:xfrm>
            <a:off x="1508760" y="2286000"/>
            <a:ext cx="4297680" cy="502920"/>
          </a:xfrm>
          <a:prstGeom prst="rect">
            <a:avLst/>
          </a:prstGeom>
          <a:noFill/>
          <a:ln/>
        </p:spPr>
        <p:txBody>
          <a:bodyPr wrap="square" lIns="0" tIns="0" rIns="0" bIns="0" rtlCol="0" anchor="ctr"/>
          <a:lstStyle/>
          <a:p>
            <a:pPr marL="0" indent="0">
              <a:buNone/>
            </a:pPr>
            <a:r>
              <a:rPr lang="en-US" sz="1500" dirty="0">
                <a:solidFill>
                  <a:schemeClr val="tx1"/>
                </a:solidFill>
              </a:rPr>
              <a:t>Données de patients identifiables</a:t>
            </a:r>
            <a:endParaRPr lang="en-US" sz="1500" dirty="0"/>
          </a:p>
        </p:txBody>
      </p:sp>
      <p:sp>
        <p:nvSpPr>
          <p:cNvPr id="9" name="circle-247"/>
          <p:cNvSpPr/>
          <p:nvPr/>
        </p:nvSpPr>
        <p:spPr>
          <a:xfrm>
            <a:off x="822960" y="3154680"/>
            <a:ext cx="502920" cy="502920"/>
          </a:xfrm>
          <a:prstGeom prst="ellipse">
            <a:avLst/>
          </a:prstGeom>
          <a:solidFill>
            <a:schemeClr val="accent3"/>
          </a:solidFill>
          <a:ln w="12700">
            <a:solidFill>
              <a:schemeClr val="accent3"/>
            </a:solidFill>
            <a:prstDash val="solid"/>
          </a:ln>
        </p:spPr>
      </p:sp>
      <p:pic>
        <p:nvPicPr>
          <p:cNvPr id="10" name="icon-248" descr="preencoded.png"/>
          <p:cNvPicPr>
            <a:picLocks noChangeAspect="1"/>
          </p:cNvPicPr>
          <p:nvPr/>
        </p:nvPicPr>
        <p:blipFill>
          <a:blip r:embed="rId3"/>
          <a:stretch>
            <a:fillRect/>
          </a:stretch>
        </p:blipFill>
        <p:spPr>
          <a:xfrm>
            <a:off x="948690" y="3280410"/>
            <a:ext cx="251460" cy="251460"/>
          </a:xfrm>
          <a:prstGeom prst="rect">
            <a:avLst/>
          </a:prstGeom>
        </p:spPr>
      </p:pic>
      <p:sp>
        <p:nvSpPr>
          <p:cNvPr id="11" name="txt-249"/>
          <p:cNvSpPr txBox="1"/>
          <p:nvPr/>
        </p:nvSpPr>
        <p:spPr>
          <a:xfrm>
            <a:off x="1508760" y="3154680"/>
            <a:ext cx="4297680" cy="502920"/>
          </a:xfrm>
          <a:prstGeom prst="rect">
            <a:avLst/>
          </a:prstGeom>
          <a:noFill/>
          <a:ln/>
        </p:spPr>
        <p:txBody>
          <a:bodyPr wrap="square" lIns="0" tIns="0" rIns="0" bIns="0" rtlCol="0" anchor="ctr"/>
          <a:lstStyle/>
          <a:p>
            <a:pPr marL="0" indent="0">
              <a:buNone/>
            </a:pPr>
            <a:r>
              <a:rPr lang="en-US" sz="1500" dirty="0">
                <a:solidFill>
                  <a:schemeClr val="tx1"/>
                </a:solidFill>
              </a:rPr>
              <a:t>Entretiens non anonymisés</a:t>
            </a:r>
            <a:endParaRPr lang="en-US" sz="1500" dirty="0"/>
          </a:p>
        </p:txBody>
      </p:sp>
      <p:sp>
        <p:nvSpPr>
          <p:cNvPr id="12" name="circle-250"/>
          <p:cNvSpPr/>
          <p:nvPr/>
        </p:nvSpPr>
        <p:spPr>
          <a:xfrm>
            <a:off x="822960" y="4023360"/>
            <a:ext cx="502920" cy="502920"/>
          </a:xfrm>
          <a:prstGeom prst="ellipse">
            <a:avLst/>
          </a:prstGeom>
          <a:solidFill>
            <a:schemeClr val="accent3"/>
          </a:solidFill>
          <a:ln w="12700">
            <a:solidFill>
              <a:schemeClr val="accent3"/>
            </a:solidFill>
            <a:prstDash val="solid"/>
          </a:ln>
        </p:spPr>
      </p:sp>
      <p:pic>
        <p:nvPicPr>
          <p:cNvPr id="13" name="icon-251" descr="preencoded.png"/>
          <p:cNvPicPr>
            <a:picLocks noChangeAspect="1"/>
          </p:cNvPicPr>
          <p:nvPr/>
        </p:nvPicPr>
        <p:blipFill>
          <a:blip r:embed="rId3"/>
          <a:stretch>
            <a:fillRect/>
          </a:stretch>
        </p:blipFill>
        <p:spPr>
          <a:xfrm>
            <a:off x="948690" y="4149090"/>
            <a:ext cx="251460" cy="251460"/>
          </a:xfrm>
          <a:prstGeom prst="rect">
            <a:avLst/>
          </a:prstGeom>
        </p:spPr>
      </p:pic>
      <p:sp>
        <p:nvSpPr>
          <p:cNvPr id="14" name="txt-252"/>
          <p:cNvSpPr txBox="1"/>
          <p:nvPr/>
        </p:nvSpPr>
        <p:spPr>
          <a:xfrm>
            <a:off x="1508760" y="4023360"/>
            <a:ext cx="4297680" cy="502920"/>
          </a:xfrm>
          <a:prstGeom prst="rect">
            <a:avLst/>
          </a:prstGeom>
          <a:noFill/>
          <a:ln/>
        </p:spPr>
        <p:txBody>
          <a:bodyPr wrap="square" lIns="0" tIns="0" rIns="0" bIns="0" rtlCol="0" anchor="ctr"/>
          <a:lstStyle/>
          <a:p>
            <a:pPr marL="0" indent="0">
              <a:buNone/>
            </a:pPr>
            <a:r>
              <a:rPr lang="en-US" sz="1500" dirty="0">
                <a:solidFill>
                  <a:schemeClr val="tx1"/>
                </a:solidFill>
              </a:rPr>
              <a:t>Manuscrits confidentiels que vous évaluez</a:t>
            </a:r>
            <a:endParaRPr lang="en-US" sz="1500" dirty="0"/>
          </a:p>
        </p:txBody>
      </p:sp>
      <p:sp>
        <p:nvSpPr>
          <p:cNvPr id="15" name="circle-253"/>
          <p:cNvSpPr/>
          <p:nvPr/>
        </p:nvSpPr>
        <p:spPr>
          <a:xfrm>
            <a:off x="822960" y="4892040"/>
            <a:ext cx="502920" cy="502920"/>
          </a:xfrm>
          <a:prstGeom prst="ellipse">
            <a:avLst/>
          </a:prstGeom>
          <a:solidFill>
            <a:schemeClr val="accent3"/>
          </a:solidFill>
          <a:ln w="12700">
            <a:solidFill>
              <a:schemeClr val="accent3"/>
            </a:solidFill>
            <a:prstDash val="solid"/>
          </a:ln>
        </p:spPr>
      </p:sp>
      <p:pic>
        <p:nvPicPr>
          <p:cNvPr id="16" name="icon-254" descr="preencoded.png"/>
          <p:cNvPicPr>
            <a:picLocks noChangeAspect="1"/>
          </p:cNvPicPr>
          <p:nvPr/>
        </p:nvPicPr>
        <p:blipFill>
          <a:blip r:embed="rId3"/>
          <a:stretch>
            <a:fillRect/>
          </a:stretch>
        </p:blipFill>
        <p:spPr>
          <a:xfrm>
            <a:off x="948690" y="5017770"/>
            <a:ext cx="251460" cy="251460"/>
          </a:xfrm>
          <a:prstGeom prst="rect">
            <a:avLst/>
          </a:prstGeom>
        </p:spPr>
      </p:pic>
      <p:sp>
        <p:nvSpPr>
          <p:cNvPr id="17" name="txt-255"/>
          <p:cNvSpPr txBox="1"/>
          <p:nvPr/>
        </p:nvSpPr>
        <p:spPr>
          <a:xfrm>
            <a:off x="1508760" y="4892040"/>
            <a:ext cx="4297680" cy="502920"/>
          </a:xfrm>
          <a:prstGeom prst="rect">
            <a:avLst/>
          </a:prstGeom>
          <a:noFill/>
          <a:ln/>
        </p:spPr>
        <p:txBody>
          <a:bodyPr wrap="square" lIns="0" tIns="0" rIns="0" bIns="0" rtlCol="0" anchor="ctr"/>
          <a:lstStyle/>
          <a:p>
            <a:pPr marL="0" indent="0">
              <a:buNone/>
            </a:pPr>
            <a:r>
              <a:rPr lang="en-US" sz="1500" dirty="0">
                <a:solidFill>
                  <a:schemeClr val="tx1"/>
                </a:solidFill>
              </a:rPr>
              <a:t>Chapitres de thèse inédits, sans l'accord de votre direction</a:t>
            </a:r>
            <a:endParaRPr lang="en-US" sz="1500" dirty="0"/>
          </a:p>
        </p:txBody>
      </p:sp>
      <p:sp>
        <p:nvSpPr>
          <p:cNvPr id="18" name="card-256"/>
          <p:cNvSpPr/>
          <p:nvPr/>
        </p:nvSpPr>
        <p:spPr>
          <a:xfrm>
            <a:off x="6217920" y="1554480"/>
            <a:ext cx="5394960" cy="4389120"/>
          </a:xfrm>
          <a:prstGeom prst="roundRect">
            <a:avLst>
              <a:gd name="adj" fmla="val 1667"/>
            </a:avLst>
          </a:prstGeom>
          <a:solidFill>
            <a:schemeClr val="bg2"/>
          </a:solidFill>
          <a:ln w="6350">
            <a:solidFill>
              <a:schemeClr val="bg2"/>
            </a:solidFill>
            <a:prstDash val="solid"/>
          </a:ln>
        </p:spPr>
      </p:sp>
      <p:sp>
        <p:nvSpPr>
          <p:cNvPr id="19" name="txt-257"/>
          <p:cNvSpPr txBox="1"/>
          <p:nvPr/>
        </p:nvSpPr>
        <p:spPr>
          <a:xfrm>
            <a:off x="6492240" y="1719072"/>
            <a:ext cx="4937760" cy="411480"/>
          </a:xfrm>
          <a:prstGeom prst="rect">
            <a:avLst/>
          </a:prstGeom>
          <a:noFill/>
          <a:ln/>
        </p:spPr>
        <p:txBody>
          <a:bodyPr wrap="square" lIns="0" tIns="0" rIns="0" bIns="0" rtlCol="0" anchor="t"/>
          <a:lstStyle/>
          <a:p>
            <a:pPr marL="0" indent="0">
              <a:buNone/>
            </a:pPr>
            <a:r>
              <a:rPr lang="en-US" sz="1600" b="1" dirty="0">
                <a:solidFill>
                  <a:schemeClr val="accent2"/>
                </a:solidFill>
              </a:rPr>
              <a:t>Les bons réflexes</a:t>
            </a:r>
            <a:endParaRPr lang="en-US" sz="1600" dirty="0"/>
          </a:p>
        </p:txBody>
      </p:sp>
      <p:sp>
        <p:nvSpPr>
          <p:cNvPr id="20" name="circle-258"/>
          <p:cNvSpPr/>
          <p:nvPr/>
        </p:nvSpPr>
        <p:spPr>
          <a:xfrm>
            <a:off x="6492240" y="2286000"/>
            <a:ext cx="502920" cy="502920"/>
          </a:xfrm>
          <a:prstGeom prst="ellipse">
            <a:avLst/>
          </a:prstGeom>
          <a:solidFill>
            <a:schemeClr val="accent2"/>
          </a:solidFill>
          <a:ln w="12700">
            <a:solidFill>
              <a:schemeClr val="accent2"/>
            </a:solidFill>
            <a:prstDash val="solid"/>
          </a:ln>
        </p:spPr>
      </p:sp>
      <p:pic>
        <p:nvPicPr>
          <p:cNvPr id="21" name="icon-259" descr="preencoded.png"/>
          <p:cNvPicPr>
            <a:picLocks noChangeAspect="1"/>
          </p:cNvPicPr>
          <p:nvPr/>
        </p:nvPicPr>
        <p:blipFill>
          <a:blip r:embed="rId4"/>
          <a:stretch>
            <a:fillRect/>
          </a:stretch>
        </p:blipFill>
        <p:spPr>
          <a:xfrm>
            <a:off x="6617970" y="2411730"/>
            <a:ext cx="251460" cy="251460"/>
          </a:xfrm>
          <a:prstGeom prst="rect">
            <a:avLst/>
          </a:prstGeom>
        </p:spPr>
      </p:pic>
      <p:sp>
        <p:nvSpPr>
          <p:cNvPr id="22" name="txt-260"/>
          <p:cNvSpPr txBox="1"/>
          <p:nvPr/>
        </p:nvSpPr>
        <p:spPr>
          <a:xfrm>
            <a:off x="7178040" y="2194560"/>
            <a:ext cx="4297680" cy="685800"/>
          </a:xfrm>
          <a:prstGeom prst="rect">
            <a:avLst/>
          </a:prstGeom>
          <a:noFill/>
          <a:ln/>
        </p:spPr>
        <p:txBody>
          <a:bodyPr wrap="square" lIns="0" tIns="0" rIns="0" bIns="0" rtlCol="0" anchor="ctr"/>
          <a:lstStyle/>
          <a:p>
            <a:pPr marL="0" indent="0">
              <a:buNone/>
            </a:pPr>
            <a:r>
              <a:rPr lang="en-US" sz="1400" dirty="0">
                <a:solidFill>
                  <a:schemeClr val="tx1"/>
                </a:solidFill>
              </a:rPr>
              <a:t>Anonymiser avant de copier (noms, lieux, fonctions)</a:t>
            </a:r>
            <a:endParaRPr lang="en-US" sz="1400" dirty="0"/>
          </a:p>
        </p:txBody>
      </p:sp>
      <p:sp>
        <p:nvSpPr>
          <p:cNvPr id="23" name="circle-261"/>
          <p:cNvSpPr/>
          <p:nvPr/>
        </p:nvSpPr>
        <p:spPr>
          <a:xfrm>
            <a:off x="6492240" y="3154680"/>
            <a:ext cx="502920" cy="502920"/>
          </a:xfrm>
          <a:prstGeom prst="ellipse">
            <a:avLst/>
          </a:prstGeom>
          <a:solidFill>
            <a:schemeClr val="accent2"/>
          </a:solidFill>
          <a:ln w="12700">
            <a:solidFill>
              <a:schemeClr val="accent2"/>
            </a:solidFill>
            <a:prstDash val="solid"/>
          </a:ln>
        </p:spPr>
      </p:sp>
      <p:pic>
        <p:nvPicPr>
          <p:cNvPr id="24" name="icon-262" descr="preencoded.png"/>
          <p:cNvPicPr>
            <a:picLocks noChangeAspect="1"/>
          </p:cNvPicPr>
          <p:nvPr/>
        </p:nvPicPr>
        <p:blipFill>
          <a:blip r:embed="rId4"/>
          <a:stretch>
            <a:fillRect/>
          </a:stretch>
        </p:blipFill>
        <p:spPr>
          <a:xfrm>
            <a:off x="6617970" y="3280410"/>
            <a:ext cx="251460" cy="251460"/>
          </a:xfrm>
          <a:prstGeom prst="rect">
            <a:avLst/>
          </a:prstGeom>
        </p:spPr>
      </p:pic>
      <p:sp>
        <p:nvSpPr>
          <p:cNvPr id="25" name="txt-263"/>
          <p:cNvSpPr txBox="1"/>
          <p:nvPr/>
        </p:nvSpPr>
        <p:spPr>
          <a:xfrm>
            <a:off x="7178040" y="3063240"/>
            <a:ext cx="4297680" cy="685800"/>
          </a:xfrm>
          <a:prstGeom prst="rect">
            <a:avLst/>
          </a:prstGeom>
          <a:noFill/>
          <a:ln/>
        </p:spPr>
        <p:txBody>
          <a:bodyPr wrap="square" lIns="0" tIns="0" rIns="0" bIns="0" rtlCol="0" anchor="ctr"/>
          <a:lstStyle/>
          <a:p>
            <a:pPr marL="0" indent="0">
              <a:buNone/>
            </a:pPr>
            <a:r>
              <a:rPr lang="en-US" sz="1400" dirty="0">
                <a:solidFill>
                  <a:schemeClr val="tx1"/>
                </a:solidFill>
              </a:rPr>
              <a:t>Paramètres → Données / Confidentialité : refuser l'usage pour l'entraînement</a:t>
            </a:r>
            <a:endParaRPr lang="en-US" sz="1400" dirty="0"/>
          </a:p>
        </p:txBody>
      </p:sp>
      <p:sp>
        <p:nvSpPr>
          <p:cNvPr id="26" name="circle-264"/>
          <p:cNvSpPr/>
          <p:nvPr/>
        </p:nvSpPr>
        <p:spPr>
          <a:xfrm>
            <a:off x="6492240" y="4023360"/>
            <a:ext cx="502920" cy="502920"/>
          </a:xfrm>
          <a:prstGeom prst="ellipse">
            <a:avLst/>
          </a:prstGeom>
          <a:solidFill>
            <a:schemeClr val="accent2"/>
          </a:solidFill>
          <a:ln w="12700">
            <a:solidFill>
              <a:schemeClr val="accent2"/>
            </a:solidFill>
            <a:prstDash val="solid"/>
          </a:ln>
        </p:spPr>
      </p:sp>
      <p:pic>
        <p:nvPicPr>
          <p:cNvPr id="27" name="icon-265" descr="preencoded.png"/>
          <p:cNvPicPr>
            <a:picLocks noChangeAspect="1"/>
          </p:cNvPicPr>
          <p:nvPr/>
        </p:nvPicPr>
        <p:blipFill>
          <a:blip r:embed="rId4"/>
          <a:stretch>
            <a:fillRect/>
          </a:stretch>
        </p:blipFill>
        <p:spPr>
          <a:xfrm>
            <a:off x="6617970" y="4149090"/>
            <a:ext cx="251460" cy="251460"/>
          </a:xfrm>
          <a:prstGeom prst="rect">
            <a:avLst/>
          </a:prstGeom>
        </p:spPr>
      </p:pic>
      <p:sp>
        <p:nvSpPr>
          <p:cNvPr id="28" name="txt-266"/>
          <p:cNvSpPr txBox="1"/>
          <p:nvPr/>
        </p:nvSpPr>
        <p:spPr>
          <a:xfrm>
            <a:off x="7178040" y="3931920"/>
            <a:ext cx="4297680" cy="685800"/>
          </a:xfrm>
          <a:prstGeom prst="rect">
            <a:avLst/>
          </a:prstGeom>
          <a:noFill/>
          <a:ln/>
        </p:spPr>
        <p:txBody>
          <a:bodyPr wrap="square" lIns="0" tIns="0" rIns="0" bIns="0" rtlCol="0" anchor="ctr"/>
          <a:lstStyle/>
          <a:p>
            <a:pPr marL="0" indent="0">
              <a:buNone/>
            </a:pPr>
            <a:r>
              <a:rPr lang="en-US" sz="1400" dirty="0">
                <a:solidFill>
                  <a:schemeClr val="tx1"/>
                </a:solidFill>
              </a:rPr>
              <a:t>S'entraîner sur des corpus fictifs</a:t>
            </a:r>
            <a:endParaRPr lang="en-US" sz="1400" dirty="0"/>
          </a:p>
        </p:txBody>
      </p:sp>
      <p:sp>
        <p:nvSpPr>
          <p:cNvPr id="29" name="circle-267"/>
          <p:cNvSpPr/>
          <p:nvPr/>
        </p:nvSpPr>
        <p:spPr>
          <a:xfrm>
            <a:off x="6492240" y="4892040"/>
            <a:ext cx="502920" cy="502920"/>
          </a:xfrm>
          <a:prstGeom prst="ellipse">
            <a:avLst/>
          </a:prstGeom>
          <a:solidFill>
            <a:schemeClr val="accent2"/>
          </a:solidFill>
          <a:ln w="12700">
            <a:solidFill>
              <a:schemeClr val="accent2"/>
            </a:solidFill>
            <a:prstDash val="solid"/>
          </a:ln>
        </p:spPr>
      </p:sp>
      <p:pic>
        <p:nvPicPr>
          <p:cNvPr id="30" name="icon-268" descr="preencoded.png"/>
          <p:cNvPicPr>
            <a:picLocks noChangeAspect="1"/>
          </p:cNvPicPr>
          <p:nvPr/>
        </p:nvPicPr>
        <p:blipFill>
          <a:blip r:embed="rId4"/>
          <a:stretch>
            <a:fillRect/>
          </a:stretch>
        </p:blipFill>
        <p:spPr>
          <a:xfrm>
            <a:off x="6617970" y="5017770"/>
            <a:ext cx="251460" cy="251460"/>
          </a:xfrm>
          <a:prstGeom prst="rect">
            <a:avLst/>
          </a:prstGeom>
        </p:spPr>
      </p:pic>
      <p:sp>
        <p:nvSpPr>
          <p:cNvPr id="31" name="txt-269"/>
          <p:cNvSpPr txBox="1"/>
          <p:nvPr/>
        </p:nvSpPr>
        <p:spPr>
          <a:xfrm>
            <a:off x="7178040" y="4800600"/>
            <a:ext cx="4297680" cy="685800"/>
          </a:xfrm>
          <a:prstGeom prst="rect">
            <a:avLst/>
          </a:prstGeom>
          <a:noFill/>
          <a:ln/>
        </p:spPr>
        <p:txBody>
          <a:bodyPr wrap="square" lIns="0" tIns="0" rIns="0" bIns="0" rtlCol="0" anchor="ctr"/>
          <a:lstStyle/>
          <a:p>
            <a:pPr marL="0" indent="0">
              <a:buNone/>
            </a:pPr>
            <a:r>
              <a:rPr lang="en-US" sz="1400" dirty="0">
                <a:solidFill>
                  <a:schemeClr val="tx1"/>
                </a:solidFill>
              </a:rPr>
              <a:t>Suivre la politique de votre institution</a:t>
            </a:r>
            <a:endParaRPr lang="en-US" sz="1400" dirty="0"/>
          </a:p>
        </p:txBody>
      </p:sp>
      <p:sp>
        <p:nvSpPr>
          <p:cNvPr id="32" name="Slide Number Placeholder 0"/>
          <p:cNvSpPr>
            <a:spLocks noGrp="1"/>
          </p:cNvSpPr>
          <p:nvPr>
            <p:ph type="sldNum" sz="quarter" idx="4294967295"/>
          </p:nvPr>
        </p:nvSpPr>
        <p:spPr>
          <a:xfrm>
            <a:off x="11064240" y="6400800"/>
            <a:ext cx="54864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C82"/>
                </a:solidFill>
                <a:latin typeface="Poppins"/>
                <a:ea typeface="Poppins"/>
                <a:cs typeface="Poppins"/>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566928"/>
            <a:ext cx="11064240" cy="777240"/>
          </a:xfrm>
          <a:prstGeom prst="rect">
            <a:avLst/>
          </a:prstGeom>
          <a:noFill/>
          <a:ln/>
        </p:spPr>
        <p:txBody>
          <a:bodyPr wrap="square" lIns="0" tIns="0" rIns="0" bIns="0" rtlCol="0" anchor="ctr"/>
          <a:lstStyle/>
          <a:p>
            <a:pPr marL="0" indent="0" algn="l">
              <a:buNone/>
            </a:pPr>
            <a:r>
              <a:rPr lang="en-US" sz="2700" b="1" dirty="0">
                <a:solidFill>
                  <a:schemeClr val="tx2"/>
                </a:solidFill>
                <a:latin typeface="Poppins" pitchFamily="34" charset="0"/>
                <a:ea typeface="Poppins" pitchFamily="34" charset="-122"/>
                <a:cs typeface="Poppins" pitchFamily="34" charset="-120"/>
              </a:rPr>
              <a:t>Vidéos : comprendre l'IA générative</a:t>
            </a:r>
            <a:endParaRPr lang="en-US" sz="2700" dirty="0"/>
          </a:p>
        </p:txBody>
      </p:sp>
      <p:sp>
        <p:nvSpPr>
          <p:cNvPr id="3" name="Text 0"/>
          <p:cNvSpPr>
            <a:spLocks noGrp="1"/>
          </p:cNvSpPr>
          <p:nvPr>
            <p:ph type="body" idx="101" hasCustomPrompt="1"/>
          </p:nvPr>
        </p:nvSpPr>
        <p:spPr>
          <a:xfrm>
            <a:off x="548640" y="256032"/>
            <a:ext cx="8229600" cy="292608"/>
          </a:xfrm>
          <a:prstGeom prst="rect">
            <a:avLst/>
          </a:prstGeom>
          <a:noFill/>
          <a:ln/>
        </p:spPr>
        <p:txBody>
          <a:bodyPr wrap="square" lIns="0" tIns="0" rIns="0" bIns="0" rtlCol="0" anchor="ctr"/>
          <a:lstStyle/>
          <a:p>
            <a:pPr marL="0" indent="0">
              <a:buNone/>
            </a:pPr>
            <a:r>
              <a:rPr lang="en-US" sz="1100" b="1" dirty="0">
                <a:solidFill>
                  <a:schemeClr val="accent1"/>
                </a:solidFill>
                <a:latin typeface="Poppins" pitchFamily="34" charset="0"/>
                <a:ea typeface="Poppins" pitchFamily="34" charset="-122"/>
                <a:cs typeface="Poppins" pitchFamily="34" charset="-120"/>
              </a:rPr>
              <a:t>T1 · POUR ALLER PLUS LOIN</a:t>
            </a:r>
            <a:endParaRPr lang="en-US" sz="1100" dirty="0"/>
          </a:p>
        </p:txBody>
      </p:sp>
      <p:sp>
        <p:nvSpPr>
          <p:cNvPr id="4" name="card-270"/>
          <p:cNvSpPr/>
          <p:nvPr/>
        </p:nvSpPr>
        <p:spPr>
          <a:xfrm>
            <a:off x="548640" y="1600200"/>
            <a:ext cx="5440680" cy="1298448"/>
          </a:xfrm>
          <a:prstGeom prst="roundRect">
            <a:avLst>
              <a:gd name="adj" fmla="val 5634"/>
            </a:avLst>
          </a:prstGeom>
          <a:solidFill>
            <a:schemeClr val="bg2"/>
          </a:solidFill>
          <a:ln w="6350">
            <a:solidFill>
              <a:schemeClr val="bg2"/>
            </a:solidFill>
            <a:prstDash val="solid"/>
          </a:ln>
        </p:spPr>
      </p:sp>
      <p:sp>
        <p:nvSpPr>
          <p:cNvPr id="5" name="play-271"/>
          <p:cNvSpPr/>
          <p:nvPr/>
        </p:nvSpPr>
        <p:spPr>
          <a:xfrm>
            <a:off x="777240" y="1901952"/>
            <a:ext cx="685800" cy="685800"/>
          </a:xfrm>
          <a:prstGeom prst="ellipse">
            <a:avLst/>
          </a:prstGeom>
          <a:solidFill>
            <a:schemeClr val="accent3"/>
          </a:solidFill>
          <a:ln w="12700">
            <a:solidFill>
              <a:schemeClr val="accent3"/>
            </a:solidFill>
            <a:prstDash val="solid"/>
          </a:ln>
        </p:spPr>
      </p:sp>
      <p:sp>
        <p:nvSpPr>
          <p:cNvPr id="6" name="tri-272"/>
          <p:cNvSpPr/>
          <p:nvPr/>
        </p:nvSpPr>
        <p:spPr>
          <a:xfrm rot="5400000">
            <a:off x="1024128" y="2075688"/>
            <a:ext cx="274320" cy="329184"/>
          </a:xfrm>
          <a:prstGeom prst="triangle">
            <a:avLst/>
          </a:prstGeom>
          <a:solidFill>
            <a:schemeClr val="bg1"/>
          </a:solidFill>
          <a:ln w="12700">
            <a:solidFill>
              <a:schemeClr val="bg1"/>
            </a:solidFill>
            <a:prstDash val="solid"/>
          </a:ln>
        </p:spPr>
      </p:sp>
      <p:sp>
        <p:nvSpPr>
          <p:cNvPr id="7" name="txt-273"/>
          <p:cNvSpPr txBox="1"/>
          <p:nvPr/>
        </p:nvSpPr>
        <p:spPr>
          <a:xfrm>
            <a:off x="1645920" y="1709928"/>
            <a:ext cx="4206240" cy="566928"/>
          </a:xfrm>
          <a:prstGeom prst="rect">
            <a:avLst/>
          </a:prstGeom>
          <a:noFill/>
          <a:ln/>
        </p:spPr>
        <p:txBody>
          <a:bodyPr wrap="square" lIns="0" tIns="0" rIns="0" bIns="0" rtlCol="0" anchor="ctr"/>
          <a:lstStyle/>
          <a:p>
            <a:pPr marL="0" indent="0">
              <a:buNone/>
            </a:pPr>
            <a:r>
              <a:rPr lang="en-US" sz="1300" b="1" dirty="0">
                <a:solidFill>
                  <a:schemeClr val="tx2"/>
                </a:solidFill>
              </a:rPr>
              <a:t>Ce qui se cache derrière le fonctionnement de ChatGPT</a:t>
            </a:r>
            <a:endParaRPr lang="en-US" sz="1300" dirty="0"/>
          </a:p>
        </p:txBody>
      </p:sp>
      <p:sp>
        <p:nvSpPr>
          <p:cNvPr id="8" name="txt-274"/>
          <p:cNvSpPr txBox="1"/>
          <p:nvPr/>
        </p:nvSpPr>
        <p:spPr>
          <a:xfrm>
            <a:off x="1645920" y="2276856"/>
            <a:ext cx="4206240" cy="256032"/>
          </a:xfrm>
          <a:prstGeom prst="rect">
            <a:avLst/>
          </a:prstGeom>
          <a:noFill/>
          <a:ln/>
        </p:spPr>
        <p:txBody>
          <a:bodyPr wrap="square" lIns="0" tIns="0" rIns="0" bIns="0" rtlCol="0" anchor="t"/>
          <a:lstStyle/>
          <a:p>
            <a:pPr marL="0" indent="0">
              <a:buNone/>
            </a:pPr>
            <a:r>
              <a:rPr lang="en-US" sz="1100" dirty="0">
                <a:solidFill>
                  <a:schemeClr val="accent5"/>
                </a:solidFill>
              </a:rPr>
              <a:t>ScienceEtonnante · 27 min</a:t>
            </a:r>
            <a:endParaRPr lang="en-US" sz="1100" dirty="0"/>
          </a:p>
        </p:txBody>
      </p:sp>
      <p:sp>
        <p:nvSpPr>
          <p:cNvPr id="9" name="txt-275"/>
          <p:cNvSpPr txBox="1"/>
          <p:nvPr/>
        </p:nvSpPr>
        <p:spPr>
          <a:xfrm>
            <a:off x="1645920" y="2532888"/>
            <a:ext cx="4206240" cy="256032"/>
          </a:xfrm>
          <a:prstGeom prst="rect">
            <a:avLst/>
          </a:prstGeom>
          <a:noFill/>
          <a:ln/>
        </p:spPr>
        <p:txBody>
          <a:bodyPr wrap="square" lIns="0" tIns="0" rIns="0" bIns="0" rtlCol="0" anchor="t"/>
          <a:lstStyle/>
          <a:p>
            <a:pPr marL="0" indent="0">
              <a:buNone/>
            </a:pPr>
            <a:r>
              <a:rPr lang="en-US" sz="1100" b="1" u="sng" dirty="0">
                <a:solidFill>
                  <a:schemeClr val="accent6"/>
                </a:solidFill>
                <a:hlinkClick r:id="rId3" tooltip="Ce qui se cache derrière le fonctionnement de ChatGPT">
                  <a:extLst>
                    <a:ext uri="{A12FA001-AC4F-418D-AE19-62706E023703}">
                      <ahyp:hlinkClr xmlns:ahyp="http://schemas.microsoft.com/office/drawing/2018/hyperlinkcolor" val="tx"/>
                    </a:ext>
                  </a:extLst>
                </a:hlinkClick>
              </a:rPr>
              <a:t>youtu.be/7ell8KEbhJo</a:t>
            </a:r>
            <a:endParaRPr lang="en-US" sz="1100" dirty="0"/>
          </a:p>
        </p:txBody>
      </p:sp>
      <p:sp>
        <p:nvSpPr>
          <p:cNvPr id="10" name="card-276"/>
          <p:cNvSpPr/>
          <p:nvPr/>
        </p:nvSpPr>
        <p:spPr>
          <a:xfrm>
            <a:off x="6172200" y="1600200"/>
            <a:ext cx="5440680" cy="1298448"/>
          </a:xfrm>
          <a:prstGeom prst="roundRect">
            <a:avLst>
              <a:gd name="adj" fmla="val 5634"/>
            </a:avLst>
          </a:prstGeom>
          <a:solidFill>
            <a:schemeClr val="bg2"/>
          </a:solidFill>
          <a:ln w="6350">
            <a:solidFill>
              <a:schemeClr val="bg2"/>
            </a:solidFill>
            <a:prstDash val="solid"/>
          </a:ln>
        </p:spPr>
      </p:sp>
      <p:sp>
        <p:nvSpPr>
          <p:cNvPr id="11" name="play-277"/>
          <p:cNvSpPr/>
          <p:nvPr/>
        </p:nvSpPr>
        <p:spPr>
          <a:xfrm>
            <a:off x="6400800" y="1901952"/>
            <a:ext cx="685800" cy="685800"/>
          </a:xfrm>
          <a:prstGeom prst="ellipse">
            <a:avLst/>
          </a:prstGeom>
          <a:solidFill>
            <a:schemeClr val="accent3"/>
          </a:solidFill>
          <a:ln w="12700">
            <a:solidFill>
              <a:schemeClr val="accent3"/>
            </a:solidFill>
            <a:prstDash val="solid"/>
          </a:ln>
        </p:spPr>
      </p:sp>
      <p:sp>
        <p:nvSpPr>
          <p:cNvPr id="12" name="tri-278"/>
          <p:cNvSpPr/>
          <p:nvPr/>
        </p:nvSpPr>
        <p:spPr>
          <a:xfrm rot="5400000">
            <a:off x="6647688" y="2075688"/>
            <a:ext cx="274320" cy="329184"/>
          </a:xfrm>
          <a:prstGeom prst="triangle">
            <a:avLst/>
          </a:prstGeom>
          <a:solidFill>
            <a:schemeClr val="bg1"/>
          </a:solidFill>
          <a:ln w="12700">
            <a:solidFill>
              <a:schemeClr val="bg1"/>
            </a:solidFill>
            <a:prstDash val="solid"/>
          </a:ln>
        </p:spPr>
      </p:sp>
      <p:sp>
        <p:nvSpPr>
          <p:cNvPr id="13" name="txt-279"/>
          <p:cNvSpPr txBox="1"/>
          <p:nvPr/>
        </p:nvSpPr>
        <p:spPr>
          <a:xfrm>
            <a:off x="7269480" y="1709928"/>
            <a:ext cx="4206240" cy="566928"/>
          </a:xfrm>
          <a:prstGeom prst="rect">
            <a:avLst/>
          </a:prstGeom>
          <a:noFill/>
          <a:ln/>
        </p:spPr>
        <p:txBody>
          <a:bodyPr wrap="square" lIns="0" tIns="0" rIns="0" bIns="0" rtlCol="0" anchor="ctr"/>
          <a:lstStyle/>
          <a:p>
            <a:pPr marL="0" indent="0">
              <a:buNone/>
            </a:pPr>
            <a:r>
              <a:rPr lang="en-US" sz="1300" b="1" dirty="0">
                <a:solidFill>
                  <a:schemeClr val="tx2"/>
                </a:solidFill>
              </a:rPr>
              <a:t>Comment fonctionne ChatGPT ? Un tour d'horizon en moins de 5 mn</a:t>
            </a:r>
            <a:endParaRPr lang="en-US" sz="1300" dirty="0"/>
          </a:p>
        </p:txBody>
      </p:sp>
      <p:sp>
        <p:nvSpPr>
          <p:cNvPr id="14" name="txt-280"/>
          <p:cNvSpPr txBox="1"/>
          <p:nvPr/>
        </p:nvSpPr>
        <p:spPr>
          <a:xfrm>
            <a:off x="7269480" y="2276856"/>
            <a:ext cx="4206240" cy="256032"/>
          </a:xfrm>
          <a:prstGeom prst="rect">
            <a:avLst/>
          </a:prstGeom>
          <a:noFill/>
          <a:ln/>
        </p:spPr>
        <p:txBody>
          <a:bodyPr wrap="square" lIns="0" tIns="0" rIns="0" bIns="0" rtlCol="0" anchor="t"/>
          <a:lstStyle/>
          <a:p>
            <a:pPr marL="0" indent="0">
              <a:buNone/>
            </a:pPr>
            <a:r>
              <a:rPr lang="en-US" sz="1100" dirty="0">
                <a:solidFill>
                  <a:schemeClr val="accent5"/>
                </a:solidFill>
              </a:rPr>
              <a:t>Inria Flowers · 5 min</a:t>
            </a:r>
            <a:endParaRPr lang="en-US" sz="1100" dirty="0"/>
          </a:p>
        </p:txBody>
      </p:sp>
      <p:sp>
        <p:nvSpPr>
          <p:cNvPr id="15" name="txt-281"/>
          <p:cNvSpPr txBox="1"/>
          <p:nvPr/>
        </p:nvSpPr>
        <p:spPr>
          <a:xfrm>
            <a:off x="7269480" y="2532888"/>
            <a:ext cx="4206240" cy="256032"/>
          </a:xfrm>
          <a:prstGeom prst="rect">
            <a:avLst/>
          </a:prstGeom>
          <a:noFill/>
          <a:ln/>
        </p:spPr>
        <p:txBody>
          <a:bodyPr wrap="square" lIns="0" tIns="0" rIns="0" bIns="0" rtlCol="0" anchor="t"/>
          <a:lstStyle/>
          <a:p>
            <a:pPr marL="0" indent="0">
              <a:buNone/>
            </a:pPr>
            <a:r>
              <a:rPr lang="en-US" sz="1100" b="1" u="sng" dirty="0">
                <a:solidFill>
                  <a:schemeClr val="accent6"/>
                </a:solidFill>
                <a:hlinkClick r:id="rId4" tooltip="Comment fonctionne ChatGPT ? Un tour d'horizon en moins de 5 mn">
                  <a:extLst>
                    <a:ext uri="{A12FA001-AC4F-418D-AE19-62706E023703}">
                      <ahyp:hlinkClr xmlns:ahyp="http://schemas.microsoft.com/office/drawing/2018/hyperlinkcolor" val="tx"/>
                    </a:ext>
                  </a:extLst>
                </a:hlinkClick>
              </a:rPr>
              <a:t>youtu.be/K8gOvC8gvB4</a:t>
            </a:r>
            <a:endParaRPr lang="en-US" sz="1100" dirty="0"/>
          </a:p>
        </p:txBody>
      </p:sp>
      <p:sp>
        <p:nvSpPr>
          <p:cNvPr id="16" name="card-282"/>
          <p:cNvSpPr/>
          <p:nvPr/>
        </p:nvSpPr>
        <p:spPr>
          <a:xfrm>
            <a:off x="548640" y="3081528"/>
            <a:ext cx="5440680" cy="1298448"/>
          </a:xfrm>
          <a:prstGeom prst="roundRect">
            <a:avLst>
              <a:gd name="adj" fmla="val 5634"/>
            </a:avLst>
          </a:prstGeom>
          <a:solidFill>
            <a:schemeClr val="bg2"/>
          </a:solidFill>
          <a:ln w="6350">
            <a:solidFill>
              <a:schemeClr val="bg2"/>
            </a:solidFill>
            <a:prstDash val="solid"/>
          </a:ln>
        </p:spPr>
      </p:sp>
      <p:sp>
        <p:nvSpPr>
          <p:cNvPr id="17" name="play-283"/>
          <p:cNvSpPr/>
          <p:nvPr/>
        </p:nvSpPr>
        <p:spPr>
          <a:xfrm>
            <a:off x="777240" y="3383280"/>
            <a:ext cx="685800" cy="685800"/>
          </a:xfrm>
          <a:prstGeom prst="ellipse">
            <a:avLst/>
          </a:prstGeom>
          <a:solidFill>
            <a:schemeClr val="accent3"/>
          </a:solidFill>
          <a:ln w="12700">
            <a:solidFill>
              <a:schemeClr val="accent3"/>
            </a:solidFill>
            <a:prstDash val="solid"/>
          </a:ln>
        </p:spPr>
      </p:sp>
      <p:sp>
        <p:nvSpPr>
          <p:cNvPr id="18" name="tri-284"/>
          <p:cNvSpPr/>
          <p:nvPr/>
        </p:nvSpPr>
        <p:spPr>
          <a:xfrm rot="5400000">
            <a:off x="1024128" y="3557016"/>
            <a:ext cx="274320" cy="329184"/>
          </a:xfrm>
          <a:prstGeom prst="triangle">
            <a:avLst/>
          </a:prstGeom>
          <a:solidFill>
            <a:schemeClr val="bg1"/>
          </a:solidFill>
          <a:ln w="12700">
            <a:solidFill>
              <a:schemeClr val="bg1"/>
            </a:solidFill>
            <a:prstDash val="solid"/>
          </a:ln>
        </p:spPr>
      </p:sp>
      <p:sp>
        <p:nvSpPr>
          <p:cNvPr id="19" name="txt-285"/>
          <p:cNvSpPr txBox="1"/>
          <p:nvPr/>
        </p:nvSpPr>
        <p:spPr>
          <a:xfrm>
            <a:off x="1645920" y="3191256"/>
            <a:ext cx="4206240" cy="566928"/>
          </a:xfrm>
          <a:prstGeom prst="rect">
            <a:avLst/>
          </a:prstGeom>
          <a:noFill/>
          <a:ln/>
        </p:spPr>
        <p:txBody>
          <a:bodyPr wrap="square" lIns="0" tIns="0" rIns="0" bIns="0" rtlCol="0" anchor="ctr"/>
          <a:lstStyle/>
          <a:p>
            <a:pPr marL="0" indent="0">
              <a:buNone/>
            </a:pPr>
            <a:r>
              <a:rPr lang="en-US" sz="1300" b="1" dirty="0">
                <a:solidFill>
                  <a:schemeClr val="tx2"/>
                </a:solidFill>
              </a:rPr>
              <a:t>Pourquoi l'IA hallucine-t-elle ?</a:t>
            </a:r>
            <a:endParaRPr lang="en-US" sz="1300" dirty="0"/>
          </a:p>
        </p:txBody>
      </p:sp>
      <p:sp>
        <p:nvSpPr>
          <p:cNvPr id="20" name="txt-286"/>
          <p:cNvSpPr txBox="1"/>
          <p:nvPr/>
        </p:nvSpPr>
        <p:spPr>
          <a:xfrm>
            <a:off x="1645920" y="3758184"/>
            <a:ext cx="4206240" cy="256032"/>
          </a:xfrm>
          <a:prstGeom prst="rect">
            <a:avLst/>
          </a:prstGeom>
          <a:noFill/>
          <a:ln/>
        </p:spPr>
        <p:txBody>
          <a:bodyPr wrap="square" lIns="0" tIns="0" rIns="0" bIns="0" rtlCol="0" anchor="t"/>
          <a:lstStyle/>
          <a:p>
            <a:pPr marL="0" indent="0">
              <a:buNone/>
            </a:pPr>
            <a:r>
              <a:rPr lang="en-US" sz="1100" dirty="0">
                <a:solidFill>
                  <a:schemeClr val="accent5"/>
                </a:solidFill>
              </a:rPr>
              <a:t>EPFL · 4 min</a:t>
            </a:r>
            <a:endParaRPr lang="en-US" sz="1100" dirty="0"/>
          </a:p>
        </p:txBody>
      </p:sp>
      <p:sp>
        <p:nvSpPr>
          <p:cNvPr id="21" name="txt-287"/>
          <p:cNvSpPr txBox="1"/>
          <p:nvPr/>
        </p:nvSpPr>
        <p:spPr>
          <a:xfrm>
            <a:off x="1645920" y="4014216"/>
            <a:ext cx="4206240" cy="256032"/>
          </a:xfrm>
          <a:prstGeom prst="rect">
            <a:avLst/>
          </a:prstGeom>
          <a:noFill/>
          <a:ln/>
        </p:spPr>
        <p:txBody>
          <a:bodyPr wrap="square" lIns="0" tIns="0" rIns="0" bIns="0" rtlCol="0" anchor="t"/>
          <a:lstStyle/>
          <a:p>
            <a:pPr marL="0" indent="0">
              <a:buNone/>
            </a:pPr>
            <a:r>
              <a:rPr lang="en-US" sz="1100" b="1" u="sng" dirty="0">
                <a:solidFill>
                  <a:schemeClr val="accent6"/>
                </a:solidFill>
                <a:hlinkClick r:id="rId5" tooltip="Pourquoi l'IA hallucine-t-elle ?">
                  <a:extLst>
                    <a:ext uri="{A12FA001-AC4F-418D-AE19-62706E023703}">
                      <ahyp:hlinkClr xmlns:ahyp="http://schemas.microsoft.com/office/drawing/2018/hyperlinkcolor" val="tx"/>
                    </a:ext>
                  </a:extLst>
                </a:hlinkClick>
              </a:rPr>
              <a:t>youtu.be/9KMHluiejdU</a:t>
            </a:r>
            <a:endParaRPr lang="en-US" sz="1100" dirty="0"/>
          </a:p>
        </p:txBody>
      </p:sp>
      <p:sp>
        <p:nvSpPr>
          <p:cNvPr id="22" name="card-288"/>
          <p:cNvSpPr/>
          <p:nvPr/>
        </p:nvSpPr>
        <p:spPr>
          <a:xfrm>
            <a:off x="6172200" y="3081528"/>
            <a:ext cx="5440680" cy="1298448"/>
          </a:xfrm>
          <a:prstGeom prst="roundRect">
            <a:avLst>
              <a:gd name="adj" fmla="val 5634"/>
            </a:avLst>
          </a:prstGeom>
          <a:solidFill>
            <a:schemeClr val="bg2"/>
          </a:solidFill>
          <a:ln w="6350">
            <a:solidFill>
              <a:schemeClr val="bg2"/>
            </a:solidFill>
            <a:prstDash val="solid"/>
          </a:ln>
        </p:spPr>
      </p:sp>
      <p:sp>
        <p:nvSpPr>
          <p:cNvPr id="23" name="play-289"/>
          <p:cNvSpPr/>
          <p:nvPr/>
        </p:nvSpPr>
        <p:spPr>
          <a:xfrm>
            <a:off x="6400800" y="3383280"/>
            <a:ext cx="685800" cy="685800"/>
          </a:xfrm>
          <a:prstGeom prst="ellipse">
            <a:avLst/>
          </a:prstGeom>
          <a:solidFill>
            <a:schemeClr val="accent3"/>
          </a:solidFill>
          <a:ln w="12700">
            <a:solidFill>
              <a:schemeClr val="accent3"/>
            </a:solidFill>
            <a:prstDash val="solid"/>
          </a:ln>
        </p:spPr>
      </p:sp>
      <p:sp>
        <p:nvSpPr>
          <p:cNvPr id="24" name="tri-290"/>
          <p:cNvSpPr/>
          <p:nvPr/>
        </p:nvSpPr>
        <p:spPr>
          <a:xfrm rot="5400000">
            <a:off x="6647688" y="3557016"/>
            <a:ext cx="274320" cy="329184"/>
          </a:xfrm>
          <a:prstGeom prst="triangle">
            <a:avLst/>
          </a:prstGeom>
          <a:solidFill>
            <a:schemeClr val="bg1"/>
          </a:solidFill>
          <a:ln w="12700">
            <a:solidFill>
              <a:schemeClr val="bg1"/>
            </a:solidFill>
            <a:prstDash val="solid"/>
          </a:ln>
        </p:spPr>
      </p:sp>
      <p:sp>
        <p:nvSpPr>
          <p:cNvPr id="25" name="txt-291"/>
          <p:cNvSpPr txBox="1"/>
          <p:nvPr/>
        </p:nvSpPr>
        <p:spPr>
          <a:xfrm>
            <a:off x="7269480" y="3191256"/>
            <a:ext cx="4206240" cy="566928"/>
          </a:xfrm>
          <a:prstGeom prst="rect">
            <a:avLst/>
          </a:prstGeom>
          <a:noFill/>
          <a:ln/>
        </p:spPr>
        <p:txBody>
          <a:bodyPr wrap="square" lIns="0" tIns="0" rIns="0" bIns="0" rtlCol="0" anchor="ctr"/>
          <a:lstStyle/>
          <a:p>
            <a:pPr marL="0" indent="0">
              <a:buNone/>
            </a:pPr>
            <a:r>
              <a:rPr lang="en-US" sz="1300" b="1" dirty="0">
                <a:solidFill>
                  <a:schemeClr val="tx2"/>
                </a:solidFill>
              </a:rPr>
              <a:t>LLM, RAG et IA agentique : comprendre l'évolution de l'IA</a:t>
            </a:r>
            <a:endParaRPr lang="en-US" sz="1300" dirty="0"/>
          </a:p>
        </p:txBody>
      </p:sp>
      <p:sp>
        <p:nvSpPr>
          <p:cNvPr id="26" name="txt-292"/>
          <p:cNvSpPr txBox="1"/>
          <p:nvPr/>
        </p:nvSpPr>
        <p:spPr>
          <a:xfrm>
            <a:off x="7269480" y="3758184"/>
            <a:ext cx="4206240" cy="256032"/>
          </a:xfrm>
          <a:prstGeom prst="rect">
            <a:avLst/>
          </a:prstGeom>
          <a:noFill/>
          <a:ln/>
        </p:spPr>
        <p:txBody>
          <a:bodyPr wrap="square" lIns="0" tIns="0" rIns="0" bIns="0" rtlCol="0" anchor="t"/>
          <a:lstStyle/>
          <a:p>
            <a:pPr marL="0" indent="0">
              <a:buNone/>
            </a:pPr>
            <a:r>
              <a:rPr lang="en-US" sz="1100" dirty="0">
                <a:solidFill>
                  <a:schemeClr val="accent5"/>
                </a:solidFill>
              </a:rPr>
              <a:t>Cookie connecté · 9 min</a:t>
            </a:r>
            <a:endParaRPr lang="en-US" sz="1100" dirty="0"/>
          </a:p>
        </p:txBody>
      </p:sp>
      <p:sp>
        <p:nvSpPr>
          <p:cNvPr id="27" name="txt-293"/>
          <p:cNvSpPr txBox="1"/>
          <p:nvPr/>
        </p:nvSpPr>
        <p:spPr>
          <a:xfrm>
            <a:off x="7269480" y="4014216"/>
            <a:ext cx="4206240" cy="256032"/>
          </a:xfrm>
          <a:prstGeom prst="rect">
            <a:avLst/>
          </a:prstGeom>
          <a:noFill/>
          <a:ln/>
        </p:spPr>
        <p:txBody>
          <a:bodyPr wrap="square" lIns="0" tIns="0" rIns="0" bIns="0" rtlCol="0" anchor="t"/>
          <a:lstStyle/>
          <a:p>
            <a:pPr marL="0" indent="0">
              <a:buNone/>
            </a:pPr>
            <a:r>
              <a:rPr lang="en-US" sz="1100" b="1" u="sng" dirty="0">
                <a:solidFill>
                  <a:schemeClr val="accent6"/>
                </a:solidFill>
                <a:hlinkClick r:id="rId6" tooltip="LLM, RAG et IA agentique : comprendre l'évolution de l'IA">
                  <a:extLst>
                    <a:ext uri="{A12FA001-AC4F-418D-AE19-62706E023703}">
                      <ahyp:hlinkClr xmlns:ahyp="http://schemas.microsoft.com/office/drawing/2018/hyperlinkcolor" val="tx"/>
                    </a:ext>
                  </a:extLst>
                </a:hlinkClick>
              </a:rPr>
              <a:t>youtu.be/kISRpDfbS4Y</a:t>
            </a:r>
            <a:endParaRPr lang="en-US" sz="1100" dirty="0"/>
          </a:p>
        </p:txBody>
      </p:sp>
      <p:sp>
        <p:nvSpPr>
          <p:cNvPr id="28" name="txt-294"/>
          <p:cNvSpPr txBox="1"/>
          <p:nvPr/>
        </p:nvSpPr>
        <p:spPr>
          <a:xfrm>
            <a:off x="548640" y="6053328"/>
            <a:ext cx="11064240" cy="256032"/>
          </a:xfrm>
          <a:prstGeom prst="rect">
            <a:avLst/>
          </a:prstGeom>
          <a:noFill/>
          <a:ln/>
        </p:spPr>
        <p:txBody>
          <a:bodyPr wrap="square" lIns="0" tIns="0" rIns="0" bIns="0" rtlCol="0" anchor="t"/>
          <a:lstStyle/>
          <a:p>
            <a:pPr marL="0" indent="0">
              <a:buNone/>
            </a:pPr>
            <a:r>
              <a:rPr lang="en-US" sz="1000" i="1" dirty="0">
                <a:solidFill>
                  <a:schemeClr val="accent5"/>
                </a:solidFill>
              </a:rPr>
              <a:t>Vidéos en français vérifiées en octobre 2026. Liens cliquables en mode diaporama.</a:t>
            </a:r>
            <a:endParaRPr lang="en-US" sz="1000" dirty="0"/>
          </a:p>
        </p:txBody>
      </p:sp>
      <p:sp>
        <p:nvSpPr>
          <p:cNvPr id="29" name="Slide Number Placeholder 0"/>
          <p:cNvSpPr>
            <a:spLocks noGrp="1"/>
          </p:cNvSpPr>
          <p:nvPr>
            <p:ph type="sldNum" sz="quarter" idx="4294967295"/>
          </p:nvPr>
        </p:nvSpPr>
        <p:spPr>
          <a:xfrm>
            <a:off x="11064240" y="6400800"/>
            <a:ext cx="54864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C82"/>
                </a:solidFill>
                <a:latin typeface="Poppins"/>
                <a:ea typeface="Poppins"/>
                <a:cs typeface="Poppins"/>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xt-295"/>
          <p:cNvSpPr txBox="1"/>
          <p:nvPr/>
        </p:nvSpPr>
        <p:spPr>
          <a:xfrm>
            <a:off x="640080" y="2011680"/>
            <a:ext cx="2560320" cy="2011680"/>
          </a:xfrm>
          <a:prstGeom prst="rect">
            <a:avLst/>
          </a:prstGeom>
          <a:noFill/>
          <a:ln/>
        </p:spPr>
        <p:txBody>
          <a:bodyPr wrap="square" lIns="0" tIns="0" rIns="0" bIns="0" rtlCol="0" anchor="ctr"/>
          <a:lstStyle/>
          <a:p>
            <a:pPr marL="0" indent="0">
              <a:buNone/>
            </a:pPr>
            <a:r>
              <a:rPr lang="en-US" sz="9600" b="1" dirty="0">
                <a:solidFill>
                  <a:schemeClr val="accent1"/>
                </a:solidFill>
              </a:rPr>
              <a:t>4</a:t>
            </a:r>
            <a:endParaRPr lang="en-US" sz="9600" dirty="0"/>
          </a:p>
        </p:txBody>
      </p:sp>
      <p:sp>
        <p:nvSpPr>
          <p:cNvPr id="3" name="txt-296"/>
          <p:cNvSpPr txBox="1"/>
          <p:nvPr/>
        </p:nvSpPr>
        <p:spPr>
          <a:xfrm>
            <a:off x="3291840" y="1737360"/>
            <a:ext cx="8229600" cy="457200"/>
          </a:xfrm>
          <a:prstGeom prst="rect">
            <a:avLst/>
          </a:prstGeom>
          <a:noFill/>
          <a:ln/>
        </p:spPr>
        <p:txBody>
          <a:bodyPr wrap="square" lIns="0" tIns="0" rIns="0" bIns="0" rtlCol="0" anchor="t"/>
          <a:lstStyle/>
          <a:p>
            <a:pPr marL="0" indent="0">
              <a:buNone/>
            </a:pPr>
            <a:r>
              <a:rPr lang="en-US" sz="1600" b="1" dirty="0">
                <a:solidFill>
                  <a:schemeClr val="accent1"/>
                </a:solidFill>
              </a:rPr>
              <a:t>Prise en main · 30 min + Lab 0</a:t>
            </a:r>
            <a:endParaRPr lang="en-US" sz="1600" dirty="0"/>
          </a:p>
        </p:txBody>
      </p:sp>
      <p:sp>
        <p:nvSpPr>
          <p:cNvPr id="4" name="Text 0"/>
          <p:cNvSpPr>
            <a:spLocks noGrp="1"/>
          </p:cNvSpPr>
          <p:nvPr>
            <p:ph type="title" idx="100" hasCustomPrompt="1"/>
          </p:nvPr>
        </p:nvSpPr>
        <p:spPr>
          <a:xfrm>
            <a:off x="3291840" y="2286000"/>
            <a:ext cx="8321040" cy="1463040"/>
          </a:xfrm>
          <a:prstGeom prst="rect">
            <a:avLst/>
          </a:prstGeom>
          <a:noFill/>
          <a:ln/>
        </p:spPr>
        <p:txBody>
          <a:bodyPr wrap="square" lIns="0" tIns="0" rIns="0" bIns="0" rtlCol="0" anchor="ctr"/>
          <a:lstStyle/>
          <a:p>
            <a:pPr marL="0" indent="0" algn="l">
              <a:buNone/>
            </a:pPr>
            <a:r>
              <a:rPr lang="en-US" sz="3400" b="1" dirty="0">
                <a:solidFill>
                  <a:schemeClr val="bg1"/>
                </a:solidFill>
                <a:latin typeface="Poppins" pitchFamily="34" charset="0"/>
                <a:ea typeface="Poppins" pitchFamily="34" charset="-122"/>
                <a:cs typeface="Poppins" pitchFamily="34" charset="-120"/>
              </a:rPr>
              <a:t>Votre boîte à outils : 4 assistants à connaître</a:t>
            </a:r>
            <a:endParaRPr lang="en-US" sz="3400" dirty="0"/>
          </a:p>
        </p:txBody>
      </p:sp>
      <p:sp>
        <p:nvSpPr>
          <p:cNvPr id="5" name="txt-297"/>
          <p:cNvSpPr txBox="1"/>
          <p:nvPr/>
        </p:nvSpPr>
        <p:spPr>
          <a:xfrm>
            <a:off x="3291840" y="3931920"/>
            <a:ext cx="8229600" cy="1828800"/>
          </a:xfrm>
          <a:prstGeom prst="rect">
            <a:avLst/>
          </a:prstGeom>
          <a:noFill/>
          <a:ln/>
        </p:spPr>
        <p:txBody>
          <a:bodyPr wrap="square" lIns="0" tIns="0" rIns="0" bIns="0" rtlCol="0" anchor="t"/>
          <a:lstStyle/>
          <a:p>
            <a:pPr marL="177800" indent="-177800">
              <a:spcAft>
                <a:spcPts val="600"/>
              </a:spcAft>
              <a:buSzPct val="100000"/>
              <a:buChar char="•"/>
            </a:pPr>
            <a:r>
              <a:rPr lang="en-US" sz="1600" dirty="0">
                <a:solidFill>
                  <a:schemeClr val="bg2"/>
                </a:solidFill>
              </a:rPr>
              <a:t>Gemini Notebook (ex-NotebookLM), Gemini, Claude, Grok</a:t>
            </a:r>
            <a:endParaRPr lang="en-US" sz="1600" dirty="0"/>
          </a:p>
          <a:p>
            <a:pPr marL="177800" indent="-177800">
              <a:spcAft>
                <a:spcPts val="600"/>
              </a:spcAft>
              <a:buSzPct val="100000"/>
              <a:buChar char="•"/>
            </a:pPr>
            <a:r>
              <a:rPr lang="en-US" sz="1600" dirty="0">
                <a:solidFill>
                  <a:schemeClr val="bg2"/>
                </a:solidFill>
              </a:rPr>
              <a:t>Ce que chacun fait le mieux, ses limites, sa version gratuite</a:t>
            </a:r>
            <a:endParaRPr lang="en-US" sz="1600" dirty="0"/>
          </a:p>
          <a:p>
            <a:pPr marL="177800" indent="-177800">
              <a:spcAft>
                <a:spcPts val="600"/>
              </a:spcAft>
              <a:buSzPct val="100000"/>
              <a:buChar char="•"/>
            </a:pPr>
            <a:r>
              <a:rPr lang="en-US" sz="1600" dirty="0">
                <a:solidFill>
                  <a:schemeClr val="bg2"/>
                </a:solidFill>
              </a:rPr>
              <a:t>Quel outil pour quelle tâche de recherche</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566928"/>
            <a:ext cx="11064240" cy="777240"/>
          </a:xfrm>
          <a:prstGeom prst="rect">
            <a:avLst/>
          </a:prstGeom>
          <a:noFill/>
          <a:ln/>
        </p:spPr>
        <p:txBody>
          <a:bodyPr wrap="square" lIns="0" tIns="0" rIns="0" bIns="0" rtlCol="0" anchor="ctr"/>
          <a:lstStyle/>
          <a:p>
            <a:pPr marL="0" indent="0" algn="l">
              <a:buNone/>
            </a:pPr>
            <a:r>
              <a:rPr lang="en-US" sz="2700" b="1" dirty="0">
                <a:solidFill>
                  <a:schemeClr val="tx2"/>
                </a:solidFill>
                <a:latin typeface="Poppins" pitchFamily="34" charset="0"/>
                <a:ea typeface="Poppins" pitchFamily="34" charset="-122"/>
                <a:cs typeface="Poppins" pitchFamily="34" charset="-120"/>
              </a:rPr>
              <a:t>Quatre outils, quatre « super-pouvoirs »</a:t>
            </a:r>
            <a:endParaRPr lang="en-US" sz="2700" dirty="0"/>
          </a:p>
        </p:txBody>
      </p:sp>
      <p:sp>
        <p:nvSpPr>
          <p:cNvPr id="3" name="Text 0"/>
          <p:cNvSpPr>
            <a:spLocks noGrp="1"/>
          </p:cNvSpPr>
          <p:nvPr>
            <p:ph type="body" idx="101" hasCustomPrompt="1"/>
          </p:nvPr>
        </p:nvSpPr>
        <p:spPr>
          <a:xfrm>
            <a:off x="548640" y="256032"/>
            <a:ext cx="8229600" cy="292608"/>
          </a:xfrm>
          <a:prstGeom prst="rect">
            <a:avLst/>
          </a:prstGeom>
          <a:noFill/>
          <a:ln/>
        </p:spPr>
        <p:txBody>
          <a:bodyPr wrap="square" lIns="0" tIns="0" rIns="0" bIns="0" rtlCol="0" anchor="ctr"/>
          <a:lstStyle/>
          <a:p>
            <a:pPr marL="0" indent="0">
              <a:buNone/>
            </a:pPr>
            <a:r>
              <a:rPr lang="en-US" sz="1100" b="1" dirty="0">
                <a:solidFill>
                  <a:schemeClr val="accent1"/>
                </a:solidFill>
                <a:latin typeface="Poppins" pitchFamily="34" charset="0"/>
                <a:ea typeface="Poppins" pitchFamily="34" charset="-122"/>
                <a:cs typeface="Poppins" pitchFamily="34" charset="-120"/>
              </a:rPr>
              <a:t>PANORAMA DES OUTILS</a:t>
            </a:r>
            <a:endParaRPr lang="en-US" sz="1100" dirty="0"/>
          </a:p>
        </p:txBody>
      </p:sp>
      <p:sp>
        <p:nvSpPr>
          <p:cNvPr id="4" name="card-298"/>
          <p:cNvSpPr/>
          <p:nvPr/>
        </p:nvSpPr>
        <p:spPr>
          <a:xfrm>
            <a:off x="548640" y="1600200"/>
            <a:ext cx="2606040" cy="3840480"/>
          </a:xfrm>
          <a:prstGeom prst="roundRect">
            <a:avLst>
              <a:gd name="adj" fmla="val 2807"/>
            </a:avLst>
          </a:prstGeom>
          <a:solidFill>
            <a:schemeClr val="bg2"/>
          </a:solidFill>
          <a:ln w="6350">
            <a:solidFill>
              <a:schemeClr val="bg2"/>
            </a:solidFill>
            <a:prstDash val="solid"/>
          </a:ln>
        </p:spPr>
      </p:sp>
      <p:sp>
        <p:nvSpPr>
          <p:cNvPr id="5" name="circle-299"/>
          <p:cNvSpPr/>
          <p:nvPr/>
        </p:nvSpPr>
        <p:spPr>
          <a:xfrm>
            <a:off x="822960" y="1828800"/>
            <a:ext cx="777240" cy="777240"/>
          </a:xfrm>
          <a:prstGeom prst="ellipse">
            <a:avLst/>
          </a:prstGeom>
          <a:solidFill>
            <a:schemeClr val="accent6"/>
          </a:solidFill>
          <a:ln w="12700">
            <a:solidFill>
              <a:schemeClr val="accent6"/>
            </a:solidFill>
            <a:prstDash val="solid"/>
          </a:ln>
        </p:spPr>
      </p:sp>
      <p:pic>
        <p:nvPicPr>
          <p:cNvPr id="6" name="icon-300" descr="preencoded.png"/>
          <p:cNvPicPr>
            <a:picLocks noChangeAspect="1"/>
          </p:cNvPicPr>
          <p:nvPr/>
        </p:nvPicPr>
        <p:blipFill>
          <a:blip r:embed="rId3"/>
          <a:stretch>
            <a:fillRect/>
          </a:stretch>
        </p:blipFill>
        <p:spPr>
          <a:xfrm>
            <a:off x="1017270" y="2023110"/>
            <a:ext cx="388620" cy="388620"/>
          </a:xfrm>
          <a:prstGeom prst="rect">
            <a:avLst/>
          </a:prstGeom>
        </p:spPr>
      </p:pic>
      <p:sp>
        <p:nvSpPr>
          <p:cNvPr id="7" name="txt-301"/>
          <p:cNvSpPr txBox="1"/>
          <p:nvPr/>
        </p:nvSpPr>
        <p:spPr>
          <a:xfrm>
            <a:off x="822960" y="2743200"/>
            <a:ext cx="2194560" cy="411480"/>
          </a:xfrm>
          <a:prstGeom prst="rect">
            <a:avLst/>
          </a:prstGeom>
          <a:noFill/>
          <a:ln/>
        </p:spPr>
        <p:txBody>
          <a:bodyPr wrap="square" lIns="0" tIns="0" rIns="0" bIns="0" rtlCol="0" anchor="t"/>
          <a:lstStyle/>
          <a:p>
            <a:pPr marL="0" indent="0">
              <a:buNone/>
            </a:pPr>
            <a:r>
              <a:rPr lang="en-US" sz="1700" b="1" dirty="0">
                <a:solidFill>
                  <a:schemeClr val="tx2"/>
                </a:solidFill>
              </a:rPr>
              <a:t>Gemini Notebook</a:t>
            </a:r>
            <a:endParaRPr lang="en-US" sz="1700" dirty="0"/>
          </a:p>
        </p:txBody>
      </p:sp>
      <p:sp>
        <p:nvSpPr>
          <p:cNvPr id="8" name="txt-302"/>
          <p:cNvSpPr txBox="1"/>
          <p:nvPr/>
        </p:nvSpPr>
        <p:spPr>
          <a:xfrm>
            <a:off x="822960" y="3127248"/>
            <a:ext cx="2194560" cy="274320"/>
          </a:xfrm>
          <a:prstGeom prst="rect">
            <a:avLst/>
          </a:prstGeom>
          <a:noFill/>
          <a:ln/>
        </p:spPr>
        <p:txBody>
          <a:bodyPr wrap="square" lIns="0" tIns="0" rIns="0" bIns="0" rtlCol="0" anchor="t"/>
          <a:lstStyle/>
          <a:p>
            <a:pPr marL="0" indent="0">
              <a:buNone/>
            </a:pPr>
            <a:r>
              <a:rPr lang="en-US" sz="1200" dirty="0">
                <a:solidFill>
                  <a:schemeClr val="accent5"/>
                </a:solidFill>
              </a:rPr>
              <a:t>Google</a:t>
            </a:r>
            <a:endParaRPr lang="en-US" sz="1200" dirty="0"/>
          </a:p>
        </p:txBody>
      </p:sp>
      <p:sp>
        <p:nvSpPr>
          <p:cNvPr id="9" name="card-303"/>
          <p:cNvSpPr/>
          <p:nvPr/>
        </p:nvSpPr>
        <p:spPr>
          <a:xfrm>
            <a:off x="822960" y="3493008"/>
            <a:ext cx="2103120" cy="310896"/>
          </a:xfrm>
          <a:prstGeom prst="roundRect">
            <a:avLst>
              <a:gd name="adj" fmla="val 23529"/>
            </a:avLst>
          </a:prstGeom>
          <a:solidFill>
            <a:schemeClr val="bg1"/>
          </a:solidFill>
          <a:ln w="6350">
            <a:solidFill>
              <a:schemeClr val="bg1"/>
            </a:solidFill>
            <a:prstDash val="solid"/>
          </a:ln>
        </p:spPr>
      </p:sp>
      <p:sp>
        <p:nvSpPr>
          <p:cNvPr id="10" name="txt-304"/>
          <p:cNvSpPr txBox="1"/>
          <p:nvPr/>
        </p:nvSpPr>
        <p:spPr>
          <a:xfrm>
            <a:off x="822960" y="3493008"/>
            <a:ext cx="2103120" cy="310896"/>
          </a:xfrm>
          <a:prstGeom prst="rect">
            <a:avLst/>
          </a:prstGeom>
          <a:noFill/>
          <a:ln/>
        </p:spPr>
        <p:txBody>
          <a:bodyPr wrap="square" lIns="0" tIns="0" rIns="0" bIns="0" rtlCol="0" anchor="ctr"/>
          <a:lstStyle/>
          <a:p>
            <a:pPr marL="0" indent="0" algn="ctr">
              <a:buNone/>
            </a:pPr>
            <a:r>
              <a:rPr lang="en-US" sz="1100" b="1" dirty="0">
                <a:solidFill>
                  <a:schemeClr val="accent6"/>
                </a:solidFill>
              </a:rPr>
              <a:t>notebook.google.com</a:t>
            </a:r>
            <a:endParaRPr lang="en-US" sz="1100" dirty="0"/>
          </a:p>
        </p:txBody>
      </p:sp>
      <p:sp>
        <p:nvSpPr>
          <p:cNvPr id="11" name="txt-305"/>
          <p:cNvSpPr txBox="1"/>
          <p:nvPr/>
        </p:nvSpPr>
        <p:spPr>
          <a:xfrm>
            <a:off x="822960" y="3977640"/>
            <a:ext cx="2148840" cy="1371600"/>
          </a:xfrm>
          <a:prstGeom prst="rect">
            <a:avLst/>
          </a:prstGeom>
          <a:noFill/>
          <a:ln/>
        </p:spPr>
        <p:txBody>
          <a:bodyPr wrap="square" lIns="0" tIns="0" rIns="0" bIns="0" rtlCol="0" anchor="t"/>
          <a:lstStyle/>
          <a:p>
            <a:pPr marL="0" indent="0">
              <a:buNone/>
            </a:pPr>
            <a:r>
              <a:rPr lang="en-US" sz="1300" dirty="0">
                <a:solidFill>
                  <a:schemeClr val="tx1"/>
                </a:solidFill>
              </a:rPr>
              <a:t>Répond uniquement à partir de VOS documents, avec citations</a:t>
            </a:r>
            <a:endParaRPr lang="en-US" sz="1300" dirty="0"/>
          </a:p>
        </p:txBody>
      </p:sp>
      <p:sp>
        <p:nvSpPr>
          <p:cNvPr id="12" name="card-306"/>
          <p:cNvSpPr/>
          <p:nvPr/>
        </p:nvSpPr>
        <p:spPr>
          <a:xfrm>
            <a:off x="3364992" y="1600200"/>
            <a:ext cx="2606040" cy="3840480"/>
          </a:xfrm>
          <a:prstGeom prst="roundRect">
            <a:avLst>
              <a:gd name="adj" fmla="val 2807"/>
            </a:avLst>
          </a:prstGeom>
          <a:solidFill>
            <a:schemeClr val="bg2"/>
          </a:solidFill>
          <a:ln w="6350">
            <a:solidFill>
              <a:schemeClr val="bg2"/>
            </a:solidFill>
            <a:prstDash val="solid"/>
          </a:ln>
        </p:spPr>
      </p:sp>
      <p:sp>
        <p:nvSpPr>
          <p:cNvPr id="13" name="circle-307"/>
          <p:cNvSpPr/>
          <p:nvPr/>
        </p:nvSpPr>
        <p:spPr>
          <a:xfrm>
            <a:off x="3639312" y="1828800"/>
            <a:ext cx="777240" cy="777240"/>
          </a:xfrm>
          <a:prstGeom prst="ellipse">
            <a:avLst/>
          </a:prstGeom>
          <a:solidFill>
            <a:schemeClr val="accent4"/>
          </a:solidFill>
          <a:ln w="12700">
            <a:solidFill>
              <a:schemeClr val="accent4"/>
            </a:solidFill>
            <a:prstDash val="solid"/>
          </a:ln>
        </p:spPr>
      </p:sp>
      <p:pic>
        <p:nvPicPr>
          <p:cNvPr id="14" name="icon-308" descr="preencoded.png"/>
          <p:cNvPicPr>
            <a:picLocks noChangeAspect="1"/>
          </p:cNvPicPr>
          <p:nvPr/>
        </p:nvPicPr>
        <p:blipFill>
          <a:blip r:embed="rId4"/>
          <a:stretch>
            <a:fillRect/>
          </a:stretch>
        </p:blipFill>
        <p:spPr>
          <a:xfrm>
            <a:off x="3833622" y="2023110"/>
            <a:ext cx="388620" cy="388620"/>
          </a:xfrm>
          <a:prstGeom prst="rect">
            <a:avLst/>
          </a:prstGeom>
        </p:spPr>
      </p:pic>
      <p:sp>
        <p:nvSpPr>
          <p:cNvPr id="15" name="txt-309"/>
          <p:cNvSpPr txBox="1"/>
          <p:nvPr/>
        </p:nvSpPr>
        <p:spPr>
          <a:xfrm>
            <a:off x="3639312" y="2743200"/>
            <a:ext cx="2194560" cy="411480"/>
          </a:xfrm>
          <a:prstGeom prst="rect">
            <a:avLst/>
          </a:prstGeom>
          <a:noFill/>
          <a:ln/>
        </p:spPr>
        <p:txBody>
          <a:bodyPr wrap="square" lIns="0" tIns="0" rIns="0" bIns="0" rtlCol="0" anchor="t"/>
          <a:lstStyle/>
          <a:p>
            <a:pPr marL="0" indent="0">
              <a:buNone/>
            </a:pPr>
            <a:r>
              <a:rPr lang="en-US" sz="1700" b="1" dirty="0">
                <a:solidFill>
                  <a:schemeClr val="tx2"/>
                </a:solidFill>
              </a:rPr>
              <a:t>Gemini</a:t>
            </a:r>
            <a:endParaRPr lang="en-US" sz="1700" dirty="0"/>
          </a:p>
        </p:txBody>
      </p:sp>
      <p:sp>
        <p:nvSpPr>
          <p:cNvPr id="16" name="txt-310"/>
          <p:cNvSpPr txBox="1"/>
          <p:nvPr/>
        </p:nvSpPr>
        <p:spPr>
          <a:xfrm>
            <a:off x="3639312" y="3127248"/>
            <a:ext cx="2194560" cy="274320"/>
          </a:xfrm>
          <a:prstGeom prst="rect">
            <a:avLst/>
          </a:prstGeom>
          <a:noFill/>
          <a:ln/>
        </p:spPr>
        <p:txBody>
          <a:bodyPr wrap="square" lIns="0" tIns="0" rIns="0" bIns="0" rtlCol="0" anchor="t"/>
          <a:lstStyle/>
          <a:p>
            <a:pPr marL="0" indent="0">
              <a:buNone/>
            </a:pPr>
            <a:r>
              <a:rPr lang="en-US" sz="1200" dirty="0">
                <a:solidFill>
                  <a:schemeClr val="accent5"/>
                </a:solidFill>
              </a:rPr>
              <a:t>Google</a:t>
            </a:r>
            <a:endParaRPr lang="en-US" sz="1200" dirty="0"/>
          </a:p>
        </p:txBody>
      </p:sp>
      <p:sp>
        <p:nvSpPr>
          <p:cNvPr id="17" name="card-311"/>
          <p:cNvSpPr/>
          <p:nvPr/>
        </p:nvSpPr>
        <p:spPr>
          <a:xfrm>
            <a:off x="3639312" y="3493008"/>
            <a:ext cx="2103120" cy="310896"/>
          </a:xfrm>
          <a:prstGeom prst="roundRect">
            <a:avLst>
              <a:gd name="adj" fmla="val 23529"/>
            </a:avLst>
          </a:prstGeom>
          <a:solidFill>
            <a:schemeClr val="bg1"/>
          </a:solidFill>
          <a:ln w="6350">
            <a:solidFill>
              <a:schemeClr val="bg1"/>
            </a:solidFill>
            <a:prstDash val="solid"/>
          </a:ln>
        </p:spPr>
      </p:sp>
      <p:sp>
        <p:nvSpPr>
          <p:cNvPr id="18" name="txt-312"/>
          <p:cNvSpPr txBox="1"/>
          <p:nvPr/>
        </p:nvSpPr>
        <p:spPr>
          <a:xfrm>
            <a:off x="3639312" y="3493008"/>
            <a:ext cx="2103120" cy="310896"/>
          </a:xfrm>
          <a:prstGeom prst="rect">
            <a:avLst/>
          </a:prstGeom>
          <a:noFill/>
          <a:ln/>
        </p:spPr>
        <p:txBody>
          <a:bodyPr wrap="square" lIns="0" tIns="0" rIns="0" bIns="0" rtlCol="0" anchor="ctr"/>
          <a:lstStyle/>
          <a:p>
            <a:pPr marL="0" indent="0" algn="ctr">
              <a:buNone/>
            </a:pPr>
            <a:r>
              <a:rPr lang="en-US" sz="1100" b="1" dirty="0">
                <a:solidFill>
                  <a:schemeClr val="accent4"/>
                </a:solidFill>
              </a:rPr>
              <a:t>gemini.google.com</a:t>
            </a:r>
            <a:endParaRPr lang="en-US" sz="1100" dirty="0"/>
          </a:p>
        </p:txBody>
      </p:sp>
      <p:sp>
        <p:nvSpPr>
          <p:cNvPr id="19" name="txt-313"/>
          <p:cNvSpPr txBox="1"/>
          <p:nvPr/>
        </p:nvSpPr>
        <p:spPr>
          <a:xfrm>
            <a:off x="3639312" y="3977640"/>
            <a:ext cx="2148840" cy="1371600"/>
          </a:xfrm>
          <a:prstGeom prst="rect">
            <a:avLst/>
          </a:prstGeom>
          <a:noFill/>
          <a:ln/>
        </p:spPr>
        <p:txBody>
          <a:bodyPr wrap="square" lIns="0" tIns="0" rIns="0" bIns="0" rtlCol="0" anchor="t"/>
          <a:lstStyle/>
          <a:p>
            <a:pPr marL="0" indent="0">
              <a:buNone/>
            </a:pPr>
            <a:r>
              <a:rPr lang="en-US" sz="1300" dirty="0">
                <a:solidFill>
                  <a:schemeClr val="tx1"/>
                </a:solidFill>
              </a:rPr>
              <a:t>Connecté à Google (Drive, Docs) ; Deep Research ; Gems</a:t>
            </a:r>
            <a:endParaRPr lang="en-US" sz="1300" dirty="0"/>
          </a:p>
        </p:txBody>
      </p:sp>
      <p:sp>
        <p:nvSpPr>
          <p:cNvPr id="20" name="card-314"/>
          <p:cNvSpPr/>
          <p:nvPr/>
        </p:nvSpPr>
        <p:spPr>
          <a:xfrm>
            <a:off x="6181344" y="1600200"/>
            <a:ext cx="2606040" cy="3840480"/>
          </a:xfrm>
          <a:prstGeom prst="roundRect">
            <a:avLst>
              <a:gd name="adj" fmla="val 2807"/>
            </a:avLst>
          </a:prstGeom>
          <a:solidFill>
            <a:schemeClr val="bg2"/>
          </a:solidFill>
          <a:ln w="6350">
            <a:solidFill>
              <a:schemeClr val="bg2"/>
            </a:solidFill>
            <a:prstDash val="solid"/>
          </a:ln>
        </p:spPr>
      </p:sp>
      <p:sp>
        <p:nvSpPr>
          <p:cNvPr id="21" name="circle-315"/>
          <p:cNvSpPr/>
          <p:nvPr/>
        </p:nvSpPr>
        <p:spPr>
          <a:xfrm>
            <a:off x="6455664" y="1828800"/>
            <a:ext cx="777240" cy="777240"/>
          </a:xfrm>
          <a:prstGeom prst="ellipse">
            <a:avLst/>
          </a:prstGeom>
          <a:solidFill>
            <a:schemeClr val="accent3"/>
          </a:solidFill>
          <a:ln w="12700">
            <a:solidFill>
              <a:schemeClr val="accent3"/>
            </a:solidFill>
            <a:prstDash val="solid"/>
          </a:ln>
        </p:spPr>
      </p:sp>
      <p:pic>
        <p:nvPicPr>
          <p:cNvPr id="22" name="icon-316" descr="preencoded.png"/>
          <p:cNvPicPr>
            <a:picLocks noChangeAspect="1"/>
          </p:cNvPicPr>
          <p:nvPr/>
        </p:nvPicPr>
        <p:blipFill>
          <a:blip r:embed="rId5"/>
          <a:stretch>
            <a:fillRect/>
          </a:stretch>
        </p:blipFill>
        <p:spPr>
          <a:xfrm>
            <a:off x="6649974" y="2023110"/>
            <a:ext cx="388620" cy="388620"/>
          </a:xfrm>
          <a:prstGeom prst="rect">
            <a:avLst/>
          </a:prstGeom>
        </p:spPr>
      </p:pic>
      <p:sp>
        <p:nvSpPr>
          <p:cNvPr id="23" name="txt-317"/>
          <p:cNvSpPr txBox="1"/>
          <p:nvPr/>
        </p:nvSpPr>
        <p:spPr>
          <a:xfrm>
            <a:off x="6455664" y="2743200"/>
            <a:ext cx="2194560" cy="411480"/>
          </a:xfrm>
          <a:prstGeom prst="rect">
            <a:avLst/>
          </a:prstGeom>
          <a:noFill/>
          <a:ln/>
        </p:spPr>
        <p:txBody>
          <a:bodyPr wrap="square" lIns="0" tIns="0" rIns="0" bIns="0" rtlCol="0" anchor="t"/>
          <a:lstStyle/>
          <a:p>
            <a:pPr marL="0" indent="0">
              <a:buNone/>
            </a:pPr>
            <a:r>
              <a:rPr lang="en-US" sz="1700" b="1" dirty="0">
                <a:solidFill>
                  <a:schemeClr val="tx2"/>
                </a:solidFill>
              </a:rPr>
              <a:t>Claude</a:t>
            </a:r>
            <a:endParaRPr lang="en-US" sz="1700" dirty="0"/>
          </a:p>
        </p:txBody>
      </p:sp>
      <p:sp>
        <p:nvSpPr>
          <p:cNvPr id="24" name="txt-318"/>
          <p:cNvSpPr txBox="1"/>
          <p:nvPr/>
        </p:nvSpPr>
        <p:spPr>
          <a:xfrm>
            <a:off x="6455664" y="3127248"/>
            <a:ext cx="2194560" cy="274320"/>
          </a:xfrm>
          <a:prstGeom prst="rect">
            <a:avLst/>
          </a:prstGeom>
          <a:noFill/>
          <a:ln/>
        </p:spPr>
        <p:txBody>
          <a:bodyPr wrap="square" lIns="0" tIns="0" rIns="0" bIns="0" rtlCol="0" anchor="t"/>
          <a:lstStyle/>
          <a:p>
            <a:pPr marL="0" indent="0">
              <a:buNone/>
            </a:pPr>
            <a:r>
              <a:rPr lang="en-US" sz="1200" dirty="0">
                <a:solidFill>
                  <a:schemeClr val="accent5"/>
                </a:solidFill>
              </a:rPr>
              <a:t>Anthropic</a:t>
            </a:r>
            <a:endParaRPr lang="en-US" sz="1200" dirty="0"/>
          </a:p>
        </p:txBody>
      </p:sp>
      <p:sp>
        <p:nvSpPr>
          <p:cNvPr id="25" name="card-319"/>
          <p:cNvSpPr/>
          <p:nvPr/>
        </p:nvSpPr>
        <p:spPr>
          <a:xfrm>
            <a:off x="6455664" y="3493008"/>
            <a:ext cx="2103120" cy="310896"/>
          </a:xfrm>
          <a:prstGeom prst="roundRect">
            <a:avLst>
              <a:gd name="adj" fmla="val 23529"/>
            </a:avLst>
          </a:prstGeom>
          <a:solidFill>
            <a:schemeClr val="bg1"/>
          </a:solidFill>
          <a:ln w="6350">
            <a:solidFill>
              <a:schemeClr val="bg1"/>
            </a:solidFill>
            <a:prstDash val="solid"/>
          </a:ln>
        </p:spPr>
      </p:sp>
      <p:sp>
        <p:nvSpPr>
          <p:cNvPr id="26" name="txt-320"/>
          <p:cNvSpPr txBox="1"/>
          <p:nvPr/>
        </p:nvSpPr>
        <p:spPr>
          <a:xfrm>
            <a:off x="6455664" y="3493008"/>
            <a:ext cx="2103120" cy="310896"/>
          </a:xfrm>
          <a:prstGeom prst="rect">
            <a:avLst/>
          </a:prstGeom>
          <a:noFill/>
          <a:ln/>
        </p:spPr>
        <p:txBody>
          <a:bodyPr wrap="square" lIns="0" tIns="0" rIns="0" bIns="0" rtlCol="0" anchor="ctr"/>
          <a:lstStyle/>
          <a:p>
            <a:pPr marL="0" indent="0" algn="ctr">
              <a:buNone/>
            </a:pPr>
            <a:r>
              <a:rPr lang="en-US" sz="1100" b="1" dirty="0">
                <a:solidFill>
                  <a:schemeClr val="accent3"/>
                </a:solidFill>
              </a:rPr>
              <a:t>claude.ai</a:t>
            </a:r>
            <a:endParaRPr lang="en-US" sz="1100" dirty="0"/>
          </a:p>
        </p:txBody>
      </p:sp>
      <p:sp>
        <p:nvSpPr>
          <p:cNvPr id="27" name="txt-321"/>
          <p:cNvSpPr txBox="1"/>
          <p:nvPr/>
        </p:nvSpPr>
        <p:spPr>
          <a:xfrm>
            <a:off x="6455664" y="3977640"/>
            <a:ext cx="2148840" cy="1371600"/>
          </a:xfrm>
          <a:prstGeom prst="rect">
            <a:avLst/>
          </a:prstGeom>
          <a:noFill/>
          <a:ln/>
        </p:spPr>
        <p:txBody>
          <a:bodyPr wrap="square" lIns="0" tIns="0" rIns="0" bIns="0" rtlCol="0" anchor="t"/>
          <a:lstStyle/>
          <a:p>
            <a:pPr marL="0" indent="0">
              <a:buNone/>
            </a:pPr>
            <a:r>
              <a:rPr lang="en-US" sz="1300" dirty="0">
                <a:solidFill>
                  <a:schemeClr val="tx1"/>
                </a:solidFill>
              </a:rPr>
              <a:t>Lecture de longs documents, écriture nuancée</a:t>
            </a:r>
            <a:endParaRPr lang="en-US" sz="1300" dirty="0"/>
          </a:p>
        </p:txBody>
      </p:sp>
      <p:sp>
        <p:nvSpPr>
          <p:cNvPr id="28" name="card-322"/>
          <p:cNvSpPr/>
          <p:nvPr/>
        </p:nvSpPr>
        <p:spPr>
          <a:xfrm>
            <a:off x="8997696" y="1600200"/>
            <a:ext cx="2606040" cy="3840480"/>
          </a:xfrm>
          <a:prstGeom prst="roundRect">
            <a:avLst>
              <a:gd name="adj" fmla="val 2807"/>
            </a:avLst>
          </a:prstGeom>
          <a:solidFill>
            <a:schemeClr val="bg2"/>
          </a:solidFill>
          <a:ln w="6350">
            <a:solidFill>
              <a:schemeClr val="bg2"/>
            </a:solidFill>
            <a:prstDash val="solid"/>
          </a:ln>
        </p:spPr>
      </p:sp>
      <p:sp>
        <p:nvSpPr>
          <p:cNvPr id="29" name="circle-323"/>
          <p:cNvSpPr/>
          <p:nvPr/>
        </p:nvSpPr>
        <p:spPr>
          <a:xfrm>
            <a:off x="9272016" y="1828800"/>
            <a:ext cx="777240" cy="777240"/>
          </a:xfrm>
          <a:prstGeom prst="ellipse">
            <a:avLst/>
          </a:prstGeom>
          <a:solidFill>
            <a:schemeClr val="tx1"/>
          </a:solidFill>
          <a:ln w="12700">
            <a:solidFill>
              <a:schemeClr val="tx1"/>
            </a:solidFill>
            <a:prstDash val="solid"/>
          </a:ln>
        </p:spPr>
      </p:sp>
      <p:pic>
        <p:nvPicPr>
          <p:cNvPr id="30" name="icon-324" descr="preencoded.png"/>
          <p:cNvPicPr>
            <a:picLocks noChangeAspect="1"/>
          </p:cNvPicPr>
          <p:nvPr/>
        </p:nvPicPr>
        <p:blipFill>
          <a:blip r:embed="rId6"/>
          <a:stretch>
            <a:fillRect/>
          </a:stretch>
        </p:blipFill>
        <p:spPr>
          <a:xfrm>
            <a:off x="9466326" y="2023110"/>
            <a:ext cx="388620" cy="388620"/>
          </a:xfrm>
          <a:prstGeom prst="rect">
            <a:avLst/>
          </a:prstGeom>
        </p:spPr>
      </p:pic>
      <p:sp>
        <p:nvSpPr>
          <p:cNvPr id="31" name="txt-325"/>
          <p:cNvSpPr txBox="1"/>
          <p:nvPr/>
        </p:nvSpPr>
        <p:spPr>
          <a:xfrm>
            <a:off x="9272016" y="2743200"/>
            <a:ext cx="2194560" cy="411480"/>
          </a:xfrm>
          <a:prstGeom prst="rect">
            <a:avLst/>
          </a:prstGeom>
          <a:noFill/>
          <a:ln/>
        </p:spPr>
        <p:txBody>
          <a:bodyPr wrap="square" lIns="0" tIns="0" rIns="0" bIns="0" rtlCol="0" anchor="t"/>
          <a:lstStyle/>
          <a:p>
            <a:pPr marL="0" indent="0">
              <a:buNone/>
            </a:pPr>
            <a:r>
              <a:rPr lang="en-US" sz="1700" b="1" dirty="0">
                <a:solidFill>
                  <a:schemeClr val="tx2"/>
                </a:solidFill>
              </a:rPr>
              <a:t>Grok</a:t>
            </a:r>
            <a:endParaRPr lang="en-US" sz="1700" dirty="0"/>
          </a:p>
        </p:txBody>
      </p:sp>
      <p:sp>
        <p:nvSpPr>
          <p:cNvPr id="32" name="txt-326"/>
          <p:cNvSpPr txBox="1"/>
          <p:nvPr/>
        </p:nvSpPr>
        <p:spPr>
          <a:xfrm>
            <a:off x="9272016" y="3127248"/>
            <a:ext cx="2194560" cy="274320"/>
          </a:xfrm>
          <a:prstGeom prst="rect">
            <a:avLst/>
          </a:prstGeom>
          <a:noFill/>
          <a:ln/>
        </p:spPr>
        <p:txBody>
          <a:bodyPr wrap="square" lIns="0" tIns="0" rIns="0" bIns="0" rtlCol="0" anchor="t"/>
          <a:lstStyle/>
          <a:p>
            <a:pPr marL="0" indent="0">
              <a:buNone/>
            </a:pPr>
            <a:r>
              <a:rPr lang="en-US" sz="1200" dirty="0">
                <a:solidFill>
                  <a:schemeClr val="accent5"/>
                </a:solidFill>
              </a:rPr>
              <a:t>xAI</a:t>
            </a:r>
            <a:endParaRPr lang="en-US" sz="1200" dirty="0"/>
          </a:p>
        </p:txBody>
      </p:sp>
      <p:sp>
        <p:nvSpPr>
          <p:cNvPr id="33" name="card-327"/>
          <p:cNvSpPr/>
          <p:nvPr/>
        </p:nvSpPr>
        <p:spPr>
          <a:xfrm>
            <a:off x="9272016" y="3493008"/>
            <a:ext cx="2103120" cy="310896"/>
          </a:xfrm>
          <a:prstGeom prst="roundRect">
            <a:avLst>
              <a:gd name="adj" fmla="val 23529"/>
            </a:avLst>
          </a:prstGeom>
          <a:solidFill>
            <a:schemeClr val="bg1"/>
          </a:solidFill>
          <a:ln w="6350">
            <a:solidFill>
              <a:schemeClr val="bg1"/>
            </a:solidFill>
            <a:prstDash val="solid"/>
          </a:ln>
        </p:spPr>
      </p:sp>
      <p:sp>
        <p:nvSpPr>
          <p:cNvPr id="34" name="txt-328"/>
          <p:cNvSpPr txBox="1"/>
          <p:nvPr/>
        </p:nvSpPr>
        <p:spPr>
          <a:xfrm>
            <a:off x="9272016" y="3493008"/>
            <a:ext cx="2103120" cy="310896"/>
          </a:xfrm>
          <a:prstGeom prst="rect">
            <a:avLst/>
          </a:prstGeom>
          <a:noFill/>
          <a:ln/>
        </p:spPr>
        <p:txBody>
          <a:bodyPr wrap="square" lIns="0" tIns="0" rIns="0" bIns="0" rtlCol="0" anchor="ctr"/>
          <a:lstStyle/>
          <a:p>
            <a:pPr marL="0" indent="0" algn="ctr">
              <a:buNone/>
            </a:pPr>
            <a:r>
              <a:rPr lang="en-US" sz="1100" b="1" dirty="0">
                <a:solidFill>
                  <a:schemeClr val="tx1"/>
                </a:solidFill>
              </a:rPr>
              <a:t>grok.com</a:t>
            </a:r>
            <a:endParaRPr lang="en-US" sz="1100" dirty="0"/>
          </a:p>
        </p:txBody>
      </p:sp>
      <p:sp>
        <p:nvSpPr>
          <p:cNvPr id="35" name="txt-329"/>
          <p:cNvSpPr txBox="1"/>
          <p:nvPr/>
        </p:nvSpPr>
        <p:spPr>
          <a:xfrm>
            <a:off x="9272016" y="3977640"/>
            <a:ext cx="2148840" cy="1371600"/>
          </a:xfrm>
          <a:prstGeom prst="rect">
            <a:avLst/>
          </a:prstGeom>
          <a:noFill/>
          <a:ln/>
        </p:spPr>
        <p:txBody>
          <a:bodyPr wrap="square" lIns="0" tIns="0" rIns="0" bIns="0" rtlCol="0" anchor="t"/>
          <a:lstStyle/>
          <a:p>
            <a:pPr marL="0" indent="0">
              <a:buNone/>
            </a:pPr>
            <a:r>
              <a:rPr lang="en-US" sz="1300" dirty="0">
                <a:solidFill>
                  <a:schemeClr val="tx1"/>
                </a:solidFill>
              </a:rPr>
              <a:t>Actualité en temps réel (web et réseau X)</a:t>
            </a:r>
            <a:endParaRPr lang="en-US" sz="1300" dirty="0"/>
          </a:p>
        </p:txBody>
      </p:sp>
      <p:sp>
        <p:nvSpPr>
          <p:cNvPr id="36" name="card-330"/>
          <p:cNvSpPr/>
          <p:nvPr/>
        </p:nvSpPr>
        <p:spPr>
          <a:xfrm>
            <a:off x="548640" y="5596128"/>
            <a:ext cx="11064240" cy="457200"/>
          </a:xfrm>
          <a:prstGeom prst="roundRect">
            <a:avLst>
              <a:gd name="adj" fmla="val 16000"/>
            </a:avLst>
          </a:prstGeom>
          <a:solidFill>
            <a:schemeClr val="bg1"/>
          </a:solidFill>
          <a:ln w="12700">
            <a:solidFill>
              <a:srgbClr val="6B7C82"/>
            </a:solidFill>
            <a:prstDash val="solid"/>
          </a:ln>
        </p:spPr>
      </p:sp>
      <p:sp>
        <p:nvSpPr>
          <p:cNvPr id="37" name="txt-331"/>
          <p:cNvSpPr txBox="1"/>
          <p:nvPr/>
        </p:nvSpPr>
        <p:spPr>
          <a:xfrm>
            <a:off x="731520" y="5596128"/>
            <a:ext cx="10698480" cy="457200"/>
          </a:xfrm>
          <a:prstGeom prst="rect">
            <a:avLst/>
          </a:prstGeom>
          <a:noFill/>
          <a:ln/>
        </p:spPr>
        <p:txBody>
          <a:bodyPr wrap="square" lIns="0" tIns="0" rIns="0" bIns="0" rtlCol="0" anchor="ctr"/>
          <a:lstStyle/>
          <a:p>
            <a:pPr marL="0" indent="0">
              <a:buNone/>
            </a:pPr>
            <a:r>
              <a:rPr lang="en-US" sz="1300" dirty="0">
                <a:solidFill>
                  <a:schemeClr val="accent5"/>
                </a:solidFill>
              </a:rPr>
              <a:t>Et ChatGPT (chatgpt.com) ? Toujours utile et très répandu : les méthodes de la journée s'y appliquent aussi.</a:t>
            </a:r>
            <a:endParaRPr lang="en-US" sz="1300" dirty="0"/>
          </a:p>
        </p:txBody>
      </p:sp>
      <p:sp>
        <p:nvSpPr>
          <p:cNvPr id="38" name="Slide Number Placeholder 0"/>
          <p:cNvSpPr>
            <a:spLocks noGrp="1"/>
          </p:cNvSpPr>
          <p:nvPr>
            <p:ph type="sldNum" sz="quarter" idx="4294967295"/>
          </p:nvPr>
        </p:nvSpPr>
        <p:spPr>
          <a:xfrm>
            <a:off x="11064240" y="6400800"/>
            <a:ext cx="54864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C82"/>
                </a:solidFill>
                <a:latin typeface="Poppins"/>
                <a:ea typeface="Poppins"/>
                <a:cs typeface="Poppins"/>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566928"/>
            <a:ext cx="11064240" cy="777240"/>
          </a:xfrm>
          <a:prstGeom prst="rect">
            <a:avLst/>
          </a:prstGeom>
          <a:noFill/>
          <a:ln/>
        </p:spPr>
        <p:txBody>
          <a:bodyPr wrap="square" lIns="0" tIns="0" rIns="0" bIns="0" rtlCol="0" anchor="ctr"/>
          <a:lstStyle/>
          <a:p>
            <a:pPr marL="0" indent="0" algn="l">
              <a:buNone/>
            </a:pPr>
            <a:r>
              <a:rPr lang="en-US" sz="2700" b="1" dirty="0">
                <a:solidFill>
                  <a:schemeClr val="tx2"/>
                </a:solidFill>
                <a:latin typeface="Poppins" pitchFamily="34" charset="0"/>
                <a:ea typeface="Poppins" pitchFamily="34" charset="-122"/>
                <a:cs typeface="Poppins" pitchFamily="34" charset="-120"/>
              </a:rPr>
              <a:t>Gemini Notebook : votre RAG personnel</a:t>
            </a:r>
            <a:endParaRPr lang="en-US" sz="2700" dirty="0"/>
          </a:p>
        </p:txBody>
      </p:sp>
      <p:sp>
        <p:nvSpPr>
          <p:cNvPr id="3" name="Text 0"/>
          <p:cNvSpPr>
            <a:spLocks noGrp="1"/>
          </p:cNvSpPr>
          <p:nvPr>
            <p:ph type="body" idx="101" hasCustomPrompt="1"/>
          </p:nvPr>
        </p:nvSpPr>
        <p:spPr>
          <a:xfrm>
            <a:off x="548640" y="256032"/>
            <a:ext cx="8229600" cy="292608"/>
          </a:xfrm>
          <a:prstGeom prst="rect">
            <a:avLst/>
          </a:prstGeom>
          <a:noFill/>
          <a:ln/>
        </p:spPr>
        <p:txBody>
          <a:bodyPr wrap="square" lIns="0" tIns="0" rIns="0" bIns="0" rtlCol="0" anchor="ctr"/>
          <a:lstStyle/>
          <a:p>
            <a:pPr marL="0" indent="0">
              <a:buNone/>
            </a:pPr>
            <a:r>
              <a:rPr lang="en-US" sz="1100" b="1" dirty="0">
                <a:solidFill>
                  <a:schemeClr val="accent1"/>
                </a:solidFill>
                <a:latin typeface="Poppins" pitchFamily="34" charset="0"/>
                <a:ea typeface="Poppins" pitchFamily="34" charset="-122"/>
                <a:cs typeface="Poppins" pitchFamily="34" charset="-120"/>
              </a:rPr>
              <a:t>PANORAMA DES OUTILS · 1/4</a:t>
            </a:r>
            <a:endParaRPr lang="en-US" sz="1100" dirty="0"/>
          </a:p>
        </p:txBody>
      </p:sp>
      <p:sp>
        <p:nvSpPr>
          <p:cNvPr id="4" name="card-332"/>
          <p:cNvSpPr/>
          <p:nvPr/>
        </p:nvSpPr>
        <p:spPr>
          <a:xfrm>
            <a:off x="548640" y="1554480"/>
            <a:ext cx="3017520" cy="4434840"/>
          </a:xfrm>
          <a:prstGeom prst="roundRect">
            <a:avLst>
              <a:gd name="adj" fmla="val 2424"/>
            </a:avLst>
          </a:prstGeom>
          <a:solidFill>
            <a:schemeClr val="accent6"/>
          </a:solidFill>
          <a:ln w="6350">
            <a:solidFill>
              <a:schemeClr val="accent6"/>
            </a:solidFill>
            <a:prstDash val="solid"/>
          </a:ln>
        </p:spPr>
      </p:sp>
      <p:sp>
        <p:nvSpPr>
          <p:cNvPr id="5" name="circle-333"/>
          <p:cNvSpPr/>
          <p:nvPr/>
        </p:nvSpPr>
        <p:spPr>
          <a:xfrm>
            <a:off x="822960" y="1810512"/>
            <a:ext cx="914400" cy="914400"/>
          </a:xfrm>
          <a:prstGeom prst="ellipse">
            <a:avLst/>
          </a:prstGeom>
          <a:solidFill>
            <a:schemeClr val="bg1"/>
          </a:solidFill>
          <a:ln w="12700">
            <a:solidFill>
              <a:schemeClr val="bg1"/>
            </a:solidFill>
            <a:prstDash val="solid"/>
          </a:ln>
        </p:spPr>
      </p:sp>
      <p:pic>
        <p:nvPicPr>
          <p:cNvPr id="6" name="icon-334" descr="preencoded.png"/>
          <p:cNvPicPr>
            <a:picLocks noChangeAspect="1"/>
          </p:cNvPicPr>
          <p:nvPr/>
        </p:nvPicPr>
        <p:blipFill>
          <a:blip r:embed="rId3"/>
          <a:stretch>
            <a:fillRect/>
          </a:stretch>
        </p:blipFill>
        <p:spPr>
          <a:xfrm>
            <a:off x="1051560" y="2039112"/>
            <a:ext cx="457200" cy="457200"/>
          </a:xfrm>
          <a:prstGeom prst="rect">
            <a:avLst/>
          </a:prstGeom>
        </p:spPr>
      </p:pic>
      <p:sp>
        <p:nvSpPr>
          <p:cNvPr id="7" name="txt-335"/>
          <p:cNvSpPr txBox="1"/>
          <p:nvPr/>
        </p:nvSpPr>
        <p:spPr>
          <a:xfrm>
            <a:off x="822960" y="2880360"/>
            <a:ext cx="2560320" cy="502920"/>
          </a:xfrm>
          <a:prstGeom prst="rect">
            <a:avLst/>
          </a:prstGeom>
          <a:noFill/>
          <a:ln/>
        </p:spPr>
        <p:txBody>
          <a:bodyPr wrap="square" lIns="0" tIns="0" rIns="0" bIns="0" rtlCol="0" anchor="t"/>
          <a:lstStyle/>
          <a:p>
            <a:pPr marL="0" indent="0">
              <a:buNone/>
            </a:pPr>
            <a:r>
              <a:rPr lang="en-US" sz="2200" b="1" dirty="0">
                <a:solidFill>
                  <a:schemeClr val="bg1"/>
                </a:solidFill>
              </a:rPr>
              <a:t>Gemini Notebook</a:t>
            </a:r>
            <a:endParaRPr lang="en-US" sz="2200" dirty="0"/>
          </a:p>
        </p:txBody>
      </p:sp>
      <p:sp>
        <p:nvSpPr>
          <p:cNvPr id="8" name="txt-336"/>
          <p:cNvSpPr txBox="1"/>
          <p:nvPr/>
        </p:nvSpPr>
        <p:spPr>
          <a:xfrm>
            <a:off x="822960" y="3383280"/>
            <a:ext cx="2560320" cy="320040"/>
          </a:xfrm>
          <a:prstGeom prst="rect">
            <a:avLst/>
          </a:prstGeom>
          <a:noFill/>
          <a:ln/>
        </p:spPr>
        <p:txBody>
          <a:bodyPr wrap="square" lIns="0" tIns="0" rIns="0" bIns="0" rtlCol="0" anchor="t"/>
          <a:lstStyle/>
          <a:p>
            <a:pPr marL="0" indent="0">
              <a:buNone/>
            </a:pPr>
            <a:r>
              <a:rPr lang="en-US" sz="1300" dirty="0">
                <a:solidFill>
                  <a:schemeClr val="bg1"/>
                </a:solidFill>
              </a:rPr>
              <a:t>Google · ex-NotebookLM, renommé en juillet 2026</a:t>
            </a:r>
            <a:endParaRPr lang="en-US" sz="1300" dirty="0"/>
          </a:p>
        </p:txBody>
      </p:sp>
      <p:sp>
        <p:nvSpPr>
          <p:cNvPr id="9" name="card-337"/>
          <p:cNvSpPr/>
          <p:nvPr/>
        </p:nvSpPr>
        <p:spPr>
          <a:xfrm>
            <a:off x="822960" y="3840480"/>
            <a:ext cx="2514600" cy="384048"/>
          </a:xfrm>
          <a:prstGeom prst="roundRect">
            <a:avLst>
              <a:gd name="adj" fmla="val 19048"/>
            </a:avLst>
          </a:prstGeom>
          <a:solidFill>
            <a:schemeClr val="bg1"/>
          </a:solidFill>
          <a:ln w="6350">
            <a:solidFill>
              <a:schemeClr val="bg1"/>
            </a:solidFill>
            <a:prstDash val="solid"/>
          </a:ln>
        </p:spPr>
      </p:sp>
      <p:sp>
        <p:nvSpPr>
          <p:cNvPr id="10" name="txt-338"/>
          <p:cNvSpPr txBox="1"/>
          <p:nvPr/>
        </p:nvSpPr>
        <p:spPr>
          <a:xfrm>
            <a:off x="822960" y="3840480"/>
            <a:ext cx="2514600" cy="384048"/>
          </a:xfrm>
          <a:prstGeom prst="rect">
            <a:avLst/>
          </a:prstGeom>
          <a:noFill/>
          <a:ln/>
        </p:spPr>
        <p:txBody>
          <a:bodyPr wrap="square" lIns="0" tIns="0" rIns="0" bIns="0" rtlCol="0" anchor="ctr"/>
          <a:lstStyle/>
          <a:p>
            <a:pPr marL="0" indent="0" algn="ctr">
              <a:buNone/>
            </a:pPr>
            <a:r>
              <a:rPr lang="en-US" sz="1300" b="1" dirty="0">
                <a:solidFill>
                  <a:schemeClr val="accent6"/>
                </a:solidFill>
              </a:rPr>
              <a:t>notebook.google.com</a:t>
            </a:r>
            <a:endParaRPr lang="en-US" sz="1300" dirty="0"/>
          </a:p>
        </p:txBody>
      </p:sp>
      <p:sp>
        <p:nvSpPr>
          <p:cNvPr id="11" name="txt-339"/>
          <p:cNvSpPr txBox="1"/>
          <p:nvPr/>
        </p:nvSpPr>
        <p:spPr>
          <a:xfrm>
            <a:off x="822960" y="4434840"/>
            <a:ext cx="2560320" cy="1371600"/>
          </a:xfrm>
          <a:prstGeom prst="rect">
            <a:avLst/>
          </a:prstGeom>
          <a:noFill/>
          <a:ln/>
        </p:spPr>
        <p:txBody>
          <a:bodyPr wrap="square" lIns="0" tIns="0" rIns="0" bIns="0" rtlCol="0" anchor="t"/>
          <a:lstStyle/>
          <a:p>
            <a:pPr marL="0" indent="0">
              <a:buNone/>
            </a:pPr>
            <a:r>
              <a:rPr lang="en-US" sz="1300" i="1" dirty="0">
                <a:solidFill>
                  <a:schemeClr val="bg1"/>
                </a:solidFill>
              </a:rPr>
              <a:t>« Un assistant qui n'a lu que vos documents. »</a:t>
            </a:r>
            <a:endParaRPr lang="en-US" sz="1300" dirty="0"/>
          </a:p>
        </p:txBody>
      </p:sp>
      <p:sp>
        <p:nvSpPr>
          <p:cNvPr id="12" name="txt-340"/>
          <p:cNvSpPr txBox="1"/>
          <p:nvPr/>
        </p:nvSpPr>
        <p:spPr>
          <a:xfrm>
            <a:off x="3840480" y="1554480"/>
            <a:ext cx="4023360" cy="365760"/>
          </a:xfrm>
          <a:prstGeom prst="rect">
            <a:avLst/>
          </a:prstGeom>
          <a:noFill/>
          <a:ln/>
        </p:spPr>
        <p:txBody>
          <a:bodyPr wrap="square" lIns="0" tIns="0" rIns="0" bIns="0" rtlCol="0" anchor="t"/>
          <a:lstStyle/>
          <a:p>
            <a:pPr marL="0" indent="0">
              <a:buNone/>
            </a:pPr>
            <a:r>
              <a:rPr lang="en-US" sz="1500" b="1" dirty="0">
                <a:solidFill>
                  <a:schemeClr val="tx2"/>
                </a:solidFill>
              </a:rPr>
              <a:t>Ce qu'il fait le mieux</a:t>
            </a:r>
            <a:endParaRPr lang="en-US" sz="1500" dirty="0"/>
          </a:p>
        </p:txBody>
      </p:sp>
      <p:sp>
        <p:nvSpPr>
          <p:cNvPr id="13" name="txt-341"/>
          <p:cNvSpPr txBox="1"/>
          <p:nvPr/>
        </p:nvSpPr>
        <p:spPr>
          <a:xfrm>
            <a:off x="3840480" y="1938528"/>
            <a:ext cx="4023360" cy="178308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1"/>
                </a:solidFill>
              </a:rPr>
              <a:t>Répond uniquement à partir des sources que vous chargez</a:t>
            </a:r>
            <a:endParaRPr lang="en-US" sz="1300" dirty="0"/>
          </a:p>
          <a:p>
            <a:pPr marL="177800" indent="-177800">
              <a:spcAft>
                <a:spcPts val="400"/>
              </a:spcAft>
              <a:buSzPct val="100000"/>
              <a:buChar char="•"/>
            </a:pPr>
            <a:r>
              <a:rPr lang="en-US" sz="1300" dirty="0">
                <a:solidFill>
                  <a:schemeClr val="tx1"/>
                </a:solidFill>
              </a:rPr>
              <a:t>Chaque affirmation renvoie au passage exact [1], [2]…</a:t>
            </a:r>
            <a:endParaRPr lang="en-US" sz="1300" dirty="0"/>
          </a:p>
          <a:p>
            <a:pPr marL="177800" indent="-177800">
              <a:spcAft>
                <a:spcPts val="400"/>
              </a:spcAft>
              <a:buSzPct val="100000"/>
              <a:buChar char="•"/>
            </a:pPr>
            <a:r>
              <a:rPr lang="en-US" sz="1300" dirty="0">
                <a:solidFill>
                  <a:schemeClr val="tx1"/>
                </a:solidFill>
              </a:rPr>
              <a:t>Studio : rapports, cartes mentales, aperçus audio et vidéo, fiches, quiz</a:t>
            </a:r>
            <a:endParaRPr lang="en-US" sz="1300" dirty="0"/>
          </a:p>
        </p:txBody>
      </p:sp>
      <p:sp>
        <p:nvSpPr>
          <p:cNvPr id="14" name="txt-342"/>
          <p:cNvSpPr txBox="1"/>
          <p:nvPr/>
        </p:nvSpPr>
        <p:spPr>
          <a:xfrm>
            <a:off x="3840480" y="3794760"/>
            <a:ext cx="4023360" cy="365760"/>
          </a:xfrm>
          <a:prstGeom prst="rect">
            <a:avLst/>
          </a:prstGeom>
          <a:noFill/>
          <a:ln/>
        </p:spPr>
        <p:txBody>
          <a:bodyPr wrap="square" lIns="0" tIns="0" rIns="0" bIns="0" rtlCol="0" anchor="t"/>
          <a:lstStyle/>
          <a:p>
            <a:pPr marL="0" indent="0">
              <a:buNone/>
            </a:pPr>
            <a:r>
              <a:rPr lang="en-US" sz="1500" b="1" dirty="0">
                <a:solidFill>
                  <a:schemeClr val="tx2"/>
                </a:solidFill>
              </a:rPr>
              <a:t>Pour vous, chercheure</a:t>
            </a:r>
            <a:endParaRPr lang="en-US" sz="1500" dirty="0"/>
          </a:p>
        </p:txBody>
      </p:sp>
      <p:sp>
        <p:nvSpPr>
          <p:cNvPr id="15" name="txt-343"/>
          <p:cNvSpPr txBox="1"/>
          <p:nvPr/>
        </p:nvSpPr>
        <p:spPr>
          <a:xfrm>
            <a:off x="3840480" y="4178808"/>
            <a:ext cx="4023360" cy="178308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1"/>
                </a:solidFill>
              </a:rPr>
              <a:t>Interroger 20 entretiens ou 30 articles à la fois</a:t>
            </a:r>
            <a:endParaRPr lang="en-US" sz="1300" dirty="0"/>
          </a:p>
          <a:p>
            <a:pPr marL="177800" indent="-177800">
              <a:spcAft>
                <a:spcPts val="400"/>
              </a:spcAft>
              <a:buSzPct val="100000"/>
              <a:buChar char="•"/>
            </a:pPr>
            <a:r>
              <a:rPr lang="en-US" sz="1300" dirty="0">
                <a:solidFill>
                  <a:schemeClr val="tx1"/>
                </a:solidFill>
              </a:rPr>
              <a:t>Préparer un cours à partir de vos PDF (fiches, quiz)</a:t>
            </a:r>
            <a:endParaRPr lang="en-US" sz="1300" dirty="0"/>
          </a:p>
          <a:p>
            <a:pPr marL="177800" indent="-177800">
              <a:spcAft>
                <a:spcPts val="400"/>
              </a:spcAft>
              <a:buSzPct val="100000"/>
              <a:buChar char="•"/>
            </a:pPr>
            <a:r>
              <a:rPr lang="en-US" sz="1300" dirty="0">
                <a:solidFill>
                  <a:schemeClr val="tx1"/>
                </a:solidFill>
              </a:rPr>
              <a:t>Faire une revue de lecture avec citations vérifiables</a:t>
            </a:r>
            <a:endParaRPr lang="en-US" sz="1300" dirty="0"/>
          </a:p>
        </p:txBody>
      </p:sp>
      <p:sp>
        <p:nvSpPr>
          <p:cNvPr id="16" name="card-344"/>
          <p:cNvSpPr/>
          <p:nvPr/>
        </p:nvSpPr>
        <p:spPr>
          <a:xfrm>
            <a:off x="8138160" y="1554480"/>
            <a:ext cx="3474720" cy="2103120"/>
          </a:xfrm>
          <a:prstGeom prst="roundRect">
            <a:avLst>
              <a:gd name="adj" fmla="val 3478"/>
            </a:avLst>
          </a:prstGeom>
          <a:solidFill>
            <a:schemeClr val="bg2"/>
          </a:solidFill>
          <a:ln w="6350">
            <a:solidFill>
              <a:schemeClr val="bg2"/>
            </a:solidFill>
            <a:prstDash val="solid"/>
          </a:ln>
        </p:spPr>
      </p:sp>
      <p:sp>
        <p:nvSpPr>
          <p:cNvPr id="17" name="txt-345"/>
          <p:cNvSpPr txBox="1"/>
          <p:nvPr/>
        </p:nvSpPr>
        <p:spPr>
          <a:xfrm>
            <a:off x="8321040" y="1691640"/>
            <a:ext cx="3108960" cy="320040"/>
          </a:xfrm>
          <a:prstGeom prst="rect">
            <a:avLst/>
          </a:prstGeom>
          <a:noFill/>
          <a:ln/>
        </p:spPr>
        <p:txBody>
          <a:bodyPr wrap="square" lIns="0" tIns="0" rIns="0" bIns="0" rtlCol="0" anchor="t"/>
          <a:lstStyle/>
          <a:p>
            <a:pPr marL="0" indent="0">
              <a:buNone/>
            </a:pPr>
            <a:r>
              <a:rPr lang="en-US" sz="1400" b="1" dirty="0">
                <a:solidFill>
                  <a:schemeClr val="accent2"/>
                </a:solidFill>
              </a:rPr>
              <a:t>Version gratuite</a:t>
            </a:r>
            <a:endParaRPr lang="en-US" sz="1400" dirty="0"/>
          </a:p>
        </p:txBody>
      </p:sp>
      <p:sp>
        <p:nvSpPr>
          <p:cNvPr id="18" name="txt-346"/>
          <p:cNvSpPr txBox="1"/>
          <p:nvPr/>
        </p:nvSpPr>
        <p:spPr>
          <a:xfrm>
            <a:off x="8321040" y="2057400"/>
            <a:ext cx="3108960" cy="1554480"/>
          </a:xfrm>
          <a:prstGeom prst="rect">
            <a:avLst/>
          </a:prstGeom>
          <a:noFill/>
          <a:ln/>
        </p:spPr>
        <p:txBody>
          <a:bodyPr wrap="square" lIns="0" tIns="0" rIns="0" bIns="0" rtlCol="0" anchor="t"/>
          <a:lstStyle/>
          <a:p>
            <a:pPr marL="0" indent="0">
              <a:buNone/>
            </a:pPr>
            <a:r>
              <a:rPr lang="en-US" sz="1200" dirty="0">
                <a:solidFill>
                  <a:schemeClr val="tx1"/>
                </a:solidFill>
              </a:rPr>
              <a:t>Jusqu'à 50 sources par carnet ; 500 000 mots ou 200 Mo par source. PDF, Word, Google Docs, sites web, vidéos YouTube publiques, audio, images. Quotas d'usage renouvelés régulièrement.</a:t>
            </a:r>
            <a:endParaRPr lang="en-US" sz="1200" dirty="0"/>
          </a:p>
        </p:txBody>
      </p:sp>
      <p:sp>
        <p:nvSpPr>
          <p:cNvPr id="19" name="card-347"/>
          <p:cNvSpPr/>
          <p:nvPr/>
        </p:nvSpPr>
        <p:spPr>
          <a:xfrm>
            <a:off x="8138160" y="3840480"/>
            <a:ext cx="3474720" cy="2148840"/>
          </a:xfrm>
          <a:prstGeom prst="roundRect">
            <a:avLst>
              <a:gd name="adj" fmla="val 3404"/>
            </a:avLst>
          </a:prstGeom>
          <a:solidFill>
            <a:schemeClr val="bg1"/>
          </a:solidFill>
          <a:ln w="12700">
            <a:solidFill>
              <a:srgbClr val="C8553D"/>
            </a:solidFill>
            <a:prstDash val="solid"/>
          </a:ln>
        </p:spPr>
      </p:sp>
      <p:sp>
        <p:nvSpPr>
          <p:cNvPr id="20" name="txt-348"/>
          <p:cNvSpPr txBox="1"/>
          <p:nvPr/>
        </p:nvSpPr>
        <p:spPr>
          <a:xfrm>
            <a:off x="8321040" y="3977640"/>
            <a:ext cx="3108960" cy="320040"/>
          </a:xfrm>
          <a:prstGeom prst="rect">
            <a:avLst/>
          </a:prstGeom>
          <a:noFill/>
          <a:ln/>
        </p:spPr>
        <p:txBody>
          <a:bodyPr wrap="square" lIns="0" tIns="0" rIns="0" bIns="0" rtlCol="0" anchor="t"/>
          <a:lstStyle/>
          <a:p>
            <a:pPr marL="0" indent="0">
              <a:buNone/>
            </a:pPr>
            <a:r>
              <a:rPr lang="en-US" sz="1400" b="1" dirty="0">
                <a:solidFill>
                  <a:schemeClr val="accent3"/>
                </a:solidFill>
              </a:rPr>
              <a:t>Attention</a:t>
            </a:r>
            <a:endParaRPr lang="en-US" sz="1400" dirty="0"/>
          </a:p>
        </p:txBody>
      </p:sp>
      <p:sp>
        <p:nvSpPr>
          <p:cNvPr id="21" name="txt-349"/>
          <p:cNvSpPr txBox="1"/>
          <p:nvPr/>
        </p:nvSpPr>
        <p:spPr>
          <a:xfrm>
            <a:off x="8321040" y="4343400"/>
            <a:ext cx="3108960" cy="1600200"/>
          </a:xfrm>
          <a:prstGeom prst="rect">
            <a:avLst/>
          </a:prstGeom>
          <a:noFill/>
          <a:ln/>
        </p:spPr>
        <p:txBody>
          <a:bodyPr wrap="square" lIns="0" tIns="0" rIns="0" bIns="0" rtlCol="0" anchor="t"/>
          <a:lstStyle/>
          <a:p>
            <a:pPr marL="0" indent="0">
              <a:buNone/>
            </a:pPr>
            <a:r>
              <a:rPr lang="en-US" sz="1200" dirty="0">
                <a:solidFill>
                  <a:schemeClr val="tx1"/>
                </a:solidFill>
              </a:rPr>
              <a:t>Ne voit QUE vos sources : un corpus incomplet donne une réponse incomplète. Les PDF scannés sans texte sont mal lus. Anonymisez avant de charger.</a:t>
            </a:r>
            <a:endParaRPr lang="en-US" sz="1200" dirty="0"/>
          </a:p>
        </p:txBody>
      </p:sp>
      <p:sp>
        <p:nvSpPr>
          <p:cNvPr id="22" name="txt-350"/>
          <p:cNvSpPr txBox="1"/>
          <p:nvPr/>
        </p:nvSpPr>
        <p:spPr>
          <a:xfrm>
            <a:off x="548640" y="6053328"/>
            <a:ext cx="11064240" cy="256032"/>
          </a:xfrm>
          <a:prstGeom prst="rect">
            <a:avLst/>
          </a:prstGeom>
          <a:noFill/>
          <a:ln/>
        </p:spPr>
        <p:txBody>
          <a:bodyPr wrap="square" lIns="0" tIns="0" rIns="0" bIns="0" rtlCol="0" anchor="t"/>
          <a:lstStyle/>
          <a:p>
            <a:pPr marL="0" indent="0">
              <a:buNone/>
            </a:pPr>
            <a:r>
              <a:rPr lang="en-US" sz="1000" i="1" dirty="0">
                <a:solidFill>
                  <a:schemeClr val="accent5"/>
                </a:solidFill>
              </a:rPr>
              <a:t>Offres et fonctionnalités vérifiées en octobre 2026. Elles évoluent souvent : revérifier la veille de la formation.</a:t>
            </a:r>
            <a:endParaRPr lang="en-US" sz="1000" dirty="0"/>
          </a:p>
        </p:txBody>
      </p:sp>
      <p:sp>
        <p:nvSpPr>
          <p:cNvPr id="25" name="Slide Number Placeholder 0"/>
          <p:cNvSpPr>
            <a:spLocks noGrp="1"/>
          </p:cNvSpPr>
          <p:nvPr>
            <p:ph type="sldNum" sz="quarter" idx="4294967295"/>
          </p:nvPr>
        </p:nvSpPr>
        <p:spPr>
          <a:xfrm>
            <a:off x="11064240" y="6400800"/>
            <a:ext cx="54864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C82"/>
                </a:solidFill>
                <a:latin typeface="Poppins"/>
                <a:ea typeface="Poppins"/>
                <a:cs typeface="Poppins"/>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566928"/>
            <a:ext cx="11064240" cy="777240"/>
          </a:xfrm>
          <a:prstGeom prst="rect">
            <a:avLst/>
          </a:prstGeom>
          <a:noFill/>
          <a:ln/>
        </p:spPr>
        <p:txBody>
          <a:bodyPr wrap="square" lIns="0" tIns="0" rIns="0" bIns="0" rtlCol="0" anchor="ctr"/>
          <a:lstStyle/>
          <a:p>
            <a:pPr marL="0" indent="0" algn="l">
              <a:buNone/>
            </a:pPr>
            <a:r>
              <a:rPr lang="en-US" sz="2700" b="1" dirty="0">
                <a:solidFill>
                  <a:schemeClr val="tx2"/>
                </a:solidFill>
                <a:latin typeface="Poppins" pitchFamily="34" charset="0"/>
                <a:ea typeface="Poppins" pitchFamily="34" charset="-122"/>
                <a:cs typeface="Poppins" pitchFamily="34" charset="-120"/>
              </a:rPr>
              <a:t>Gemini : l'assistant connecté à Google</a:t>
            </a:r>
            <a:endParaRPr lang="en-US" sz="2700" dirty="0"/>
          </a:p>
        </p:txBody>
      </p:sp>
      <p:sp>
        <p:nvSpPr>
          <p:cNvPr id="3" name="Text 0"/>
          <p:cNvSpPr>
            <a:spLocks noGrp="1"/>
          </p:cNvSpPr>
          <p:nvPr>
            <p:ph type="body" idx="101" hasCustomPrompt="1"/>
          </p:nvPr>
        </p:nvSpPr>
        <p:spPr>
          <a:xfrm>
            <a:off x="548640" y="256032"/>
            <a:ext cx="8229600" cy="292608"/>
          </a:xfrm>
          <a:prstGeom prst="rect">
            <a:avLst/>
          </a:prstGeom>
          <a:noFill/>
          <a:ln/>
        </p:spPr>
        <p:txBody>
          <a:bodyPr wrap="square" lIns="0" tIns="0" rIns="0" bIns="0" rtlCol="0" anchor="ctr"/>
          <a:lstStyle/>
          <a:p>
            <a:pPr marL="0" indent="0">
              <a:buNone/>
            </a:pPr>
            <a:r>
              <a:rPr lang="en-US" sz="1100" b="1" dirty="0">
                <a:solidFill>
                  <a:schemeClr val="accent1"/>
                </a:solidFill>
                <a:latin typeface="Poppins" pitchFamily="34" charset="0"/>
                <a:ea typeface="Poppins" pitchFamily="34" charset="-122"/>
                <a:cs typeface="Poppins" pitchFamily="34" charset="-120"/>
              </a:rPr>
              <a:t>PANORAMA DES OUTILS · 2/4</a:t>
            </a:r>
            <a:endParaRPr lang="en-US" sz="1100" dirty="0"/>
          </a:p>
        </p:txBody>
      </p:sp>
      <p:sp>
        <p:nvSpPr>
          <p:cNvPr id="4" name="card-351"/>
          <p:cNvSpPr/>
          <p:nvPr/>
        </p:nvSpPr>
        <p:spPr>
          <a:xfrm>
            <a:off x="548640" y="1554480"/>
            <a:ext cx="3017520" cy="4434840"/>
          </a:xfrm>
          <a:prstGeom prst="roundRect">
            <a:avLst>
              <a:gd name="adj" fmla="val 2424"/>
            </a:avLst>
          </a:prstGeom>
          <a:solidFill>
            <a:schemeClr val="accent4"/>
          </a:solidFill>
          <a:ln w="6350">
            <a:solidFill>
              <a:schemeClr val="accent4"/>
            </a:solidFill>
            <a:prstDash val="solid"/>
          </a:ln>
        </p:spPr>
      </p:sp>
      <p:sp>
        <p:nvSpPr>
          <p:cNvPr id="5" name="circle-352"/>
          <p:cNvSpPr/>
          <p:nvPr/>
        </p:nvSpPr>
        <p:spPr>
          <a:xfrm>
            <a:off x="822960" y="1810512"/>
            <a:ext cx="914400" cy="914400"/>
          </a:xfrm>
          <a:prstGeom prst="ellipse">
            <a:avLst/>
          </a:prstGeom>
          <a:solidFill>
            <a:schemeClr val="bg1"/>
          </a:solidFill>
          <a:ln w="12700">
            <a:solidFill>
              <a:schemeClr val="bg1"/>
            </a:solidFill>
            <a:prstDash val="solid"/>
          </a:ln>
        </p:spPr>
      </p:sp>
      <p:pic>
        <p:nvPicPr>
          <p:cNvPr id="6" name="icon-353" descr="preencoded.png"/>
          <p:cNvPicPr>
            <a:picLocks noChangeAspect="1"/>
          </p:cNvPicPr>
          <p:nvPr/>
        </p:nvPicPr>
        <p:blipFill>
          <a:blip r:embed="rId3"/>
          <a:stretch>
            <a:fillRect/>
          </a:stretch>
        </p:blipFill>
        <p:spPr>
          <a:xfrm>
            <a:off x="1051560" y="2039112"/>
            <a:ext cx="457200" cy="457200"/>
          </a:xfrm>
          <a:prstGeom prst="rect">
            <a:avLst/>
          </a:prstGeom>
        </p:spPr>
      </p:pic>
      <p:sp>
        <p:nvSpPr>
          <p:cNvPr id="7" name="txt-354"/>
          <p:cNvSpPr txBox="1"/>
          <p:nvPr/>
        </p:nvSpPr>
        <p:spPr>
          <a:xfrm>
            <a:off x="822960" y="2880360"/>
            <a:ext cx="2560320" cy="502920"/>
          </a:xfrm>
          <a:prstGeom prst="rect">
            <a:avLst/>
          </a:prstGeom>
          <a:noFill/>
          <a:ln/>
        </p:spPr>
        <p:txBody>
          <a:bodyPr wrap="square" lIns="0" tIns="0" rIns="0" bIns="0" rtlCol="0" anchor="t"/>
          <a:lstStyle/>
          <a:p>
            <a:pPr marL="0" indent="0">
              <a:buNone/>
            </a:pPr>
            <a:r>
              <a:rPr lang="en-US" sz="2200" b="1" dirty="0">
                <a:solidFill>
                  <a:schemeClr val="bg1"/>
                </a:solidFill>
              </a:rPr>
              <a:t>Gemini</a:t>
            </a:r>
            <a:endParaRPr lang="en-US" sz="2200" dirty="0"/>
          </a:p>
        </p:txBody>
      </p:sp>
      <p:sp>
        <p:nvSpPr>
          <p:cNvPr id="8" name="txt-355"/>
          <p:cNvSpPr txBox="1"/>
          <p:nvPr/>
        </p:nvSpPr>
        <p:spPr>
          <a:xfrm>
            <a:off x="822960" y="3383280"/>
            <a:ext cx="2560320" cy="320040"/>
          </a:xfrm>
          <a:prstGeom prst="rect">
            <a:avLst/>
          </a:prstGeom>
          <a:noFill/>
          <a:ln/>
        </p:spPr>
        <p:txBody>
          <a:bodyPr wrap="square" lIns="0" tIns="0" rIns="0" bIns="0" rtlCol="0" anchor="t"/>
          <a:lstStyle/>
          <a:p>
            <a:pPr marL="0" indent="0">
              <a:buNone/>
            </a:pPr>
            <a:r>
              <a:rPr lang="en-US" sz="1300" dirty="0">
                <a:solidFill>
                  <a:schemeClr val="bg1"/>
                </a:solidFill>
              </a:rPr>
              <a:t>Google</a:t>
            </a:r>
            <a:endParaRPr lang="en-US" sz="1300" dirty="0"/>
          </a:p>
        </p:txBody>
      </p:sp>
      <p:sp>
        <p:nvSpPr>
          <p:cNvPr id="9" name="card-356"/>
          <p:cNvSpPr/>
          <p:nvPr/>
        </p:nvSpPr>
        <p:spPr>
          <a:xfrm>
            <a:off x="822960" y="3840480"/>
            <a:ext cx="2514600" cy="384048"/>
          </a:xfrm>
          <a:prstGeom prst="roundRect">
            <a:avLst>
              <a:gd name="adj" fmla="val 19048"/>
            </a:avLst>
          </a:prstGeom>
          <a:solidFill>
            <a:schemeClr val="bg1"/>
          </a:solidFill>
          <a:ln w="6350">
            <a:solidFill>
              <a:schemeClr val="bg1"/>
            </a:solidFill>
            <a:prstDash val="solid"/>
          </a:ln>
        </p:spPr>
      </p:sp>
      <p:sp>
        <p:nvSpPr>
          <p:cNvPr id="10" name="txt-357"/>
          <p:cNvSpPr txBox="1"/>
          <p:nvPr/>
        </p:nvSpPr>
        <p:spPr>
          <a:xfrm>
            <a:off x="822960" y="3840480"/>
            <a:ext cx="2514600" cy="384048"/>
          </a:xfrm>
          <a:prstGeom prst="rect">
            <a:avLst/>
          </a:prstGeom>
          <a:noFill/>
          <a:ln/>
        </p:spPr>
        <p:txBody>
          <a:bodyPr wrap="square" lIns="0" tIns="0" rIns="0" bIns="0" rtlCol="0" anchor="ctr"/>
          <a:lstStyle/>
          <a:p>
            <a:pPr marL="0" indent="0" algn="ctr">
              <a:buNone/>
            </a:pPr>
            <a:r>
              <a:rPr lang="en-US" sz="1300" b="1" dirty="0">
                <a:solidFill>
                  <a:schemeClr val="accent4"/>
                </a:solidFill>
              </a:rPr>
              <a:t>gemini.google.com</a:t>
            </a:r>
            <a:endParaRPr lang="en-US" sz="1300" dirty="0"/>
          </a:p>
        </p:txBody>
      </p:sp>
      <p:sp>
        <p:nvSpPr>
          <p:cNvPr id="11" name="txt-358"/>
          <p:cNvSpPr txBox="1"/>
          <p:nvPr/>
        </p:nvSpPr>
        <p:spPr>
          <a:xfrm>
            <a:off x="822960" y="4434840"/>
            <a:ext cx="2560320" cy="1371600"/>
          </a:xfrm>
          <a:prstGeom prst="rect">
            <a:avLst/>
          </a:prstGeom>
          <a:noFill/>
          <a:ln/>
        </p:spPr>
        <p:txBody>
          <a:bodyPr wrap="square" lIns="0" tIns="0" rIns="0" bIns="0" rtlCol="0" anchor="t"/>
          <a:lstStyle/>
          <a:p>
            <a:pPr marL="0" indent="0">
              <a:buNone/>
            </a:pPr>
            <a:r>
              <a:rPr lang="en-US" sz="1300" i="1" dirty="0">
                <a:solidFill>
                  <a:schemeClr val="bg1"/>
                </a:solidFill>
              </a:rPr>
              <a:t>« Votre compte Google devient un espace de travail intelligent. »</a:t>
            </a:r>
            <a:endParaRPr lang="en-US" sz="1300" dirty="0"/>
          </a:p>
        </p:txBody>
      </p:sp>
      <p:sp>
        <p:nvSpPr>
          <p:cNvPr id="12" name="txt-359"/>
          <p:cNvSpPr txBox="1"/>
          <p:nvPr/>
        </p:nvSpPr>
        <p:spPr>
          <a:xfrm>
            <a:off x="3840480" y="1554480"/>
            <a:ext cx="4023360" cy="365760"/>
          </a:xfrm>
          <a:prstGeom prst="rect">
            <a:avLst/>
          </a:prstGeom>
          <a:noFill/>
          <a:ln/>
        </p:spPr>
        <p:txBody>
          <a:bodyPr wrap="square" lIns="0" tIns="0" rIns="0" bIns="0" rtlCol="0" anchor="t"/>
          <a:lstStyle/>
          <a:p>
            <a:pPr marL="0" indent="0">
              <a:buNone/>
            </a:pPr>
            <a:r>
              <a:rPr lang="en-US" sz="1500" b="1" dirty="0">
                <a:solidFill>
                  <a:schemeClr val="tx2"/>
                </a:solidFill>
              </a:rPr>
              <a:t>Ce qu'il fait le mieux</a:t>
            </a:r>
            <a:endParaRPr lang="en-US" sz="1500" dirty="0"/>
          </a:p>
        </p:txBody>
      </p:sp>
      <p:sp>
        <p:nvSpPr>
          <p:cNvPr id="13" name="txt-360"/>
          <p:cNvSpPr txBox="1"/>
          <p:nvPr/>
        </p:nvSpPr>
        <p:spPr>
          <a:xfrm>
            <a:off x="3840480" y="1938528"/>
            <a:ext cx="4023360" cy="178308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1"/>
                </a:solidFill>
              </a:rPr>
              <a:t>Deep Research : explore des dizaines de pages web et rédige un rapport sourcé</a:t>
            </a:r>
            <a:endParaRPr lang="en-US" sz="1300" dirty="0"/>
          </a:p>
          <a:p>
            <a:pPr marL="177800" indent="-177800">
              <a:spcAft>
                <a:spcPts val="400"/>
              </a:spcAft>
              <a:buSzPct val="100000"/>
              <a:buChar char="•"/>
            </a:pPr>
            <a:r>
              <a:rPr lang="en-US" sz="1300" dirty="0">
                <a:solidFill>
                  <a:schemeClr val="tx1"/>
                </a:solidFill>
              </a:rPr>
              <a:t>Gems : assistants personnalisés réutilisables</a:t>
            </a:r>
            <a:endParaRPr lang="en-US" sz="1300" dirty="0"/>
          </a:p>
          <a:p>
            <a:pPr marL="177800" indent="-177800">
              <a:spcAft>
                <a:spcPts val="400"/>
              </a:spcAft>
              <a:buSzPct val="100000"/>
              <a:buChar char="•"/>
            </a:pPr>
            <a:r>
              <a:rPr lang="en-US" sz="1300" dirty="0">
                <a:solidFill>
                  <a:schemeClr val="tx1"/>
                </a:solidFill>
              </a:rPr>
              <a:t>Accès à vos fichiers Drive, Docs et Gmail</a:t>
            </a:r>
            <a:endParaRPr lang="en-US" sz="1300" dirty="0"/>
          </a:p>
        </p:txBody>
      </p:sp>
      <p:sp>
        <p:nvSpPr>
          <p:cNvPr id="14" name="txt-361"/>
          <p:cNvSpPr txBox="1"/>
          <p:nvPr/>
        </p:nvSpPr>
        <p:spPr>
          <a:xfrm>
            <a:off x="3840480" y="3794760"/>
            <a:ext cx="4023360" cy="365760"/>
          </a:xfrm>
          <a:prstGeom prst="rect">
            <a:avLst/>
          </a:prstGeom>
          <a:noFill/>
          <a:ln/>
        </p:spPr>
        <p:txBody>
          <a:bodyPr wrap="square" lIns="0" tIns="0" rIns="0" bIns="0" rtlCol="0" anchor="t"/>
          <a:lstStyle/>
          <a:p>
            <a:pPr marL="0" indent="0">
              <a:buNone/>
            </a:pPr>
            <a:r>
              <a:rPr lang="en-US" sz="1500" b="1" dirty="0">
                <a:solidFill>
                  <a:schemeClr val="tx2"/>
                </a:solidFill>
              </a:rPr>
              <a:t>Pour vous, chercheure</a:t>
            </a:r>
            <a:endParaRPr lang="en-US" sz="1500" dirty="0"/>
          </a:p>
        </p:txBody>
      </p:sp>
      <p:sp>
        <p:nvSpPr>
          <p:cNvPr id="15" name="txt-362"/>
          <p:cNvSpPr txBox="1"/>
          <p:nvPr/>
        </p:nvSpPr>
        <p:spPr>
          <a:xfrm>
            <a:off x="3840480" y="4178808"/>
            <a:ext cx="4023360" cy="178308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1"/>
                </a:solidFill>
              </a:rPr>
              <a:t>Explorer rapidement un sujet nouveau avant une revue de littérature</a:t>
            </a:r>
            <a:endParaRPr lang="en-US" sz="1300" dirty="0"/>
          </a:p>
          <a:p>
            <a:pPr marL="177800" indent="-177800">
              <a:spcAft>
                <a:spcPts val="400"/>
              </a:spcAft>
              <a:buSzPct val="100000"/>
              <a:buChar char="•"/>
            </a:pPr>
            <a:r>
              <a:rPr lang="en-US" sz="1300" dirty="0">
                <a:solidFill>
                  <a:schemeClr val="tx1"/>
                </a:solidFill>
              </a:rPr>
              <a:t>Créer un Gem « relecteur de ma discipline »</a:t>
            </a:r>
            <a:endParaRPr lang="en-US" sz="1300" dirty="0"/>
          </a:p>
          <a:p>
            <a:pPr marL="177800" indent="-177800">
              <a:spcAft>
                <a:spcPts val="400"/>
              </a:spcAft>
              <a:buSzPct val="100000"/>
              <a:buChar char="•"/>
            </a:pPr>
            <a:r>
              <a:rPr lang="en-US" sz="1300" dirty="0">
                <a:solidFill>
                  <a:schemeClr val="tx1"/>
                </a:solidFill>
              </a:rPr>
              <a:t>Synthétiser un dossier Drive</a:t>
            </a:r>
            <a:endParaRPr lang="en-US" sz="1300" dirty="0"/>
          </a:p>
        </p:txBody>
      </p:sp>
      <p:sp>
        <p:nvSpPr>
          <p:cNvPr id="16" name="card-363"/>
          <p:cNvSpPr/>
          <p:nvPr/>
        </p:nvSpPr>
        <p:spPr>
          <a:xfrm>
            <a:off x="8138160" y="1554480"/>
            <a:ext cx="3474720" cy="2103120"/>
          </a:xfrm>
          <a:prstGeom prst="roundRect">
            <a:avLst>
              <a:gd name="adj" fmla="val 3478"/>
            </a:avLst>
          </a:prstGeom>
          <a:solidFill>
            <a:schemeClr val="bg2"/>
          </a:solidFill>
          <a:ln w="6350">
            <a:solidFill>
              <a:schemeClr val="bg2"/>
            </a:solidFill>
            <a:prstDash val="solid"/>
          </a:ln>
        </p:spPr>
      </p:sp>
      <p:sp>
        <p:nvSpPr>
          <p:cNvPr id="17" name="txt-364"/>
          <p:cNvSpPr txBox="1"/>
          <p:nvPr/>
        </p:nvSpPr>
        <p:spPr>
          <a:xfrm>
            <a:off x="8321040" y="1691640"/>
            <a:ext cx="3108960" cy="320040"/>
          </a:xfrm>
          <a:prstGeom prst="rect">
            <a:avLst/>
          </a:prstGeom>
          <a:noFill/>
          <a:ln/>
        </p:spPr>
        <p:txBody>
          <a:bodyPr wrap="square" lIns="0" tIns="0" rIns="0" bIns="0" rtlCol="0" anchor="t"/>
          <a:lstStyle/>
          <a:p>
            <a:pPr marL="0" indent="0">
              <a:buNone/>
            </a:pPr>
            <a:r>
              <a:rPr lang="en-US" sz="1400" b="1" dirty="0">
                <a:solidFill>
                  <a:schemeClr val="accent2"/>
                </a:solidFill>
              </a:rPr>
              <a:t>Version gratuite</a:t>
            </a:r>
            <a:endParaRPr lang="en-US" sz="1400" dirty="0"/>
          </a:p>
        </p:txBody>
      </p:sp>
      <p:sp>
        <p:nvSpPr>
          <p:cNvPr id="18" name="txt-365"/>
          <p:cNvSpPr txBox="1"/>
          <p:nvPr/>
        </p:nvSpPr>
        <p:spPr>
          <a:xfrm>
            <a:off x="8321040" y="2057400"/>
            <a:ext cx="3108960" cy="1554480"/>
          </a:xfrm>
          <a:prstGeom prst="rect">
            <a:avLst/>
          </a:prstGeom>
          <a:noFill/>
          <a:ln/>
        </p:spPr>
        <p:txBody>
          <a:bodyPr wrap="square" lIns="0" tIns="0" rIns="0" bIns="0" rtlCol="0" anchor="t"/>
          <a:lstStyle/>
          <a:p>
            <a:pPr marL="0" indent="0">
              <a:buNone/>
            </a:pPr>
            <a:r>
              <a:rPr lang="en-US" sz="1200" dirty="0">
                <a:solidFill>
                  <a:schemeClr val="tx1"/>
                </a:solidFill>
              </a:rPr>
              <a:t>Gratuit avec un compte Google : chat, Gems, Canvas, Deep Research (en nombre limité). Le modèle gratuit est une version « légère » ; quotas renouvelés toutes les quelques heures.</a:t>
            </a:r>
            <a:endParaRPr lang="en-US" sz="1200" dirty="0"/>
          </a:p>
        </p:txBody>
      </p:sp>
      <p:sp>
        <p:nvSpPr>
          <p:cNvPr id="19" name="card-366"/>
          <p:cNvSpPr/>
          <p:nvPr/>
        </p:nvSpPr>
        <p:spPr>
          <a:xfrm>
            <a:off x="8138160" y="3840480"/>
            <a:ext cx="3474720" cy="2148840"/>
          </a:xfrm>
          <a:prstGeom prst="roundRect">
            <a:avLst>
              <a:gd name="adj" fmla="val 3404"/>
            </a:avLst>
          </a:prstGeom>
          <a:solidFill>
            <a:schemeClr val="bg1"/>
          </a:solidFill>
          <a:ln w="12700">
            <a:solidFill>
              <a:srgbClr val="C8553D"/>
            </a:solidFill>
            <a:prstDash val="solid"/>
          </a:ln>
        </p:spPr>
      </p:sp>
      <p:sp>
        <p:nvSpPr>
          <p:cNvPr id="20" name="txt-367"/>
          <p:cNvSpPr txBox="1"/>
          <p:nvPr/>
        </p:nvSpPr>
        <p:spPr>
          <a:xfrm>
            <a:off x="8321040" y="3977640"/>
            <a:ext cx="3108960" cy="320040"/>
          </a:xfrm>
          <a:prstGeom prst="rect">
            <a:avLst/>
          </a:prstGeom>
          <a:noFill/>
          <a:ln/>
        </p:spPr>
        <p:txBody>
          <a:bodyPr wrap="square" lIns="0" tIns="0" rIns="0" bIns="0" rtlCol="0" anchor="t"/>
          <a:lstStyle/>
          <a:p>
            <a:pPr marL="0" indent="0">
              <a:buNone/>
            </a:pPr>
            <a:r>
              <a:rPr lang="en-US" sz="1400" b="1" dirty="0">
                <a:solidFill>
                  <a:schemeClr val="accent3"/>
                </a:solidFill>
              </a:rPr>
              <a:t>Attention</a:t>
            </a:r>
            <a:endParaRPr lang="en-US" sz="1400" dirty="0"/>
          </a:p>
        </p:txBody>
      </p:sp>
      <p:sp>
        <p:nvSpPr>
          <p:cNvPr id="21" name="txt-368"/>
          <p:cNvSpPr txBox="1"/>
          <p:nvPr/>
        </p:nvSpPr>
        <p:spPr>
          <a:xfrm>
            <a:off x="8321040" y="4343400"/>
            <a:ext cx="3108960" cy="1600200"/>
          </a:xfrm>
          <a:prstGeom prst="rect">
            <a:avLst/>
          </a:prstGeom>
          <a:noFill/>
          <a:ln/>
        </p:spPr>
        <p:txBody>
          <a:bodyPr wrap="square" lIns="0" tIns="0" rIns="0" bIns="0" rtlCol="0" anchor="t"/>
          <a:lstStyle/>
          <a:p>
            <a:pPr marL="0" indent="0">
              <a:buNone/>
            </a:pPr>
            <a:r>
              <a:rPr lang="en-US" sz="1200" dirty="0">
                <a:solidFill>
                  <a:schemeClr val="tx1"/>
                </a:solidFill>
              </a:rPr>
              <a:t>Deep Research cherche sur le web, pas uniquement dans la littérature scientifique : vérifiez chaque lien. Vérifiez aussi l'« Activité dans les applications Gemini ».</a:t>
            </a:r>
            <a:endParaRPr lang="en-US" sz="1200" dirty="0"/>
          </a:p>
        </p:txBody>
      </p:sp>
      <p:sp>
        <p:nvSpPr>
          <p:cNvPr id="22" name="txt-369"/>
          <p:cNvSpPr txBox="1"/>
          <p:nvPr/>
        </p:nvSpPr>
        <p:spPr>
          <a:xfrm>
            <a:off x="548640" y="6053328"/>
            <a:ext cx="11064240" cy="256032"/>
          </a:xfrm>
          <a:prstGeom prst="rect">
            <a:avLst/>
          </a:prstGeom>
          <a:noFill/>
          <a:ln/>
        </p:spPr>
        <p:txBody>
          <a:bodyPr wrap="square" lIns="0" tIns="0" rIns="0" bIns="0" rtlCol="0" anchor="t"/>
          <a:lstStyle/>
          <a:p>
            <a:pPr marL="0" indent="0">
              <a:buNone/>
            </a:pPr>
            <a:r>
              <a:rPr lang="en-US" sz="1000" i="1" dirty="0">
                <a:solidFill>
                  <a:schemeClr val="accent5"/>
                </a:solidFill>
              </a:rPr>
              <a:t>Offres et fonctionnalités vérifiées en octobre 2026. Elles évoluent souvent : revérifier la veille de la formation.</a:t>
            </a:r>
            <a:endParaRPr lang="en-US" sz="1000" dirty="0"/>
          </a:p>
        </p:txBody>
      </p:sp>
      <p:sp>
        <p:nvSpPr>
          <p:cNvPr id="25" name="Slide Number Placeholder 0"/>
          <p:cNvSpPr>
            <a:spLocks noGrp="1"/>
          </p:cNvSpPr>
          <p:nvPr>
            <p:ph type="sldNum" sz="quarter" idx="4294967295"/>
          </p:nvPr>
        </p:nvSpPr>
        <p:spPr>
          <a:xfrm>
            <a:off x="11064240" y="6400800"/>
            <a:ext cx="54864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C82"/>
                </a:solidFill>
                <a:latin typeface="Poppins"/>
                <a:ea typeface="Poppins"/>
                <a:cs typeface="Poppins"/>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566928"/>
            <a:ext cx="11064240" cy="777240"/>
          </a:xfrm>
          <a:prstGeom prst="rect">
            <a:avLst/>
          </a:prstGeom>
          <a:noFill/>
          <a:ln/>
        </p:spPr>
        <p:txBody>
          <a:bodyPr wrap="square" lIns="0" tIns="0" rIns="0" bIns="0" rtlCol="0" anchor="ctr"/>
          <a:lstStyle/>
          <a:p>
            <a:pPr marL="0" indent="0" algn="l">
              <a:buNone/>
            </a:pPr>
            <a:r>
              <a:rPr lang="en-US" sz="2700" b="1" dirty="0">
                <a:solidFill>
                  <a:schemeClr val="tx2"/>
                </a:solidFill>
                <a:latin typeface="Poppins" pitchFamily="34" charset="0"/>
                <a:ea typeface="Poppins" pitchFamily="34" charset="-122"/>
                <a:cs typeface="Poppins" pitchFamily="34" charset="-120"/>
              </a:rPr>
              <a:t>Claude : le lecteur et rédacteur attentif</a:t>
            </a:r>
            <a:endParaRPr lang="en-US" sz="2700" dirty="0"/>
          </a:p>
        </p:txBody>
      </p:sp>
      <p:sp>
        <p:nvSpPr>
          <p:cNvPr id="3" name="Text 0"/>
          <p:cNvSpPr>
            <a:spLocks noGrp="1"/>
          </p:cNvSpPr>
          <p:nvPr>
            <p:ph type="body" idx="101" hasCustomPrompt="1"/>
          </p:nvPr>
        </p:nvSpPr>
        <p:spPr>
          <a:xfrm>
            <a:off x="548640" y="256032"/>
            <a:ext cx="8229600" cy="292608"/>
          </a:xfrm>
          <a:prstGeom prst="rect">
            <a:avLst/>
          </a:prstGeom>
          <a:noFill/>
          <a:ln/>
        </p:spPr>
        <p:txBody>
          <a:bodyPr wrap="square" lIns="0" tIns="0" rIns="0" bIns="0" rtlCol="0" anchor="ctr"/>
          <a:lstStyle/>
          <a:p>
            <a:pPr marL="0" indent="0">
              <a:buNone/>
            </a:pPr>
            <a:r>
              <a:rPr lang="en-US" sz="1100" b="1" dirty="0">
                <a:solidFill>
                  <a:schemeClr val="accent1"/>
                </a:solidFill>
                <a:latin typeface="Poppins" pitchFamily="34" charset="0"/>
                <a:ea typeface="Poppins" pitchFamily="34" charset="-122"/>
                <a:cs typeface="Poppins" pitchFamily="34" charset="-120"/>
              </a:rPr>
              <a:t>PANORAMA DES OUTILS · 3/4</a:t>
            </a:r>
            <a:endParaRPr lang="en-US" sz="1100" dirty="0"/>
          </a:p>
        </p:txBody>
      </p:sp>
      <p:sp>
        <p:nvSpPr>
          <p:cNvPr id="4" name="card-370"/>
          <p:cNvSpPr/>
          <p:nvPr/>
        </p:nvSpPr>
        <p:spPr>
          <a:xfrm>
            <a:off x="548640" y="1554480"/>
            <a:ext cx="3017520" cy="4434840"/>
          </a:xfrm>
          <a:prstGeom prst="roundRect">
            <a:avLst>
              <a:gd name="adj" fmla="val 2424"/>
            </a:avLst>
          </a:prstGeom>
          <a:solidFill>
            <a:schemeClr val="accent3"/>
          </a:solidFill>
          <a:ln w="6350">
            <a:solidFill>
              <a:schemeClr val="accent3"/>
            </a:solidFill>
            <a:prstDash val="solid"/>
          </a:ln>
        </p:spPr>
      </p:sp>
      <p:sp>
        <p:nvSpPr>
          <p:cNvPr id="5" name="circle-371"/>
          <p:cNvSpPr/>
          <p:nvPr/>
        </p:nvSpPr>
        <p:spPr>
          <a:xfrm>
            <a:off x="822960" y="1810512"/>
            <a:ext cx="914400" cy="914400"/>
          </a:xfrm>
          <a:prstGeom prst="ellipse">
            <a:avLst/>
          </a:prstGeom>
          <a:solidFill>
            <a:schemeClr val="bg1"/>
          </a:solidFill>
          <a:ln w="12700">
            <a:solidFill>
              <a:schemeClr val="bg1"/>
            </a:solidFill>
            <a:prstDash val="solid"/>
          </a:ln>
        </p:spPr>
      </p:sp>
      <p:pic>
        <p:nvPicPr>
          <p:cNvPr id="6" name="icon-372" descr="preencoded.png"/>
          <p:cNvPicPr>
            <a:picLocks noChangeAspect="1"/>
          </p:cNvPicPr>
          <p:nvPr/>
        </p:nvPicPr>
        <p:blipFill>
          <a:blip r:embed="rId3"/>
          <a:stretch>
            <a:fillRect/>
          </a:stretch>
        </p:blipFill>
        <p:spPr>
          <a:xfrm>
            <a:off x="1051560" y="2039112"/>
            <a:ext cx="457200" cy="457200"/>
          </a:xfrm>
          <a:prstGeom prst="rect">
            <a:avLst/>
          </a:prstGeom>
        </p:spPr>
      </p:pic>
      <p:sp>
        <p:nvSpPr>
          <p:cNvPr id="7" name="txt-373"/>
          <p:cNvSpPr txBox="1"/>
          <p:nvPr/>
        </p:nvSpPr>
        <p:spPr>
          <a:xfrm>
            <a:off x="822960" y="2880360"/>
            <a:ext cx="2560320" cy="502920"/>
          </a:xfrm>
          <a:prstGeom prst="rect">
            <a:avLst/>
          </a:prstGeom>
          <a:noFill/>
          <a:ln/>
        </p:spPr>
        <p:txBody>
          <a:bodyPr wrap="square" lIns="0" tIns="0" rIns="0" bIns="0" rtlCol="0" anchor="t"/>
          <a:lstStyle/>
          <a:p>
            <a:pPr marL="0" indent="0">
              <a:buNone/>
            </a:pPr>
            <a:r>
              <a:rPr lang="en-US" sz="2200" b="1" dirty="0">
                <a:solidFill>
                  <a:schemeClr val="bg1"/>
                </a:solidFill>
              </a:rPr>
              <a:t>Claude</a:t>
            </a:r>
            <a:endParaRPr lang="en-US" sz="2200" dirty="0"/>
          </a:p>
        </p:txBody>
      </p:sp>
      <p:sp>
        <p:nvSpPr>
          <p:cNvPr id="8" name="txt-374"/>
          <p:cNvSpPr txBox="1"/>
          <p:nvPr/>
        </p:nvSpPr>
        <p:spPr>
          <a:xfrm>
            <a:off x="822960" y="3383280"/>
            <a:ext cx="2560320" cy="320040"/>
          </a:xfrm>
          <a:prstGeom prst="rect">
            <a:avLst/>
          </a:prstGeom>
          <a:noFill/>
          <a:ln/>
        </p:spPr>
        <p:txBody>
          <a:bodyPr wrap="square" lIns="0" tIns="0" rIns="0" bIns="0" rtlCol="0" anchor="t"/>
          <a:lstStyle/>
          <a:p>
            <a:pPr marL="0" indent="0">
              <a:buNone/>
            </a:pPr>
            <a:r>
              <a:rPr lang="en-US" sz="1300" dirty="0">
                <a:solidFill>
                  <a:schemeClr val="bg1"/>
                </a:solidFill>
              </a:rPr>
              <a:t>Anthropic</a:t>
            </a:r>
            <a:endParaRPr lang="en-US" sz="1300" dirty="0"/>
          </a:p>
        </p:txBody>
      </p:sp>
      <p:sp>
        <p:nvSpPr>
          <p:cNvPr id="9" name="card-375"/>
          <p:cNvSpPr/>
          <p:nvPr/>
        </p:nvSpPr>
        <p:spPr>
          <a:xfrm>
            <a:off x="822960" y="3840480"/>
            <a:ext cx="2514600" cy="384048"/>
          </a:xfrm>
          <a:prstGeom prst="roundRect">
            <a:avLst>
              <a:gd name="adj" fmla="val 19048"/>
            </a:avLst>
          </a:prstGeom>
          <a:solidFill>
            <a:schemeClr val="bg1"/>
          </a:solidFill>
          <a:ln w="6350">
            <a:solidFill>
              <a:schemeClr val="bg1"/>
            </a:solidFill>
            <a:prstDash val="solid"/>
          </a:ln>
        </p:spPr>
      </p:sp>
      <p:sp>
        <p:nvSpPr>
          <p:cNvPr id="10" name="txt-376"/>
          <p:cNvSpPr txBox="1"/>
          <p:nvPr/>
        </p:nvSpPr>
        <p:spPr>
          <a:xfrm>
            <a:off x="822960" y="3840480"/>
            <a:ext cx="2514600" cy="384048"/>
          </a:xfrm>
          <a:prstGeom prst="rect">
            <a:avLst/>
          </a:prstGeom>
          <a:noFill/>
          <a:ln/>
        </p:spPr>
        <p:txBody>
          <a:bodyPr wrap="square" lIns="0" tIns="0" rIns="0" bIns="0" rtlCol="0" anchor="ctr"/>
          <a:lstStyle/>
          <a:p>
            <a:pPr marL="0" indent="0" algn="ctr">
              <a:buNone/>
            </a:pPr>
            <a:r>
              <a:rPr lang="en-US" sz="1300" b="1" dirty="0">
                <a:solidFill>
                  <a:schemeClr val="accent3"/>
                </a:solidFill>
              </a:rPr>
              <a:t>claude.ai</a:t>
            </a:r>
            <a:endParaRPr lang="en-US" sz="1300" dirty="0"/>
          </a:p>
        </p:txBody>
      </p:sp>
      <p:sp>
        <p:nvSpPr>
          <p:cNvPr id="11" name="txt-377"/>
          <p:cNvSpPr txBox="1"/>
          <p:nvPr/>
        </p:nvSpPr>
        <p:spPr>
          <a:xfrm>
            <a:off x="822960" y="4434840"/>
            <a:ext cx="2560320" cy="1371600"/>
          </a:xfrm>
          <a:prstGeom prst="rect">
            <a:avLst/>
          </a:prstGeom>
          <a:noFill/>
          <a:ln/>
        </p:spPr>
        <p:txBody>
          <a:bodyPr wrap="square" lIns="0" tIns="0" rIns="0" bIns="0" rtlCol="0" anchor="t"/>
          <a:lstStyle/>
          <a:p>
            <a:pPr marL="0" indent="0">
              <a:buNone/>
            </a:pPr>
            <a:r>
              <a:rPr lang="en-US" sz="1300" i="1" dirty="0">
                <a:solidFill>
                  <a:schemeClr val="bg1"/>
                </a:solidFill>
              </a:rPr>
              <a:t>« Pour lire long, écrire juste et argumenter. »</a:t>
            </a:r>
            <a:endParaRPr lang="en-US" sz="1300" dirty="0"/>
          </a:p>
        </p:txBody>
      </p:sp>
      <p:sp>
        <p:nvSpPr>
          <p:cNvPr id="12" name="txt-378"/>
          <p:cNvSpPr txBox="1"/>
          <p:nvPr/>
        </p:nvSpPr>
        <p:spPr>
          <a:xfrm>
            <a:off x="3840480" y="1554480"/>
            <a:ext cx="4023360" cy="365760"/>
          </a:xfrm>
          <a:prstGeom prst="rect">
            <a:avLst/>
          </a:prstGeom>
          <a:noFill/>
          <a:ln/>
        </p:spPr>
        <p:txBody>
          <a:bodyPr wrap="square" lIns="0" tIns="0" rIns="0" bIns="0" rtlCol="0" anchor="t"/>
          <a:lstStyle/>
          <a:p>
            <a:pPr marL="0" indent="0">
              <a:buNone/>
            </a:pPr>
            <a:r>
              <a:rPr lang="en-US" sz="1500" b="1" dirty="0">
                <a:solidFill>
                  <a:schemeClr val="tx2"/>
                </a:solidFill>
              </a:rPr>
              <a:t>Ce qu'il fait le mieux</a:t>
            </a:r>
            <a:endParaRPr lang="en-US" sz="1500" dirty="0"/>
          </a:p>
        </p:txBody>
      </p:sp>
      <p:sp>
        <p:nvSpPr>
          <p:cNvPr id="13" name="txt-379"/>
          <p:cNvSpPr txBox="1"/>
          <p:nvPr/>
        </p:nvSpPr>
        <p:spPr>
          <a:xfrm>
            <a:off x="3840480" y="1938528"/>
            <a:ext cx="4023360" cy="178308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1"/>
                </a:solidFill>
              </a:rPr>
              <a:t>Lit et compare de longs documents (articles, thèses, rapports)</a:t>
            </a:r>
            <a:endParaRPr lang="en-US" sz="1300" dirty="0"/>
          </a:p>
          <a:p>
            <a:pPr marL="177800" indent="-177800">
              <a:spcAft>
                <a:spcPts val="400"/>
              </a:spcAft>
              <a:buSzPct val="100000"/>
              <a:buChar char="•"/>
            </a:pPr>
            <a:r>
              <a:rPr lang="en-US" sz="1300" dirty="0">
                <a:solidFill>
                  <a:schemeClr val="tx1"/>
                </a:solidFill>
              </a:rPr>
              <a:t>Style écrit nuancé, bonne tenue du registre académique</a:t>
            </a:r>
            <a:endParaRPr lang="en-US" sz="1300" dirty="0"/>
          </a:p>
          <a:p>
            <a:pPr marL="177800" indent="-177800">
              <a:spcAft>
                <a:spcPts val="400"/>
              </a:spcAft>
              <a:buSzPct val="100000"/>
              <a:buChar char="•"/>
            </a:pPr>
            <a:r>
              <a:rPr lang="en-US" sz="1300" dirty="0">
                <a:solidFill>
                  <a:schemeClr val="tx1"/>
                </a:solidFill>
              </a:rPr>
              <a:t>Projets : documents et consignes conservés d'une conversation à l'autre</a:t>
            </a:r>
            <a:endParaRPr lang="en-US" sz="1300" dirty="0"/>
          </a:p>
        </p:txBody>
      </p:sp>
      <p:sp>
        <p:nvSpPr>
          <p:cNvPr id="14" name="txt-380"/>
          <p:cNvSpPr txBox="1"/>
          <p:nvPr/>
        </p:nvSpPr>
        <p:spPr>
          <a:xfrm>
            <a:off x="3840480" y="3794760"/>
            <a:ext cx="4023360" cy="365760"/>
          </a:xfrm>
          <a:prstGeom prst="rect">
            <a:avLst/>
          </a:prstGeom>
          <a:noFill/>
          <a:ln/>
        </p:spPr>
        <p:txBody>
          <a:bodyPr wrap="square" lIns="0" tIns="0" rIns="0" bIns="0" rtlCol="0" anchor="t"/>
          <a:lstStyle/>
          <a:p>
            <a:pPr marL="0" indent="0">
              <a:buNone/>
            </a:pPr>
            <a:r>
              <a:rPr lang="en-US" sz="1500" b="1" dirty="0">
                <a:solidFill>
                  <a:schemeClr val="tx2"/>
                </a:solidFill>
              </a:rPr>
              <a:t>Pour vous, chercheure</a:t>
            </a:r>
            <a:endParaRPr lang="en-US" sz="1500" dirty="0"/>
          </a:p>
        </p:txBody>
      </p:sp>
      <p:sp>
        <p:nvSpPr>
          <p:cNvPr id="15" name="txt-381"/>
          <p:cNvSpPr txBox="1"/>
          <p:nvPr/>
        </p:nvSpPr>
        <p:spPr>
          <a:xfrm>
            <a:off x="3840480" y="4178808"/>
            <a:ext cx="4023360" cy="178308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1"/>
                </a:solidFill>
              </a:rPr>
              <a:t>Relecture critique d'un manuscrit avant soumission</a:t>
            </a:r>
            <a:endParaRPr lang="en-US" sz="1300" dirty="0"/>
          </a:p>
          <a:p>
            <a:pPr marL="177800" indent="-177800">
              <a:spcAft>
                <a:spcPts val="400"/>
              </a:spcAft>
              <a:buSzPct val="100000"/>
              <a:buChar char="•"/>
            </a:pPr>
            <a:r>
              <a:rPr lang="en-US" sz="1300" dirty="0">
                <a:solidFill>
                  <a:schemeClr val="tx1"/>
                </a:solidFill>
              </a:rPr>
              <a:t>Comparer deux versions d'un chapitre</a:t>
            </a:r>
            <a:endParaRPr lang="en-US" sz="1300" dirty="0"/>
          </a:p>
          <a:p>
            <a:pPr marL="177800" indent="-177800">
              <a:spcAft>
                <a:spcPts val="400"/>
              </a:spcAft>
              <a:buSzPct val="100000"/>
              <a:buChar char="•"/>
            </a:pPr>
            <a:r>
              <a:rPr lang="en-US" sz="1300" dirty="0">
                <a:solidFill>
                  <a:schemeClr val="tx1"/>
                </a:solidFill>
              </a:rPr>
              <a:t>Réponse argumentée aux relecteurs d'une revue</a:t>
            </a:r>
            <a:endParaRPr lang="en-US" sz="1300" dirty="0"/>
          </a:p>
        </p:txBody>
      </p:sp>
      <p:sp>
        <p:nvSpPr>
          <p:cNvPr id="16" name="card-382"/>
          <p:cNvSpPr/>
          <p:nvPr/>
        </p:nvSpPr>
        <p:spPr>
          <a:xfrm>
            <a:off x="8138160" y="1554480"/>
            <a:ext cx="3474720" cy="2103120"/>
          </a:xfrm>
          <a:prstGeom prst="roundRect">
            <a:avLst>
              <a:gd name="adj" fmla="val 3478"/>
            </a:avLst>
          </a:prstGeom>
          <a:solidFill>
            <a:schemeClr val="bg2"/>
          </a:solidFill>
          <a:ln w="6350">
            <a:solidFill>
              <a:schemeClr val="bg2"/>
            </a:solidFill>
            <a:prstDash val="solid"/>
          </a:ln>
        </p:spPr>
      </p:sp>
      <p:sp>
        <p:nvSpPr>
          <p:cNvPr id="17" name="txt-383"/>
          <p:cNvSpPr txBox="1"/>
          <p:nvPr/>
        </p:nvSpPr>
        <p:spPr>
          <a:xfrm>
            <a:off x="8321040" y="1691640"/>
            <a:ext cx="3108960" cy="320040"/>
          </a:xfrm>
          <a:prstGeom prst="rect">
            <a:avLst/>
          </a:prstGeom>
          <a:noFill/>
          <a:ln/>
        </p:spPr>
        <p:txBody>
          <a:bodyPr wrap="square" lIns="0" tIns="0" rIns="0" bIns="0" rtlCol="0" anchor="t"/>
          <a:lstStyle/>
          <a:p>
            <a:pPr marL="0" indent="0">
              <a:buNone/>
            </a:pPr>
            <a:r>
              <a:rPr lang="en-US" sz="1400" b="1" dirty="0">
                <a:solidFill>
                  <a:schemeClr val="accent2"/>
                </a:solidFill>
              </a:rPr>
              <a:t>Version gratuite</a:t>
            </a:r>
            <a:endParaRPr lang="en-US" sz="1400" dirty="0"/>
          </a:p>
        </p:txBody>
      </p:sp>
      <p:sp>
        <p:nvSpPr>
          <p:cNvPr id="18" name="txt-384"/>
          <p:cNvSpPr txBox="1"/>
          <p:nvPr/>
        </p:nvSpPr>
        <p:spPr>
          <a:xfrm>
            <a:off x="8321040" y="2057400"/>
            <a:ext cx="3108960" cy="1554480"/>
          </a:xfrm>
          <a:prstGeom prst="rect">
            <a:avLst/>
          </a:prstGeom>
          <a:noFill/>
          <a:ln/>
        </p:spPr>
        <p:txBody>
          <a:bodyPr wrap="square" lIns="0" tIns="0" rIns="0" bIns="0" rtlCol="0" anchor="t"/>
          <a:lstStyle/>
          <a:p>
            <a:pPr marL="0" indent="0">
              <a:buNone/>
            </a:pPr>
            <a:r>
              <a:rPr lang="en-US" sz="1200" dirty="0">
                <a:solidFill>
                  <a:schemeClr val="tx1"/>
                </a:solidFill>
              </a:rPr>
              <a:t>Gratuit avec quotas (fenêtre de quelques heures) : chat, envoi de fichiers, recherche web. L'accès aux Projets en version gratuite est à vérifier : il a varié selon les périodes.</a:t>
            </a:r>
            <a:endParaRPr lang="en-US" sz="1200" dirty="0"/>
          </a:p>
        </p:txBody>
      </p:sp>
      <p:sp>
        <p:nvSpPr>
          <p:cNvPr id="19" name="card-385"/>
          <p:cNvSpPr/>
          <p:nvPr/>
        </p:nvSpPr>
        <p:spPr>
          <a:xfrm>
            <a:off x="8138160" y="3840480"/>
            <a:ext cx="3474720" cy="2148840"/>
          </a:xfrm>
          <a:prstGeom prst="roundRect">
            <a:avLst>
              <a:gd name="adj" fmla="val 3404"/>
            </a:avLst>
          </a:prstGeom>
          <a:solidFill>
            <a:schemeClr val="bg1"/>
          </a:solidFill>
          <a:ln w="12700">
            <a:solidFill>
              <a:srgbClr val="C8553D"/>
            </a:solidFill>
            <a:prstDash val="solid"/>
          </a:ln>
        </p:spPr>
      </p:sp>
      <p:sp>
        <p:nvSpPr>
          <p:cNvPr id="20" name="txt-386"/>
          <p:cNvSpPr txBox="1"/>
          <p:nvPr/>
        </p:nvSpPr>
        <p:spPr>
          <a:xfrm>
            <a:off x="8321040" y="3977640"/>
            <a:ext cx="3108960" cy="320040"/>
          </a:xfrm>
          <a:prstGeom prst="rect">
            <a:avLst/>
          </a:prstGeom>
          <a:noFill/>
          <a:ln/>
        </p:spPr>
        <p:txBody>
          <a:bodyPr wrap="square" lIns="0" tIns="0" rIns="0" bIns="0" rtlCol="0" anchor="t"/>
          <a:lstStyle/>
          <a:p>
            <a:pPr marL="0" indent="0">
              <a:buNone/>
            </a:pPr>
            <a:r>
              <a:rPr lang="en-US" sz="1400" b="1" dirty="0">
                <a:solidFill>
                  <a:schemeClr val="accent3"/>
                </a:solidFill>
              </a:rPr>
              <a:t>Attention</a:t>
            </a:r>
            <a:endParaRPr lang="en-US" sz="1400" dirty="0"/>
          </a:p>
        </p:txBody>
      </p:sp>
      <p:sp>
        <p:nvSpPr>
          <p:cNvPr id="21" name="txt-387"/>
          <p:cNvSpPr txBox="1"/>
          <p:nvPr/>
        </p:nvSpPr>
        <p:spPr>
          <a:xfrm>
            <a:off x="8321040" y="4343400"/>
            <a:ext cx="3108960" cy="1600200"/>
          </a:xfrm>
          <a:prstGeom prst="rect">
            <a:avLst/>
          </a:prstGeom>
          <a:noFill/>
          <a:ln/>
        </p:spPr>
        <p:txBody>
          <a:bodyPr wrap="square" lIns="0" tIns="0" rIns="0" bIns="0" rtlCol="0" anchor="t"/>
          <a:lstStyle/>
          <a:p>
            <a:pPr marL="0" indent="0">
              <a:buNone/>
            </a:pPr>
            <a:r>
              <a:rPr lang="en-US" sz="1200" dirty="0">
                <a:solidFill>
                  <a:schemeClr val="tx1"/>
                </a:solidFill>
              </a:rPr>
              <a:t>Quota de messages vite atteint avec de longs documents : préparez vos questions. Comme tous les autres, il peut se tromper sur les références.</a:t>
            </a:r>
            <a:endParaRPr lang="en-US" sz="1200" dirty="0"/>
          </a:p>
        </p:txBody>
      </p:sp>
      <p:sp>
        <p:nvSpPr>
          <p:cNvPr id="22" name="txt-388"/>
          <p:cNvSpPr txBox="1"/>
          <p:nvPr/>
        </p:nvSpPr>
        <p:spPr>
          <a:xfrm>
            <a:off x="548640" y="6053328"/>
            <a:ext cx="11064240" cy="256032"/>
          </a:xfrm>
          <a:prstGeom prst="rect">
            <a:avLst/>
          </a:prstGeom>
          <a:noFill/>
          <a:ln/>
        </p:spPr>
        <p:txBody>
          <a:bodyPr wrap="square" lIns="0" tIns="0" rIns="0" bIns="0" rtlCol="0" anchor="t"/>
          <a:lstStyle/>
          <a:p>
            <a:pPr marL="0" indent="0">
              <a:buNone/>
            </a:pPr>
            <a:r>
              <a:rPr lang="en-US" sz="1000" i="1" dirty="0">
                <a:solidFill>
                  <a:schemeClr val="accent5"/>
                </a:solidFill>
              </a:rPr>
              <a:t>Offres et fonctionnalités vérifiées en octobre 2026. Elles évoluent souvent : revérifier la veille de la formation.</a:t>
            </a:r>
            <a:endParaRPr lang="en-US" sz="1000" dirty="0"/>
          </a:p>
        </p:txBody>
      </p:sp>
      <p:sp>
        <p:nvSpPr>
          <p:cNvPr id="25" name="Slide Number Placeholder 0"/>
          <p:cNvSpPr>
            <a:spLocks noGrp="1"/>
          </p:cNvSpPr>
          <p:nvPr>
            <p:ph type="sldNum" sz="quarter" idx="4294967295"/>
          </p:nvPr>
        </p:nvSpPr>
        <p:spPr>
          <a:xfrm>
            <a:off x="11064240" y="6400800"/>
            <a:ext cx="54864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C82"/>
                </a:solidFill>
                <a:latin typeface="Poppins"/>
                <a:ea typeface="Poppins"/>
                <a:cs typeface="Poppins"/>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566928"/>
            <a:ext cx="11064240" cy="777240"/>
          </a:xfrm>
          <a:prstGeom prst="rect">
            <a:avLst/>
          </a:prstGeom>
          <a:noFill/>
          <a:ln/>
        </p:spPr>
        <p:txBody>
          <a:bodyPr wrap="square" lIns="0" tIns="0" rIns="0" bIns="0" rtlCol="0" anchor="ctr"/>
          <a:lstStyle/>
          <a:p>
            <a:pPr marL="0" indent="0" algn="l">
              <a:buNone/>
            </a:pPr>
            <a:r>
              <a:rPr lang="en-US" sz="2700" b="1" dirty="0">
                <a:solidFill>
                  <a:schemeClr val="tx2"/>
                </a:solidFill>
                <a:latin typeface="Poppins" pitchFamily="34" charset="0"/>
                <a:ea typeface="Poppins" pitchFamily="34" charset="-122"/>
                <a:cs typeface="Poppins" pitchFamily="34" charset="-120"/>
              </a:rPr>
              <a:t>Grok : l'actualité en temps réel</a:t>
            </a:r>
            <a:endParaRPr lang="en-US" sz="2700" dirty="0"/>
          </a:p>
        </p:txBody>
      </p:sp>
      <p:sp>
        <p:nvSpPr>
          <p:cNvPr id="3" name="Text 0"/>
          <p:cNvSpPr>
            <a:spLocks noGrp="1"/>
          </p:cNvSpPr>
          <p:nvPr>
            <p:ph type="body" idx="101" hasCustomPrompt="1"/>
          </p:nvPr>
        </p:nvSpPr>
        <p:spPr>
          <a:xfrm>
            <a:off x="548640" y="256032"/>
            <a:ext cx="8229600" cy="292608"/>
          </a:xfrm>
          <a:prstGeom prst="rect">
            <a:avLst/>
          </a:prstGeom>
          <a:noFill/>
          <a:ln/>
        </p:spPr>
        <p:txBody>
          <a:bodyPr wrap="square" lIns="0" tIns="0" rIns="0" bIns="0" rtlCol="0" anchor="ctr"/>
          <a:lstStyle/>
          <a:p>
            <a:pPr marL="0" indent="0">
              <a:buNone/>
            </a:pPr>
            <a:r>
              <a:rPr lang="en-US" sz="1100" b="1" dirty="0">
                <a:solidFill>
                  <a:schemeClr val="accent1"/>
                </a:solidFill>
                <a:latin typeface="Poppins" pitchFamily="34" charset="0"/>
                <a:ea typeface="Poppins" pitchFamily="34" charset="-122"/>
                <a:cs typeface="Poppins" pitchFamily="34" charset="-120"/>
              </a:rPr>
              <a:t>PANORAMA DES OUTILS · 4/4</a:t>
            </a:r>
            <a:endParaRPr lang="en-US" sz="1100" dirty="0"/>
          </a:p>
        </p:txBody>
      </p:sp>
      <p:sp>
        <p:nvSpPr>
          <p:cNvPr id="4" name="card-389"/>
          <p:cNvSpPr/>
          <p:nvPr/>
        </p:nvSpPr>
        <p:spPr>
          <a:xfrm>
            <a:off x="548640" y="1554480"/>
            <a:ext cx="3017520" cy="4434840"/>
          </a:xfrm>
          <a:prstGeom prst="roundRect">
            <a:avLst>
              <a:gd name="adj" fmla="val 2424"/>
            </a:avLst>
          </a:prstGeom>
          <a:solidFill>
            <a:schemeClr val="tx1"/>
          </a:solidFill>
          <a:ln w="6350">
            <a:solidFill>
              <a:schemeClr val="tx1"/>
            </a:solidFill>
            <a:prstDash val="solid"/>
          </a:ln>
        </p:spPr>
      </p:sp>
      <p:sp>
        <p:nvSpPr>
          <p:cNvPr id="5" name="circle-390"/>
          <p:cNvSpPr/>
          <p:nvPr/>
        </p:nvSpPr>
        <p:spPr>
          <a:xfrm>
            <a:off x="822960" y="1810512"/>
            <a:ext cx="914400" cy="914400"/>
          </a:xfrm>
          <a:prstGeom prst="ellipse">
            <a:avLst/>
          </a:prstGeom>
          <a:solidFill>
            <a:schemeClr val="bg1"/>
          </a:solidFill>
          <a:ln w="12700">
            <a:solidFill>
              <a:schemeClr val="bg1"/>
            </a:solidFill>
            <a:prstDash val="solid"/>
          </a:ln>
        </p:spPr>
      </p:sp>
      <p:pic>
        <p:nvPicPr>
          <p:cNvPr id="6" name="icon-391" descr="preencoded.png"/>
          <p:cNvPicPr>
            <a:picLocks noChangeAspect="1"/>
          </p:cNvPicPr>
          <p:nvPr/>
        </p:nvPicPr>
        <p:blipFill>
          <a:blip r:embed="rId3"/>
          <a:stretch>
            <a:fillRect/>
          </a:stretch>
        </p:blipFill>
        <p:spPr>
          <a:xfrm>
            <a:off x="1051560" y="2039112"/>
            <a:ext cx="457200" cy="457200"/>
          </a:xfrm>
          <a:prstGeom prst="rect">
            <a:avLst/>
          </a:prstGeom>
        </p:spPr>
      </p:pic>
      <p:sp>
        <p:nvSpPr>
          <p:cNvPr id="7" name="txt-392"/>
          <p:cNvSpPr txBox="1"/>
          <p:nvPr/>
        </p:nvSpPr>
        <p:spPr>
          <a:xfrm>
            <a:off x="822960" y="2880360"/>
            <a:ext cx="2560320" cy="502920"/>
          </a:xfrm>
          <a:prstGeom prst="rect">
            <a:avLst/>
          </a:prstGeom>
          <a:noFill/>
          <a:ln/>
        </p:spPr>
        <p:txBody>
          <a:bodyPr wrap="square" lIns="0" tIns="0" rIns="0" bIns="0" rtlCol="0" anchor="t"/>
          <a:lstStyle/>
          <a:p>
            <a:pPr marL="0" indent="0">
              <a:buNone/>
            </a:pPr>
            <a:r>
              <a:rPr lang="en-US" sz="2200" b="1" dirty="0">
                <a:solidFill>
                  <a:schemeClr val="bg1"/>
                </a:solidFill>
              </a:rPr>
              <a:t>Grok</a:t>
            </a:r>
            <a:endParaRPr lang="en-US" sz="2200" dirty="0"/>
          </a:p>
        </p:txBody>
      </p:sp>
      <p:sp>
        <p:nvSpPr>
          <p:cNvPr id="8" name="txt-393"/>
          <p:cNvSpPr txBox="1"/>
          <p:nvPr/>
        </p:nvSpPr>
        <p:spPr>
          <a:xfrm>
            <a:off x="822960" y="3383280"/>
            <a:ext cx="2560320" cy="320040"/>
          </a:xfrm>
          <a:prstGeom prst="rect">
            <a:avLst/>
          </a:prstGeom>
          <a:noFill/>
          <a:ln/>
        </p:spPr>
        <p:txBody>
          <a:bodyPr wrap="square" lIns="0" tIns="0" rIns="0" bIns="0" rtlCol="0" anchor="t"/>
          <a:lstStyle/>
          <a:p>
            <a:pPr marL="0" indent="0">
              <a:buNone/>
            </a:pPr>
            <a:r>
              <a:rPr lang="en-US" sz="1300" dirty="0">
                <a:solidFill>
                  <a:schemeClr val="bg1"/>
                </a:solidFill>
              </a:rPr>
              <a:t>xAI</a:t>
            </a:r>
            <a:endParaRPr lang="en-US" sz="1300" dirty="0"/>
          </a:p>
        </p:txBody>
      </p:sp>
      <p:sp>
        <p:nvSpPr>
          <p:cNvPr id="9" name="card-394"/>
          <p:cNvSpPr/>
          <p:nvPr/>
        </p:nvSpPr>
        <p:spPr>
          <a:xfrm>
            <a:off x="822960" y="3840480"/>
            <a:ext cx="2514600" cy="384048"/>
          </a:xfrm>
          <a:prstGeom prst="roundRect">
            <a:avLst>
              <a:gd name="adj" fmla="val 19048"/>
            </a:avLst>
          </a:prstGeom>
          <a:solidFill>
            <a:schemeClr val="bg1"/>
          </a:solidFill>
          <a:ln w="6350">
            <a:solidFill>
              <a:schemeClr val="bg1"/>
            </a:solidFill>
            <a:prstDash val="solid"/>
          </a:ln>
        </p:spPr>
      </p:sp>
      <p:sp>
        <p:nvSpPr>
          <p:cNvPr id="10" name="txt-395"/>
          <p:cNvSpPr txBox="1"/>
          <p:nvPr/>
        </p:nvSpPr>
        <p:spPr>
          <a:xfrm>
            <a:off x="822960" y="3840480"/>
            <a:ext cx="2514600" cy="384048"/>
          </a:xfrm>
          <a:prstGeom prst="rect">
            <a:avLst/>
          </a:prstGeom>
          <a:noFill/>
          <a:ln/>
        </p:spPr>
        <p:txBody>
          <a:bodyPr wrap="square" lIns="0" tIns="0" rIns="0" bIns="0" rtlCol="0" anchor="ctr"/>
          <a:lstStyle/>
          <a:p>
            <a:pPr marL="0" indent="0" algn="ctr">
              <a:buNone/>
            </a:pPr>
            <a:r>
              <a:rPr lang="en-US" sz="1300" b="1" dirty="0">
                <a:solidFill>
                  <a:schemeClr val="tx1"/>
                </a:solidFill>
              </a:rPr>
              <a:t>grok.com</a:t>
            </a:r>
            <a:endParaRPr lang="en-US" sz="1300" dirty="0"/>
          </a:p>
        </p:txBody>
      </p:sp>
      <p:sp>
        <p:nvSpPr>
          <p:cNvPr id="11" name="txt-396"/>
          <p:cNvSpPr txBox="1"/>
          <p:nvPr/>
        </p:nvSpPr>
        <p:spPr>
          <a:xfrm>
            <a:off x="822960" y="4434840"/>
            <a:ext cx="2560320" cy="1371600"/>
          </a:xfrm>
          <a:prstGeom prst="rect">
            <a:avLst/>
          </a:prstGeom>
          <a:noFill/>
          <a:ln/>
        </p:spPr>
        <p:txBody>
          <a:bodyPr wrap="square" lIns="0" tIns="0" rIns="0" bIns="0" rtlCol="0" anchor="t"/>
          <a:lstStyle/>
          <a:p>
            <a:pPr marL="0" indent="0">
              <a:buNone/>
            </a:pPr>
            <a:r>
              <a:rPr lang="en-US" sz="1300" i="1" dirty="0">
                <a:solidFill>
                  <a:schemeClr val="bg1"/>
                </a:solidFill>
              </a:rPr>
              <a:t>« Utile pour la veille, à manier avec esprit critique. »</a:t>
            </a:r>
            <a:endParaRPr lang="en-US" sz="1300" dirty="0"/>
          </a:p>
        </p:txBody>
      </p:sp>
      <p:sp>
        <p:nvSpPr>
          <p:cNvPr id="12" name="txt-397"/>
          <p:cNvSpPr txBox="1"/>
          <p:nvPr/>
        </p:nvSpPr>
        <p:spPr>
          <a:xfrm>
            <a:off x="3840480" y="1554480"/>
            <a:ext cx="4023360" cy="365760"/>
          </a:xfrm>
          <a:prstGeom prst="rect">
            <a:avLst/>
          </a:prstGeom>
          <a:noFill/>
          <a:ln/>
        </p:spPr>
        <p:txBody>
          <a:bodyPr wrap="square" lIns="0" tIns="0" rIns="0" bIns="0" rtlCol="0" anchor="t"/>
          <a:lstStyle/>
          <a:p>
            <a:pPr marL="0" indent="0">
              <a:buNone/>
            </a:pPr>
            <a:r>
              <a:rPr lang="en-US" sz="1500" b="1" dirty="0">
                <a:solidFill>
                  <a:schemeClr val="tx2"/>
                </a:solidFill>
              </a:rPr>
              <a:t>Ce qu'il fait le mieux</a:t>
            </a:r>
            <a:endParaRPr lang="en-US" sz="1500" dirty="0"/>
          </a:p>
        </p:txBody>
      </p:sp>
      <p:sp>
        <p:nvSpPr>
          <p:cNvPr id="13" name="txt-398"/>
          <p:cNvSpPr txBox="1"/>
          <p:nvPr/>
        </p:nvSpPr>
        <p:spPr>
          <a:xfrm>
            <a:off x="3840480" y="1938528"/>
            <a:ext cx="4023360" cy="178308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1"/>
                </a:solidFill>
              </a:rPr>
              <a:t>Accès en temps réel au web et aux publications du réseau X</a:t>
            </a:r>
            <a:endParaRPr lang="en-US" sz="1300" dirty="0"/>
          </a:p>
          <a:p>
            <a:pPr marL="177800" indent="-177800">
              <a:spcAft>
                <a:spcPts val="400"/>
              </a:spcAft>
              <a:buSzPct val="100000"/>
              <a:buChar char="•"/>
            </a:pPr>
            <a:r>
              <a:rPr lang="en-US" sz="1300" dirty="0">
                <a:solidFill>
                  <a:schemeClr val="tx1"/>
                </a:solidFill>
              </a:rPr>
              <a:t>Suivre un débat public ou une actualité qui évolue</a:t>
            </a:r>
            <a:endParaRPr lang="en-US" sz="1300" dirty="0"/>
          </a:p>
          <a:p>
            <a:pPr marL="177800" indent="-177800">
              <a:spcAft>
                <a:spcPts val="400"/>
              </a:spcAft>
              <a:buSzPct val="100000"/>
              <a:buChar char="•"/>
            </a:pPr>
            <a:r>
              <a:rPr lang="en-US" sz="1300" dirty="0">
                <a:solidFill>
                  <a:schemeClr val="tx1"/>
                </a:solidFill>
              </a:rPr>
              <a:t>Mode vocal et génération d'images</a:t>
            </a:r>
            <a:endParaRPr lang="en-US" sz="1300" dirty="0"/>
          </a:p>
        </p:txBody>
      </p:sp>
      <p:sp>
        <p:nvSpPr>
          <p:cNvPr id="14" name="txt-399"/>
          <p:cNvSpPr txBox="1"/>
          <p:nvPr/>
        </p:nvSpPr>
        <p:spPr>
          <a:xfrm>
            <a:off x="3840480" y="3794760"/>
            <a:ext cx="4023360" cy="365760"/>
          </a:xfrm>
          <a:prstGeom prst="rect">
            <a:avLst/>
          </a:prstGeom>
          <a:noFill/>
          <a:ln/>
        </p:spPr>
        <p:txBody>
          <a:bodyPr wrap="square" lIns="0" tIns="0" rIns="0" bIns="0" rtlCol="0" anchor="t"/>
          <a:lstStyle/>
          <a:p>
            <a:pPr marL="0" indent="0">
              <a:buNone/>
            </a:pPr>
            <a:r>
              <a:rPr lang="en-US" sz="1500" b="1" dirty="0">
                <a:solidFill>
                  <a:schemeClr val="tx2"/>
                </a:solidFill>
              </a:rPr>
              <a:t>Pour vous, chercheure</a:t>
            </a:r>
            <a:endParaRPr lang="en-US" sz="1500" dirty="0"/>
          </a:p>
        </p:txBody>
      </p:sp>
      <p:sp>
        <p:nvSpPr>
          <p:cNvPr id="15" name="txt-400"/>
          <p:cNvSpPr txBox="1"/>
          <p:nvPr/>
        </p:nvSpPr>
        <p:spPr>
          <a:xfrm>
            <a:off x="3840480" y="4178808"/>
            <a:ext cx="4023360" cy="178308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1"/>
                </a:solidFill>
              </a:rPr>
              <a:t>Veille : réactions publiques à une politique de santé ou d'éducation</a:t>
            </a:r>
            <a:endParaRPr lang="en-US" sz="1300" dirty="0"/>
          </a:p>
          <a:p>
            <a:pPr marL="177800" indent="-177800">
              <a:spcAft>
                <a:spcPts val="400"/>
              </a:spcAft>
              <a:buSzPct val="100000"/>
              <a:buChar char="•"/>
            </a:pPr>
            <a:r>
              <a:rPr lang="en-US" sz="1300" dirty="0">
                <a:solidFill>
                  <a:schemeClr val="tx1"/>
                </a:solidFill>
              </a:rPr>
              <a:t>Repérer des événements récents liés à votre terrain</a:t>
            </a:r>
            <a:endParaRPr lang="en-US" sz="1300" dirty="0"/>
          </a:p>
          <a:p>
            <a:pPr marL="177800" indent="-177800">
              <a:spcAft>
                <a:spcPts val="400"/>
              </a:spcAft>
              <a:buSzPct val="100000"/>
              <a:buChar char="•"/>
            </a:pPr>
            <a:r>
              <a:rPr lang="en-US" sz="1300" dirty="0">
                <a:solidFill>
                  <a:schemeClr val="tx1"/>
                </a:solidFill>
              </a:rPr>
              <a:t>Préparer une intervention médiatique</a:t>
            </a:r>
            <a:endParaRPr lang="en-US" sz="1300" dirty="0"/>
          </a:p>
        </p:txBody>
      </p:sp>
      <p:sp>
        <p:nvSpPr>
          <p:cNvPr id="16" name="card-401"/>
          <p:cNvSpPr/>
          <p:nvPr/>
        </p:nvSpPr>
        <p:spPr>
          <a:xfrm>
            <a:off x="8138160" y="1554480"/>
            <a:ext cx="3474720" cy="2103120"/>
          </a:xfrm>
          <a:prstGeom prst="roundRect">
            <a:avLst>
              <a:gd name="adj" fmla="val 3478"/>
            </a:avLst>
          </a:prstGeom>
          <a:solidFill>
            <a:schemeClr val="bg2"/>
          </a:solidFill>
          <a:ln w="6350">
            <a:solidFill>
              <a:schemeClr val="bg2"/>
            </a:solidFill>
            <a:prstDash val="solid"/>
          </a:ln>
        </p:spPr>
      </p:sp>
      <p:sp>
        <p:nvSpPr>
          <p:cNvPr id="17" name="txt-402"/>
          <p:cNvSpPr txBox="1"/>
          <p:nvPr/>
        </p:nvSpPr>
        <p:spPr>
          <a:xfrm>
            <a:off x="8321040" y="1691640"/>
            <a:ext cx="3108960" cy="320040"/>
          </a:xfrm>
          <a:prstGeom prst="rect">
            <a:avLst/>
          </a:prstGeom>
          <a:noFill/>
          <a:ln/>
        </p:spPr>
        <p:txBody>
          <a:bodyPr wrap="square" lIns="0" tIns="0" rIns="0" bIns="0" rtlCol="0" anchor="t"/>
          <a:lstStyle/>
          <a:p>
            <a:pPr marL="0" indent="0">
              <a:buNone/>
            </a:pPr>
            <a:r>
              <a:rPr lang="en-US" sz="1400" b="1" dirty="0">
                <a:solidFill>
                  <a:schemeClr val="accent2"/>
                </a:solidFill>
              </a:rPr>
              <a:t>Version gratuite</a:t>
            </a:r>
            <a:endParaRPr lang="en-US" sz="1400" dirty="0"/>
          </a:p>
        </p:txBody>
      </p:sp>
      <p:sp>
        <p:nvSpPr>
          <p:cNvPr id="18" name="txt-403"/>
          <p:cNvSpPr txBox="1"/>
          <p:nvPr/>
        </p:nvSpPr>
        <p:spPr>
          <a:xfrm>
            <a:off x="8321040" y="2057400"/>
            <a:ext cx="3108960" cy="1554480"/>
          </a:xfrm>
          <a:prstGeom prst="rect">
            <a:avLst/>
          </a:prstGeom>
          <a:noFill/>
          <a:ln/>
        </p:spPr>
        <p:txBody>
          <a:bodyPr wrap="square" lIns="0" tIns="0" rIns="0" bIns="0" rtlCol="0" anchor="t"/>
          <a:lstStyle/>
          <a:p>
            <a:pPr marL="0" indent="0">
              <a:buNone/>
            </a:pPr>
            <a:r>
              <a:rPr lang="en-US" sz="1200" dirty="0">
                <a:solidFill>
                  <a:schemeClr val="tx1"/>
                </a:solidFill>
              </a:rPr>
              <a:t>Gratuit avec un compte, mais quotas serrés. Les fonctions avancées (DeepSearch, mode Expert) sont généralement réservées aux abonnements payants.</a:t>
            </a:r>
            <a:endParaRPr lang="en-US" sz="1200" dirty="0"/>
          </a:p>
        </p:txBody>
      </p:sp>
      <p:sp>
        <p:nvSpPr>
          <p:cNvPr id="19" name="card-404"/>
          <p:cNvSpPr/>
          <p:nvPr/>
        </p:nvSpPr>
        <p:spPr>
          <a:xfrm>
            <a:off x="8138160" y="3840480"/>
            <a:ext cx="3474720" cy="2148840"/>
          </a:xfrm>
          <a:prstGeom prst="roundRect">
            <a:avLst>
              <a:gd name="adj" fmla="val 3404"/>
            </a:avLst>
          </a:prstGeom>
          <a:solidFill>
            <a:schemeClr val="bg1"/>
          </a:solidFill>
          <a:ln w="12700">
            <a:solidFill>
              <a:srgbClr val="C8553D"/>
            </a:solidFill>
            <a:prstDash val="solid"/>
          </a:ln>
        </p:spPr>
      </p:sp>
      <p:sp>
        <p:nvSpPr>
          <p:cNvPr id="20" name="txt-405"/>
          <p:cNvSpPr txBox="1"/>
          <p:nvPr/>
        </p:nvSpPr>
        <p:spPr>
          <a:xfrm>
            <a:off x="8321040" y="3977640"/>
            <a:ext cx="3108960" cy="320040"/>
          </a:xfrm>
          <a:prstGeom prst="rect">
            <a:avLst/>
          </a:prstGeom>
          <a:noFill/>
          <a:ln/>
        </p:spPr>
        <p:txBody>
          <a:bodyPr wrap="square" lIns="0" tIns="0" rIns="0" bIns="0" rtlCol="0" anchor="t"/>
          <a:lstStyle/>
          <a:p>
            <a:pPr marL="0" indent="0">
              <a:buNone/>
            </a:pPr>
            <a:r>
              <a:rPr lang="en-US" sz="1400" b="1" dirty="0">
                <a:solidFill>
                  <a:schemeClr val="accent3"/>
                </a:solidFill>
              </a:rPr>
              <a:t>Attention</a:t>
            </a:r>
            <a:endParaRPr lang="en-US" sz="1400" dirty="0"/>
          </a:p>
        </p:txBody>
      </p:sp>
      <p:sp>
        <p:nvSpPr>
          <p:cNvPr id="21" name="txt-406"/>
          <p:cNvSpPr txBox="1"/>
          <p:nvPr/>
        </p:nvSpPr>
        <p:spPr>
          <a:xfrm>
            <a:off x="8321040" y="4343400"/>
            <a:ext cx="3108960" cy="1600200"/>
          </a:xfrm>
          <a:prstGeom prst="rect">
            <a:avLst/>
          </a:prstGeom>
          <a:noFill/>
          <a:ln/>
        </p:spPr>
        <p:txBody>
          <a:bodyPr wrap="square" lIns="0" tIns="0" rIns="0" bIns="0" rtlCol="0" anchor="t"/>
          <a:lstStyle/>
          <a:p>
            <a:pPr marL="0" indent="0">
              <a:buNone/>
            </a:pPr>
            <a:r>
              <a:rPr lang="en-US" sz="1200" dirty="0">
                <a:solidFill>
                  <a:schemeClr val="tx1"/>
                </a:solidFill>
              </a:rPr>
              <a:t>Une publication sur X est une opinion, pas une source scientifique. Fiabilité variable selon les sujets : recoupez systématiquement. Vérifiez les paramètres de données.</a:t>
            </a:r>
            <a:endParaRPr lang="en-US" sz="1200" dirty="0"/>
          </a:p>
        </p:txBody>
      </p:sp>
      <p:sp>
        <p:nvSpPr>
          <p:cNvPr id="22" name="txt-407"/>
          <p:cNvSpPr txBox="1"/>
          <p:nvPr/>
        </p:nvSpPr>
        <p:spPr>
          <a:xfrm>
            <a:off x="548640" y="6053328"/>
            <a:ext cx="11064240" cy="256032"/>
          </a:xfrm>
          <a:prstGeom prst="rect">
            <a:avLst/>
          </a:prstGeom>
          <a:noFill/>
          <a:ln/>
        </p:spPr>
        <p:txBody>
          <a:bodyPr wrap="square" lIns="0" tIns="0" rIns="0" bIns="0" rtlCol="0" anchor="t"/>
          <a:lstStyle/>
          <a:p>
            <a:pPr marL="0" indent="0">
              <a:buNone/>
            </a:pPr>
            <a:r>
              <a:rPr lang="en-US" sz="1000" i="1" dirty="0">
                <a:solidFill>
                  <a:schemeClr val="accent5"/>
                </a:solidFill>
              </a:rPr>
              <a:t>Offres et fonctionnalités vérifiées en octobre 2026. Elles évoluent souvent : revérifier la veille de la formation.</a:t>
            </a:r>
            <a:endParaRPr lang="en-US" sz="1000" dirty="0"/>
          </a:p>
        </p:txBody>
      </p:sp>
      <p:sp>
        <p:nvSpPr>
          <p:cNvPr id="25" name="Slide Number Placeholder 0"/>
          <p:cNvSpPr>
            <a:spLocks noGrp="1"/>
          </p:cNvSpPr>
          <p:nvPr>
            <p:ph type="sldNum" sz="quarter" idx="4294967295"/>
          </p:nvPr>
        </p:nvSpPr>
        <p:spPr>
          <a:xfrm>
            <a:off x="11064240" y="6400800"/>
            <a:ext cx="54864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C82"/>
                </a:solidFill>
                <a:latin typeface="Poppins"/>
                <a:ea typeface="Poppins"/>
                <a:cs typeface="Poppins"/>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566928"/>
            <a:ext cx="11064240" cy="777240"/>
          </a:xfrm>
          <a:prstGeom prst="rect">
            <a:avLst/>
          </a:prstGeom>
          <a:noFill/>
          <a:ln/>
        </p:spPr>
        <p:txBody>
          <a:bodyPr wrap="square" lIns="0" tIns="0" rIns="0" bIns="0" rtlCol="0" anchor="ctr"/>
          <a:lstStyle/>
          <a:p>
            <a:pPr marL="0" indent="0" algn="l">
              <a:buNone/>
            </a:pPr>
            <a:r>
              <a:rPr lang="en-US" sz="2700" b="1" dirty="0">
                <a:solidFill>
                  <a:schemeClr val="tx2"/>
                </a:solidFill>
                <a:latin typeface="Poppins" pitchFamily="34" charset="0"/>
                <a:ea typeface="Poppins" pitchFamily="34" charset="-122"/>
                <a:cs typeface="Poppins" pitchFamily="34" charset="-120"/>
              </a:rPr>
              <a:t>Quel outil pour quelle tâche de recherche ?</a:t>
            </a:r>
            <a:endParaRPr lang="en-US" sz="2700" dirty="0"/>
          </a:p>
        </p:txBody>
      </p:sp>
      <p:sp>
        <p:nvSpPr>
          <p:cNvPr id="3" name="Text 0"/>
          <p:cNvSpPr>
            <a:spLocks noGrp="1"/>
          </p:cNvSpPr>
          <p:nvPr>
            <p:ph type="body" idx="101" hasCustomPrompt="1"/>
          </p:nvPr>
        </p:nvSpPr>
        <p:spPr>
          <a:xfrm>
            <a:off x="548640" y="256032"/>
            <a:ext cx="8229600" cy="292608"/>
          </a:xfrm>
          <a:prstGeom prst="rect">
            <a:avLst/>
          </a:prstGeom>
          <a:noFill/>
          <a:ln/>
        </p:spPr>
        <p:txBody>
          <a:bodyPr wrap="square" lIns="0" tIns="0" rIns="0" bIns="0" rtlCol="0" anchor="ctr"/>
          <a:lstStyle/>
          <a:p>
            <a:pPr marL="0" indent="0">
              <a:buNone/>
            </a:pPr>
            <a:r>
              <a:rPr lang="en-US" sz="1100" b="1" dirty="0">
                <a:solidFill>
                  <a:schemeClr val="accent1"/>
                </a:solidFill>
                <a:latin typeface="Poppins" pitchFamily="34" charset="0"/>
                <a:ea typeface="Poppins" pitchFamily="34" charset="-122"/>
                <a:cs typeface="Poppins" pitchFamily="34" charset="-120"/>
              </a:rPr>
              <a:t>PANORAMA DES OUTILS</a:t>
            </a:r>
            <a:endParaRPr lang="en-US" sz="1100" dirty="0"/>
          </a:p>
        </p:txBody>
      </p:sp>
      <p:graphicFrame>
        <p:nvGraphicFramePr>
          <p:cNvPr id="21" name="table-408"/>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914400"/>
        </p:xfrm>
        <a:graphic>
          <a:graphicData uri="http://schemas.openxmlformats.org/drawingml/2006/table">
            <a:tbl>
              <a:tblPr/>
              <a:tblGrid>
                <a:gridCol w="411480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1737360">
                  <a:extLst>
                    <a:ext uri="{9D8B030D-6E8A-4147-A177-3AD203B41FA5}">
                      <a16:colId xmlns:a16="http://schemas.microsoft.com/office/drawing/2014/main" val="20003"/>
                    </a:ext>
                  </a:extLst>
                </a:gridCol>
                <a:gridCol w="1737360">
                  <a:extLst>
                    <a:ext uri="{9D8B030D-6E8A-4147-A177-3AD203B41FA5}">
                      <a16:colId xmlns:a16="http://schemas.microsoft.com/office/drawing/2014/main" val="20004"/>
                    </a:ext>
                  </a:extLst>
                </a:gridCol>
              </a:tblGrid>
              <a:tr h="512064">
                <a:tc>
                  <a:txBody>
                    <a:bodyPr/>
                    <a:lstStyle/>
                    <a:p>
                      <a:pPr marL="0" indent="0">
                        <a:buNone/>
                      </a:pPr>
                      <a:r>
                        <a:rPr lang="en-US" sz="1300" b="1" dirty="0">
                          <a:solidFill>
                            <a:schemeClr val="bg1"/>
                          </a:solidFill>
                        </a:rPr>
                        <a:t>Tâche</a:t>
                      </a:r>
                      <a:endParaRPr lang="en-US" sz="1300" dirty="0"/>
                    </a:p>
                  </a:txBody>
                  <a:tcPr marL="109728" marR="109728"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tx2"/>
                    </a:solidFill>
                  </a:tcPr>
                </a:tc>
                <a:tc>
                  <a:txBody>
                    <a:bodyPr/>
                    <a:lstStyle/>
                    <a:p>
                      <a:pPr marL="0" indent="0" algn="ctr">
                        <a:buNone/>
                      </a:pPr>
                      <a:r>
                        <a:rPr lang="en-US" sz="1300" b="1" dirty="0">
                          <a:solidFill>
                            <a:schemeClr val="bg1"/>
                          </a:solidFill>
                        </a:rPr>
                        <a:t>Gemini Notebook</a:t>
                      </a:r>
                      <a:endParaRPr lang="en-US" sz="1300" dirty="0"/>
                    </a:p>
                  </a:txBody>
                  <a:tcPr marL="109728" marR="109728"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tx2"/>
                    </a:solidFill>
                  </a:tcPr>
                </a:tc>
                <a:tc>
                  <a:txBody>
                    <a:bodyPr/>
                    <a:lstStyle/>
                    <a:p>
                      <a:pPr marL="0" indent="0" algn="ctr">
                        <a:buNone/>
                      </a:pPr>
                      <a:r>
                        <a:rPr lang="en-US" sz="1300" b="1" dirty="0">
                          <a:solidFill>
                            <a:schemeClr val="bg1"/>
                          </a:solidFill>
                        </a:rPr>
                        <a:t>Gemini</a:t>
                      </a:r>
                      <a:endParaRPr lang="en-US" sz="1300" dirty="0"/>
                    </a:p>
                  </a:txBody>
                  <a:tcPr marL="109728" marR="109728"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tx2"/>
                    </a:solidFill>
                  </a:tcPr>
                </a:tc>
                <a:tc>
                  <a:txBody>
                    <a:bodyPr/>
                    <a:lstStyle/>
                    <a:p>
                      <a:pPr marL="0" indent="0" algn="ctr">
                        <a:buNone/>
                      </a:pPr>
                      <a:r>
                        <a:rPr lang="en-US" sz="1300" b="1" dirty="0">
                          <a:solidFill>
                            <a:schemeClr val="bg1"/>
                          </a:solidFill>
                        </a:rPr>
                        <a:t>Claude</a:t>
                      </a:r>
                      <a:endParaRPr lang="en-US" sz="1300" dirty="0"/>
                    </a:p>
                  </a:txBody>
                  <a:tcPr marL="109728" marR="109728"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tx2"/>
                    </a:solidFill>
                  </a:tcPr>
                </a:tc>
                <a:tc>
                  <a:txBody>
                    <a:bodyPr/>
                    <a:lstStyle/>
                    <a:p>
                      <a:pPr marL="0" indent="0" algn="ctr">
                        <a:buNone/>
                      </a:pPr>
                      <a:r>
                        <a:rPr lang="en-US" sz="1300" b="1" dirty="0">
                          <a:solidFill>
                            <a:schemeClr val="bg1"/>
                          </a:solidFill>
                        </a:rPr>
                        <a:t>Grok</a:t>
                      </a:r>
                      <a:endParaRPr lang="en-US" sz="1300" dirty="0"/>
                    </a:p>
                  </a:txBody>
                  <a:tcPr marL="109728" marR="109728"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512064">
                <a:tc>
                  <a:txBody>
                    <a:bodyPr/>
                    <a:lstStyle/>
                    <a:p>
                      <a:pPr marL="0" indent="0">
                        <a:buNone/>
                      </a:pPr>
                      <a:r>
                        <a:rPr lang="en-US" sz="1300" b="1" dirty="0">
                          <a:solidFill>
                            <a:schemeClr val="tx2"/>
                          </a:solidFill>
                        </a:rPr>
                        <a:t>Analyser mes entretiens ou mon corpus</a:t>
                      </a:r>
                      <a:endParaRPr lang="en-US" sz="1300" dirty="0"/>
                    </a:p>
                  </a:txBody>
                  <a:tcPr marL="109728" marR="109728"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300" b="1" dirty="0">
                          <a:solidFill>
                            <a:schemeClr val="bg1"/>
                          </a:solidFill>
                        </a:rPr>
                        <a:t>Idéal</a:t>
                      </a:r>
                      <a:endParaRPr lang="en-US" sz="1300" dirty="0"/>
                    </a:p>
                  </a:txBody>
                  <a:tcPr marL="109728" marR="109728"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accent2"/>
                    </a:solidFill>
                  </a:tcPr>
                </a:tc>
                <a:tc>
                  <a:txBody>
                    <a:bodyPr/>
                    <a:lstStyle/>
                    <a:p>
                      <a:pPr marL="0" indent="0" algn="ctr">
                        <a:buNone/>
                      </a:pPr>
                      <a:r>
                        <a:rPr lang="en-US" sz="1300" dirty="0">
                          <a:solidFill>
                            <a:schemeClr val="tx2"/>
                          </a:solidFill>
                        </a:rPr>
                        <a:t>Possible</a:t>
                      </a:r>
                      <a:endParaRPr lang="en-US" sz="1300" dirty="0"/>
                    </a:p>
                  </a:txBody>
                  <a:tcPr marL="109728" marR="109728"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300" dirty="0">
                          <a:solidFill>
                            <a:schemeClr val="tx2"/>
                          </a:solidFill>
                        </a:rPr>
                        <a:t>Possible</a:t>
                      </a:r>
                      <a:endParaRPr lang="en-US" sz="1300" dirty="0"/>
                    </a:p>
                  </a:txBody>
                  <a:tcPr marL="109728" marR="109728"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300" dirty="0">
                          <a:solidFill>
                            <a:schemeClr val="accent5"/>
                          </a:solidFill>
                        </a:rPr>
                        <a:t>—</a:t>
                      </a:r>
                      <a:endParaRPr lang="en-US" sz="1300" dirty="0"/>
                    </a:p>
                  </a:txBody>
                  <a:tcPr marL="109728" marR="109728"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512064">
                <a:tc>
                  <a:txBody>
                    <a:bodyPr/>
                    <a:lstStyle/>
                    <a:p>
                      <a:pPr marL="0" indent="0">
                        <a:buNone/>
                      </a:pPr>
                      <a:r>
                        <a:rPr lang="en-US" sz="1300" b="1" dirty="0">
                          <a:solidFill>
                            <a:schemeClr val="tx2"/>
                          </a:solidFill>
                        </a:rPr>
                        <a:t>Faire une revue de lecture citée</a:t>
                      </a:r>
                      <a:endParaRPr lang="en-US" sz="1300" dirty="0"/>
                    </a:p>
                  </a:txBody>
                  <a:tcPr marL="109728" marR="109728"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300" b="1" dirty="0">
                          <a:solidFill>
                            <a:schemeClr val="bg1"/>
                          </a:solidFill>
                        </a:rPr>
                        <a:t>Idéal</a:t>
                      </a:r>
                      <a:endParaRPr lang="en-US" sz="1300" dirty="0"/>
                    </a:p>
                  </a:txBody>
                  <a:tcPr marL="109728" marR="109728"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accent2"/>
                    </a:solidFill>
                  </a:tcPr>
                </a:tc>
                <a:tc>
                  <a:txBody>
                    <a:bodyPr/>
                    <a:lstStyle/>
                    <a:p>
                      <a:pPr marL="0" indent="0" algn="ctr">
                        <a:buNone/>
                      </a:pPr>
                      <a:r>
                        <a:rPr lang="en-US" sz="1300" dirty="0">
                          <a:solidFill>
                            <a:schemeClr val="tx2"/>
                          </a:solidFill>
                        </a:rPr>
                        <a:t>Possible</a:t>
                      </a:r>
                      <a:endParaRPr lang="en-US" sz="1300" dirty="0"/>
                    </a:p>
                  </a:txBody>
                  <a:tcPr marL="109728" marR="109728"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300" dirty="0">
                          <a:solidFill>
                            <a:schemeClr val="tx2"/>
                          </a:solidFill>
                        </a:rPr>
                        <a:t>Possible</a:t>
                      </a:r>
                      <a:endParaRPr lang="en-US" sz="1300" dirty="0"/>
                    </a:p>
                  </a:txBody>
                  <a:tcPr marL="109728" marR="109728"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300" dirty="0">
                          <a:solidFill>
                            <a:schemeClr val="accent5"/>
                          </a:solidFill>
                        </a:rPr>
                        <a:t>—</a:t>
                      </a:r>
                      <a:endParaRPr lang="en-US" sz="1300" dirty="0"/>
                    </a:p>
                  </a:txBody>
                  <a:tcPr marL="109728" marR="109728"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12064">
                <a:tc>
                  <a:txBody>
                    <a:bodyPr/>
                    <a:lstStyle/>
                    <a:p>
                      <a:pPr marL="0" indent="0">
                        <a:buNone/>
                      </a:pPr>
                      <a:r>
                        <a:rPr lang="en-US" sz="1300" b="1" dirty="0">
                          <a:solidFill>
                            <a:schemeClr val="tx2"/>
                          </a:solidFill>
                        </a:rPr>
                        <a:t>Explorer un sujet nouveau (rapport web)</a:t>
                      </a:r>
                      <a:endParaRPr lang="en-US" sz="1300" dirty="0"/>
                    </a:p>
                  </a:txBody>
                  <a:tcPr marL="109728" marR="109728"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300" dirty="0">
                          <a:solidFill>
                            <a:schemeClr val="accent5"/>
                          </a:solidFill>
                        </a:rPr>
                        <a:t>—</a:t>
                      </a:r>
                      <a:endParaRPr lang="en-US" sz="1300" dirty="0"/>
                    </a:p>
                  </a:txBody>
                  <a:tcPr marL="109728" marR="109728"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solidFill>
                  </a:tcPr>
                </a:tc>
                <a:tc>
                  <a:txBody>
                    <a:bodyPr/>
                    <a:lstStyle/>
                    <a:p>
                      <a:pPr marL="0" indent="0" algn="ctr">
                        <a:buNone/>
                      </a:pPr>
                      <a:r>
                        <a:rPr lang="en-US" sz="1300" b="1" dirty="0">
                          <a:solidFill>
                            <a:schemeClr val="bg1"/>
                          </a:solidFill>
                        </a:rPr>
                        <a:t>Idéal</a:t>
                      </a:r>
                      <a:endParaRPr lang="en-US" sz="1300" dirty="0"/>
                    </a:p>
                  </a:txBody>
                  <a:tcPr marL="109728" marR="109728"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accent2"/>
                    </a:solidFill>
                  </a:tcPr>
                </a:tc>
                <a:tc>
                  <a:txBody>
                    <a:bodyPr/>
                    <a:lstStyle/>
                    <a:p>
                      <a:pPr marL="0" indent="0" algn="ctr">
                        <a:buNone/>
                      </a:pPr>
                      <a:r>
                        <a:rPr lang="en-US" sz="1300" dirty="0">
                          <a:solidFill>
                            <a:schemeClr val="tx2"/>
                          </a:solidFill>
                        </a:rPr>
                        <a:t>Possible</a:t>
                      </a:r>
                      <a:endParaRPr lang="en-US" sz="1300" dirty="0"/>
                    </a:p>
                  </a:txBody>
                  <a:tcPr marL="109728" marR="109728"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300" dirty="0">
                          <a:solidFill>
                            <a:schemeClr val="tx2"/>
                          </a:solidFill>
                        </a:rPr>
                        <a:t>Possible</a:t>
                      </a:r>
                      <a:endParaRPr lang="en-US" sz="1300" dirty="0"/>
                    </a:p>
                  </a:txBody>
                  <a:tcPr marL="109728" marR="109728"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512064">
                <a:tc>
                  <a:txBody>
                    <a:bodyPr/>
                    <a:lstStyle/>
                    <a:p>
                      <a:pPr marL="0" indent="0">
                        <a:buNone/>
                      </a:pPr>
                      <a:r>
                        <a:rPr lang="en-US" sz="1300" b="1" dirty="0">
                          <a:solidFill>
                            <a:schemeClr val="tx2"/>
                          </a:solidFill>
                        </a:rPr>
                        <a:t>Relire et améliorer un manuscrit</a:t>
                      </a:r>
                      <a:endParaRPr lang="en-US" sz="1300" dirty="0"/>
                    </a:p>
                  </a:txBody>
                  <a:tcPr marL="109728" marR="109728"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300" dirty="0">
                          <a:solidFill>
                            <a:schemeClr val="accent5"/>
                          </a:solidFill>
                        </a:rPr>
                        <a:t>—</a:t>
                      </a:r>
                      <a:endParaRPr lang="en-US" sz="1300" dirty="0"/>
                    </a:p>
                  </a:txBody>
                  <a:tcPr marL="109728" marR="109728"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solidFill>
                  </a:tcPr>
                </a:tc>
                <a:tc>
                  <a:txBody>
                    <a:bodyPr/>
                    <a:lstStyle/>
                    <a:p>
                      <a:pPr marL="0" indent="0" algn="ctr">
                        <a:buNone/>
                      </a:pPr>
                      <a:r>
                        <a:rPr lang="en-US" sz="1300" dirty="0">
                          <a:solidFill>
                            <a:schemeClr val="tx2"/>
                          </a:solidFill>
                        </a:rPr>
                        <a:t>Possible</a:t>
                      </a:r>
                      <a:endParaRPr lang="en-US" sz="1300" dirty="0"/>
                    </a:p>
                  </a:txBody>
                  <a:tcPr marL="109728" marR="109728"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300" b="1" dirty="0">
                          <a:solidFill>
                            <a:schemeClr val="bg1"/>
                          </a:solidFill>
                        </a:rPr>
                        <a:t>Idéal</a:t>
                      </a:r>
                      <a:endParaRPr lang="en-US" sz="1300" dirty="0"/>
                    </a:p>
                  </a:txBody>
                  <a:tcPr marL="109728" marR="109728"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accent2"/>
                    </a:solidFill>
                  </a:tcPr>
                </a:tc>
                <a:tc>
                  <a:txBody>
                    <a:bodyPr/>
                    <a:lstStyle/>
                    <a:p>
                      <a:pPr marL="0" indent="0" algn="ctr">
                        <a:buNone/>
                      </a:pPr>
                      <a:r>
                        <a:rPr lang="en-US" sz="1300" dirty="0">
                          <a:solidFill>
                            <a:schemeClr val="tx2"/>
                          </a:solidFill>
                        </a:rPr>
                        <a:t>Possible</a:t>
                      </a:r>
                      <a:endParaRPr lang="en-US" sz="1300" dirty="0"/>
                    </a:p>
                  </a:txBody>
                  <a:tcPr marL="109728" marR="109728"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512064">
                <a:tc>
                  <a:txBody>
                    <a:bodyPr/>
                    <a:lstStyle/>
                    <a:p>
                      <a:pPr marL="0" indent="0">
                        <a:buNone/>
                      </a:pPr>
                      <a:r>
                        <a:rPr lang="en-US" sz="1300" b="1" dirty="0">
                          <a:solidFill>
                            <a:schemeClr val="tx2"/>
                          </a:solidFill>
                        </a:rPr>
                        <a:t>Traduire un abstract</a:t>
                      </a:r>
                      <a:endParaRPr lang="en-US" sz="1300" dirty="0"/>
                    </a:p>
                  </a:txBody>
                  <a:tcPr marL="109728" marR="109728"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300" dirty="0">
                          <a:solidFill>
                            <a:schemeClr val="accent5"/>
                          </a:solidFill>
                        </a:rPr>
                        <a:t>—</a:t>
                      </a:r>
                      <a:endParaRPr lang="en-US" sz="1300" dirty="0"/>
                    </a:p>
                  </a:txBody>
                  <a:tcPr marL="109728" marR="109728"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solidFill>
                  </a:tcPr>
                </a:tc>
                <a:tc>
                  <a:txBody>
                    <a:bodyPr/>
                    <a:lstStyle/>
                    <a:p>
                      <a:pPr marL="0" indent="0" algn="ctr">
                        <a:buNone/>
                      </a:pPr>
                      <a:r>
                        <a:rPr lang="en-US" sz="1300" dirty="0">
                          <a:solidFill>
                            <a:schemeClr val="tx2"/>
                          </a:solidFill>
                        </a:rPr>
                        <a:t>Possible</a:t>
                      </a:r>
                      <a:endParaRPr lang="en-US" sz="1300" dirty="0"/>
                    </a:p>
                  </a:txBody>
                  <a:tcPr marL="109728" marR="109728"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300" b="1" dirty="0">
                          <a:solidFill>
                            <a:schemeClr val="bg1"/>
                          </a:solidFill>
                        </a:rPr>
                        <a:t>Idéal</a:t>
                      </a:r>
                      <a:endParaRPr lang="en-US" sz="1300" dirty="0"/>
                    </a:p>
                  </a:txBody>
                  <a:tcPr marL="109728" marR="109728"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accent2"/>
                    </a:solidFill>
                  </a:tcPr>
                </a:tc>
                <a:tc>
                  <a:txBody>
                    <a:bodyPr/>
                    <a:lstStyle/>
                    <a:p>
                      <a:pPr marL="0" indent="0" algn="ctr">
                        <a:buNone/>
                      </a:pPr>
                      <a:r>
                        <a:rPr lang="en-US" sz="1300" dirty="0">
                          <a:solidFill>
                            <a:schemeClr val="tx2"/>
                          </a:solidFill>
                        </a:rPr>
                        <a:t>Possible</a:t>
                      </a:r>
                      <a:endParaRPr lang="en-US" sz="1300" dirty="0"/>
                    </a:p>
                  </a:txBody>
                  <a:tcPr marL="109728" marR="109728"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r h="512064">
                <a:tc>
                  <a:txBody>
                    <a:bodyPr/>
                    <a:lstStyle/>
                    <a:p>
                      <a:pPr marL="0" indent="0">
                        <a:buNone/>
                      </a:pPr>
                      <a:r>
                        <a:rPr lang="en-US" sz="1300" b="1" dirty="0">
                          <a:solidFill>
                            <a:schemeClr val="tx2"/>
                          </a:solidFill>
                        </a:rPr>
                        <a:t>Suivre l'actualité, les débats publics</a:t>
                      </a:r>
                      <a:endParaRPr lang="en-US" sz="1300" dirty="0"/>
                    </a:p>
                  </a:txBody>
                  <a:tcPr marL="109728" marR="109728"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300" dirty="0">
                          <a:solidFill>
                            <a:schemeClr val="accent5"/>
                          </a:solidFill>
                        </a:rPr>
                        <a:t>—</a:t>
                      </a:r>
                      <a:endParaRPr lang="en-US" sz="1300" dirty="0"/>
                    </a:p>
                  </a:txBody>
                  <a:tcPr marL="109728" marR="109728"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solidFill>
                  </a:tcPr>
                </a:tc>
                <a:tc>
                  <a:txBody>
                    <a:bodyPr/>
                    <a:lstStyle/>
                    <a:p>
                      <a:pPr marL="0" indent="0" algn="ctr">
                        <a:buNone/>
                      </a:pPr>
                      <a:r>
                        <a:rPr lang="en-US" sz="1300" dirty="0">
                          <a:solidFill>
                            <a:schemeClr val="tx2"/>
                          </a:solidFill>
                        </a:rPr>
                        <a:t>Possible</a:t>
                      </a:r>
                      <a:endParaRPr lang="en-US" sz="1300" dirty="0"/>
                    </a:p>
                  </a:txBody>
                  <a:tcPr marL="109728" marR="109728"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300" dirty="0">
                          <a:solidFill>
                            <a:schemeClr val="accent5"/>
                          </a:solidFill>
                        </a:rPr>
                        <a:t>—</a:t>
                      </a:r>
                      <a:endParaRPr lang="en-US" sz="1300" dirty="0"/>
                    </a:p>
                  </a:txBody>
                  <a:tcPr marL="109728" marR="109728"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solidFill>
                  </a:tcPr>
                </a:tc>
                <a:tc>
                  <a:txBody>
                    <a:bodyPr/>
                    <a:lstStyle/>
                    <a:p>
                      <a:pPr marL="0" indent="0" algn="ctr">
                        <a:buNone/>
                      </a:pPr>
                      <a:r>
                        <a:rPr lang="en-US" sz="1300" b="1" dirty="0">
                          <a:solidFill>
                            <a:schemeClr val="bg1"/>
                          </a:solidFill>
                        </a:rPr>
                        <a:t>Idéal</a:t>
                      </a:r>
                      <a:endParaRPr lang="en-US" sz="1300" dirty="0"/>
                    </a:p>
                  </a:txBody>
                  <a:tcPr marL="109728" marR="109728"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accent2"/>
                    </a:solidFill>
                  </a:tcPr>
                </a:tc>
                <a:extLst>
                  <a:ext uri="{0D108BD9-81ED-4DB2-BD59-A6C34878D82A}">
                    <a16:rowId xmlns:a16="http://schemas.microsoft.com/office/drawing/2014/main" val="10006"/>
                  </a:ext>
                </a:extLst>
              </a:tr>
              <a:tr h="512064">
                <a:tc>
                  <a:txBody>
                    <a:bodyPr/>
                    <a:lstStyle/>
                    <a:p>
                      <a:pPr marL="0" indent="0">
                        <a:buNone/>
                      </a:pPr>
                      <a:r>
                        <a:rPr lang="en-US" sz="1300" b="1" dirty="0">
                          <a:solidFill>
                            <a:schemeClr val="tx2"/>
                          </a:solidFill>
                        </a:rPr>
                        <a:t>Créer un assistant personnalisé</a:t>
                      </a:r>
                      <a:endParaRPr lang="en-US" sz="1300" dirty="0"/>
                    </a:p>
                  </a:txBody>
                  <a:tcPr marL="109728" marR="109728"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300" dirty="0">
                          <a:solidFill>
                            <a:schemeClr val="tx2"/>
                          </a:solidFill>
                        </a:rPr>
                        <a:t>Possible</a:t>
                      </a:r>
                      <a:endParaRPr lang="en-US" sz="1300" dirty="0"/>
                    </a:p>
                  </a:txBody>
                  <a:tcPr marL="109728" marR="109728"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300" b="1" dirty="0">
                          <a:solidFill>
                            <a:schemeClr val="bg1"/>
                          </a:solidFill>
                        </a:rPr>
                        <a:t>Idéal</a:t>
                      </a:r>
                      <a:endParaRPr lang="en-US" sz="1300" dirty="0"/>
                    </a:p>
                  </a:txBody>
                  <a:tcPr marL="109728" marR="109728"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accent2"/>
                    </a:solidFill>
                  </a:tcPr>
                </a:tc>
                <a:tc>
                  <a:txBody>
                    <a:bodyPr/>
                    <a:lstStyle/>
                    <a:p>
                      <a:pPr marL="0" indent="0" algn="ctr">
                        <a:buNone/>
                      </a:pPr>
                      <a:r>
                        <a:rPr lang="en-US" sz="1300" b="1" dirty="0">
                          <a:solidFill>
                            <a:schemeClr val="bg1"/>
                          </a:solidFill>
                        </a:rPr>
                        <a:t>Idéal</a:t>
                      </a:r>
                      <a:endParaRPr lang="en-US" sz="1300" dirty="0"/>
                    </a:p>
                  </a:txBody>
                  <a:tcPr marL="109728" marR="109728"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accent2"/>
                    </a:solidFill>
                  </a:tcPr>
                </a:tc>
                <a:tc>
                  <a:txBody>
                    <a:bodyPr/>
                    <a:lstStyle/>
                    <a:p>
                      <a:pPr marL="0" indent="0" algn="ctr">
                        <a:buNone/>
                      </a:pPr>
                      <a:r>
                        <a:rPr lang="en-US" sz="1300" dirty="0">
                          <a:solidFill>
                            <a:schemeClr val="accent5"/>
                          </a:solidFill>
                        </a:rPr>
                        <a:t>—</a:t>
                      </a:r>
                      <a:endParaRPr lang="en-US" sz="1300" dirty="0"/>
                    </a:p>
                  </a:txBody>
                  <a:tcPr marL="109728" marR="109728"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bl>
          </a:graphicData>
        </a:graphic>
      </p:graphicFrame>
      <p:sp>
        <p:nvSpPr>
          <p:cNvPr id="5" name="txt-409"/>
          <p:cNvSpPr txBox="1"/>
          <p:nvPr/>
        </p:nvSpPr>
        <p:spPr>
          <a:xfrm>
            <a:off x="548640" y="6053328"/>
            <a:ext cx="11064240" cy="256032"/>
          </a:xfrm>
          <a:prstGeom prst="rect">
            <a:avLst/>
          </a:prstGeom>
          <a:noFill/>
          <a:ln/>
        </p:spPr>
        <p:txBody>
          <a:bodyPr wrap="square" lIns="0" tIns="0" rIns="0" bIns="0" rtlCol="0" anchor="t"/>
          <a:lstStyle/>
          <a:p>
            <a:pPr marL="0" indent="0">
              <a:buNone/>
            </a:pPr>
            <a:r>
              <a:rPr lang="en-US" sz="1000" i="1" dirty="0">
                <a:solidFill>
                  <a:schemeClr val="accent5"/>
                </a:solidFill>
              </a:rPr>
              <a:t>Grille indicative pour démarrer : testez la même tâche dans deux outils et gardez celui qui vous convient.</a:t>
            </a:r>
            <a:endParaRPr lang="en-US" sz="1000" dirty="0"/>
          </a:p>
        </p:txBody>
      </p:sp>
      <p:sp>
        <p:nvSpPr>
          <p:cNvPr id="25" name="Slide Number Placeholder 0"/>
          <p:cNvSpPr>
            <a:spLocks noGrp="1"/>
          </p:cNvSpPr>
          <p:nvPr>
            <p:ph type="sldNum" sz="quarter" idx="4294967295"/>
          </p:nvPr>
        </p:nvSpPr>
        <p:spPr>
          <a:xfrm>
            <a:off x="11064240" y="6400800"/>
            <a:ext cx="54864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C82"/>
                </a:solidFill>
                <a:latin typeface="Poppins"/>
                <a:ea typeface="Poppins"/>
                <a:cs typeface="Poppins"/>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566928"/>
            <a:ext cx="11064240" cy="777240"/>
          </a:xfrm>
          <a:prstGeom prst="rect">
            <a:avLst/>
          </a:prstGeom>
          <a:noFill/>
          <a:ln/>
        </p:spPr>
        <p:txBody>
          <a:bodyPr wrap="square" lIns="0" tIns="0" rIns="0" bIns="0" rtlCol="0" anchor="ctr"/>
          <a:lstStyle/>
          <a:p>
            <a:pPr marL="0" indent="0" algn="l">
              <a:buNone/>
            </a:pPr>
            <a:r>
              <a:rPr lang="en-US" sz="2700" b="1" dirty="0">
                <a:solidFill>
                  <a:schemeClr val="tx2"/>
                </a:solidFill>
                <a:latin typeface="Poppins" pitchFamily="34" charset="0"/>
                <a:ea typeface="Poppins" pitchFamily="34" charset="-122"/>
                <a:cs typeface="Poppins" pitchFamily="34" charset="-120"/>
              </a:rPr>
              <a:t>Vidéos : prendre en main les outils</a:t>
            </a:r>
            <a:endParaRPr lang="en-US" sz="2700" dirty="0"/>
          </a:p>
        </p:txBody>
      </p:sp>
      <p:sp>
        <p:nvSpPr>
          <p:cNvPr id="3" name="Text 0"/>
          <p:cNvSpPr>
            <a:spLocks noGrp="1"/>
          </p:cNvSpPr>
          <p:nvPr>
            <p:ph type="body" idx="101" hasCustomPrompt="1"/>
          </p:nvPr>
        </p:nvSpPr>
        <p:spPr>
          <a:xfrm>
            <a:off x="548640" y="256032"/>
            <a:ext cx="8229600" cy="292608"/>
          </a:xfrm>
          <a:prstGeom prst="rect">
            <a:avLst/>
          </a:prstGeom>
          <a:noFill/>
          <a:ln/>
        </p:spPr>
        <p:txBody>
          <a:bodyPr wrap="square" lIns="0" tIns="0" rIns="0" bIns="0" rtlCol="0" anchor="ctr"/>
          <a:lstStyle/>
          <a:p>
            <a:pPr marL="0" indent="0">
              <a:buNone/>
            </a:pPr>
            <a:r>
              <a:rPr lang="en-US" sz="1100" b="1" dirty="0">
                <a:solidFill>
                  <a:schemeClr val="accent1"/>
                </a:solidFill>
                <a:latin typeface="Poppins" pitchFamily="34" charset="0"/>
                <a:ea typeface="Poppins" pitchFamily="34" charset="-122"/>
                <a:cs typeface="Poppins" pitchFamily="34" charset="-120"/>
              </a:rPr>
              <a:t>PANORAMA · POUR ALLER PLUS LOIN</a:t>
            </a:r>
            <a:endParaRPr lang="en-US" sz="1100" dirty="0"/>
          </a:p>
        </p:txBody>
      </p:sp>
      <p:sp>
        <p:nvSpPr>
          <p:cNvPr id="4" name="card-410"/>
          <p:cNvSpPr/>
          <p:nvPr/>
        </p:nvSpPr>
        <p:spPr>
          <a:xfrm>
            <a:off x="548640" y="1600200"/>
            <a:ext cx="5440680" cy="1298448"/>
          </a:xfrm>
          <a:prstGeom prst="roundRect">
            <a:avLst>
              <a:gd name="adj" fmla="val 5634"/>
            </a:avLst>
          </a:prstGeom>
          <a:solidFill>
            <a:schemeClr val="bg2"/>
          </a:solidFill>
          <a:ln w="6350">
            <a:solidFill>
              <a:schemeClr val="bg2"/>
            </a:solidFill>
            <a:prstDash val="solid"/>
          </a:ln>
        </p:spPr>
      </p:sp>
      <p:sp>
        <p:nvSpPr>
          <p:cNvPr id="5" name="play-411"/>
          <p:cNvSpPr/>
          <p:nvPr/>
        </p:nvSpPr>
        <p:spPr>
          <a:xfrm>
            <a:off x="777240" y="1901952"/>
            <a:ext cx="685800" cy="685800"/>
          </a:xfrm>
          <a:prstGeom prst="ellipse">
            <a:avLst/>
          </a:prstGeom>
          <a:solidFill>
            <a:schemeClr val="accent3"/>
          </a:solidFill>
          <a:ln w="12700">
            <a:solidFill>
              <a:schemeClr val="accent3"/>
            </a:solidFill>
            <a:prstDash val="solid"/>
          </a:ln>
        </p:spPr>
      </p:sp>
      <p:sp>
        <p:nvSpPr>
          <p:cNvPr id="6" name="tri-412"/>
          <p:cNvSpPr/>
          <p:nvPr/>
        </p:nvSpPr>
        <p:spPr>
          <a:xfrm rot="5400000">
            <a:off x="1024128" y="2075688"/>
            <a:ext cx="274320" cy="329184"/>
          </a:xfrm>
          <a:prstGeom prst="triangle">
            <a:avLst/>
          </a:prstGeom>
          <a:solidFill>
            <a:schemeClr val="bg1"/>
          </a:solidFill>
          <a:ln w="12700">
            <a:solidFill>
              <a:schemeClr val="bg1"/>
            </a:solidFill>
            <a:prstDash val="solid"/>
          </a:ln>
        </p:spPr>
      </p:sp>
      <p:sp>
        <p:nvSpPr>
          <p:cNvPr id="7" name="txt-413"/>
          <p:cNvSpPr txBox="1"/>
          <p:nvPr/>
        </p:nvSpPr>
        <p:spPr>
          <a:xfrm>
            <a:off x="1645920" y="1709928"/>
            <a:ext cx="4206240" cy="566928"/>
          </a:xfrm>
          <a:prstGeom prst="rect">
            <a:avLst/>
          </a:prstGeom>
          <a:noFill/>
          <a:ln/>
        </p:spPr>
        <p:txBody>
          <a:bodyPr wrap="square" lIns="0" tIns="0" rIns="0" bIns="0" rtlCol="0" anchor="ctr"/>
          <a:lstStyle/>
          <a:p>
            <a:pPr marL="0" indent="0">
              <a:buNone/>
            </a:pPr>
            <a:r>
              <a:rPr lang="en-US" sz="1300" b="1" dirty="0">
                <a:solidFill>
                  <a:schemeClr val="tx2"/>
                </a:solidFill>
              </a:rPr>
              <a:t>Tout ce que tu dois savoir sur NotebookLM (Gemini Notebook) : guide complet</a:t>
            </a:r>
            <a:endParaRPr lang="en-US" sz="1300" dirty="0"/>
          </a:p>
        </p:txBody>
      </p:sp>
      <p:sp>
        <p:nvSpPr>
          <p:cNvPr id="8" name="txt-414"/>
          <p:cNvSpPr txBox="1"/>
          <p:nvPr/>
        </p:nvSpPr>
        <p:spPr>
          <a:xfrm>
            <a:off x="1645920" y="2276856"/>
            <a:ext cx="4206240" cy="256032"/>
          </a:xfrm>
          <a:prstGeom prst="rect">
            <a:avLst/>
          </a:prstGeom>
          <a:noFill/>
          <a:ln/>
        </p:spPr>
        <p:txBody>
          <a:bodyPr wrap="square" lIns="0" tIns="0" rIns="0" bIns="0" rtlCol="0" anchor="t"/>
          <a:lstStyle/>
          <a:p>
            <a:pPr marL="0" indent="0">
              <a:buNone/>
            </a:pPr>
            <a:r>
              <a:rPr lang="en-US" sz="1100" dirty="0">
                <a:solidFill>
                  <a:schemeClr val="accent5"/>
                </a:solidFill>
              </a:rPr>
              <a:t>Hugo Buisson · 15 min</a:t>
            </a:r>
            <a:endParaRPr lang="en-US" sz="1100" dirty="0"/>
          </a:p>
        </p:txBody>
      </p:sp>
      <p:sp>
        <p:nvSpPr>
          <p:cNvPr id="9" name="txt-415"/>
          <p:cNvSpPr txBox="1"/>
          <p:nvPr/>
        </p:nvSpPr>
        <p:spPr>
          <a:xfrm>
            <a:off x="1645920" y="2532888"/>
            <a:ext cx="4206240" cy="256032"/>
          </a:xfrm>
          <a:prstGeom prst="rect">
            <a:avLst/>
          </a:prstGeom>
          <a:noFill/>
          <a:ln/>
        </p:spPr>
        <p:txBody>
          <a:bodyPr wrap="square" lIns="0" tIns="0" rIns="0" bIns="0" rtlCol="0" anchor="t"/>
          <a:lstStyle/>
          <a:p>
            <a:pPr marL="0" indent="0">
              <a:buNone/>
            </a:pPr>
            <a:r>
              <a:rPr lang="en-US" sz="1100" b="1" u="sng" dirty="0">
                <a:solidFill>
                  <a:schemeClr val="accent6"/>
                </a:solidFill>
                <a:hlinkClick r:id="rId3" tooltip="Tout ce que tu dois savoir sur NotebookLM (Gemini Notebook) : guide complet">
                  <a:extLst>
                    <a:ext uri="{A12FA001-AC4F-418D-AE19-62706E023703}">
                      <ahyp:hlinkClr xmlns:ahyp="http://schemas.microsoft.com/office/drawing/2018/hyperlinkcolor" val="tx"/>
                    </a:ext>
                  </a:extLst>
                </a:hlinkClick>
              </a:rPr>
              <a:t>youtu.be/YmgKqTFhZ5k</a:t>
            </a:r>
            <a:endParaRPr lang="en-US" sz="1100" dirty="0"/>
          </a:p>
        </p:txBody>
      </p:sp>
      <p:sp>
        <p:nvSpPr>
          <p:cNvPr id="10" name="card-416"/>
          <p:cNvSpPr/>
          <p:nvPr/>
        </p:nvSpPr>
        <p:spPr>
          <a:xfrm>
            <a:off x="6172200" y="1600200"/>
            <a:ext cx="5440680" cy="1298448"/>
          </a:xfrm>
          <a:prstGeom prst="roundRect">
            <a:avLst>
              <a:gd name="adj" fmla="val 5634"/>
            </a:avLst>
          </a:prstGeom>
          <a:solidFill>
            <a:schemeClr val="bg2"/>
          </a:solidFill>
          <a:ln w="6350">
            <a:solidFill>
              <a:schemeClr val="bg2"/>
            </a:solidFill>
            <a:prstDash val="solid"/>
          </a:ln>
        </p:spPr>
      </p:sp>
      <p:sp>
        <p:nvSpPr>
          <p:cNvPr id="11" name="play-417"/>
          <p:cNvSpPr/>
          <p:nvPr/>
        </p:nvSpPr>
        <p:spPr>
          <a:xfrm>
            <a:off x="6400800" y="1901952"/>
            <a:ext cx="685800" cy="685800"/>
          </a:xfrm>
          <a:prstGeom prst="ellipse">
            <a:avLst/>
          </a:prstGeom>
          <a:solidFill>
            <a:schemeClr val="accent3"/>
          </a:solidFill>
          <a:ln w="12700">
            <a:solidFill>
              <a:schemeClr val="accent3"/>
            </a:solidFill>
            <a:prstDash val="solid"/>
          </a:ln>
        </p:spPr>
      </p:sp>
      <p:sp>
        <p:nvSpPr>
          <p:cNvPr id="12" name="tri-418"/>
          <p:cNvSpPr/>
          <p:nvPr/>
        </p:nvSpPr>
        <p:spPr>
          <a:xfrm rot="5400000">
            <a:off x="6647688" y="2075688"/>
            <a:ext cx="274320" cy="329184"/>
          </a:xfrm>
          <a:prstGeom prst="triangle">
            <a:avLst/>
          </a:prstGeom>
          <a:solidFill>
            <a:schemeClr val="bg1"/>
          </a:solidFill>
          <a:ln w="12700">
            <a:solidFill>
              <a:schemeClr val="bg1"/>
            </a:solidFill>
            <a:prstDash val="solid"/>
          </a:ln>
        </p:spPr>
      </p:sp>
      <p:sp>
        <p:nvSpPr>
          <p:cNvPr id="13" name="txt-419"/>
          <p:cNvSpPr txBox="1"/>
          <p:nvPr/>
        </p:nvSpPr>
        <p:spPr>
          <a:xfrm>
            <a:off x="7269480" y="1709928"/>
            <a:ext cx="4206240" cy="566928"/>
          </a:xfrm>
          <a:prstGeom prst="rect">
            <a:avLst/>
          </a:prstGeom>
          <a:noFill/>
          <a:ln/>
        </p:spPr>
        <p:txBody>
          <a:bodyPr wrap="square" lIns="0" tIns="0" rIns="0" bIns="0" rtlCol="0" anchor="ctr"/>
          <a:lstStyle/>
          <a:p>
            <a:pPr marL="0" indent="0">
              <a:buNone/>
            </a:pPr>
            <a:r>
              <a:rPr lang="en-US" sz="1300" b="1" dirty="0">
                <a:solidFill>
                  <a:schemeClr val="tx2"/>
                </a:solidFill>
              </a:rPr>
              <a:t>Tuto : simplifiez-vous la vie avec Gemini !</a:t>
            </a:r>
            <a:endParaRPr lang="en-US" sz="1300" dirty="0"/>
          </a:p>
        </p:txBody>
      </p:sp>
      <p:sp>
        <p:nvSpPr>
          <p:cNvPr id="14" name="txt-420"/>
          <p:cNvSpPr txBox="1"/>
          <p:nvPr/>
        </p:nvSpPr>
        <p:spPr>
          <a:xfrm>
            <a:off x="7269480" y="2276856"/>
            <a:ext cx="4206240" cy="256032"/>
          </a:xfrm>
          <a:prstGeom prst="rect">
            <a:avLst/>
          </a:prstGeom>
          <a:noFill/>
          <a:ln/>
        </p:spPr>
        <p:txBody>
          <a:bodyPr wrap="square" lIns="0" tIns="0" rIns="0" bIns="0" rtlCol="0" anchor="t"/>
          <a:lstStyle/>
          <a:p>
            <a:pPr marL="0" indent="0">
              <a:buNone/>
            </a:pPr>
            <a:r>
              <a:rPr lang="en-US" sz="1100" dirty="0">
                <a:solidFill>
                  <a:schemeClr val="accent5"/>
                </a:solidFill>
              </a:rPr>
              <a:t>Google Ateliers Numériques · 7 min</a:t>
            </a:r>
            <a:endParaRPr lang="en-US" sz="1100" dirty="0"/>
          </a:p>
        </p:txBody>
      </p:sp>
      <p:sp>
        <p:nvSpPr>
          <p:cNvPr id="15" name="txt-421"/>
          <p:cNvSpPr txBox="1"/>
          <p:nvPr/>
        </p:nvSpPr>
        <p:spPr>
          <a:xfrm>
            <a:off x="7269480" y="2532888"/>
            <a:ext cx="4206240" cy="256032"/>
          </a:xfrm>
          <a:prstGeom prst="rect">
            <a:avLst/>
          </a:prstGeom>
          <a:noFill/>
          <a:ln/>
        </p:spPr>
        <p:txBody>
          <a:bodyPr wrap="square" lIns="0" tIns="0" rIns="0" bIns="0" rtlCol="0" anchor="t"/>
          <a:lstStyle/>
          <a:p>
            <a:pPr marL="0" indent="0">
              <a:buNone/>
            </a:pPr>
            <a:r>
              <a:rPr lang="en-US" sz="1100" b="1" u="sng" dirty="0">
                <a:solidFill>
                  <a:schemeClr val="accent6"/>
                </a:solidFill>
                <a:hlinkClick r:id="rId4" tooltip="Tuto : simplifiez-vous la vie avec Gemini !">
                  <a:extLst>
                    <a:ext uri="{A12FA001-AC4F-418D-AE19-62706E023703}">
                      <ahyp:hlinkClr xmlns:ahyp="http://schemas.microsoft.com/office/drawing/2018/hyperlinkcolor" val="tx"/>
                    </a:ext>
                  </a:extLst>
                </a:hlinkClick>
              </a:rPr>
              <a:t>youtu.be/DbcGMKx3Iyo</a:t>
            </a:r>
            <a:endParaRPr lang="en-US" sz="1100" dirty="0"/>
          </a:p>
        </p:txBody>
      </p:sp>
      <p:sp>
        <p:nvSpPr>
          <p:cNvPr id="16" name="card-422"/>
          <p:cNvSpPr/>
          <p:nvPr/>
        </p:nvSpPr>
        <p:spPr>
          <a:xfrm>
            <a:off x="548640" y="3081528"/>
            <a:ext cx="5440680" cy="1298448"/>
          </a:xfrm>
          <a:prstGeom prst="roundRect">
            <a:avLst>
              <a:gd name="adj" fmla="val 5634"/>
            </a:avLst>
          </a:prstGeom>
          <a:solidFill>
            <a:schemeClr val="bg2"/>
          </a:solidFill>
          <a:ln w="6350">
            <a:solidFill>
              <a:schemeClr val="bg2"/>
            </a:solidFill>
            <a:prstDash val="solid"/>
          </a:ln>
        </p:spPr>
      </p:sp>
      <p:sp>
        <p:nvSpPr>
          <p:cNvPr id="17" name="play-423"/>
          <p:cNvSpPr/>
          <p:nvPr/>
        </p:nvSpPr>
        <p:spPr>
          <a:xfrm>
            <a:off x="777240" y="3383280"/>
            <a:ext cx="685800" cy="685800"/>
          </a:xfrm>
          <a:prstGeom prst="ellipse">
            <a:avLst/>
          </a:prstGeom>
          <a:solidFill>
            <a:schemeClr val="accent3"/>
          </a:solidFill>
          <a:ln w="12700">
            <a:solidFill>
              <a:schemeClr val="accent3"/>
            </a:solidFill>
            <a:prstDash val="solid"/>
          </a:ln>
        </p:spPr>
      </p:sp>
      <p:sp>
        <p:nvSpPr>
          <p:cNvPr id="18" name="tri-424"/>
          <p:cNvSpPr/>
          <p:nvPr/>
        </p:nvSpPr>
        <p:spPr>
          <a:xfrm rot="5400000">
            <a:off x="1024128" y="3557016"/>
            <a:ext cx="274320" cy="329184"/>
          </a:xfrm>
          <a:prstGeom prst="triangle">
            <a:avLst/>
          </a:prstGeom>
          <a:solidFill>
            <a:schemeClr val="bg1"/>
          </a:solidFill>
          <a:ln w="12700">
            <a:solidFill>
              <a:schemeClr val="bg1"/>
            </a:solidFill>
            <a:prstDash val="solid"/>
          </a:ln>
        </p:spPr>
      </p:sp>
      <p:sp>
        <p:nvSpPr>
          <p:cNvPr id="19" name="txt-425"/>
          <p:cNvSpPr txBox="1"/>
          <p:nvPr/>
        </p:nvSpPr>
        <p:spPr>
          <a:xfrm>
            <a:off x="1645920" y="3191256"/>
            <a:ext cx="4206240" cy="566928"/>
          </a:xfrm>
          <a:prstGeom prst="rect">
            <a:avLst/>
          </a:prstGeom>
          <a:noFill/>
          <a:ln/>
        </p:spPr>
        <p:txBody>
          <a:bodyPr wrap="square" lIns="0" tIns="0" rIns="0" bIns="0" rtlCol="0" anchor="ctr"/>
          <a:lstStyle/>
          <a:p>
            <a:pPr marL="0" indent="0">
              <a:buNone/>
            </a:pPr>
            <a:r>
              <a:rPr lang="en-US" sz="1300" b="1" dirty="0">
                <a:solidFill>
                  <a:schemeClr val="tx2"/>
                </a:solidFill>
              </a:rPr>
              <a:t>Claude IA : le tutoriel facile pour débutant</a:t>
            </a:r>
            <a:endParaRPr lang="en-US" sz="1300" dirty="0"/>
          </a:p>
        </p:txBody>
      </p:sp>
      <p:sp>
        <p:nvSpPr>
          <p:cNvPr id="20" name="txt-426"/>
          <p:cNvSpPr txBox="1"/>
          <p:nvPr/>
        </p:nvSpPr>
        <p:spPr>
          <a:xfrm>
            <a:off x="1645920" y="3758184"/>
            <a:ext cx="4206240" cy="256032"/>
          </a:xfrm>
          <a:prstGeom prst="rect">
            <a:avLst/>
          </a:prstGeom>
          <a:noFill/>
          <a:ln/>
        </p:spPr>
        <p:txBody>
          <a:bodyPr wrap="square" lIns="0" tIns="0" rIns="0" bIns="0" rtlCol="0" anchor="t"/>
          <a:lstStyle/>
          <a:p>
            <a:pPr marL="0" indent="0">
              <a:buNone/>
            </a:pPr>
            <a:r>
              <a:rPr lang="en-US" sz="1100" dirty="0">
                <a:solidFill>
                  <a:schemeClr val="accent5"/>
                </a:solidFill>
              </a:rPr>
              <a:t>Ludo Salenne · 44 min</a:t>
            </a:r>
            <a:endParaRPr lang="en-US" sz="1100" dirty="0"/>
          </a:p>
        </p:txBody>
      </p:sp>
      <p:sp>
        <p:nvSpPr>
          <p:cNvPr id="21" name="txt-427"/>
          <p:cNvSpPr txBox="1"/>
          <p:nvPr/>
        </p:nvSpPr>
        <p:spPr>
          <a:xfrm>
            <a:off x="1645920" y="4014216"/>
            <a:ext cx="4206240" cy="256032"/>
          </a:xfrm>
          <a:prstGeom prst="rect">
            <a:avLst/>
          </a:prstGeom>
          <a:noFill/>
          <a:ln/>
        </p:spPr>
        <p:txBody>
          <a:bodyPr wrap="square" lIns="0" tIns="0" rIns="0" bIns="0" rtlCol="0" anchor="t"/>
          <a:lstStyle/>
          <a:p>
            <a:pPr marL="0" indent="0">
              <a:buNone/>
            </a:pPr>
            <a:r>
              <a:rPr lang="en-US" sz="1100" b="1" u="sng" dirty="0">
                <a:solidFill>
                  <a:schemeClr val="accent6"/>
                </a:solidFill>
                <a:hlinkClick r:id="rId5" tooltip="Claude IA : le tutoriel facile pour débutant">
                  <a:extLst>
                    <a:ext uri="{A12FA001-AC4F-418D-AE19-62706E023703}">
                      <ahyp:hlinkClr xmlns:ahyp="http://schemas.microsoft.com/office/drawing/2018/hyperlinkcolor" val="tx"/>
                    </a:ext>
                  </a:extLst>
                </a:hlinkClick>
              </a:rPr>
              <a:t>youtu.be/nHXND_R4Jy8</a:t>
            </a:r>
            <a:endParaRPr lang="en-US" sz="1100" dirty="0"/>
          </a:p>
        </p:txBody>
      </p:sp>
      <p:sp>
        <p:nvSpPr>
          <p:cNvPr id="22" name="card-428"/>
          <p:cNvSpPr/>
          <p:nvPr/>
        </p:nvSpPr>
        <p:spPr>
          <a:xfrm>
            <a:off x="6172200" y="3081528"/>
            <a:ext cx="5440680" cy="1298448"/>
          </a:xfrm>
          <a:prstGeom prst="roundRect">
            <a:avLst>
              <a:gd name="adj" fmla="val 5634"/>
            </a:avLst>
          </a:prstGeom>
          <a:solidFill>
            <a:schemeClr val="bg2"/>
          </a:solidFill>
          <a:ln w="6350">
            <a:solidFill>
              <a:schemeClr val="bg2"/>
            </a:solidFill>
            <a:prstDash val="solid"/>
          </a:ln>
        </p:spPr>
      </p:sp>
      <p:sp>
        <p:nvSpPr>
          <p:cNvPr id="23" name="play-429"/>
          <p:cNvSpPr/>
          <p:nvPr/>
        </p:nvSpPr>
        <p:spPr>
          <a:xfrm>
            <a:off x="6400800" y="3383280"/>
            <a:ext cx="685800" cy="685800"/>
          </a:xfrm>
          <a:prstGeom prst="ellipse">
            <a:avLst/>
          </a:prstGeom>
          <a:solidFill>
            <a:schemeClr val="accent3"/>
          </a:solidFill>
          <a:ln w="12700">
            <a:solidFill>
              <a:schemeClr val="accent3"/>
            </a:solidFill>
            <a:prstDash val="solid"/>
          </a:ln>
        </p:spPr>
      </p:sp>
      <p:sp>
        <p:nvSpPr>
          <p:cNvPr id="24" name="tri-430"/>
          <p:cNvSpPr/>
          <p:nvPr/>
        </p:nvSpPr>
        <p:spPr>
          <a:xfrm rot="5400000">
            <a:off x="6647688" y="3557016"/>
            <a:ext cx="274320" cy="329184"/>
          </a:xfrm>
          <a:prstGeom prst="triangle">
            <a:avLst/>
          </a:prstGeom>
          <a:solidFill>
            <a:schemeClr val="bg1"/>
          </a:solidFill>
          <a:ln w="12700">
            <a:solidFill>
              <a:schemeClr val="bg1"/>
            </a:solidFill>
            <a:prstDash val="solid"/>
          </a:ln>
        </p:spPr>
      </p:sp>
      <p:sp>
        <p:nvSpPr>
          <p:cNvPr id="25" name="txt-431"/>
          <p:cNvSpPr txBox="1"/>
          <p:nvPr/>
        </p:nvSpPr>
        <p:spPr>
          <a:xfrm>
            <a:off x="7269480" y="3191256"/>
            <a:ext cx="4206240" cy="566928"/>
          </a:xfrm>
          <a:prstGeom prst="rect">
            <a:avLst/>
          </a:prstGeom>
          <a:noFill/>
          <a:ln/>
        </p:spPr>
        <p:txBody>
          <a:bodyPr wrap="square" lIns="0" tIns="0" rIns="0" bIns="0" rtlCol="0" anchor="ctr"/>
          <a:lstStyle/>
          <a:p>
            <a:pPr marL="0" indent="0">
              <a:buNone/>
            </a:pPr>
            <a:r>
              <a:rPr lang="en-US" sz="1300" b="1" dirty="0">
                <a:solidFill>
                  <a:schemeClr val="tx2"/>
                </a:solidFill>
              </a:rPr>
              <a:t>Tutoriel Grok AI : 7 cas d'utilisation</a:t>
            </a:r>
            <a:endParaRPr lang="en-US" sz="1300" dirty="0"/>
          </a:p>
        </p:txBody>
      </p:sp>
      <p:sp>
        <p:nvSpPr>
          <p:cNvPr id="26" name="txt-432"/>
          <p:cNvSpPr txBox="1"/>
          <p:nvPr/>
        </p:nvSpPr>
        <p:spPr>
          <a:xfrm>
            <a:off x="7269480" y="3758184"/>
            <a:ext cx="4206240" cy="256032"/>
          </a:xfrm>
          <a:prstGeom prst="rect">
            <a:avLst/>
          </a:prstGeom>
          <a:noFill/>
          <a:ln/>
        </p:spPr>
        <p:txBody>
          <a:bodyPr wrap="square" lIns="0" tIns="0" rIns="0" bIns="0" rtlCol="0" anchor="t"/>
          <a:lstStyle/>
          <a:p>
            <a:pPr marL="0" indent="0">
              <a:buNone/>
            </a:pPr>
            <a:r>
              <a:rPr lang="en-US" sz="1100" dirty="0">
                <a:solidFill>
                  <a:schemeClr val="accent5"/>
                </a:solidFill>
              </a:rPr>
              <a:t>Santrel Français · 22 min</a:t>
            </a:r>
            <a:endParaRPr lang="en-US" sz="1100" dirty="0"/>
          </a:p>
        </p:txBody>
      </p:sp>
      <p:sp>
        <p:nvSpPr>
          <p:cNvPr id="27" name="txt-433"/>
          <p:cNvSpPr txBox="1"/>
          <p:nvPr/>
        </p:nvSpPr>
        <p:spPr>
          <a:xfrm>
            <a:off x="7269480" y="4014216"/>
            <a:ext cx="4206240" cy="256032"/>
          </a:xfrm>
          <a:prstGeom prst="rect">
            <a:avLst/>
          </a:prstGeom>
          <a:noFill/>
          <a:ln/>
        </p:spPr>
        <p:txBody>
          <a:bodyPr wrap="square" lIns="0" tIns="0" rIns="0" bIns="0" rtlCol="0" anchor="t"/>
          <a:lstStyle/>
          <a:p>
            <a:pPr marL="0" indent="0">
              <a:buNone/>
            </a:pPr>
            <a:r>
              <a:rPr lang="en-US" sz="1100" b="1" u="sng" dirty="0">
                <a:solidFill>
                  <a:schemeClr val="accent6"/>
                </a:solidFill>
                <a:hlinkClick r:id="rId6" tooltip="Tutoriel Grok AI : 7 cas d'utilisation">
                  <a:extLst>
                    <a:ext uri="{A12FA001-AC4F-418D-AE19-62706E023703}">
                      <ahyp:hlinkClr xmlns:ahyp="http://schemas.microsoft.com/office/drawing/2018/hyperlinkcolor" val="tx"/>
                    </a:ext>
                  </a:extLst>
                </a:hlinkClick>
              </a:rPr>
              <a:t>youtu.be/Hk_8kq26SRY</a:t>
            </a:r>
            <a:endParaRPr lang="en-US" sz="1100" dirty="0"/>
          </a:p>
        </p:txBody>
      </p:sp>
      <p:sp>
        <p:nvSpPr>
          <p:cNvPr id="28" name="txt-434"/>
          <p:cNvSpPr txBox="1"/>
          <p:nvPr/>
        </p:nvSpPr>
        <p:spPr>
          <a:xfrm>
            <a:off x="548640" y="6053328"/>
            <a:ext cx="11064240" cy="256032"/>
          </a:xfrm>
          <a:prstGeom prst="rect">
            <a:avLst/>
          </a:prstGeom>
          <a:noFill/>
          <a:ln/>
        </p:spPr>
        <p:txBody>
          <a:bodyPr wrap="square" lIns="0" tIns="0" rIns="0" bIns="0" rtlCol="0" anchor="t"/>
          <a:lstStyle/>
          <a:p>
            <a:pPr marL="0" indent="0">
              <a:buNone/>
            </a:pPr>
            <a:r>
              <a:rPr lang="en-US" sz="1000" i="1" dirty="0">
                <a:solidFill>
                  <a:schemeClr val="accent5"/>
                </a:solidFill>
              </a:rPr>
              <a:t>Vidéos en français vérifiées en octobre 2026. Liens cliquables en mode diaporama.</a:t>
            </a:r>
            <a:endParaRPr lang="en-US" sz="1000" dirty="0"/>
          </a:p>
        </p:txBody>
      </p:sp>
      <p:sp>
        <p:nvSpPr>
          <p:cNvPr id="29" name="Slide Number Placeholder 0"/>
          <p:cNvSpPr>
            <a:spLocks noGrp="1"/>
          </p:cNvSpPr>
          <p:nvPr>
            <p:ph type="sldNum" sz="quarter" idx="4294967295"/>
          </p:nvPr>
        </p:nvSpPr>
        <p:spPr>
          <a:xfrm>
            <a:off x="11064240" y="6400800"/>
            <a:ext cx="54864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C82"/>
                </a:solidFill>
                <a:latin typeface="Poppins"/>
                <a:ea typeface="Poppins"/>
                <a:cs typeface="Poppins"/>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566928"/>
            <a:ext cx="11064240" cy="777240"/>
          </a:xfrm>
          <a:prstGeom prst="rect">
            <a:avLst/>
          </a:prstGeom>
          <a:noFill/>
          <a:ln/>
        </p:spPr>
        <p:txBody>
          <a:bodyPr wrap="square" lIns="0" tIns="0" rIns="0" bIns="0" rtlCol="0" anchor="ctr"/>
          <a:lstStyle/>
          <a:p>
            <a:pPr marL="0" indent="0" algn="l">
              <a:buNone/>
            </a:pPr>
            <a:r>
              <a:rPr lang="en-US" sz="2700" b="1" dirty="0">
                <a:solidFill>
                  <a:schemeClr val="tx2"/>
                </a:solidFill>
                <a:latin typeface="Poppins" pitchFamily="34" charset="0"/>
                <a:ea typeface="Poppins" pitchFamily="34" charset="-122"/>
                <a:cs typeface="Poppins" pitchFamily="34" charset="-120"/>
              </a:rPr>
              <a:t>Lab 0 · Prise en main et piège</a:t>
            </a:r>
            <a:endParaRPr lang="en-US" sz="2700" dirty="0"/>
          </a:p>
        </p:txBody>
      </p:sp>
      <p:sp>
        <p:nvSpPr>
          <p:cNvPr id="3" name="Text 0"/>
          <p:cNvSpPr>
            <a:spLocks noGrp="1"/>
          </p:cNvSpPr>
          <p:nvPr>
            <p:ph type="body" idx="101" hasCustomPrompt="1"/>
          </p:nvPr>
        </p:nvSpPr>
        <p:spPr>
          <a:xfrm>
            <a:off x="548640" y="256032"/>
            <a:ext cx="8229600" cy="292608"/>
          </a:xfrm>
          <a:prstGeom prst="rect">
            <a:avLst/>
          </a:prstGeom>
          <a:noFill/>
          <a:ln/>
        </p:spPr>
        <p:txBody>
          <a:bodyPr wrap="square" lIns="0" tIns="0" rIns="0" bIns="0" rtlCol="0" anchor="ctr"/>
          <a:lstStyle/>
          <a:p>
            <a:pPr marL="0" indent="0">
              <a:buNone/>
            </a:pPr>
            <a:r>
              <a:rPr lang="en-US" sz="1100" b="1" dirty="0">
                <a:solidFill>
                  <a:schemeClr val="accent1"/>
                </a:solidFill>
                <a:latin typeface="Poppins" pitchFamily="34" charset="0"/>
                <a:ea typeface="Poppins" pitchFamily="34" charset="-122"/>
                <a:cs typeface="Poppins" pitchFamily="34" charset="-120"/>
              </a:rPr>
              <a:t>LAB 0 · 30 MIN</a:t>
            </a:r>
            <a:endParaRPr lang="en-US" sz="1100" dirty="0"/>
          </a:p>
        </p:txBody>
      </p:sp>
      <p:sp>
        <p:nvSpPr>
          <p:cNvPr id="4" name="card-435"/>
          <p:cNvSpPr/>
          <p:nvPr/>
        </p:nvSpPr>
        <p:spPr>
          <a:xfrm>
            <a:off x="10195560" y="640080"/>
            <a:ext cx="1417320" cy="502920"/>
          </a:xfrm>
          <a:prstGeom prst="roundRect">
            <a:avLst>
              <a:gd name="adj" fmla="val 14545"/>
            </a:avLst>
          </a:prstGeom>
          <a:solidFill>
            <a:schemeClr val="accent1"/>
          </a:solidFill>
          <a:ln w="6350">
            <a:solidFill>
              <a:schemeClr val="accent1"/>
            </a:solidFill>
            <a:prstDash val="solid"/>
          </a:ln>
        </p:spPr>
      </p:sp>
      <p:sp>
        <p:nvSpPr>
          <p:cNvPr id="5" name="txt-436"/>
          <p:cNvSpPr txBox="1"/>
          <p:nvPr/>
        </p:nvSpPr>
        <p:spPr>
          <a:xfrm>
            <a:off x="10195560" y="640080"/>
            <a:ext cx="1417320" cy="502920"/>
          </a:xfrm>
          <a:prstGeom prst="rect">
            <a:avLst/>
          </a:prstGeom>
          <a:noFill/>
          <a:ln/>
        </p:spPr>
        <p:txBody>
          <a:bodyPr wrap="square" lIns="0" tIns="0" rIns="0" bIns="0" rtlCol="0" anchor="ctr"/>
          <a:lstStyle/>
          <a:p>
            <a:pPr marL="0" indent="0" algn="ctr">
              <a:buNone/>
            </a:pPr>
            <a:r>
              <a:rPr lang="en-US" sz="1600" b="1" dirty="0">
                <a:solidFill>
                  <a:schemeClr val="tx2"/>
                </a:solidFill>
              </a:rPr>
              <a:t>30 min</a:t>
            </a:r>
            <a:endParaRPr lang="en-US" sz="1600" dirty="0"/>
          </a:p>
        </p:txBody>
      </p:sp>
      <p:sp>
        <p:nvSpPr>
          <p:cNvPr id="6" name="num-437"/>
          <p:cNvSpPr/>
          <p:nvPr/>
        </p:nvSpPr>
        <p:spPr>
          <a:xfrm>
            <a:off x="548640" y="1572768"/>
            <a:ext cx="420624" cy="420624"/>
          </a:xfrm>
          <a:prstGeom prst="ellipse">
            <a:avLst/>
          </a:prstGeom>
          <a:solidFill>
            <a:schemeClr val="tx2"/>
          </a:solidFill>
          <a:ln w="12700">
            <a:solidFill>
              <a:schemeClr val="tx2"/>
            </a:solidFill>
            <a:prstDash val="solid"/>
          </a:ln>
        </p:spPr>
      </p:sp>
      <p:sp>
        <p:nvSpPr>
          <p:cNvPr id="7" name="txt-438"/>
          <p:cNvSpPr txBox="1"/>
          <p:nvPr/>
        </p:nvSpPr>
        <p:spPr>
          <a:xfrm>
            <a:off x="548640" y="1572768"/>
            <a:ext cx="420624" cy="420624"/>
          </a:xfrm>
          <a:prstGeom prst="rect">
            <a:avLst/>
          </a:prstGeom>
          <a:no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8" name="txt-439"/>
          <p:cNvSpPr txBox="1"/>
          <p:nvPr/>
        </p:nvSpPr>
        <p:spPr>
          <a:xfrm>
            <a:off x="1115568" y="1481328"/>
            <a:ext cx="5212080" cy="603504"/>
          </a:xfrm>
          <a:prstGeom prst="rect">
            <a:avLst/>
          </a:prstGeom>
          <a:noFill/>
          <a:ln/>
        </p:spPr>
        <p:txBody>
          <a:bodyPr wrap="square" lIns="0" tIns="0" rIns="0" bIns="0" rtlCol="0" anchor="ctr"/>
          <a:lstStyle/>
          <a:p>
            <a:pPr marL="0" indent="0">
              <a:buNone/>
            </a:pPr>
            <a:r>
              <a:rPr lang="en-US" sz="1400" dirty="0">
                <a:solidFill>
                  <a:schemeClr val="tx1"/>
                </a:solidFill>
              </a:rPr>
              <a:t>Connectez-vous à Gemini, Claude et Grok (et ChatGPT si vous voulez)</a:t>
            </a:r>
            <a:endParaRPr lang="en-US" sz="1400" dirty="0"/>
          </a:p>
        </p:txBody>
      </p:sp>
      <p:sp>
        <p:nvSpPr>
          <p:cNvPr id="9" name="num-440"/>
          <p:cNvSpPr/>
          <p:nvPr/>
        </p:nvSpPr>
        <p:spPr>
          <a:xfrm>
            <a:off x="548640" y="2212848"/>
            <a:ext cx="420624" cy="420624"/>
          </a:xfrm>
          <a:prstGeom prst="ellipse">
            <a:avLst/>
          </a:prstGeom>
          <a:solidFill>
            <a:schemeClr val="tx2"/>
          </a:solidFill>
          <a:ln w="12700">
            <a:solidFill>
              <a:schemeClr val="tx2"/>
            </a:solidFill>
            <a:prstDash val="solid"/>
          </a:ln>
        </p:spPr>
      </p:sp>
      <p:sp>
        <p:nvSpPr>
          <p:cNvPr id="10" name="txt-441"/>
          <p:cNvSpPr txBox="1"/>
          <p:nvPr/>
        </p:nvSpPr>
        <p:spPr>
          <a:xfrm>
            <a:off x="548640" y="2212848"/>
            <a:ext cx="420624" cy="420624"/>
          </a:xfrm>
          <a:prstGeom prst="rect">
            <a:avLst/>
          </a:prstGeom>
          <a:no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11" name="txt-442"/>
          <p:cNvSpPr txBox="1"/>
          <p:nvPr/>
        </p:nvSpPr>
        <p:spPr>
          <a:xfrm>
            <a:off x="1115568" y="2121408"/>
            <a:ext cx="5212080" cy="603504"/>
          </a:xfrm>
          <a:prstGeom prst="rect">
            <a:avLst/>
          </a:prstGeom>
          <a:noFill/>
          <a:ln/>
        </p:spPr>
        <p:txBody>
          <a:bodyPr wrap="square" lIns="0" tIns="0" rIns="0" bIns="0" rtlCol="0" anchor="ctr"/>
          <a:lstStyle/>
          <a:p>
            <a:pPr marL="0" indent="0">
              <a:buNone/>
            </a:pPr>
            <a:r>
              <a:rPr lang="en-US" sz="1400" dirty="0">
                <a:solidFill>
                  <a:schemeClr val="tx1"/>
                </a:solidFill>
              </a:rPr>
              <a:t>Posez la même question aux 3 : « Donne-moi 5 références scientifiques récentes sur [votre sujet] »</a:t>
            </a:r>
            <a:endParaRPr lang="en-US" sz="1400" dirty="0"/>
          </a:p>
        </p:txBody>
      </p:sp>
      <p:sp>
        <p:nvSpPr>
          <p:cNvPr id="12" name="num-443"/>
          <p:cNvSpPr/>
          <p:nvPr/>
        </p:nvSpPr>
        <p:spPr>
          <a:xfrm>
            <a:off x="548640" y="2852928"/>
            <a:ext cx="420624" cy="420624"/>
          </a:xfrm>
          <a:prstGeom prst="ellipse">
            <a:avLst/>
          </a:prstGeom>
          <a:solidFill>
            <a:schemeClr val="tx2"/>
          </a:solidFill>
          <a:ln w="12700">
            <a:solidFill>
              <a:schemeClr val="tx2"/>
            </a:solidFill>
            <a:prstDash val="solid"/>
          </a:ln>
        </p:spPr>
      </p:sp>
      <p:sp>
        <p:nvSpPr>
          <p:cNvPr id="13" name="txt-444"/>
          <p:cNvSpPr txBox="1"/>
          <p:nvPr/>
        </p:nvSpPr>
        <p:spPr>
          <a:xfrm>
            <a:off x="548640" y="2852928"/>
            <a:ext cx="420624" cy="420624"/>
          </a:xfrm>
          <a:prstGeom prst="rect">
            <a:avLst/>
          </a:prstGeom>
          <a:no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14" name="txt-445"/>
          <p:cNvSpPr txBox="1"/>
          <p:nvPr/>
        </p:nvSpPr>
        <p:spPr>
          <a:xfrm>
            <a:off x="1115568" y="2761488"/>
            <a:ext cx="5212080" cy="603504"/>
          </a:xfrm>
          <a:prstGeom prst="rect">
            <a:avLst/>
          </a:prstGeom>
          <a:noFill/>
          <a:ln/>
        </p:spPr>
        <p:txBody>
          <a:bodyPr wrap="square" lIns="0" tIns="0" rIns="0" bIns="0" rtlCol="0" anchor="ctr"/>
          <a:lstStyle/>
          <a:p>
            <a:pPr marL="0" indent="0">
              <a:buNone/>
            </a:pPr>
            <a:r>
              <a:rPr lang="en-US" sz="1400" dirty="0">
                <a:solidFill>
                  <a:schemeClr val="tx1"/>
                </a:solidFill>
              </a:rPr>
              <a:t>Vérifiez chaque référence sur Google Scholar ou Semantic Scholar</a:t>
            </a:r>
            <a:endParaRPr lang="en-US" sz="1400" dirty="0"/>
          </a:p>
        </p:txBody>
      </p:sp>
      <p:sp>
        <p:nvSpPr>
          <p:cNvPr id="15" name="num-446"/>
          <p:cNvSpPr/>
          <p:nvPr/>
        </p:nvSpPr>
        <p:spPr>
          <a:xfrm>
            <a:off x="548640" y="3493008"/>
            <a:ext cx="420624" cy="420624"/>
          </a:xfrm>
          <a:prstGeom prst="ellipse">
            <a:avLst/>
          </a:prstGeom>
          <a:solidFill>
            <a:schemeClr val="tx2"/>
          </a:solidFill>
          <a:ln w="12700">
            <a:solidFill>
              <a:schemeClr val="tx2"/>
            </a:solidFill>
            <a:prstDash val="solid"/>
          </a:ln>
        </p:spPr>
      </p:sp>
      <p:sp>
        <p:nvSpPr>
          <p:cNvPr id="16" name="txt-447"/>
          <p:cNvSpPr txBox="1"/>
          <p:nvPr/>
        </p:nvSpPr>
        <p:spPr>
          <a:xfrm>
            <a:off x="548640" y="3493008"/>
            <a:ext cx="420624" cy="420624"/>
          </a:xfrm>
          <a:prstGeom prst="rect">
            <a:avLst/>
          </a:prstGeom>
          <a:noFill/>
          <a:ln/>
        </p:spPr>
        <p:txBody>
          <a:bodyPr wrap="square" lIns="0" tIns="0" rIns="0" bIns="0" rtlCol="0" anchor="ctr"/>
          <a:lstStyle/>
          <a:p>
            <a:pPr marL="0" indent="0" algn="ctr">
              <a:buNone/>
            </a:pPr>
            <a:r>
              <a:rPr lang="en-US" sz="1400" b="1" dirty="0">
                <a:solidFill>
                  <a:schemeClr val="bg1"/>
                </a:solidFill>
              </a:rPr>
              <a:t>4</a:t>
            </a:r>
            <a:endParaRPr lang="en-US" sz="1400" dirty="0"/>
          </a:p>
        </p:txBody>
      </p:sp>
      <p:sp>
        <p:nvSpPr>
          <p:cNvPr id="17" name="txt-448"/>
          <p:cNvSpPr txBox="1"/>
          <p:nvPr/>
        </p:nvSpPr>
        <p:spPr>
          <a:xfrm>
            <a:off x="1115568" y="3401568"/>
            <a:ext cx="5212080" cy="603504"/>
          </a:xfrm>
          <a:prstGeom prst="rect">
            <a:avLst/>
          </a:prstGeom>
          <a:noFill/>
          <a:ln/>
        </p:spPr>
        <p:txBody>
          <a:bodyPr wrap="square" lIns="0" tIns="0" rIns="0" bIns="0" rtlCol="0" anchor="ctr"/>
          <a:lstStyle/>
          <a:p>
            <a:pPr marL="0" indent="0">
              <a:buNone/>
            </a:pPr>
            <a:r>
              <a:rPr lang="en-US" sz="1400" dirty="0">
                <a:solidFill>
                  <a:schemeClr val="tx1"/>
                </a:solidFill>
              </a:rPr>
              <a:t>Retrouvez 2 vraies références sur votre sujet de thèse avec Semantic Scholar (avec DOI)</a:t>
            </a:r>
            <a:endParaRPr lang="en-US" sz="1400" dirty="0"/>
          </a:p>
        </p:txBody>
      </p:sp>
      <p:sp>
        <p:nvSpPr>
          <p:cNvPr id="18" name="num-449"/>
          <p:cNvSpPr/>
          <p:nvPr/>
        </p:nvSpPr>
        <p:spPr>
          <a:xfrm>
            <a:off x="548640" y="4133088"/>
            <a:ext cx="420624" cy="420624"/>
          </a:xfrm>
          <a:prstGeom prst="ellipse">
            <a:avLst/>
          </a:prstGeom>
          <a:solidFill>
            <a:schemeClr val="tx2"/>
          </a:solidFill>
          <a:ln w="12700">
            <a:solidFill>
              <a:schemeClr val="tx2"/>
            </a:solidFill>
            <a:prstDash val="solid"/>
          </a:ln>
        </p:spPr>
      </p:sp>
      <p:sp>
        <p:nvSpPr>
          <p:cNvPr id="19" name="txt-450"/>
          <p:cNvSpPr txBox="1"/>
          <p:nvPr/>
        </p:nvSpPr>
        <p:spPr>
          <a:xfrm>
            <a:off x="548640" y="4133088"/>
            <a:ext cx="420624" cy="420624"/>
          </a:xfrm>
          <a:prstGeom prst="rect">
            <a:avLst/>
          </a:prstGeom>
          <a:noFill/>
          <a:ln/>
        </p:spPr>
        <p:txBody>
          <a:bodyPr wrap="square" lIns="0" tIns="0" rIns="0" bIns="0" rtlCol="0" anchor="ctr"/>
          <a:lstStyle/>
          <a:p>
            <a:pPr marL="0" indent="0" algn="ctr">
              <a:buNone/>
            </a:pPr>
            <a:r>
              <a:rPr lang="en-US" sz="1400" b="1" dirty="0">
                <a:solidFill>
                  <a:schemeClr val="bg1"/>
                </a:solidFill>
              </a:rPr>
              <a:t>5</a:t>
            </a:r>
            <a:endParaRPr lang="en-US" sz="1400" dirty="0"/>
          </a:p>
        </p:txBody>
      </p:sp>
      <p:sp>
        <p:nvSpPr>
          <p:cNvPr id="20" name="txt-451"/>
          <p:cNvSpPr txBox="1"/>
          <p:nvPr/>
        </p:nvSpPr>
        <p:spPr>
          <a:xfrm>
            <a:off x="1115568" y="4041648"/>
            <a:ext cx="5212080" cy="603504"/>
          </a:xfrm>
          <a:prstGeom prst="rect">
            <a:avLst/>
          </a:prstGeom>
          <a:noFill/>
          <a:ln/>
        </p:spPr>
        <p:txBody>
          <a:bodyPr wrap="square" lIns="0" tIns="0" rIns="0" bIns="0" rtlCol="0" anchor="ctr"/>
          <a:lstStyle/>
          <a:p>
            <a:pPr marL="0" indent="0">
              <a:buNone/>
            </a:pPr>
            <a:r>
              <a:rPr lang="en-US" sz="1400" dirty="0">
                <a:solidFill>
                  <a:schemeClr val="tx1"/>
                </a:solidFill>
              </a:rPr>
              <a:t>Mettez-en une dans ResearchRabbit : notez 3 articles proches que vous ne connaissiez pas</a:t>
            </a:r>
            <a:endParaRPr lang="en-US" sz="1400" dirty="0"/>
          </a:p>
        </p:txBody>
      </p:sp>
      <p:sp>
        <p:nvSpPr>
          <p:cNvPr id="21" name="card-452"/>
          <p:cNvSpPr/>
          <p:nvPr/>
        </p:nvSpPr>
        <p:spPr>
          <a:xfrm>
            <a:off x="6675120" y="1508760"/>
            <a:ext cx="4937760" cy="3246120"/>
          </a:xfrm>
          <a:prstGeom prst="roundRect">
            <a:avLst>
              <a:gd name="adj" fmla="val 2254"/>
            </a:avLst>
          </a:prstGeom>
          <a:solidFill>
            <a:schemeClr val="bg1"/>
          </a:solidFill>
          <a:ln w="6350">
            <a:solidFill>
              <a:schemeClr val="bg1"/>
            </a:solidFill>
            <a:prstDash val="solid"/>
          </a:ln>
          <a:effectLst>
            <a:outerShdw blurRad="101600" dist="25400" dir="5400000" algn="bl" rotWithShape="0">
              <a:srgbClr val="000000">
                <a:alpha val="10000"/>
              </a:srgbClr>
            </a:outerShdw>
          </a:effectLst>
        </p:spPr>
      </p:sp>
      <p:sp>
        <p:nvSpPr>
          <p:cNvPr id="22" name="txt-453"/>
          <p:cNvSpPr txBox="1"/>
          <p:nvPr/>
        </p:nvSpPr>
        <p:spPr>
          <a:xfrm>
            <a:off x="6903720" y="1645920"/>
            <a:ext cx="4572000" cy="320040"/>
          </a:xfrm>
          <a:prstGeom prst="rect">
            <a:avLst/>
          </a:prstGeom>
          <a:noFill/>
          <a:ln/>
        </p:spPr>
        <p:txBody>
          <a:bodyPr wrap="square" lIns="0" tIns="0" rIns="0" bIns="0" rtlCol="0" anchor="t"/>
          <a:lstStyle/>
          <a:p>
            <a:pPr marL="0" indent="0">
              <a:buNone/>
            </a:pPr>
            <a:r>
              <a:rPr lang="en-US" sz="1300" b="1" dirty="0">
                <a:solidFill>
                  <a:schemeClr val="accent6"/>
                </a:solidFill>
              </a:rPr>
              <a:t>Votre tableau de vérification</a:t>
            </a:r>
            <a:endParaRPr lang="en-US" sz="1300" dirty="0"/>
          </a:p>
        </p:txBody>
      </p:sp>
      <p:graphicFrame>
        <p:nvGraphicFramePr>
          <p:cNvPr id="23" name="table-454"/>
          <p:cNvGraphicFramePr>
            <a:graphicFrameLocks noGrp="1"/>
          </p:cNvGraphicFramePr>
          <p:nvPr>
            <p:extLst>
              <p:ext uri="{D42A27DB-BD31-4B8C-83A1-F6EECF244321}">
                <p14:modId xmlns:p14="http://schemas.microsoft.com/office/powerpoint/2010/main" val="1579011935"/>
              </p:ext>
            </p:extLst>
          </p:nvPr>
        </p:nvGraphicFramePr>
        <p:xfrm>
          <a:off x="6903720" y="2057400"/>
          <a:ext cx="4480560" cy="914400"/>
        </p:xfrm>
        <a:graphic>
          <a:graphicData uri="http://schemas.openxmlformats.org/drawingml/2006/table">
            <a:tbl>
              <a:tblPr/>
              <a:tblGrid>
                <a:gridCol w="146304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tblGrid>
              <a:tr h="457200">
                <a:tc>
                  <a:txBody>
                    <a:bodyPr/>
                    <a:lstStyle/>
                    <a:p>
                      <a:pPr marL="0" indent="0" algn="ctr">
                        <a:buNone/>
                      </a:pPr>
                      <a:r>
                        <a:rPr lang="en-US" sz="1200" b="1" dirty="0">
                          <a:solidFill>
                            <a:schemeClr val="bg1"/>
                          </a:solidFill>
                        </a:rPr>
                        <a:t>Outil</a:t>
                      </a:r>
                      <a:endParaRPr lang="en-US" sz="1200" dirty="0"/>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tx2"/>
                    </a:solidFill>
                  </a:tcPr>
                </a:tc>
                <a:tc>
                  <a:txBody>
                    <a:bodyPr/>
                    <a:lstStyle/>
                    <a:p>
                      <a:pPr marL="0" indent="0" algn="ctr">
                        <a:buNone/>
                      </a:pPr>
                      <a:r>
                        <a:rPr lang="en-US" sz="1200" b="1" dirty="0">
                          <a:solidFill>
                            <a:schemeClr val="bg1"/>
                          </a:solidFill>
                        </a:rPr>
                        <a:t>Existe</a:t>
                      </a:r>
                      <a:endParaRPr lang="en-US" sz="1200" dirty="0"/>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tx2"/>
                    </a:solidFill>
                  </a:tcPr>
                </a:tc>
                <a:tc>
                  <a:txBody>
                    <a:bodyPr/>
                    <a:lstStyle/>
                    <a:p>
                      <a:pPr marL="0" indent="0" algn="ctr">
                        <a:buNone/>
                      </a:pPr>
                      <a:r>
                        <a:rPr lang="en-US" sz="1200" b="1" dirty="0">
                          <a:solidFill>
                            <a:schemeClr val="bg1"/>
                          </a:solidFill>
                        </a:rPr>
                        <a:t>Exacte</a:t>
                      </a:r>
                      <a:endParaRPr lang="en-US" sz="1200" dirty="0"/>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tx2"/>
                    </a:solidFill>
                  </a:tcPr>
                </a:tc>
                <a:tc>
                  <a:txBody>
                    <a:bodyPr/>
                    <a:lstStyle/>
                    <a:p>
                      <a:pPr marL="0" indent="0" algn="ctr">
                        <a:buNone/>
                      </a:pPr>
                      <a:r>
                        <a:rPr lang="en-US" sz="1200" b="1" dirty="0">
                          <a:solidFill>
                            <a:schemeClr val="bg1"/>
                          </a:solidFill>
                        </a:rPr>
                        <a:t>Inventée</a:t>
                      </a:r>
                      <a:endParaRPr lang="en-US" sz="1200" dirty="0"/>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457200">
                <a:tc>
                  <a:txBody>
                    <a:bodyPr/>
                    <a:lstStyle/>
                    <a:p>
                      <a:pPr marL="0" indent="0" algn="ctr">
                        <a:buNone/>
                      </a:pPr>
                      <a:r>
                        <a:rPr lang="en-US" sz="1200" dirty="0">
                          <a:solidFill>
                            <a:srgbClr val="000000"/>
                          </a:solidFill>
                        </a:rPr>
                        <a:t>Gemini</a:t>
                      </a:r>
                      <a:endParaRPr lang="en-US" sz="1200" dirty="0"/>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endParaRPr lang="en-US" sz="1200" dirty="0"/>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endParaRPr lang="en-US" sz="1200" dirty="0"/>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endParaRPr lang="en-US" sz="1200" dirty="0"/>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457200">
                <a:tc>
                  <a:txBody>
                    <a:bodyPr/>
                    <a:lstStyle/>
                    <a:p>
                      <a:pPr marL="0" indent="0" algn="ctr">
                        <a:buNone/>
                      </a:pPr>
                      <a:r>
                        <a:rPr lang="en-US" sz="1200" dirty="0">
                          <a:solidFill>
                            <a:srgbClr val="000000"/>
                          </a:solidFill>
                        </a:rPr>
                        <a:t>Claude</a:t>
                      </a:r>
                      <a:endParaRPr lang="en-US" sz="1200" dirty="0"/>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endParaRPr lang="en-US" sz="1200" dirty="0"/>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endParaRPr lang="en-US" sz="1200" dirty="0"/>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endParaRPr lang="en-US" sz="1200" dirty="0"/>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457200">
                <a:tc>
                  <a:txBody>
                    <a:bodyPr/>
                    <a:lstStyle/>
                    <a:p>
                      <a:pPr marL="0" indent="0" algn="ctr">
                        <a:buNone/>
                      </a:pPr>
                      <a:r>
                        <a:rPr lang="en-US" sz="1200" dirty="0">
                          <a:solidFill>
                            <a:srgbClr val="000000"/>
                          </a:solidFill>
                        </a:rPr>
                        <a:t>Grok</a:t>
                      </a:r>
                      <a:endParaRPr lang="en-US" sz="1200" dirty="0"/>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endParaRPr lang="en-US" sz="1200" dirty="0"/>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endParaRPr lang="en-US" sz="1200" dirty="0"/>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endParaRPr lang="en-US" sz="1200" dirty="0"/>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bl>
          </a:graphicData>
        </a:graphic>
      </p:graphicFrame>
      <p:sp>
        <p:nvSpPr>
          <p:cNvPr id="24" name="txt-455"/>
          <p:cNvSpPr txBox="1"/>
          <p:nvPr/>
        </p:nvSpPr>
        <p:spPr>
          <a:xfrm>
            <a:off x="6903720" y="4023360"/>
            <a:ext cx="4480560" cy="640080"/>
          </a:xfrm>
          <a:prstGeom prst="rect">
            <a:avLst/>
          </a:prstGeom>
          <a:noFill/>
          <a:ln/>
        </p:spPr>
        <p:txBody>
          <a:bodyPr wrap="square" lIns="0" tIns="0" rIns="0" bIns="0" rtlCol="0" anchor="t"/>
          <a:lstStyle/>
          <a:p>
            <a:pPr marL="0" indent="0">
              <a:buNone/>
            </a:pPr>
            <a:r>
              <a:rPr lang="en-US" sz="1200" i="1" dirty="0">
                <a:solidFill>
                  <a:schemeClr val="accent5"/>
                </a:solidFill>
              </a:rPr>
              <a:t>« Exacte » : bons auteurs, bonne année, bon titre, bonne revue.</a:t>
            </a:r>
            <a:endParaRPr lang="en-US" sz="1200" dirty="0"/>
          </a:p>
        </p:txBody>
      </p:sp>
      <p:sp>
        <p:nvSpPr>
          <p:cNvPr id="25" name="card-456"/>
          <p:cNvSpPr/>
          <p:nvPr/>
        </p:nvSpPr>
        <p:spPr>
          <a:xfrm>
            <a:off x="548640" y="4956048"/>
            <a:ext cx="5760720" cy="1261872"/>
          </a:xfrm>
          <a:prstGeom prst="roundRect">
            <a:avLst>
              <a:gd name="adj" fmla="val 5797"/>
            </a:avLst>
          </a:prstGeom>
          <a:solidFill>
            <a:schemeClr val="bg1"/>
          </a:solidFill>
          <a:ln w="6350">
            <a:solidFill>
              <a:schemeClr val="bg1"/>
            </a:solidFill>
            <a:prstDash val="solid"/>
          </a:ln>
          <a:effectLst>
            <a:outerShdw blurRad="101600" dist="25400" dir="5400000" algn="bl" rotWithShape="0">
              <a:srgbClr val="000000">
                <a:alpha val="10000"/>
              </a:srgbClr>
            </a:outerShdw>
          </a:effectLst>
        </p:spPr>
      </p:sp>
      <p:sp>
        <p:nvSpPr>
          <p:cNvPr id="26" name="circle-457"/>
          <p:cNvSpPr/>
          <p:nvPr/>
        </p:nvSpPr>
        <p:spPr>
          <a:xfrm>
            <a:off x="731520" y="5120640"/>
            <a:ext cx="457200" cy="457200"/>
          </a:xfrm>
          <a:prstGeom prst="ellipse">
            <a:avLst/>
          </a:prstGeom>
          <a:solidFill>
            <a:schemeClr val="accent1"/>
          </a:solidFill>
          <a:ln w="12700">
            <a:solidFill>
              <a:schemeClr val="accent1"/>
            </a:solidFill>
            <a:prstDash val="solid"/>
          </a:ln>
        </p:spPr>
      </p:sp>
      <p:pic>
        <p:nvPicPr>
          <p:cNvPr id="27" name="icon-458" descr="preencoded.png"/>
          <p:cNvPicPr>
            <a:picLocks noChangeAspect="1"/>
          </p:cNvPicPr>
          <p:nvPr/>
        </p:nvPicPr>
        <p:blipFill>
          <a:blip r:embed="rId3"/>
          <a:stretch>
            <a:fillRect/>
          </a:stretch>
        </p:blipFill>
        <p:spPr>
          <a:xfrm>
            <a:off x="845820" y="5234940"/>
            <a:ext cx="228600" cy="228600"/>
          </a:xfrm>
          <a:prstGeom prst="rect">
            <a:avLst/>
          </a:prstGeom>
        </p:spPr>
      </p:pic>
      <p:sp>
        <p:nvSpPr>
          <p:cNvPr id="28" name="txt-459"/>
          <p:cNvSpPr txBox="1"/>
          <p:nvPr/>
        </p:nvSpPr>
        <p:spPr>
          <a:xfrm>
            <a:off x="1325880" y="5074920"/>
            <a:ext cx="1828800" cy="320040"/>
          </a:xfrm>
          <a:prstGeom prst="rect">
            <a:avLst/>
          </a:prstGeom>
          <a:noFill/>
          <a:ln/>
        </p:spPr>
        <p:txBody>
          <a:bodyPr wrap="square" lIns="0" tIns="0" rIns="0" bIns="0" rtlCol="0" anchor="t"/>
          <a:lstStyle/>
          <a:p>
            <a:pPr marL="0" indent="0">
              <a:buNone/>
            </a:pPr>
            <a:r>
              <a:rPr lang="en-US" sz="1500" b="1" dirty="0">
                <a:solidFill>
                  <a:schemeClr val="accent1"/>
                </a:solidFill>
              </a:rPr>
              <a:t>Défi</a:t>
            </a:r>
            <a:endParaRPr lang="en-US" sz="1500" dirty="0"/>
          </a:p>
        </p:txBody>
      </p:sp>
      <p:sp>
        <p:nvSpPr>
          <p:cNvPr id="29" name="txt-460"/>
          <p:cNvSpPr txBox="1"/>
          <p:nvPr/>
        </p:nvSpPr>
        <p:spPr>
          <a:xfrm>
            <a:off x="1325880" y="5394960"/>
            <a:ext cx="4846320" cy="777240"/>
          </a:xfrm>
          <a:prstGeom prst="rect">
            <a:avLst/>
          </a:prstGeom>
          <a:noFill/>
          <a:ln/>
        </p:spPr>
        <p:txBody>
          <a:bodyPr wrap="square" lIns="0" tIns="0" rIns="0" bIns="0" rtlCol="0" anchor="t"/>
          <a:lstStyle/>
          <a:p>
            <a:pPr marL="0" indent="0">
              <a:buNone/>
            </a:pPr>
            <a:r>
              <a:rPr lang="en-US" sz="1300" dirty="0">
                <a:solidFill>
                  <a:schemeClr val="tx1"/>
                </a:solidFill>
              </a:rPr>
              <a:t>Activez la recherche web (ou Deep Research dans Gemini) et reposez la question. Le résultat est-il plus fiable ?</a:t>
            </a:r>
            <a:endParaRPr lang="en-US" sz="1300" dirty="0"/>
          </a:p>
        </p:txBody>
      </p:sp>
      <p:sp>
        <p:nvSpPr>
          <p:cNvPr id="30" name="card-461"/>
          <p:cNvSpPr/>
          <p:nvPr/>
        </p:nvSpPr>
        <p:spPr>
          <a:xfrm>
            <a:off x="6675120" y="4956048"/>
            <a:ext cx="4937760" cy="1261872"/>
          </a:xfrm>
          <a:prstGeom prst="roundRect">
            <a:avLst>
              <a:gd name="adj" fmla="val 5797"/>
            </a:avLst>
          </a:prstGeom>
          <a:solidFill>
            <a:schemeClr val="tx2"/>
          </a:solidFill>
          <a:ln w="6350">
            <a:solidFill>
              <a:schemeClr val="tx2"/>
            </a:solidFill>
            <a:prstDash val="solid"/>
          </a:ln>
        </p:spPr>
      </p:sp>
      <p:sp>
        <p:nvSpPr>
          <p:cNvPr id="31" name="circle-462"/>
          <p:cNvSpPr/>
          <p:nvPr/>
        </p:nvSpPr>
        <p:spPr>
          <a:xfrm>
            <a:off x="6858000" y="5120640"/>
            <a:ext cx="457200" cy="457200"/>
          </a:xfrm>
          <a:prstGeom prst="ellipse">
            <a:avLst/>
          </a:prstGeom>
          <a:solidFill>
            <a:schemeClr val="accent1"/>
          </a:solidFill>
          <a:ln w="12700">
            <a:solidFill>
              <a:schemeClr val="accent1"/>
            </a:solidFill>
            <a:prstDash val="solid"/>
          </a:ln>
        </p:spPr>
      </p:sp>
      <p:pic>
        <p:nvPicPr>
          <p:cNvPr id="32" name="icon-463" descr="preencoded.png"/>
          <p:cNvPicPr>
            <a:picLocks noChangeAspect="1"/>
          </p:cNvPicPr>
          <p:nvPr/>
        </p:nvPicPr>
        <p:blipFill>
          <a:blip r:embed="rId4"/>
          <a:stretch>
            <a:fillRect/>
          </a:stretch>
        </p:blipFill>
        <p:spPr>
          <a:xfrm>
            <a:off x="6972300" y="5234940"/>
            <a:ext cx="228600" cy="228600"/>
          </a:xfrm>
          <a:prstGeom prst="rect">
            <a:avLst/>
          </a:prstGeom>
        </p:spPr>
      </p:pic>
      <p:sp>
        <p:nvSpPr>
          <p:cNvPr id="33" name="txt-464"/>
          <p:cNvSpPr txBox="1"/>
          <p:nvPr/>
        </p:nvSpPr>
        <p:spPr>
          <a:xfrm>
            <a:off x="7452360" y="5074920"/>
            <a:ext cx="2743200" cy="320040"/>
          </a:xfrm>
          <a:prstGeom prst="rect">
            <a:avLst/>
          </a:prstGeom>
          <a:noFill/>
          <a:ln/>
        </p:spPr>
        <p:txBody>
          <a:bodyPr wrap="square" lIns="0" tIns="0" rIns="0" bIns="0" rtlCol="0" anchor="t"/>
          <a:lstStyle/>
          <a:p>
            <a:pPr marL="0" indent="0">
              <a:buNone/>
            </a:pPr>
            <a:r>
              <a:rPr lang="en-US" sz="1500" b="1" dirty="0">
                <a:solidFill>
                  <a:schemeClr val="accent1"/>
                </a:solidFill>
              </a:rPr>
              <a:t>À rendre</a:t>
            </a:r>
            <a:endParaRPr lang="en-US" sz="1500" dirty="0"/>
          </a:p>
        </p:txBody>
      </p:sp>
      <p:sp>
        <p:nvSpPr>
          <p:cNvPr id="34" name="txt-465"/>
          <p:cNvSpPr txBox="1"/>
          <p:nvPr/>
        </p:nvSpPr>
        <p:spPr>
          <a:xfrm>
            <a:off x="7452360" y="5394960"/>
            <a:ext cx="4023360" cy="777240"/>
          </a:xfrm>
          <a:prstGeom prst="rect">
            <a:avLst/>
          </a:prstGeom>
          <a:noFill/>
          <a:ln/>
        </p:spPr>
        <p:txBody>
          <a:bodyPr wrap="square" lIns="0" tIns="0" rIns="0" bIns="0" rtlCol="0" anchor="t"/>
          <a:lstStyle/>
          <a:p>
            <a:pPr marL="0" indent="0">
              <a:buNone/>
            </a:pPr>
            <a:r>
              <a:rPr lang="en-US" sz="1300" dirty="0">
                <a:solidFill>
                  <a:schemeClr val="bg1"/>
                </a:solidFill>
              </a:rPr>
              <a:t>Fiche 0 : tableau de vérification, 2 vraies références et 3 articles découverts</a:t>
            </a:r>
            <a:endParaRPr lang="en-US" sz="1300" dirty="0"/>
          </a:p>
        </p:txBody>
      </p:sp>
      <p:sp>
        <p:nvSpPr>
          <p:cNvPr id="35" name="Slide Number Placeholder 0"/>
          <p:cNvSpPr>
            <a:spLocks noGrp="1"/>
          </p:cNvSpPr>
          <p:nvPr>
            <p:ph type="sldNum" sz="quarter" idx="4294967295"/>
          </p:nvPr>
        </p:nvSpPr>
        <p:spPr>
          <a:xfrm>
            <a:off x="11064240" y="6400800"/>
            <a:ext cx="54864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C82"/>
                </a:solidFill>
                <a:latin typeface="Poppins"/>
                <a:ea typeface="Poppins"/>
                <a:cs typeface="Poppins"/>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xt-466"/>
          <p:cNvSpPr txBox="1"/>
          <p:nvPr/>
        </p:nvSpPr>
        <p:spPr>
          <a:xfrm>
            <a:off x="640080" y="2011680"/>
            <a:ext cx="2560320" cy="2011680"/>
          </a:xfrm>
          <a:prstGeom prst="rect">
            <a:avLst/>
          </a:prstGeom>
          <a:noFill/>
          <a:ln/>
        </p:spPr>
        <p:txBody>
          <a:bodyPr wrap="square" lIns="0" tIns="0" rIns="0" bIns="0" rtlCol="0" anchor="ctr"/>
          <a:lstStyle/>
          <a:p>
            <a:pPr marL="0" indent="0">
              <a:buNone/>
            </a:pPr>
            <a:r>
              <a:rPr lang="en-US" sz="9600" b="1" dirty="0">
                <a:solidFill>
                  <a:schemeClr val="accent1"/>
                </a:solidFill>
              </a:rPr>
              <a:t>R</a:t>
            </a:r>
            <a:endParaRPr lang="en-US" sz="9600" dirty="0"/>
          </a:p>
        </p:txBody>
      </p:sp>
      <p:sp>
        <p:nvSpPr>
          <p:cNvPr id="3" name="txt-467"/>
          <p:cNvSpPr txBox="1"/>
          <p:nvPr/>
        </p:nvSpPr>
        <p:spPr>
          <a:xfrm>
            <a:off x="3291840" y="1737360"/>
            <a:ext cx="8229600" cy="457200"/>
          </a:xfrm>
          <a:prstGeom prst="rect">
            <a:avLst/>
          </a:prstGeom>
          <a:noFill/>
          <a:ln/>
        </p:spPr>
        <p:txBody>
          <a:bodyPr wrap="square" lIns="0" tIns="0" rIns="0" bIns="0" rtlCol="0" anchor="t"/>
          <a:lstStyle/>
          <a:p>
            <a:pPr marL="0" indent="0">
              <a:buNone/>
            </a:pPr>
            <a:r>
              <a:rPr lang="en-US" sz="1600" b="1" dirty="0">
                <a:solidFill>
                  <a:schemeClr val="accent1"/>
                </a:solidFill>
              </a:rPr>
              <a:t>Capsule · 30 min + Lab R</a:t>
            </a:r>
            <a:endParaRPr lang="en-US" sz="1600" dirty="0"/>
          </a:p>
        </p:txBody>
      </p:sp>
      <p:sp>
        <p:nvSpPr>
          <p:cNvPr id="4" name="Text 0"/>
          <p:cNvSpPr>
            <a:spLocks noGrp="1"/>
          </p:cNvSpPr>
          <p:nvPr>
            <p:ph type="title" idx="100" hasCustomPrompt="1"/>
          </p:nvPr>
        </p:nvSpPr>
        <p:spPr>
          <a:xfrm>
            <a:off x="3291840" y="2286000"/>
            <a:ext cx="8321040" cy="1463040"/>
          </a:xfrm>
          <a:prstGeom prst="rect">
            <a:avLst/>
          </a:prstGeom>
          <a:noFill/>
          <a:ln/>
        </p:spPr>
        <p:txBody>
          <a:bodyPr wrap="square" lIns="0" tIns="0" rIns="0" bIns="0" rtlCol="0" anchor="ctr"/>
          <a:lstStyle/>
          <a:p>
            <a:pPr marL="0" indent="0" algn="l">
              <a:buNone/>
            </a:pPr>
            <a:r>
              <a:rPr lang="en-US" sz="3400" b="1" dirty="0">
                <a:solidFill>
                  <a:schemeClr val="bg1"/>
                </a:solidFill>
                <a:latin typeface="Poppins" pitchFamily="34" charset="0"/>
                <a:ea typeface="Poppins" pitchFamily="34" charset="-122"/>
                <a:cs typeface="Poppins" pitchFamily="34" charset="-120"/>
              </a:rPr>
              <a:t>Trouver son sujet de recherche : sources et gaps</a:t>
            </a:r>
            <a:endParaRPr lang="en-US" sz="3400" dirty="0"/>
          </a:p>
        </p:txBody>
      </p:sp>
      <p:sp>
        <p:nvSpPr>
          <p:cNvPr id="5" name="txt-468"/>
          <p:cNvSpPr txBox="1"/>
          <p:nvPr/>
        </p:nvSpPr>
        <p:spPr>
          <a:xfrm>
            <a:off x="3291840" y="3931920"/>
            <a:ext cx="8229600" cy="1828800"/>
          </a:xfrm>
          <a:prstGeom prst="rect">
            <a:avLst/>
          </a:prstGeom>
          <a:noFill/>
          <a:ln/>
        </p:spPr>
        <p:txBody>
          <a:bodyPr wrap="square" lIns="0" tIns="0" rIns="0" bIns="0" rtlCol="0" anchor="t"/>
          <a:lstStyle/>
          <a:p>
            <a:pPr marL="177800" indent="-177800">
              <a:spcAft>
                <a:spcPts val="600"/>
              </a:spcAft>
              <a:buSzPct val="100000"/>
              <a:buChar char="•"/>
            </a:pPr>
            <a:r>
              <a:rPr lang="en-US" sz="1600" dirty="0">
                <a:solidFill>
                  <a:schemeClr val="bg2"/>
                </a:solidFill>
              </a:rPr>
              <a:t>Chatbot ou moteur académique, et vérifier une référence en 3 gestes</a:t>
            </a:r>
            <a:endParaRPr lang="en-US" sz="1600" dirty="0"/>
          </a:p>
          <a:p>
            <a:pPr marL="177800" indent="-177800">
              <a:spcAft>
                <a:spcPts val="600"/>
              </a:spcAft>
              <a:buSzPct val="100000"/>
              <a:buChar char="•"/>
            </a:pPr>
            <a:r>
              <a:rPr lang="en-US" sz="1600" dirty="0">
                <a:solidFill>
                  <a:schemeClr val="bg2"/>
                </a:solidFill>
              </a:rPr>
              <a:t>Trouver un sujet en 5 étapes et repérer les gaps de la littérature avec l'IA</a:t>
            </a:r>
            <a:endParaRPr lang="en-US" sz="1600" dirty="0"/>
          </a:p>
          <a:p>
            <a:pPr marL="177800" indent="-177800">
              <a:spcAft>
                <a:spcPts val="600"/>
              </a:spcAft>
              <a:buSzPct val="100000"/>
              <a:buChar char="•"/>
            </a:pPr>
            <a:r>
              <a:rPr lang="en-US" sz="1600" dirty="0">
                <a:solidFill>
                  <a:schemeClr val="bg2"/>
                </a:solidFill>
              </a:rPr>
              <a:t>Le piège des articles générés par l'IA : les repérer, ne pas en produire</a:t>
            </a:r>
            <a:endParaRPr lang="en-US" sz="1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566928"/>
            <a:ext cx="11064240" cy="777240"/>
          </a:xfrm>
          <a:prstGeom prst="rect">
            <a:avLst/>
          </a:prstGeom>
          <a:noFill/>
          <a:ln/>
        </p:spPr>
        <p:txBody>
          <a:bodyPr wrap="square" lIns="0" tIns="0" rIns="0" bIns="0" rtlCol="0" anchor="ctr"/>
          <a:lstStyle/>
          <a:p>
            <a:pPr marL="0" indent="0" algn="l">
              <a:buNone/>
            </a:pPr>
            <a:r>
              <a:rPr lang="en-US" sz="2700" b="1" dirty="0">
                <a:solidFill>
                  <a:schemeClr val="tx2"/>
                </a:solidFill>
                <a:latin typeface="Poppins" pitchFamily="34" charset="0"/>
                <a:ea typeface="Poppins" pitchFamily="34" charset="-122"/>
                <a:cs typeface="Poppins" pitchFamily="34" charset="-120"/>
              </a:rPr>
              <a:t>Chatbot ou moteur académique : deux logiques différentes</a:t>
            </a:r>
            <a:endParaRPr lang="en-US" sz="2700" dirty="0"/>
          </a:p>
        </p:txBody>
      </p:sp>
      <p:sp>
        <p:nvSpPr>
          <p:cNvPr id="3" name="Text 0"/>
          <p:cNvSpPr>
            <a:spLocks noGrp="1"/>
          </p:cNvSpPr>
          <p:nvPr>
            <p:ph type="body" idx="101" hasCustomPrompt="1"/>
          </p:nvPr>
        </p:nvSpPr>
        <p:spPr>
          <a:xfrm>
            <a:off x="548640" y="256032"/>
            <a:ext cx="8229600" cy="292608"/>
          </a:xfrm>
          <a:prstGeom prst="rect">
            <a:avLst/>
          </a:prstGeom>
          <a:noFill/>
          <a:ln/>
        </p:spPr>
        <p:txBody>
          <a:bodyPr wrap="square" lIns="0" tIns="0" rIns="0" bIns="0" rtlCol="0" anchor="ctr"/>
          <a:lstStyle/>
          <a:p>
            <a:pPr marL="0" indent="0">
              <a:buNone/>
            </a:pPr>
            <a:r>
              <a:rPr lang="en-US" sz="1100" b="1" dirty="0">
                <a:solidFill>
                  <a:schemeClr val="accent1"/>
                </a:solidFill>
                <a:latin typeface="Poppins" pitchFamily="34" charset="0"/>
                <a:ea typeface="Poppins" pitchFamily="34" charset="-122"/>
                <a:cs typeface="Poppins" pitchFamily="34" charset="-120"/>
              </a:rPr>
              <a:t>RECHERCHE ASSISTÉE PAR IA</a:t>
            </a:r>
            <a:endParaRPr lang="en-US" sz="1100" dirty="0"/>
          </a:p>
        </p:txBody>
      </p:sp>
      <p:sp>
        <p:nvSpPr>
          <p:cNvPr id="4" name="card-469"/>
          <p:cNvSpPr/>
          <p:nvPr/>
        </p:nvSpPr>
        <p:spPr>
          <a:xfrm>
            <a:off x="548640" y="1600200"/>
            <a:ext cx="11064240" cy="2011680"/>
          </a:xfrm>
          <a:prstGeom prst="roundRect">
            <a:avLst>
              <a:gd name="adj" fmla="val 3636"/>
            </a:avLst>
          </a:prstGeom>
          <a:solidFill>
            <a:schemeClr val="bg2"/>
          </a:solidFill>
          <a:ln w="6350">
            <a:solidFill>
              <a:schemeClr val="bg2"/>
            </a:solidFill>
            <a:prstDash val="solid"/>
          </a:ln>
        </p:spPr>
      </p:sp>
      <p:sp>
        <p:nvSpPr>
          <p:cNvPr id="5" name="txt-470"/>
          <p:cNvSpPr txBox="1"/>
          <p:nvPr/>
        </p:nvSpPr>
        <p:spPr>
          <a:xfrm>
            <a:off x="777240" y="1737360"/>
            <a:ext cx="5486400" cy="365760"/>
          </a:xfrm>
          <a:prstGeom prst="rect">
            <a:avLst/>
          </a:prstGeom>
          <a:noFill/>
          <a:ln/>
        </p:spPr>
        <p:txBody>
          <a:bodyPr wrap="square" lIns="0" tIns="0" rIns="0" bIns="0" rtlCol="0" anchor="t"/>
          <a:lstStyle/>
          <a:p>
            <a:pPr marL="0" indent="0">
              <a:buNone/>
            </a:pPr>
            <a:r>
              <a:rPr lang="en-US" sz="1600" b="1" dirty="0">
                <a:solidFill>
                  <a:schemeClr val="accent3"/>
                </a:solidFill>
              </a:rPr>
              <a:t>Chatbot généraliste</a:t>
            </a:r>
            <a:endParaRPr lang="en-US" sz="1600" dirty="0"/>
          </a:p>
        </p:txBody>
      </p:sp>
      <p:sp>
        <p:nvSpPr>
          <p:cNvPr id="6" name="circle-471"/>
          <p:cNvSpPr/>
          <p:nvPr/>
        </p:nvSpPr>
        <p:spPr>
          <a:xfrm>
            <a:off x="777240" y="2240280"/>
            <a:ext cx="640080" cy="640080"/>
          </a:xfrm>
          <a:prstGeom prst="ellipse">
            <a:avLst/>
          </a:prstGeom>
          <a:solidFill>
            <a:schemeClr val="accent3"/>
          </a:solidFill>
          <a:ln w="12700">
            <a:solidFill>
              <a:schemeClr val="accent3"/>
            </a:solidFill>
            <a:prstDash val="solid"/>
          </a:ln>
        </p:spPr>
      </p:sp>
      <p:pic>
        <p:nvPicPr>
          <p:cNvPr id="7" name="icon-472" descr="preencoded.png"/>
          <p:cNvPicPr>
            <a:picLocks noChangeAspect="1"/>
          </p:cNvPicPr>
          <p:nvPr/>
        </p:nvPicPr>
        <p:blipFill>
          <a:blip r:embed="rId3"/>
          <a:stretch>
            <a:fillRect/>
          </a:stretch>
        </p:blipFill>
        <p:spPr>
          <a:xfrm>
            <a:off x="937260" y="2400300"/>
            <a:ext cx="320040" cy="320040"/>
          </a:xfrm>
          <a:prstGeom prst="rect">
            <a:avLst/>
          </a:prstGeom>
        </p:spPr>
      </p:pic>
      <p:sp>
        <p:nvSpPr>
          <p:cNvPr id="8" name="txt-473"/>
          <p:cNvSpPr txBox="1"/>
          <p:nvPr/>
        </p:nvSpPr>
        <p:spPr>
          <a:xfrm>
            <a:off x="1508760" y="2167128"/>
            <a:ext cx="1920240" cy="786384"/>
          </a:xfrm>
          <a:prstGeom prst="rect">
            <a:avLst/>
          </a:prstGeom>
          <a:noFill/>
          <a:ln/>
        </p:spPr>
        <p:txBody>
          <a:bodyPr wrap="square" lIns="0" tIns="0" rIns="0" bIns="0" rtlCol="0" anchor="ctr"/>
          <a:lstStyle/>
          <a:p>
            <a:pPr marL="0" indent="0">
              <a:buNone/>
            </a:pPr>
            <a:r>
              <a:rPr lang="en-US" sz="1300" dirty="0">
                <a:solidFill>
                  <a:schemeClr val="tx1"/>
                </a:solidFill>
              </a:rPr>
              <a:t>Votre question</a:t>
            </a:r>
            <a:endParaRPr lang="en-US" sz="1300" dirty="0"/>
          </a:p>
        </p:txBody>
      </p:sp>
      <p:sp>
        <p:nvSpPr>
          <p:cNvPr id="9" name="arrow-474"/>
          <p:cNvSpPr/>
          <p:nvPr/>
        </p:nvSpPr>
        <p:spPr>
          <a:xfrm>
            <a:off x="3429000" y="2560320"/>
            <a:ext cx="274320" cy="0"/>
          </a:xfrm>
          <a:prstGeom prst="line">
            <a:avLst/>
          </a:prstGeom>
          <a:noFill/>
          <a:ln w="22225">
            <a:solidFill>
              <a:srgbClr val="6B7C82"/>
            </a:solidFill>
            <a:prstDash val="solid"/>
            <a:tailEnd type="triangle"/>
          </a:ln>
        </p:spPr>
      </p:sp>
      <p:sp>
        <p:nvSpPr>
          <p:cNvPr id="10" name="circle-475"/>
          <p:cNvSpPr/>
          <p:nvPr/>
        </p:nvSpPr>
        <p:spPr>
          <a:xfrm>
            <a:off x="3749040" y="2240280"/>
            <a:ext cx="640080" cy="640080"/>
          </a:xfrm>
          <a:prstGeom prst="ellipse">
            <a:avLst/>
          </a:prstGeom>
          <a:solidFill>
            <a:schemeClr val="accent3"/>
          </a:solidFill>
          <a:ln w="12700">
            <a:solidFill>
              <a:schemeClr val="accent3"/>
            </a:solidFill>
            <a:prstDash val="solid"/>
          </a:ln>
        </p:spPr>
      </p:sp>
      <p:pic>
        <p:nvPicPr>
          <p:cNvPr id="11" name="icon-476" descr="preencoded.png"/>
          <p:cNvPicPr>
            <a:picLocks noChangeAspect="1"/>
          </p:cNvPicPr>
          <p:nvPr/>
        </p:nvPicPr>
        <p:blipFill>
          <a:blip r:embed="rId4"/>
          <a:stretch>
            <a:fillRect/>
          </a:stretch>
        </p:blipFill>
        <p:spPr>
          <a:xfrm>
            <a:off x="3909060" y="2400300"/>
            <a:ext cx="320040" cy="320040"/>
          </a:xfrm>
          <a:prstGeom prst="rect">
            <a:avLst/>
          </a:prstGeom>
        </p:spPr>
      </p:pic>
      <p:sp>
        <p:nvSpPr>
          <p:cNvPr id="12" name="txt-477"/>
          <p:cNvSpPr txBox="1"/>
          <p:nvPr/>
        </p:nvSpPr>
        <p:spPr>
          <a:xfrm>
            <a:off x="4480560" y="2167128"/>
            <a:ext cx="1920240" cy="786384"/>
          </a:xfrm>
          <a:prstGeom prst="rect">
            <a:avLst/>
          </a:prstGeom>
          <a:noFill/>
          <a:ln/>
        </p:spPr>
        <p:txBody>
          <a:bodyPr wrap="square" lIns="0" tIns="0" rIns="0" bIns="0" rtlCol="0" anchor="ctr"/>
          <a:lstStyle/>
          <a:p>
            <a:pPr marL="0" indent="0">
              <a:buNone/>
            </a:pPr>
            <a:r>
              <a:rPr lang="en-US" sz="1300" dirty="0">
                <a:solidFill>
                  <a:schemeClr val="tx1"/>
                </a:solidFill>
              </a:rPr>
              <a:t>Mémoire statistique du modèle</a:t>
            </a:r>
            <a:endParaRPr lang="en-US" sz="1300" dirty="0"/>
          </a:p>
        </p:txBody>
      </p:sp>
      <p:sp>
        <p:nvSpPr>
          <p:cNvPr id="13" name="arrow-478"/>
          <p:cNvSpPr/>
          <p:nvPr/>
        </p:nvSpPr>
        <p:spPr>
          <a:xfrm>
            <a:off x="6400800" y="2560320"/>
            <a:ext cx="274320" cy="0"/>
          </a:xfrm>
          <a:prstGeom prst="line">
            <a:avLst/>
          </a:prstGeom>
          <a:noFill/>
          <a:ln w="22225">
            <a:solidFill>
              <a:srgbClr val="6B7C82"/>
            </a:solidFill>
            <a:prstDash val="solid"/>
            <a:tailEnd type="triangle"/>
          </a:ln>
        </p:spPr>
      </p:sp>
      <p:sp>
        <p:nvSpPr>
          <p:cNvPr id="14" name="circle-479"/>
          <p:cNvSpPr/>
          <p:nvPr/>
        </p:nvSpPr>
        <p:spPr>
          <a:xfrm>
            <a:off x="6720840" y="2240280"/>
            <a:ext cx="640080" cy="640080"/>
          </a:xfrm>
          <a:prstGeom prst="ellipse">
            <a:avLst/>
          </a:prstGeom>
          <a:solidFill>
            <a:schemeClr val="accent3"/>
          </a:solidFill>
          <a:ln w="12700">
            <a:solidFill>
              <a:schemeClr val="accent3"/>
            </a:solidFill>
            <a:prstDash val="solid"/>
          </a:ln>
        </p:spPr>
      </p:sp>
      <p:pic>
        <p:nvPicPr>
          <p:cNvPr id="15" name="icon-480" descr="preencoded.png"/>
          <p:cNvPicPr>
            <a:picLocks noChangeAspect="1"/>
          </p:cNvPicPr>
          <p:nvPr/>
        </p:nvPicPr>
        <p:blipFill>
          <a:blip r:embed="rId5"/>
          <a:stretch>
            <a:fillRect/>
          </a:stretch>
        </p:blipFill>
        <p:spPr>
          <a:xfrm>
            <a:off x="6880860" y="2400300"/>
            <a:ext cx="320040" cy="320040"/>
          </a:xfrm>
          <a:prstGeom prst="rect">
            <a:avLst/>
          </a:prstGeom>
        </p:spPr>
      </p:pic>
      <p:sp>
        <p:nvSpPr>
          <p:cNvPr id="16" name="txt-481"/>
          <p:cNvSpPr txBox="1"/>
          <p:nvPr/>
        </p:nvSpPr>
        <p:spPr>
          <a:xfrm>
            <a:off x="7452360" y="2167128"/>
            <a:ext cx="1920240" cy="786384"/>
          </a:xfrm>
          <a:prstGeom prst="rect">
            <a:avLst/>
          </a:prstGeom>
          <a:noFill/>
          <a:ln/>
        </p:spPr>
        <p:txBody>
          <a:bodyPr wrap="square" lIns="0" tIns="0" rIns="0" bIns="0" rtlCol="0" anchor="ctr"/>
          <a:lstStyle/>
          <a:p>
            <a:pPr marL="0" indent="0">
              <a:buNone/>
            </a:pPr>
            <a:r>
              <a:rPr lang="en-US" sz="1300" dirty="0">
                <a:solidFill>
                  <a:schemeClr val="tx1"/>
                </a:solidFill>
              </a:rPr>
              <a:t>Texte plausible</a:t>
            </a:r>
            <a:endParaRPr lang="en-US" sz="1300" dirty="0"/>
          </a:p>
        </p:txBody>
      </p:sp>
      <p:sp>
        <p:nvSpPr>
          <p:cNvPr id="17" name="txt-482"/>
          <p:cNvSpPr txBox="1"/>
          <p:nvPr/>
        </p:nvSpPr>
        <p:spPr>
          <a:xfrm>
            <a:off x="9692640" y="2167128"/>
            <a:ext cx="1783080" cy="1097280"/>
          </a:xfrm>
          <a:prstGeom prst="rect">
            <a:avLst/>
          </a:prstGeom>
          <a:noFill/>
          <a:ln/>
        </p:spPr>
        <p:txBody>
          <a:bodyPr wrap="square" lIns="0" tIns="0" rIns="0" bIns="0" rtlCol="0" anchor="ctr"/>
          <a:lstStyle/>
          <a:p>
            <a:pPr marL="0" indent="0">
              <a:buNone/>
            </a:pPr>
            <a:r>
              <a:rPr lang="en-US" sz="1300" b="1" dirty="0">
                <a:solidFill>
                  <a:schemeClr val="accent3"/>
                </a:solidFill>
              </a:rPr>
              <a:t>Risque : références inventées ou inexactes</a:t>
            </a:r>
            <a:endParaRPr lang="en-US" sz="1300" dirty="0"/>
          </a:p>
        </p:txBody>
      </p:sp>
      <p:sp>
        <p:nvSpPr>
          <p:cNvPr id="18" name="card-483"/>
          <p:cNvSpPr/>
          <p:nvPr/>
        </p:nvSpPr>
        <p:spPr>
          <a:xfrm>
            <a:off x="548640" y="3840480"/>
            <a:ext cx="11064240" cy="2011680"/>
          </a:xfrm>
          <a:prstGeom prst="roundRect">
            <a:avLst>
              <a:gd name="adj" fmla="val 3636"/>
            </a:avLst>
          </a:prstGeom>
          <a:solidFill>
            <a:schemeClr val="bg2"/>
          </a:solidFill>
          <a:ln w="6350">
            <a:solidFill>
              <a:schemeClr val="bg2"/>
            </a:solidFill>
            <a:prstDash val="solid"/>
          </a:ln>
        </p:spPr>
      </p:sp>
      <p:sp>
        <p:nvSpPr>
          <p:cNvPr id="19" name="txt-484"/>
          <p:cNvSpPr txBox="1"/>
          <p:nvPr/>
        </p:nvSpPr>
        <p:spPr>
          <a:xfrm>
            <a:off x="777240" y="3977640"/>
            <a:ext cx="5486400" cy="365760"/>
          </a:xfrm>
          <a:prstGeom prst="rect">
            <a:avLst/>
          </a:prstGeom>
          <a:noFill/>
          <a:ln/>
        </p:spPr>
        <p:txBody>
          <a:bodyPr wrap="square" lIns="0" tIns="0" rIns="0" bIns="0" rtlCol="0" anchor="t"/>
          <a:lstStyle/>
          <a:p>
            <a:pPr marL="0" indent="0">
              <a:buNone/>
            </a:pPr>
            <a:r>
              <a:rPr lang="en-US" sz="1600" b="1" dirty="0">
                <a:solidFill>
                  <a:schemeClr val="accent2"/>
                </a:solidFill>
              </a:rPr>
              <a:t>Moteur de recherche académique</a:t>
            </a:r>
            <a:endParaRPr lang="en-US" sz="1600" dirty="0"/>
          </a:p>
        </p:txBody>
      </p:sp>
      <p:sp>
        <p:nvSpPr>
          <p:cNvPr id="20" name="circle-485"/>
          <p:cNvSpPr/>
          <p:nvPr/>
        </p:nvSpPr>
        <p:spPr>
          <a:xfrm>
            <a:off x="777240" y="4480560"/>
            <a:ext cx="640080" cy="640080"/>
          </a:xfrm>
          <a:prstGeom prst="ellipse">
            <a:avLst/>
          </a:prstGeom>
          <a:solidFill>
            <a:schemeClr val="accent2"/>
          </a:solidFill>
          <a:ln w="12700">
            <a:solidFill>
              <a:schemeClr val="accent2"/>
            </a:solidFill>
            <a:prstDash val="solid"/>
          </a:ln>
        </p:spPr>
      </p:sp>
      <p:pic>
        <p:nvPicPr>
          <p:cNvPr id="21" name="icon-486" descr="preencoded.png"/>
          <p:cNvPicPr>
            <a:picLocks noChangeAspect="1"/>
          </p:cNvPicPr>
          <p:nvPr/>
        </p:nvPicPr>
        <p:blipFill>
          <a:blip r:embed="rId3"/>
          <a:stretch>
            <a:fillRect/>
          </a:stretch>
        </p:blipFill>
        <p:spPr>
          <a:xfrm>
            <a:off x="937260" y="4640580"/>
            <a:ext cx="320040" cy="320040"/>
          </a:xfrm>
          <a:prstGeom prst="rect">
            <a:avLst/>
          </a:prstGeom>
        </p:spPr>
      </p:pic>
      <p:sp>
        <p:nvSpPr>
          <p:cNvPr id="22" name="txt-487"/>
          <p:cNvSpPr txBox="1"/>
          <p:nvPr/>
        </p:nvSpPr>
        <p:spPr>
          <a:xfrm>
            <a:off x="1508760" y="4407408"/>
            <a:ext cx="1920240" cy="786384"/>
          </a:xfrm>
          <a:prstGeom prst="rect">
            <a:avLst/>
          </a:prstGeom>
          <a:noFill/>
          <a:ln/>
        </p:spPr>
        <p:txBody>
          <a:bodyPr wrap="square" lIns="0" tIns="0" rIns="0" bIns="0" rtlCol="0" anchor="ctr"/>
          <a:lstStyle/>
          <a:p>
            <a:pPr marL="0" indent="0">
              <a:buNone/>
            </a:pPr>
            <a:r>
              <a:rPr lang="en-US" sz="1300" dirty="0">
                <a:solidFill>
                  <a:schemeClr val="tx1"/>
                </a:solidFill>
              </a:rPr>
              <a:t>Votre question</a:t>
            </a:r>
            <a:endParaRPr lang="en-US" sz="1300" dirty="0"/>
          </a:p>
        </p:txBody>
      </p:sp>
      <p:sp>
        <p:nvSpPr>
          <p:cNvPr id="23" name="arrow-488"/>
          <p:cNvSpPr/>
          <p:nvPr/>
        </p:nvSpPr>
        <p:spPr>
          <a:xfrm>
            <a:off x="3429000" y="4800600"/>
            <a:ext cx="274320" cy="0"/>
          </a:xfrm>
          <a:prstGeom prst="line">
            <a:avLst/>
          </a:prstGeom>
          <a:noFill/>
          <a:ln w="22225">
            <a:solidFill>
              <a:srgbClr val="6B7C82"/>
            </a:solidFill>
            <a:prstDash val="solid"/>
            <a:tailEnd type="triangle"/>
          </a:ln>
        </p:spPr>
      </p:sp>
      <p:sp>
        <p:nvSpPr>
          <p:cNvPr id="24" name="circle-489"/>
          <p:cNvSpPr/>
          <p:nvPr/>
        </p:nvSpPr>
        <p:spPr>
          <a:xfrm>
            <a:off x="3749040" y="4480560"/>
            <a:ext cx="640080" cy="640080"/>
          </a:xfrm>
          <a:prstGeom prst="ellipse">
            <a:avLst/>
          </a:prstGeom>
          <a:solidFill>
            <a:schemeClr val="accent2"/>
          </a:solidFill>
          <a:ln w="12700">
            <a:solidFill>
              <a:schemeClr val="accent2"/>
            </a:solidFill>
            <a:prstDash val="solid"/>
          </a:ln>
        </p:spPr>
      </p:sp>
      <p:pic>
        <p:nvPicPr>
          <p:cNvPr id="25" name="icon-490" descr="preencoded.png"/>
          <p:cNvPicPr>
            <a:picLocks noChangeAspect="1"/>
          </p:cNvPicPr>
          <p:nvPr/>
        </p:nvPicPr>
        <p:blipFill>
          <a:blip r:embed="rId6"/>
          <a:stretch>
            <a:fillRect/>
          </a:stretch>
        </p:blipFill>
        <p:spPr>
          <a:xfrm>
            <a:off x="3909060" y="4640580"/>
            <a:ext cx="320040" cy="320040"/>
          </a:xfrm>
          <a:prstGeom prst="rect">
            <a:avLst/>
          </a:prstGeom>
        </p:spPr>
      </p:pic>
      <p:sp>
        <p:nvSpPr>
          <p:cNvPr id="26" name="txt-491"/>
          <p:cNvSpPr txBox="1"/>
          <p:nvPr/>
        </p:nvSpPr>
        <p:spPr>
          <a:xfrm>
            <a:off x="4480560" y="4407408"/>
            <a:ext cx="1920240" cy="786384"/>
          </a:xfrm>
          <a:prstGeom prst="rect">
            <a:avLst/>
          </a:prstGeom>
          <a:noFill/>
          <a:ln/>
        </p:spPr>
        <p:txBody>
          <a:bodyPr wrap="square" lIns="0" tIns="0" rIns="0" bIns="0" rtlCol="0" anchor="ctr"/>
          <a:lstStyle/>
          <a:p>
            <a:pPr marL="0" indent="0">
              <a:buNone/>
            </a:pPr>
            <a:r>
              <a:rPr lang="en-US" sz="1300" dirty="0">
                <a:solidFill>
                  <a:schemeClr val="tx1"/>
                </a:solidFill>
              </a:rPr>
              <a:t>Recherche dans une base de vraies publications</a:t>
            </a:r>
            <a:endParaRPr lang="en-US" sz="1300" dirty="0"/>
          </a:p>
        </p:txBody>
      </p:sp>
      <p:sp>
        <p:nvSpPr>
          <p:cNvPr id="27" name="arrow-492"/>
          <p:cNvSpPr/>
          <p:nvPr/>
        </p:nvSpPr>
        <p:spPr>
          <a:xfrm>
            <a:off x="6400800" y="4800600"/>
            <a:ext cx="274320" cy="0"/>
          </a:xfrm>
          <a:prstGeom prst="line">
            <a:avLst/>
          </a:prstGeom>
          <a:noFill/>
          <a:ln w="22225">
            <a:solidFill>
              <a:srgbClr val="6B7C82"/>
            </a:solidFill>
            <a:prstDash val="solid"/>
            <a:tailEnd type="triangle"/>
          </a:ln>
        </p:spPr>
      </p:sp>
      <p:sp>
        <p:nvSpPr>
          <p:cNvPr id="28" name="circle-493"/>
          <p:cNvSpPr/>
          <p:nvPr/>
        </p:nvSpPr>
        <p:spPr>
          <a:xfrm>
            <a:off x="6720840" y="4480560"/>
            <a:ext cx="640080" cy="640080"/>
          </a:xfrm>
          <a:prstGeom prst="ellipse">
            <a:avLst/>
          </a:prstGeom>
          <a:solidFill>
            <a:schemeClr val="accent2"/>
          </a:solidFill>
          <a:ln w="12700">
            <a:solidFill>
              <a:schemeClr val="accent2"/>
            </a:solidFill>
            <a:prstDash val="solid"/>
          </a:ln>
        </p:spPr>
      </p:sp>
      <p:pic>
        <p:nvPicPr>
          <p:cNvPr id="29" name="icon-494" descr="preencoded.png"/>
          <p:cNvPicPr>
            <a:picLocks noChangeAspect="1"/>
          </p:cNvPicPr>
          <p:nvPr/>
        </p:nvPicPr>
        <p:blipFill>
          <a:blip r:embed="rId7"/>
          <a:stretch>
            <a:fillRect/>
          </a:stretch>
        </p:blipFill>
        <p:spPr>
          <a:xfrm>
            <a:off x="6880860" y="4640580"/>
            <a:ext cx="320040" cy="320040"/>
          </a:xfrm>
          <a:prstGeom prst="rect">
            <a:avLst/>
          </a:prstGeom>
        </p:spPr>
      </p:pic>
      <p:sp>
        <p:nvSpPr>
          <p:cNvPr id="30" name="txt-495"/>
          <p:cNvSpPr txBox="1"/>
          <p:nvPr/>
        </p:nvSpPr>
        <p:spPr>
          <a:xfrm>
            <a:off x="7452360" y="4407408"/>
            <a:ext cx="1920240" cy="786384"/>
          </a:xfrm>
          <a:prstGeom prst="rect">
            <a:avLst/>
          </a:prstGeom>
          <a:noFill/>
          <a:ln/>
        </p:spPr>
        <p:txBody>
          <a:bodyPr wrap="square" lIns="0" tIns="0" rIns="0" bIns="0" rtlCol="0" anchor="ctr"/>
          <a:lstStyle/>
          <a:p>
            <a:pPr marL="0" indent="0">
              <a:buNone/>
            </a:pPr>
            <a:r>
              <a:rPr lang="en-US" sz="1300" dirty="0">
                <a:solidFill>
                  <a:schemeClr val="tx1"/>
                </a:solidFill>
              </a:rPr>
              <a:t>Réponse résumée + liens vers les articles</a:t>
            </a:r>
            <a:endParaRPr lang="en-US" sz="1300" dirty="0"/>
          </a:p>
        </p:txBody>
      </p:sp>
      <p:sp>
        <p:nvSpPr>
          <p:cNvPr id="31" name="txt-496"/>
          <p:cNvSpPr txBox="1"/>
          <p:nvPr/>
        </p:nvSpPr>
        <p:spPr>
          <a:xfrm>
            <a:off x="9692640" y="4407408"/>
            <a:ext cx="1783080" cy="1097280"/>
          </a:xfrm>
          <a:prstGeom prst="rect">
            <a:avLst/>
          </a:prstGeom>
          <a:noFill/>
          <a:ln/>
        </p:spPr>
        <p:txBody>
          <a:bodyPr wrap="square" lIns="0" tIns="0" rIns="0" bIns="0" rtlCol="0" anchor="ctr"/>
          <a:lstStyle/>
          <a:p>
            <a:pPr marL="0" indent="0">
              <a:buNone/>
            </a:pPr>
            <a:r>
              <a:rPr lang="en-US" sz="1300" b="1" dirty="0">
                <a:solidFill>
                  <a:schemeClr val="accent2"/>
                </a:solidFill>
              </a:rPr>
              <a:t>Atout : chaque affirmation pointe vers un article réel</a:t>
            </a:r>
            <a:endParaRPr lang="en-US" sz="1300" dirty="0"/>
          </a:p>
        </p:txBody>
      </p:sp>
      <p:sp>
        <p:nvSpPr>
          <p:cNvPr id="32" name="txt-497"/>
          <p:cNvSpPr txBox="1"/>
          <p:nvPr/>
        </p:nvSpPr>
        <p:spPr>
          <a:xfrm>
            <a:off x="548640" y="5989320"/>
            <a:ext cx="11064240" cy="292608"/>
          </a:xfrm>
          <a:prstGeom prst="rect">
            <a:avLst/>
          </a:prstGeom>
          <a:noFill/>
          <a:ln/>
        </p:spPr>
        <p:txBody>
          <a:bodyPr wrap="square" lIns="0" tIns="0" rIns="0" bIns="0" rtlCol="0" anchor="t"/>
          <a:lstStyle/>
          <a:p>
            <a:pPr marL="0" indent="0">
              <a:buNone/>
            </a:pPr>
            <a:r>
              <a:rPr lang="en-US" sz="1200" i="1" dirty="0">
                <a:solidFill>
                  <a:schemeClr val="accent5"/>
                </a:solidFill>
              </a:rPr>
              <a:t>Exemple : Semantic Scholar indexe plus de 200 millions d'articles et en résume beaucoup en une phrase (TL;DR).</a:t>
            </a:r>
            <a:endParaRPr lang="en-US" sz="1200" dirty="0"/>
          </a:p>
        </p:txBody>
      </p:sp>
      <p:sp>
        <p:nvSpPr>
          <p:cNvPr id="33" name="Slide Number Placeholder 0"/>
          <p:cNvSpPr>
            <a:spLocks noGrp="1"/>
          </p:cNvSpPr>
          <p:nvPr>
            <p:ph type="sldNum" sz="quarter" idx="4294967295"/>
          </p:nvPr>
        </p:nvSpPr>
        <p:spPr>
          <a:xfrm>
            <a:off x="11064240" y="6400800"/>
            <a:ext cx="54864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C82"/>
                </a:solidFill>
                <a:latin typeface="Poppins"/>
                <a:ea typeface="Poppins"/>
                <a:cs typeface="Poppins"/>
              </a:defRPr>
            </a:lvl1pPr>
          </a:lstStyle>
          <a:p>
            <a:pPr algn="r"/>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566928"/>
            <a:ext cx="11064240" cy="777240"/>
          </a:xfrm>
          <a:prstGeom prst="rect">
            <a:avLst/>
          </a:prstGeom>
          <a:noFill/>
          <a:ln/>
        </p:spPr>
        <p:txBody>
          <a:bodyPr wrap="square" lIns="0" tIns="0" rIns="0" bIns="0" rtlCol="0" anchor="ctr"/>
          <a:lstStyle/>
          <a:p>
            <a:pPr marL="0" indent="0" algn="l">
              <a:buNone/>
            </a:pPr>
            <a:r>
              <a:rPr lang="en-US" sz="2700" b="1" dirty="0">
                <a:solidFill>
                  <a:schemeClr val="tx2"/>
                </a:solidFill>
                <a:latin typeface="Poppins" pitchFamily="34" charset="0"/>
                <a:ea typeface="Poppins" pitchFamily="34" charset="-122"/>
                <a:cs typeface="Poppins" pitchFamily="34" charset="-120"/>
              </a:rPr>
              <a:t>La boîte à outils de la chercheure</a:t>
            </a:r>
            <a:endParaRPr lang="en-US" sz="2700" dirty="0"/>
          </a:p>
        </p:txBody>
      </p:sp>
      <p:sp>
        <p:nvSpPr>
          <p:cNvPr id="3" name="Text 0"/>
          <p:cNvSpPr>
            <a:spLocks noGrp="1"/>
          </p:cNvSpPr>
          <p:nvPr>
            <p:ph type="body" idx="101" hasCustomPrompt="1"/>
          </p:nvPr>
        </p:nvSpPr>
        <p:spPr>
          <a:xfrm>
            <a:off x="548640" y="256032"/>
            <a:ext cx="8229600" cy="292608"/>
          </a:xfrm>
          <a:prstGeom prst="rect">
            <a:avLst/>
          </a:prstGeom>
          <a:noFill/>
          <a:ln/>
        </p:spPr>
        <p:txBody>
          <a:bodyPr wrap="square" lIns="0" tIns="0" rIns="0" bIns="0" rtlCol="0" anchor="ctr"/>
          <a:lstStyle/>
          <a:p>
            <a:pPr marL="0" indent="0">
              <a:buNone/>
            </a:pPr>
            <a:r>
              <a:rPr lang="en-US" sz="1100" b="1" dirty="0">
                <a:solidFill>
                  <a:schemeClr val="accent1"/>
                </a:solidFill>
                <a:latin typeface="Poppins" pitchFamily="34" charset="0"/>
                <a:ea typeface="Poppins" pitchFamily="34" charset="-122"/>
                <a:cs typeface="Poppins" pitchFamily="34" charset="-120"/>
              </a:rPr>
              <a:t>RECHERCHE ASSISTÉE PAR IA</a:t>
            </a:r>
            <a:endParaRPr lang="en-US" sz="1100" dirty="0"/>
          </a:p>
        </p:txBody>
      </p:sp>
      <p:sp>
        <p:nvSpPr>
          <p:cNvPr id="4" name="circle-498"/>
          <p:cNvSpPr/>
          <p:nvPr/>
        </p:nvSpPr>
        <p:spPr>
          <a:xfrm>
            <a:off x="548640" y="1554480"/>
            <a:ext cx="548640" cy="548640"/>
          </a:xfrm>
          <a:prstGeom prst="ellipse">
            <a:avLst/>
          </a:prstGeom>
          <a:solidFill>
            <a:schemeClr val="accent4"/>
          </a:solidFill>
          <a:ln w="12700">
            <a:solidFill>
              <a:schemeClr val="accent4"/>
            </a:solidFill>
            <a:prstDash val="solid"/>
          </a:ln>
        </p:spPr>
      </p:sp>
      <p:pic>
        <p:nvPicPr>
          <p:cNvPr id="5" name="icon-499" descr="preencoded.png"/>
          <p:cNvPicPr>
            <a:picLocks noChangeAspect="1"/>
          </p:cNvPicPr>
          <p:nvPr/>
        </p:nvPicPr>
        <p:blipFill>
          <a:blip r:embed="rId3"/>
          <a:stretch>
            <a:fillRect/>
          </a:stretch>
        </p:blipFill>
        <p:spPr>
          <a:xfrm>
            <a:off x="685800" y="1691640"/>
            <a:ext cx="274320" cy="274320"/>
          </a:xfrm>
          <a:prstGeom prst="rect">
            <a:avLst/>
          </a:prstGeom>
        </p:spPr>
      </p:pic>
      <p:sp>
        <p:nvSpPr>
          <p:cNvPr id="6" name="txt-500"/>
          <p:cNvSpPr txBox="1"/>
          <p:nvPr/>
        </p:nvSpPr>
        <p:spPr>
          <a:xfrm>
            <a:off x="1207008" y="1554480"/>
            <a:ext cx="1920240" cy="548640"/>
          </a:xfrm>
          <a:prstGeom prst="rect">
            <a:avLst/>
          </a:prstGeom>
          <a:noFill/>
          <a:ln/>
        </p:spPr>
        <p:txBody>
          <a:bodyPr wrap="square" lIns="0" tIns="0" rIns="0" bIns="0" rtlCol="0" anchor="ctr"/>
          <a:lstStyle/>
          <a:p>
            <a:pPr marL="0" indent="0">
              <a:buNone/>
            </a:pPr>
            <a:r>
              <a:rPr lang="en-US" sz="1700" b="1" dirty="0">
                <a:solidFill>
                  <a:schemeClr val="accent4"/>
                </a:solidFill>
              </a:rPr>
              <a:t>Trouver</a:t>
            </a:r>
            <a:endParaRPr lang="en-US" sz="1700" dirty="0"/>
          </a:p>
        </p:txBody>
      </p:sp>
      <p:sp>
        <p:nvSpPr>
          <p:cNvPr id="7" name="card-501"/>
          <p:cNvSpPr/>
          <p:nvPr/>
        </p:nvSpPr>
        <p:spPr>
          <a:xfrm>
            <a:off x="548640" y="2267712"/>
            <a:ext cx="2633472" cy="1152144"/>
          </a:xfrm>
          <a:prstGeom prst="roundRect">
            <a:avLst>
              <a:gd name="adj" fmla="val 6349"/>
            </a:avLst>
          </a:prstGeom>
          <a:solidFill>
            <a:schemeClr val="bg2"/>
          </a:solidFill>
          <a:ln w="6350">
            <a:solidFill>
              <a:schemeClr val="bg2"/>
            </a:solidFill>
            <a:prstDash val="solid"/>
          </a:ln>
        </p:spPr>
      </p:sp>
      <p:sp>
        <p:nvSpPr>
          <p:cNvPr id="8" name="txt-502"/>
          <p:cNvSpPr txBox="1"/>
          <p:nvPr/>
        </p:nvSpPr>
        <p:spPr>
          <a:xfrm>
            <a:off x="685800" y="2340864"/>
            <a:ext cx="1600200" cy="292608"/>
          </a:xfrm>
          <a:prstGeom prst="rect">
            <a:avLst/>
          </a:prstGeom>
          <a:noFill/>
          <a:ln/>
        </p:spPr>
        <p:txBody>
          <a:bodyPr wrap="square" lIns="0" tIns="0" rIns="0" bIns="0" rtlCol="0" anchor="t"/>
          <a:lstStyle/>
          <a:p>
            <a:pPr marL="0" indent="0">
              <a:buNone/>
            </a:pPr>
            <a:r>
              <a:rPr lang="en-US" sz="1300" b="1" dirty="0">
                <a:solidFill>
                  <a:schemeClr val="tx2"/>
                </a:solidFill>
              </a:rPr>
              <a:t>Semantic Scholar</a:t>
            </a:r>
            <a:endParaRPr lang="en-US" sz="1300" dirty="0"/>
          </a:p>
        </p:txBody>
      </p:sp>
      <p:sp>
        <p:nvSpPr>
          <p:cNvPr id="9" name="card-503"/>
          <p:cNvSpPr/>
          <p:nvPr/>
        </p:nvSpPr>
        <p:spPr>
          <a:xfrm>
            <a:off x="2267712" y="2359152"/>
            <a:ext cx="822960" cy="237744"/>
          </a:xfrm>
          <a:prstGeom prst="roundRect">
            <a:avLst>
              <a:gd name="adj" fmla="val 30769"/>
            </a:avLst>
          </a:prstGeom>
          <a:solidFill>
            <a:schemeClr val="accent2"/>
          </a:solidFill>
          <a:ln w="6350">
            <a:solidFill>
              <a:schemeClr val="accent2"/>
            </a:solidFill>
            <a:prstDash val="solid"/>
          </a:ln>
        </p:spPr>
      </p:sp>
      <p:sp>
        <p:nvSpPr>
          <p:cNvPr id="10" name="txt-504"/>
          <p:cNvSpPr txBox="1"/>
          <p:nvPr/>
        </p:nvSpPr>
        <p:spPr>
          <a:xfrm>
            <a:off x="2267712" y="2359152"/>
            <a:ext cx="822960" cy="237744"/>
          </a:xfrm>
          <a:prstGeom prst="rect">
            <a:avLst/>
          </a:prstGeom>
          <a:noFill/>
          <a:ln/>
        </p:spPr>
        <p:txBody>
          <a:bodyPr wrap="square" lIns="0" tIns="0" rIns="0" bIns="0" rtlCol="0" anchor="ctr"/>
          <a:lstStyle/>
          <a:p>
            <a:pPr marL="0" indent="0" algn="ctr">
              <a:buNone/>
            </a:pPr>
            <a:r>
              <a:rPr lang="en-US" sz="900" b="1" dirty="0">
                <a:solidFill>
                  <a:schemeClr val="bg1"/>
                </a:solidFill>
              </a:rPr>
              <a:t>Gratuit</a:t>
            </a:r>
            <a:endParaRPr lang="en-US" sz="900" dirty="0"/>
          </a:p>
        </p:txBody>
      </p:sp>
      <p:sp>
        <p:nvSpPr>
          <p:cNvPr id="11" name="txt-505"/>
          <p:cNvSpPr txBox="1"/>
          <p:nvPr/>
        </p:nvSpPr>
        <p:spPr>
          <a:xfrm>
            <a:off x="685800" y="2633472"/>
            <a:ext cx="2377440" cy="237744"/>
          </a:xfrm>
          <a:prstGeom prst="rect">
            <a:avLst/>
          </a:prstGeom>
          <a:noFill/>
          <a:ln/>
        </p:spPr>
        <p:txBody>
          <a:bodyPr wrap="square" lIns="0" tIns="0" rIns="0" bIns="0" rtlCol="0" anchor="t"/>
          <a:lstStyle/>
          <a:p>
            <a:pPr marL="0" indent="0">
              <a:buNone/>
            </a:pPr>
            <a:r>
              <a:rPr lang="en-US" sz="1000" dirty="0">
                <a:solidFill>
                  <a:schemeClr val="accent4"/>
                </a:solidFill>
              </a:rPr>
              <a:t>semanticscholar.org</a:t>
            </a:r>
            <a:endParaRPr lang="en-US" sz="1000" dirty="0"/>
          </a:p>
        </p:txBody>
      </p:sp>
      <p:sp>
        <p:nvSpPr>
          <p:cNvPr id="12" name="txt-506"/>
          <p:cNvSpPr txBox="1"/>
          <p:nvPr/>
        </p:nvSpPr>
        <p:spPr>
          <a:xfrm>
            <a:off x="685800" y="2889504"/>
            <a:ext cx="2423160" cy="502920"/>
          </a:xfrm>
          <a:prstGeom prst="rect">
            <a:avLst/>
          </a:prstGeom>
          <a:noFill/>
          <a:ln/>
        </p:spPr>
        <p:txBody>
          <a:bodyPr wrap="square" lIns="0" tIns="0" rIns="0" bIns="0" rtlCol="0" anchor="t"/>
          <a:lstStyle/>
          <a:p>
            <a:pPr marL="0" indent="0">
              <a:buNone/>
            </a:pPr>
            <a:r>
              <a:rPr lang="en-US" sz="1100" dirty="0">
                <a:solidFill>
                  <a:schemeClr val="tx1"/>
                </a:solidFill>
              </a:rPr>
              <a:t>200 M+ d'articles, résumés d'une phrase</a:t>
            </a:r>
            <a:endParaRPr lang="en-US" sz="1100" dirty="0"/>
          </a:p>
        </p:txBody>
      </p:sp>
      <p:sp>
        <p:nvSpPr>
          <p:cNvPr id="13" name="card-507"/>
          <p:cNvSpPr/>
          <p:nvPr/>
        </p:nvSpPr>
        <p:spPr>
          <a:xfrm>
            <a:off x="548640" y="3529584"/>
            <a:ext cx="2633472" cy="1152144"/>
          </a:xfrm>
          <a:prstGeom prst="roundRect">
            <a:avLst>
              <a:gd name="adj" fmla="val 6349"/>
            </a:avLst>
          </a:prstGeom>
          <a:solidFill>
            <a:schemeClr val="bg2"/>
          </a:solidFill>
          <a:ln w="6350">
            <a:solidFill>
              <a:schemeClr val="bg2"/>
            </a:solidFill>
            <a:prstDash val="solid"/>
          </a:ln>
        </p:spPr>
      </p:sp>
      <p:sp>
        <p:nvSpPr>
          <p:cNvPr id="14" name="txt-508"/>
          <p:cNvSpPr txBox="1"/>
          <p:nvPr/>
        </p:nvSpPr>
        <p:spPr>
          <a:xfrm>
            <a:off x="685800" y="3602736"/>
            <a:ext cx="1600200" cy="292608"/>
          </a:xfrm>
          <a:prstGeom prst="rect">
            <a:avLst/>
          </a:prstGeom>
          <a:noFill/>
          <a:ln/>
        </p:spPr>
        <p:txBody>
          <a:bodyPr wrap="square" lIns="0" tIns="0" rIns="0" bIns="0" rtlCol="0" anchor="t"/>
          <a:lstStyle/>
          <a:p>
            <a:pPr marL="0" indent="0">
              <a:buNone/>
            </a:pPr>
            <a:r>
              <a:rPr lang="en-US" sz="1300" b="1" dirty="0">
                <a:solidFill>
                  <a:schemeClr val="tx2"/>
                </a:solidFill>
              </a:rPr>
              <a:t>Consensus</a:t>
            </a:r>
            <a:endParaRPr lang="en-US" sz="1300" dirty="0"/>
          </a:p>
        </p:txBody>
      </p:sp>
      <p:sp>
        <p:nvSpPr>
          <p:cNvPr id="15" name="card-509"/>
          <p:cNvSpPr/>
          <p:nvPr/>
        </p:nvSpPr>
        <p:spPr>
          <a:xfrm>
            <a:off x="2267712" y="3621024"/>
            <a:ext cx="822960" cy="237744"/>
          </a:xfrm>
          <a:prstGeom prst="roundRect">
            <a:avLst>
              <a:gd name="adj" fmla="val 30769"/>
            </a:avLst>
          </a:prstGeom>
          <a:solidFill>
            <a:schemeClr val="accent1"/>
          </a:solidFill>
          <a:ln w="6350">
            <a:solidFill>
              <a:schemeClr val="accent1"/>
            </a:solidFill>
            <a:prstDash val="solid"/>
          </a:ln>
        </p:spPr>
      </p:sp>
      <p:sp>
        <p:nvSpPr>
          <p:cNvPr id="16" name="txt-510"/>
          <p:cNvSpPr txBox="1"/>
          <p:nvPr/>
        </p:nvSpPr>
        <p:spPr>
          <a:xfrm>
            <a:off x="2267712" y="3621024"/>
            <a:ext cx="822960" cy="237744"/>
          </a:xfrm>
          <a:prstGeom prst="rect">
            <a:avLst/>
          </a:prstGeom>
          <a:noFill/>
          <a:ln/>
        </p:spPr>
        <p:txBody>
          <a:bodyPr wrap="square" lIns="0" tIns="0" rIns="0" bIns="0" rtlCol="0" anchor="ctr"/>
          <a:lstStyle/>
          <a:p>
            <a:pPr marL="0" indent="0" algn="ctr">
              <a:buNone/>
            </a:pPr>
            <a:r>
              <a:rPr lang="en-US" sz="900" b="1" dirty="0">
                <a:solidFill>
                  <a:schemeClr val="tx2"/>
                </a:solidFill>
              </a:rPr>
              <a:t>Freemium</a:t>
            </a:r>
            <a:endParaRPr lang="en-US" sz="900" dirty="0"/>
          </a:p>
        </p:txBody>
      </p:sp>
      <p:sp>
        <p:nvSpPr>
          <p:cNvPr id="17" name="txt-511"/>
          <p:cNvSpPr txBox="1"/>
          <p:nvPr/>
        </p:nvSpPr>
        <p:spPr>
          <a:xfrm>
            <a:off x="685800" y="3895344"/>
            <a:ext cx="2377440" cy="237744"/>
          </a:xfrm>
          <a:prstGeom prst="rect">
            <a:avLst/>
          </a:prstGeom>
          <a:noFill/>
          <a:ln/>
        </p:spPr>
        <p:txBody>
          <a:bodyPr wrap="square" lIns="0" tIns="0" rIns="0" bIns="0" rtlCol="0" anchor="t"/>
          <a:lstStyle/>
          <a:p>
            <a:pPr marL="0" indent="0">
              <a:buNone/>
            </a:pPr>
            <a:r>
              <a:rPr lang="en-US" sz="1000" dirty="0">
                <a:solidFill>
                  <a:schemeClr val="accent4"/>
                </a:solidFill>
              </a:rPr>
              <a:t>consensus.app</a:t>
            </a:r>
            <a:endParaRPr lang="en-US" sz="1000" dirty="0"/>
          </a:p>
        </p:txBody>
      </p:sp>
      <p:sp>
        <p:nvSpPr>
          <p:cNvPr id="18" name="txt-512"/>
          <p:cNvSpPr txBox="1"/>
          <p:nvPr/>
        </p:nvSpPr>
        <p:spPr>
          <a:xfrm>
            <a:off x="685800" y="4151376"/>
            <a:ext cx="2423160" cy="502920"/>
          </a:xfrm>
          <a:prstGeom prst="rect">
            <a:avLst/>
          </a:prstGeom>
          <a:noFill/>
          <a:ln/>
        </p:spPr>
        <p:txBody>
          <a:bodyPr wrap="square" lIns="0" tIns="0" rIns="0" bIns="0" rtlCol="0" anchor="t"/>
          <a:lstStyle/>
          <a:p>
            <a:pPr marL="0" indent="0">
              <a:buNone/>
            </a:pPr>
            <a:r>
              <a:rPr lang="en-US" sz="1100" dirty="0">
                <a:solidFill>
                  <a:schemeClr val="tx1"/>
                </a:solidFill>
              </a:rPr>
              <a:t>Répond à une question à partir d'articles</a:t>
            </a:r>
            <a:endParaRPr lang="en-US" sz="1100" dirty="0"/>
          </a:p>
        </p:txBody>
      </p:sp>
      <p:sp>
        <p:nvSpPr>
          <p:cNvPr id="19" name="card-513"/>
          <p:cNvSpPr/>
          <p:nvPr/>
        </p:nvSpPr>
        <p:spPr>
          <a:xfrm>
            <a:off x="548640" y="4791456"/>
            <a:ext cx="2633472" cy="1152144"/>
          </a:xfrm>
          <a:prstGeom prst="roundRect">
            <a:avLst>
              <a:gd name="adj" fmla="val 6349"/>
            </a:avLst>
          </a:prstGeom>
          <a:solidFill>
            <a:schemeClr val="bg2"/>
          </a:solidFill>
          <a:ln w="6350">
            <a:solidFill>
              <a:schemeClr val="bg2"/>
            </a:solidFill>
            <a:prstDash val="solid"/>
          </a:ln>
        </p:spPr>
      </p:sp>
      <p:sp>
        <p:nvSpPr>
          <p:cNvPr id="20" name="txt-514"/>
          <p:cNvSpPr txBox="1"/>
          <p:nvPr/>
        </p:nvSpPr>
        <p:spPr>
          <a:xfrm>
            <a:off x="685800" y="4864608"/>
            <a:ext cx="1600200" cy="292608"/>
          </a:xfrm>
          <a:prstGeom prst="rect">
            <a:avLst/>
          </a:prstGeom>
          <a:noFill/>
          <a:ln/>
        </p:spPr>
        <p:txBody>
          <a:bodyPr wrap="square" lIns="0" tIns="0" rIns="0" bIns="0" rtlCol="0" anchor="t"/>
          <a:lstStyle/>
          <a:p>
            <a:pPr marL="0" indent="0">
              <a:buNone/>
            </a:pPr>
            <a:r>
              <a:rPr lang="en-US" sz="1300" b="1" dirty="0">
                <a:solidFill>
                  <a:schemeClr val="tx2"/>
                </a:solidFill>
              </a:rPr>
              <a:t>Elicit</a:t>
            </a:r>
            <a:endParaRPr lang="en-US" sz="1300" dirty="0"/>
          </a:p>
        </p:txBody>
      </p:sp>
      <p:sp>
        <p:nvSpPr>
          <p:cNvPr id="21" name="card-515"/>
          <p:cNvSpPr/>
          <p:nvPr/>
        </p:nvSpPr>
        <p:spPr>
          <a:xfrm>
            <a:off x="2267712" y="4882896"/>
            <a:ext cx="822960" cy="237744"/>
          </a:xfrm>
          <a:prstGeom prst="roundRect">
            <a:avLst>
              <a:gd name="adj" fmla="val 30769"/>
            </a:avLst>
          </a:prstGeom>
          <a:solidFill>
            <a:schemeClr val="accent1"/>
          </a:solidFill>
          <a:ln w="6350">
            <a:solidFill>
              <a:schemeClr val="accent1"/>
            </a:solidFill>
            <a:prstDash val="solid"/>
          </a:ln>
        </p:spPr>
      </p:sp>
      <p:sp>
        <p:nvSpPr>
          <p:cNvPr id="22" name="txt-516"/>
          <p:cNvSpPr txBox="1"/>
          <p:nvPr/>
        </p:nvSpPr>
        <p:spPr>
          <a:xfrm>
            <a:off x="2267712" y="4882896"/>
            <a:ext cx="822960" cy="237744"/>
          </a:xfrm>
          <a:prstGeom prst="rect">
            <a:avLst/>
          </a:prstGeom>
          <a:noFill/>
          <a:ln/>
        </p:spPr>
        <p:txBody>
          <a:bodyPr wrap="square" lIns="0" tIns="0" rIns="0" bIns="0" rtlCol="0" anchor="ctr"/>
          <a:lstStyle/>
          <a:p>
            <a:pPr marL="0" indent="0" algn="ctr">
              <a:buNone/>
            </a:pPr>
            <a:r>
              <a:rPr lang="en-US" sz="900" b="1" dirty="0">
                <a:solidFill>
                  <a:schemeClr val="tx2"/>
                </a:solidFill>
              </a:rPr>
              <a:t>Freemium</a:t>
            </a:r>
            <a:endParaRPr lang="en-US" sz="900" dirty="0"/>
          </a:p>
        </p:txBody>
      </p:sp>
      <p:sp>
        <p:nvSpPr>
          <p:cNvPr id="23" name="txt-517"/>
          <p:cNvSpPr txBox="1"/>
          <p:nvPr/>
        </p:nvSpPr>
        <p:spPr>
          <a:xfrm>
            <a:off x="685800" y="5157216"/>
            <a:ext cx="2377440" cy="237744"/>
          </a:xfrm>
          <a:prstGeom prst="rect">
            <a:avLst/>
          </a:prstGeom>
          <a:noFill/>
          <a:ln/>
        </p:spPr>
        <p:txBody>
          <a:bodyPr wrap="square" lIns="0" tIns="0" rIns="0" bIns="0" rtlCol="0" anchor="t"/>
          <a:lstStyle/>
          <a:p>
            <a:pPr marL="0" indent="0">
              <a:buNone/>
            </a:pPr>
            <a:r>
              <a:rPr lang="en-US" sz="1000" dirty="0">
                <a:solidFill>
                  <a:schemeClr val="accent4"/>
                </a:solidFill>
              </a:rPr>
              <a:t>elicit.com</a:t>
            </a:r>
            <a:endParaRPr lang="en-US" sz="1000" dirty="0"/>
          </a:p>
        </p:txBody>
      </p:sp>
      <p:sp>
        <p:nvSpPr>
          <p:cNvPr id="24" name="txt-518"/>
          <p:cNvSpPr txBox="1"/>
          <p:nvPr/>
        </p:nvSpPr>
        <p:spPr>
          <a:xfrm>
            <a:off x="685800" y="5413248"/>
            <a:ext cx="2423160" cy="502920"/>
          </a:xfrm>
          <a:prstGeom prst="rect">
            <a:avLst/>
          </a:prstGeom>
          <a:noFill/>
          <a:ln/>
        </p:spPr>
        <p:txBody>
          <a:bodyPr wrap="square" lIns="0" tIns="0" rIns="0" bIns="0" rtlCol="0" anchor="t"/>
          <a:lstStyle/>
          <a:p>
            <a:pPr marL="0" indent="0">
              <a:buNone/>
            </a:pPr>
            <a:r>
              <a:rPr lang="en-US" sz="1100" dirty="0">
                <a:solidFill>
                  <a:schemeClr val="tx1"/>
                </a:solidFill>
              </a:rPr>
              <a:t>Extrait les données de dizaines d'articles en tableau</a:t>
            </a:r>
            <a:endParaRPr lang="en-US" sz="1100" dirty="0"/>
          </a:p>
        </p:txBody>
      </p:sp>
      <p:sp>
        <p:nvSpPr>
          <p:cNvPr id="25" name="circle-519"/>
          <p:cNvSpPr/>
          <p:nvPr/>
        </p:nvSpPr>
        <p:spPr>
          <a:xfrm>
            <a:off x="3364992" y="1554480"/>
            <a:ext cx="548640" cy="548640"/>
          </a:xfrm>
          <a:prstGeom prst="ellipse">
            <a:avLst/>
          </a:prstGeom>
          <a:solidFill>
            <a:schemeClr val="accent6"/>
          </a:solidFill>
          <a:ln w="12700">
            <a:solidFill>
              <a:schemeClr val="accent6"/>
            </a:solidFill>
            <a:prstDash val="solid"/>
          </a:ln>
        </p:spPr>
      </p:sp>
      <p:pic>
        <p:nvPicPr>
          <p:cNvPr id="26" name="icon-520" descr="preencoded.png"/>
          <p:cNvPicPr>
            <a:picLocks noChangeAspect="1"/>
          </p:cNvPicPr>
          <p:nvPr/>
        </p:nvPicPr>
        <p:blipFill>
          <a:blip r:embed="rId4"/>
          <a:stretch>
            <a:fillRect/>
          </a:stretch>
        </p:blipFill>
        <p:spPr>
          <a:xfrm>
            <a:off x="3502152" y="1691640"/>
            <a:ext cx="274320" cy="274320"/>
          </a:xfrm>
          <a:prstGeom prst="rect">
            <a:avLst/>
          </a:prstGeom>
        </p:spPr>
      </p:pic>
      <p:sp>
        <p:nvSpPr>
          <p:cNvPr id="27" name="txt-521"/>
          <p:cNvSpPr txBox="1"/>
          <p:nvPr/>
        </p:nvSpPr>
        <p:spPr>
          <a:xfrm>
            <a:off x="4023360" y="1554480"/>
            <a:ext cx="1920240" cy="548640"/>
          </a:xfrm>
          <a:prstGeom prst="rect">
            <a:avLst/>
          </a:prstGeom>
          <a:noFill/>
          <a:ln/>
        </p:spPr>
        <p:txBody>
          <a:bodyPr wrap="square" lIns="0" tIns="0" rIns="0" bIns="0" rtlCol="0" anchor="ctr"/>
          <a:lstStyle/>
          <a:p>
            <a:pPr marL="0" indent="0">
              <a:buNone/>
            </a:pPr>
            <a:r>
              <a:rPr lang="en-US" sz="1700" b="1" dirty="0">
                <a:solidFill>
                  <a:schemeClr val="accent6"/>
                </a:solidFill>
              </a:rPr>
              <a:t>Cartographier</a:t>
            </a:r>
            <a:endParaRPr lang="en-US" sz="1700" dirty="0"/>
          </a:p>
        </p:txBody>
      </p:sp>
      <p:sp>
        <p:nvSpPr>
          <p:cNvPr id="28" name="card-522"/>
          <p:cNvSpPr/>
          <p:nvPr/>
        </p:nvSpPr>
        <p:spPr>
          <a:xfrm>
            <a:off x="3364992" y="2267712"/>
            <a:ext cx="2633472" cy="1152144"/>
          </a:xfrm>
          <a:prstGeom prst="roundRect">
            <a:avLst>
              <a:gd name="adj" fmla="val 6349"/>
            </a:avLst>
          </a:prstGeom>
          <a:solidFill>
            <a:schemeClr val="bg2"/>
          </a:solidFill>
          <a:ln w="6350">
            <a:solidFill>
              <a:schemeClr val="bg2"/>
            </a:solidFill>
            <a:prstDash val="solid"/>
          </a:ln>
        </p:spPr>
      </p:sp>
      <p:sp>
        <p:nvSpPr>
          <p:cNvPr id="29" name="txt-523"/>
          <p:cNvSpPr txBox="1"/>
          <p:nvPr/>
        </p:nvSpPr>
        <p:spPr>
          <a:xfrm>
            <a:off x="3502152" y="2340864"/>
            <a:ext cx="1600200" cy="292608"/>
          </a:xfrm>
          <a:prstGeom prst="rect">
            <a:avLst/>
          </a:prstGeom>
          <a:noFill/>
          <a:ln/>
        </p:spPr>
        <p:txBody>
          <a:bodyPr wrap="square" lIns="0" tIns="0" rIns="0" bIns="0" rtlCol="0" anchor="t"/>
          <a:lstStyle/>
          <a:p>
            <a:pPr marL="0" indent="0">
              <a:buNone/>
            </a:pPr>
            <a:r>
              <a:rPr lang="en-US" sz="1300" b="1" dirty="0">
                <a:solidFill>
                  <a:schemeClr val="tx2"/>
                </a:solidFill>
              </a:rPr>
              <a:t>ResearchRabbit</a:t>
            </a:r>
            <a:endParaRPr lang="en-US" sz="1300" dirty="0"/>
          </a:p>
        </p:txBody>
      </p:sp>
      <p:sp>
        <p:nvSpPr>
          <p:cNvPr id="30" name="card-524"/>
          <p:cNvSpPr/>
          <p:nvPr/>
        </p:nvSpPr>
        <p:spPr>
          <a:xfrm>
            <a:off x="5084064" y="2359152"/>
            <a:ext cx="822960" cy="237744"/>
          </a:xfrm>
          <a:prstGeom prst="roundRect">
            <a:avLst>
              <a:gd name="adj" fmla="val 30769"/>
            </a:avLst>
          </a:prstGeom>
          <a:solidFill>
            <a:schemeClr val="accent2"/>
          </a:solidFill>
          <a:ln w="6350">
            <a:solidFill>
              <a:schemeClr val="accent2"/>
            </a:solidFill>
            <a:prstDash val="solid"/>
          </a:ln>
        </p:spPr>
      </p:sp>
      <p:sp>
        <p:nvSpPr>
          <p:cNvPr id="31" name="txt-525"/>
          <p:cNvSpPr txBox="1"/>
          <p:nvPr/>
        </p:nvSpPr>
        <p:spPr>
          <a:xfrm>
            <a:off x="5084064" y="2359152"/>
            <a:ext cx="822960" cy="237744"/>
          </a:xfrm>
          <a:prstGeom prst="rect">
            <a:avLst/>
          </a:prstGeom>
          <a:noFill/>
          <a:ln/>
        </p:spPr>
        <p:txBody>
          <a:bodyPr wrap="square" lIns="0" tIns="0" rIns="0" bIns="0" rtlCol="0" anchor="ctr"/>
          <a:lstStyle/>
          <a:p>
            <a:pPr marL="0" indent="0" algn="ctr">
              <a:buNone/>
            </a:pPr>
            <a:r>
              <a:rPr lang="en-US" sz="900" b="1" dirty="0">
                <a:solidFill>
                  <a:schemeClr val="bg1"/>
                </a:solidFill>
              </a:rPr>
              <a:t>Gratuit</a:t>
            </a:r>
            <a:endParaRPr lang="en-US" sz="900" dirty="0"/>
          </a:p>
        </p:txBody>
      </p:sp>
      <p:sp>
        <p:nvSpPr>
          <p:cNvPr id="32" name="txt-526"/>
          <p:cNvSpPr txBox="1"/>
          <p:nvPr/>
        </p:nvSpPr>
        <p:spPr>
          <a:xfrm>
            <a:off x="3502152" y="2633472"/>
            <a:ext cx="2377440" cy="237744"/>
          </a:xfrm>
          <a:prstGeom prst="rect">
            <a:avLst/>
          </a:prstGeom>
          <a:noFill/>
          <a:ln/>
        </p:spPr>
        <p:txBody>
          <a:bodyPr wrap="square" lIns="0" tIns="0" rIns="0" bIns="0" rtlCol="0" anchor="t"/>
          <a:lstStyle/>
          <a:p>
            <a:pPr marL="0" indent="0">
              <a:buNone/>
            </a:pPr>
            <a:r>
              <a:rPr lang="en-US" sz="1000" dirty="0">
                <a:solidFill>
                  <a:schemeClr val="accent6"/>
                </a:solidFill>
              </a:rPr>
              <a:t>researchrabbit.ai</a:t>
            </a:r>
            <a:endParaRPr lang="en-US" sz="1000" dirty="0"/>
          </a:p>
        </p:txBody>
      </p:sp>
      <p:sp>
        <p:nvSpPr>
          <p:cNvPr id="33" name="txt-527"/>
          <p:cNvSpPr txBox="1"/>
          <p:nvPr/>
        </p:nvSpPr>
        <p:spPr>
          <a:xfrm>
            <a:off x="3502152" y="2889504"/>
            <a:ext cx="2423160" cy="502920"/>
          </a:xfrm>
          <a:prstGeom prst="rect">
            <a:avLst/>
          </a:prstGeom>
          <a:noFill/>
          <a:ln/>
        </p:spPr>
        <p:txBody>
          <a:bodyPr wrap="square" lIns="0" tIns="0" rIns="0" bIns="0" rtlCol="0" anchor="t"/>
          <a:lstStyle/>
          <a:p>
            <a:pPr marL="0" indent="0">
              <a:buNone/>
            </a:pPr>
            <a:r>
              <a:rPr lang="en-US" sz="1100" dirty="0">
                <a:solidFill>
                  <a:schemeClr val="tx1"/>
                </a:solidFill>
              </a:rPr>
              <a:t>Réseau des articles liés à vos lectures</a:t>
            </a:r>
            <a:endParaRPr lang="en-US" sz="1100" dirty="0"/>
          </a:p>
        </p:txBody>
      </p:sp>
      <p:sp>
        <p:nvSpPr>
          <p:cNvPr id="34" name="card-528"/>
          <p:cNvSpPr/>
          <p:nvPr/>
        </p:nvSpPr>
        <p:spPr>
          <a:xfrm>
            <a:off x="3364992" y="3529584"/>
            <a:ext cx="2633472" cy="1152144"/>
          </a:xfrm>
          <a:prstGeom prst="roundRect">
            <a:avLst>
              <a:gd name="adj" fmla="val 6349"/>
            </a:avLst>
          </a:prstGeom>
          <a:solidFill>
            <a:schemeClr val="bg2"/>
          </a:solidFill>
          <a:ln w="6350">
            <a:solidFill>
              <a:schemeClr val="bg2"/>
            </a:solidFill>
            <a:prstDash val="solid"/>
          </a:ln>
        </p:spPr>
      </p:sp>
      <p:sp>
        <p:nvSpPr>
          <p:cNvPr id="35" name="txt-529"/>
          <p:cNvSpPr txBox="1"/>
          <p:nvPr/>
        </p:nvSpPr>
        <p:spPr>
          <a:xfrm>
            <a:off x="3502152" y="3602736"/>
            <a:ext cx="1600200" cy="292608"/>
          </a:xfrm>
          <a:prstGeom prst="rect">
            <a:avLst/>
          </a:prstGeom>
          <a:noFill/>
          <a:ln/>
        </p:spPr>
        <p:txBody>
          <a:bodyPr wrap="square" lIns="0" tIns="0" rIns="0" bIns="0" rtlCol="0" anchor="t"/>
          <a:lstStyle/>
          <a:p>
            <a:pPr marL="0" indent="0">
              <a:buNone/>
            </a:pPr>
            <a:r>
              <a:rPr lang="en-US" sz="1300" b="1" dirty="0">
                <a:solidFill>
                  <a:schemeClr val="tx2"/>
                </a:solidFill>
              </a:rPr>
              <a:t>Connected Papers</a:t>
            </a:r>
            <a:endParaRPr lang="en-US" sz="1300" dirty="0"/>
          </a:p>
        </p:txBody>
      </p:sp>
      <p:sp>
        <p:nvSpPr>
          <p:cNvPr id="36" name="card-530"/>
          <p:cNvSpPr/>
          <p:nvPr/>
        </p:nvSpPr>
        <p:spPr>
          <a:xfrm>
            <a:off x="5084064" y="3621024"/>
            <a:ext cx="822960" cy="237744"/>
          </a:xfrm>
          <a:prstGeom prst="roundRect">
            <a:avLst>
              <a:gd name="adj" fmla="val 30769"/>
            </a:avLst>
          </a:prstGeom>
          <a:solidFill>
            <a:schemeClr val="accent1"/>
          </a:solidFill>
          <a:ln w="6350">
            <a:solidFill>
              <a:schemeClr val="accent1"/>
            </a:solidFill>
            <a:prstDash val="solid"/>
          </a:ln>
        </p:spPr>
      </p:sp>
      <p:sp>
        <p:nvSpPr>
          <p:cNvPr id="37" name="txt-531"/>
          <p:cNvSpPr txBox="1"/>
          <p:nvPr/>
        </p:nvSpPr>
        <p:spPr>
          <a:xfrm>
            <a:off x="5084064" y="3621024"/>
            <a:ext cx="822960" cy="237744"/>
          </a:xfrm>
          <a:prstGeom prst="rect">
            <a:avLst/>
          </a:prstGeom>
          <a:noFill/>
          <a:ln/>
        </p:spPr>
        <p:txBody>
          <a:bodyPr wrap="square" lIns="0" tIns="0" rIns="0" bIns="0" rtlCol="0" anchor="ctr"/>
          <a:lstStyle/>
          <a:p>
            <a:pPr marL="0" indent="0" algn="ctr">
              <a:buNone/>
            </a:pPr>
            <a:r>
              <a:rPr lang="en-US" sz="900" b="1" dirty="0">
                <a:solidFill>
                  <a:schemeClr val="tx2"/>
                </a:solidFill>
              </a:rPr>
              <a:t>Freemium</a:t>
            </a:r>
            <a:endParaRPr lang="en-US" sz="900" dirty="0"/>
          </a:p>
        </p:txBody>
      </p:sp>
      <p:sp>
        <p:nvSpPr>
          <p:cNvPr id="38" name="txt-532"/>
          <p:cNvSpPr txBox="1"/>
          <p:nvPr/>
        </p:nvSpPr>
        <p:spPr>
          <a:xfrm>
            <a:off x="3502152" y="3895344"/>
            <a:ext cx="2377440" cy="237744"/>
          </a:xfrm>
          <a:prstGeom prst="rect">
            <a:avLst/>
          </a:prstGeom>
          <a:noFill/>
          <a:ln/>
        </p:spPr>
        <p:txBody>
          <a:bodyPr wrap="square" lIns="0" tIns="0" rIns="0" bIns="0" rtlCol="0" anchor="t"/>
          <a:lstStyle/>
          <a:p>
            <a:pPr marL="0" indent="0">
              <a:buNone/>
            </a:pPr>
            <a:r>
              <a:rPr lang="en-US" sz="1000" dirty="0">
                <a:solidFill>
                  <a:schemeClr val="accent6"/>
                </a:solidFill>
              </a:rPr>
              <a:t>connectedpapers.com</a:t>
            </a:r>
            <a:endParaRPr lang="en-US" sz="1000" dirty="0"/>
          </a:p>
        </p:txBody>
      </p:sp>
      <p:sp>
        <p:nvSpPr>
          <p:cNvPr id="39" name="txt-533"/>
          <p:cNvSpPr txBox="1"/>
          <p:nvPr/>
        </p:nvSpPr>
        <p:spPr>
          <a:xfrm>
            <a:off x="3502152" y="4151376"/>
            <a:ext cx="2423160" cy="502920"/>
          </a:xfrm>
          <a:prstGeom prst="rect">
            <a:avLst/>
          </a:prstGeom>
          <a:noFill/>
          <a:ln/>
        </p:spPr>
        <p:txBody>
          <a:bodyPr wrap="square" lIns="0" tIns="0" rIns="0" bIns="0" rtlCol="0" anchor="t"/>
          <a:lstStyle/>
          <a:p>
            <a:pPr marL="0" indent="0">
              <a:buNone/>
            </a:pPr>
            <a:r>
              <a:rPr lang="en-US" sz="1100" dirty="0">
                <a:solidFill>
                  <a:schemeClr val="tx1"/>
                </a:solidFill>
              </a:rPr>
              <a:t>Graphe des travaux proches d'un article</a:t>
            </a:r>
            <a:endParaRPr lang="en-US" sz="1100" dirty="0"/>
          </a:p>
        </p:txBody>
      </p:sp>
      <p:sp>
        <p:nvSpPr>
          <p:cNvPr id="40" name="circle-534"/>
          <p:cNvSpPr/>
          <p:nvPr/>
        </p:nvSpPr>
        <p:spPr>
          <a:xfrm>
            <a:off x="6181344" y="1554480"/>
            <a:ext cx="548640" cy="548640"/>
          </a:xfrm>
          <a:prstGeom prst="ellipse">
            <a:avLst/>
          </a:prstGeom>
          <a:solidFill>
            <a:schemeClr val="accent2"/>
          </a:solidFill>
          <a:ln w="12700">
            <a:solidFill>
              <a:schemeClr val="accent2"/>
            </a:solidFill>
            <a:prstDash val="solid"/>
          </a:ln>
        </p:spPr>
      </p:sp>
      <p:pic>
        <p:nvPicPr>
          <p:cNvPr id="41" name="icon-535" descr="preencoded.png"/>
          <p:cNvPicPr>
            <a:picLocks noChangeAspect="1"/>
          </p:cNvPicPr>
          <p:nvPr/>
        </p:nvPicPr>
        <p:blipFill>
          <a:blip r:embed="rId5"/>
          <a:stretch>
            <a:fillRect/>
          </a:stretch>
        </p:blipFill>
        <p:spPr>
          <a:xfrm>
            <a:off x="6318504" y="1691640"/>
            <a:ext cx="274320" cy="274320"/>
          </a:xfrm>
          <a:prstGeom prst="rect">
            <a:avLst/>
          </a:prstGeom>
        </p:spPr>
      </p:pic>
      <p:sp>
        <p:nvSpPr>
          <p:cNvPr id="42" name="txt-536"/>
          <p:cNvSpPr txBox="1"/>
          <p:nvPr/>
        </p:nvSpPr>
        <p:spPr>
          <a:xfrm>
            <a:off x="6839712" y="1554480"/>
            <a:ext cx="1920240" cy="548640"/>
          </a:xfrm>
          <a:prstGeom prst="rect">
            <a:avLst/>
          </a:prstGeom>
          <a:noFill/>
          <a:ln/>
        </p:spPr>
        <p:txBody>
          <a:bodyPr wrap="square" lIns="0" tIns="0" rIns="0" bIns="0" rtlCol="0" anchor="ctr"/>
          <a:lstStyle/>
          <a:p>
            <a:pPr marL="0" indent="0">
              <a:buNone/>
            </a:pPr>
            <a:r>
              <a:rPr lang="en-US" sz="1700" b="1" dirty="0">
                <a:solidFill>
                  <a:schemeClr val="accent2"/>
                </a:solidFill>
              </a:rPr>
              <a:t>Lire</a:t>
            </a:r>
            <a:endParaRPr lang="en-US" sz="1700" dirty="0"/>
          </a:p>
        </p:txBody>
      </p:sp>
      <p:sp>
        <p:nvSpPr>
          <p:cNvPr id="43" name="card-537"/>
          <p:cNvSpPr/>
          <p:nvPr/>
        </p:nvSpPr>
        <p:spPr>
          <a:xfrm>
            <a:off x="6181344" y="2267712"/>
            <a:ext cx="2633472" cy="1152144"/>
          </a:xfrm>
          <a:prstGeom prst="roundRect">
            <a:avLst>
              <a:gd name="adj" fmla="val 6349"/>
            </a:avLst>
          </a:prstGeom>
          <a:solidFill>
            <a:schemeClr val="bg2"/>
          </a:solidFill>
          <a:ln w="6350">
            <a:solidFill>
              <a:schemeClr val="bg2"/>
            </a:solidFill>
            <a:prstDash val="solid"/>
          </a:ln>
        </p:spPr>
      </p:sp>
      <p:sp>
        <p:nvSpPr>
          <p:cNvPr id="44" name="txt-538"/>
          <p:cNvSpPr txBox="1"/>
          <p:nvPr/>
        </p:nvSpPr>
        <p:spPr>
          <a:xfrm>
            <a:off x="6318504" y="2340864"/>
            <a:ext cx="1600200" cy="292608"/>
          </a:xfrm>
          <a:prstGeom prst="rect">
            <a:avLst/>
          </a:prstGeom>
          <a:noFill/>
          <a:ln/>
        </p:spPr>
        <p:txBody>
          <a:bodyPr wrap="square" lIns="0" tIns="0" rIns="0" bIns="0" rtlCol="0" anchor="t"/>
          <a:lstStyle/>
          <a:p>
            <a:pPr marL="0" indent="0">
              <a:buNone/>
            </a:pPr>
            <a:r>
              <a:rPr lang="en-US" sz="1300" b="1" dirty="0">
                <a:solidFill>
                  <a:schemeClr val="tx2"/>
                </a:solidFill>
              </a:rPr>
              <a:t>SciSpace</a:t>
            </a:r>
            <a:endParaRPr lang="en-US" sz="1300" dirty="0"/>
          </a:p>
        </p:txBody>
      </p:sp>
      <p:sp>
        <p:nvSpPr>
          <p:cNvPr id="45" name="card-539"/>
          <p:cNvSpPr/>
          <p:nvPr/>
        </p:nvSpPr>
        <p:spPr>
          <a:xfrm>
            <a:off x="7900416" y="2359152"/>
            <a:ext cx="822960" cy="237744"/>
          </a:xfrm>
          <a:prstGeom prst="roundRect">
            <a:avLst>
              <a:gd name="adj" fmla="val 30769"/>
            </a:avLst>
          </a:prstGeom>
          <a:solidFill>
            <a:schemeClr val="accent1"/>
          </a:solidFill>
          <a:ln w="6350">
            <a:solidFill>
              <a:schemeClr val="accent1"/>
            </a:solidFill>
            <a:prstDash val="solid"/>
          </a:ln>
        </p:spPr>
      </p:sp>
      <p:sp>
        <p:nvSpPr>
          <p:cNvPr id="46" name="txt-540"/>
          <p:cNvSpPr txBox="1"/>
          <p:nvPr/>
        </p:nvSpPr>
        <p:spPr>
          <a:xfrm>
            <a:off x="7900416" y="2359152"/>
            <a:ext cx="822960" cy="237744"/>
          </a:xfrm>
          <a:prstGeom prst="rect">
            <a:avLst/>
          </a:prstGeom>
          <a:noFill/>
          <a:ln/>
        </p:spPr>
        <p:txBody>
          <a:bodyPr wrap="square" lIns="0" tIns="0" rIns="0" bIns="0" rtlCol="0" anchor="ctr"/>
          <a:lstStyle/>
          <a:p>
            <a:pPr marL="0" indent="0" algn="ctr">
              <a:buNone/>
            </a:pPr>
            <a:r>
              <a:rPr lang="en-US" sz="900" b="1" dirty="0">
                <a:solidFill>
                  <a:schemeClr val="tx2"/>
                </a:solidFill>
              </a:rPr>
              <a:t>Freemium</a:t>
            </a:r>
            <a:endParaRPr lang="en-US" sz="900" dirty="0"/>
          </a:p>
        </p:txBody>
      </p:sp>
      <p:sp>
        <p:nvSpPr>
          <p:cNvPr id="47" name="txt-541"/>
          <p:cNvSpPr txBox="1"/>
          <p:nvPr/>
        </p:nvSpPr>
        <p:spPr>
          <a:xfrm>
            <a:off x="6318504" y="2633472"/>
            <a:ext cx="2377440" cy="237744"/>
          </a:xfrm>
          <a:prstGeom prst="rect">
            <a:avLst/>
          </a:prstGeom>
          <a:noFill/>
          <a:ln/>
        </p:spPr>
        <p:txBody>
          <a:bodyPr wrap="square" lIns="0" tIns="0" rIns="0" bIns="0" rtlCol="0" anchor="t"/>
          <a:lstStyle/>
          <a:p>
            <a:pPr marL="0" indent="0">
              <a:buNone/>
            </a:pPr>
            <a:r>
              <a:rPr lang="en-US" sz="1000" dirty="0">
                <a:solidFill>
                  <a:schemeClr val="accent2"/>
                </a:solidFill>
              </a:rPr>
              <a:t>scispace.com</a:t>
            </a:r>
            <a:endParaRPr lang="en-US" sz="1000" dirty="0"/>
          </a:p>
        </p:txBody>
      </p:sp>
      <p:sp>
        <p:nvSpPr>
          <p:cNvPr id="48" name="txt-542"/>
          <p:cNvSpPr txBox="1"/>
          <p:nvPr/>
        </p:nvSpPr>
        <p:spPr>
          <a:xfrm>
            <a:off x="6318504" y="2889504"/>
            <a:ext cx="2423160" cy="502920"/>
          </a:xfrm>
          <a:prstGeom prst="rect">
            <a:avLst/>
          </a:prstGeom>
          <a:noFill/>
          <a:ln/>
        </p:spPr>
        <p:txBody>
          <a:bodyPr wrap="square" lIns="0" tIns="0" rIns="0" bIns="0" rtlCol="0" anchor="t"/>
          <a:lstStyle/>
          <a:p>
            <a:pPr marL="0" indent="0">
              <a:buNone/>
            </a:pPr>
            <a:r>
              <a:rPr lang="en-US" sz="1100" dirty="0">
                <a:solidFill>
                  <a:schemeClr val="tx1"/>
                </a:solidFill>
              </a:rPr>
              <a:t>Explique un PDF passage par passage</a:t>
            </a:r>
            <a:endParaRPr lang="en-US" sz="1100" dirty="0"/>
          </a:p>
        </p:txBody>
      </p:sp>
      <p:sp>
        <p:nvSpPr>
          <p:cNvPr id="49" name="card-543"/>
          <p:cNvSpPr/>
          <p:nvPr/>
        </p:nvSpPr>
        <p:spPr>
          <a:xfrm>
            <a:off x="6181344" y="3529584"/>
            <a:ext cx="2633472" cy="1152144"/>
          </a:xfrm>
          <a:prstGeom prst="roundRect">
            <a:avLst>
              <a:gd name="adj" fmla="val 6349"/>
            </a:avLst>
          </a:prstGeom>
          <a:solidFill>
            <a:schemeClr val="bg2"/>
          </a:solidFill>
          <a:ln w="6350">
            <a:solidFill>
              <a:schemeClr val="bg2"/>
            </a:solidFill>
            <a:prstDash val="solid"/>
          </a:ln>
        </p:spPr>
      </p:sp>
      <p:sp>
        <p:nvSpPr>
          <p:cNvPr id="50" name="txt-544"/>
          <p:cNvSpPr txBox="1"/>
          <p:nvPr/>
        </p:nvSpPr>
        <p:spPr>
          <a:xfrm>
            <a:off x="6318504" y="3602736"/>
            <a:ext cx="1600200" cy="292608"/>
          </a:xfrm>
          <a:prstGeom prst="rect">
            <a:avLst/>
          </a:prstGeom>
          <a:noFill/>
          <a:ln/>
        </p:spPr>
        <p:txBody>
          <a:bodyPr wrap="square" lIns="0" tIns="0" rIns="0" bIns="0" rtlCol="0" anchor="t"/>
          <a:lstStyle/>
          <a:p>
            <a:pPr marL="0" indent="0">
              <a:buNone/>
            </a:pPr>
            <a:r>
              <a:rPr lang="en-US" sz="1300" b="1" dirty="0">
                <a:solidFill>
                  <a:schemeClr val="tx2"/>
                </a:solidFill>
              </a:rPr>
              <a:t>Gemini Notebook</a:t>
            </a:r>
            <a:endParaRPr lang="en-US" sz="1300" dirty="0"/>
          </a:p>
        </p:txBody>
      </p:sp>
      <p:sp>
        <p:nvSpPr>
          <p:cNvPr id="51" name="card-545"/>
          <p:cNvSpPr/>
          <p:nvPr/>
        </p:nvSpPr>
        <p:spPr>
          <a:xfrm>
            <a:off x="7900416" y="3621024"/>
            <a:ext cx="822960" cy="237744"/>
          </a:xfrm>
          <a:prstGeom prst="roundRect">
            <a:avLst>
              <a:gd name="adj" fmla="val 30769"/>
            </a:avLst>
          </a:prstGeom>
          <a:solidFill>
            <a:schemeClr val="accent2"/>
          </a:solidFill>
          <a:ln w="6350">
            <a:solidFill>
              <a:schemeClr val="accent2"/>
            </a:solidFill>
            <a:prstDash val="solid"/>
          </a:ln>
        </p:spPr>
      </p:sp>
      <p:sp>
        <p:nvSpPr>
          <p:cNvPr id="52" name="txt-546"/>
          <p:cNvSpPr txBox="1"/>
          <p:nvPr/>
        </p:nvSpPr>
        <p:spPr>
          <a:xfrm>
            <a:off x="7900416" y="3621024"/>
            <a:ext cx="822960" cy="237744"/>
          </a:xfrm>
          <a:prstGeom prst="rect">
            <a:avLst/>
          </a:prstGeom>
          <a:noFill/>
          <a:ln/>
        </p:spPr>
        <p:txBody>
          <a:bodyPr wrap="square" lIns="0" tIns="0" rIns="0" bIns="0" rtlCol="0" anchor="ctr"/>
          <a:lstStyle/>
          <a:p>
            <a:pPr marL="0" indent="0" algn="ctr">
              <a:buNone/>
            </a:pPr>
            <a:r>
              <a:rPr lang="en-US" sz="900" b="1" dirty="0">
                <a:solidFill>
                  <a:schemeClr val="bg1"/>
                </a:solidFill>
              </a:rPr>
              <a:t>Gratuit</a:t>
            </a:r>
            <a:endParaRPr lang="en-US" sz="900" dirty="0"/>
          </a:p>
        </p:txBody>
      </p:sp>
      <p:sp>
        <p:nvSpPr>
          <p:cNvPr id="53" name="txt-547"/>
          <p:cNvSpPr txBox="1"/>
          <p:nvPr/>
        </p:nvSpPr>
        <p:spPr>
          <a:xfrm>
            <a:off x="6318504" y="3895344"/>
            <a:ext cx="2377440" cy="237744"/>
          </a:xfrm>
          <a:prstGeom prst="rect">
            <a:avLst/>
          </a:prstGeom>
          <a:noFill/>
          <a:ln/>
        </p:spPr>
        <p:txBody>
          <a:bodyPr wrap="square" lIns="0" tIns="0" rIns="0" bIns="0" rtlCol="0" anchor="t"/>
          <a:lstStyle/>
          <a:p>
            <a:pPr marL="0" indent="0">
              <a:buNone/>
            </a:pPr>
            <a:r>
              <a:rPr lang="en-US" sz="1000" dirty="0">
                <a:solidFill>
                  <a:schemeClr val="accent2"/>
                </a:solidFill>
              </a:rPr>
              <a:t>notebook.google.com</a:t>
            </a:r>
            <a:endParaRPr lang="en-US" sz="1000" dirty="0"/>
          </a:p>
        </p:txBody>
      </p:sp>
      <p:sp>
        <p:nvSpPr>
          <p:cNvPr id="54" name="txt-548"/>
          <p:cNvSpPr txBox="1"/>
          <p:nvPr/>
        </p:nvSpPr>
        <p:spPr>
          <a:xfrm>
            <a:off x="6318504" y="4151376"/>
            <a:ext cx="2423160" cy="502920"/>
          </a:xfrm>
          <a:prstGeom prst="rect">
            <a:avLst/>
          </a:prstGeom>
          <a:noFill/>
          <a:ln/>
        </p:spPr>
        <p:txBody>
          <a:bodyPr wrap="square" lIns="0" tIns="0" rIns="0" bIns="0" rtlCol="0" anchor="t"/>
          <a:lstStyle/>
          <a:p>
            <a:pPr marL="0" indent="0">
              <a:buNone/>
            </a:pPr>
            <a:r>
              <a:rPr lang="en-US" sz="1100" dirty="0">
                <a:solidFill>
                  <a:schemeClr val="tx1"/>
                </a:solidFill>
              </a:rPr>
              <a:t>Interroge vos PDF avec citations</a:t>
            </a:r>
            <a:endParaRPr lang="en-US" sz="1100" dirty="0"/>
          </a:p>
        </p:txBody>
      </p:sp>
      <p:sp>
        <p:nvSpPr>
          <p:cNvPr id="55" name="circle-549"/>
          <p:cNvSpPr/>
          <p:nvPr/>
        </p:nvSpPr>
        <p:spPr>
          <a:xfrm>
            <a:off x="8997696" y="1554480"/>
            <a:ext cx="548640" cy="548640"/>
          </a:xfrm>
          <a:prstGeom prst="ellipse">
            <a:avLst/>
          </a:prstGeom>
          <a:solidFill>
            <a:schemeClr val="accent3"/>
          </a:solidFill>
          <a:ln w="12700">
            <a:solidFill>
              <a:schemeClr val="accent3"/>
            </a:solidFill>
            <a:prstDash val="solid"/>
          </a:ln>
        </p:spPr>
      </p:sp>
      <p:pic>
        <p:nvPicPr>
          <p:cNvPr id="56" name="icon-550" descr="preencoded.png"/>
          <p:cNvPicPr>
            <a:picLocks noChangeAspect="1"/>
          </p:cNvPicPr>
          <p:nvPr/>
        </p:nvPicPr>
        <p:blipFill>
          <a:blip r:embed="rId6"/>
          <a:stretch>
            <a:fillRect/>
          </a:stretch>
        </p:blipFill>
        <p:spPr>
          <a:xfrm>
            <a:off x="9134856" y="1691640"/>
            <a:ext cx="274320" cy="274320"/>
          </a:xfrm>
          <a:prstGeom prst="rect">
            <a:avLst/>
          </a:prstGeom>
        </p:spPr>
      </p:pic>
      <p:sp>
        <p:nvSpPr>
          <p:cNvPr id="57" name="txt-551"/>
          <p:cNvSpPr txBox="1"/>
          <p:nvPr/>
        </p:nvSpPr>
        <p:spPr>
          <a:xfrm>
            <a:off x="9656064" y="1554480"/>
            <a:ext cx="1920240" cy="548640"/>
          </a:xfrm>
          <a:prstGeom prst="rect">
            <a:avLst/>
          </a:prstGeom>
          <a:noFill/>
          <a:ln/>
        </p:spPr>
        <p:txBody>
          <a:bodyPr wrap="square" lIns="0" tIns="0" rIns="0" bIns="0" rtlCol="0" anchor="ctr"/>
          <a:lstStyle/>
          <a:p>
            <a:pPr marL="0" indent="0">
              <a:buNone/>
            </a:pPr>
            <a:r>
              <a:rPr lang="en-US" sz="1700" b="1" dirty="0">
                <a:solidFill>
                  <a:schemeClr val="accent3"/>
                </a:solidFill>
              </a:rPr>
              <a:t>Vérifier</a:t>
            </a:r>
            <a:endParaRPr lang="en-US" sz="1700" dirty="0"/>
          </a:p>
        </p:txBody>
      </p:sp>
      <p:sp>
        <p:nvSpPr>
          <p:cNvPr id="58" name="card-552"/>
          <p:cNvSpPr/>
          <p:nvPr/>
        </p:nvSpPr>
        <p:spPr>
          <a:xfrm>
            <a:off x="8997696" y="2267712"/>
            <a:ext cx="2633472" cy="1152144"/>
          </a:xfrm>
          <a:prstGeom prst="roundRect">
            <a:avLst>
              <a:gd name="adj" fmla="val 6349"/>
            </a:avLst>
          </a:prstGeom>
          <a:solidFill>
            <a:schemeClr val="bg2"/>
          </a:solidFill>
          <a:ln w="6350">
            <a:solidFill>
              <a:schemeClr val="bg2"/>
            </a:solidFill>
            <a:prstDash val="solid"/>
          </a:ln>
        </p:spPr>
      </p:sp>
      <p:sp>
        <p:nvSpPr>
          <p:cNvPr id="59" name="txt-553"/>
          <p:cNvSpPr txBox="1"/>
          <p:nvPr/>
        </p:nvSpPr>
        <p:spPr>
          <a:xfrm>
            <a:off x="9134856" y="2340864"/>
            <a:ext cx="1600200" cy="292608"/>
          </a:xfrm>
          <a:prstGeom prst="rect">
            <a:avLst/>
          </a:prstGeom>
          <a:noFill/>
          <a:ln/>
        </p:spPr>
        <p:txBody>
          <a:bodyPr wrap="square" lIns="0" tIns="0" rIns="0" bIns="0" rtlCol="0" anchor="t"/>
          <a:lstStyle/>
          <a:p>
            <a:pPr marL="0" indent="0">
              <a:buNone/>
            </a:pPr>
            <a:r>
              <a:rPr lang="en-US" sz="1300" b="1" dirty="0">
                <a:solidFill>
                  <a:schemeClr val="tx2"/>
                </a:solidFill>
              </a:rPr>
              <a:t>Google Scholar</a:t>
            </a:r>
            <a:endParaRPr lang="en-US" sz="1300" dirty="0"/>
          </a:p>
        </p:txBody>
      </p:sp>
      <p:sp>
        <p:nvSpPr>
          <p:cNvPr id="60" name="card-554"/>
          <p:cNvSpPr/>
          <p:nvPr/>
        </p:nvSpPr>
        <p:spPr>
          <a:xfrm>
            <a:off x="10716768" y="2359152"/>
            <a:ext cx="822960" cy="237744"/>
          </a:xfrm>
          <a:prstGeom prst="roundRect">
            <a:avLst>
              <a:gd name="adj" fmla="val 30769"/>
            </a:avLst>
          </a:prstGeom>
          <a:solidFill>
            <a:schemeClr val="accent2"/>
          </a:solidFill>
          <a:ln w="6350">
            <a:solidFill>
              <a:schemeClr val="accent2"/>
            </a:solidFill>
            <a:prstDash val="solid"/>
          </a:ln>
        </p:spPr>
      </p:sp>
      <p:sp>
        <p:nvSpPr>
          <p:cNvPr id="61" name="txt-555"/>
          <p:cNvSpPr txBox="1"/>
          <p:nvPr/>
        </p:nvSpPr>
        <p:spPr>
          <a:xfrm>
            <a:off x="10716768" y="2359152"/>
            <a:ext cx="822960" cy="237744"/>
          </a:xfrm>
          <a:prstGeom prst="rect">
            <a:avLst/>
          </a:prstGeom>
          <a:noFill/>
          <a:ln/>
        </p:spPr>
        <p:txBody>
          <a:bodyPr wrap="square" lIns="0" tIns="0" rIns="0" bIns="0" rtlCol="0" anchor="ctr"/>
          <a:lstStyle/>
          <a:p>
            <a:pPr marL="0" indent="0" algn="ctr">
              <a:buNone/>
            </a:pPr>
            <a:r>
              <a:rPr lang="en-US" sz="900" b="1" dirty="0">
                <a:solidFill>
                  <a:schemeClr val="bg1"/>
                </a:solidFill>
              </a:rPr>
              <a:t>Gratuit</a:t>
            </a:r>
            <a:endParaRPr lang="en-US" sz="900" dirty="0"/>
          </a:p>
        </p:txBody>
      </p:sp>
      <p:sp>
        <p:nvSpPr>
          <p:cNvPr id="62" name="txt-556"/>
          <p:cNvSpPr txBox="1"/>
          <p:nvPr/>
        </p:nvSpPr>
        <p:spPr>
          <a:xfrm>
            <a:off x="9134856" y="2633472"/>
            <a:ext cx="2377440" cy="237744"/>
          </a:xfrm>
          <a:prstGeom prst="rect">
            <a:avLst/>
          </a:prstGeom>
          <a:noFill/>
          <a:ln/>
        </p:spPr>
        <p:txBody>
          <a:bodyPr wrap="square" lIns="0" tIns="0" rIns="0" bIns="0" rtlCol="0" anchor="t"/>
          <a:lstStyle/>
          <a:p>
            <a:pPr marL="0" indent="0">
              <a:buNone/>
            </a:pPr>
            <a:r>
              <a:rPr lang="en-US" sz="1000" dirty="0">
                <a:solidFill>
                  <a:schemeClr val="accent3"/>
                </a:solidFill>
              </a:rPr>
              <a:t>scholar.google.com</a:t>
            </a:r>
            <a:endParaRPr lang="en-US" sz="1000" dirty="0"/>
          </a:p>
        </p:txBody>
      </p:sp>
      <p:sp>
        <p:nvSpPr>
          <p:cNvPr id="63" name="txt-557"/>
          <p:cNvSpPr txBox="1"/>
          <p:nvPr/>
        </p:nvSpPr>
        <p:spPr>
          <a:xfrm>
            <a:off x="9134856" y="2889504"/>
            <a:ext cx="2423160" cy="502920"/>
          </a:xfrm>
          <a:prstGeom prst="rect">
            <a:avLst/>
          </a:prstGeom>
          <a:noFill/>
          <a:ln/>
        </p:spPr>
        <p:txBody>
          <a:bodyPr wrap="square" lIns="0" tIns="0" rIns="0" bIns="0" rtlCol="0" anchor="t"/>
          <a:lstStyle/>
          <a:p>
            <a:pPr marL="0" indent="0">
              <a:buNone/>
            </a:pPr>
            <a:r>
              <a:rPr lang="en-US" sz="1100" dirty="0">
                <a:solidFill>
                  <a:schemeClr val="tx1"/>
                </a:solidFill>
              </a:rPr>
              <a:t>Retrouver l'article et ses citations</a:t>
            </a:r>
            <a:endParaRPr lang="en-US" sz="1100" dirty="0"/>
          </a:p>
        </p:txBody>
      </p:sp>
      <p:sp>
        <p:nvSpPr>
          <p:cNvPr id="64" name="card-558"/>
          <p:cNvSpPr/>
          <p:nvPr/>
        </p:nvSpPr>
        <p:spPr>
          <a:xfrm>
            <a:off x="8997696" y="3529584"/>
            <a:ext cx="2633472" cy="1152144"/>
          </a:xfrm>
          <a:prstGeom prst="roundRect">
            <a:avLst>
              <a:gd name="adj" fmla="val 6349"/>
            </a:avLst>
          </a:prstGeom>
          <a:solidFill>
            <a:schemeClr val="bg2"/>
          </a:solidFill>
          <a:ln w="6350">
            <a:solidFill>
              <a:schemeClr val="bg2"/>
            </a:solidFill>
            <a:prstDash val="solid"/>
          </a:ln>
        </p:spPr>
      </p:sp>
      <p:sp>
        <p:nvSpPr>
          <p:cNvPr id="65" name="txt-559"/>
          <p:cNvSpPr txBox="1"/>
          <p:nvPr/>
        </p:nvSpPr>
        <p:spPr>
          <a:xfrm>
            <a:off x="9134856" y="3602736"/>
            <a:ext cx="1600200" cy="292608"/>
          </a:xfrm>
          <a:prstGeom prst="rect">
            <a:avLst/>
          </a:prstGeom>
          <a:noFill/>
          <a:ln/>
        </p:spPr>
        <p:txBody>
          <a:bodyPr wrap="square" lIns="0" tIns="0" rIns="0" bIns="0" rtlCol="0" anchor="t"/>
          <a:lstStyle/>
          <a:p>
            <a:pPr marL="0" indent="0">
              <a:buNone/>
            </a:pPr>
            <a:r>
              <a:rPr lang="en-US" sz="1300" b="1" dirty="0">
                <a:solidFill>
                  <a:schemeClr val="tx2"/>
                </a:solidFill>
              </a:rPr>
              <a:t>Scite</a:t>
            </a:r>
            <a:endParaRPr lang="en-US" sz="1300" dirty="0"/>
          </a:p>
        </p:txBody>
      </p:sp>
      <p:sp>
        <p:nvSpPr>
          <p:cNvPr id="66" name="card-560"/>
          <p:cNvSpPr/>
          <p:nvPr/>
        </p:nvSpPr>
        <p:spPr>
          <a:xfrm>
            <a:off x="10716768" y="3621024"/>
            <a:ext cx="822960" cy="237744"/>
          </a:xfrm>
          <a:prstGeom prst="roundRect">
            <a:avLst>
              <a:gd name="adj" fmla="val 30769"/>
            </a:avLst>
          </a:prstGeom>
          <a:solidFill>
            <a:schemeClr val="accent3"/>
          </a:solidFill>
          <a:ln w="6350">
            <a:solidFill>
              <a:schemeClr val="accent3"/>
            </a:solidFill>
            <a:prstDash val="solid"/>
          </a:ln>
        </p:spPr>
      </p:sp>
      <p:sp>
        <p:nvSpPr>
          <p:cNvPr id="67" name="txt-561"/>
          <p:cNvSpPr txBox="1"/>
          <p:nvPr/>
        </p:nvSpPr>
        <p:spPr>
          <a:xfrm>
            <a:off x="10716768" y="3621024"/>
            <a:ext cx="822960" cy="237744"/>
          </a:xfrm>
          <a:prstGeom prst="rect">
            <a:avLst/>
          </a:prstGeom>
          <a:noFill/>
          <a:ln/>
        </p:spPr>
        <p:txBody>
          <a:bodyPr wrap="square" lIns="0" tIns="0" rIns="0" bIns="0" rtlCol="0" anchor="ctr"/>
          <a:lstStyle/>
          <a:p>
            <a:pPr marL="0" indent="0" algn="ctr">
              <a:buNone/>
            </a:pPr>
            <a:r>
              <a:rPr lang="en-US" sz="900" b="1" dirty="0">
                <a:solidFill>
                  <a:schemeClr val="bg1"/>
                </a:solidFill>
              </a:rPr>
              <a:t>Payant*</a:t>
            </a:r>
            <a:endParaRPr lang="en-US" sz="900" dirty="0"/>
          </a:p>
        </p:txBody>
      </p:sp>
      <p:sp>
        <p:nvSpPr>
          <p:cNvPr id="68" name="txt-562"/>
          <p:cNvSpPr txBox="1"/>
          <p:nvPr/>
        </p:nvSpPr>
        <p:spPr>
          <a:xfrm>
            <a:off x="9134856" y="3895344"/>
            <a:ext cx="2377440" cy="237744"/>
          </a:xfrm>
          <a:prstGeom prst="rect">
            <a:avLst/>
          </a:prstGeom>
          <a:noFill/>
          <a:ln/>
        </p:spPr>
        <p:txBody>
          <a:bodyPr wrap="square" lIns="0" tIns="0" rIns="0" bIns="0" rtlCol="0" anchor="t"/>
          <a:lstStyle/>
          <a:p>
            <a:pPr marL="0" indent="0">
              <a:buNone/>
            </a:pPr>
            <a:r>
              <a:rPr lang="en-US" sz="1000" dirty="0">
                <a:solidFill>
                  <a:schemeClr val="accent3"/>
                </a:solidFill>
              </a:rPr>
              <a:t>scite.ai</a:t>
            </a:r>
            <a:endParaRPr lang="en-US" sz="1000" dirty="0"/>
          </a:p>
        </p:txBody>
      </p:sp>
      <p:sp>
        <p:nvSpPr>
          <p:cNvPr id="69" name="txt-563"/>
          <p:cNvSpPr txBox="1"/>
          <p:nvPr/>
        </p:nvSpPr>
        <p:spPr>
          <a:xfrm>
            <a:off x="9134856" y="4151376"/>
            <a:ext cx="2423160" cy="502920"/>
          </a:xfrm>
          <a:prstGeom prst="rect">
            <a:avLst/>
          </a:prstGeom>
          <a:noFill/>
          <a:ln/>
        </p:spPr>
        <p:txBody>
          <a:bodyPr wrap="square" lIns="0" tIns="0" rIns="0" bIns="0" rtlCol="0" anchor="t"/>
          <a:lstStyle/>
          <a:p>
            <a:pPr marL="0" indent="0">
              <a:buNone/>
            </a:pPr>
            <a:r>
              <a:rPr lang="en-US" sz="1100" dirty="0">
                <a:solidFill>
                  <a:schemeClr val="tx1"/>
                </a:solidFill>
              </a:rPr>
              <a:t>Article confirmé ou contesté par la suite ?</a:t>
            </a:r>
            <a:endParaRPr lang="en-US" sz="1100" dirty="0"/>
          </a:p>
        </p:txBody>
      </p:sp>
      <p:sp>
        <p:nvSpPr>
          <p:cNvPr id="70" name="card-564"/>
          <p:cNvSpPr/>
          <p:nvPr/>
        </p:nvSpPr>
        <p:spPr>
          <a:xfrm>
            <a:off x="8997696" y="4791456"/>
            <a:ext cx="2633472" cy="1152144"/>
          </a:xfrm>
          <a:prstGeom prst="roundRect">
            <a:avLst>
              <a:gd name="adj" fmla="val 6349"/>
            </a:avLst>
          </a:prstGeom>
          <a:solidFill>
            <a:schemeClr val="bg2"/>
          </a:solidFill>
          <a:ln w="6350">
            <a:solidFill>
              <a:schemeClr val="bg2"/>
            </a:solidFill>
            <a:prstDash val="solid"/>
          </a:ln>
        </p:spPr>
      </p:sp>
      <p:sp>
        <p:nvSpPr>
          <p:cNvPr id="71" name="txt-565"/>
          <p:cNvSpPr txBox="1"/>
          <p:nvPr/>
        </p:nvSpPr>
        <p:spPr>
          <a:xfrm>
            <a:off x="9134856" y="4864608"/>
            <a:ext cx="1600200" cy="292608"/>
          </a:xfrm>
          <a:prstGeom prst="rect">
            <a:avLst/>
          </a:prstGeom>
          <a:noFill/>
          <a:ln/>
        </p:spPr>
        <p:txBody>
          <a:bodyPr wrap="square" lIns="0" tIns="0" rIns="0" bIns="0" rtlCol="0" anchor="t"/>
          <a:lstStyle/>
          <a:p>
            <a:pPr marL="0" indent="0">
              <a:buNone/>
            </a:pPr>
            <a:r>
              <a:rPr lang="en-US" sz="1300" b="1" dirty="0">
                <a:solidFill>
                  <a:schemeClr val="tx2"/>
                </a:solidFill>
              </a:rPr>
              <a:t>DOI</a:t>
            </a:r>
            <a:endParaRPr lang="en-US" sz="1300" dirty="0"/>
          </a:p>
        </p:txBody>
      </p:sp>
      <p:sp>
        <p:nvSpPr>
          <p:cNvPr id="72" name="card-566"/>
          <p:cNvSpPr/>
          <p:nvPr/>
        </p:nvSpPr>
        <p:spPr>
          <a:xfrm>
            <a:off x="10716768" y="4882896"/>
            <a:ext cx="822960" cy="237744"/>
          </a:xfrm>
          <a:prstGeom prst="roundRect">
            <a:avLst>
              <a:gd name="adj" fmla="val 30769"/>
            </a:avLst>
          </a:prstGeom>
          <a:solidFill>
            <a:schemeClr val="accent2"/>
          </a:solidFill>
          <a:ln w="6350">
            <a:solidFill>
              <a:schemeClr val="accent2"/>
            </a:solidFill>
            <a:prstDash val="solid"/>
          </a:ln>
        </p:spPr>
      </p:sp>
      <p:sp>
        <p:nvSpPr>
          <p:cNvPr id="73" name="txt-567"/>
          <p:cNvSpPr txBox="1"/>
          <p:nvPr/>
        </p:nvSpPr>
        <p:spPr>
          <a:xfrm>
            <a:off x="10716768" y="4882896"/>
            <a:ext cx="822960" cy="237744"/>
          </a:xfrm>
          <a:prstGeom prst="rect">
            <a:avLst/>
          </a:prstGeom>
          <a:noFill/>
          <a:ln/>
        </p:spPr>
        <p:txBody>
          <a:bodyPr wrap="square" lIns="0" tIns="0" rIns="0" bIns="0" rtlCol="0" anchor="ctr"/>
          <a:lstStyle/>
          <a:p>
            <a:pPr marL="0" indent="0" algn="ctr">
              <a:buNone/>
            </a:pPr>
            <a:r>
              <a:rPr lang="en-US" sz="900" b="1" dirty="0">
                <a:solidFill>
                  <a:schemeClr val="bg1"/>
                </a:solidFill>
              </a:rPr>
              <a:t>Gratuit</a:t>
            </a:r>
            <a:endParaRPr lang="en-US" sz="900" dirty="0"/>
          </a:p>
        </p:txBody>
      </p:sp>
      <p:sp>
        <p:nvSpPr>
          <p:cNvPr id="74" name="txt-568"/>
          <p:cNvSpPr txBox="1"/>
          <p:nvPr/>
        </p:nvSpPr>
        <p:spPr>
          <a:xfrm>
            <a:off x="9134856" y="5157216"/>
            <a:ext cx="2377440" cy="237744"/>
          </a:xfrm>
          <a:prstGeom prst="rect">
            <a:avLst/>
          </a:prstGeom>
          <a:noFill/>
          <a:ln/>
        </p:spPr>
        <p:txBody>
          <a:bodyPr wrap="square" lIns="0" tIns="0" rIns="0" bIns="0" rtlCol="0" anchor="t"/>
          <a:lstStyle/>
          <a:p>
            <a:pPr marL="0" indent="0">
              <a:buNone/>
            </a:pPr>
            <a:r>
              <a:rPr lang="en-US" sz="1000" dirty="0">
                <a:solidFill>
                  <a:schemeClr val="accent3"/>
                </a:solidFill>
              </a:rPr>
              <a:t>doi.org</a:t>
            </a:r>
            <a:endParaRPr lang="en-US" sz="1000" dirty="0"/>
          </a:p>
        </p:txBody>
      </p:sp>
      <p:sp>
        <p:nvSpPr>
          <p:cNvPr id="75" name="txt-569"/>
          <p:cNvSpPr txBox="1"/>
          <p:nvPr/>
        </p:nvSpPr>
        <p:spPr>
          <a:xfrm>
            <a:off x="9134856" y="5413248"/>
            <a:ext cx="2423160" cy="502920"/>
          </a:xfrm>
          <a:prstGeom prst="rect">
            <a:avLst/>
          </a:prstGeom>
          <a:noFill/>
          <a:ln/>
        </p:spPr>
        <p:txBody>
          <a:bodyPr wrap="square" lIns="0" tIns="0" rIns="0" bIns="0" rtlCol="0" anchor="t"/>
          <a:lstStyle/>
          <a:p>
            <a:pPr marL="0" indent="0">
              <a:buNone/>
            </a:pPr>
            <a:r>
              <a:rPr lang="en-US" sz="1100" dirty="0">
                <a:solidFill>
                  <a:schemeClr val="tx1"/>
                </a:solidFill>
              </a:rPr>
              <a:t>Le DOI mène-t-il au bon article ?</a:t>
            </a:r>
            <a:endParaRPr lang="en-US" sz="1100" dirty="0"/>
          </a:p>
        </p:txBody>
      </p:sp>
      <p:sp>
        <p:nvSpPr>
          <p:cNvPr id="76" name="txt-570"/>
          <p:cNvSpPr txBox="1"/>
          <p:nvPr/>
        </p:nvSpPr>
        <p:spPr>
          <a:xfrm>
            <a:off x="548640" y="6053328"/>
            <a:ext cx="11064240" cy="256032"/>
          </a:xfrm>
          <a:prstGeom prst="rect">
            <a:avLst/>
          </a:prstGeom>
          <a:noFill/>
          <a:ln/>
        </p:spPr>
        <p:txBody>
          <a:bodyPr wrap="square" lIns="0" tIns="0" rIns="0" bIns="0" rtlCol="0" anchor="t"/>
          <a:lstStyle/>
          <a:p>
            <a:pPr marL="0" indent="0">
              <a:buNone/>
            </a:pPr>
            <a:r>
              <a:rPr lang="en-US" sz="1000" i="1" dirty="0">
                <a:solidFill>
                  <a:schemeClr val="accent5"/>
                </a:solidFill>
              </a:rPr>
              <a:t>* Scite : souvent accessible via un abonnement institutionnel. Freemium = gratuit avec quotas. Offres vérifiées en octobre 2026.</a:t>
            </a:r>
            <a:endParaRPr lang="en-US" sz="1000" dirty="0"/>
          </a:p>
        </p:txBody>
      </p:sp>
      <p:sp>
        <p:nvSpPr>
          <p:cNvPr id="77" name="Slide Number Placeholder 0"/>
          <p:cNvSpPr>
            <a:spLocks noGrp="1"/>
          </p:cNvSpPr>
          <p:nvPr>
            <p:ph type="sldNum" sz="quarter" idx="4294967295"/>
          </p:nvPr>
        </p:nvSpPr>
        <p:spPr>
          <a:xfrm>
            <a:off x="11064240" y="6400800"/>
            <a:ext cx="54864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C82"/>
                </a:solidFill>
                <a:latin typeface="Poppins"/>
                <a:ea typeface="Poppins"/>
                <a:cs typeface="Poppins"/>
              </a:defRPr>
            </a:lvl1pPr>
          </a:lstStyle>
          <a:p>
            <a:pPr algn="r"/>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566928"/>
            <a:ext cx="11064240" cy="777240"/>
          </a:xfrm>
          <a:prstGeom prst="rect">
            <a:avLst/>
          </a:prstGeom>
          <a:noFill/>
          <a:ln/>
        </p:spPr>
        <p:txBody>
          <a:bodyPr wrap="square" lIns="0" tIns="0" rIns="0" bIns="0" rtlCol="0" anchor="ctr"/>
          <a:lstStyle/>
          <a:p>
            <a:pPr marL="0" indent="0" algn="l">
              <a:buNone/>
            </a:pPr>
            <a:r>
              <a:rPr lang="en-US" sz="2700" b="1" dirty="0">
                <a:solidFill>
                  <a:schemeClr val="tx2"/>
                </a:solidFill>
                <a:latin typeface="Poppins" pitchFamily="34" charset="0"/>
                <a:ea typeface="Poppins" pitchFamily="34" charset="-122"/>
                <a:cs typeface="Poppins" pitchFamily="34" charset="-120"/>
              </a:rPr>
              <a:t>Les « recherches approfondies » des assistants</a:t>
            </a:r>
            <a:endParaRPr lang="en-US" sz="2700" dirty="0"/>
          </a:p>
        </p:txBody>
      </p:sp>
      <p:sp>
        <p:nvSpPr>
          <p:cNvPr id="3" name="Text 0"/>
          <p:cNvSpPr>
            <a:spLocks noGrp="1"/>
          </p:cNvSpPr>
          <p:nvPr>
            <p:ph type="body" idx="101" hasCustomPrompt="1"/>
          </p:nvPr>
        </p:nvSpPr>
        <p:spPr>
          <a:xfrm>
            <a:off x="548640" y="256032"/>
            <a:ext cx="8229600" cy="292608"/>
          </a:xfrm>
          <a:prstGeom prst="rect">
            <a:avLst/>
          </a:prstGeom>
          <a:noFill/>
          <a:ln/>
        </p:spPr>
        <p:txBody>
          <a:bodyPr wrap="square" lIns="0" tIns="0" rIns="0" bIns="0" rtlCol="0" anchor="ctr"/>
          <a:lstStyle/>
          <a:p>
            <a:pPr marL="0" indent="0">
              <a:buNone/>
            </a:pPr>
            <a:r>
              <a:rPr lang="en-US" sz="1100" b="1" dirty="0">
                <a:solidFill>
                  <a:schemeClr val="accent1"/>
                </a:solidFill>
                <a:latin typeface="Poppins" pitchFamily="34" charset="0"/>
                <a:ea typeface="Poppins" pitchFamily="34" charset="-122"/>
                <a:cs typeface="Poppins" pitchFamily="34" charset="-120"/>
              </a:rPr>
              <a:t>RECHERCHE ASSISTÉE PAR IA</a:t>
            </a:r>
            <a:endParaRPr lang="en-US" sz="1100" dirty="0"/>
          </a:p>
        </p:txBody>
      </p:sp>
      <p:sp>
        <p:nvSpPr>
          <p:cNvPr id="4" name="txt-571"/>
          <p:cNvSpPr txBox="1"/>
          <p:nvPr/>
        </p:nvSpPr>
        <p:spPr>
          <a:xfrm>
            <a:off x="548640" y="1554480"/>
            <a:ext cx="11064240" cy="548640"/>
          </a:xfrm>
          <a:prstGeom prst="rect">
            <a:avLst/>
          </a:prstGeom>
          <a:noFill/>
          <a:ln/>
        </p:spPr>
        <p:txBody>
          <a:bodyPr wrap="square" lIns="0" tIns="0" rIns="0" bIns="0" rtlCol="0" anchor="t"/>
          <a:lstStyle/>
          <a:p>
            <a:pPr marL="0" indent="0">
              <a:buNone/>
            </a:pPr>
            <a:r>
              <a:rPr lang="en-US" sz="1500" dirty="0">
                <a:solidFill>
                  <a:schemeClr val="tx1"/>
                </a:solidFill>
              </a:rPr>
              <a:t>Un agent parcourt des dizaines de pages web pendant plusieurs minutes, puis rédige un rapport avec des liens.</a:t>
            </a:r>
            <a:endParaRPr lang="en-US" sz="1500" dirty="0"/>
          </a:p>
        </p:txBody>
      </p:sp>
      <p:sp>
        <p:nvSpPr>
          <p:cNvPr id="5" name="card-572"/>
          <p:cNvSpPr/>
          <p:nvPr/>
        </p:nvSpPr>
        <p:spPr>
          <a:xfrm>
            <a:off x="548640" y="2240280"/>
            <a:ext cx="2606040" cy="1417320"/>
          </a:xfrm>
          <a:prstGeom prst="roundRect">
            <a:avLst>
              <a:gd name="adj" fmla="val 5161"/>
            </a:avLst>
          </a:prstGeom>
          <a:solidFill>
            <a:schemeClr val="bg2"/>
          </a:solidFill>
          <a:ln w="6350">
            <a:solidFill>
              <a:schemeClr val="bg2"/>
            </a:solidFill>
            <a:prstDash val="solid"/>
          </a:ln>
        </p:spPr>
      </p:sp>
      <p:sp>
        <p:nvSpPr>
          <p:cNvPr id="6" name="txt-573"/>
          <p:cNvSpPr txBox="1"/>
          <p:nvPr/>
        </p:nvSpPr>
        <p:spPr>
          <a:xfrm>
            <a:off x="731520" y="2377440"/>
            <a:ext cx="2286000" cy="320040"/>
          </a:xfrm>
          <a:prstGeom prst="rect">
            <a:avLst/>
          </a:prstGeom>
          <a:noFill/>
          <a:ln/>
        </p:spPr>
        <p:txBody>
          <a:bodyPr wrap="square" lIns="0" tIns="0" rIns="0" bIns="0" rtlCol="0" anchor="t"/>
          <a:lstStyle/>
          <a:p>
            <a:pPr marL="0" indent="0">
              <a:buNone/>
            </a:pPr>
            <a:r>
              <a:rPr lang="en-US" sz="1300" dirty="0">
                <a:solidFill>
                  <a:schemeClr val="accent5"/>
                </a:solidFill>
              </a:rPr>
              <a:t>Gemini</a:t>
            </a:r>
            <a:endParaRPr lang="en-US" sz="1300" dirty="0"/>
          </a:p>
        </p:txBody>
      </p:sp>
      <p:sp>
        <p:nvSpPr>
          <p:cNvPr id="7" name="txt-574"/>
          <p:cNvSpPr txBox="1"/>
          <p:nvPr/>
        </p:nvSpPr>
        <p:spPr>
          <a:xfrm>
            <a:off x="731520" y="2697480"/>
            <a:ext cx="2286000" cy="411480"/>
          </a:xfrm>
          <a:prstGeom prst="rect">
            <a:avLst/>
          </a:prstGeom>
          <a:noFill/>
          <a:ln/>
        </p:spPr>
        <p:txBody>
          <a:bodyPr wrap="square" lIns="0" tIns="0" rIns="0" bIns="0" rtlCol="0" anchor="t"/>
          <a:lstStyle/>
          <a:p>
            <a:pPr marL="0" indent="0">
              <a:buNone/>
            </a:pPr>
            <a:r>
              <a:rPr lang="en-US" sz="1700" b="1" dirty="0">
                <a:solidFill>
                  <a:schemeClr val="tx2"/>
                </a:solidFill>
              </a:rPr>
              <a:t>Deep Research</a:t>
            </a:r>
            <a:endParaRPr lang="en-US" sz="1700" dirty="0"/>
          </a:p>
        </p:txBody>
      </p:sp>
      <p:sp>
        <p:nvSpPr>
          <p:cNvPr id="8" name="txt-575"/>
          <p:cNvSpPr txBox="1"/>
          <p:nvPr/>
        </p:nvSpPr>
        <p:spPr>
          <a:xfrm>
            <a:off x="731520" y="3154680"/>
            <a:ext cx="2286000" cy="457200"/>
          </a:xfrm>
          <a:prstGeom prst="rect">
            <a:avLst/>
          </a:prstGeom>
          <a:noFill/>
          <a:ln/>
        </p:spPr>
        <p:txBody>
          <a:bodyPr wrap="square" lIns="0" tIns="0" rIns="0" bIns="0" rtlCol="0" anchor="t"/>
          <a:lstStyle/>
          <a:p>
            <a:pPr marL="0" indent="0">
              <a:buNone/>
            </a:pPr>
            <a:r>
              <a:rPr lang="en-US" sz="1200" dirty="0">
                <a:solidFill>
                  <a:schemeClr val="tx1"/>
                </a:solidFill>
              </a:rPr>
              <a:t>Gratuit, en nombre limité</a:t>
            </a:r>
            <a:endParaRPr lang="en-US" sz="1200" dirty="0"/>
          </a:p>
        </p:txBody>
      </p:sp>
      <p:sp>
        <p:nvSpPr>
          <p:cNvPr id="9" name="card-576"/>
          <p:cNvSpPr/>
          <p:nvPr/>
        </p:nvSpPr>
        <p:spPr>
          <a:xfrm>
            <a:off x="3364992" y="2240280"/>
            <a:ext cx="2606040" cy="1417320"/>
          </a:xfrm>
          <a:prstGeom prst="roundRect">
            <a:avLst>
              <a:gd name="adj" fmla="val 5161"/>
            </a:avLst>
          </a:prstGeom>
          <a:solidFill>
            <a:schemeClr val="bg2"/>
          </a:solidFill>
          <a:ln w="6350">
            <a:solidFill>
              <a:schemeClr val="bg2"/>
            </a:solidFill>
            <a:prstDash val="solid"/>
          </a:ln>
        </p:spPr>
      </p:sp>
      <p:sp>
        <p:nvSpPr>
          <p:cNvPr id="10" name="txt-577"/>
          <p:cNvSpPr txBox="1"/>
          <p:nvPr/>
        </p:nvSpPr>
        <p:spPr>
          <a:xfrm>
            <a:off x="3547872" y="2377440"/>
            <a:ext cx="2286000" cy="320040"/>
          </a:xfrm>
          <a:prstGeom prst="rect">
            <a:avLst/>
          </a:prstGeom>
          <a:noFill/>
          <a:ln/>
        </p:spPr>
        <p:txBody>
          <a:bodyPr wrap="square" lIns="0" tIns="0" rIns="0" bIns="0" rtlCol="0" anchor="t"/>
          <a:lstStyle/>
          <a:p>
            <a:pPr marL="0" indent="0">
              <a:buNone/>
            </a:pPr>
            <a:r>
              <a:rPr lang="en-US" sz="1300" dirty="0">
                <a:solidFill>
                  <a:schemeClr val="accent5"/>
                </a:solidFill>
              </a:rPr>
              <a:t>Grok</a:t>
            </a:r>
            <a:endParaRPr lang="en-US" sz="1300" dirty="0"/>
          </a:p>
        </p:txBody>
      </p:sp>
      <p:sp>
        <p:nvSpPr>
          <p:cNvPr id="11" name="txt-578"/>
          <p:cNvSpPr txBox="1"/>
          <p:nvPr/>
        </p:nvSpPr>
        <p:spPr>
          <a:xfrm>
            <a:off x="3547872" y="2697480"/>
            <a:ext cx="2286000" cy="411480"/>
          </a:xfrm>
          <a:prstGeom prst="rect">
            <a:avLst/>
          </a:prstGeom>
          <a:noFill/>
          <a:ln/>
        </p:spPr>
        <p:txBody>
          <a:bodyPr wrap="square" lIns="0" tIns="0" rIns="0" bIns="0" rtlCol="0" anchor="t"/>
          <a:lstStyle/>
          <a:p>
            <a:pPr marL="0" indent="0">
              <a:buNone/>
            </a:pPr>
            <a:r>
              <a:rPr lang="en-US" sz="1700" b="1" dirty="0">
                <a:solidFill>
                  <a:schemeClr val="tx2"/>
                </a:solidFill>
              </a:rPr>
              <a:t>DeepSearch</a:t>
            </a:r>
            <a:endParaRPr lang="en-US" sz="1700" dirty="0"/>
          </a:p>
        </p:txBody>
      </p:sp>
      <p:sp>
        <p:nvSpPr>
          <p:cNvPr id="12" name="txt-579"/>
          <p:cNvSpPr txBox="1"/>
          <p:nvPr/>
        </p:nvSpPr>
        <p:spPr>
          <a:xfrm>
            <a:off x="3547872" y="3154680"/>
            <a:ext cx="2286000" cy="457200"/>
          </a:xfrm>
          <a:prstGeom prst="rect">
            <a:avLst/>
          </a:prstGeom>
          <a:noFill/>
          <a:ln/>
        </p:spPr>
        <p:txBody>
          <a:bodyPr wrap="square" lIns="0" tIns="0" rIns="0" bIns="0" rtlCol="0" anchor="t"/>
          <a:lstStyle/>
          <a:p>
            <a:pPr marL="0" indent="0">
              <a:buNone/>
            </a:pPr>
            <a:r>
              <a:rPr lang="en-US" sz="1200" dirty="0">
                <a:solidFill>
                  <a:schemeClr val="tx1"/>
                </a:solidFill>
              </a:rPr>
              <a:t>Surtout dans les offres payantes</a:t>
            </a:r>
            <a:endParaRPr lang="en-US" sz="1200" dirty="0"/>
          </a:p>
        </p:txBody>
      </p:sp>
      <p:sp>
        <p:nvSpPr>
          <p:cNvPr id="13" name="card-580"/>
          <p:cNvSpPr/>
          <p:nvPr/>
        </p:nvSpPr>
        <p:spPr>
          <a:xfrm>
            <a:off x="6181344" y="2240280"/>
            <a:ext cx="2606040" cy="1417320"/>
          </a:xfrm>
          <a:prstGeom prst="roundRect">
            <a:avLst>
              <a:gd name="adj" fmla="val 5161"/>
            </a:avLst>
          </a:prstGeom>
          <a:solidFill>
            <a:schemeClr val="bg2"/>
          </a:solidFill>
          <a:ln w="6350">
            <a:solidFill>
              <a:schemeClr val="bg2"/>
            </a:solidFill>
            <a:prstDash val="solid"/>
          </a:ln>
        </p:spPr>
      </p:sp>
      <p:sp>
        <p:nvSpPr>
          <p:cNvPr id="14" name="txt-581"/>
          <p:cNvSpPr txBox="1"/>
          <p:nvPr/>
        </p:nvSpPr>
        <p:spPr>
          <a:xfrm>
            <a:off x="6364224" y="2377440"/>
            <a:ext cx="2286000" cy="320040"/>
          </a:xfrm>
          <a:prstGeom prst="rect">
            <a:avLst/>
          </a:prstGeom>
          <a:noFill/>
          <a:ln/>
        </p:spPr>
        <p:txBody>
          <a:bodyPr wrap="square" lIns="0" tIns="0" rIns="0" bIns="0" rtlCol="0" anchor="t"/>
          <a:lstStyle/>
          <a:p>
            <a:pPr marL="0" indent="0">
              <a:buNone/>
            </a:pPr>
            <a:r>
              <a:rPr lang="en-US" sz="1300" dirty="0">
                <a:solidFill>
                  <a:schemeClr val="accent5"/>
                </a:solidFill>
              </a:rPr>
              <a:t>ChatGPT</a:t>
            </a:r>
            <a:endParaRPr lang="en-US" sz="1300" dirty="0"/>
          </a:p>
        </p:txBody>
      </p:sp>
      <p:sp>
        <p:nvSpPr>
          <p:cNvPr id="15" name="txt-582"/>
          <p:cNvSpPr txBox="1"/>
          <p:nvPr/>
        </p:nvSpPr>
        <p:spPr>
          <a:xfrm>
            <a:off x="6364224" y="2697480"/>
            <a:ext cx="2286000" cy="411480"/>
          </a:xfrm>
          <a:prstGeom prst="rect">
            <a:avLst/>
          </a:prstGeom>
          <a:noFill/>
          <a:ln/>
        </p:spPr>
        <p:txBody>
          <a:bodyPr wrap="square" lIns="0" tIns="0" rIns="0" bIns="0" rtlCol="0" anchor="t"/>
          <a:lstStyle/>
          <a:p>
            <a:pPr marL="0" indent="0">
              <a:buNone/>
            </a:pPr>
            <a:r>
              <a:rPr lang="en-US" sz="1700" b="1" dirty="0">
                <a:solidFill>
                  <a:schemeClr val="tx2"/>
                </a:solidFill>
              </a:rPr>
              <a:t>Deep research</a:t>
            </a:r>
            <a:endParaRPr lang="en-US" sz="1700" dirty="0"/>
          </a:p>
        </p:txBody>
      </p:sp>
      <p:sp>
        <p:nvSpPr>
          <p:cNvPr id="16" name="txt-583"/>
          <p:cNvSpPr txBox="1"/>
          <p:nvPr/>
        </p:nvSpPr>
        <p:spPr>
          <a:xfrm>
            <a:off x="6364224" y="3154680"/>
            <a:ext cx="2286000" cy="457200"/>
          </a:xfrm>
          <a:prstGeom prst="rect">
            <a:avLst/>
          </a:prstGeom>
          <a:noFill/>
          <a:ln/>
        </p:spPr>
        <p:txBody>
          <a:bodyPr wrap="square" lIns="0" tIns="0" rIns="0" bIns="0" rtlCol="0" anchor="t"/>
          <a:lstStyle/>
          <a:p>
            <a:pPr marL="0" indent="0">
              <a:buNone/>
            </a:pPr>
            <a:r>
              <a:rPr lang="en-US" sz="1200" dirty="0">
                <a:solidFill>
                  <a:schemeClr val="tx1"/>
                </a:solidFill>
              </a:rPr>
              <a:t>Quotas selon l'offre</a:t>
            </a:r>
            <a:endParaRPr lang="en-US" sz="1200" dirty="0"/>
          </a:p>
        </p:txBody>
      </p:sp>
      <p:sp>
        <p:nvSpPr>
          <p:cNvPr id="17" name="card-584"/>
          <p:cNvSpPr/>
          <p:nvPr/>
        </p:nvSpPr>
        <p:spPr>
          <a:xfrm>
            <a:off x="8997696" y="2240280"/>
            <a:ext cx="2606040" cy="1417320"/>
          </a:xfrm>
          <a:prstGeom prst="roundRect">
            <a:avLst>
              <a:gd name="adj" fmla="val 5161"/>
            </a:avLst>
          </a:prstGeom>
          <a:solidFill>
            <a:schemeClr val="bg2"/>
          </a:solidFill>
          <a:ln w="6350">
            <a:solidFill>
              <a:schemeClr val="bg2"/>
            </a:solidFill>
            <a:prstDash val="solid"/>
          </a:ln>
        </p:spPr>
      </p:sp>
      <p:sp>
        <p:nvSpPr>
          <p:cNvPr id="18" name="txt-585"/>
          <p:cNvSpPr txBox="1"/>
          <p:nvPr/>
        </p:nvSpPr>
        <p:spPr>
          <a:xfrm>
            <a:off x="9180576" y="2377440"/>
            <a:ext cx="2286000" cy="320040"/>
          </a:xfrm>
          <a:prstGeom prst="rect">
            <a:avLst/>
          </a:prstGeom>
          <a:noFill/>
          <a:ln/>
        </p:spPr>
        <p:txBody>
          <a:bodyPr wrap="square" lIns="0" tIns="0" rIns="0" bIns="0" rtlCol="0" anchor="t"/>
          <a:lstStyle/>
          <a:p>
            <a:pPr marL="0" indent="0">
              <a:buNone/>
            </a:pPr>
            <a:r>
              <a:rPr lang="en-US" sz="1300" dirty="0">
                <a:solidFill>
                  <a:schemeClr val="accent5"/>
                </a:solidFill>
              </a:rPr>
              <a:t>Claude</a:t>
            </a:r>
            <a:endParaRPr lang="en-US" sz="1300" dirty="0"/>
          </a:p>
        </p:txBody>
      </p:sp>
      <p:sp>
        <p:nvSpPr>
          <p:cNvPr id="19" name="txt-586"/>
          <p:cNvSpPr txBox="1"/>
          <p:nvPr/>
        </p:nvSpPr>
        <p:spPr>
          <a:xfrm>
            <a:off x="9180576" y="2697480"/>
            <a:ext cx="2286000" cy="411480"/>
          </a:xfrm>
          <a:prstGeom prst="rect">
            <a:avLst/>
          </a:prstGeom>
          <a:noFill/>
          <a:ln/>
        </p:spPr>
        <p:txBody>
          <a:bodyPr wrap="square" lIns="0" tIns="0" rIns="0" bIns="0" rtlCol="0" anchor="t"/>
          <a:lstStyle/>
          <a:p>
            <a:pPr marL="0" indent="0">
              <a:buNone/>
            </a:pPr>
            <a:r>
              <a:rPr lang="en-US" sz="1700" b="1" dirty="0">
                <a:solidFill>
                  <a:schemeClr val="tx2"/>
                </a:solidFill>
              </a:rPr>
              <a:t>Research</a:t>
            </a:r>
            <a:endParaRPr lang="en-US" sz="1700" dirty="0"/>
          </a:p>
        </p:txBody>
      </p:sp>
      <p:sp>
        <p:nvSpPr>
          <p:cNvPr id="20" name="txt-587"/>
          <p:cNvSpPr txBox="1"/>
          <p:nvPr/>
        </p:nvSpPr>
        <p:spPr>
          <a:xfrm>
            <a:off x="9180576" y="3154680"/>
            <a:ext cx="2286000" cy="457200"/>
          </a:xfrm>
          <a:prstGeom prst="rect">
            <a:avLst/>
          </a:prstGeom>
          <a:noFill/>
          <a:ln/>
        </p:spPr>
        <p:txBody>
          <a:bodyPr wrap="square" lIns="0" tIns="0" rIns="0" bIns="0" rtlCol="0" anchor="t"/>
          <a:lstStyle/>
          <a:p>
            <a:pPr marL="0" indent="0">
              <a:buNone/>
            </a:pPr>
            <a:r>
              <a:rPr lang="en-US" sz="1200" dirty="0">
                <a:solidFill>
                  <a:schemeClr val="tx1"/>
                </a:solidFill>
              </a:rPr>
              <a:t>Surtout dans les offres payantes</a:t>
            </a:r>
            <a:endParaRPr lang="en-US" sz="1200" dirty="0"/>
          </a:p>
        </p:txBody>
      </p:sp>
      <p:sp>
        <p:nvSpPr>
          <p:cNvPr id="21" name="card-588"/>
          <p:cNvSpPr/>
          <p:nvPr/>
        </p:nvSpPr>
        <p:spPr>
          <a:xfrm>
            <a:off x="548640" y="3931920"/>
            <a:ext cx="5394960" cy="2011680"/>
          </a:xfrm>
          <a:prstGeom prst="roundRect">
            <a:avLst>
              <a:gd name="adj" fmla="val 3636"/>
            </a:avLst>
          </a:prstGeom>
          <a:solidFill>
            <a:schemeClr val="bg1"/>
          </a:solidFill>
          <a:ln w="12700">
            <a:solidFill>
              <a:srgbClr val="1F7A5C"/>
            </a:solidFill>
            <a:prstDash val="solid"/>
          </a:ln>
        </p:spPr>
      </p:sp>
      <p:sp>
        <p:nvSpPr>
          <p:cNvPr id="22" name="txt-589"/>
          <p:cNvSpPr txBox="1"/>
          <p:nvPr/>
        </p:nvSpPr>
        <p:spPr>
          <a:xfrm>
            <a:off x="777240" y="4069080"/>
            <a:ext cx="4937760" cy="320040"/>
          </a:xfrm>
          <a:prstGeom prst="rect">
            <a:avLst/>
          </a:prstGeom>
          <a:noFill/>
          <a:ln/>
        </p:spPr>
        <p:txBody>
          <a:bodyPr wrap="square" lIns="0" tIns="0" rIns="0" bIns="0" rtlCol="0" anchor="t"/>
          <a:lstStyle/>
          <a:p>
            <a:pPr marL="0" indent="0">
              <a:buNone/>
            </a:pPr>
            <a:r>
              <a:rPr lang="en-US" sz="1500" b="1" dirty="0">
                <a:solidFill>
                  <a:schemeClr val="accent2"/>
                </a:solidFill>
              </a:rPr>
              <a:t>Bon pour</a:t>
            </a:r>
            <a:endParaRPr lang="en-US" sz="1500" dirty="0"/>
          </a:p>
        </p:txBody>
      </p:sp>
      <p:sp>
        <p:nvSpPr>
          <p:cNvPr id="23" name="txt-590"/>
          <p:cNvSpPr txBox="1"/>
          <p:nvPr/>
        </p:nvSpPr>
        <p:spPr>
          <a:xfrm>
            <a:off x="777240" y="4434840"/>
            <a:ext cx="4937760" cy="146304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1"/>
                </a:solidFill>
              </a:rPr>
              <a:t>Un premier tour d'horizon d'un sujet nouveau</a:t>
            </a:r>
            <a:endParaRPr lang="en-US" sz="1300" dirty="0"/>
          </a:p>
          <a:p>
            <a:pPr marL="177800" indent="-177800">
              <a:spcAft>
                <a:spcPts val="400"/>
              </a:spcAft>
              <a:buSzPct val="100000"/>
              <a:buChar char="•"/>
            </a:pPr>
            <a:r>
              <a:rPr lang="en-US" sz="1300" dirty="0">
                <a:solidFill>
                  <a:schemeClr val="tx1"/>
                </a:solidFill>
              </a:rPr>
              <a:t>Repérer des rapports, données officielles, littérature grise</a:t>
            </a:r>
            <a:endParaRPr lang="en-US" sz="1300" dirty="0"/>
          </a:p>
          <a:p>
            <a:pPr marL="177800" indent="-177800">
              <a:spcAft>
                <a:spcPts val="400"/>
              </a:spcAft>
              <a:buSzPct val="100000"/>
              <a:buChar char="•"/>
            </a:pPr>
            <a:r>
              <a:rPr lang="en-US" sz="1300" dirty="0">
                <a:solidFill>
                  <a:schemeClr val="tx1"/>
                </a:solidFill>
              </a:rPr>
              <a:t>Préparer une note de contexte</a:t>
            </a:r>
            <a:endParaRPr lang="en-US" sz="1300" dirty="0"/>
          </a:p>
        </p:txBody>
      </p:sp>
      <p:sp>
        <p:nvSpPr>
          <p:cNvPr id="24" name="card-591"/>
          <p:cNvSpPr/>
          <p:nvPr/>
        </p:nvSpPr>
        <p:spPr>
          <a:xfrm>
            <a:off x="6217920" y="3931920"/>
            <a:ext cx="5394960" cy="2011680"/>
          </a:xfrm>
          <a:prstGeom prst="roundRect">
            <a:avLst>
              <a:gd name="adj" fmla="val 3636"/>
            </a:avLst>
          </a:prstGeom>
          <a:solidFill>
            <a:schemeClr val="bg1"/>
          </a:solidFill>
          <a:ln w="12700">
            <a:solidFill>
              <a:srgbClr val="C8553D"/>
            </a:solidFill>
            <a:prstDash val="solid"/>
          </a:ln>
        </p:spPr>
      </p:sp>
      <p:sp>
        <p:nvSpPr>
          <p:cNvPr id="25" name="txt-592"/>
          <p:cNvSpPr txBox="1"/>
          <p:nvPr/>
        </p:nvSpPr>
        <p:spPr>
          <a:xfrm>
            <a:off x="6446520" y="4069080"/>
            <a:ext cx="4937760" cy="320040"/>
          </a:xfrm>
          <a:prstGeom prst="rect">
            <a:avLst/>
          </a:prstGeom>
          <a:noFill/>
          <a:ln/>
        </p:spPr>
        <p:txBody>
          <a:bodyPr wrap="square" lIns="0" tIns="0" rIns="0" bIns="0" rtlCol="0" anchor="t"/>
          <a:lstStyle/>
          <a:p>
            <a:pPr marL="0" indent="0">
              <a:buNone/>
            </a:pPr>
            <a:r>
              <a:rPr lang="en-US" sz="1500" b="1" dirty="0">
                <a:solidFill>
                  <a:schemeClr val="accent3"/>
                </a:solidFill>
              </a:rPr>
              <a:t>Attention</a:t>
            </a:r>
            <a:endParaRPr lang="en-US" sz="1500" dirty="0"/>
          </a:p>
        </p:txBody>
      </p:sp>
      <p:sp>
        <p:nvSpPr>
          <p:cNvPr id="26" name="txt-593"/>
          <p:cNvSpPr txBox="1"/>
          <p:nvPr/>
        </p:nvSpPr>
        <p:spPr>
          <a:xfrm>
            <a:off x="6446520" y="4434840"/>
            <a:ext cx="4937760" cy="146304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1"/>
                </a:solidFill>
              </a:rPr>
              <a:t>Le web n'est pas la littérature scientifique</a:t>
            </a:r>
            <a:endParaRPr lang="en-US" sz="1300" dirty="0"/>
          </a:p>
          <a:p>
            <a:pPr marL="177800" indent="-177800">
              <a:spcAft>
                <a:spcPts val="400"/>
              </a:spcAft>
              <a:buSzPct val="100000"/>
              <a:buChar char="•"/>
            </a:pPr>
            <a:r>
              <a:rPr lang="en-US" sz="1300" dirty="0">
                <a:solidFill>
                  <a:schemeClr val="tx1"/>
                </a:solidFill>
              </a:rPr>
              <a:t>Ouvrir chaque lien : la source dit-elle vraiment cela ?</a:t>
            </a:r>
            <a:endParaRPr lang="en-US" sz="1300" dirty="0"/>
          </a:p>
          <a:p>
            <a:pPr marL="177800" indent="-177800">
              <a:spcAft>
                <a:spcPts val="400"/>
              </a:spcAft>
              <a:buSzPct val="100000"/>
              <a:buChar char="•"/>
            </a:pPr>
            <a:r>
              <a:rPr lang="en-US" sz="1300" dirty="0">
                <a:solidFill>
                  <a:schemeClr val="tx1"/>
                </a:solidFill>
              </a:rPr>
              <a:t>Ne jamais citer le rapport lui-même dans un article</a:t>
            </a:r>
            <a:endParaRPr lang="en-US" sz="1300" dirty="0"/>
          </a:p>
        </p:txBody>
      </p:sp>
      <p:sp>
        <p:nvSpPr>
          <p:cNvPr id="27" name="Slide Number Placeholder 0"/>
          <p:cNvSpPr>
            <a:spLocks noGrp="1"/>
          </p:cNvSpPr>
          <p:nvPr>
            <p:ph type="sldNum" sz="quarter" idx="4294967295"/>
          </p:nvPr>
        </p:nvSpPr>
        <p:spPr>
          <a:xfrm>
            <a:off x="11064240" y="6400800"/>
            <a:ext cx="54864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C82"/>
                </a:solidFill>
                <a:latin typeface="Poppins"/>
                <a:ea typeface="Poppins"/>
                <a:cs typeface="Poppins"/>
              </a:defRPr>
            </a:lvl1pPr>
          </a:lstStyle>
          <a:p>
            <a:pPr algn="r"/>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566928"/>
            <a:ext cx="11064240" cy="777240"/>
          </a:xfrm>
          <a:prstGeom prst="rect">
            <a:avLst/>
          </a:prstGeom>
          <a:noFill/>
          <a:ln/>
        </p:spPr>
        <p:txBody>
          <a:bodyPr wrap="square" lIns="0" tIns="0" rIns="0" bIns="0" rtlCol="0" anchor="ctr"/>
          <a:lstStyle/>
          <a:p>
            <a:pPr marL="0" indent="0" algn="l">
              <a:buNone/>
            </a:pPr>
            <a:r>
              <a:rPr lang="en-US" sz="2700" b="1" dirty="0">
                <a:solidFill>
                  <a:schemeClr val="tx2"/>
                </a:solidFill>
                <a:latin typeface="Poppins" pitchFamily="34" charset="0"/>
                <a:ea typeface="Poppins" pitchFamily="34" charset="-122"/>
                <a:cs typeface="Poppins" pitchFamily="34" charset="-120"/>
              </a:rPr>
              <a:t>Vérifier une référence en 3 gestes</a:t>
            </a:r>
            <a:endParaRPr lang="en-US" sz="2700" dirty="0"/>
          </a:p>
        </p:txBody>
      </p:sp>
      <p:sp>
        <p:nvSpPr>
          <p:cNvPr id="3" name="Text 0"/>
          <p:cNvSpPr>
            <a:spLocks noGrp="1"/>
          </p:cNvSpPr>
          <p:nvPr>
            <p:ph type="body" idx="101" hasCustomPrompt="1"/>
          </p:nvPr>
        </p:nvSpPr>
        <p:spPr>
          <a:xfrm>
            <a:off x="548640" y="256032"/>
            <a:ext cx="8229600" cy="292608"/>
          </a:xfrm>
          <a:prstGeom prst="rect">
            <a:avLst/>
          </a:prstGeom>
          <a:noFill/>
          <a:ln/>
        </p:spPr>
        <p:txBody>
          <a:bodyPr wrap="square" lIns="0" tIns="0" rIns="0" bIns="0" rtlCol="0" anchor="ctr"/>
          <a:lstStyle/>
          <a:p>
            <a:pPr marL="0" indent="0">
              <a:buNone/>
            </a:pPr>
            <a:r>
              <a:rPr lang="en-US" sz="1100" b="1" dirty="0">
                <a:solidFill>
                  <a:schemeClr val="accent1"/>
                </a:solidFill>
                <a:latin typeface="Poppins" pitchFamily="34" charset="0"/>
                <a:ea typeface="Poppins" pitchFamily="34" charset="-122"/>
                <a:cs typeface="Poppins" pitchFamily="34" charset="-120"/>
              </a:rPr>
              <a:t>RECHERCHE ASSISTÉE PAR IA</a:t>
            </a:r>
            <a:endParaRPr lang="en-US" sz="1100" dirty="0"/>
          </a:p>
        </p:txBody>
      </p:sp>
      <p:sp>
        <p:nvSpPr>
          <p:cNvPr id="4" name="card-594"/>
          <p:cNvSpPr/>
          <p:nvPr/>
        </p:nvSpPr>
        <p:spPr>
          <a:xfrm>
            <a:off x="548640" y="1600200"/>
            <a:ext cx="3474720" cy="2926080"/>
          </a:xfrm>
          <a:prstGeom prst="roundRect">
            <a:avLst>
              <a:gd name="adj" fmla="val 2500"/>
            </a:avLst>
          </a:prstGeom>
          <a:solidFill>
            <a:schemeClr val="bg2"/>
          </a:solidFill>
          <a:ln w="6350">
            <a:solidFill>
              <a:schemeClr val="bg2"/>
            </a:solidFill>
            <a:prstDash val="solid"/>
          </a:ln>
        </p:spPr>
      </p:sp>
      <p:sp>
        <p:nvSpPr>
          <p:cNvPr id="5" name="num-595"/>
          <p:cNvSpPr/>
          <p:nvPr/>
        </p:nvSpPr>
        <p:spPr>
          <a:xfrm>
            <a:off x="822960" y="1828800"/>
            <a:ext cx="594360" cy="594360"/>
          </a:xfrm>
          <a:prstGeom prst="ellipse">
            <a:avLst/>
          </a:prstGeom>
          <a:solidFill>
            <a:schemeClr val="accent1"/>
          </a:solidFill>
          <a:ln w="12700">
            <a:solidFill>
              <a:schemeClr val="accent1"/>
            </a:solidFill>
            <a:prstDash val="solid"/>
          </a:ln>
        </p:spPr>
      </p:sp>
      <p:sp>
        <p:nvSpPr>
          <p:cNvPr id="6" name="txt-596"/>
          <p:cNvSpPr txBox="1"/>
          <p:nvPr/>
        </p:nvSpPr>
        <p:spPr>
          <a:xfrm>
            <a:off x="822960" y="1828800"/>
            <a:ext cx="594360" cy="594360"/>
          </a:xfrm>
          <a:prstGeom prst="rect">
            <a:avLst/>
          </a:prstGeom>
          <a:noFill/>
          <a:ln/>
        </p:spPr>
        <p:txBody>
          <a:bodyPr wrap="square" lIns="0" tIns="0" rIns="0" bIns="0" rtlCol="0" anchor="ctr"/>
          <a:lstStyle/>
          <a:p>
            <a:pPr marL="0" indent="0" algn="ctr">
              <a:buNone/>
            </a:pPr>
            <a:r>
              <a:rPr lang="en-US" sz="2000" b="1" dirty="0">
                <a:solidFill>
                  <a:schemeClr val="tx2"/>
                </a:solidFill>
              </a:rPr>
              <a:t>1</a:t>
            </a:r>
            <a:endParaRPr lang="en-US" sz="2000" dirty="0"/>
          </a:p>
        </p:txBody>
      </p:sp>
      <p:sp>
        <p:nvSpPr>
          <p:cNvPr id="7" name="circle-597"/>
          <p:cNvSpPr/>
          <p:nvPr/>
        </p:nvSpPr>
        <p:spPr>
          <a:xfrm>
            <a:off x="3154680" y="1828800"/>
            <a:ext cx="594360" cy="594360"/>
          </a:xfrm>
          <a:prstGeom prst="ellipse">
            <a:avLst/>
          </a:prstGeom>
          <a:solidFill>
            <a:schemeClr val="accent6"/>
          </a:solidFill>
          <a:ln w="12700">
            <a:solidFill>
              <a:schemeClr val="accent6"/>
            </a:solidFill>
            <a:prstDash val="solid"/>
          </a:ln>
        </p:spPr>
      </p:sp>
      <p:pic>
        <p:nvPicPr>
          <p:cNvPr id="8" name="icon-598" descr="preencoded.png"/>
          <p:cNvPicPr>
            <a:picLocks noChangeAspect="1"/>
          </p:cNvPicPr>
          <p:nvPr/>
        </p:nvPicPr>
        <p:blipFill>
          <a:blip r:embed="rId3"/>
          <a:stretch>
            <a:fillRect/>
          </a:stretch>
        </p:blipFill>
        <p:spPr>
          <a:xfrm>
            <a:off x="3303270" y="1977390"/>
            <a:ext cx="297180" cy="297180"/>
          </a:xfrm>
          <a:prstGeom prst="rect">
            <a:avLst/>
          </a:prstGeom>
        </p:spPr>
      </p:pic>
      <p:sp>
        <p:nvSpPr>
          <p:cNvPr id="9" name="txt-599"/>
          <p:cNvSpPr txBox="1"/>
          <p:nvPr/>
        </p:nvSpPr>
        <p:spPr>
          <a:xfrm>
            <a:off x="822960" y="2651760"/>
            <a:ext cx="2971800" cy="457200"/>
          </a:xfrm>
          <a:prstGeom prst="rect">
            <a:avLst/>
          </a:prstGeom>
          <a:noFill/>
          <a:ln/>
        </p:spPr>
        <p:txBody>
          <a:bodyPr wrap="square" lIns="0" tIns="0" rIns="0" bIns="0" rtlCol="0" anchor="t"/>
          <a:lstStyle/>
          <a:p>
            <a:pPr marL="0" indent="0">
              <a:buNone/>
            </a:pPr>
            <a:r>
              <a:rPr lang="en-US" sz="1700" b="1" dirty="0">
                <a:solidFill>
                  <a:schemeClr val="tx2"/>
                </a:solidFill>
              </a:rPr>
              <a:t>Copier le titre exact</a:t>
            </a:r>
            <a:endParaRPr lang="en-US" sz="1700" dirty="0"/>
          </a:p>
        </p:txBody>
      </p:sp>
      <p:sp>
        <p:nvSpPr>
          <p:cNvPr id="10" name="txt-600"/>
          <p:cNvSpPr txBox="1"/>
          <p:nvPr/>
        </p:nvSpPr>
        <p:spPr>
          <a:xfrm>
            <a:off x="822960" y="3154680"/>
            <a:ext cx="2971800" cy="1280160"/>
          </a:xfrm>
          <a:prstGeom prst="rect">
            <a:avLst/>
          </a:prstGeom>
          <a:noFill/>
          <a:ln/>
        </p:spPr>
        <p:txBody>
          <a:bodyPr wrap="square" lIns="0" tIns="0" rIns="0" bIns="0" rtlCol="0" anchor="t"/>
          <a:lstStyle/>
          <a:p>
            <a:pPr marL="0" indent="0">
              <a:buNone/>
            </a:pPr>
            <a:r>
              <a:rPr lang="en-US" sz="1400" dirty="0">
                <a:solidFill>
                  <a:schemeClr val="tx1"/>
                </a:solidFill>
              </a:rPr>
              <a:t>Dans Google Scholar ou Semantic Scholar, entre guillemets.</a:t>
            </a:r>
            <a:endParaRPr lang="en-US" sz="1400" dirty="0"/>
          </a:p>
        </p:txBody>
      </p:sp>
      <p:sp>
        <p:nvSpPr>
          <p:cNvPr id="11" name="card-601"/>
          <p:cNvSpPr/>
          <p:nvPr/>
        </p:nvSpPr>
        <p:spPr>
          <a:xfrm>
            <a:off x="4297680" y="1600200"/>
            <a:ext cx="3474720" cy="2926080"/>
          </a:xfrm>
          <a:prstGeom prst="roundRect">
            <a:avLst>
              <a:gd name="adj" fmla="val 2500"/>
            </a:avLst>
          </a:prstGeom>
          <a:solidFill>
            <a:schemeClr val="bg2"/>
          </a:solidFill>
          <a:ln w="6350">
            <a:solidFill>
              <a:schemeClr val="bg2"/>
            </a:solidFill>
            <a:prstDash val="solid"/>
          </a:ln>
        </p:spPr>
      </p:sp>
      <p:sp>
        <p:nvSpPr>
          <p:cNvPr id="12" name="num-602"/>
          <p:cNvSpPr/>
          <p:nvPr/>
        </p:nvSpPr>
        <p:spPr>
          <a:xfrm>
            <a:off x="4572000" y="1828800"/>
            <a:ext cx="594360" cy="594360"/>
          </a:xfrm>
          <a:prstGeom prst="ellipse">
            <a:avLst/>
          </a:prstGeom>
          <a:solidFill>
            <a:schemeClr val="accent1"/>
          </a:solidFill>
          <a:ln w="12700">
            <a:solidFill>
              <a:schemeClr val="accent1"/>
            </a:solidFill>
            <a:prstDash val="solid"/>
          </a:ln>
        </p:spPr>
      </p:sp>
      <p:sp>
        <p:nvSpPr>
          <p:cNvPr id="13" name="txt-603"/>
          <p:cNvSpPr txBox="1"/>
          <p:nvPr/>
        </p:nvSpPr>
        <p:spPr>
          <a:xfrm>
            <a:off x="4572000" y="1828800"/>
            <a:ext cx="594360" cy="594360"/>
          </a:xfrm>
          <a:prstGeom prst="rect">
            <a:avLst/>
          </a:prstGeom>
          <a:noFill/>
          <a:ln/>
        </p:spPr>
        <p:txBody>
          <a:bodyPr wrap="square" lIns="0" tIns="0" rIns="0" bIns="0" rtlCol="0" anchor="ctr"/>
          <a:lstStyle/>
          <a:p>
            <a:pPr marL="0" indent="0" algn="ctr">
              <a:buNone/>
            </a:pPr>
            <a:r>
              <a:rPr lang="en-US" sz="2000" b="1" dirty="0">
                <a:solidFill>
                  <a:schemeClr val="tx2"/>
                </a:solidFill>
              </a:rPr>
              <a:t>2</a:t>
            </a:r>
            <a:endParaRPr lang="en-US" sz="2000" dirty="0"/>
          </a:p>
        </p:txBody>
      </p:sp>
      <p:sp>
        <p:nvSpPr>
          <p:cNvPr id="14" name="circle-604"/>
          <p:cNvSpPr/>
          <p:nvPr/>
        </p:nvSpPr>
        <p:spPr>
          <a:xfrm>
            <a:off x="6903720" y="1828800"/>
            <a:ext cx="594360" cy="594360"/>
          </a:xfrm>
          <a:prstGeom prst="ellipse">
            <a:avLst/>
          </a:prstGeom>
          <a:solidFill>
            <a:schemeClr val="accent6"/>
          </a:solidFill>
          <a:ln w="12700">
            <a:solidFill>
              <a:schemeClr val="accent6"/>
            </a:solidFill>
            <a:prstDash val="solid"/>
          </a:ln>
        </p:spPr>
      </p:sp>
      <p:pic>
        <p:nvPicPr>
          <p:cNvPr id="15" name="icon-605" descr="preencoded.png"/>
          <p:cNvPicPr>
            <a:picLocks noChangeAspect="1"/>
          </p:cNvPicPr>
          <p:nvPr/>
        </p:nvPicPr>
        <p:blipFill>
          <a:blip r:embed="rId4"/>
          <a:stretch>
            <a:fillRect/>
          </a:stretch>
        </p:blipFill>
        <p:spPr>
          <a:xfrm>
            <a:off x="7052310" y="1977390"/>
            <a:ext cx="297180" cy="297180"/>
          </a:xfrm>
          <a:prstGeom prst="rect">
            <a:avLst/>
          </a:prstGeom>
        </p:spPr>
      </p:pic>
      <p:sp>
        <p:nvSpPr>
          <p:cNvPr id="16" name="txt-606"/>
          <p:cNvSpPr txBox="1"/>
          <p:nvPr/>
        </p:nvSpPr>
        <p:spPr>
          <a:xfrm>
            <a:off x="4572000" y="2651760"/>
            <a:ext cx="2971800" cy="457200"/>
          </a:xfrm>
          <a:prstGeom prst="rect">
            <a:avLst/>
          </a:prstGeom>
          <a:noFill/>
          <a:ln/>
        </p:spPr>
        <p:txBody>
          <a:bodyPr wrap="square" lIns="0" tIns="0" rIns="0" bIns="0" rtlCol="0" anchor="t"/>
          <a:lstStyle/>
          <a:p>
            <a:pPr marL="0" indent="0">
              <a:buNone/>
            </a:pPr>
            <a:r>
              <a:rPr lang="en-US" sz="1700" b="1" dirty="0">
                <a:solidFill>
                  <a:schemeClr val="tx2"/>
                </a:solidFill>
              </a:rPr>
              <a:t>Comparer la fiche</a:t>
            </a:r>
            <a:endParaRPr lang="en-US" sz="1700" dirty="0"/>
          </a:p>
        </p:txBody>
      </p:sp>
      <p:sp>
        <p:nvSpPr>
          <p:cNvPr id="17" name="txt-607"/>
          <p:cNvSpPr txBox="1"/>
          <p:nvPr/>
        </p:nvSpPr>
        <p:spPr>
          <a:xfrm>
            <a:off x="4572000" y="3154680"/>
            <a:ext cx="2971800" cy="1280160"/>
          </a:xfrm>
          <a:prstGeom prst="rect">
            <a:avLst/>
          </a:prstGeom>
          <a:noFill/>
          <a:ln/>
        </p:spPr>
        <p:txBody>
          <a:bodyPr wrap="square" lIns="0" tIns="0" rIns="0" bIns="0" rtlCol="0" anchor="t"/>
          <a:lstStyle/>
          <a:p>
            <a:pPr marL="0" indent="0">
              <a:buNone/>
            </a:pPr>
            <a:r>
              <a:rPr lang="en-US" sz="1400" dirty="0">
                <a:solidFill>
                  <a:schemeClr val="tx1"/>
                </a:solidFill>
              </a:rPr>
              <a:t>Auteurs, année, revue, volume, pages : tout doit correspondre.</a:t>
            </a:r>
            <a:endParaRPr lang="en-US" sz="1400" dirty="0"/>
          </a:p>
        </p:txBody>
      </p:sp>
      <p:sp>
        <p:nvSpPr>
          <p:cNvPr id="18" name="card-608"/>
          <p:cNvSpPr/>
          <p:nvPr/>
        </p:nvSpPr>
        <p:spPr>
          <a:xfrm>
            <a:off x="8046720" y="1600200"/>
            <a:ext cx="3474720" cy="2926080"/>
          </a:xfrm>
          <a:prstGeom prst="roundRect">
            <a:avLst>
              <a:gd name="adj" fmla="val 2500"/>
            </a:avLst>
          </a:prstGeom>
          <a:solidFill>
            <a:schemeClr val="bg2"/>
          </a:solidFill>
          <a:ln w="6350">
            <a:solidFill>
              <a:schemeClr val="bg2"/>
            </a:solidFill>
            <a:prstDash val="solid"/>
          </a:ln>
        </p:spPr>
      </p:sp>
      <p:sp>
        <p:nvSpPr>
          <p:cNvPr id="19" name="num-609"/>
          <p:cNvSpPr/>
          <p:nvPr/>
        </p:nvSpPr>
        <p:spPr>
          <a:xfrm>
            <a:off x="8321040" y="1828800"/>
            <a:ext cx="594360" cy="594360"/>
          </a:xfrm>
          <a:prstGeom prst="ellipse">
            <a:avLst/>
          </a:prstGeom>
          <a:solidFill>
            <a:schemeClr val="accent1"/>
          </a:solidFill>
          <a:ln w="12700">
            <a:solidFill>
              <a:schemeClr val="accent1"/>
            </a:solidFill>
            <a:prstDash val="solid"/>
          </a:ln>
        </p:spPr>
      </p:sp>
      <p:sp>
        <p:nvSpPr>
          <p:cNvPr id="20" name="txt-610"/>
          <p:cNvSpPr txBox="1"/>
          <p:nvPr/>
        </p:nvSpPr>
        <p:spPr>
          <a:xfrm>
            <a:off x="8321040" y="1828800"/>
            <a:ext cx="594360" cy="594360"/>
          </a:xfrm>
          <a:prstGeom prst="rect">
            <a:avLst/>
          </a:prstGeom>
          <a:noFill/>
          <a:ln/>
        </p:spPr>
        <p:txBody>
          <a:bodyPr wrap="square" lIns="0" tIns="0" rIns="0" bIns="0" rtlCol="0" anchor="ctr"/>
          <a:lstStyle/>
          <a:p>
            <a:pPr marL="0" indent="0" algn="ctr">
              <a:buNone/>
            </a:pPr>
            <a:r>
              <a:rPr lang="en-US" sz="2000" b="1" dirty="0">
                <a:solidFill>
                  <a:schemeClr val="tx2"/>
                </a:solidFill>
              </a:rPr>
              <a:t>3</a:t>
            </a:r>
            <a:endParaRPr lang="en-US" sz="2000" dirty="0"/>
          </a:p>
        </p:txBody>
      </p:sp>
      <p:sp>
        <p:nvSpPr>
          <p:cNvPr id="21" name="circle-611"/>
          <p:cNvSpPr/>
          <p:nvPr/>
        </p:nvSpPr>
        <p:spPr>
          <a:xfrm>
            <a:off x="10652760" y="1828800"/>
            <a:ext cx="594360" cy="594360"/>
          </a:xfrm>
          <a:prstGeom prst="ellipse">
            <a:avLst/>
          </a:prstGeom>
          <a:solidFill>
            <a:schemeClr val="accent6"/>
          </a:solidFill>
          <a:ln w="12700">
            <a:solidFill>
              <a:schemeClr val="accent6"/>
            </a:solidFill>
            <a:prstDash val="solid"/>
          </a:ln>
        </p:spPr>
      </p:sp>
      <p:pic>
        <p:nvPicPr>
          <p:cNvPr id="22" name="icon-612" descr="preencoded.png"/>
          <p:cNvPicPr>
            <a:picLocks noChangeAspect="1"/>
          </p:cNvPicPr>
          <p:nvPr/>
        </p:nvPicPr>
        <p:blipFill>
          <a:blip r:embed="rId5"/>
          <a:stretch>
            <a:fillRect/>
          </a:stretch>
        </p:blipFill>
        <p:spPr>
          <a:xfrm>
            <a:off x="10801350" y="1977390"/>
            <a:ext cx="297180" cy="297180"/>
          </a:xfrm>
          <a:prstGeom prst="rect">
            <a:avLst/>
          </a:prstGeom>
        </p:spPr>
      </p:pic>
      <p:sp>
        <p:nvSpPr>
          <p:cNvPr id="23" name="txt-613"/>
          <p:cNvSpPr txBox="1"/>
          <p:nvPr/>
        </p:nvSpPr>
        <p:spPr>
          <a:xfrm>
            <a:off x="8321040" y="2651760"/>
            <a:ext cx="2971800" cy="457200"/>
          </a:xfrm>
          <a:prstGeom prst="rect">
            <a:avLst/>
          </a:prstGeom>
          <a:noFill/>
          <a:ln/>
        </p:spPr>
        <p:txBody>
          <a:bodyPr wrap="square" lIns="0" tIns="0" rIns="0" bIns="0" rtlCol="0" anchor="t"/>
          <a:lstStyle/>
          <a:p>
            <a:pPr marL="0" indent="0">
              <a:buNone/>
            </a:pPr>
            <a:r>
              <a:rPr lang="en-US" sz="1700" b="1" dirty="0">
                <a:solidFill>
                  <a:schemeClr val="tx2"/>
                </a:solidFill>
              </a:rPr>
              <a:t>Ouvrir le DOI</a:t>
            </a:r>
            <a:endParaRPr lang="en-US" sz="1700" dirty="0"/>
          </a:p>
        </p:txBody>
      </p:sp>
      <p:sp>
        <p:nvSpPr>
          <p:cNvPr id="24" name="txt-614"/>
          <p:cNvSpPr txBox="1"/>
          <p:nvPr/>
        </p:nvSpPr>
        <p:spPr>
          <a:xfrm>
            <a:off x="8321040" y="3154680"/>
            <a:ext cx="2971800" cy="1280160"/>
          </a:xfrm>
          <a:prstGeom prst="rect">
            <a:avLst/>
          </a:prstGeom>
          <a:noFill/>
          <a:ln/>
        </p:spPr>
        <p:txBody>
          <a:bodyPr wrap="square" lIns="0" tIns="0" rIns="0" bIns="0" rtlCol="0" anchor="t"/>
          <a:lstStyle/>
          <a:p>
            <a:pPr marL="0" indent="0">
              <a:buNone/>
            </a:pPr>
            <a:r>
              <a:rPr lang="en-US" sz="1400" dirty="0">
                <a:solidFill>
                  <a:schemeClr val="tx1"/>
                </a:solidFill>
              </a:rPr>
              <a:t>doi.org/… doit mener au bon article, sur le site de l'éditeur.</a:t>
            </a:r>
            <a:endParaRPr lang="en-US" sz="1400" dirty="0"/>
          </a:p>
        </p:txBody>
      </p:sp>
      <p:sp>
        <p:nvSpPr>
          <p:cNvPr id="25" name="card-615"/>
          <p:cNvSpPr/>
          <p:nvPr/>
        </p:nvSpPr>
        <p:spPr>
          <a:xfrm>
            <a:off x="548640" y="4800600"/>
            <a:ext cx="11064240" cy="1097280"/>
          </a:xfrm>
          <a:prstGeom prst="roundRect">
            <a:avLst>
              <a:gd name="adj" fmla="val 6667"/>
            </a:avLst>
          </a:prstGeom>
          <a:solidFill>
            <a:schemeClr val="tx2"/>
          </a:solidFill>
          <a:ln w="6350">
            <a:solidFill>
              <a:schemeClr val="tx2"/>
            </a:solidFill>
            <a:prstDash val="solid"/>
          </a:ln>
        </p:spPr>
      </p:sp>
      <p:sp>
        <p:nvSpPr>
          <p:cNvPr id="26" name="txt-616"/>
          <p:cNvSpPr txBox="1"/>
          <p:nvPr/>
        </p:nvSpPr>
        <p:spPr>
          <a:xfrm>
            <a:off x="822960" y="4800600"/>
            <a:ext cx="10515600" cy="1097280"/>
          </a:xfrm>
          <a:prstGeom prst="rect">
            <a:avLst/>
          </a:prstGeom>
          <a:noFill/>
          <a:ln/>
        </p:spPr>
        <p:txBody>
          <a:bodyPr wrap="square" lIns="0" tIns="0" rIns="0" bIns="0" rtlCol="0" anchor="ctr"/>
          <a:lstStyle/>
          <a:p>
            <a:pPr marL="0" indent="0">
              <a:buNone/>
            </a:pPr>
            <a:r>
              <a:rPr lang="en-US" sz="1600" b="1" dirty="0">
                <a:solidFill>
                  <a:schemeClr val="accent1"/>
                </a:solidFill>
              </a:rPr>
              <a:t>Résultat introuvable ? </a:t>
            </a:r>
            <a:r>
              <a:rPr lang="en-US" sz="1600" dirty="0">
                <a:solidFill>
                  <a:schemeClr val="bg1"/>
                </a:solidFill>
              </a:rPr>
              <a:t>La référence est inventée ou déformée. On la retire, on ne la « corrige » pas au hasard.</a:t>
            </a:r>
            <a:endParaRPr lang="en-US" sz="1600" dirty="0"/>
          </a:p>
        </p:txBody>
      </p:sp>
      <p:sp>
        <p:nvSpPr>
          <p:cNvPr id="27" name="Slide Number Placeholder 0"/>
          <p:cNvSpPr>
            <a:spLocks noGrp="1"/>
          </p:cNvSpPr>
          <p:nvPr>
            <p:ph type="sldNum" sz="quarter" idx="4294967295"/>
          </p:nvPr>
        </p:nvSpPr>
        <p:spPr>
          <a:xfrm>
            <a:off x="11064240" y="6400800"/>
            <a:ext cx="54864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C82"/>
                </a:solidFill>
                <a:latin typeface="Poppins"/>
                <a:ea typeface="Poppins"/>
                <a:cs typeface="Poppins"/>
              </a:defRPr>
            </a:lvl1pPr>
          </a:lstStyle>
          <a:p>
            <a:pPr algn="r"/>
            <a:fld id="{F7021451-1387-4CA6-816F-3879F97B5CBC}" type="slidenum">
              <a:rPr lang="en-US" b="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566928"/>
            <a:ext cx="11064240" cy="777240"/>
          </a:xfrm>
          <a:prstGeom prst="rect">
            <a:avLst/>
          </a:prstGeom>
          <a:noFill/>
          <a:ln/>
        </p:spPr>
        <p:txBody>
          <a:bodyPr wrap="square" lIns="0" tIns="0" rIns="0" bIns="0" rtlCol="0" anchor="ctr"/>
          <a:lstStyle/>
          <a:p>
            <a:pPr marL="0" indent="0" algn="l">
              <a:buNone/>
            </a:pPr>
            <a:r>
              <a:rPr lang="en-US" sz="2700" b="1" dirty="0">
                <a:solidFill>
                  <a:schemeClr val="tx2"/>
                </a:solidFill>
                <a:latin typeface="Poppins" pitchFamily="34" charset="0"/>
                <a:ea typeface="Poppins" pitchFamily="34" charset="-122"/>
                <a:cs typeface="Poppins" pitchFamily="34" charset="-120"/>
              </a:rPr>
              <a:t>Trouver un sujet de recherche en 5 étapes, avec l'IA</a:t>
            </a:r>
            <a:endParaRPr lang="en-US" sz="2700" dirty="0"/>
          </a:p>
        </p:txBody>
      </p:sp>
      <p:sp>
        <p:nvSpPr>
          <p:cNvPr id="3" name="Text 0"/>
          <p:cNvSpPr>
            <a:spLocks noGrp="1"/>
          </p:cNvSpPr>
          <p:nvPr>
            <p:ph type="body" idx="101" hasCustomPrompt="1"/>
          </p:nvPr>
        </p:nvSpPr>
        <p:spPr>
          <a:xfrm>
            <a:off x="548640" y="256032"/>
            <a:ext cx="8229600" cy="292608"/>
          </a:xfrm>
          <a:prstGeom prst="rect">
            <a:avLst/>
          </a:prstGeom>
          <a:noFill/>
          <a:ln/>
        </p:spPr>
        <p:txBody>
          <a:bodyPr wrap="square" lIns="0" tIns="0" rIns="0" bIns="0" rtlCol="0" anchor="ctr"/>
          <a:lstStyle/>
          <a:p>
            <a:pPr marL="0" indent="0">
              <a:buNone/>
            </a:pPr>
            <a:r>
              <a:rPr lang="en-US" sz="1100" b="1" dirty="0">
                <a:solidFill>
                  <a:schemeClr val="accent1"/>
                </a:solidFill>
                <a:latin typeface="Poppins" pitchFamily="34" charset="0"/>
                <a:ea typeface="Poppins" pitchFamily="34" charset="-122"/>
                <a:cs typeface="Poppins" pitchFamily="34" charset="-120"/>
              </a:rPr>
              <a:t>R · TROUVER UN SUJET DE RECHERCHE</a:t>
            </a:r>
            <a:endParaRPr lang="en-US" sz="1100" dirty="0"/>
          </a:p>
        </p:txBody>
      </p:sp>
      <p:sp>
        <p:nvSpPr>
          <p:cNvPr id="4" name="card-617"/>
          <p:cNvSpPr/>
          <p:nvPr/>
        </p:nvSpPr>
        <p:spPr>
          <a:xfrm>
            <a:off x="548640" y="1554480"/>
            <a:ext cx="2103120" cy="3291840"/>
          </a:xfrm>
          <a:prstGeom prst="roundRect">
            <a:avLst>
              <a:gd name="adj" fmla="val 3478"/>
            </a:avLst>
          </a:prstGeom>
          <a:solidFill>
            <a:schemeClr val="bg2"/>
          </a:solidFill>
          <a:ln w="6350">
            <a:solidFill>
              <a:schemeClr val="bg2"/>
            </a:solidFill>
            <a:prstDash val="solid"/>
          </a:ln>
        </p:spPr>
      </p:sp>
      <p:sp>
        <p:nvSpPr>
          <p:cNvPr id="5" name="num-618"/>
          <p:cNvSpPr/>
          <p:nvPr/>
        </p:nvSpPr>
        <p:spPr>
          <a:xfrm>
            <a:off x="731520" y="1719072"/>
            <a:ext cx="457200" cy="457200"/>
          </a:xfrm>
          <a:prstGeom prst="ellipse">
            <a:avLst/>
          </a:prstGeom>
          <a:solidFill>
            <a:schemeClr val="tx2"/>
          </a:solidFill>
          <a:ln w="12700">
            <a:solidFill>
              <a:schemeClr val="tx2"/>
            </a:solidFill>
            <a:prstDash val="solid"/>
          </a:ln>
        </p:spPr>
      </p:sp>
      <p:sp>
        <p:nvSpPr>
          <p:cNvPr id="6" name="txt-619"/>
          <p:cNvSpPr txBox="1"/>
          <p:nvPr/>
        </p:nvSpPr>
        <p:spPr>
          <a:xfrm>
            <a:off x="731520" y="1719072"/>
            <a:ext cx="457200" cy="457200"/>
          </a:xfrm>
          <a:prstGeom prst="rect">
            <a:avLst/>
          </a:prstGeom>
          <a:noFill/>
          <a:ln/>
        </p:spPr>
        <p:txBody>
          <a:bodyPr wrap="square" lIns="0" tIns="0" rIns="0" bIns="0" rtlCol="0" anchor="ctr"/>
          <a:lstStyle/>
          <a:p>
            <a:pPr marL="0" indent="0" algn="ctr">
              <a:buNone/>
            </a:pPr>
            <a:r>
              <a:rPr lang="en-US" sz="1500" b="1" dirty="0">
                <a:solidFill>
                  <a:schemeClr val="bg1"/>
                </a:solidFill>
              </a:rPr>
              <a:t>1</a:t>
            </a:r>
            <a:endParaRPr lang="en-US" sz="1500" dirty="0"/>
          </a:p>
        </p:txBody>
      </p:sp>
      <p:sp>
        <p:nvSpPr>
          <p:cNvPr id="7" name="circle-620"/>
          <p:cNvSpPr/>
          <p:nvPr/>
        </p:nvSpPr>
        <p:spPr>
          <a:xfrm>
            <a:off x="1965960" y="1719072"/>
            <a:ext cx="502920" cy="502920"/>
          </a:xfrm>
          <a:prstGeom prst="ellipse">
            <a:avLst/>
          </a:prstGeom>
          <a:solidFill>
            <a:schemeClr val="accent4"/>
          </a:solidFill>
          <a:ln w="12700">
            <a:solidFill>
              <a:schemeClr val="accent4"/>
            </a:solidFill>
            <a:prstDash val="solid"/>
          </a:ln>
        </p:spPr>
      </p:sp>
      <p:pic>
        <p:nvPicPr>
          <p:cNvPr id="8" name="icon-621" descr="preencoded.png"/>
          <p:cNvPicPr>
            <a:picLocks noChangeAspect="1"/>
          </p:cNvPicPr>
          <p:nvPr/>
        </p:nvPicPr>
        <p:blipFill>
          <a:blip r:embed="rId3"/>
          <a:stretch>
            <a:fillRect/>
          </a:stretch>
        </p:blipFill>
        <p:spPr>
          <a:xfrm>
            <a:off x="2091690" y="1844802"/>
            <a:ext cx="251460" cy="251460"/>
          </a:xfrm>
          <a:prstGeom prst="rect">
            <a:avLst/>
          </a:prstGeom>
        </p:spPr>
      </p:pic>
      <p:sp>
        <p:nvSpPr>
          <p:cNvPr id="9" name="txt-622"/>
          <p:cNvSpPr txBox="1"/>
          <p:nvPr/>
        </p:nvSpPr>
        <p:spPr>
          <a:xfrm>
            <a:off x="731520" y="2331720"/>
            <a:ext cx="1783080" cy="594360"/>
          </a:xfrm>
          <a:prstGeom prst="rect">
            <a:avLst/>
          </a:prstGeom>
          <a:noFill/>
          <a:ln/>
        </p:spPr>
        <p:txBody>
          <a:bodyPr wrap="square" lIns="0" tIns="0" rIns="0" bIns="0" rtlCol="0" anchor="t"/>
          <a:lstStyle/>
          <a:p>
            <a:pPr marL="0" indent="0">
              <a:buNone/>
            </a:pPr>
            <a:r>
              <a:rPr lang="en-US" sz="1500" b="1" dirty="0">
                <a:solidFill>
                  <a:schemeClr val="tx2"/>
                </a:solidFill>
              </a:rPr>
              <a:t>Partir d'un domaine</a:t>
            </a:r>
            <a:endParaRPr lang="en-US" sz="1500" dirty="0"/>
          </a:p>
        </p:txBody>
      </p:sp>
      <p:sp>
        <p:nvSpPr>
          <p:cNvPr id="10" name="txt-623"/>
          <p:cNvSpPr txBox="1"/>
          <p:nvPr/>
        </p:nvSpPr>
        <p:spPr>
          <a:xfrm>
            <a:off x="731520" y="2926080"/>
            <a:ext cx="1783080" cy="914400"/>
          </a:xfrm>
          <a:prstGeom prst="rect">
            <a:avLst/>
          </a:prstGeom>
          <a:noFill/>
          <a:ln/>
        </p:spPr>
        <p:txBody>
          <a:bodyPr wrap="square" lIns="0" tIns="0" rIns="0" bIns="0" rtlCol="0" anchor="t"/>
          <a:lstStyle/>
          <a:p>
            <a:pPr marL="0" indent="0">
              <a:buNone/>
            </a:pPr>
            <a:r>
              <a:rPr lang="en-US" sz="1200" dirty="0">
                <a:solidFill>
                  <a:schemeClr val="tx1"/>
                </a:solidFill>
              </a:rPr>
              <a:t>Ce qui vous intéresse, votre terrain, un problème observé</a:t>
            </a:r>
            <a:endParaRPr lang="en-US" sz="1200" dirty="0"/>
          </a:p>
        </p:txBody>
      </p:sp>
      <p:sp>
        <p:nvSpPr>
          <p:cNvPr id="11" name="txt-624"/>
          <p:cNvSpPr txBox="1"/>
          <p:nvPr/>
        </p:nvSpPr>
        <p:spPr>
          <a:xfrm>
            <a:off x="731520" y="3886200"/>
            <a:ext cx="1783080" cy="868680"/>
          </a:xfrm>
          <a:prstGeom prst="rect">
            <a:avLst/>
          </a:prstGeom>
          <a:noFill/>
          <a:ln/>
        </p:spPr>
        <p:txBody>
          <a:bodyPr wrap="square" lIns="0" tIns="0" rIns="0" bIns="0" rtlCol="0" anchor="t"/>
          <a:lstStyle/>
          <a:p>
            <a:pPr marL="0" indent="0">
              <a:buNone/>
            </a:pPr>
            <a:r>
              <a:rPr lang="en-US" sz="1100" i="1" dirty="0">
                <a:solidFill>
                  <a:schemeClr val="accent4"/>
                </a:solidFill>
              </a:rPr>
              <a:t>Gemini ou Claude : « Pose-moi 10 questions pour préciser mon intérêt »</a:t>
            </a:r>
            <a:endParaRPr lang="en-US" sz="1100" dirty="0"/>
          </a:p>
        </p:txBody>
      </p:sp>
      <p:sp>
        <p:nvSpPr>
          <p:cNvPr id="12" name="card-625"/>
          <p:cNvSpPr/>
          <p:nvPr/>
        </p:nvSpPr>
        <p:spPr>
          <a:xfrm>
            <a:off x="2798064" y="1554480"/>
            <a:ext cx="2103120" cy="3291840"/>
          </a:xfrm>
          <a:prstGeom prst="roundRect">
            <a:avLst>
              <a:gd name="adj" fmla="val 3478"/>
            </a:avLst>
          </a:prstGeom>
          <a:solidFill>
            <a:schemeClr val="bg2"/>
          </a:solidFill>
          <a:ln w="6350">
            <a:solidFill>
              <a:schemeClr val="bg2"/>
            </a:solidFill>
            <a:prstDash val="solid"/>
          </a:ln>
        </p:spPr>
      </p:sp>
      <p:sp>
        <p:nvSpPr>
          <p:cNvPr id="13" name="num-626"/>
          <p:cNvSpPr/>
          <p:nvPr/>
        </p:nvSpPr>
        <p:spPr>
          <a:xfrm>
            <a:off x="2980944" y="1719072"/>
            <a:ext cx="457200" cy="457200"/>
          </a:xfrm>
          <a:prstGeom prst="ellipse">
            <a:avLst/>
          </a:prstGeom>
          <a:solidFill>
            <a:schemeClr val="tx2"/>
          </a:solidFill>
          <a:ln w="12700">
            <a:solidFill>
              <a:schemeClr val="tx2"/>
            </a:solidFill>
            <a:prstDash val="solid"/>
          </a:ln>
        </p:spPr>
      </p:sp>
      <p:sp>
        <p:nvSpPr>
          <p:cNvPr id="14" name="txt-627"/>
          <p:cNvSpPr txBox="1"/>
          <p:nvPr/>
        </p:nvSpPr>
        <p:spPr>
          <a:xfrm>
            <a:off x="2980944" y="1719072"/>
            <a:ext cx="457200" cy="457200"/>
          </a:xfrm>
          <a:prstGeom prst="rect">
            <a:avLst/>
          </a:prstGeom>
          <a:noFill/>
          <a:ln/>
        </p:spPr>
        <p:txBody>
          <a:bodyPr wrap="square" lIns="0" tIns="0" rIns="0" bIns="0" rtlCol="0" anchor="ctr"/>
          <a:lstStyle/>
          <a:p>
            <a:pPr marL="0" indent="0" algn="ctr">
              <a:buNone/>
            </a:pPr>
            <a:r>
              <a:rPr lang="en-US" sz="1500" b="1" dirty="0">
                <a:solidFill>
                  <a:schemeClr val="bg1"/>
                </a:solidFill>
              </a:rPr>
              <a:t>2</a:t>
            </a:r>
            <a:endParaRPr lang="en-US" sz="1500" dirty="0"/>
          </a:p>
        </p:txBody>
      </p:sp>
      <p:sp>
        <p:nvSpPr>
          <p:cNvPr id="15" name="circle-628"/>
          <p:cNvSpPr/>
          <p:nvPr/>
        </p:nvSpPr>
        <p:spPr>
          <a:xfrm>
            <a:off x="4215384" y="1719072"/>
            <a:ext cx="502920" cy="502920"/>
          </a:xfrm>
          <a:prstGeom prst="ellipse">
            <a:avLst/>
          </a:prstGeom>
          <a:solidFill>
            <a:schemeClr val="accent6"/>
          </a:solidFill>
          <a:ln w="12700">
            <a:solidFill>
              <a:schemeClr val="accent6"/>
            </a:solidFill>
            <a:prstDash val="solid"/>
          </a:ln>
        </p:spPr>
      </p:sp>
      <p:pic>
        <p:nvPicPr>
          <p:cNvPr id="16" name="icon-629" descr="preencoded.png"/>
          <p:cNvPicPr>
            <a:picLocks noChangeAspect="1"/>
          </p:cNvPicPr>
          <p:nvPr/>
        </p:nvPicPr>
        <p:blipFill>
          <a:blip r:embed="rId4"/>
          <a:stretch>
            <a:fillRect/>
          </a:stretch>
        </p:blipFill>
        <p:spPr>
          <a:xfrm>
            <a:off x="4341114" y="1844802"/>
            <a:ext cx="251460" cy="251460"/>
          </a:xfrm>
          <a:prstGeom prst="rect">
            <a:avLst/>
          </a:prstGeom>
        </p:spPr>
      </p:pic>
      <p:sp>
        <p:nvSpPr>
          <p:cNvPr id="17" name="txt-630"/>
          <p:cNvSpPr txBox="1"/>
          <p:nvPr/>
        </p:nvSpPr>
        <p:spPr>
          <a:xfrm>
            <a:off x="2980944" y="2331720"/>
            <a:ext cx="1783080" cy="594360"/>
          </a:xfrm>
          <a:prstGeom prst="rect">
            <a:avLst/>
          </a:prstGeom>
          <a:noFill/>
          <a:ln/>
        </p:spPr>
        <p:txBody>
          <a:bodyPr wrap="square" lIns="0" tIns="0" rIns="0" bIns="0" rtlCol="0" anchor="t"/>
          <a:lstStyle/>
          <a:p>
            <a:pPr marL="0" indent="0">
              <a:buNone/>
            </a:pPr>
            <a:r>
              <a:rPr lang="en-US" sz="1500" b="1" dirty="0">
                <a:solidFill>
                  <a:schemeClr val="tx2"/>
                </a:solidFill>
              </a:rPr>
              <a:t>Explorer la littérature</a:t>
            </a:r>
            <a:endParaRPr lang="en-US" sz="1500" dirty="0"/>
          </a:p>
        </p:txBody>
      </p:sp>
      <p:sp>
        <p:nvSpPr>
          <p:cNvPr id="18" name="txt-631"/>
          <p:cNvSpPr txBox="1"/>
          <p:nvPr/>
        </p:nvSpPr>
        <p:spPr>
          <a:xfrm>
            <a:off x="2980944" y="2926080"/>
            <a:ext cx="1783080" cy="914400"/>
          </a:xfrm>
          <a:prstGeom prst="rect">
            <a:avLst/>
          </a:prstGeom>
          <a:noFill/>
          <a:ln/>
        </p:spPr>
        <p:txBody>
          <a:bodyPr wrap="square" lIns="0" tIns="0" rIns="0" bIns="0" rtlCol="0" anchor="t"/>
          <a:lstStyle/>
          <a:p>
            <a:pPr marL="0" indent="0">
              <a:buNone/>
            </a:pPr>
            <a:r>
              <a:rPr lang="en-US" sz="1200" dirty="0">
                <a:solidFill>
                  <a:schemeClr val="tx1"/>
                </a:solidFill>
              </a:rPr>
              <a:t>Les revues de littérature récentes et les débats du domaine</a:t>
            </a:r>
            <a:endParaRPr lang="en-US" sz="1200" dirty="0"/>
          </a:p>
        </p:txBody>
      </p:sp>
      <p:sp>
        <p:nvSpPr>
          <p:cNvPr id="19" name="txt-632"/>
          <p:cNvSpPr txBox="1"/>
          <p:nvPr/>
        </p:nvSpPr>
        <p:spPr>
          <a:xfrm>
            <a:off x="2980944" y="3886200"/>
            <a:ext cx="1783080" cy="868680"/>
          </a:xfrm>
          <a:prstGeom prst="rect">
            <a:avLst/>
          </a:prstGeom>
          <a:noFill/>
          <a:ln/>
        </p:spPr>
        <p:txBody>
          <a:bodyPr wrap="square" lIns="0" tIns="0" rIns="0" bIns="0" rtlCol="0" anchor="t"/>
          <a:lstStyle/>
          <a:p>
            <a:pPr marL="0" indent="0">
              <a:buNone/>
            </a:pPr>
            <a:r>
              <a:rPr lang="en-US" sz="1100" i="1" dirty="0">
                <a:solidFill>
                  <a:schemeClr val="accent6"/>
                </a:solidFill>
              </a:rPr>
              <a:t>Consensus, Semantic Scholar, Deep Research</a:t>
            </a:r>
            <a:endParaRPr lang="en-US" sz="1100" dirty="0"/>
          </a:p>
        </p:txBody>
      </p:sp>
      <p:sp>
        <p:nvSpPr>
          <p:cNvPr id="20" name="card-633"/>
          <p:cNvSpPr/>
          <p:nvPr/>
        </p:nvSpPr>
        <p:spPr>
          <a:xfrm>
            <a:off x="5047488" y="1554480"/>
            <a:ext cx="2103120" cy="3291840"/>
          </a:xfrm>
          <a:prstGeom prst="roundRect">
            <a:avLst>
              <a:gd name="adj" fmla="val 3478"/>
            </a:avLst>
          </a:prstGeom>
          <a:solidFill>
            <a:schemeClr val="bg2"/>
          </a:solidFill>
          <a:ln w="6350">
            <a:solidFill>
              <a:schemeClr val="bg2"/>
            </a:solidFill>
            <a:prstDash val="solid"/>
          </a:ln>
        </p:spPr>
      </p:sp>
      <p:sp>
        <p:nvSpPr>
          <p:cNvPr id="21" name="num-634"/>
          <p:cNvSpPr/>
          <p:nvPr/>
        </p:nvSpPr>
        <p:spPr>
          <a:xfrm>
            <a:off x="5230368" y="1719072"/>
            <a:ext cx="457200" cy="457200"/>
          </a:xfrm>
          <a:prstGeom prst="ellipse">
            <a:avLst/>
          </a:prstGeom>
          <a:solidFill>
            <a:schemeClr val="tx2"/>
          </a:solidFill>
          <a:ln w="12700">
            <a:solidFill>
              <a:schemeClr val="tx2"/>
            </a:solidFill>
            <a:prstDash val="solid"/>
          </a:ln>
        </p:spPr>
      </p:sp>
      <p:sp>
        <p:nvSpPr>
          <p:cNvPr id="22" name="txt-635"/>
          <p:cNvSpPr txBox="1"/>
          <p:nvPr/>
        </p:nvSpPr>
        <p:spPr>
          <a:xfrm>
            <a:off x="5230368" y="1719072"/>
            <a:ext cx="457200" cy="457200"/>
          </a:xfrm>
          <a:prstGeom prst="rect">
            <a:avLst/>
          </a:prstGeom>
          <a:noFill/>
          <a:ln/>
        </p:spPr>
        <p:txBody>
          <a:bodyPr wrap="square" lIns="0" tIns="0" rIns="0" bIns="0" rtlCol="0" anchor="ctr"/>
          <a:lstStyle/>
          <a:p>
            <a:pPr marL="0" indent="0" algn="ctr">
              <a:buNone/>
            </a:pPr>
            <a:r>
              <a:rPr lang="en-US" sz="1500" b="1" dirty="0">
                <a:solidFill>
                  <a:schemeClr val="bg1"/>
                </a:solidFill>
              </a:rPr>
              <a:t>3</a:t>
            </a:r>
            <a:endParaRPr lang="en-US" sz="1500" dirty="0"/>
          </a:p>
        </p:txBody>
      </p:sp>
      <p:sp>
        <p:nvSpPr>
          <p:cNvPr id="23" name="circle-636"/>
          <p:cNvSpPr/>
          <p:nvPr/>
        </p:nvSpPr>
        <p:spPr>
          <a:xfrm>
            <a:off x="6464808" y="1719072"/>
            <a:ext cx="502920" cy="502920"/>
          </a:xfrm>
          <a:prstGeom prst="ellipse">
            <a:avLst/>
          </a:prstGeom>
          <a:solidFill>
            <a:schemeClr val="accent2"/>
          </a:solidFill>
          <a:ln w="12700">
            <a:solidFill>
              <a:schemeClr val="accent2"/>
            </a:solidFill>
            <a:prstDash val="solid"/>
          </a:ln>
        </p:spPr>
      </p:sp>
      <p:pic>
        <p:nvPicPr>
          <p:cNvPr id="24" name="icon-637" descr="preencoded.png"/>
          <p:cNvPicPr>
            <a:picLocks noChangeAspect="1"/>
          </p:cNvPicPr>
          <p:nvPr/>
        </p:nvPicPr>
        <p:blipFill>
          <a:blip r:embed="rId5"/>
          <a:stretch>
            <a:fillRect/>
          </a:stretch>
        </p:blipFill>
        <p:spPr>
          <a:xfrm>
            <a:off x="6590538" y="1844802"/>
            <a:ext cx="251460" cy="251460"/>
          </a:xfrm>
          <a:prstGeom prst="rect">
            <a:avLst/>
          </a:prstGeom>
        </p:spPr>
      </p:pic>
      <p:sp>
        <p:nvSpPr>
          <p:cNvPr id="25" name="txt-638"/>
          <p:cNvSpPr txBox="1"/>
          <p:nvPr/>
        </p:nvSpPr>
        <p:spPr>
          <a:xfrm>
            <a:off x="5230368" y="2331720"/>
            <a:ext cx="1783080" cy="594360"/>
          </a:xfrm>
          <a:prstGeom prst="rect">
            <a:avLst/>
          </a:prstGeom>
          <a:noFill/>
          <a:ln/>
        </p:spPr>
        <p:txBody>
          <a:bodyPr wrap="square" lIns="0" tIns="0" rIns="0" bIns="0" rtlCol="0" anchor="t"/>
          <a:lstStyle/>
          <a:p>
            <a:pPr marL="0" indent="0">
              <a:buNone/>
            </a:pPr>
            <a:r>
              <a:rPr lang="en-US" sz="1500" b="1" dirty="0">
                <a:solidFill>
                  <a:schemeClr val="tx2"/>
                </a:solidFill>
              </a:rPr>
              <a:t>Cartographier</a:t>
            </a:r>
            <a:endParaRPr lang="en-US" sz="1500" dirty="0"/>
          </a:p>
        </p:txBody>
      </p:sp>
      <p:sp>
        <p:nvSpPr>
          <p:cNvPr id="26" name="txt-639"/>
          <p:cNvSpPr txBox="1"/>
          <p:nvPr/>
        </p:nvSpPr>
        <p:spPr>
          <a:xfrm>
            <a:off x="5230368" y="2926080"/>
            <a:ext cx="1783080" cy="914400"/>
          </a:xfrm>
          <a:prstGeom prst="rect">
            <a:avLst/>
          </a:prstGeom>
          <a:noFill/>
          <a:ln/>
        </p:spPr>
        <p:txBody>
          <a:bodyPr wrap="square" lIns="0" tIns="0" rIns="0" bIns="0" rtlCol="0" anchor="t"/>
          <a:lstStyle/>
          <a:p>
            <a:pPr marL="0" indent="0">
              <a:buNone/>
            </a:pPr>
            <a:r>
              <a:rPr lang="en-US" sz="1200" dirty="0">
                <a:solidFill>
                  <a:schemeClr val="tx1"/>
                </a:solidFill>
              </a:rPr>
              <a:t>Qui travaille sur quoi ? Où sont les zones vides ?</a:t>
            </a:r>
            <a:endParaRPr lang="en-US" sz="1200" dirty="0"/>
          </a:p>
        </p:txBody>
      </p:sp>
      <p:sp>
        <p:nvSpPr>
          <p:cNvPr id="27" name="txt-640"/>
          <p:cNvSpPr txBox="1"/>
          <p:nvPr/>
        </p:nvSpPr>
        <p:spPr>
          <a:xfrm>
            <a:off x="5230368" y="3886200"/>
            <a:ext cx="1783080" cy="868680"/>
          </a:xfrm>
          <a:prstGeom prst="rect">
            <a:avLst/>
          </a:prstGeom>
          <a:noFill/>
          <a:ln/>
        </p:spPr>
        <p:txBody>
          <a:bodyPr wrap="square" lIns="0" tIns="0" rIns="0" bIns="0" rtlCol="0" anchor="t"/>
          <a:lstStyle/>
          <a:p>
            <a:pPr marL="0" indent="0">
              <a:buNone/>
            </a:pPr>
            <a:r>
              <a:rPr lang="en-US" sz="1100" i="1" dirty="0">
                <a:solidFill>
                  <a:schemeClr val="accent2"/>
                </a:solidFill>
              </a:rPr>
              <a:t>ResearchRabbit, Connected Papers</a:t>
            </a:r>
            <a:endParaRPr lang="en-US" sz="1100" dirty="0"/>
          </a:p>
        </p:txBody>
      </p:sp>
      <p:sp>
        <p:nvSpPr>
          <p:cNvPr id="28" name="card-641"/>
          <p:cNvSpPr/>
          <p:nvPr/>
        </p:nvSpPr>
        <p:spPr>
          <a:xfrm>
            <a:off x="7296912" y="1554480"/>
            <a:ext cx="2103120" cy="3291840"/>
          </a:xfrm>
          <a:prstGeom prst="roundRect">
            <a:avLst>
              <a:gd name="adj" fmla="val 3478"/>
            </a:avLst>
          </a:prstGeom>
          <a:solidFill>
            <a:schemeClr val="bg2"/>
          </a:solidFill>
          <a:ln w="6350">
            <a:solidFill>
              <a:schemeClr val="bg2"/>
            </a:solidFill>
            <a:prstDash val="solid"/>
          </a:ln>
        </p:spPr>
      </p:sp>
      <p:sp>
        <p:nvSpPr>
          <p:cNvPr id="29" name="num-642"/>
          <p:cNvSpPr/>
          <p:nvPr/>
        </p:nvSpPr>
        <p:spPr>
          <a:xfrm>
            <a:off x="7479792" y="1719072"/>
            <a:ext cx="457200" cy="457200"/>
          </a:xfrm>
          <a:prstGeom prst="ellipse">
            <a:avLst/>
          </a:prstGeom>
          <a:solidFill>
            <a:schemeClr val="tx2"/>
          </a:solidFill>
          <a:ln w="12700">
            <a:solidFill>
              <a:schemeClr val="tx2"/>
            </a:solidFill>
            <a:prstDash val="solid"/>
          </a:ln>
        </p:spPr>
      </p:sp>
      <p:sp>
        <p:nvSpPr>
          <p:cNvPr id="30" name="txt-643"/>
          <p:cNvSpPr txBox="1"/>
          <p:nvPr/>
        </p:nvSpPr>
        <p:spPr>
          <a:xfrm>
            <a:off x="7479792" y="1719072"/>
            <a:ext cx="457200" cy="457200"/>
          </a:xfrm>
          <a:prstGeom prst="rect">
            <a:avLst/>
          </a:prstGeom>
          <a:noFill/>
          <a:ln/>
        </p:spPr>
        <p:txBody>
          <a:bodyPr wrap="square" lIns="0" tIns="0" rIns="0" bIns="0" rtlCol="0" anchor="ctr"/>
          <a:lstStyle/>
          <a:p>
            <a:pPr marL="0" indent="0" algn="ctr">
              <a:buNone/>
            </a:pPr>
            <a:r>
              <a:rPr lang="en-US" sz="1500" b="1" dirty="0">
                <a:solidFill>
                  <a:schemeClr val="bg1"/>
                </a:solidFill>
              </a:rPr>
              <a:t>4</a:t>
            </a:r>
            <a:endParaRPr lang="en-US" sz="1500" dirty="0"/>
          </a:p>
        </p:txBody>
      </p:sp>
      <p:sp>
        <p:nvSpPr>
          <p:cNvPr id="31" name="circle-644"/>
          <p:cNvSpPr/>
          <p:nvPr/>
        </p:nvSpPr>
        <p:spPr>
          <a:xfrm>
            <a:off x="8714232" y="1719072"/>
            <a:ext cx="502920" cy="502920"/>
          </a:xfrm>
          <a:prstGeom prst="ellipse">
            <a:avLst/>
          </a:prstGeom>
          <a:solidFill>
            <a:schemeClr val="accent1"/>
          </a:solidFill>
          <a:ln w="12700">
            <a:solidFill>
              <a:schemeClr val="accent1"/>
            </a:solidFill>
            <a:prstDash val="solid"/>
          </a:ln>
        </p:spPr>
      </p:sp>
      <p:pic>
        <p:nvPicPr>
          <p:cNvPr id="32" name="icon-645" descr="preencoded.png"/>
          <p:cNvPicPr>
            <a:picLocks noChangeAspect="1"/>
          </p:cNvPicPr>
          <p:nvPr/>
        </p:nvPicPr>
        <p:blipFill>
          <a:blip r:embed="rId6"/>
          <a:stretch>
            <a:fillRect/>
          </a:stretch>
        </p:blipFill>
        <p:spPr>
          <a:xfrm>
            <a:off x="8839962" y="1844802"/>
            <a:ext cx="251460" cy="251460"/>
          </a:xfrm>
          <a:prstGeom prst="rect">
            <a:avLst/>
          </a:prstGeom>
        </p:spPr>
      </p:pic>
      <p:sp>
        <p:nvSpPr>
          <p:cNvPr id="33" name="txt-646"/>
          <p:cNvSpPr txBox="1"/>
          <p:nvPr/>
        </p:nvSpPr>
        <p:spPr>
          <a:xfrm>
            <a:off x="7479792" y="2331720"/>
            <a:ext cx="1783080" cy="594360"/>
          </a:xfrm>
          <a:prstGeom prst="rect">
            <a:avLst/>
          </a:prstGeom>
          <a:noFill/>
          <a:ln/>
        </p:spPr>
        <p:txBody>
          <a:bodyPr wrap="square" lIns="0" tIns="0" rIns="0" bIns="0" rtlCol="0" anchor="t"/>
          <a:lstStyle/>
          <a:p>
            <a:pPr marL="0" indent="0">
              <a:buNone/>
            </a:pPr>
            <a:r>
              <a:rPr lang="en-US" sz="1500" b="1" dirty="0">
                <a:solidFill>
                  <a:schemeClr val="tx2"/>
                </a:solidFill>
              </a:rPr>
              <a:t>Repérer les gaps</a:t>
            </a:r>
            <a:endParaRPr lang="en-US" sz="1500" dirty="0"/>
          </a:p>
        </p:txBody>
      </p:sp>
      <p:sp>
        <p:nvSpPr>
          <p:cNvPr id="34" name="txt-647"/>
          <p:cNvSpPr txBox="1"/>
          <p:nvPr/>
        </p:nvSpPr>
        <p:spPr>
          <a:xfrm>
            <a:off x="7479792" y="2926080"/>
            <a:ext cx="1783080" cy="914400"/>
          </a:xfrm>
          <a:prstGeom prst="rect">
            <a:avLst/>
          </a:prstGeom>
          <a:noFill/>
          <a:ln/>
        </p:spPr>
        <p:txBody>
          <a:bodyPr wrap="square" lIns="0" tIns="0" rIns="0" bIns="0" rtlCol="0" anchor="t"/>
          <a:lstStyle/>
          <a:p>
            <a:pPr marL="0" indent="0">
              <a:buNone/>
            </a:pPr>
            <a:r>
              <a:rPr lang="en-US" sz="1200" dirty="0">
                <a:solidFill>
                  <a:schemeClr val="tx1"/>
                </a:solidFill>
              </a:rPr>
              <a:t>Ce qui n'a pas été étudié, ou mal, ou ailleurs</a:t>
            </a:r>
            <a:endParaRPr lang="en-US" sz="1200" dirty="0"/>
          </a:p>
        </p:txBody>
      </p:sp>
      <p:sp>
        <p:nvSpPr>
          <p:cNvPr id="35" name="txt-648"/>
          <p:cNvSpPr txBox="1"/>
          <p:nvPr/>
        </p:nvSpPr>
        <p:spPr>
          <a:xfrm>
            <a:off x="7479792" y="3886200"/>
            <a:ext cx="1783080" cy="868680"/>
          </a:xfrm>
          <a:prstGeom prst="rect">
            <a:avLst/>
          </a:prstGeom>
          <a:noFill/>
          <a:ln/>
        </p:spPr>
        <p:txBody>
          <a:bodyPr wrap="square" lIns="0" tIns="0" rIns="0" bIns="0" rtlCol="0" anchor="t"/>
          <a:lstStyle/>
          <a:p>
            <a:pPr marL="0" indent="0">
              <a:buNone/>
            </a:pPr>
            <a:r>
              <a:rPr lang="en-US" sz="1100" i="1" dirty="0">
                <a:solidFill>
                  <a:schemeClr val="accent1"/>
                </a:solidFill>
              </a:rPr>
              <a:t>Elicit, Gemini Notebook (limites des auteurs)</a:t>
            </a:r>
            <a:endParaRPr lang="en-US" sz="1100" dirty="0"/>
          </a:p>
        </p:txBody>
      </p:sp>
      <p:sp>
        <p:nvSpPr>
          <p:cNvPr id="36" name="card-649"/>
          <p:cNvSpPr/>
          <p:nvPr/>
        </p:nvSpPr>
        <p:spPr>
          <a:xfrm>
            <a:off x="9546336" y="1554480"/>
            <a:ext cx="2103120" cy="3291840"/>
          </a:xfrm>
          <a:prstGeom prst="roundRect">
            <a:avLst>
              <a:gd name="adj" fmla="val 3478"/>
            </a:avLst>
          </a:prstGeom>
          <a:solidFill>
            <a:schemeClr val="bg2"/>
          </a:solidFill>
          <a:ln w="6350">
            <a:solidFill>
              <a:schemeClr val="bg2"/>
            </a:solidFill>
            <a:prstDash val="solid"/>
          </a:ln>
        </p:spPr>
      </p:sp>
      <p:sp>
        <p:nvSpPr>
          <p:cNvPr id="37" name="num-650"/>
          <p:cNvSpPr/>
          <p:nvPr/>
        </p:nvSpPr>
        <p:spPr>
          <a:xfrm>
            <a:off x="9729216" y="1719072"/>
            <a:ext cx="457200" cy="457200"/>
          </a:xfrm>
          <a:prstGeom prst="ellipse">
            <a:avLst/>
          </a:prstGeom>
          <a:solidFill>
            <a:schemeClr val="tx2"/>
          </a:solidFill>
          <a:ln w="12700">
            <a:solidFill>
              <a:schemeClr val="tx2"/>
            </a:solidFill>
            <a:prstDash val="solid"/>
          </a:ln>
        </p:spPr>
      </p:sp>
      <p:sp>
        <p:nvSpPr>
          <p:cNvPr id="38" name="txt-651"/>
          <p:cNvSpPr txBox="1"/>
          <p:nvPr/>
        </p:nvSpPr>
        <p:spPr>
          <a:xfrm>
            <a:off x="9729216" y="1719072"/>
            <a:ext cx="457200" cy="457200"/>
          </a:xfrm>
          <a:prstGeom prst="rect">
            <a:avLst/>
          </a:prstGeom>
          <a:noFill/>
          <a:ln/>
        </p:spPr>
        <p:txBody>
          <a:bodyPr wrap="square" lIns="0" tIns="0" rIns="0" bIns="0" rtlCol="0" anchor="ctr"/>
          <a:lstStyle/>
          <a:p>
            <a:pPr marL="0" indent="0" algn="ctr">
              <a:buNone/>
            </a:pPr>
            <a:r>
              <a:rPr lang="en-US" sz="1500" b="1" dirty="0">
                <a:solidFill>
                  <a:schemeClr val="bg1"/>
                </a:solidFill>
              </a:rPr>
              <a:t>5</a:t>
            </a:r>
            <a:endParaRPr lang="en-US" sz="1500" dirty="0"/>
          </a:p>
        </p:txBody>
      </p:sp>
      <p:sp>
        <p:nvSpPr>
          <p:cNvPr id="39" name="circle-652"/>
          <p:cNvSpPr/>
          <p:nvPr/>
        </p:nvSpPr>
        <p:spPr>
          <a:xfrm>
            <a:off x="10963656" y="1719072"/>
            <a:ext cx="502920" cy="502920"/>
          </a:xfrm>
          <a:prstGeom prst="ellipse">
            <a:avLst/>
          </a:prstGeom>
          <a:solidFill>
            <a:schemeClr val="accent3"/>
          </a:solidFill>
          <a:ln w="12700">
            <a:solidFill>
              <a:schemeClr val="accent3"/>
            </a:solidFill>
            <a:prstDash val="solid"/>
          </a:ln>
        </p:spPr>
      </p:sp>
      <p:pic>
        <p:nvPicPr>
          <p:cNvPr id="40" name="icon-653" descr="preencoded.png"/>
          <p:cNvPicPr>
            <a:picLocks noChangeAspect="1"/>
          </p:cNvPicPr>
          <p:nvPr/>
        </p:nvPicPr>
        <p:blipFill>
          <a:blip r:embed="rId7"/>
          <a:stretch>
            <a:fillRect/>
          </a:stretch>
        </p:blipFill>
        <p:spPr>
          <a:xfrm>
            <a:off x="11089386" y="1844802"/>
            <a:ext cx="251460" cy="251460"/>
          </a:xfrm>
          <a:prstGeom prst="rect">
            <a:avLst/>
          </a:prstGeom>
        </p:spPr>
      </p:pic>
      <p:sp>
        <p:nvSpPr>
          <p:cNvPr id="41" name="txt-654"/>
          <p:cNvSpPr txBox="1"/>
          <p:nvPr/>
        </p:nvSpPr>
        <p:spPr>
          <a:xfrm>
            <a:off x="9729216" y="2331720"/>
            <a:ext cx="1783080" cy="594360"/>
          </a:xfrm>
          <a:prstGeom prst="rect">
            <a:avLst/>
          </a:prstGeom>
          <a:noFill/>
          <a:ln/>
        </p:spPr>
        <p:txBody>
          <a:bodyPr wrap="square" lIns="0" tIns="0" rIns="0" bIns="0" rtlCol="0" anchor="t"/>
          <a:lstStyle/>
          <a:p>
            <a:pPr marL="0" indent="0">
              <a:buNone/>
            </a:pPr>
            <a:r>
              <a:rPr lang="en-US" sz="1500" b="1" dirty="0">
                <a:solidFill>
                  <a:schemeClr val="tx2"/>
                </a:solidFill>
              </a:rPr>
              <a:t>Formuler la question</a:t>
            </a:r>
            <a:endParaRPr lang="en-US" sz="1500" dirty="0"/>
          </a:p>
        </p:txBody>
      </p:sp>
      <p:sp>
        <p:nvSpPr>
          <p:cNvPr id="42" name="txt-655"/>
          <p:cNvSpPr txBox="1"/>
          <p:nvPr/>
        </p:nvSpPr>
        <p:spPr>
          <a:xfrm>
            <a:off x="9729216" y="2926080"/>
            <a:ext cx="1783080" cy="914400"/>
          </a:xfrm>
          <a:prstGeom prst="rect">
            <a:avLst/>
          </a:prstGeom>
          <a:noFill/>
          <a:ln/>
        </p:spPr>
        <p:txBody>
          <a:bodyPr wrap="square" lIns="0" tIns="0" rIns="0" bIns="0" rtlCol="0" anchor="t"/>
          <a:lstStyle/>
          <a:p>
            <a:pPr marL="0" indent="0">
              <a:buNone/>
            </a:pPr>
            <a:r>
              <a:rPr lang="en-US" sz="1200" dirty="0">
                <a:solidFill>
                  <a:schemeClr val="tx1"/>
                </a:solidFill>
              </a:rPr>
              <a:t>Une question précise, puis le test FINER</a:t>
            </a:r>
            <a:endParaRPr lang="en-US" sz="1200" dirty="0"/>
          </a:p>
        </p:txBody>
      </p:sp>
      <p:sp>
        <p:nvSpPr>
          <p:cNvPr id="43" name="txt-656"/>
          <p:cNvSpPr txBox="1"/>
          <p:nvPr/>
        </p:nvSpPr>
        <p:spPr>
          <a:xfrm>
            <a:off x="9729216" y="3886200"/>
            <a:ext cx="1783080" cy="868680"/>
          </a:xfrm>
          <a:prstGeom prst="rect">
            <a:avLst/>
          </a:prstGeom>
          <a:noFill/>
          <a:ln/>
        </p:spPr>
        <p:txBody>
          <a:bodyPr wrap="square" lIns="0" tIns="0" rIns="0" bIns="0" rtlCol="0" anchor="t"/>
          <a:lstStyle/>
          <a:p>
            <a:pPr marL="0" indent="0">
              <a:buNone/>
            </a:pPr>
            <a:r>
              <a:rPr lang="en-US" sz="1100" i="1" dirty="0">
                <a:solidFill>
                  <a:schemeClr val="accent3"/>
                </a:solidFill>
              </a:rPr>
              <a:t>Chatbot en « jury sceptique »</a:t>
            </a:r>
            <a:endParaRPr lang="en-US" sz="1100" dirty="0"/>
          </a:p>
        </p:txBody>
      </p:sp>
      <p:sp>
        <p:nvSpPr>
          <p:cNvPr id="44" name="card-657"/>
          <p:cNvSpPr/>
          <p:nvPr/>
        </p:nvSpPr>
        <p:spPr>
          <a:xfrm>
            <a:off x="548640" y="5029200"/>
            <a:ext cx="11064240" cy="914400"/>
          </a:xfrm>
          <a:prstGeom prst="roundRect">
            <a:avLst>
              <a:gd name="adj" fmla="val 8000"/>
            </a:avLst>
          </a:prstGeom>
          <a:solidFill>
            <a:schemeClr val="tx2"/>
          </a:solidFill>
          <a:ln w="6350">
            <a:solidFill>
              <a:schemeClr val="tx2"/>
            </a:solidFill>
            <a:prstDash val="solid"/>
          </a:ln>
        </p:spPr>
      </p:sp>
      <p:sp>
        <p:nvSpPr>
          <p:cNvPr id="45" name="txt-658"/>
          <p:cNvSpPr txBox="1"/>
          <p:nvPr/>
        </p:nvSpPr>
        <p:spPr>
          <a:xfrm>
            <a:off x="777240" y="5029200"/>
            <a:ext cx="10607040" cy="914400"/>
          </a:xfrm>
          <a:prstGeom prst="rect">
            <a:avLst/>
          </a:prstGeom>
          <a:noFill/>
          <a:ln/>
        </p:spPr>
        <p:txBody>
          <a:bodyPr wrap="square" lIns="0" tIns="0" rIns="0" bIns="0" rtlCol="0" anchor="ctr"/>
          <a:lstStyle/>
          <a:p>
            <a:pPr marL="0" indent="0">
              <a:buNone/>
            </a:pPr>
            <a:r>
              <a:rPr lang="en-US" sz="1500" b="1" dirty="0">
                <a:solidFill>
                  <a:schemeClr val="accent1"/>
                </a:solidFill>
              </a:rPr>
              <a:t>Test FINER : </a:t>
            </a:r>
            <a:r>
              <a:rPr lang="en-US" sz="1500" dirty="0">
                <a:solidFill>
                  <a:schemeClr val="bg1"/>
                </a:solidFill>
              </a:rPr>
              <a:t>Faisable (temps, terrain, budget) · Intéressant · Nouveau (un vrai gap) · Éthique · Pertinent pour votre discipline et votre pays.</a:t>
            </a:r>
            <a:endParaRPr lang="en-US" sz="1500" dirty="0"/>
          </a:p>
        </p:txBody>
      </p:sp>
      <p:sp>
        <p:nvSpPr>
          <p:cNvPr id="46" name="Slide Number Placeholder 0"/>
          <p:cNvSpPr>
            <a:spLocks noGrp="1"/>
          </p:cNvSpPr>
          <p:nvPr>
            <p:ph type="sldNum" sz="quarter" idx="4294967295"/>
          </p:nvPr>
        </p:nvSpPr>
        <p:spPr>
          <a:xfrm>
            <a:off x="11064240" y="6400800"/>
            <a:ext cx="54864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C82"/>
                </a:solidFill>
                <a:latin typeface="Poppins"/>
                <a:ea typeface="Poppins"/>
                <a:cs typeface="Poppins"/>
              </a:defRPr>
            </a:lvl1pPr>
          </a:lstStyle>
          <a:p>
            <a:pPr algn="r"/>
            <a:fld id="{F7021451-1387-4CA6-816F-3879F97B5CBC}" type="slidenum">
              <a:rPr lang="en-US" b="0"/>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566928"/>
            <a:ext cx="11064240" cy="777240"/>
          </a:xfrm>
          <a:prstGeom prst="rect">
            <a:avLst/>
          </a:prstGeom>
          <a:noFill/>
          <a:ln/>
        </p:spPr>
        <p:txBody>
          <a:bodyPr wrap="square" lIns="0" tIns="0" rIns="0" bIns="0" rtlCol="0" anchor="ctr"/>
          <a:lstStyle/>
          <a:p>
            <a:pPr marL="0" indent="0" algn="l">
              <a:buNone/>
            </a:pPr>
            <a:r>
              <a:rPr lang="en-US" sz="2700" b="1" dirty="0">
                <a:solidFill>
                  <a:schemeClr val="tx2"/>
                </a:solidFill>
                <a:latin typeface="Poppins" pitchFamily="34" charset="0"/>
                <a:ea typeface="Poppins" pitchFamily="34" charset="-122"/>
                <a:cs typeface="Poppins" pitchFamily="34" charset="-120"/>
              </a:rPr>
              <a:t>Un bon sujet comble un « gap » : six types à chercher</a:t>
            </a:r>
            <a:endParaRPr lang="en-US" sz="2700" dirty="0"/>
          </a:p>
        </p:txBody>
      </p:sp>
      <p:sp>
        <p:nvSpPr>
          <p:cNvPr id="3" name="Text 0"/>
          <p:cNvSpPr>
            <a:spLocks noGrp="1"/>
          </p:cNvSpPr>
          <p:nvPr>
            <p:ph type="body" idx="101" hasCustomPrompt="1"/>
          </p:nvPr>
        </p:nvSpPr>
        <p:spPr>
          <a:xfrm>
            <a:off x="548640" y="256032"/>
            <a:ext cx="8229600" cy="292608"/>
          </a:xfrm>
          <a:prstGeom prst="rect">
            <a:avLst/>
          </a:prstGeom>
          <a:noFill/>
          <a:ln/>
        </p:spPr>
        <p:txBody>
          <a:bodyPr wrap="square" lIns="0" tIns="0" rIns="0" bIns="0" rtlCol="0" anchor="ctr"/>
          <a:lstStyle/>
          <a:p>
            <a:pPr marL="0" indent="0">
              <a:buNone/>
            </a:pPr>
            <a:r>
              <a:rPr lang="en-US" sz="1100" b="1" dirty="0">
                <a:solidFill>
                  <a:schemeClr val="accent1"/>
                </a:solidFill>
                <a:latin typeface="Poppins" pitchFamily="34" charset="0"/>
                <a:ea typeface="Poppins" pitchFamily="34" charset="-122"/>
                <a:cs typeface="Poppins" pitchFamily="34" charset="-120"/>
              </a:rPr>
              <a:t>R · TROUVER UN SUJET DE RECHERCHE</a:t>
            </a:r>
            <a:endParaRPr lang="en-US" sz="1100" dirty="0"/>
          </a:p>
        </p:txBody>
      </p:sp>
      <p:sp>
        <p:nvSpPr>
          <p:cNvPr id="4" name="txt-659"/>
          <p:cNvSpPr txBox="1"/>
          <p:nvPr/>
        </p:nvSpPr>
        <p:spPr>
          <a:xfrm>
            <a:off x="548640" y="1508760"/>
            <a:ext cx="11064240" cy="685800"/>
          </a:xfrm>
          <a:prstGeom prst="rect">
            <a:avLst/>
          </a:prstGeom>
          <a:noFill/>
          <a:ln/>
        </p:spPr>
        <p:txBody>
          <a:bodyPr wrap="square" lIns="0" tIns="0" rIns="0" bIns="0" rtlCol="0" anchor="t"/>
          <a:lstStyle/>
          <a:p>
            <a:pPr marL="0" indent="0">
              <a:buNone/>
            </a:pPr>
            <a:r>
              <a:rPr lang="en-US" sz="1500" b="1" dirty="0">
                <a:solidFill>
                  <a:schemeClr val="tx2"/>
                </a:solidFill>
              </a:rPr>
              <a:t>Gap de recherche : </a:t>
            </a:r>
            <a:r>
              <a:rPr lang="en-US" sz="1500" dirty="0">
                <a:solidFill>
                  <a:schemeClr val="tx1"/>
                </a:solidFill>
              </a:rPr>
              <a:t>une question que la littérature n'a pas encore traitée, ou mal traitée. Votre thèse doit en combler un, et vous devez le prouver avec des articles réels.</a:t>
            </a:r>
            <a:endParaRPr lang="en-US" sz="1500" dirty="0"/>
          </a:p>
        </p:txBody>
      </p:sp>
      <p:sp>
        <p:nvSpPr>
          <p:cNvPr id="5" name="card-660"/>
          <p:cNvSpPr/>
          <p:nvPr/>
        </p:nvSpPr>
        <p:spPr>
          <a:xfrm>
            <a:off x="548640" y="2331720"/>
            <a:ext cx="3520440" cy="1691640"/>
          </a:xfrm>
          <a:prstGeom prst="roundRect">
            <a:avLst>
              <a:gd name="adj" fmla="val 4324"/>
            </a:avLst>
          </a:prstGeom>
          <a:solidFill>
            <a:schemeClr val="bg2"/>
          </a:solidFill>
          <a:ln w="6350">
            <a:solidFill>
              <a:schemeClr val="bg2"/>
            </a:solidFill>
            <a:prstDash val="solid"/>
          </a:ln>
        </p:spPr>
      </p:sp>
      <p:sp>
        <p:nvSpPr>
          <p:cNvPr id="6" name="circle-661"/>
          <p:cNvSpPr/>
          <p:nvPr/>
        </p:nvSpPr>
        <p:spPr>
          <a:xfrm>
            <a:off x="731520" y="2514600"/>
            <a:ext cx="548640" cy="548640"/>
          </a:xfrm>
          <a:prstGeom prst="ellipse">
            <a:avLst/>
          </a:prstGeom>
          <a:solidFill>
            <a:schemeClr val="accent4"/>
          </a:solidFill>
          <a:ln w="12700">
            <a:solidFill>
              <a:schemeClr val="accent4"/>
            </a:solidFill>
            <a:prstDash val="solid"/>
          </a:ln>
        </p:spPr>
      </p:sp>
      <p:pic>
        <p:nvPicPr>
          <p:cNvPr id="7" name="icon-662" descr="preencoded.png"/>
          <p:cNvPicPr>
            <a:picLocks noChangeAspect="1"/>
          </p:cNvPicPr>
          <p:nvPr/>
        </p:nvPicPr>
        <p:blipFill>
          <a:blip r:embed="rId3"/>
          <a:stretch>
            <a:fillRect/>
          </a:stretch>
        </p:blipFill>
        <p:spPr>
          <a:xfrm>
            <a:off x="868680" y="2651760"/>
            <a:ext cx="274320" cy="274320"/>
          </a:xfrm>
          <a:prstGeom prst="rect">
            <a:avLst/>
          </a:prstGeom>
        </p:spPr>
      </p:pic>
      <p:sp>
        <p:nvSpPr>
          <p:cNvPr id="8" name="txt-663"/>
          <p:cNvSpPr txBox="1"/>
          <p:nvPr/>
        </p:nvSpPr>
        <p:spPr>
          <a:xfrm>
            <a:off x="1417320" y="2514600"/>
            <a:ext cx="2560320" cy="548640"/>
          </a:xfrm>
          <a:prstGeom prst="rect">
            <a:avLst/>
          </a:prstGeom>
          <a:noFill/>
          <a:ln/>
        </p:spPr>
        <p:txBody>
          <a:bodyPr wrap="square" lIns="0" tIns="0" rIns="0" bIns="0" rtlCol="0" anchor="ctr"/>
          <a:lstStyle/>
          <a:p>
            <a:pPr marL="0" indent="0">
              <a:buNone/>
            </a:pPr>
            <a:r>
              <a:rPr lang="en-US" sz="1500" b="1" dirty="0">
                <a:solidFill>
                  <a:schemeClr val="tx2"/>
                </a:solidFill>
              </a:rPr>
              <a:t>Contexte</a:t>
            </a:r>
            <a:endParaRPr lang="en-US" sz="1500" dirty="0"/>
          </a:p>
        </p:txBody>
      </p:sp>
      <p:sp>
        <p:nvSpPr>
          <p:cNvPr id="9" name="txt-664"/>
          <p:cNvSpPr txBox="1"/>
          <p:nvPr/>
        </p:nvSpPr>
        <p:spPr>
          <a:xfrm>
            <a:off x="731520" y="3136392"/>
            <a:ext cx="3200400" cy="457200"/>
          </a:xfrm>
          <a:prstGeom prst="rect">
            <a:avLst/>
          </a:prstGeom>
          <a:noFill/>
          <a:ln/>
        </p:spPr>
        <p:txBody>
          <a:bodyPr wrap="square" lIns="0" tIns="0" rIns="0" bIns="0" rtlCol="0" anchor="t"/>
          <a:lstStyle/>
          <a:p>
            <a:pPr marL="0" indent="0">
              <a:buNone/>
            </a:pPr>
            <a:r>
              <a:rPr lang="en-US" sz="1200" dirty="0">
                <a:solidFill>
                  <a:schemeClr val="tx1"/>
                </a:solidFill>
              </a:rPr>
              <a:t>Jamais étudié dans ce pays, cette région, ce milieu</a:t>
            </a:r>
            <a:endParaRPr lang="en-US" sz="1200" dirty="0"/>
          </a:p>
        </p:txBody>
      </p:sp>
      <p:sp>
        <p:nvSpPr>
          <p:cNvPr id="10" name="txt-665"/>
          <p:cNvSpPr txBox="1"/>
          <p:nvPr/>
        </p:nvSpPr>
        <p:spPr>
          <a:xfrm>
            <a:off x="731520" y="3566160"/>
            <a:ext cx="3200400" cy="411480"/>
          </a:xfrm>
          <a:prstGeom prst="rect">
            <a:avLst/>
          </a:prstGeom>
          <a:noFill/>
          <a:ln/>
        </p:spPr>
        <p:txBody>
          <a:bodyPr wrap="square" lIns="0" tIns="0" rIns="0" bIns="0" rtlCol="0" anchor="t"/>
          <a:lstStyle/>
          <a:p>
            <a:pPr marL="0" indent="0">
              <a:buNone/>
            </a:pPr>
            <a:r>
              <a:rPr lang="en-US" sz="1100" i="1" dirty="0">
                <a:solidFill>
                  <a:schemeClr val="accent5"/>
                </a:solidFill>
              </a:rPr>
              <a:t>Ex. : Bien étudié en Afrique de l'Est, rien sur le Togo</a:t>
            </a:r>
            <a:endParaRPr lang="en-US" sz="1100" dirty="0"/>
          </a:p>
        </p:txBody>
      </p:sp>
      <p:sp>
        <p:nvSpPr>
          <p:cNvPr id="11" name="card-666"/>
          <p:cNvSpPr/>
          <p:nvPr/>
        </p:nvSpPr>
        <p:spPr>
          <a:xfrm>
            <a:off x="4297680" y="2331720"/>
            <a:ext cx="3520440" cy="1691640"/>
          </a:xfrm>
          <a:prstGeom prst="roundRect">
            <a:avLst>
              <a:gd name="adj" fmla="val 4324"/>
            </a:avLst>
          </a:prstGeom>
          <a:solidFill>
            <a:schemeClr val="bg2"/>
          </a:solidFill>
          <a:ln w="6350">
            <a:solidFill>
              <a:schemeClr val="bg2"/>
            </a:solidFill>
            <a:prstDash val="solid"/>
          </a:ln>
        </p:spPr>
      </p:sp>
      <p:sp>
        <p:nvSpPr>
          <p:cNvPr id="12" name="circle-667"/>
          <p:cNvSpPr/>
          <p:nvPr/>
        </p:nvSpPr>
        <p:spPr>
          <a:xfrm>
            <a:off x="4480560" y="2514600"/>
            <a:ext cx="548640" cy="548640"/>
          </a:xfrm>
          <a:prstGeom prst="ellipse">
            <a:avLst/>
          </a:prstGeom>
          <a:solidFill>
            <a:schemeClr val="accent6"/>
          </a:solidFill>
          <a:ln w="12700">
            <a:solidFill>
              <a:schemeClr val="accent6"/>
            </a:solidFill>
            <a:prstDash val="solid"/>
          </a:ln>
        </p:spPr>
      </p:sp>
      <p:pic>
        <p:nvPicPr>
          <p:cNvPr id="13" name="icon-668" descr="preencoded.png"/>
          <p:cNvPicPr>
            <a:picLocks noChangeAspect="1"/>
          </p:cNvPicPr>
          <p:nvPr/>
        </p:nvPicPr>
        <p:blipFill>
          <a:blip r:embed="rId4"/>
          <a:stretch>
            <a:fillRect/>
          </a:stretch>
        </p:blipFill>
        <p:spPr>
          <a:xfrm>
            <a:off x="4617720" y="2651760"/>
            <a:ext cx="274320" cy="274320"/>
          </a:xfrm>
          <a:prstGeom prst="rect">
            <a:avLst/>
          </a:prstGeom>
        </p:spPr>
      </p:pic>
      <p:sp>
        <p:nvSpPr>
          <p:cNvPr id="14" name="txt-669"/>
          <p:cNvSpPr txBox="1"/>
          <p:nvPr/>
        </p:nvSpPr>
        <p:spPr>
          <a:xfrm>
            <a:off x="5166360" y="2514600"/>
            <a:ext cx="2560320" cy="548640"/>
          </a:xfrm>
          <a:prstGeom prst="rect">
            <a:avLst/>
          </a:prstGeom>
          <a:noFill/>
          <a:ln/>
        </p:spPr>
        <p:txBody>
          <a:bodyPr wrap="square" lIns="0" tIns="0" rIns="0" bIns="0" rtlCol="0" anchor="ctr"/>
          <a:lstStyle/>
          <a:p>
            <a:pPr marL="0" indent="0">
              <a:buNone/>
            </a:pPr>
            <a:r>
              <a:rPr lang="en-US" sz="1500" b="1" dirty="0">
                <a:solidFill>
                  <a:schemeClr val="tx2"/>
                </a:solidFill>
              </a:rPr>
              <a:t>Population</a:t>
            </a:r>
            <a:endParaRPr lang="en-US" sz="1500" dirty="0"/>
          </a:p>
        </p:txBody>
      </p:sp>
      <p:sp>
        <p:nvSpPr>
          <p:cNvPr id="15" name="txt-670"/>
          <p:cNvSpPr txBox="1"/>
          <p:nvPr/>
        </p:nvSpPr>
        <p:spPr>
          <a:xfrm>
            <a:off x="4480560" y="3136392"/>
            <a:ext cx="3200400" cy="457200"/>
          </a:xfrm>
          <a:prstGeom prst="rect">
            <a:avLst/>
          </a:prstGeom>
          <a:noFill/>
          <a:ln/>
        </p:spPr>
        <p:txBody>
          <a:bodyPr wrap="square" lIns="0" tIns="0" rIns="0" bIns="0" rtlCol="0" anchor="t"/>
          <a:lstStyle/>
          <a:p>
            <a:pPr marL="0" indent="0">
              <a:buNone/>
            </a:pPr>
            <a:r>
              <a:rPr lang="en-US" sz="1200" dirty="0">
                <a:solidFill>
                  <a:schemeClr val="tx1"/>
                </a:solidFill>
              </a:rPr>
              <a:t>Un groupe oublié par les études existantes</a:t>
            </a:r>
            <a:endParaRPr lang="en-US" sz="1200" dirty="0"/>
          </a:p>
        </p:txBody>
      </p:sp>
      <p:sp>
        <p:nvSpPr>
          <p:cNvPr id="16" name="txt-671"/>
          <p:cNvSpPr txBox="1"/>
          <p:nvPr/>
        </p:nvSpPr>
        <p:spPr>
          <a:xfrm>
            <a:off x="4480560" y="3566160"/>
            <a:ext cx="3200400" cy="411480"/>
          </a:xfrm>
          <a:prstGeom prst="rect">
            <a:avLst/>
          </a:prstGeom>
          <a:noFill/>
          <a:ln/>
        </p:spPr>
        <p:txBody>
          <a:bodyPr wrap="square" lIns="0" tIns="0" rIns="0" bIns="0" rtlCol="0" anchor="t"/>
          <a:lstStyle/>
          <a:p>
            <a:pPr marL="0" indent="0">
              <a:buNone/>
            </a:pPr>
            <a:r>
              <a:rPr lang="en-US" sz="1100" i="1" dirty="0">
                <a:solidFill>
                  <a:schemeClr val="accent5"/>
                </a:solidFill>
              </a:rPr>
              <a:t>Ex. : Les doctorantes mères, les zones rurales</a:t>
            </a:r>
            <a:endParaRPr lang="en-US" sz="1100" dirty="0"/>
          </a:p>
        </p:txBody>
      </p:sp>
      <p:sp>
        <p:nvSpPr>
          <p:cNvPr id="17" name="card-672"/>
          <p:cNvSpPr/>
          <p:nvPr/>
        </p:nvSpPr>
        <p:spPr>
          <a:xfrm>
            <a:off x="8046720" y="2331720"/>
            <a:ext cx="3520440" cy="1691640"/>
          </a:xfrm>
          <a:prstGeom prst="roundRect">
            <a:avLst>
              <a:gd name="adj" fmla="val 4324"/>
            </a:avLst>
          </a:prstGeom>
          <a:solidFill>
            <a:schemeClr val="bg2"/>
          </a:solidFill>
          <a:ln w="6350">
            <a:solidFill>
              <a:schemeClr val="bg2"/>
            </a:solidFill>
            <a:prstDash val="solid"/>
          </a:ln>
        </p:spPr>
      </p:sp>
      <p:sp>
        <p:nvSpPr>
          <p:cNvPr id="18" name="circle-673"/>
          <p:cNvSpPr/>
          <p:nvPr/>
        </p:nvSpPr>
        <p:spPr>
          <a:xfrm>
            <a:off x="8229600" y="2514600"/>
            <a:ext cx="548640" cy="548640"/>
          </a:xfrm>
          <a:prstGeom prst="ellipse">
            <a:avLst/>
          </a:prstGeom>
          <a:solidFill>
            <a:schemeClr val="accent2"/>
          </a:solidFill>
          <a:ln w="12700">
            <a:solidFill>
              <a:schemeClr val="accent2"/>
            </a:solidFill>
            <a:prstDash val="solid"/>
          </a:ln>
        </p:spPr>
      </p:sp>
      <p:pic>
        <p:nvPicPr>
          <p:cNvPr id="19" name="icon-674" descr="preencoded.png"/>
          <p:cNvPicPr>
            <a:picLocks noChangeAspect="1"/>
          </p:cNvPicPr>
          <p:nvPr/>
        </p:nvPicPr>
        <p:blipFill>
          <a:blip r:embed="rId5"/>
          <a:stretch>
            <a:fillRect/>
          </a:stretch>
        </p:blipFill>
        <p:spPr>
          <a:xfrm>
            <a:off x="8366760" y="2651760"/>
            <a:ext cx="274320" cy="274320"/>
          </a:xfrm>
          <a:prstGeom prst="rect">
            <a:avLst/>
          </a:prstGeom>
        </p:spPr>
      </p:pic>
      <p:sp>
        <p:nvSpPr>
          <p:cNvPr id="20" name="txt-675"/>
          <p:cNvSpPr txBox="1"/>
          <p:nvPr/>
        </p:nvSpPr>
        <p:spPr>
          <a:xfrm>
            <a:off x="8915400" y="2514600"/>
            <a:ext cx="2560320" cy="548640"/>
          </a:xfrm>
          <a:prstGeom prst="rect">
            <a:avLst/>
          </a:prstGeom>
          <a:noFill/>
          <a:ln/>
        </p:spPr>
        <p:txBody>
          <a:bodyPr wrap="square" lIns="0" tIns="0" rIns="0" bIns="0" rtlCol="0" anchor="ctr"/>
          <a:lstStyle/>
          <a:p>
            <a:pPr marL="0" indent="0">
              <a:buNone/>
            </a:pPr>
            <a:r>
              <a:rPr lang="en-US" sz="1500" b="1" dirty="0">
                <a:solidFill>
                  <a:schemeClr val="tx2"/>
                </a:solidFill>
              </a:rPr>
              <a:t>Méthode</a:t>
            </a:r>
            <a:endParaRPr lang="en-US" sz="1500" dirty="0"/>
          </a:p>
        </p:txBody>
      </p:sp>
      <p:sp>
        <p:nvSpPr>
          <p:cNvPr id="21" name="txt-676"/>
          <p:cNvSpPr txBox="1"/>
          <p:nvPr/>
        </p:nvSpPr>
        <p:spPr>
          <a:xfrm>
            <a:off x="8229600" y="3136392"/>
            <a:ext cx="3200400" cy="457200"/>
          </a:xfrm>
          <a:prstGeom prst="rect">
            <a:avLst/>
          </a:prstGeom>
          <a:noFill/>
          <a:ln/>
        </p:spPr>
        <p:txBody>
          <a:bodyPr wrap="square" lIns="0" tIns="0" rIns="0" bIns="0" rtlCol="0" anchor="t"/>
          <a:lstStyle/>
          <a:p>
            <a:pPr marL="0" indent="0">
              <a:buNone/>
            </a:pPr>
            <a:r>
              <a:rPr lang="en-US" sz="1200" dirty="0">
                <a:solidFill>
                  <a:schemeClr val="tx1"/>
                </a:solidFill>
              </a:rPr>
              <a:t>Toujours étudié avec la même méthode</a:t>
            </a:r>
            <a:endParaRPr lang="en-US" sz="1200" dirty="0"/>
          </a:p>
        </p:txBody>
      </p:sp>
      <p:sp>
        <p:nvSpPr>
          <p:cNvPr id="22" name="txt-677"/>
          <p:cNvSpPr txBox="1"/>
          <p:nvPr/>
        </p:nvSpPr>
        <p:spPr>
          <a:xfrm>
            <a:off x="8229600" y="3566160"/>
            <a:ext cx="3200400" cy="411480"/>
          </a:xfrm>
          <a:prstGeom prst="rect">
            <a:avLst/>
          </a:prstGeom>
          <a:noFill/>
          <a:ln/>
        </p:spPr>
        <p:txBody>
          <a:bodyPr wrap="square" lIns="0" tIns="0" rIns="0" bIns="0" rtlCol="0" anchor="t"/>
          <a:lstStyle/>
          <a:p>
            <a:pPr marL="0" indent="0">
              <a:buNone/>
            </a:pPr>
            <a:r>
              <a:rPr lang="en-US" sz="1100" i="1" dirty="0">
                <a:solidFill>
                  <a:schemeClr val="accent5"/>
                </a:solidFill>
              </a:rPr>
              <a:t>Ex. : Que des questionnaires : aucune étude qualitative</a:t>
            </a:r>
            <a:endParaRPr lang="en-US" sz="1100" dirty="0"/>
          </a:p>
        </p:txBody>
      </p:sp>
      <p:sp>
        <p:nvSpPr>
          <p:cNvPr id="23" name="card-678"/>
          <p:cNvSpPr/>
          <p:nvPr/>
        </p:nvSpPr>
        <p:spPr>
          <a:xfrm>
            <a:off x="548640" y="4206240"/>
            <a:ext cx="3520440" cy="1691640"/>
          </a:xfrm>
          <a:prstGeom prst="roundRect">
            <a:avLst>
              <a:gd name="adj" fmla="val 4324"/>
            </a:avLst>
          </a:prstGeom>
          <a:solidFill>
            <a:schemeClr val="bg2"/>
          </a:solidFill>
          <a:ln w="6350">
            <a:solidFill>
              <a:schemeClr val="bg2"/>
            </a:solidFill>
            <a:prstDash val="solid"/>
          </a:ln>
        </p:spPr>
      </p:sp>
      <p:sp>
        <p:nvSpPr>
          <p:cNvPr id="24" name="circle-679"/>
          <p:cNvSpPr/>
          <p:nvPr/>
        </p:nvSpPr>
        <p:spPr>
          <a:xfrm>
            <a:off x="731520" y="4389120"/>
            <a:ext cx="548640" cy="548640"/>
          </a:xfrm>
          <a:prstGeom prst="ellipse">
            <a:avLst/>
          </a:prstGeom>
          <a:solidFill>
            <a:schemeClr val="accent1"/>
          </a:solidFill>
          <a:ln w="12700">
            <a:solidFill>
              <a:schemeClr val="accent1"/>
            </a:solidFill>
            <a:prstDash val="solid"/>
          </a:ln>
        </p:spPr>
      </p:sp>
      <p:pic>
        <p:nvPicPr>
          <p:cNvPr id="25" name="icon-680" descr="preencoded.png"/>
          <p:cNvPicPr>
            <a:picLocks noChangeAspect="1"/>
          </p:cNvPicPr>
          <p:nvPr/>
        </p:nvPicPr>
        <p:blipFill>
          <a:blip r:embed="rId6"/>
          <a:stretch>
            <a:fillRect/>
          </a:stretch>
        </p:blipFill>
        <p:spPr>
          <a:xfrm>
            <a:off x="868680" y="4526280"/>
            <a:ext cx="274320" cy="274320"/>
          </a:xfrm>
          <a:prstGeom prst="rect">
            <a:avLst/>
          </a:prstGeom>
        </p:spPr>
      </p:pic>
      <p:sp>
        <p:nvSpPr>
          <p:cNvPr id="26" name="txt-681"/>
          <p:cNvSpPr txBox="1"/>
          <p:nvPr/>
        </p:nvSpPr>
        <p:spPr>
          <a:xfrm>
            <a:off x="1417320" y="4389120"/>
            <a:ext cx="2560320" cy="548640"/>
          </a:xfrm>
          <a:prstGeom prst="rect">
            <a:avLst/>
          </a:prstGeom>
          <a:noFill/>
          <a:ln/>
        </p:spPr>
        <p:txBody>
          <a:bodyPr wrap="square" lIns="0" tIns="0" rIns="0" bIns="0" rtlCol="0" anchor="ctr"/>
          <a:lstStyle/>
          <a:p>
            <a:pPr marL="0" indent="0">
              <a:buNone/>
            </a:pPr>
            <a:r>
              <a:rPr lang="en-US" sz="1500" b="1" dirty="0">
                <a:solidFill>
                  <a:schemeClr val="tx2"/>
                </a:solidFill>
              </a:rPr>
              <a:t>Théorie</a:t>
            </a:r>
            <a:endParaRPr lang="en-US" sz="1500" dirty="0"/>
          </a:p>
        </p:txBody>
      </p:sp>
      <p:sp>
        <p:nvSpPr>
          <p:cNvPr id="27" name="txt-682"/>
          <p:cNvSpPr txBox="1"/>
          <p:nvPr/>
        </p:nvSpPr>
        <p:spPr>
          <a:xfrm>
            <a:off x="731520" y="5010912"/>
            <a:ext cx="3200400" cy="457200"/>
          </a:xfrm>
          <a:prstGeom prst="rect">
            <a:avLst/>
          </a:prstGeom>
          <a:noFill/>
          <a:ln/>
        </p:spPr>
        <p:txBody>
          <a:bodyPr wrap="square" lIns="0" tIns="0" rIns="0" bIns="0" rtlCol="0" anchor="t"/>
          <a:lstStyle/>
          <a:p>
            <a:pPr marL="0" indent="0">
              <a:buNone/>
            </a:pPr>
            <a:r>
              <a:rPr lang="en-US" sz="1200" dirty="0">
                <a:solidFill>
                  <a:schemeClr val="tx1"/>
                </a:solidFill>
              </a:rPr>
              <a:t>Un cadre théorique jamais appliqué à ce sujet</a:t>
            </a:r>
            <a:endParaRPr lang="en-US" sz="1200" dirty="0"/>
          </a:p>
        </p:txBody>
      </p:sp>
      <p:sp>
        <p:nvSpPr>
          <p:cNvPr id="28" name="txt-683"/>
          <p:cNvSpPr txBox="1"/>
          <p:nvPr/>
        </p:nvSpPr>
        <p:spPr>
          <a:xfrm>
            <a:off x="731520" y="5440680"/>
            <a:ext cx="3200400" cy="411480"/>
          </a:xfrm>
          <a:prstGeom prst="rect">
            <a:avLst/>
          </a:prstGeom>
          <a:noFill/>
          <a:ln/>
        </p:spPr>
        <p:txBody>
          <a:bodyPr wrap="square" lIns="0" tIns="0" rIns="0" bIns="0" rtlCol="0" anchor="t"/>
          <a:lstStyle/>
          <a:p>
            <a:pPr marL="0" indent="0">
              <a:buNone/>
            </a:pPr>
            <a:r>
              <a:rPr lang="en-US" sz="1100" i="1" dirty="0">
                <a:solidFill>
                  <a:schemeClr val="accent5"/>
                </a:solidFill>
              </a:rPr>
              <a:t>Ex. : Intersectionnalité appliquée aux carrières scientifiques</a:t>
            </a:r>
            <a:endParaRPr lang="en-US" sz="1100" dirty="0"/>
          </a:p>
        </p:txBody>
      </p:sp>
      <p:sp>
        <p:nvSpPr>
          <p:cNvPr id="29" name="card-684"/>
          <p:cNvSpPr/>
          <p:nvPr/>
        </p:nvSpPr>
        <p:spPr>
          <a:xfrm>
            <a:off x="4297680" y="4206240"/>
            <a:ext cx="3520440" cy="1691640"/>
          </a:xfrm>
          <a:prstGeom prst="roundRect">
            <a:avLst>
              <a:gd name="adj" fmla="val 4324"/>
            </a:avLst>
          </a:prstGeom>
          <a:solidFill>
            <a:schemeClr val="bg2"/>
          </a:solidFill>
          <a:ln w="6350">
            <a:solidFill>
              <a:schemeClr val="bg2"/>
            </a:solidFill>
            <a:prstDash val="solid"/>
          </a:ln>
        </p:spPr>
      </p:sp>
      <p:sp>
        <p:nvSpPr>
          <p:cNvPr id="30" name="circle-685"/>
          <p:cNvSpPr/>
          <p:nvPr/>
        </p:nvSpPr>
        <p:spPr>
          <a:xfrm>
            <a:off x="4480560" y="4389120"/>
            <a:ext cx="548640" cy="548640"/>
          </a:xfrm>
          <a:prstGeom prst="ellipse">
            <a:avLst/>
          </a:prstGeom>
          <a:solidFill>
            <a:schemeClr val="accent3"/>
          </a:solidFill>
          <a:ln w="12700">
            <a:solidFill>
              <a:schemeClr val="accent3"/>
            </a:solidFill>
            <a:prstDash val="solid"/>
          </a:ln>
        </p:spPr>
      </p:sp>
      <p:pic>
        <p:nvPicPr>
          <p:cNvPr id="31" name="icon-686" descr="preencoded.png"/>
          <p:cNvPicPr>
            <a:picLocks noChangeAspect="1"/>
          </p:cNvPicPr>
          <p:nvPr/>
        </p:nvPicPr>
        <p:blipFill>
          <a:blip r:embed="rId7"/>
          <a:stretch>
            <a:fillRect/>
          </a:stretch>
        </p:blipFill>
        <p:spPr>
          <a:xfrm>
            <a:off x="4617720" y="4526280"/>
            <a:ext cx="274320" cy="274320"/>
          </a:xfrm>
          <a:prstGeom prst="rect">
            <a:avLst/>
          </a:prstGeom>
        </p:spPr>
      </p:pic>
      <p:sp>
        <p:nvSpPr>
          <p:cNvPr id="32" name="txt-687"/>
          <p:cNvSpPr txBox="1"/>
          <p:nvPr/>
        </p:nvSpPr>
        <p:spPr>
          <a:xfrm>
            <a:off x="5166360" y="4389120"/>
            <a:ext cx="2560320" cy="548640"/>
          </a:xfrm>
          <a:prstGeom prst="rect">
            <a:avLst/>
          </a:prstGeom>
          <a:noFill/>
          <a:ln/>
        </p:spPr>
        <p:txBody>
          <a:bodyPr wrap="square" lIns="0" tIns="0" rIns="0" bIns="0" rtlCol="0" anchor="ctr"/>
          <a:lstStyle/>
          <a:p>
            <a:pPr marL="0" indent="0">
              <a:buNone/>
            </a:pPr>
            <a:r>
              <a:rPr lang="en-US" sz="1500" b="1" dirty="0">
                <a:solidFill>
                  <a:schemeClr val="tx2"/>
                </a:solidFill>
              </a:rPr>
              <a:t>Résultats contradictoires</a:t>
            </a:r>
            <a:endParaRPr lang="en-US" sz="1500" dirty="0"/>
          </a:p>
        </p:txBody>
      </p:sp>
      <p:sp>
        <p:nvSpPr>
          <p:cNvPr id="33" name="txt-688"/>
          <p:cNvSpPr txBox="1"/>
          <p:nvPr/>
        </p:nvSpPr>
        <p:spPr>
          <a:xfrm>
            <a:off x="4480560" y="5010912"/>
            <a:ext cx="3200400" cy="457200"/>
          </a:xfrm>
          <a:prstGeom prst="rect">
            <a:avLst/>
          </a:prstGeom>
          <a:noFill/>
          <a:ln/>
        </p:spPr>
        <p:txBody>
          <a:bodyPr wrap="square" lIns="0" tIns="0" rIns="0" bIns="0" rtlCol="0" anchor="t"/>
          <a:lstStyle/>
          <a:p>
            <a:pPr marL="0" indent="0">
              <a:buNone/>
            </a:pPr>
            <a:r>
              <a:rPr lang="en-US" sz="1200" dirty="0">
                <a:solidFill>
                  <a:schemeClr val="tx1"/>
                </a:solidFill>
              </a:rPr>
              <a:t>Les études ne sont pas d'accord entre elles</a:t>
            </a:r>
            <a:endParaRPr lang="en-US" sz="1200" dirty="0"/>
          </a:p>
        </p:txBody>
      </p:sp>
      <p:sp>
        <p:nvSpPr>
          <p:cNvPr id="34" name="txt-689"/>
          <p:cNvSpPr txBox="1"/>
          <p:nvPr/>
        </p:nvSpPr>
        <p:spPr>
          <a:xfrm>
            <a:off x="4480560" y="5440680"/>
            <a:ext cx="3200400" cy="411480"/>
          </a:xfrm>
          <a:prstGeom prst="rect">
            <a:avLst/>
          </a:prstGeom>
          <a:noFill/>
          <a:ln/>
        </p:spPr>
        <p:txBody>
          <a:bodyPr wrap="square" lIns="0" tIns="0" rIns="0" bIns="0" rtlCol="0" anchor="t"/>
          <a:lstStyle/>
          <a:p>
            <a:pPr marL="0" indent="0">
              <a:buNone/>
            </a:pPr>
            <a:r>
              <a:rPr lang="en-US" sz="1100" i="1" dirty="0">
                <a:solidFill>
                  <a:schemeClr val="accent5"/>
                </a:solidFill>
              </a:rPr>
              <a:t>Ex. : Le mariage freine-t-il la thèse ? Les résultats divergent</a:t>
            </a:r>
            <a:endParaRPr lang="en-US" sz="1100" dirty="0"/>
          </a:p>
        </p:txBody>
      </p:sp>
      <p:sp>
        <p:nvSpPr>
          <p:cNvPr id="35" name="card-690"/>
          <p:cNvSpPr/>
          <p:nvPr/>
        </p:nvSpPr>
        <p:spPr>
          <a:xfrm>
            <a:off x="8046720" y="4206240"/>
            <a:ext cx="3520440" cy="1691640"/>
          </a:xfrm>
          <a:prstGeom prst="roundRect">
            <a:avLst>
              <a:gd name="adj" fmla="val 4324"/>
            </a:avLst>
          </a:prstGeom>
          <a:solidFill>
            <a:schemeClr val="bg2"/>
          </a:solidFill>
          <a:ln w="6350">
            <a:solidFill>
              <a:schemeClr val="bg2"/>
            </a:solidFill>
            <a:prstDash val="solid"/>
          </a:ln>
        </p:spPr>
      </p:sp>
      <p:sp>
        <p:nvSpPr>
          <p:cNvPr id="36" name="circle-691"/>
          <p:cNvSpPr/>
          <p:nvPr/>
        </p:nvSpPr>
        <p:spPr>
          <a:xfrm>
            <a:off x="8229600" y="4389120"/>
            <a:ext cx="548640" cy="548640"/>
          </a:xfrm>
          <a:prstGeom prst="ellipse">
            <a:avLst/>
          </a:prstGeom>
          <a:solidFill>
            <a:schemeClr val="tx2"/>
          </a:solidFill>
          <a:ln w="12700">
            <a:solidFill>
              <a:schemeClr val="tx2"/>
            </a:solidFill>
            <a:prstDash val="solid"/>
          </a:ln>
        </p:spPr>
      </p:sp>
      <p:pic>
        <p:nvPicPr>
          <p:cNvPr id="37" name="icon-692" descr="preencoded.png"/>
          <p:cNvPicPr>
            <a:picLocks noChangeAspect="1"/>
          </p:cNvPicPr>
          <p:nvPr/>
        </p:nvPicPr>
        <p:blipFill>
          <a:blip r:embed="rId8"/>
          <a:stretch>
            <a:fillRect/>
          </a:stretch>
        </p:blipFill>
        <p:spPr>
          <a:xfrm>
            <a:off x="8366760" y="4526280"/>
            <a:ext cx="274320" cy="274320"/>
          </a:xfrm>
          <a:prstGeom prst="rect">
            <a:avLst/>
          </a:prstGeom>
        </p:spPr>
      </p:pic>
      <p:sp>
        <p:nvSpPr>
          <p:cNvPr id="38" name="txt-693"/>
          <p:cNvSpPr txBox="1"/>
          <p:nvPr/>
        </p:nvSpPr>
        <p:spPr>
          <a:xfrm>
            <a:off x="8915400" y="4389120"/>
            <a:ext cx="2560320" cy="548640"/>
          </a:xfrm>
          <a:prstGeom prst="rect">
            <a:avLst/>
          </a:prstGeom>
          <a:noFill/>
          <a:ln/>
        </p:spPr>
        <p:txBody>
          <a:bodyPr wrap="square" lIns="0" tIns="0" rIns="0" bIns="0" rtlCol="0" anchor="ctr"/>
          <a:lstStyle/>
          <a:p>
            <a:pPr marL="0" indent="0">
              <a:buNone/>
            </a:pPr>
            <a:r>
              <a:rPr lang="en-US" sz="1500" b="1" dirty="0">
                <a:solidFill>
                  <a:schemeClr val="tx2"/>
                </a:solidFill>
              </a:rPr>
              <a:t>Données datées</a:t>
            </a:r>
            <a:endParaRPr lang="en-US" sz="1500" dirty="0"/>
          </a:p>
        </p:txBody>
      </p:sp>
      <p:sp>
        <p:nvSpPr>
          <p:cNvPr id="39" name="txt-694"/>
          <p:cNvSpPr txBox="1"/>
          <p:nvPr/>
        </p:nvSpPr>
        <p:spPr>
          <a:xfrm>
            <a:off x="8229600" y="5010912"/>
            <a:ext cx="3200400" cy="457200"/>
          </a:xfrm>
          <a:prstGeom prst="rect">
            <a:avLst/>
          </a:prstGeom>
          <a:noFill/>
          <a:ln/>
        </p:spPr>
        <p:txBody>
          <a:bodyPr wrap="square" lIns="0" tIns="0" rIns="0" bIns="0" rtlCol="0" anchor="t"/>
          <a:lstStyle/>
          <a:p>
            <a:pPr marL="0" indent="0">
              <a:buNone/>
            </a:pPr>
            <a:r>
              <a:rPr lang="en-US" sz="1200" dirty="0">
                <a:solidFill>
                  <a:schemeClr val="tx1"/>
                </a:solidFill>
              </a:rPr>
              <a:t>Les données ont plus de 10 ans, le contexte a changé</a:t>
            </a:r>
            <a:endParaRPr lang="en-US" sz="1200" dirty="0"/>
          </a:p>
        </p:txBody>
      </p:sp>
      <p:sp>
        <p:nvSpPr>
          <p:cNvPr id="40" name="txt-695"/>
          <p:cNvSpPr txBox="1"/>
          <p:nvPr/>
        </p:nvSpPr>
        <p:spPr>
          <a:xfrm>
            <a:off x="8229600" y="5440680"/>
            <a:ext cx="3200400" cy="411480"/>
          </a:xfrm>
          <a:prstGeom prst="rect">
            <a:avLst/>
          </a:prstGeom>
          <a:noFill/>
          <a:ln/>
        </p:spPr>
        <p:txBody>
          <a:bodyPr wrap="square" lIns="0" tIns="0" rIns="0" bIns="0" rtlCol="0" anchor="t"/>
          <a:lstStyle/>
          <a:p>
            <a:pPr marL="0" indent="0">
              <a:buNone/>
            </a:pPr>
            <a:r>
              <a:rPr lang="en-US" sz="1100" i="1" dirty="0">
                <a:solidFill>
                  <a:schemeClr val="accent5"/>
                </a:solidFill>
              </a:rPr>
              <a:t>Ex. : Dernière enquête nationale avant la réforme LMD</a:t>
            </a:r>
            <a:endParaRPr lang="en-US" sz="1100" dirty="0"/>
          </a:p>
        </p:txBody>
      </p:sp>
      <p:sp>
        <p:nvSpPr>
          <p:cNvPr id="41" name="Slide Number Placeholder 0"/>
          <p:cNvSpPr>
            <a:spLocks noGrp="1"/>
          </p:cNvSpPr>
          <p:nvPr>
            <p:ph type="sldNum" sz="quarter" idx="4294967295"/>
          </p:nvPr>
        </p:nvSpPr>
        <p:spPr>
          <a:xfrm>
            <a:off x="11064240" y="6400800"/>
            <a:ext cx="54864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C82"/>
                </a:solidFill>
                <a:latin typeface="Poppins"/>
                <a:ea typeface="Poppins"/>
                <a:cs typeface="Poppins"/>
              </a:defRPr>
            </a:lvl1pPr>
          </a:lstStyle>
          <a:p>
            <a:pPr algn="r"/>
            <a:fld id="{F7021451-1387-4CA6-816F-3879F97B5CBC}" type="slidenum">
              <a:rPr lang="en-US" b="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566928"/>
            <a:ext cx="11064240" cy="777240"/>
          </a:xfrm>
          <a:prstGeom prst="rect">
            <a:avLst/>
          </a:prstGeom>
          <a:noFill/>
          <a:ln/>
        </p:spPr>
        <p:txBody>
          <a:bodyPr wrap="square" lIns="0" tIns="0" rIns="0" bIns="0" rtlCol="0" anchor="ctr"/>
          <a:lstStyle/>
          <a:p>
            <a:pPr marL="0" indent="0" algn="l">
              <a:buNone/>
            </a:pPr>
            <a:r>
              <a:rPr lang="en-US" sz="2700" b="1" dirty="0">
                <a:solidFill>
                  <a:schemeClr val="tx2"/>
                </a:solidFill>
                <a:latin typeface="Poppins" pitchFamily="34" charset="0"/>
                <a:ea typeface="Poppins" pitchFamily="34" charset="-122"/>
                <a:cs typeface="Poppins" pitchFamily="34" charset="-120"/>
              </a:rPr>
              <a:t>Repérer un gap avec l'IA : 4 étapes</a:t>
            </a:r>
            <a:endParaRPr lang="en-US" sz="2700" dirty="0"/>
          </a:p>
        </p:txBody>
      </p:sp>
      <p:sp>
        <p:nvSpPr>
          <p:cNvPr id="3" name="Text 0"/>
          <p:cNvSpPr>
            <a:spLocks noGrp="1"/>
          </p:cNvSpPr>
          <p:nvPr>
            <p:ph type="body" idx="101" hasCustomPrompt="1"/>
          </p:nvPr>
        </p:nvSpPr>
        <p:spPr>
          <a:xfrm>
            <a:off x="548640" y="256032"/>
            <a:ext cx="8229600" cy="292608"/>
          </a:xfrm>
          <a:prstGeom prst="rect">
            <a:avLst/>
          </a:prstGeom>
          <a:noFill/>
          <a:ln/>
        </p:spPr>
        <p:txBody>
          <a:bodyPr wrap="square" lIns="0" tIns="0" rIns="0" bIns="0" rtlCol="0" anchor="ctr"/>
          <a:lstStyle/>
          <a:p>
            <a:pPr marL="0" indent="0">
              <a:buNone/>
            </a:pPr>
            <a:r>
              <a:rPr lang="en-US" sz="1100" b="1" dirty="0">
                <a:solidFill>
                  <a:schemeClr val="accent1"/>
                </a:solidFill>
                <a:latin typeface="Poppins" pitchFamily="34" charset="0"/>
                <a:ea typeface="Poppins" pitchFamily="34" charset="-122"/>
                <a:cs typeface="Poppins" pitchFamily="34" charset="-120"/>
              </a:rPr>
              <a:t>R · TROUVER UN SUJET DE RECHERCHE</a:t>
            </a:r>
            <a:endParaRPr lang="en-US" sz="1100" dirty="0"/>
          </a:p>
        </p:txBody>
      </p:sp>
      <p:sp>
        <p:nvSpPr>
          <p:cNvPr id="4" name="card-696"/>
          <p:cNvSpPr/>
          <p:nvPr/>
        </p:nvSpPr>
        <p:spPr>
          <a:xfrm>
            <a:off x="548640" y="1554480"/>
            <a:ext cx="2606040" cy="2743200"/>
          </a:xfrm>
          <a:prstGeom prst="roundRect">
            <a:avLst>
              <a:gd name="adj" fmla="val 2807"/>
            </a:avLst>
          </a:prstGeom>
          <a:solidFill>
            <a:schemeClr val="bg2"/>
          </a:solidFill>
          <a:ln w="6350">
            <a:solidFill>
              <a:schemeClr val="bg2"/>
            </a:solidFill>
            <a:prstDash val="solid"/>
          </a:ln>
        </p:spPr>
      </p:sp>
      <p:sp>
        <p:nvSpPr>
          <p:cNvPr id="5" name="num-697"/>
          <p:cNvSpPr/>
          <p:nvPr/>
        </p:nvSpPr>
        <p:spPr>
          <a:xfrm>
            <a:off x="731520" y="1719072"/>
            <a:ext cx="457200" cy="457200"/>
          </a:xfrm>
          <a:prstGeom prst="ellipse">
            <a:avLst/>
          </a:prstGeom>
          <a:solidFill>
            <a:schemeClr val="tx2"/>
          </a:solidFill>
          <a:ln w="12700">
            <a:solidFill>
              <a:schemeClr val="tx2"/>
            </a:solidFill>
            <a:prstDash val="solid"/>
          </a:ln>
        </p:spPr>
      </p:sp>
      <p:sp>
        <p:nvSpPr>
          <p:cNvPr id="6" name="txt-698"/>
          <p:cNvSpPr txBox="1"/>
          <p:nvPr/>
        </p:nvSpPr>
        <p:spPr>
          <a:xfrm>
            <a:off x="731520" y="1719072"/>
            <a:ext cx="457200" cy="457200"/>
          </a:xfrm>
          <a:prstGeom prst="rect">
            <a:avLst/>
          </a:prstGeom>
          <a:noFill/>
          <a:ln/>
        </p:spPr>
        <p:txBody>
          <a:bodyPr wrap="square" lIns="0" tIns="0" rIns="0" bIns="0" rtlCol="0" anchor="ctr"/>
          <a:lstStyle/>
          <a:p>
            <a:pPr marL="0" indent="0" algn="ctr">
              <a:buNone/>
            </a:pPr>
            <a:r>
              <a:rPr lang="en-US" sz="1500" b="1" dirty="0">
                <a:solidFill>
                  <a:schemeClr val="bg1"/>
                </a:solidFill>
              </a:rPr>
              <a:t>1</a:t>
            </a:r>
            <a:endParaRPr lang="en-US" sz="1500" dirty="0"/>
          </a:p>
        </p:txBody>
      </p:sp>
      <p:sp>
        <p:nvSpPr>
          <p:cNvPr id="7" name="circle-699"/>
          <p:cNvSpPr/>
          <p:nvPr/>
        </p:nvSpPr>
        <p:spPr>
          <a:xfrm>
            <a:off x="2468880" y="1719072"/>
            <a:ext cx="502920" cy="502920"/>
          </a:xfrm>
          <a:prstGeom prst="ellipse">
            <a:avLst/>
          </a:prstGeom>
          <a:solidFill>
            <a:schemeClr val="accent6"/>
          </a:solidFill>
          <a:ln w="12700">
            <a:solidFill>
              <a:schemeClr val="accent6"/>
            </a:solidFill>
            <a:prstDash val="solid"/>
          </a:ln>
        </p:spPr>
      </p:sp>
      <p:pic>
        <p:nvPicPr>
          <p:cNvPr id="8" name="icon-700" descr="preencoded.png"/>
          <p:cNvPicPr>
            <a:picLocks noChangeAspect="1"/>
          </p:cNvPicPr>
          <p:nvPr/>
        </p:nvPicPr>
        <p:blipFill>
          <a:blip r:embed="rId3"/>
          <a:stretch>
            <a:fillRect/>
          </a:stretch>
        </p:blipFill>
        <p:spPr>
          <a:xfrm>
            <a:off x="2594610" y="1844802"/>
            <a:ext cx="251460" cy="251460"/>
          </a:xfrm>
          <a:prstGeom prst="rect">
            <a:avLst/>
          </a:prstGeom>
        </p:spPr>
      </p:pic>
      <p:sp>
        <p:nvSpPr>
          <p:cNvPr id="9" name="txt-701"/>
          <p:cNvSpPr txBox="1"/>
          <p:nvPr/>
        </p:nvSpPr>
        <p:spPr>
          <a:xfrm>
            <a:off x="731520" y="2377440"/>
            <a:ext cx="2286000" cy="411480"/>
          </a:xfrm>
          <a:prstGeom prst="rect">
            <a:avLst/>
          </a:prstGeom>
          <a:noFill/>
          <a:ln/>
        </p:spPr>
        <p:txBody>
          <a:bodyPr wrap="square" lIns="0" tIns="0" rIns="0" bIns="0" rtlCol="0" anchor="t"/>
          <a:lstStyle/>
          <a:p>
            <a:pPr marL="0" indent="0">
              <a:buNone/>
            </a:pPr>
            <a:r>
              <a:rPr lang="en-US" sz="1700" b="1" dirty="0">
                <a:solidFill>
                  <a:schemeClr val="tx2"/>
                </a:solidFill>
              </a:rPr>
              <a:t>Cartographier</a:t>
            </a:r>
            <a:endParaRPr lang="en-US" sz="1700" dirty="0"/>
          </a:p>
        </p:txBody>
      </p:sp>
      <p:sp>
        <p:nvSpPr>
          <p:cNvPr id="10" name="txt-702"/>
          <p:cNvSpPr txBox="1"/>
          <p:nvPr/>
        </p:nvSpPr>
        <p:spPr>
          <a:xfrm>
            <a:off x="731520" y="2834640"/>
            <a:ext cx="2286000" cy="1371600"/>
          </a:xfrm>
          <a:prstGeom prst="rect">
            <a:avLst/>
          </a:prstGeom>
          <a:noFill/>
          <a:ln/>
        </p:spPr>
        <p:txBody>
          <a:bodyPr wrap="square" lIns="0" tIns="0" rIns="0" bIns="0" rtlCol="0" anchor="t"/>
          <a:lstStyle/>
          <a:p>
            <a:pPr marL="0" indent="0">
              <a:buNone/>
            </a:pPr>
            <a:r>
              <a:rPr lang="en-US" sz="1300" dirty="0">
                <a:solidFill>
                  <a:schemeClr val="tx1"/>
                </a:solidFill>
              </a:rPr>
              <a:t>ResearchRabbit ou Connected Papers, à partir d'un article clé : où sont les zones vides ?</a:t>
            </a:r>
            <a:endParaRPr lang="en-US" sz="1300" dirty="0"/>
          </a:p>
        </p:txBody>
      </p:sp>
      <p:sp>
        <p:nvSpPr>
          <p:cNvPr id="11" name="arrow-703"/>
          <p:cNvSpPr/>
          <p:nvPr/>
        </p:nvSpPr>
        <p:spPr>
          <a:xfrm>
            <a:off x="3182112" y="2926080"/>
            <a:ext cx="155448" cy="0"/>
          </a:xfrm>
          <a:prstGeom prst="line">
            <a:avLst/>
          </a:prstGeom>
          <a:noFill/>
          <a:ln w="22225">
            <a:solidFill>
              <a:srgbClr val="6B7C82"/>
            </a:solidFill>
            <a:prstDash val="solid"/>
            <a:tailEnd type="triangle"/>
          </a:ln>
        </p:spPr>
      </p:sp>
      <p:sp>
        <p:nvSpPr>
          <p:cNvPr id="12" name="card-704"/>
          <p:cNvSpPr/>
          <p:nvPr/>
        </p:nvSpPr>
        <p:spPr>
          <a:xfrm>
            <a:off x="3364992" y="1554480"/>
            <a:ext cx="2606040" cy="2743200"/>
          </a:xfrm>
          <a:prstGeom prst="roundRect">
            <a:avLst>
              <a:gd name="adj" fmla="val 2807"/>
            </a:avLst>
          </a:prstGeom>
          <a:solidFill>
            <a:schemeClr val="bg2"/>
          </a:solidFill>
          <a:ln w="6350">
            <a:solidFill>
              <a:schemeClr val="bg2"/>
            </a:solidFill>
            <a:prstDash val="solid"/>
          </a:ln>
        </p:spPr>
      </p:sp>
      <p:sp>
        <p:nvSpPr>
          <p:cNvPr id="13" name="num-705"/>
          <p:cNvSpPr/>
          <p:nvPr/>
        </p:nvSpPr>
        <p:spPr>
          <a:xfrm>
            <a:off x="3547872" y="1719072"/>
            <a:ext cx="457200" cy="457200"/>
          </a:xfrm>
          <a:prstGeom prst="ellipse">
            <a:avLst/>
          </a:prstGeom>
          <a:solidFill>
            <a:schemeClr val="tx2"/>
          </a:solidFill>
          <a:ln w="12700">
            <a:solidFill>
              <a:schemeClr val="tx2"/>
            </a:solidFill>
            <a:prstDash val="solid"/>
          </a:ln>
        </p:spPr>
      </p:sp>
      <p:sp>
        <p:nvSpPr>
          <p:cNvPr id="14" name="txt-706"/>
          <p:cNvSpPr txBox="1"/>
          <p:nvPr/>
        </p:nvSpPr>
        <p:spPr>
          <a:xfrm>
            <a:off x="3547872" y="1719072"/>
            <a:ext cx="457200" cy="457200"/>
          </a:xfrm>
          <a:prstGeom prst="rect">
            <a:avLst/>
          </a:prstGeom>
          <a:noFill/>
          <a:ln/>
        </p:spPr>
        <p:txBody>
          <a:bodyPr wrap="square" lIns="0" tIns="0" rIns="0" bIns="0" rtlCol="0" anchor="ctr"/>
          <a:lstStyle/>
          <a:p>
            <a:pPr marL="0" indent="0" algn="ctr">
              <a:buNone/>
            </a:pPr>
            <a:r>
              <a:rPr lang="en-US" sz="1500" b="1" dirty="0">
                <a:solidFill>
                  <a:schemeClr val="bg1"/>
                </a:solidFill>
              </a:rPr>
              <a:t>2</a:t>
            </a:r>
            <a:endParaRPr lang="en-US" sz="1500" dirty="0"/>
          </a:p>
        </p:txBody>
      </p:sp>
      <p:sp>
        <p:nvSpPr>
          <p:cNvPr id="15" name="circle-707"/>
          <p:cNvSpPr/>
          <p:nvPr/>
        </p:nvSpPr>
        <p:spPr>
          <a:xfrm>
            <a:off x="5285232" y="1719072"/>
            <a:ext cx="502920" cy="502920"/>
          </a:xfrm>
          <a:prstGeom prst="ellipse">
            <a:avLst/>
          </a:prstGeom>
          <a:solidFill>
            <a:schemeClr val="accent4"/>
          </a:solidFill>
          <a:ln w="12700">
            <a:solidFill>
              <a:schemeClr val="accent4"/>
            </a:solidFill>
            <a:prstDash val="solid"/>
          </a:ln>
        </p:spPr>
      </p:sp>
      <p:pic>
        <p:nvPicPr>
          <p:cNvPr id="16" name="icon-708" descr="preencoded.png"/>
          <p:cNvPicPr>
            <a:picLocks noChangeAspect="1"/>
          </p:cNvPicPr>
          <p:nvPr/>
        </p:nvPicPr>
        <p:blipFill>
          <a:blip r:embed="rId4"/>
          <a:stretch>
            <a:fillRect/>
          </a:stretch>
        </p:blipFill>
        <p:spPr>
          <a:xfrm>
            <a:off x="5410962" y="1844802"/>
            <a:ext cx="251460" cy="251460"/>
          </a:xfrm>
          <a:prstGeom prst="rect">
            <a:avLst/>
          </a:prstGeom>
        </p:spPr>
      </p:pic>
      <p:sp>
        <p:nvSpPr>
          <p:cNvPr id="17" name="txt-709"/>
          <p:cNvSpPr txBox="1"/>
          <p:nvPr/>
        </p:nvSpPr>
        <p:spPr>
          <a:xfrm>
            <a:off x="3547872" y="2377440"/>
            <a:ext cx="2286000" cy="411480"/>
          </a:xfrm>
          <a:prstGeom prst="rect">
            <a:avLst/>
          </a:prstGeom>
          <a:noFill/>
          <a:ln/>
        </p:spPr>
        <p:txBody>
          <a:bodyPr wrap="square" lIns="0" tIns="0" rIns="0" bIns="0" rtlCol="0" anchor="t"/>
          <a:lstStyle/>
          <a:p>
            <a:pPr marL="0" indent="0">
              <a:buNone/>
            </a:pPr>
            <a:r>
              <a:rPr lang="en-US" sz="1700" b="1" dirty="0">
                <a:solidFill>
                  <a:schemeClr val="tx2"/>
                </a:solidFill>
              </a:rPr>
              <a:t>Tabuler</a:t>
            </a:r>
            <a:endParaRPr lang="en-US" sz="1700" dirty="0"/>
          </a:p>
        </p:txBody>
      </p:sp>
      <p:sp>
        <p:nvSpPr>
          <p:cNvPr id="18" name="txt-710"/>
          <p:cNvSpPr txBox="1"/>
          <p:nvPr/>
        </p:nvSpPr>
        <p:spPr>
          <a:xfrm>
            <a:off x="3547872" y="2834640"/>
            <a:ext cx="2286000" cy="1371600"/>
          </a:xfrm>
          <a:prstGeom prst="rect">
            <a:avLst/>
          </a:prstGeom>
          <a:noFill/>
          <a:ln/>
        </p:spPr>
        <p:txBody>
          <a:bodyPr wrap="square" lIns="0" tIns="0" rIns="0" bIns="0" rtlCol="0" anchor="t"/>
          <a:lstStyle/>
          <a:p>
            <a:pPr marL="0" indent="0">
              <a:buNone/>
            </a:pPr>
            <a:r>
              <a:rPr lang="en-US" sz="1300" dirty="0">
                <a:solidFill>
                  <a:schemeClr val="tx1"/>
                </a:solidFill>
              </a:rPr>
              <a:t>Elicit, ou la matrice du Lab 2 : pays, population, méthode, cadre théorique, limites</a:t>
            </a:r>
            <a:endParaRPr lang="en-US" sz="1300" dirty="0"/>
          </a:p>
        </p:txBody>
      </p:sp>
      <p:sp>
        <p:nvSpPr>
          <p:cNvPr id="19" name="arrow-711"/>
          <p:cNvSpPr/>
          <p:nvPr/>
        </p:nvSpPr>
        <p:spPr>
          <a:xfrm>
            <a:off x="5998464" y="2926080"/>
            <a:ext cx="155448" cy="0"/>
          </a:xfrm>
          <a:prstGeom prst="line">
            <a:avLst/>
          </a:prstGeom>
          <a:noFill/>
          <a:ln w="22225">
            <a:solidFill>
              <a:srgbClr val="6B7C82"/>
            </a:solidFill>
            <a:prstDash val="solid"/>
            <a:tailEnd type="triangle"/>
          </a:ln>
        </p:spPr>
      </p:sp>
      <p:sp>
        <p:nvSpPr>
          <p:cNvPr id="20" name="card-712"/>
          <p:cNvSpPr/>
          <p:nvPr/>
        </p:nvSpPr>
        <p:spPr>
          <a:xfrm>
            <a:off x="6181344" y="1554480"/>
            <a:ext cx="2606040" cy="2743200"/>
          </a:xfrm>
          <a:prstGeom prst="roundRect">
            <a:avLst>
              <a:gd name="adj" fmla="val 2807"/>
            </a:avLst>
          </a:prstGeom>
          <a:solidFill>
            <a:schemeClr val="bg2"/>
          </a:solidFill>
          <a:ln w="6350">
            <a:solidFill>
              <a:schemeClr val="bg2"/>
            </a:solidFill>
            <a:prstDash val="solid"/>
          </a:ln>
        </p:spPr>
      </p:sp>
      <p:sp>
        <p:nvSpPr>
          <p:cNvPr id="21" name="num-713"/>
          <p:cNvSpPr/>
          <p:nvPr/>
        </p:nvSpPr>
        <p:spPr>
          <a:xfrm>
            <a:off x="6364224" y="1719072"/>
            <a:ext cx="457200" cy="457200"/>
          </a:xfrm>
          <a:prstGeom prst="ellipse">
            <a:avLst/>
          </a:prstGeom>
          <a:solidFill>
            <a:schemeClr val="tx2"/>
          </a:solidFill>
          <a:ln w="12700">
            <a:solidFill>
              <a:schemeClr val="tx2"/>
            </a:solidFill>
            <a:prstDash val="solid"/>
          </a:ln>
        </p:spPr>
      </p:sp>
      <p:sp>
        <p:nvSpPr>
          <p:cNvPr id="22" name="txt-714"/>
          <p:cNvSpPr txBox="1"/>
          <p:nvPr/>
        </p:nvSpPr>
        <p:spPr>
          <a:xfrm>
            <a:off x="6364224" y="1719072"/>
            <a:ext cx="457200" cy="457200"/>
          </a:xfrm>
          <a:prstGeom prst="rect">
            <a:avLst/>
          </a:prstGeom>
          <a:noFill/>
          <a:ln/>
        </p:spPr>
        <p:txBody>
          <a:bodyPr wrap="square" lIns="0" tIns="0" rIns="0" bIns="0" rtlCol="0" anchor="ctr"/>
          <a:lstStyle/>
          <a:p>
            <a:pPr marL="0" indent="0" algn="ctr">
              <a:buNone/>
            </a:pPr>
            <a:r>
              <a:rPr lang="en-US" sz="1500" b="1" dirty="0">
                <a:solidFill>
                  <a:schemeClr val="bg1"/>
                </a:solidFill>
              </a:rPr>
              <a:t>3</a:t>
            </a:r>
            <a:endParaRPr lang="en-US" sz="1500" dirty="0"/>
          </a:p>
        </p:txBody>
      </p:sp>
      <p:sp>
        <p:nvSpPr>
          <p:cNvPr id="23" name="circle-715"/>
          <p:cNvSpPr/>
          <p:nvPr/>
        </p:nvSpPr>
        <p:spPr>
          <a:xfrm>
            <a:off x="8101584" y="1719072"/>
            <a:ext cx="502920" cy="502920"/>
          </a:xfrm>
          <a:prstGeom prst="ellipse">
            <a:avLst/>
          </a:prstGeom>
          <a:solidFill>
            <a:schemeClr val="accent2"/>
          </a:solidFill>
          <a:ln w="12700">
            <a:solidFill>
              <a:schemeClr val="accent2"/>
            </a:solidFill>
            <a:prstDash val="solid"/>
          </a:ln>
        </p:spPr>
      </p:sp>
      <p:pic>
        <p:nvPicPr>
          <p:cNvPr id="24" name="icon-716" descr="preencoded.png"/>
          <p:cNvPicPr>
            <a:picLocks noChangeAspect="1"/>
          </p:cNvPicPr>
          <p:nvPr/>
        </p:nvPicPr>
        <p:blipFill>
          <a:blip r:embed="rId5"/>
          <a:stretch>
            <a:fillRect/>
          </a:stretch>
        </p:blipFill>
        <p:spPr>
          <a:xfrm>
            <a:off x="8227314" y="1844802"/>
            <a:ext cx="251460" cy="251460"/>
          </a:xfrm>
          <a:prstGeom prst="rect">
            <a:avLst/>
          </a:prstGeom>
        </p:spPr>
      </p:pic>
      <p:sp>
        <p:nvSpPr>
          <p:cNvPr id="25" name="txt-717"/>
          <p:cNvSpPr txBox="1"/>
          <p:nvPr/>
        </p:nvSpPr>
        <p:spPr>
          <a:xfrm>
            <a:off x="6364224" y="2377440"/>
            <a:ext cx="2286000" cy="411480"/>
          </a:xfrm>
          <a:prstGeom prst="rect">
            <a:avLst/>
          </a:prstGeom>
          <a:noFill/>
          <a:ln/>
        </p:spPr>
        <p:txBody>
          <a:bodyPr wrap="square" lIns="0" tIns="0" rIns="0" bIns="0" rtlCol="0" anchor="t"/>
          <a:lstStyle/>
          <a:p>
            <a:pPr marL="0" indent="0">
              <a:buNone/>
            </a:pPr>
            <a:r>
              <a:rPr lang="en-US" sz="1700" b="1" dirty="0">
                <a:solidFill>
                  <a:schemeClr val="tx2"/>
                </a:solidFill>
              </a:rPr>
              <a:t>Lire les limites</a:t>
            </a:r>
            <a:endParaRPr lang="en-US" sz="1700" dirty="0"/>
          </a:p>
        </p:txBody>
      </p:sp>
      <p:sp>
        <p:nvSpPr>
          <p:cNvPr id="26" name="txt-718"/>
          <p:cNvSpPr txBox="1"/>
          <p:nvPr/>
        </p:nvSpPr>
        <p:spPr>
          <a:xfrm>
            <a:off x="6364224" y="2834640"/>
            <a:ext cx="2286000" cy="1371600"/>
          </a:xfrm>
          <a:prstGeom prst="rect">
            <a:avLst/>
          </a:prstGeom>
          <a:noFill/>
          <a:ln/>
        </p:spPr>
        <p:txBody>
          <a:bodyPr wrap="square" lIns="0" tIns="0" rIns="0" bIns="0" rtlCol="0" anchor="t"/>
          <a:lstStyle/>
          <a:p>
            <a:pPr marL="0" indent="0">
              <a:buNone/>
            </a:pPr>
            <a:r>
              <a:rPr lang="en-US" sz="1300" dirty="0">
                <a:solidFill>
                  <a:schemeClr val="tx1"/>
                </a:solidFill>
              </a:rPr>
              <a:t>Ce que les auteurs disent eux-mêmes qu'il reste à faire (« future research »)</a:t>
            </a:r>
            <a:endParaRPr lang="en-US" sz="1300" dirty="0"/>
          </a:p>
        </p:txBody>
      </p:sp>
      <p:sp>
        <p:nvSpPr>
          <p:cNvPr id="27" name="arrow-719"/>
          <p:cNvSpPr/>
          <p:nvPr/>
        </p:nvSpPr>
        <p:spPr>
          <a:xfrm>
            <a:off x="8814816" y="2926080"/>
            <a:ext cx="155448" cy="0"/>
          </a:xfrm>
          <a:prstGeom prst="line">
            <a:avLst/>
          </a:prstGeom>
          <a:noFill/>
          <a:ln w="22225">
            <a:solidFill>
              <a:srgbClr val="6B7C82"/>
            </a:solidFill>
            <a:prstDash val="solid"/>
            <a:tailEnd type="triangle"/>
          </a:ln>
        </p:spPr>
      </p:sp>
      <p:sp>
        <p:nvSpPr>
          <p:cNvPr id="28" name="card-720"/>
          <p:cNvSpPr/>
          <p:nvPr/>
        </p:nvSpPr>
        <p:spPr>
          <a:xfrm>
            <a:off x="8997696" y="1554480"/>
            <a:ext cx="2606040" cy="2743200"/>
          </a:xfrm>
          <a:prstGeom prst="roundRect">
            <a:avLst>
              <a:gd name="adj" fmla="val 2807"/>
            </a:avLst>
          </a:prstGeom>
          <a:solidFill>
            <a:schemeClr val="bg2"/>
          </a:solidFill>
          <a:ln w="6350">
            <a:solidFill>
              <a:schemeClr val="bg2"/>
            </a:solidFill>
            <a:prstDash val="solid"/>
          </a:ln>
        </p:spPr>
      </p:sp>
      <p:sp>
        <p:nvSpPr>
          <p:cNvPr id="29" name="num-721"/>
          <p:cNvSpPr/>
          <p:nvPr/>
        </p:nvSpPr>
        <p:spPr>
          <a:xfrm>
            <a:off x="9180576" y="1719072"/>
            <a:ext cx="457200" cy="457200"/>
          </a:xfrm>
          <a:prstGeom prst="ellipse">
            <a:avLst/>
          </a:prstGeom>
          <a:solidFill>
            <a:schemeClr val="tx2"/>
          </a:solidFill>
          <a:ln w="12700">
            <a:solidFill>
              <a:schemeClr val="tx2"/>
            </a:solidFill>
            <a:prstDash val="solid"/>
          </a:ln>
        </p:spPr>
      </p:sp>
      <p:sp>
        <p:nvSpPr>
          <p:cNvPr id="30" name="txt-722"/>
          <p:cNvSpPr txBox="1"/>
          <p:nvPr/>
        </p:nvSpPr>
        <p:spPr>
          <a:xfrm>
            <a:off x="9180576" y="1719072"/>
            <a:ext cx="457200" cy="457200"/>
          </a:xfrm>
          <a:prstGeom prst="rect">
            <a:avLst/>
          </a:prstGeom>
          <a:noFill/>
          <a:ln/>
        </p:spPr>
        <p:txBody>
          <a:bodyPr wrap="square" lIns="0" tIns="0" rIns="0" bIns="0" rtlCol="0" anchor="ctr"/>
          <a:lstStyle/>
          <a:p>
            <a:pPr marL="0" indent="0" algn="ctr">
              <a:buNone/>
            </a:pPr>
            <a:r>
              <a:rPr lang="en-US" sz="1500" b="1" dirty="0">
                <a:solidFill>
                  <a:schemeClr val="bg1"/>
                </a:solidFill>
              </a:rPr>
              <a:t>4</a:t>
            </a:r>
            <a:endParaRPr lang="en-US" sz="1500" dirty="0"/>
          </a:p>
        </p:txBody>
      </p:sp>
      <p:sp>
        <p:nvSpPr>
          <p:cNvPr id="31" name="circle-723"/>
          <p:cNvSpPr/>
          <p:nvPr/>
        </p:nvSpPr>
        <p:spPr>
          <a:xfrm>
            <a:off x="10917936" y="1719072"/>
            <a:ext cx="502920" cy="502920"/>
          </a:xfrm>
          <a:prstGeom prst="ellipse">
            <a:avLst/>
          </a:prstGeom>
          <a:solidFill>
            <a:schemeClr val="accent3"/>
          </a:solidFill>
          <a:ln w="12700">
            <a:solidFill>
              <a:schemeClr val="accent3"/>
            </a:solidFill>
            <a:prstDash val="solid"/>
          </a:ln>
        </p:spPr>
      </p:sp>
      <p:pic>
        <p:nvPicPr>
          <p:cNvPr id="32" name="icon-724" descr="preencoded.png"/>
          <p:cNvPicPr>
            <a:picLocks noChangeAspect="1"/>
          </p:cNvPicPr>
          <p:nvPr/>
        </p:nvPicPr>
        <p:blipFill>
          <a:blip r:embed="rId6"/>
          <a:stretch>
            <a:fillRect/>
          </a:stretch>
        </p:blipFill>
        <p:spPr>
          <a:xfrm>
            <a:off x="11043666" y="1844802"/>
            <a:ext cx="251460" cy="251460"/>
          </a:xfrm>
          <a:prstGeom prst="rect">
            <a:avLst/>
          </a:prstGeom>
        </p:spPr>
      </p:pic>
      <p:sp>
        <p:nvSpPr>
          <p:cNvPr id="33" name="txt-725"/>
          <p:cNvSpPr txBox="1"/>
          <p:nvPr/>
        </p:nvSpPr>
        <p:spPr>
          <a:xfrm>
            <a:off x="9180576" y="2377440"/>
            <a:ext cx="2286000" cy="411480"/>
          </a:xfrm>
          <a:prstGeom prst="rect">
            <a:avLst/>
          </a:prstGeom>
          <a:noFill/>
          <a:ln/>
        </p:spPr>
        <p:txBody>
          <a:bodyPr wrap="square" lIns="0" tIns="0" rIns="0" bIns="0" rtlCol="0" anchor="t"/>
          <a:lstStyle/>
          <a:p>
            <a:pPr marL="0" indent="0">
              <a:buNone/>
            </a:pPr>
            <a:r>
              <a:rPr lang="en-US" sz="1700" b="1" dirty="0">
                <a:solidFill>
                  <a:schemeClr val="tx2"/>
                </a:solidFill>
              </a:rPr>
              <a:t>Tester</a:t>
            </a:r>
            <a:endParaRPr lang="en-US" sz="1700" dirty="0"/>
          </a:p>
        </p:txBody>
      </p:sp>
      <p:sp>
        <p:nvSpPr>
          <p:cNvPr id="34" name="txt-726"/>
          <p:cNvSpPr txBox="1"/>
          <p:nvPr/>
        </p:nvSpPr>
        <p:spPr>
          <a:xfrm>
            <a:off x="9180576" y="2834640"/>
            <a:ext cx="2286000" cy="1371600"/>
          </a:xfrm>
          <a:prstGeom prst="rect">
            <a:avLst/>
          </a:prstGeom>
          <a:noFill/>
          <a:ln/>
        </p:spPr>
        <p:txBody>
          <a:bodyPr wrap="square" lIns="0" tIns="0" rIns="0" bIns="0" rtlCol="0" anchor="t"/>
          <a:lstStyle/>
          <a:p>
            <a:pPr marL="0" indent="0">
              <a:buNone/>
            </a:pPr>
            <a:r>
              <a:rPr lang="en-US" sz="1300" dirty="0">
                <a:solidFill>
                  <a:schemeClr val="tx1"/>
                </a:solidFill>
              </a:rPr>
              <a:t>Chercher la question dans Semantic Scholar et Google Scholar : quelqu'un l'a-t-il déjà traitée ?</a:t>
            </a:r>
            <a:endParaRPr lang="en-US" sz="1300" dirty="0"/>
          </a:p>
        </p:txBody>
      </p:sp>
      <p:sp>
        <p:nvSpPr>
          <p:cNvPr id="35" name="card-727"/>
          <p:cNvSpPr/>
          <p:nvPr/>
        </p:nvSpPr>
        <p:spPr>
          <a:xfrm>
            <a:off x="548640" y="4526280"/>
            <a:ext cx="11064240" cy="1417320"/>
          </a:xfrm>
          <a:prstGeom prst="roundRect">
            <a:avLst>
              <a:gd name="adj" fmla="val 5161"/>
            </a:avLst>
          </a:prstGeom>
          <a:solidFill>
            <a:schemeClr val="tx2"/>
          </a:solidFill>
          <a:ln w="6350">
            <a:solidFill>
              <a:schemeClr val="tx2"/>
            </a:solidFill>
            <a:prstDash val="solid"/>
          </a:ln>
        </p:spPr>
      </p:sp>
      <p:sp>
        <p:nvSpPr>
          <p:cNvPr id="36" name="circle-728"/>
          <p:cNvSpPr/>
          <p:nvPr/>
        </p:nvSpPr>
        <p:spPr>
          <a:xfrm>
            <a:off x="777240" y="4754880"/>
            <a:ext cx="640080" cy="640080"/>
          </a:xfrm>
          <a:prstGeom prst="ellipse">
            <a:avLst/>
          </a:prstGeom>
          <a:solidFill>
            <a:schemeClr val="accent1"/>
          </a:solidFill>
          <a:ln w="12700">
            <a:solidFill>
              <a:schemeClr val="accent1"/>
            </a:solidFill>
            <a:prstDash val="solid"/>
          </a:ln>
        </p:spPr>
      </p:sp>
      <p:pic>
        <p:nvPicPr>
          <p:cNvPr id="37" name="icon-729" descr="preencoded.png"/>
          <p:cNvPicPr>
            <a:picLocks noChangeAspect="1"/>
          </p:cNvPicPr>
          <p:nvPr/>
        </p:nvPicPr>
        <p:blipFill>
          <a:blip r:embed="rId7"/>
          <a:stretch>
            <a:fillRect/>
          </a:stretch>
        </p:blipFill>
        <p:spPr>
          <a:xfrm>
            <a:off x="937260" y="4914900"/>
            <a:ext cx="320040" cy="320040"/>
          </a:xfrm>
          <a:prstGeom prst="rect">
            <a:avLst/>
          </a:prstGeom>
        </p:spPr>
      </p:pic>
      <p:sp>
        <p:nvSpPr>
          <p:cNvPr id="38" name="txt-730"/>
          <p:cNvSpPr txBox="1"/>
          <p:nvPr/>
        </p:nvSpPr>
        <p:spPr>
          <a:xfrm>
            <a:off x="1600200" y="4572000"/>
            <a:ext cx="9875520" cy="1325880"/>
          </a:xfrm>
          <a:prstGeom prst="rect">
            <a:avLst/>
          </a:prstGeom>
          <a:noFill/>
          <a:ln/>
        </p:spPr>
        <p:txBody>
          <a:bodyPr wrap="square" lIns="0" tIns="0" rIns="0" bIns="0" rtlCol="0" anchor="ctr"/>
          <a:lstStyle/>
          <a:p>
            <a:pPr marL="0" indent="0">
              <a:buNone/>
            </a:pPr>
            <a:r>
              <a:rPr lang="en-US" sz="1400" b="1" dirty="0">
                <a:solidFill>
                  <a:schemeClr val="accent1"/>
                </a:solidFill>
              </a:rPr>
              <a:t>Le piège : </a:t>
            </a:r>
            <a:r>
              <a:rPr lang="en-US" sz="1400" dirty="0">
                <a:solidFill>
                  <a:schemeClr val="bg1"/>
                </a:solidFill>
              </a:rPr>
              <a:t>« Trouve-moi un sujet de thèse original » donne des sujets vagues, déjà traités ou irréalisables. Et un « gap » annoncé par un chatbot peut n'être qu'un trou dans SA mémoire : il connaît mal les revues africaines, les thèses et la littérature grise.</a:t>
            </a:r>
            <a:endParaRPr lang="en-US" sz="1400" dirty="0"/>
          </a:p>
        </p:txBody>
      </p:sp>
      <p:sp>
        <p:nvSpPr>
          <p:cNvPr id="39" name="Slide Number Placeholder 0"/>
          <p:cNvSpPr>
            <a:spLocks noGrp="1"/>
          </p:cNvSpPr>
          <p:nvPr>
            <p:ph type="sldNum" sz="quarter" idx="4294967295"/>
          </p:nvPr>
        </p:nvSpPr>
        <p:spPr>
          <a:xfrm>
            <a:off x="11064240" y="6400800"/>
            <a:ext cx="54864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C82"/>
                </a:solidFill>
                <a:latin typeface="Poppins"/>
                <a:ea typeface="Poppins"/>
                <a:cs typeface="Poppins"/>
              </a:defRPr>
            </a:lvl1pPr>
          </a:lstStyle>
          <a:p>
            <a:pPr algn="r"/>
            <a:fld id="{F7021451-1387-4CA6-816F-3879F97B5CBC}" type="slidenum">
              <a:rPr lang="en-US" b="0"/>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566928"/>
            <a:ext cx="11064240" cy="777240"/>
          </a:xfrm>
          <a:prstGeom prst="rect">
            <a:avLst/>
          </a:prstGeom>
          <a:noFill/>
          <a:ln/>
        </p:spPr>
        <p:txBody>
          <a:bodyPr wrap="square" lIns="0" tIns="0" rIns="0" bIns="0" rtlCol="0" anchor="ctr"/>
          <a:lstStyle/>
          <a:p>
            <a:pPr marL="0" indent="0" algn="l">
              <a:buNone/>
            </a:pPr>
            <a:r>
              <a:rPr lang="en-US" sz="2700" b="1" dirty="0">
                <a:solidFill>
                  <a:schemeClr val="tx2"/>
                </a:solidFill>
                <a:latin typeface="Poppins" pitchFamily="34" charset="0"/>
                <a:ea typeface="Poppins" pitchFamily="34" charset="-122"/>
                <a:cs typeface="Poppins" pitchFamily="34" charset="-120"/>
              </a:rPr>
              <a:t>Trois prompts pour faire émerger un gap</a:t>
            </a:r>
            <a:endParaRPr lang="en-US" sz="2700" dirty="0"/>
          </a:p>
        </p:txBody>
      </p:sp>
      <p:sp>
        <p:nvSpPr>
          <p:cNvPr id="3" name="Text 0"/>
          <p:cNvSpPr>
            <a:spLocks noGrp="1"/>
          </p:cNvSpPr>
          <p:nvPr>
            <p:ph type="body" idx="101" hasCustomPrompt="1"/>
          </p:nvPr>
        </p:nvSpPr>
        <p:spPr>
          <a:xfrm>
            <a:off x="548640" y="256032"/>
            <a:ext cx="8229600" cy="292608"/>
          </a:xfrm>
          <a:prstGeom prst="rect">
            <a:avLst/>
          </a:prstGeom>
          <a:noFill/>
          <a:ln/>
        </p:spPr>
        <p:txBody>
          <a:bodyPr wrap="square" lIns="0" tIns="0" rIns="0" bIns="0" rtlCol="0" anchor="ctr"/>
          <a:lstStyle/>
          <a:p>
            <a:pPr marL="0" indent="0">
              <a:buNone/>
            </a:pPr>
            <a:r>
              <a:rPr lang="en-US" sz="1100" b="1" dirty="0">
                <a:solidFill>
                  <a:schemeClr val="accent1"/>
                </a:solidFill>
                <a:latin typeface="Poppins" pitchFamily="34" charset="0"/>
                <a:ea typeface="Poppins" pitchFamily="34" charset="-122"/>
                <a:cs typeface="Poppins" pitchFamily="34" charset="-120"/>
              </a:rPr>
              <a:t>R · TROUVER UN SUJET DE RECHERCHE</a:t>
            </a:r>
            <a:endParaRPr lang="en-US" sz="1100" dirty="0"/>
          </a:p>
        </p:txBody>
      </p:sp>
      <p:sp>
        <p:nvSpPr>
          <p:cNvPr id="4" name="card-731"/>
          <p:cNvSpPr/>
          <p:nvPr/>
        </p:nvSpPr>
        <p:spPr>
          <a:xfrm>
            <a:off x="548640" y="1508760"/>
            <a:ext cx="3611880" cy="3017520"/>
          </a:xfrm>
          <a:prstGeom prst="roundRect">
            <a:avLst>
              <a:gd name="adj" fmla="val 2424"/>
            </a:avLst>
          </a:prstGeom>
          <a:solidFill>
            <a:schemeClr val="bg1"/>
          </a:solidFill>
          <a:ln w="6350">
            <a:solidFill>
              <a:schemeClr val="bg1"/>
            </a:solidFill>
            <a:prstDash val="solid"/>
          </a:ln>
          <a:effectLst>
            <a:outerShdw blurRad="101600" dist="25400" dir="5400000" algn="bl" rotWithShape="0">
              <a:srgbClr val="000000">
                <a:alpha val="10000"/>
              </a:srgbClr>
            </a:outerShdw>
          </a:effectLst>
        </p:spPr>
      </p:sp>
      <p:sp>
        <p:nvSpPr>
          <p:cNvPr id="5" name="txt-732"/>
          <p:cNvSpPr txBox="1"/>
          <p:nvPr/>
        </p:nvSpPr>
        <p:spPr>
          <a:xfrm>
            <a:off x="777240" y="1691640"/>
            <a:ext cx="3154680" cy="320040"/>
          </a:xfrm>
          <a:prstGeom prst="rect">
            <a:avLst/>
          </a:prstGeom>
          <a:noFill/>
          <a:ln/>
        </p:spPr>
        <p:txBody>
          <a:bodyPr wrap="square" lIns="0" tIns="0" rIns="0" bIns="0" rtlCol="0" anchor="t"/>
          <a:lstStyle/>
          <a:p>
            <a:pPr marL="0" indent="0">
              <a:buNone/>
            </a:pPr>
            <a:r>
              <a:rPr lang="en-US" sz="1200" b="1" dirty="0">
                <a:solidFill>
                  <a:schemeClr val="accent6"/>
                </a:solidFill>
              </a:rPr>
              <a:t>1 · Dans Gemini Notebook (vos articles)</a:t>
            </a:r>
            <a:endParaRPr lang="en-US" sz="1200" dirty="0"/>
          </a:p>
        </p:txBody>
      </p:sp>
      <p:sp>
        <p:nvSpPr>
          <p:cNvPr id="6" name="txt-733"/>
          <p:cNvSpPr txBox="1"/>
          <p:nvPr/>
        </p:nvSpPr>
        <p:spPr>
          <a:xfrm>
            <a:off x="777240" y="2057400"/>
            <a:ext cx="3154680" cy="2286000"/>
          </a:xfrm>
          <a:prstGeom prst="rect">
            <a:avLst/>
          </a:prstGeom>
          <a:noFill/>
          <a:ln/>
        </p:spPr>
        <p:txBody>
          <a:bodyPr wrap="square" lIns="0" tIns="0" rIns="0" bIns="0" rtlCol="0" anchor="t"/>
          <a:lstStyle/>
          <a:p>
            <a:pPr marL="0" indent="0">
              <a:buNone/>
            </a:pPr>
            <a:r>
              <a:rPr lang="en-US" sz="1200" dirty="0">
                <a:solidFill>
                  <a:schemeClr val="tx1"/>
                </a:solidFill>
                <a:latin typeface="Consolas" pitchFamily="34" charset="0"/>
                <a:ea typeface="Consolas" pitchFamily="34" charset="-122"/>
                <a:cs typeface="Consolas" pitchFamily="34" charset="-120"/>
              </a:rPr>
              <a:t>En te limitant aux sources, liste toutes les limites et pistes de recherche futures énoncées par les auteurs. Cite chaque passage avec sa page.</a:t>
            </a:r>
            <a:endParaRPr lang="en-US" sz="1200" dirty="0"/>
          </a:p>
        </p:txBody>
      </p:sp>
      <p:sp>
        <p:nvSpPr>
          <p:cNvPr id="7" name="card-734"/>
          <p:cNvSpPr/>
          <p:nvPr/>
        </p:nvSpPr>
        <p:spPr>
          <a:xfrm>
            <a:off x="4279392" y="1508760"/>
            <a:ext cx="3611880" cy="3017520"/>
          </a:xfrm>
          <a:prstGeom prst="roundRect">
            <a:avLst>
              <a:gd name="adj" fmla="val 2424"/>
            </a:avLst>
          </a:prstGeom>
          <a:solidFill>
            <a:schemeClr val="bg1"/>
          </a:solidFill>
          <a:ln w="6350">
            <a:solidFill>
              <a:schemeClr val="bg1"/>
            </a:solidFill>
            <a:prstDash val="solid"/>
          </a:ln>
          <a:effectLst>
            <a:outerShdw blurRad="101600" dist="25400" dir="5400000" algn="bl" rotWithShape="0">
              <a:srgbClr val="000000">
                <a:alpha val="10000"/>
              </a:srgbClr>
            </a:outerShdw>
          </a:effectLst>
        </p:spPr>
      </p:sp>
      <p:sp>
        <p:nvSpPr>
          <p:cNvPr id="8" name="txt-735"/>
          <p:cNvSpPr txBox="1"/>
          <p:nvPr/>
        </p:nvSpPr>
        <p:spPr>
          <a:xfrm>
            <a:off x="4507992" y="1691640"/>
            <a:ext cx="3154680" cy="320040"/>
          </a:xfrm>
          <a:prstGeom prst="rect">
            <a:avLst/>
          </a:prstGeom>
          <a:noFill/>
          <a:ln/>
        </p:spPr>
        <p:txBody>
          <a:bodyPr wrap="square" lIns="0" tIns="0" rIns="0" bIns="0" rtlCol="0" anchor="t"/>
          <a:lstStyle/>
          <a:p>
            <a:pPr marL="0" indent="0">
              <a:buNone/>
            </a:pPr>
            <a:r>
              <a:rPr lang="en-US" sz="1200" b="1" dirty="0">
                <a:solidFill>
                  <a:schemeClr val="accent6"/>
                </a:solidFill>
              </a:rPr>
              <a:t>2 · Croiser les dimensions</a:t>
            </a:r>
            <a:endParaRPr lang="en-US" sz="1200" dirty="0"/>
          </a:p>
        </p:txBody>
      </p:sp>
      <p:sp>
        <p:nvSpPr>
          <p:cNvPr id="9" name="txt-736"/>
          <p:cNvSpPr txBox="1"/>
          <p:nvPr/>
        </p:nvSpPr>
        <p:spPr>
          <a:xfrm>
            <a:off x="4507992" y="2057400"/>
            <a:ext cx="3154680" cy="2286000"/>
          </a:xfrm>
          <a:prstGeom prst="rect">
            <a:avLst/>
          </a:prstGeom>
          <a:noFill/>
          <a:ln/>
        </p:spPr>
        <p:txBody>
          <a:bodyPr wrap="square" lIns="0" tIns="0" rIns="0" bIns="0" rtlCol="0" anchor="t"/>
          <a:lstStyle/>
          <a:p>
            <a:pPr marL="0" indent="0">
              <a:buNone/>
            </a:pPr>
            <a:r>
              <a:rPr lang="en-US" sz="1200" dirty="0">
                <a:solidFill>
                  <a:schemeClr val="tx1"/>
                </a:solidFill>
                <a:latin typeface="Consolas" pitchFamily="34" charset="0"/>
                <a:ea typeface="Consolas" pitchFamily="34" charset="-122"/>
                <a:cs typeface="Consolas" pitchFamily="34" charset="-120"/>
              </a:rPr>
              <a:t>À partir de ce tableau [pays, population, méthode, théorie] de mes articles, quelles combinaisons n'apparaissent dans aucun article ? N'invente aucun article.</a:t>
            </a:r>
            <a:endParaRPr lang="en-US" sz="1200" dirty="0"/>
          </a:p>
        </p:txBody>
      </p:sp>
      <p:sp>
        <p:nvSpPr>
          <p:cNvPr id="10" name="card-737"/>
          <p:cNvSpPr/>
          <p:nvPr/>
        </p:nvSpPr>
        <p:spPr>
          <a:xfrm>
            <a:off x="8010144" y="1508760"/>
            <a:ext cx="3611880" cy="3017520"/>
          </a:xfrm>
          <a:prstGeom prst="roundRect">
            <a:avLst>
              <a:gd name="adj" fmla="val 2424"/>
            </a:avLst>
          </a:prstGeom>
          <a:solidFill>
            <a:schemeClr val="bg1"/>
          </a:solidFill>
          <a:ln w="6350">
            <a:solidFill>
              <a:schemeClr val="bg1"/>
            </a:solidFill>
            <a:prstDash val="solid"/>
          </a:ln>
          <a:effectLst>
            <a:outerShdw blurRad="101600" dist="25400" dir="5400000" algn="bl" rotWithShape="0">
              <a:srgbClr val="000000">
                <a:alpha val="10000"/>
              </a:srgbClr>
            </a:outerShdw>
          </a:effectLst>
        </p:spPr>
      </p:sp>
      <p:sp>
        <p:nvSpPr>
          <p:cNvPr id="11" name="txt-738"/>
          <p:cNvSpPr txBox="1"/>
          <p:nvPr/>
        </p:nvSpPr>
        <p:spPr>
          <a:xfrm>
            <a:off x="8238744" y="1691640"/>
            <a:ext cx="3154680" cy="320040"/>
          </a:xfrm>
          <a:prstGeom prst="rect">
            <a:avLst/>
          </a:prstGeom>
          <a:noFill/>
          <a:ln/>
        </p:spPr>
        <p:txBody>
          <a:bodyPr wrap="square" lIns="0" tIns="0" rIns="0" bIns="0" rtlCol="0" anchor="t"/>
          <a:lstStyle/>
          <a:p>
            <a:pPr marL="0" indent="0">
              <a:buNone/>
            </a:pPr>
            <a:r>
              <a:rPr lang="en-US" sz="1200" b="1" dirty="0">
                <a:solidFill>
                  <a:schemeClr val="accent6"/>
                </a:solidFill>
              </a:rPr>
              <a:t>3 · Le jury sceptique</a:t>
            </a:r>
            <a:endParaRPr lang="en-US" sz="1200" dirty="0"/>
          </a:p>
        </p:txBody>
      </p:sp>
      <p:sp>
        <p:nvSpPr>
          <p:cNvPr id="12" name="txt-739"/>
          <p:cNvSpPr txBox="1"/>
          <p:nvPr/>
        </p:nvSpPr>
        <p:spPr>
          <a:xfrm>
            <a:off x="8238744" y="2057400"/>
            <a:ext cx="3154680" cy="2286000"/>
          </a:xfrm>
          <a:prstGeom prst="rect">
            <a:avLst/>
          </a:prstGeom>
          <a:noFill/>
          <a:ln/>
        </p:spPr>
        <p:txBody>
          <a:bodyPr wrap="square" lIns="0" tIns="0" rIns="0" bIns="0" rtlCol="0" anchor="t"/>
          <a:lstStyle/>
          <a:p>
            <a:pPr marL="0" indent="0">
              <a:buNone/>
            </a:pPr>
            <a:r>
              <a:rPr lang="en-US" sz="1200" dirty="0">
                <a:solidFill>
                  <a:schemeClr val="tx1"/>
                </a:solidFill>
                <a:latin typeface="Consolas" pitchFamily="34" charset="0"/>
                <a:ea typeface="Consolas" pitchFamily="34" charset="-122"/>
                <a:cs typeface="Consolas" pitchFamily="34" charset="-120"/>
              </a:rPr>
              <a:t>Voici ma question de recherche : [...]. Joue un jury sceptique : pourquoi n'est-elle pas originale, pas faisable ou pas pertinente ? Donne 3 objections.</a:t>
            </a:r>
            <a:endParaRPr lang="en-US" sz="1200" dirty="0"/>
          </a:p>
        </p:txBody>
      </p:sp>
      <p:sp>
        <p:nvSpPr>
          <p:cNvPr id="13" name="card-740"/>
          <p:cNvSpPr/>
          <p:nvPr/>
        </p:nvSpPr>
        <p:spPr>
          <a:xfrm>
            <a:off x="548640" y="4754880"/>
            <a:ext cx="11064240" cy="1143000"/>
          </a:xfrm>
          <a:prstGeom prst="roundRect">
            <a:avLst>
              <a:gd name="adj" fmla="val 6400"/>
            </a:avLst>
          </a:prstGeom>
          <a:solidFill>
            <a:schemeClr val="bg2"/>
          </a:solidFill>
          <a:ln w="6350">
            <a:solidFill>
              <a:schemeClr val="bg2"/>
            </a:solidFill>
            <a:prstDash val="solid"/>
          </a:ln>
        </p:spPr>
      </p:sp>
      <p:sp>
        <p:nvSpPr>
          <p:cNvPr id="14" name="txt-741"/>
          <p:cNvSpPr txBox="1"/>
          <p:nvPr/>
        </p:nvSpPr>
        <p:spPr>
          <a:xfrm>
            <a:off x="777240" y="4754880"/>
            <a:ext cx="10607040" cy="1143000"/>
          </a:xfrm>
          <a:prstGeom prst="rect">
            <a:avLst/>
          </a:prstGeom>
          <a:noFill/>
          <a:ln/>
        </p:spPr>
        <p:txBody>
          <a:bodyPr wrap="square" lIns="0" tIns="0" rIns="0" bIns="0" rtlCol="0" anchor="ctr"/>
          <a:lstStyle/>
          <a:p>
            <a:pPr marL="0" indent="0">
              <a:buNone/>
            </a:pPr>
            <a:r>
              <a:rPr lang="en-US" sz="1500" b="1" dirty="0">
                <a:solidFill>
                  <a:schemeClr val="tx2"/>
                </a:solidFill>
              </a:rPr>
              <a:t>Ensuite, toujours : </a:t>
            </a:r>
            <a:r>
              <a:rPr lang="en-US" sz="1500" dirty="0">
                <a:solidFill>
                  <a:schemeClr val="tx1"/>
                </a:solidFill>
              </a:rPr>
              <a:t>chaque gap proposé est cherché dans Semantic Scholar et Google Scholar. S'il existe déjà 3 études sur la question, ce n'est plus un gap : c'est votre état de l'art.</a:t>
            </a:r>
            <a:endParaRPr lang="en-US" sz="1500" dirty="0"/>
          </a:p>
        </p:txBody>
      </p:sp>
      <p:sp>
        <p:nvSpPr>
          <p:cNvPr id="25" name="Slide Number Placeholder 0"/>
          <p:cNvSpPr>
            <a:spLocks noGrp="1"/>
          </p:cNvSpPr>
          <p:nvPr>
            <p:ph type="sldNum" sz="quarter" idx="4294967295"/>
          </p:nvPr>
        </p:nvSpPr>
        <p:spPr>
          <a:xfrm>
            <a:off x="11064240" y="6400800"/>
            <a:ext cx="54864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C82"/>
                </a:solidFill>
                <a:latin typeface="Poppins"/>
                <a:ea typeface="Poppins"/>
                <a:cs typeface="Poppins"/>
              </a:defRPr>
            </a:lvl1pPr>
          </a:lstStyle>
          <a:p>
            <a:pPr algn="r"/>
            <a:fld id="{F7021451-1387-4CA6-816F-3879F97B5CBC}" type="slidenum">
              <a:rPr lang="en-US" b="0"/>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566928"/>
            <a:ext cx="11064240" cy="777240"/>
          </a:xfrm>
          <a:prstGeom prst="rect">
            <a:avLst/>
          </a:prstGeom>
          <a:noFill/>
          <a:ln/>
        </p:spPr>
        <p:txBody>
          <a:bodyPr wrap="square" lIns="0" tIns="0" rIns="0" bIns="0" rtlCol="0" anchor="ctr"/>
          <a:lstStyle/>
          <a:p>
            <a:pPr marL="0" indent="0" algn="l">
              <a:buNone/>
            </a:pPr>
            <a:r>
              <a:rPr lang="en-US" sz="2700" b="1" dirty="0">
                <a:solidFill>
                  <a:schemeClr val="tx2"/>
                </a:solidFill>
                <a:latin typeface="Poppins" pitchFamily="34" charset="0"/>
                <a:ea typeface="Poppins" pitchFamily="34" charset="-122"/>
                <a:cs typeface="Poppins" pitchFamily="34" charset="-120"/>
              </a:rPr>
              <a:t>Repérer un article généré par l'IA ou une revue prédatrice</a:t>
            </a:r>
            <a:endParaRPr lang="en-US" sz="2700" dirty="0"/>
          </a:p>
        </p:txBody>
      </p:sp>
      <p:sp>
        <p:nvSpPr>
          <p:cNvPr id="3" name="Text 0"/>
          <p:cNvSpPr>
            <a:spLocks noGrp="1"/>
          </p:cNvSpPr>
          <p:nvPr>
            <p:ph type="body" idx="101" hasCustomPrompt="1"/>
          </p:nvPr>
        </p:nvSpPr>
        <p:spPr>
          <a:xfrm>
            <a:off x="548640" y="256032"/>
            <a:ext cx="8229600" cy="292608"/>
          </a:xfrm>
          <a:prstGeom prst="rect">
            <a:avLst/>
          </a:prstGeom>
          <a:noFill/>
          <a:ln/>
        </p:spPr>
        <p:txBody>
          <a:bodyPr wrap="square" lIns="0" tIns="0" rIns="0" bIns="0" rtlCol="0" anchor="ctr"/>
          <a:lstStyle/>
          <a:p>
            <a:pPr marL="0" indent="0">
              <a:buNone/>
            </a:pPr>
            <a:r>
              <a:rPr lang="en-US" sz="1100" b="1" dirty="0">
                <a:solidFill>
                  <a:schemeClr val="accent1"/>
                </a:solidFill>
                <a:latin typeface="Poppins" pitchFamily="34" charset="0"/>
                <a:ea typeface="Poppins" pitchFamily="34" charset="-122"/>
                <a:cs typeface="Poppins" pitchFamily="34" charset="-120"/>
              </a:rPr>
              <a:t>R · ARTICLES PIÈGES</a:t>
            </a:r>
            <a:endParaRPr lang="en-US" sz="1100" dirty="0"/>
          </a:p>
        </p:txBody>
      </p:sp>
      <p:sp>
        <p:nvSpPr>
          <p:cNvPr id="4" name="card-742"/>
          <p:cNvSpPr/>
          <p:nvPr/>
        </p:nvSpPr>
        <p:spPr>
          <a:xfrm>
            <a:off x="548640" y="1554480"/>
            <a:ext cx="3520440" cy="1325880"/>
          </a:xfrm>
          <a:prstGeom prst="roundRect">
            <a:avLst>
              <a:gd name="adj" fmla="val 5517"/>
            </a:avLst>
          </a:prstGeom>
          <a:solidFill>
            <a:schemeClr val="bg2"/>
          </a:solidFill>
          <a:ln w="6350">
            <a:solidFill>
              <a:schemeClr val="bg2"/>
            </a:solidFill>
            <a:prstDash val="solid"/>
          </a:ln>
        </p:spPr>
      </p:sp>
      <p:sp>
        <p:nvSpPr>
          <p:cNvPr id="5" name="circle-743"/>
          <p:cNvSpPr/>
          <p:nvPr/>
        </p:nvSpPr>
        <p:spPr>
          <a:xfrm>
            <a:off x="713232" y="1737360"/>
            <a:ext cx="502920" cy="502920"/>
          </a:xfrm>
          <a:prstGeom prst="ellipse">
            <a:avLst/>
          </a:prstGeom>
          <a:solidFill>
            <a:schemeClr val="accent3"/>
          </a:solidFill>
          <a:ln w="12700">
            <a:solidFill>
              <a:schemeClr val="accent3"/>
            </a:solidFill>
            <a:prstDash val="solid"/>
          </a:ln>
        </p:spPr>
      </p:sp>
      <p:pic>
        <p:nvPicPr>
          <p:cNvPr id="6" name="icon-744" descr="preencoded.png"/>
          <p:cNvPicPr>
            <a:picLocks noChangeAspect="1"/>
          </p:cNvPicPr>
          <p:nvPr/>
        </p:nvPicPr>
        <p:blipFill>
          <a:blip r:embed="rId3"/>
          <a:stretch>
            <a:fillRect/>
          </a:stretch>
        </p:blipFill>
        <p:spPr>
          <a:xfrm>
            <a:off x="838962" y="1863090"/>
            <a:ext cx="251460" cy="251460"/>
          </a:xfrm>
          <a:prstGeom prst="rect">
            <a:avLst/>
          </a:prstGeom>
        </p:spPr>
      </p:pic>
      <p:sp>
        <p:nvSpPr>
          <p:cNvPr id="7" name="txt-745"/>
          <p:cNvSpPr txBox="1"/>
          <p:nvPr/>
        </p:nvSpPr>
        <p:spPr>
          <a:xfrm>
            <a:off x="1325880" y="1691640"/>
            <a:ext cx="2651760" cy="365760"/>
          </a:xfrm>
          <a:prstGeom prst="rect">
            <a:avLst/>
          </a:prstGeom>
          <a:noFill/>
          <a:ln/>
        </p:spPr>
        <p:txBody>
          <a:bodyPr wrap="square" lIns="0" tIns="0" rIns="0" bIns="0" rtlCol="0" anchor="t"/>
          <a:lstStyle/>
          <a:p>
            <a:pPr marL="0" indent="0">
              <a:buNone/>
            </a:pPr>
            <a:r>
              <a:rPr lang="en-US" sz="1400" b="1" dirty="0">
                <a:solidFill>
                  <a:schemeClr val="tx2"/>
                </a:solidFill>
              </a:rPr>
              <a:t>Des restes de chatbot</a:t>
            </a:r>
            <a:endParaRPr lang="en-US" sz="1400" dirty="0"/>
          </a:p>
        </p:txBody>
      </p:sp>
      <p:sp>
        <p:nvSpPr>
          <p:cNvPr id="8" name="txt-746"/>
          <p:cNvSpPr txBox="1"/>
          <p:nvPr/>
        </p:nvSpPr>
        <p:spPr>
          <a:xfrm>
            <a:off x="1325880" y="2057400"/>
            <a:ext cx="2651760" cy="777240"/>
          </a:xfrm>
          <a:prstGeom prst="rect">
            <a:avLst/>
          </a:prstGeom>
          <a:noFill/>
          <a:ln/>
        </p:spPr>
        <p:txBody>
          <a:bodyPr wrap="square" lIns="0" tIns="0" rIns="0" bIns="0" rtlCol="0" anchor="t"/>
          <a:lstStyle/>
          <a:p>
            <a:pPr marL="0" indent="0">
              <a:buNone/>
            </a:pPr>
            <a:r>
              <a:rPr lang="en-US" sz="1100" dirty="0">
                <a:solidFill>
                  <a:schemeClr val="tx1"/>
                </a:solidFill>
              </a:rPr>
              <a:t>« Certainly, here is… », « As an AI language model », « Regenerate response »</a:t>
            </a:r>
            <a:endParaRPr lang="en-US" sz="1100" dirty="0"/>
          </a:p>
        </p:txBody>
      </p:sp>
      <p:sp>
        <p:nvSpPr>
          <p:cNvPr id="9" name="card-747"/>
          <p:cNvSpPr/>
          <p:nvPr/>
        </p:nvSpPr>
        <p:spPr>
          <a:xfrm>
            <a:off x="4206240" y="1554480"/>
            <a:ext cx="3520440" cy="1325880"/>
          </a:xfrm>
          <a:prstGeom prst="roundRect">
            <a:avLst>
              <a:gd name="adj" fmla="val 5517"/>
            </a:avLst>
          </a:prstGeom>
          <a:solidFill>
            <a:schemeClr val="bg2"/>
          </a:solidFill>
          <a:ln w="6350">
            <a:solidFill>
              <a:schemeClr val="bg2"/>
            </a:solidFill>
            <a:prstDash val="solid"/>
          </a:ln>
        </p:spPr>
      </p:sp>
      <p:sp>
        <p:nvSpPr>
          <p:cNvPr id="10" name="circle-748"/>
          <p:cNvSpPr/>
          <p:nvPr/>
        </p:nvSpPr>
        <p:spPr>
          <a:xfrm>
            <a:off x="4370832" y="1737360"/>
            <a:ext cx="502920" cy="502920"/>
          </a:xfrm>
          <a:prstGeom prst="ellipse">
            <a:avLst/>
          </a:prstGeom>
          <a:solidFill>
            <a:schemeClr val="accent3"/>
          </a:solidFill>
          <a:ln w="12700">
            <a:solidFill>
              <a:schemeClr val="accent3"/>
            </a:solidFill>
            <a:prstDash val="solid"/>
          </a:ln>
        </p:spPr>
      </p:sp>
      <p:pic>
        <p:nvPicPr>
          <p:cNvPr id="11" name="icon-749" descr="preencoded.png"/>
          <p:cNvPicPr>
            <a:picLocks noChangeAspect="1"/>
          </p:cNvPicPr>
          <p:nvPr/>
        </p:nvPicPr>
        <p:blipFill>
          <a:blip r:embed="rId4"/>
          <a:stretch>
            <a:fillRect/>
          </a:stretch>
        </p:blipFill>
        <p:spPr>
          <a:xfrm>
            <a:off x="4496562" y="1863090"/>
            <a:ext cx="251460" cy="251460"/>
          </a:xfrm>
          <a:prstGeom prst="rect">
            <a:avLst/>
          </a:prstGeom>
        </p:spPr>
      </p:pic>
      <p:sp>
        <p:nvSpPr>
          <p:cNvPr id="12" name="txt-750"/>
          <p:cNvSpPr txBox="1"/>
          <p:nvPr/>
        </p:nvSpPr>
        <p:spPr>
          <a:xfrm>
            <a:off x="4983480" y="1691640"/>
            <a:ext cx="2651760" cy="365760"/>
          </a:xfrm>
          <a:prstGeom prst="rect">
            <a:avLst/>
          </a:prstGeom>
          <a:noFill/>
          <a:ln/>
        </p:spPr>
        <p:txBody>
          <a:bodyPr wrap="square" lIns="0" tIns="0" rIns="0" bIns="0" rtlCol="0" anchor="t"/>
          <a:lstStyle/>
          <a:p>
            <a:pPr marL="0" indent="0">
              <a:buNone/>
            </a:pPr>
            <a:r>
              <a:rPr lang="en-US" sz="1400" b="1" dirty="0">
                <a:solidFill>
                  <a:schemeClr val="tx2"/>
                </a:solidFill>
              </a:rPr>
              <a:t>Des « phrases torturées »</a:t>
            </a:r>
            <a:endParaRPr lang="en-US" sz="1400" dirty="0"/>
          </a:p>
        </p:txBody>
      </p:sp>
      <p:sp>
        <p:nvSpPr>
          <p:cNvPr id="13" name="txt-751"/>
          <p:cNvSpPr txBox="1"/>
          <p:nvPr/>
        </p:nvSpPr>
        <p:spPr>
          <a:xfrm>
            <a:off x="4983480" y="2057400"/>
            <a:ext cx="2651760" cy="777240"/>
          </a:xfrm>
          <a:prstGeom prst="rect">
            <a:avLst/>
          </a:prstGeom>
          <a:noFill/>
          <a:ln/>
        </p:spPr>
        <p:txBody>
          <a:bodyPr wrap="square" lIns="0" tIns="0" rIns="0" bIns="0" rtlCol="0" anchor="t"/>
          <a:lstStyle/>
          <a:p>
            <a:pPr marL="0" indent="0">
              <a:buNone/>
            </a:pPr>
            <a:r>
              <a:rPr lang="en-US" sz="1100" dirty="0">
                <a:solidFill>
                  <a:schemeClr val="tx1"/>
                </a:solidFill>
              </a:rPr>
              <a:t>« counterfeit consciousness » pour artificial intelligence, « profound learning » pour deep learning</a:t>
            </a:r>
            <a:endParaRPr lang="en-US" sz="1100" dirty="0"/>
          </a:p>
        </p:txBody>
      </p:sp>
      <p:sp>
        <p:nvSpPr>
          <p:cNvPr id="14" name="card-752"/>
          <p:cNvSpPr/>
          <p:nvPr/>
        </p:nvSpPr>
        <p:spPr>
          <a:xfrm>
            <a:off x="548640" y="3017520"/>
            <a:ext cx="3520440" cy="1325880"/>
          </a:xfrm>
          <a:prstGeom prst="roundRect">
            <a:avLst>
              <a:gd name="adj" fmla="val 5517"/>
            </a:avLst>
          </a:prstGeom>
          <a:solidFill>
            <a:schemeClr val="bg2"/>
          </a:solidFill>
          <a:ln w="6350">
            <a:solidFill>
              <a:schemeClr val="bg2"/>
            </a:solidFill>
            <a:prstDash val="solid"/>
          </a:ln>
        </p:spPr>
      </p:sp>
      <p:sp>
        <p:nvSpPr>
          <p:cNvPr id="15" name="circle-753"/>
          <p:cNvSpPr/>
          <p:nvPr/>
        </p:nvSpPr>
        <p:spPr>
          <a:xfrm>
            <a:off x="713232" y="3200400"/>
            <a:ext cx="502920" cy="502920"/>
          </a:xfrm>
          <a:prstGeom prst="ellipse">
            <a:avLst/>
          </a:prstGeom>
          <a:solidFill>
            <a:schemeClr val="accent3"/>
          </a:solidFill>
          <a:ln w="12700">
            <a:solidFill>
              <a:schemeClr val="accent3"/>
            </a:solidFill>
            <a:prstDash val="solid"/>
          </a:ln>
        </p:spPr>
      </p:sp>
      <p:pic>
        <p:nvPicPr>
          <p:cNvPr id="16" name="icon-754" descr="preencoded.png"/>
          <p:cNvPicPr>
            <a:picLocks noChangeAspect="1"/>
          </p:cNvPicPr>
          <p:nvPr/>
        </p:nvPicPr>
        <p:blipFill>
          <a:blip r:embed="rId5"/>
          <a:stretch>
            <a:fillRect/>
          </a:stretch>
        </p:blipFill>
        <p:spPr>
          <a:xfrm>
            <a:off x="838962" y="3326130"/>
            <a:ext cx="251460" cy="251460"/>
          </a:xfrm>
          <a:prstGeom prst="rect">
            <a:avLst/>
          </a:prstGeom>
        </p:spPr>
      </p:pic>
      <p:sp>
        <p:nvSpPr>
          <p:cNvPr id="17" name="txt-755"/>
          <p:cNvSpPr txBox="1"/>
          <p:nvPr/>
        </p:nvSpPr>
        <p:spPr>
          <a:xfrm>
            <a:off x="1325880" y="3154680"/>
            <a:ext cx="2651760" cy="365760"/>
          </a:xfrm>
          <a:prstGeom prst="rect">
            <a:avLst/>
          </a:prstGeom>
          <a:noFill/>
          <a:ln/>
        </p:spPr>
        <p:txBody>
          <a:bodyPr wrap="square" lIns="0" tIns="0" rIns="0" bIns="0" rtlCol="0" anchor="t"/>
          <a:lstStyle/>
          <a:p>
            <a:pPr marL="0" indent="0">
              <a:buNone/>
            </a:pPr>
            <a:r>
              <a:rPr lang="en-US" sz="1400" b="1" dirty="0">
                <a:solidFill>
                  <a:schemeClr val="tx2"/>
                </a:solidFill>
              </a:rPr>
              <a:t>Des références douteuses</a:t>
            </a:r>
            <a:endParaRPr lang="en-US" sz="1400" dirty="0"/>
          </a:p>
        </p:txBody>
      </p:sp>
      <p:sp>
        <p:nvSpPr>
          <p:cNvPr id="18" name="txt-756"/>
          <p:cNvSpPr txBox="1"/>
          <p:nvPr/>
        </p:nvSpPr>
        <p:spPr>
          <a:xfrm>
            <a:off x="1325880" y="3520440"/>
            <a:ext cx="2651760" cy="777240"/>
          </a:xfrm>
          <a:prstGeom prst="rect">
            <a:avLst/>
          </a:prstGeom>
          <a:noFill/>
          <a:ln/>
        </p:spPr>
        <p:txBody>
          <a:bodyPr wrap="square" lIns="0" tIns="0" rIns="0" bIns="0" rtlCol="0" anchor="t"/>
          <a:lstStyle/>
          <a:p>
            <a:pPr marL="0" indent="0">
              <a:buNone/>
            </a:pPr>
            <a:r>
              <a:rPr lang="en-US" sz="1100" dirty="0">
                <a:solidFill>
                  <a:schemeClr val="tx1"/>
                </a:solidFill>
              </a:rPr>
              <a:t>Introuvables, hors sujet, ou une avalanche d'autocitations</a:t>
            </a:r>
            <a:endParaRPr lang="en-US" sz="1100" dirty="0"/>
          </a:p>
        </p:txBody>
      </p:sp>
      <p:sp>
        <p:nvSpPr>
          <p:cNvPr id="19" name="card-757"/>
          <p:cNvSpPr/>
          <p:nvPr/>
        </p:nvSpPr>
        <p:spPr>
          <a:xfrm>
            <a:off x="4206240" y="3017520"/>
            <a:ext cx="3520440" cy="1325880"/>
          </a:xfrm>
          <a:prstGeom prst="roundRect">
            <a:avLst>
              <a:gd name="adj" fmla="val 5517"/>
            </a:avLst>
          </a:prstGeom>
          <a:solidFill>
            <a:schemeClr val="bg2"/>
          </a:solidFill>
          <a:ln w="6350">
            <a:solidFill>
              <a:schemeClr val="bg2"/>
            </a:solidFill>
            <a:prstDash val="solid"/>
          </a:ln>
        </p:spPr>
      </p:sp>
      <p:sp>
        <p:nvSpPr>
          <p:cNvPr id="20" name="circle-758"/>
          <p:cNvSpPr/>
          <p:nvPr/>
        </p:nvSpPr>
        <p:spPr>
          <a:xfrm>
            <a:off x="4370832" y="3200400"/>
            <a:ext cx="502920" cy="502920"/>
          </a:xfrm>
          <a:prstGeom prst="ellipse">
            <a:avLst/>
          </a:prstGeom>
          <a:solidFill>
            <a:schemeClr val="accent3"/>
          </a:solidFill>
          <a:ln w="12700">
            <a:solidFill>
              <a:schemeClr val="accent3"/>
            </a:solidFill>
            <a:prstDash val="solid"/>
          </a:ln>
        </p:spPr>
      </p:sp>
      <p:pic>
        <p:nvPicPr>
          <p:cNvPr id="21" name="icon-759" descr="preencoded.png"/>
          <p:cNvPicPr>
            <a:picLocks noChangeAspect="1"/>
          </p:cNvPicPr>
          <p:nvPr/>
        </p:nvPicPr>
        <p:blipFill>
          <a:blip r:embed="rId6"/>
          <a:stretch>
            <a:fillRect/>
          </a:stretch>
        </p:blipFill>
        <p:spPr>
          <a:xfrm>
            <a:off x="4496562" y="3326130"/>
            <a:ext cx="251460" cy="251460"/>
          </a:xfrm>
          <a:prstGeom prst="rect">
            <a:avLst/>
          </a:prstGeom>
        </p:spPr>
      </p:pic>
      <p:sp>
        <p:nvSpPr>
          <p:cNvPr id="22" name="txt-760"/>
          <p:cNvSpPr txBox="1"/>
          <p:nvPr/>
        </p:nvSpPr>
        <p:spPr>
          <a:xfrm>
            <a:off x="4983480" y="3154680"/>
            <a:ext cx="2651760" cy="365760"/>
          </a:xfrm>
          <a:prstGeom prst="rect">
            <a:avLst/>
          </a:prstGeom>
          <a:noFill/>
          <a:ln/>
        </p:spPr>
        <p:txBody>
          <a:bodyPr wrap="square" lIns="0" tIns="0" rIns="0" bIns="0" rtlCol="0" anchor="t"/>
          <a:lstStyle/>
          <a:p>
            <a:pPr marL="0" indent="0">
              <a:buNone/>
            </a:pPr>
            <a:r>
              <a:rPr lang="en-US" sz="1400" b="1" dirty="0">
                <a:solidFill>
                  <a:schemeClr val="tx2"/>
                </a:solidFill>
              </a:rPr>
              <a:t>Des données trop belles</a:t>
            </a:r>
            <a:endParaRPr lang="en-US" sz="1400" dirty="0"/>
          </a:p>
        </p:txBody>
      </p:sp>
      <p:sp>
        <p:nvSpPr>
          <p:cNvPr id="23" name="txt-761"/>
          <p:cNvSpPr txBox="1"/>
          <p:nvPr/>
        </p:nvSpPr>
        <p:spPr>
          <a:xfrm>
            <a:off x="4983480" y="3520440"/>
            <a:ext cx="2651760" cy="777240"/>
          </a:xfrm>
          <a:prstGeom prst="rect">
            <a:avLst/>
          </a:prstGeom>
          <a:noFill/>
          <a:ln/>
        </p:spPr>
        <p:txBody>
          <a:bodyPr wrap="square" lIns="0" tIns="0" rIns="0" bIns="0" rtlCol="0" anchor="t"/>
          <a:lstStyle/>
          <a:p>
            <a:pPr marL="0" indent="0">
              <a:buNone/>
            </a:pPr>
            <a:r>
              <a:rPr lang="en-US" sz="1100" dirty="0">
                <a:solidFill>
                  <a:schemeClr val="tx1"/>
                </a:solidFill>
              </a:rPr>
              <a:t>100 % d'accord, p &lt; 0,0001 sans test, 34 pays enquêtés en 2 semaines</a:t>
            </a:r>
            <a:endParaRPr lang="en-US" sz="1100" dirty="0"/>
          </a:p>
        </p:txBody>
      </p:sp>
      <p:sp>
        <p:nvSpPr>
          <p:cNvPr id="24" name="card-762"/>
          <p:cNvSpPr/>
          <p:nvPr/>
        </p:nvSpPr>
        <p:spPr>
          <a:xfrm>
            <a:off x="548640" y="4480560"/>
            <a:ext cx="3520440" cy="1325880"/>
          </a:xfrm>
          <a:prstGeom prst="roundRect">
            <a:avLst>
              <a:gd name="adj" fmla="val 5517"/>
            </a:avLst>
          </a:prstGeom>
          <a:solidFill>
            <a:schemeClr val="bg2"/>
          </a:solidFill>
          <a:ln w="6350">
            <a:solidFill>
              <a:schemeClr val="bg2"/>
            </a:solidFill>
            <a:prstDash val="solid"/>
          </a:ln>
        </p:spPr>
      </p:sp>
      <p:sp>
        <p:nvSpPr>
          <p:cNvPr id="25" name="circle-763"/>
          <p:cNvSpPr/>
          <p:nvPr/>
        </p:nvSpPr>
        <p:spPr>
          <a:xfrm>
            <a:off x="713232" y="4663440"/>
            <a:ext cx="502920" cy="502920"/>
          </a:xfrm>
          <a:prstGeom prst="ellipse">
            <a:avLst/>
          </a:prstGeom>
          <a:solidFill>
            <a:schemeClr val="accent3"/>
          </a:solidFill>
          <a:ln w="12700">
            <a:solidFill>
              <a:schemeClr val="accent3"/>
            </a:solidFill>
            <a:prstDash val="solid"/>
          </a:ln>
        </p:spPr>
      </p:sp>
      <p:pic>
        <p:nvPicPr>
          <p:cNvPr id="26" name="icon-764" descr="preencoded.png"/>
          <p:cNvPicPr>
            <a:picLocks noChangeAspect="1"/>
          </p:cNvPicPr>
          <p:nvPr/>
        </p:nvPicPr>
        <p:blipFill>
          <a:blip r:embed="rId7"/>
          <a:stretch>
            <a:fillRect/>
          </a:stretch>
        </p:blipFill>
        <p:spPr>
          <a:xfrm>
            <a:off x="838962" y="4789170"/>
            <a:ext cx="251460" cy="251460"/>
          </a:xfrm>
          <a:prstGeom prst="rect">
            <a:avLst/>
          </a:prstGeom>
        </p:spPr>
      </p:pic>
      <p:sp>
        <p:nvSpPr>
          <p:cNvPr id="27" name="txt-765"/>
          <p:cNvSpPr txBox="1"/>
          <p:nvPr/>
        </p:nvSpPr>
        <p:spPr>
          <a:xfrm>
            <a:off x="1325880" y="4617720"/>
            <a:ext cx="2651760" cy="365760"/>
          </a:xfrm>
          <a:prstGeom prst="rect">
            <a:avLst/>
          </a:prstGeom>
          <a:noFill/>
          <a:ln/>
        </p:spPr>
        <p:txBody>
          <a:bodyPr wrap="square" lIns="0" tIns="0" rIns="0" bIns="0" rtlCol="0" anchor="t"/>
          <a:lstStyle/>
          <a:p>
            <a:pPr marL="0" indent="0">
              <a:buNone/>
            </a:pPr>
            <a:r>
              <a:rPr lang="en-US" sz="1400" b="1" dirty="0">
                <a:solidFill>
                  <a:schemeClr val="tx2"/>
                </a:solidFill>
              </a:rPr>
              <a:t>Une revue suspecte</a:t>
            </a:r>
            <a:endParaRPr lang="en-US" sz="1400" dirty="0"/>
          </a:p>
        </p:txBody>
      </p:sp>
      <p:sp>
        <p:nvSpPr>
          <p:cNvPr id="28" name="txt-766"/>
          <p:cNvSpPr txBox="1"/>
          <p:nvPr/>
        </p:nvSpPr>
        <p:spPr>
          <a:xfrm>
            <a:off x="1325880" y="4983480"/>
            <a:ext cx="2651760" cy="777240"/>
          </a:xfrm>
          <a:prstGeom prst="rect">
            <a:avLst/>
          </a:prstGeom>
          <a:noFill/>
          <a:ln/>
        </p:spPr>
        <p:txBody>
          <a:bodyPr wrap="square" lIns="0" tIns="0" rIns="0" bIns="0" rtlCol="0" anchor="t"/>
          <a:lstStyle/>
          <a:p>
            <a:pPr marL="0" indent="0">
              <a:buNone/>
            </a:pPr>
            <a:r>
              <a:rPr lang="en-US" sz="1100" dirty="0">
                <a:solidFill>
                  <a:schemeClr val="tx1"/>
                </a:solidFill>
              </a:rPr>
              <a:t>« Toutes disciplines », acceptation en 3 jours, frais de publication, sollicitations par e-mail</a:t>
            </a:r>
            <a:endParaRPr lang="en-US" sz="1100" dirty="0"/>
          </a:p>
        </p:txBody>
      </p:sp>
      <p:sp>
        <p:nvSpPr>
          <p:cNvPr id="29" name="card-767"/>
          <p:cNvSpPr/>
          <p:nvPr/>
        </p:nvSpPr>
        <p:spPr>
          <a:xfrm>
            <a:off x="4206240" y="4480560"/>
            <a:ext cx="3520440" cy="1325880"/>
          </a:xfrm>
          <a:prstGeom prst="roundRect">
            <a:avLst>
              <a:gd name="adj" fmla="val 5517"/>
            </a:avLst>
          </a:prstGeom>
          <a:solidFill>
            <a:schemeClr val="bg2"/>
          </a:solidFill>
          <a:ln w="6350">
            <a:solidFill>
              <a:schemeClr val="bg2"/>
            </a:solidFill>
            <a:prstDash val="solid"/>
          </a:ln>
        </p:spPr>
      </p:sp>
      <p:sp>
        <p:nvSpPr>
          <p:cNvPr id="30" name="circle-768"/>
          <p:cNvSpPr/>
          <p:nvPr/>
        </p:nvSpPr>
        <p:spPr>
          <a:xfrm>
            <a:off x="4370832" y="4663440"/>
            <a:ext cx="502920" cy="502920"/>
          </a:xfrm>
          <a:prstGeom prst="ellipse">
            <a:avLst/>
          </a:prstGeom>
          <a:solidFill>
            <a:schemeClr val="accent3"/>
          </a:solidFill>
          <a:ln w="12700">
            <a:solidFill>
              <a:schemeClr val="accent3"/>
            </a:solidFill>
            <a:prstDash val="solid"/>
          </a:ln>
        </p:spPr>
      </p:sp>
      <p:pic>
        <p:nvPicPr>
          <p:cNvPr id="31" name="icon-769" descr="preencoded.png"/>
          <p:cNvPicPr>
            <a:picLocks noChangeAspect="1"/>
          </p:cNvPicPr>
          <p:nvPr/>
        </p:nvPicPr>
        <p:blipFill>
          <a:blip r:embed="rId8"/>
          <a:stretch>
            <a:fillRect/>
          </a:stretch>
        </p:blipFill>
        <p:spPr>
          <a:xfrm>
            <a:off x="4496562" y="4789170"/>
            <a:ext cx="251460" cy="251460"/>
          </a:xfrm>
          <a:prstGeom prst="rect">
            <a:avLst/>
          </a:prstGeom>
        </p:spPr>
      </p:pic>
      <p:sp>
        <p:nvSpPr>
          <p:cNvPr id="32" name="txt-770"/>
          <p:cNvSpPr txBox="1"/>
          <p:nvPr/>
        </p:nvSpPr>
        <p:spPr>
          <a:xfrm>
            <a:off x="4983480" y="4617720"/>
            <a:ext cx="2651760" cy="365760"/>
          </a:xfrm>
          <a:prstGeom prst="rect">
            <a:avLst/>
          </a:prstGeom>
          <a:noFill/>
          <a:ln/>
        </p:spPr>
        <p:txBody>
          <a:bodyPr wrap="square" lIns="0" tIns="0" rIns="0" bIns="0" rtlCol="0" anchor="t"/>
          <a:lstStyle/>
          <a:p>
            <a:pPr marL="0" indent="0">
              <a:buNone/>
            </a:pPr>
            <a:r>
              <a:rPr lang="en-US" sz="1400" b="1" dirty="0">
                <a:solidFill>
                  <a:schemeClr val="tx2"/>
                </a:solidFill>
              </a:rPr>
              <a:t>Un style creux</a:t>
            </a:r>
            <a:endParaRPr lang="en-US" sz="1400" dirty="0"/>
          </a:p>
        </p:txBody>
      </p:sp>
      <p:sp>
        <p:nvSpPr>
          <p:cNvPr id="33" name="txt-771"/>
          <p:cNvSpPr txBox="1"/>
          <p:nvPr/>
        </p:nvSpPr>
        <p:spPr>
          <a:xfrm>
            <a:off x="4983480" y="4983480"/>
            <a:ext cx="2651760" cy="777240"/>
          </a:xfrm>
          <a:prstGeom prst="rect">
            <a:avLst/>
          </a:prstGeom>
          <a:noFill/>
          <a:ln/>
        </p:spPr>
        <p:txBody>
          <a:bodyPr wrap="square" lIns="0" tIns="0" rIns="0" bIns="0" rtlCol="0" anchor="t"/>
          <a:lstStyle/>
          <a:p>
            <a:pPr marL="0" indent="0">
              <a:buNone/>
            </a:pPr>
            <a:r>
              <a:rPr lang="en-US" sz="1100" dirty="0">
                <a:solidFill>
                  <a:schemeClr val="tx1"/>
                </a:solidFill>
              </a:rPr>
              <a:t>« Dans un monde en constante évolution… », « delves into », « multifaceted », conclusions absolues</a:t>
            </a:r>
            <a:endParaRPr lang="en-US" sz="1100" dirty="0"/>
          </a:p>
        </p:txBody>
      </p:sp>
      <p:sp>
        <p:nvSpPr>
          <p:cNvPr id="34" name="card-772"/>
          <p:cNvSpPr/>
          <p:nvPr/>
        </p:nvSpPr>
        <p:spPr>
          <a:xfrm>
            <a:off x="8001000" y="1554480"/>
            <a:ext cx="3611880" cy="4251960"/>
          </a:xfrm>
          <a:prstGeom prst="roundRect">
            <a:avLst>
              <a:gd name="adj" fmla="val 2025"/>
            </a:avLst>
          </a:prstGeom>
          <a:solidFill>
            <a:schemeClr val="tx2"/>
          </a:solidFill>
          <a:ln w="6350">
            <a:solidFill>
              <a:schemeClr val="tx2"/>
            </a:solidFill>
            <a:prstDash val="solid"/>
          </a:ln>
        </p:spPr>
      </p:sp>
      <p:sp>
        <p:nvSpPr>
          <p:cNvPr id="35" name="txt-773"/>
          <p:cNvSpPr txBox="1"/>
          <p:nvPr/>
        </p:nvSpPr>
        <p:spPr>
          <a:xfrm>
            <a:off x="8229600" y="1691640"/>
            <a:ext cx="3200400" cy="365760"/>
          </a:xfrm>
          <a:prstGeom prst="rect">
            <a:avLst/>
          </a:prstGeom>
          <a:noFill/>
          <a:ln/>
        </p:spPr>
        <p:txBody>
          <a:bodyPr wrap="square" lIns="0" tIns="0" rIns="0" bIns="0" rtlCol="0" anchor="t"/>
          <a:lstStyle/>
          <a:p>
            <a:pPr marL="0" indent="0">
              <a:buNone/>
            </a:pPr>
            <a:r>
              <a:rPr lang="en-US" sz="1600" b="1" dirty="0">
                <a:solidFill>
                  <a:schemeClr val="accent1"/>
                </a:solidFill>
              </a:rPr>
              <a:t>Vérifier en 2 minutes</a:t>
            </a:r>
            <a:endParaRPr lang="en-US" sz="1600" dirty="0"/>
          </a:p>
        </p:txBody>
      </p:sp>
      <p:sp>
        <p:nvSpPr>
          <p:cNvPr id="36" name="txt-774"/>
          <p:cNvSpPr txBox="1"/>
          <p:nvPr/>
        </p:nvSpPr>
        <p:spPr>
          <a:xfrm>
            <a:off x="8229600" y="2148840"/>
            <a:ext cx="3200400" cy="356616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chemeClr val="bg1"/>
                </a:solidFill>
              </a:rPr>
              <a:t>Revue : est-elle dans le DOAJ (doaj.org) ? Passez la grille Think. Check. Submit.</a:t>
            </a:r>
            <a:endParaRPr lang="en-US" sz="1200" dirty="0"/>
          </a:p>
          <a:p>
            <a:pPr marL="177800" indent="-177800">
              <a:spcAft>
                <a:spcPts val="600"/>
              </a:spcAft>
              <a:buSzPct val="100000"/>
              <a:buChar char="•"/>
            </a:pPr>
            <a:r>
              <a:rPr lang="en-US" sz="1200" dirty="0">
                <a:solidFill>
                  <a:schemeClr val="bg1"/>
                </a:solidFill>
              </a:rPr>
              <a:t>Article : est-il rétracté ? Retraction Watch Database (retractiondatabase.org)</a:t>
            </a:r>
            <a:endParaRPr lang="en-US" sz="1200" dirty="0"/>
          </a:p>
          <a:p>
            <a:pPr marL="177800" indent="-177800">
              <a:spcAft>
                <a:spcPts val="600"/>
              </a:spcAft>
              <a:buSzPct val="100000"/>
              <a:buChar char="•"/>
            </a:pPr>
            <a:r>
              <a:rPr lang="en-US" sz="1200" dirty="0">
                <a:solidFill>
                  <a:schemeClr val="bg1"/>
                </a:solidFill>
              </a:rPr>
              <a:t>Commentaires d'experts : PubPeer (pubpeer.com)</a:t>
            </a:r>
            <a:endParaRPr lang="en-US" sz="1200" dirty="0"/>
          </a:p>
          <a:p>
            <a:pPr marL="177800" indent="-177800">
              <a:spcAft>
                <a:spcPts val="600"/>
              </a:spcAft>
              <a:buSzPct val="100000"/>
              <a:buChar char="•"/>
            </a:pPr>
            <a:r>
              <a:rPr lang="en-US" sz="1200" dirty="0">
                <a:solidFill>
                  <a:schemeClr val="bg1"/>
                </a:solidFill>
              </a:rPr>
              <a:t>Citations : Scite ou Google Scholar, qui le cite et comment ?</a:t>
            </a:r>
            <a:endParaRPr lang="en-US" sz="1200" dirty="0"/>
          </a:p>
        </p:txBody>
      </p:sp>
      <p:sp>
        <p:nvSpPr>
          <p:cNvPr id="37" name="txt-775"/>
          <p:cNvSpPr txBox="1"/>
          <p:nvPr/>
        </p:nvSpPr>
        <p:spPr>
          <a:xfrm>
            <a:off x="548640" y="6053328"/>
            <a:ext cx="11064240" cy="256032"/>
          </a:xfrm>
          <a:prstGeom prst="rect">
            <a:avLst/>
          </a:prstGeom>
          <a:noFill/>
          <a:ln/>
        </p:spPr>
        <p:txBody>
          <a:bodyPr wrap="square" lIns="0" tIns="0" rIns="0" bIns="0" rtlCol="0" anchor="t"/>
          <a:lstStyle/>
          <a:p>
            <a:pPr marL="0" indent="0">
              <a:buNone/>
            </a:pPr>
            <a:r>
              <a:rPr lang="en-US" sz="1000" i="1" dirty="0">
                <a:solidFill>
                  <a:schemeClr val="accent5"/>
                </a:solidFill>
              </a:rPr>
              <a:t>Des milliers d'articles comportant des phrases torturées ont été repérés par le Problematic Paper Screener (Cabanac et al., IRIT Toulouse).</a:t>
            </a:r>
            <a:endParaRPr lang="en-US" sz="1000" dirty="0"/>
          </a:p>
        </p:txBody>
      </p:sp>
      <p:sp>
        <p:nvSpPr>
          <p:cNvPr id="38" name="Slide Number Placeholder 0"/>
          <p:cNvSpPr>
            <a:spLocks noGrp="1"/>
          </p:cNvSpPr>
          <p:nvPr>
            <p:ph type="sldNum" sz="quarter" idx="4294967295"/>
          </p:nvPr>
        </p:nvSpPr>
        <p:spPr>
          <a:xfrm>
            <a:off x="11064240" y="6400800"/>
            <a:ext cx="54864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C82"/>
                </a:solidFill>
                <a:latin typeface="Poppins"/>
                <a:ea typeface="Poppins"/>
                <a:cs typeface="Poppins"/>
              </a:defRPr>
            </a:lvl1pPr>
          </a:lstStyle>
          <a:p>
            <a:pPr algn="r"/>
            <a:fld id="{F7021451-1387-4CA6-816F-3879F97B5CBC}" type="slidenum">
              <a:rPr lang="en-US" b="0"/>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566928"/>
            <a:ext cx="11064240" cy="777240"/>
          </a:xfrm>
          <a:prstGeom prst="rect">
            <a:avLst/>
          </a:prstGeom>
          <a:noFill/>
          <a:ln/>
        </p:spPr>
        <p:txBody>
          <a:bodyPr wrap="square" lIns="0" tIns="0" rIns="0" bIns="0" rtlCol="0" anchor="ctr"/>
          <a:lstStyle/>
          <a:p>
            <a:pPr marL="0" indent="0" algn="l">
              <a:buNone/>
            </a:pPr>
            <a:r>
              <a:rPr lang="en-US" sz="2700" b="1" dirty="0">
                <a:solidFill>
                  <a:schemeClr val="tx2"/>
                </a:solidFill>
                <a:latin typeface="Poppins" pitchFamily="34" charset="0"/>
                <a:ea typeface="Poppins" pitchFamily="34" charset="-122"/>
                <a:cs typeface="Poppins" pitchFamily="34" charset="-120"/>
              </a:rPr>
              <a:t>Ne pas produire soi-même un « article IA »</a:t>
            </a:r>
            <a:endParaRPr lang="en-US" sz="2700" dirty="0"/>
          </a:p>
        </p:txBody>
      </p:sp>
      <p:sp>
        <p:nvSpPr>
          <p:cNvPr id="3" name="Text 0"/>
          <p:cNvSpPr>
            <a:spLocks noGrp="1"/>
          </p:cNvSpPr>
          <p:nvPr>
            <p:ph type="body" idx="101" hasCustomPrompt="1"/>
          </p:nvPr>
        </p:nvSpPr>
        <p:spPr>
          <a:xfrm>
            <a:off x="548640" y="256032"/>
            <a:ext cx="8229600" cy="292608"/>
          </a:xfrm>
          <a:prstGeom prst="rect">
            <a:avLst/>
          </a:prstGeom>
          <a:noFill/>
          <a:ln/>
        </p:spPr>
        <p:txBody>
          <a:bodyPr wrap="square" lIns="0" tIns="0" rIns="0" bIns="0" rtlCol="0" anchor="ctr"/>
          <a:lstStyle/>
          <a:p>
            <a:pPr marL="0" indent="0">
              <a:buNone/>
            </a:pPr>
            <a:r>
              <a:rPr lang="en-US" sz="1100" b="1" dirty="0">
                <a:solidFill>
                  <a:schemeClr val="accent1"/>
                </a:solidFill>
                <a:latin typeface="Poppins" pitchFamily="34" charset="0"/>
                <a:ea typeface="Poppins" pitchFamily="34" charset="-122"/>
                <a:cs typeface="Poppins" pitchFamily="34" charset="-120"/>
              </a:rPr>
              <a:t>R · ARTICLES PIÈGES</a:t>
            </a:r>
            <a:endParaRPr lang="en-US" sz="1100" dirty="0"/>
          </a:p>
        </p:txBody>
      </p:sp>
      <p:sp>
        <p:nvSpPr>
          <p:cNvPr id="4" name="card-776"/>
          <p:cNvSpPr/>
          <p:nvPr/>
        </p:nvSpPr>
        <p:spPr>
          <a:xfrm>
            <a:off x="548640" y="1554480"/>
            <a:ext cx="5440680" cy="3520440"/>
          </a:xfrm>
          <a:prstGeom prst="roundRect">
            <a:avLst>
              <a:gd name="adj" fmla="val 2078"/>
            </a:avLst>
          </a:prstGeom>
          <a:solidFill>
            <a:schemeClr val="bg2"/>
          </a:solidFill>
          <a:ln w="6350">
            <a:solidFill>
              <a:schemeClr val="bg2"/>
            </a:solidFill>
            <a:prstDash val="solid"/>
          </a:ln>
        </p:spPr>
      </p:sp>
      <p:sp>
        <p:nvSpPr>
          <p:cNvPr id="5" name="circle-777"/>
          <p:cNvSpPr/>
          <p:nvPr/>
        </p:nvSpPr>
        <p:spPr>
          <a:xfrm>
            <a:off x="777240" y="1737360"/>
            <a:ext cx="548640" cy="548640"/>
          </a:xfrm>
          <a:prstGeom prst="ellipse">
            <a:avLst/>
          </a:prstGeom>
          <a:solidFill>
            <a:schemeClr val="accent3"/>
          </a:solidFill>
          <a:ln w="12700">
            <a:solidFill>
              <a:schemeClr val="accent3"/>
            </a:solidFill>
            <a:prstDash val="solid"/>
          </a:ln>
        </p:spPr>
      </p:sp>
      <p:pic>
        <p:nvPicPr>
          <p:cNvPr id="6" name="icon-778" descr="preencoded.png"/>
          <p:cNvPicPr>
            <a:picLocks noChangeAspect="1"/>
          </p:cNvPicPr>
          <p:nvPr/>
        </p:nvPicPr>
        <p:blipFill>
          <a:blip r:embed="rId3"/>
          <a:stretch>
            <a:fillRect/>
          </a:stretch>
        </p:blipFill>
        <p:spPr>
          <a:xfrm>
            <a:off x="914400" y="1874520"/>
            <a:ext cx="274320" cy="274320"/>
          </a:xfrm>
          <a:prstGeom prst="rect">
            <a:avLst/>
          </a:prstGeom>
        </p:spPr>
      </p:pic>
      <p:sp>
        <p:nvSpPr>
          <p:cNvPr id="7" name="txt-779"/>
          <p:cNvSpPr txBox="1"/>
          <p:nvPr/>
        </p:nvSpPr>
        <p:spPr>
          <a:xfrm>
            <a:off x="1463040" y="1737360"/>
            <a:ext cx="4297680" cy="548640"/>
          </a:xfrm>
          <a:prstGeom prst="rect">
            <a:avLst/>
          </a:prstGeom>
          <a:noFill/>
          <a:ln/>
        </p:spPr>
        <p:txBody>
          <a:bodyPr wrap="square" lIns="0" tIns="0" rIns="0" bIns="0" rtlCol="0" anchor="ctr"/>
          <a:lstStyle/>
          <a:p>
            <a:pPr marL="0" indent="0">
              <a:buNone/>
            </a:pPr>
            <a:r>
              <a:rPr lang="en-US" sz="1800" b="1" dirty="0">
                <a:solidFill>
                  <a:schemeClr val="accent3"/>
                </a:solidFill>
              </a:rPr>
              <a:t>À ne pas faire</a:t>
            </a:r>
            <a:endParaRPr lang="en-US" sz="1800" dirty="0"/>
          </a:p>
        </p:txBody>
      </p:sp>
      <p:sp>
        <p:nvSpPr>
          <p:cNvPr id="8" name="txt-780"/>
          <p:cNvSpPr txBox="1"/>
          <p:nvPr/>
        </p:nvSpPr>
        <p:spPr>
          <a:xfrm>
            <a:off x="822960" y="2468880"/>
            <a:ext cx="4937760" cy="251460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Faire rédiger une section entière, puis la « relire »</a:t>
            </a:r>
            <a:endParaRPr lang="en-US" sz="1400" dirty="0"/>
          </a:p>
          <a:p>
            <a:pPr marL="177800" indent="-177800">
              <a:spcAft>
                <a:spcPts val="600"/>
              </a:spcAft>
              <a:buSzPct val="100000"/>
              <a:buChar char="•"/>
            </a:pPr>
            <a:r>
              <a:rPr lang="en-US" sz="1400" dirty="0">
                <a:solidFill>
                  <a:schemeClr val="tx1"/>
                </a:solidFill>
              </a:rPr>
              <a:t>Citer un article que vous n'avez pas lu, même s'il existe</a:t>
            </a:r>
            <a:endParaRPr lang="en-US" sz="1400" dirty="0"/>
          </a:p>
          <a:p>
            <a:pPr marL="177800" indent="-177800">
              <a:spcAft>
                <a:spcPts val="600"/>
              </a:spcAft>
              <a:buSzPct val="100000"/>
              <a:buChar char="•"/>
            </a:pPr>
            <a:r>
              <a:rPr lang="en-US" sz="1400" dirty="0">
                <a:solidFill>
                  <a:schemeClr val="tx1"/>
                </a:solidFill>
              </a:rPr>
              <a:t>Laisser l'IA « compléter » un chiffre ou une référence</a:t>
            </a:r>
            <a:endParaRPr lang="en-US" sz="1400" dirty="0"/>
          </a:p>
          <a:p>
            <a:pPr marL="177800" indent="-177800">
              <a:spcAft>
                <a:spcPts val="600"/>
              </a:spcAft>
              <a:buSzPct val="100000"/>
              <a:buChar char="•"/>
            </a:pPr>
            <a:r>
              <a:rPr lang="en-US" sz="1400" dirty="0">
                <a:solidFill>
                  <a:schemeClr val="tx1"/>
                </a:solidFill>
              </a:rPr>
              <a:t>Garder le style IA : formules creuses, conclusions absolues</a:t>
            </a:r>
            <a:endParaRPr lang="en-US" sz="1400" dirty="0"/>
          </a:p>
        </p:txBody>
      </p:sp>
      <p:sp>
        <p:nvSpPr>
          <p:cNvPr id="9" name="card-781"/>
          <p:cNvSpPr/>
          <p:nvPr/>
        </p:nvSpPr>
        <p:spPr>
          <a:xfrm>
            <a:off x="6172200" y="1554480"/>
            <a:ext cx="5440680" cy="3520440"/>
          </a:xfrm>
          <a:prstGeom prst="roundRect">
            <a:avLst>
              <a:gd name="adj" fmla="val 2078"/>
            </a:avLst>
          </a:prstGeom>
          <a:solidFill>
            <a:schemeClr val="bg2"/>
          </a:solidFill>
          <a:ln w="6350">
            <a:solidFill>
              <a:schemeClr val="bg2"/>
            </a:solidFill>
            <a:prstDash val="solid"/>
          </a:ln>
        </p:spPr>
      </p:sp>
      <p:sp>
        <p:nvSpPr>
          <p:cNvPr id="10" name="circle-782"/>
          <p:cNvSpPr/>
          <p:nvPr/>
        </p:nvSpPr>
        <p:spPr>
          <a:xfrm>
            <a:off x="6400800" y="1737360"/>
            <a:ext cx="548640" cy="548640"/>
          </a:xfrm>
          <a:prstGeom prst="ellipse">
            <a:avLst/>
          </a:prstGeom>
          <a:solidFill>
            <a:schemeClr val="accent2"/>
          </a:solidFill>
          <a:ln w="12700">
            <a:solidFill>
              <a:schemeClr val="accent2"/>
            </a:solidFill>
            <a:prstDash val="solid"/>
          </a:ln>
        </p:spPr>
      </p:sp>
      <p:pic>
        <p:nvPicPr>
          <p:cNvPr id="11" name="icon-783" descr="preencoded.png"/>
          <p:cNvPicPr>
            <a:picLocks noChangeAspect="1"/>
          </p:cNvPicPr>
          <p:nvPr/>
        </p:nvPicPr>
        <p:blipFill>
          <a:blip r:embed="rId4"/>
          <a:stretch>
            <a:fillRect/>
          </a:stretch>
        </p:blipFill>
        <p:spPr>
          <a:xfrm>
            <a:off x="6537960" y="1874520"/>
            <a:ext cx="274320" cy="274320"/>
          </a:xfrm>
          <a:prstGeom prst="rect">
            <a:avLst/>
          </a:prstGeom>
        </p:spPr>
      </p:pic>
      <p:sp>
        <p:nvSpPr>
          <p:cNvPr id="12" name="txt-784"/>
          <p:cNvSpPr txBox="1"/>
          <p:nvPr/>
        </p:nvSpPr>
        <p:spPr>
          <a:xfrm>
            <a:off x="7086600" y="1737360"/>
            <a:ext cx="4297680" cy="548640"/>
          </a:xfrm>
          <a:prstGeom prst="rect">
            <a:avLst/>
          </a:prstGeom>
          <a:noFill/>
          <a:ln/>
        </p:spPr>
        <p:txBody>
          <a:bodyPr wrap="square" lIns="0" tIns="0" rIns="0" bIns="0" rtlCol="0" anchor="ctr"/>
          <a:lstStyle/>
          <a:p>
            <a:pPr marL="0" indent="0">
              <a:buNone/>
            </a:pPr>
            <a:r>
              <a:rPr lang="en-US" sz="1800" b="1" dirty="0">
                <a:solidFill>
                  <a:schemeClr val="accent2"/>
                </a:solidFill>
              </a:rPr>
              <a:t>À faire</a:t>
            </a:r>
            <a:endParaRPr lang="en-US" sz="1800" dirty="0"/>
          </a:p>
        </p:txBody>
      </p:sp>
      <p:sp>
        <p:nvSpPr>
          <p:cNvPr id="13" name="txt-785"/>
          <p:cNvSpPr txBox="1"/>
          <p:nvPr/>
        </p:nvSpPr>
        <p:spPr>
          <a:xfrm>
            <a:off x="6446520" y="2468880"/>
            <a:ext cx="4937760" cy="251460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Écrire vous-même, puis demander à l'IA de critiquer ou de reformuler</a:t>
            </a:r>
            <a:endParaRPr lang="en-US" sz="1400" dirty="0"/>
          </a:p>
          <a:p>
            <a:pPr marL="177800" indent="-177800">
              <a:spcAft>
                <a:spcPts val="600"/>
              </a:spcAft>
              <a:buSzPct val="100000"/>
              <a:buChar char="•"/>
            </a:pPr>
            <a:r>
              <a:rPr lang="en-US" sz="1400" dirty="0">
                <a:solidFill>
                  <a:schemeClr val="tx1"/>
                </a:solidFill>
              </a:rPr>
              <a:t>Lire chaque source citée, vérifier chaque chiffre</a:t>
            </a:r>
            <a:endParaRPr lang="en-US" sz="1400" dirty="0"/>
          </a:p>
          <a:p>
            <a:pPr marL="177800" indent="-177800">
              <a:spcAft>
                <a:spcPts val="600"/>
              </a:spcAft>
              <a:buSzPct val="100000"/>
              <a:buChar char="•"/>
            </a:pPr>
            <a:r>
              <a:rPr lang="en-US" sz="1400" dirty="0">
                <a:solidFill>
                  <a:schemeClr val="tx1"/>
                </a:solidFill>
              </a:rPr>
              <a:t>Garder brouillons et historique des versions (en cas de doute d'un détecteur)</a:t>
            </a:r>
            <a:endParaRPr lang="en-US" sz="1400" dirty="0"/>
          </a:p>
          <a:p>
            <a:pPr marL="177800" indent="-177800">
              <a:spcAft>
                <a:spcPts val="600"/>
              </a:spcAft>
              <a:buSzPct val="100000"/>
              <a:buChar char="•"/>
            </a:pPr>
            <a:r>
              <a:rPr lang="en-US" sz="1400" dirty="0">
                <a:solidFill>
                  <a:schemeClr val="tx1"/>
                </a:solidFill>
              </a:rPr>
              <a:t>Déclarer l'usage de l'IA selon les règles de la revue et de l'école doctorale</a:t>
            </a:r>
            <a:endParaRPr lang="en-US" sz="1400" dirty="0"/>
          </a:p>
        </p:txBody>
      </p:sp>
      <p:sp>
        <p:nvSpPr>
          <p:cNvPr id="14" name="card-786"/>
          <p:cNvSpPr/>
          <p:nvPr/>
        </p:nvSpPr>
        <p:spPr>
          <a:xfrm>
            <a:off x="548640" y="5257800"/>
            <a:ext cx="11064240" cy="685800"/>
          </a:xfrm>
          <a:prstGeom prst="roundRect">
            <a:avLst>
              <a:gd name="adj" fmla="val 10667"/>
            </a:avLst>
          </a:prstGeom>
          <a:solidFill>
            <a:schemeClr val="accent1"/>
          </a:solidFill>
          <a:ln w="6350">
            <a:solidFill>
              <a:schemeClr val="accent1"/>
            </a:solidFill>
            <a:prstDash val="solid"/>
          </a:ln>
        </p:spPr>
      </p:sp>
      <p:sp>
        <p:nvSpPr>
          <p:cNvPr id="15" name="txt-787"/>
          <p:cNvSpPr txBox="1"/>
          <p:nvPr/>
        </p:nvSpPr>
        <p:spPr>
          <a:xfrm>
            <a:off x="777240" y="5257800"/>
            <a:ext cx="10607040" cy="685800"/>
          </a:xfrm>
          <a:prstGeom prst="rect">
            <a:avLst/>
          </a:prstGeom>
          <a:noFill/>
          <a:ln/>
        </p:spPr>
        <p:txBody>
          <a:bodyPr wrap="square" lIns="0" tIns="0" rIns="0" bIns="0" rtlCol="0" anchor="ctr"/>
          <a:lstStyle/>
          <a:p>
            <a:pPr marL="0" indent="0">
              <a:buNone/>
            </a:pPr>
            <a:r>
              <a:rPr lang="en-US" sz="1500" b="1" dirty="0">
                <a:solidFill>
                  <a:schemeClr val="tx2"/>
                </a:solidFill>
              </a:rPr>
              <a:t>Les conséquences sont réelles : rejet, rétractation, procédure disciplinaire. L'auteure répond de chaque mot.</a:t>
            </a:r>
            <a:endParaRPr lang="en-US" sz="1500" dirty="0"/>
          </a:p>
        </p:txBody>
      </p:sp>
      <p:sp>
        <p:nvSpPr>
          <p:cNvPr id="25" name="Slide Number Placeholder 0"/>
          <p:cNvSpPr>
            <a:spLocks noGrp="1"/>
          </p:cNvSpPr>
          <p:nvPr>
            <p:ph type="sldNum" sz="quarter" idx="4294967295"/>
          </p:nvPr>
        </p:nvSpPr>
        <p:spPr>
          <a:xfrm>
            <a:off x="11064240" y="6400800"/>
            <a:ext cx="54864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C82"/>
                </a:solidFill>
                <a:latin typeface="Poppins"/>
                <a:ea typeface="Poppins"/>
                <a:cs typeface="Poppins"/>
              </a:defRPr>
            </a:lvl1pPr>
          </a:lstStyle>
          <a:p>
            <a:pPr algn="r"/>
            <a:fld id="{F7021451-1387-4CA6-816F-3879F97B5CBC}" type="slidenum">
              <a:rPr lang="en-US" b="0"/>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566928"/>
            <a:ext cx="11064240" cy="777240"/>
          </a:xfrm>
          <a:prstGeom prst="rect">
            <a:avLst/>
          </a:prstGeom>
          <a:noFill/>
          <a:ln/>
        </p:spPr>
        <p:txBody>
          <a:bodyPr wrap="square" lIns="0" tIns="0" rIns="0" bIns="0" rtlCol="0" anchor="ctr"/>
          <a:lstStyle/>
          <a:p>
            <a:pPr marL="0" indent="0" algn="l">
              <a:buNone/>
            </a:pPr>
            <a:r>
              <a:rPr lang="en-US" sz="2700" b="1" dirty="0">
                <a:solidFill>
                  <a:schemeClr val="tx2"/>
                </a:solidFill>
                <a:latin typeface="Poppins" pitchFamily="34" charset="0"/>
                <a:ea typeface="Poppins" pitchFamily="34" charset="-122"/>
                <a:cs typeface="Poppins" pitchFamily="34" charset="-120"/>
              </a:rPr>
              <a:t>Vidéos : les outils de recherche assistée par IA</a:t>
            </a:r>
            <a:endParaRPr lang="en-US" sz="2700" dirty="0"/>
          </a:p>
        </p:txBody>
      </p:sp>
      <p:sp>
        <p:nvSpPr>
          <p:cNvPr id="3" name="Text 0"/>
          <p:cNvSpPr>
            <a:spLocks noGrp="1"/>
          </p:cNvSpPr>
          <p:nvPr>
            <p:ph type="body" idx="101" hasCustomPrompt="1"/>
          </p:nvPr>
        </p:nvSpPr>
        <p:spPr>
          <a:xfrm>
            <a:off x="548640" y="256032"/>
            <a:ext cx="8229600" cy="292608"/>
          </a:xfrm>
          <a:prstGeom prst="rect">
            <a:avLst/>
          </a:prstGeom>
          <a:noFill/>
          <a:ln/>
        </p:spPr>
        <p:txBody>
          <a:bodyPr wrap="square" lIns="0" tIns="0" rIns="0" bIns="0" rtlCol="0" anchor="ctr"/>
          <a:lstStyle/>
          <a:p>
            <a:pPr marL="0" indent="0">
              <a:buNone/>
            </a:pPr>
            <a:r>
              <a:rPr lang="en-US" sz="1100" b="1" dirty="0">
                <a:solidFill>
                  <a:schemeClr val="accent1"/>
                </a:solidFill>
                <a:latin typeface="Poppins" pitchFamily="34" charset="0"/>
                <a:ea typeface="Poppins" pitchFamily="34" charset="-122"/>
                <a:cs typeface="Poppins" pitchFamily="34" charset="-120"/>
              </a:rPr>
              <a:t>RECHERCHE · POUR ALLER PLUS LOIN</a:t>
            </a:r>
            <a:endParaRPr lang="en-US" sz="1100" dirty="0"/>
          </a:p>
        </p:txBody>
      </p:sp>
      <p:sp>
        <p:nvSpPr>
          <p:cNvPr id="4" name="card-788"/>
          <p:cNvSpPr/>
          <p:nvPr/>
        </p:nvSpPr>
        <p:spPr>
          <a:xfrm>
            <a:off x="548640" y="1600200"/>
            <a:ext cx="5440680" cy="1298448"/>
          </a:xfrm>
          <a:prstGeom prst="roundRect">
            <a:avLst>
              <a:gd name="adj" fmla="val 5634"/>
            </a:avLst>
          </a:prstGeom>
          <a:solidFill>
            <a:schemeClr val="bg2"/>
          </a:solidFill>
          <a:ln w="6350">
            <a:solidFill>
              <a:schemeClr val="bg2"/>
            </a:solidFill>
            <a:prstDash val="solid"/>
          </a:ln>
        </p:spPr>
      </p:sp>
      <p:sp>
        <p:nvSpPr>
          <p:cNvPr id="5" name="play-789"/>
          <p:cNvSpPr/>
          <p:nvPr/>
        </p:nvSpPr>
        <p:spPr>
          <a:xfrm>
            <a:off x="777240" y="1901952"/>
            <a:ext cx="685800" cy="685800"/>
          </a:xfrm>
          <a:prstGeom prst="ellipse">
            <a:avLst/>
          </a:prstGeom>
          <a:solidFill>
            <a:schemeClr val="accent3"/>
          </a:solidFill>
          <a:ln w="12700">
            <a:solidFill>
              <a:schemeClr val="accent3"/>
            </a:solidFill>
            <a:prstDash val="solid"/>
          </a:ln>
        </p:spPr>
      </p:sp>
      <p:sp>
        <p:nvSpPr>
          <p:cNvPr id="6" name="tri-790"/>
          <p:cNvSpPr/>
          <p:nvPr/>
        </p:nvSpPr>
        <p:spPr>
          <a:xfrm rot="5400000">
            <a:off x="1024128" y="2075688"/>
            <a:ext cx="274320" cy="329184"/>
          </a:xfrm>
          <a:prstGeom prst="triangle">
            <a:avLst/>
          </a:prstGeom>
          <a:solidFill>
            <a:schemeClr val="bg1"/>
          </a:solidFill>
          <a:ln w="12700">
            <a:solidFill>
              <a:schemeClr val="bg1"/>
            </a:solidFill>
            <a:prstDash val="solid"/>
          </a:ln>
        </p:spPr>
      </p:sp>
      <p:sp>
        <p:nvSpPr>
          <p:cNvPr id="7" name="txt-791"/>
          <p:cNvSpPr txBox="1"/>
          <p:nvPr/>
        </p:nvSpPr>
        <p:spPr>
          <a:xfrm>
            <a:off x="1645920" y="1709928"/>
            <a:ext cx="4206240" cy="566928"/>
          </a:xfrm>
          <a:prstGeom prst="rect">
            <a:avLst/>
          </a:prstGeom>
          <a:noFill/>
          <a:ln/>
        </p:spPr>
        <p:txBody>
          <a:bodyPr wrap="square" lIns="0" tIns="0" rIns="0" bIns="0" rtlCol="0" anchor="ctr"/>
          <a:lstStyle/>
          <a:p>
            <a:pPr marL="0" indent="0">
              <a:buNone/>
            </a:pPr>
            <a:r>
              <a:rPr lang="en-US" sz="1300" b="1" dirty="0">
                <a:solidFill>
                  <a:schemeClr val="tx2"/>
                </a:solidFill>
              </a:rPr>
              <a:t>Optimiser la recherche scientifique avec Semantic Scholar</a:t>
            </a:r>
            <a:endParaRPr lang="en-US" sz="1300" dirty="0"/>
          </a:p>
        </p:txBody>
      </p:sp>
      <p:sp>
        <p:nvSpPr>
          <p:cNvPr id="8" name="txt-792"/>
          <p:cNvSpPr txBox="1"/>
          <p:nvPr/>
        </p:nvSpPr>
        <p:spPr>
          <a:xfrm>
            <a:off x="1645920" y="2276856"/>
            <a:ext cx="4206240" cy="256032"/>
          </a:xfrm>
          <a:prstGeom prst="rect">
            <a:avLst/>
          </a:prstGeom>
          <a:noFill/>
          <a:ln/>
        </p:spPr>
        <p:txBody>
          <a:bodyPr wrap="square" lIns="0" tIns="0" rIns="0" bIns="0" rtlCol="0" anchor="t"/>
          <a:lstStyle/>
          <a:p>
            <a:pPr marL="0" indent="0">
              <a:buNone/>
            </a:pPr>
            <a:r>
              <a:rPr lang="en-US" sz="1100" dirty="0">
                <a:solidFill>
                  <a:schemeClr val="accent5"/>
                </a:solidFill>
              </a:rPr>
              <a:t>EPIRHEUM · 5 min</a:t>
            </a:r>
            <a:endParaRPr lang="en-US" sz="1100" dirty="0"/>
          </a:p>
        </p:txBody>
      </p:sp>
      <p:sp>
        <p:nvSpPr>
          <p:cNvPr id="9" name="txt-793"/>
          <p:cNvSpPr txBox="1"/>
          <p:nvPr/>
        </p:nvSpPr>
        <p:spPr>
          <a:xfrm>
            <a:off x="1645920" y="2532888"/>
            <a:ext cx="4206240" cy="256032"/>
          </a:xfrm>
          <a:prstGeom prst="rect">
            <a:avLst/>
          </a:prstGeom>
          <a:noFill/>
          <a:ln/>
        </p:spPr>
        <p:txBody>
          <a:bodyPr wrap="square" lIns="0" tIns="0" rIns="0" bIns="0" rtlCol="0" anchor="t"/>
          <a:lstStyle/>
          <a:p>
            <a:pPr marL="0" indent="0">
              <a:buNone/>
            </a:pPr>
            <a:r>
              <a:rPr lang="en-US" sz="1100" b="1" u="sng" dirty="0">
                <a:solidFill>
                  <a:schemeClr val="accent6"/>
                </a:solidFill>
                <a:hlinkClick r:id="rId3" tooltip="Optimiser la recherche scientifique avec Semantic Scholar">
                  <a:extLst>
                    <a:ext uri="{A12FA001-AC4F-418D-AE19-62706E023703}">
                      <ahyp:hlinkClr xmlns:ahyp="http://schemas.microsoft.com/office/drawing/2018/hyperlinkcolor" val="tx"/>
                    </a:ext>
                  </a:extLst>
                </a:hlinkClick>
              </a:rPr>
              <a:t>youtu.be/WNpQfp-Sxmw</a:t>
            </a:r>
            <a:endParaRPr lang="en-US" sz="1100" dirty="0"/>
          </a:p>
        </p:txBody>
      </p:sp>
      <p:sp>
        <p:nvSpPr>
          <p:cNvPr id="10" name="card-794"/>
          <p:cNvSpPr/>
          <p:nvPr/>
        </p:nvSpPr>
        <p:spPr>
          <a:xfrm>
            <a:off x="6172200" y="1600200"/>
            <a:ext cx="5440680" cy="1298448"/>
          </a:xfrm>
          <a:prstGeom prst="roundRect">
            <a:avLst>
              <a:gd name="adj" fmla="val 5634"/>
            </a:avLst>
          </a:prstGeom>
          <a:solidFill>
            <a:schemeClr val="bg2"/>
          </a:solidFill>
          <a:ln w="6350">
            <a:solidFill>
              <a:schemeClr val="bg2"/>
            </a:solidFill>
            <a:prstDash val="solid"/>
          </a:ln>
        </p:spPr>
      </p:sp>
      <p:sp>
        <p:nvSpPr>
          <p:cNvPr id="11" name="play-795"/>
          <p:cNvSpPr/>
          <p:nvPr/>
        </p:nvSpPr>
        <p:spPr>
          <a:xfrm>
            <a:off x="6400800" y="1901952"/>
            <a:ext cx="685800" cy="685800"/>
          </a:xfrm>
          <a:prstGeom prst="ellipse">
            <a:avLst/>
          </a:prstGeom>
          <a:solidFill>
            <a:schemeClr val="accent3"/>
          </a:solidFill>
          <a:ln w="12700">
            <a:solidFill>
              <a:schemeClr val="accent3"/>
            </a:solidFill>
            <a:prstDash val="solid"/>
          </a:ln>
        </p:spPr>
      </p:sp>
      <p:sp>
        <p:nvSpPr>
          <p:cNvPr id="12" name="tri-796"/>
          <p:cNvSpPr/>
          <p:nvPr/>
        </p:nvSpPr>
        <p:spPr>
          <a:xfrm rot="5400000">
            <a:off x="6647688" y="2075688"/>
            <a:ext cx="274320" cy="329184"/>
          </a:xfrm>
          <a:prstGeom prst="triangle">
            <a:avLst/>
          </a:prstGeom>
          <a:solidFill>
            <a:schemeClr val="bg1"/>
          </a:solidFill>
          <a:ln w="12700">
            <a:solidFill>
              <a:schemeClr val="bg1"/>
            </a:solidFill>
            <a:prstDash val="solid"/>
          </a:ln>
        </p:spPr>
      </p:sp>
      <p:sp>
        <p:nvSpPr>
          <p:cNvPr id="13" name="txt-797"/>
          <p:cNvSpPr txBox="1"/>
          <p:nvPr/>
        </p:nvSpPr>
        <p:spPr>
          <a:xfrm>
            <a:off x="7269480" y="1709928"/>
            <a:ext cx="4206240" cy="566928"/>
          </a:xfrm>
          <a:prstGeom prst="rect">
            <a:avLst/>
          </a:prstGeom>
          <a:noFill/>
          <a:ln/>
        </p:spPr>
        <p:txBody>
          <a:bodyPr wrap="square" lIns="0" tIns="0" rIns="0" bIns="0" rtlCol="0" anchor="ctr"/>
          <a:lstStyle/>
          <a:p>
            <a:pPr marL="0" indent="0">
              <a:buNone/>
            </a:pPr>
            <a:r>
              <a:rPr lang="en-US" sz="1300" b="1" dirty="0">
                <a:solidFill>
                  <a:schemeClr val="tx2"/>
                </a:solidFill>
              </a:rPr>
              <a:t>Consensus : tutoriel complet</a:t>
            </a:r>
            <a:endParaRPr lang="en-US" sz="1300" dirty="0"/>
          </a:p>
        </p:txBody>
      </p:sp>
      <p:sp>
        <p:nvSpPr>
          <p:cNvPr id="14" name="txt-798"/>
          <p:cNvSpPr txBox="1"/>
          <p:nvPr/>
        </p:nvSpPr>
        <p:spPr>
          <a:xfrm>
            <a:off x="7269480" y="2276856"/>
            <a:ext cx="4206240" cy="256032"/>
          </a:xfrm>
          <a:prstGeom prst="rect">
            <a:avLst/>
          </a:prstGeom>
          <a:noFill/>
          <a:ln/>
        </p:spPr>
        <p:txBody>
          <a:bodyPr wrap="square" lIns="0" tIns="0" rIns="0" bIns="0" rtlCol="0" anchor="t"/>
          <a:lstStyle/>
          <a:p>
            <a:pPr marL="0" indent="0">
              <a:buNone/>
            </a:pPr>
            <a:r>
              <a:rPr lang="en-US" sz="1100" dirty="0">
                <a:solidFill>
                  <a:schemeClr val="accent5"/>
                </a:solidFill>
              </a:rPr>
              <a:t>Formation Braindcode · 6 min</a:t>
            </a:r>
            <a:endParaRPr lang="en-US" sz="1100" dirty="0"/>
          </a:p>
        </p:txBody>
      </p:sp>
      <p:sp>
        <p:nvSpPr>
          <p:cNvPr id="15" name="txt-799"/>
          <p:cNvSpPr txBox="1"/>
          <p:nvPr/>
        </p:nvSpPr>
        <p:spPr>
          <a:xfrm>
            <a:off x="7269480" y="2532888"/>
            <a:ext cx="4206240" cy="256032"/>
          </a:xfrm>
          <a:prstGeom prst="rect">
            <a:avLst/>
          </a:prstGeom>
          <a:noFill/>
          <a:ln/>
        </p:spPr>
        <p:txBody>
          <a:bodyPr wrap="square" lIns="0" tIns="0" rIns="0" bIns="0" rtlCol="0" anchor="t"/>
          <a:lstStyle/>
          <a:p>
            <a:pPr marL="0" indent="0">
              <a:buNone/>
            </a:pPr>
            <a:r>
              <a:rPr lang="en-US" sz="1100" b="1" u="sng" dirty="0">
                <a:solidFill>
                  <a:schemeClr val="accent6"/>
                </a:solidFill>
                <a:hlinkClick r:id="rId4" tooltip="Consensus : tutoriel complet">
                  <a:extLst>
                    <a:ext uri="{A12FA001-AC4F-418D-AE19-62706E023703}">
                      <ahyp:hlinkClr xmlns:ahyp="http://schemas.microsoft.com/office/drawing/2018/hyperlinkcolor" val="tx"/>
                    </a:ext>
                  </a:extLst>
                </a:hlinkClick>
              </a:rPr>
              <a:t>youtu.be/flOMEUwdzMg</a:t>
            </a:r>
            <a:endParaRPr lang="en-US" sz="1100" dirty="0"/>
          </a:p>
        </p:txBody>
      </p:sp>
      <p:sp>
        <p:nvSpPr>
          <p:cNvPr id="16" name="card-800"/>
          <p:cNvSpPr/>
          <p:nvPr/>
        </p:nvSpPr>
        <p:spPr>
          <a:xfrm>
            <a:off x="548640" y="3081528"/>
            <a:ext cx="5440680" cy="1298448"/>
          </a:xfrm>
          <a:prstGeom prst="roundRect">
            <a:avLst>
              <a:gd name="adj" fmla="val 5634"/>
            </a:avLst>
          </a:prstGeom>
          <a:solidFill>
            <a:schemeClr val="bg2"/>
          </a:solidFill>
          <a:ln w="6350">
            <a:solidFill>
              <a:schemeClr val="bg2"/>
            </a:solidFill>
            <a:prstDash val="solid"/>
          </a:ln>
        </p:spPr>
      </p:sp>
      <p:sp>
        <p:nvSpPr>
          <p:cNvPr id="17" name="play-801"/>
          <p:cNvSpPr/>
          <p:nvPr/>
        </p:nvSpPr>
        <p:spPr>
          <a:xfrm>
            <a:off x="777240" y="3383280"/>
            <a:ext cx="685800" cy="685800"/>
          </a:xfrm>
          <a:prstGeom prst="ellipse">
            <a:avLst/>
          </a:prstGeom>
          <a:solidFill>
            <a:schemeClr val="accent3"/>
          </a:solidFill>
          <a:ln w="12700">
            <a:solidFill>
              <a:schemeClr val="accent3"/>
            </a:solidFill>
            <a:prstDash val="solid"/>
          </a:ln>
        </p:spPr>
      </p:sp>
      <p:sp>
        <p:nvSpPr>
          <p:cNvPr id="18" name="tri-802"/>
          <p:cNvSpPr/>
          <p:nvPr/>
        </p:nvSpPr>
        <p:spPr>
          <a:xfrm rot="5400000">
            <a:off x="1024128" y="3557016"/>
            <a:ext cx="274320" cy="329184"/>
          </a:xfrm>
          <a:prstGeom prst="triangle">
            <a:avLst/>
          </a:prstGeom>
          <a:solidFill>
            <a:schemeClr val="bg1"/>
          </a:solidFill>
          <a:ln w="12700">
            <a:solidFill>
              <a:schemeClr val="bg1"/>
            </a:solidFill>
            <a:prstDash val="solid"/>
          </a:ln>
        </p:spPr>
      </p:sp>
      <p:sp>
        <p:nvSpPr>
          <p:cNvPr id="19" name="txt-803"/>
          <p:cNvSpPr txBox="1"/>
          <p:nvPr/>
        </p:nvSpPr>
        <p:spPr>
          <a:xfrm>
            <a:off x="1645920" y="3191256"/>
            <a:ext cx="4206240" cy="566928"/>
          </a:xfrm>
          <a:prstGeom prst="rect">
            <a:avLst/>
          </a:prstGeom>
          <a:noFill/>
          <a:ln/>
        </p:spPr>
        <p:txBody>
          <a:bodyPr wrap="square" lIns="0" tIns="0" rIns="0" bIns="0" rtlCol="0" anchor="ctr"/>
          <a:lstStyle/>
          <a:p>
            <a:pPr marL="0" indent="0">
              <a:buNone/>
            </a:pPr>
            <a:r>
              <a:rPr lang="en-US" sz="1300" b="1" dirty="0">
                <a:solidFill>
                  <a:schemeClr val="tx2"/>
                </a:solidFill>
              </a:rPr>
              <a:t>J'ai testé Elicit pour ma revue de littérature</a:t>
            </a:r>
            <a:endParaRPr lang="en-US" sz="1300" dirty="0"/>
          </a:p>
        </p:txBody>
      </p:sp>
      <p:sp>
        <p:nvSpPr>
          <p:cNvPr id="20" name="txt-804"/>
          <p:cNvSpPr txBox="1"/>
          <p:nvPr/>
        </p:nvSpPr>
        <p:spPr>
          <a:xfrm>
            <a:off x="1645920" y="3758184"/>
            <a:ext cx="4206240" cy="256032"/>
          </a:xfrm>
          <a:prstGeom prst="rect">
            <a:avLst/>
          </a:prstGeom>
          <a:noFill/>
          <a:ln/>
        </p:spPr>
        <p:txBody>
          <a:bodyPr wrap="square" lIns="0" tIns="0" rIns="0" bIns="0" rtlCol="0" anchor="t"/>
          <a:lstStyle/>
          <a:p>
            <a:pPr marL="0" indent="0">
              <a:buNone/>
            </a:pPr>
            <a:r>
              <a:rPr lang="en-US" sz="1100" dirty="0">
                <a:solidFill>
                  <a:schemeClr val="accent5"/>
                </a:solidFill>
              </a:rPr>
              <a:t>Le Décodeur du Doctorat · 13 min</a:t>
            </a:r>
            <a:endParaRPr lang="en-US" sz="1100" dirty="0"/>
          </a:p>
        </p:txBody>
      </p:sp>
      <p:sp>
        <p:nvSpPr>
          <p:cNvPr id="21" name="txt-805"/>
          <p:cNvSpPr txBox="1"/>
          <p:nvPr/>
        </p:nvSpPr>
        <p:spPr>
          <a:xfrm>
            <a:off x="1645920" y="4014216"/>
            <a:ext cx="4206240" cy="256032"/>
          </a:xfrm>
          <a:prstGeom prst="rect">
            <a:avLst/>
          </a:prstGeom>
          <a:noFill/>
          <a:ln/>
        </p:spPr>
        <p:txBody>
          <a:bodyPr wrap="square" lIns="0" tIns="0" rIns="0" bIns="0" rtlCol="0" anchor="t"/>
          <a:lstStyle/>
          <a:p>
            <a:pPr marL="0" indent="0">
              <a:buNone/>
            </a:pPr>
            <a:r>
              <a:rPr lang="en-US" sz="1100" b="1" u="sng" dirty="0">
                <a:solidFill>
                  <a:schemeClr val="accent6"/>
                </a:solidFill>
                <a:hlinkClick r:id="rId5" tooltip="J'ai testé Elicit pour ma revue de littérature">
                  <a:extLst>
                    <a:ext uri="{A12FA001-AC4F-418D-AE19-62706E023703}">
                      <ahyp:hlinkClr xmlns:ahyp="http://schemas.microsoft.com/office/drawing/2018/hyperlinkcolor" val="tx"/>
                    </a:ext>
                  </a:extLst>
                </a:hlinkClick>
              </a:rPr>
              <a:t>youtu.be/LyeiII4DnzI</a:t>
            </a:r>
            <a:endParaRPr lang="en-US" sz="1100" dirty="0"/>
          </a:p>
        </p:txBody>
      </p:sp>
      <p:sp>
        <p:nvSpPr>
          <p:cNvPr id="22" name="card-806"/>
          <p:cNvSpPr/>
          <p:nvPr/>
        </p:nvSpPr>
        <p:spPr>
          <a:xfrm>
            <a:off x="6172200" y="3081528"/>
            <a:ext cx="5440680" cy="1298448"/>
          </a:xfrm>
          <a:prstGeom prst="roundRect">
            <a:avLst>
              <a:gd name="adj" fmla="val 5634"/>
            </a:avLst>
          </a:prstGeom>
          <a:solidFill>
            <a:schemeClr val="bg2"/>
          </a:solidFill>
          <a:ln w="6350">
            <a:solidFill>
              <a:schemeClr val="bg2"/>
            </a:solidFill>
            <a:prstDash val="solid"/>
          </a:ln>
        </p:spPr>
      </p:sp>
      <p:sp>
        <p:nvSpPr>
          <p:cNvPr id="23" name="play-807"/>
          <p:cNvSpPr/>
          <p:nvPr/>
        </p:nvSpPr>
        <p:spPr>
          <a:xfrm>
            <a:off x="6400800" y="3383280"/>
            <a:ext cx="685800" cy="685800"/>
          </a:xfrm>
          <a:prstGeom prst="ellipse">
            <a:avLst/>
          </a:prstGeom>
          <a:solidFill>
            <a:schemeClr val="accent3"/>
          </a:solidFill>
          <a:ln w="12700">
            <a:solidFill>
              <a:schemeClr val="accent3"/>
            </a:solidFill>
            <a:prstDash val="solid"/>
          </a:ln>
        </p:spPr>
      </p:sp>
      <p:sp>
        <p:nvSpPr>
          <p:cNvPr id="24" name="tri-808"/>
          <p:cNvSpPr/>
          <p:nvPr/>
        </p:nvSpPr>
        <p:spPr>
          <a:xfrm rot="5400000">
            <a:off x="6647688" y="3557016"/>
            <a:ext cx="274320" cy="329184"/>
          </a:xfrm>
          <a:prstGeom prst="triangle">
            <a:avLst/>
          </a:prstGeom>
          <a:solidFill>
            <a:schemeClr val="bg1"/>
          </a:solidFill>
          <a:ln w="12700">
            <a:solidFill>
              <a:schemeClr val="bg1"/>
            </a:solidFill>
            <a:prstDash val="solid"/>
          </a:ln>
        </p:spPr>
      </p:sp>
      <p:sp>
        <p:nvSpPr>
          <p:cNvPr id="25" name="txt-809"/>
          <p:cNvSpPr txBox="1"/>
          <p:nvPr/>
        </p:nvSpPr>
        <p:spPr>
          <a:xfrm>
            <a:off x="7269480" y="3191256"/>
            <a:ext cx="4206240" cy="566928"/>
          </a:xfrm>
          <a:prstGeom prst="rect">
            <a:avLst/>
          </a:prstGeom>
          <a:noFill/>
          <a:ln/>
        </p:spPr>
        <p:txBody>
          <a:bodyPr wrap="square" lIns="0" tIns="0" rIns="0" bIns="0" rtlCol="0" anchor="ctr"/>
          <a:lstStyle/>
          <a:p>
            <a:pPr marL="0" indent="0">
              <a:buNone/>
            </a:pPr>
            <a:r>
              <a:rPr lang="en-US" sz="1300" b="1" dirty="0">
                <a:solidFill>
                  <a:schemeClr val="tx2"/>
                </a:solidFill>
              </a:rPr>
              <a:t>Découvrez ResearchRabbit : l'IA au service de votre revue de littérature</a:t>
            </a:r>
            <a:endParaRPr lang="en-US" sz="1300" dirty="0"/>
          </a:p>
        </p:txBody>
      </p:sp>
      <p:sp>
        <p:nvSpPr>
          <p:cNvPr id="26" name="txt-810"/>
          <p:cNvSpPr txBox="1"/>
          <p:nvPr/>
        </p:nvSpPr>
        <p:spPr>
          <a:xfrm>
            <a:off x="7269480" y="3758184"/>
            <a:ext cx="4206240" cy="256032"/>
          </a:xfrm>
          <a:prstGeom prst="rect">
            <a:avLst/>
          </a:prstGeom>
          <a:noFill/>
          <a:ln/>
        </p:spPr>
        <p:txBody>
          <a:bodyPr wrap="square" lIns="0" tIns="0" rIns="0" bIns="0" rtlCol="0" anchor="t"/>
          <a:lstStyle/>
          <a:p>
            <a:pPr marL="0" indent="0">
              <a:buNone/>
            </a:pPr>
            <a:r>
              <a:rPr lang="en-US" sz="1100" dirty="0">
                <a:solidFill>
                  <a:schemeClr val="accent5"/>
                </a:solidFill>
              </a:rPr>
              <a:t>Ali Bezzaa Data Analytics · 19 min</a:t>
            </a:r>
            <a:endParaRPr lang="en-US" sz="1100" dirty="0"/>
          </a:p>
        </p:txBody>
      </p:sp>
      <p:sp>
        <p:nvSpPr>
          <p:cNvPr id="27" name="txt-811"/>
          <p:cNvSpPr txBox="1"/>
          <p:nvPr/>
        </p:nvSpPr>
        <p:spPr>
          <a:xfrm>
            <a:off x="7269480" y="4014216"/>
            <a:ext cx="4206240" cy="256032"/>
          </a:xfrm>
          <a:prstGeom prst="rect">
            <a:avLst/>
          </a:prstGeom>
          <a:noFill/>
          <a:ln/>
        </p:spPr>
        <p:txBody>
          <a:bodyPr wrap="square" lIns="0" tIns="0" rIns="0" bIns="0" rtlCol="0" anchor="t"/>
          <a:lstStyle/>
          <a:p>
            <a:pPr marL="0" indent="0">
              <a:buNone/>
            </a:pPr>
            <a:r>
              <a:rPr lang="en-US" sz="1100" b="1" u="sng" dirty="0">
                <a:solidFill>
                  <a:schemeClr val="accent6"/>
                </a:solidFill>
                <a:hlinkClick r:id="rId6" tooltip="Découvrez ResearchRabbit : l'IA au service de votre revue de littérature">
                  <a:extLst>
                    <a:ext uri="{A12FA001-AC4F-418D-AE19-62706E023703}">
                      <ahyp:hlinkClr xmlns:ahyp="http://schemas.microsoft.com/office/drawing/2018/hyperlinkcolor" val="tx"/>
                    </a:ext>
                  </a:extLst>
                </a:hlinkClick>
              </a:rPr>
              <a:t>youtu.be/IQjGfD8sljI</a:t>
            </a:r>
            <a:endParaRPr lang="en-US" sz="1100" dirty="0"/>
          </a:p>
        </p:txBody>
      </p:sp>
      <p:sp>
        <p:nvSpPr>
          <p:cNvPr id="28" name="card-812"/>
          <p:cNvSpPr/>
          <p:nvPr/>
        </p:nvSpPr>
        <p:spPr>
          <a:xfrm>
            <a:off x="548640" y="4562856"/>
            <a:ext cx="5440680" cy="1298448"/>
          </a:xfrm>
          <a:prstGeom prst="roundRect">
            <a:avLst>
              <a:gd name="adj" fmla="val 5634"/>
            </a:avLst>
          </a:prstGeom>
          <a:solidFill>
            <a:schemeClr val="bg2"/>
          </a:solidFill>
          <a:ln w="6350">
            <a:solidFill>
              <a:schemeClr val="bg2"/>
            </a:solidFill>
            <a:prstDash val="solid"/>
          </a:ln>
        </p:spPr>
      </p:sp>
      <p:sp>
        <p:nvSpPr>
          <p:cNvPr id="29" name="play-813"/>
          <p:cNvSpPr/>
          <p:nvPr/>
        </p:nvSpPr>
        <p:spPr>
          <a:xfrm>
            <a:off x="777240" y="4864608"/>
            <a:ext cx="685800" cy="685800"/>
          </a:xfrm>
          <a:prstGeom prst="ellipse">
            <a:avLst/>
          </a:prstGeom>
          <a:solidFill>
            <a:schemeClr val="accent3"/>
          </a:solidFill>
          <a:ln w="12700">
            <a:solidFill>
              <a:schemeClr val="accent3"/>
            </a:solidFill>
            <a:prstDash val="solid"/>
          </a:ln>
        </p:spPr>
      </p:sp>
      <p:sp>
        <p:nvSpPr>
          <p:cNvPr id="30" name="tri-814"/>
          <p:cNvSpPr/>
          <p:nvPr/>
        </p:nvSpPr>
        <p:spPr>
          <a:xfrm rot="5400000">
            <a:off x="1024128" y="5038344"/>
            <a:ext cx="274320" cy="329184"/>
          </a:xfrm>
          <a:prstGeom prst="triangle">
            <a:avLst/>
          </a:prstGeom>
          <a:solidFill>
            <a:schemeClr val="bg1"/>
          </a:solidFill>
          <a:ln w="12700">
            <a:solidFill>
              <a:schemeClr val="bg1"/>
            </a:solidFill>
            <a:prstDash val="solid"/>
          </a:ln>
        </p:spPr>
      </p:sp>
      <p:sp>
        <p:nvSpPr>
          <p:cNvPr id="31" name="txt-815"/>
          <p:cNvSpPr txBox="1"/>
          <p:nvPr/>
        </p:nvSpPr>
        <p:spPr>
          <a:xfrm>
            <a:off x="1645920" y="4672584"/>
            <a:ext cx="4206240" cy="566928"/>
          </a:xfrm>
          <a:prstGeom prst="rect">
            <a:avLst/>
          </a:prstGeom>
          <a:noFill/>
          <a:ln/>
        </p:spPr>
        <p:txBody>
          <a:bodyPr wrap="square" lIns="0" tIns="0" rIns="0" bIns="0" rtlCol="0" anchor="ctr"/>
          <a:lstStyle/>
          <a:p>
            <a:pPr marL="0" indent="0">
              <a:buNone/>
            </a:pPr>
            <a:r>
              <a:rPr lang="en-US" sz="1300" b="1" dirty="0">
                <a:solidFill>
                  <a:schemeClr val="tx2"/>
                </a:solidFill>
              </a:rPr>
              <a:t>L'outil Deep Research de Gemini</a:t>
            </a:r>
            <a:endParaRPr lang="en-US" sz="1300" dirty="0"/>
          </a:p>
        </p:txBody>
      </p:sp>
      <p:sp>
        <p:nvSpPr>
          <p:cNvPr id="32" name="txt-816"/>
          <p:cNvSpPr txBox="1"/>
          <p:nvPr/>
        </p:nvSpPr>
        <p:spPr>
          <a:xfrm>
            <a:off x="1645920" y="5239512"/>
            <a:ext cx="4206240" cy="256032"/>
          </a:xfrm>
          <a:prstGeom prst="rect">
            <a:avLst/>
          </a:prstGeom>
          <a:noFill/>
          <a:ln/>
        </p:spPr>
        <p:txBody>
          <a:bodyPr wrap="square" lIns="0" tIns="0" rIns="0" bIns="0" rtlCol="0" anchor="t"/>
          <a:lstStyle/>
          <a:p>
            <a:pPr marL="0" indent="0">
              <a:buNone/>
            </a:pPr>
            <a:r>
              <a:rPr lang="en-US" sz="1100" dirty="0">
                <a:solidFill>
                  <a:schemeClr val="accent5"/>
                </a:solidFill>
              </a:rPr>
              <a:t>Fastlearner Academy · 6 min</a:t>
            </a:r>
            <a:endParaRPr lang="en-US" sz="1100" dirty="0"/>
          </a:p>
        </p:txBody>
      </p:sp>
      <p:sp>
        <p:nvSpPr>
          <p:cNvPr id="33" name="txt-817"/>
          <p:cNvSpPr txBox="1"/>
          <p:nvPr/>
        </p:nvSpPr>
        <p:spPr>
          <a:xfrm>
            <a:off x="1645920" y="5495544"/>
            <a:ext cx="4206240" cy="256032"/>
          </a:xfrm>
          <a:prstGeom prst="rect">
            <a:avLst/>
          </a:prstGeom>
          <a:noFill/>
          <a:ln/>
        </p:spPr>
        <p:txBody>
          <a:bodyPr wrap="square" lIns="0" tIns="0" rIns="0" bIns="0" rtlCol="0" anchor="t"/>
          <a:lstStyle/>
          <a:p>
            <a:pPr marL="0" indent="0">
              <a:buNone/>
            </a:pPr>
            <a:r>
              <a:rPr lang="en-US" sz="1100" b="1" u="sng" dirty="0">
                <a:solidFill>
                  <a:schemeClr val="accent6"/>
                </a:solidFill>
                <a:hlinkClick r:id="rId7" tooltip="L'outil Deep Research de Gemini">
                  <a:extLst>
                    <a:ext uri="{A12FA001-AC4F-418D-AE19-62706E023703}">
                      <ahyp:hlinkClr xmlns:ahyp="http://schemas.microsoft.com/office/drawing/2018/hyperlinkcolor" val="tx"/>
                    </a:ext>
                  </a:extLst>
                </a:hlinkClick>
              </a:rPr>
              <a:t>youtu.be/2xLJM0fDHRs</a:t>
            </a:r>
            <a:endParaRPr lang="en-US" sz="1100" dirty="0"/>
          </a:p>
        </p:txBody>
      </p:sp>
      <p:sp>
        <p:nvSpPr>
          <p:cNvPr id="34" name="txt-818"/>
          <p:cNvSpPr txBox="1"/>
          <p:nvPr/>
        </p:nvSpPr>
        <p:spPr>
          <a:xfrm>
            <a:off x="548640" y="6053328"/>
            <a:ext cx="11064240" cy="256032"/>
          </a:xfrm>
          <a:prstGeom prst="rect">
            <a:avLst/>
          </a:prstGeom>
          <a:noFill/>
          <a:ln/>
        </p:spPr>
        <p:txBody>
          <a:bodyPr wrap="square" lIns="0" tIns="0" rIns="0" bIns="0" rtlCol="0" anchor="t"/>
          <a:lstStyle/>
          <a:p>
            <a:pPr marL="0" indent="0">
              <a:buNone/>
            </a:pPr>
            <a:r>
              <a:rPr lang="en-US" sz="1000" i="1" dirty="0">
                <a:solidFill>
                  <a:schemeClr val="accent5"/>
                </a:solidFill>
              </a:rPr>
              <a:t>Vidéos en français vérifiées en octobre 2026. Liens cliquables en mode diaporama.</a:t>
            </a:r>
            <a:endParaRPr lang="en-US" sz="1000" dirty="0"/>
          </a:p>
        </p:txBody>
      </p:sp>
      <p:sp>
        <p:nvSpPr>
          <p:cNvPr id="35" name="Slide Number Placeholder 0"/>
          <p:cNvSpPr>
            <a:spLocks noGrp="1"/>
          </p:cNvSpPr>
          <p:nvPr>
            <p:ph type="sldNum" sz="quarter" idx="4294967295"/>
          </p:nvPr>
        </p:nvSpPr>
        <p:spPr>
          <a:xfrm>
            <a:off x="11064240" y="6400800"/>
            <a:ext cx="54864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C82"/>
                </a:solidFill>
                <a:latin typeface="Poppins"/>
                <a:ea typeface="Poppins"/>
                <a:cs typeface="Poppins"/>
              </a:defRPr>
            </a:lvl1pPr>
          </a:lstStyle>
          <a:p>
            <a:pPr algn="r"/>
            <a:fld id="{F7021451-1387-4CA6-816F-3879F97B5CBC}" type="slidenum">
              <a:rPr lang="en-US" b="0"/>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566928"/>
            <a:ext cx="11064240" cy="777240"/>
          </a:xfrm>
          <a:prstGeom prst="rect">
            <a:avLst/>
          </a:prstGeom>
          <a:noFill/>
          <a:ln/>
        </p:spPr>
        <p:txBody>
          <a:bodyPr wrap="square" lIns="0" tIns="0" rIns="0" bIns="0" rtlCol="0" anchor="ctr"/>
          <a:lstStyle/>
          <a:p>
            <a:pPr marL="0" indent="0" algn="l">
              <a:buNone/>
            </a:pPr>
            <a:r>
              <a:rPr lang="en-US" sz="2700" b="1" dirty="0">
                <a:solidFill>
                  <a:schemeClr val="tx2"/>
                </a:solidFill>
                <a:latin typeface="Poppins" pitchFamily="34" charset="0"/>
                <a:ea typeface="Poppins" pitchFamily="34" charset="-122"/>
                <a:cs typeface="Poppins" pitchFamily="34" charset="-120"/>
              </a:rPr>
              <a:t>Lab R · Trouver son sujet : du domaine au gap</a:t>
            </a:r>
            <a:endParaRPr lang="en-US" sz="2700" dirty="0"/>
          </a:p>
        </p:txBody>
      </p:sp>
      <p:sp>
        <p:nvSpPr>
          <p:cNvPr id="3" name="Text 0"/>
          <p:cNvSpPr>
            <a:spLocks noGrp="1"/>
          </p:cNvSpPr>
          <p:nvPr>
            <p:ph type="body" idx="101" hasCustomPrompt="1"/>
          </p:nvPr>
        </p:nvSpPr>
        <p:spPr>
          <a:xfrm>
            <a:off x="548640" y="256032"/>
            <a:ext cx="8229600" cy="292608"/>
          </a:xfrm>
          <a:prstGeom prst="rect">
            <a:avLst/>
          </a:prstGeom>
          <a:noFill/>
          <a:ln/>
        </p:spPr>
        <p:txBody>
          <a:bodyPr wrap="square" lIns="0" tIns="0" rIns="0" bIns="0" rtlCol="0" anchor="ctr"/>
          <a:lstStyle/>
          <a:p>
            <a:pPr marL="0" indent="0">
              <a:buNone/>
            </a:pPr>
            <a:r>
              <a:rPr lang="en-US" sz="1100" b="1" dirty="0">
                <a:solidFill>
                  <a:schemeClr val="accent1"/>
                </a:solidFill>
                <a:latin typeface="Poppins" pitchFamily="34" charset="0"/>
                <a:ea typeface="Poppins" pitchFamily="34" charset="-122"/>
                <a:cs typeface="Poppins" pitchFamily="34" charset="-120"/>
              </a:rPr>
              <a:t>LAB R · 30 MIN</a:t>
            </a:r>
            <a:endParaRPr lang="en-US" sz="1100" dirty="0"/>
          </a:p>
        </p:txBody>
      </p:sp>
      <p:sp>
        <p:nvSpPr>
          <p:cNvPr id="4" name="card-819"/>
          <p:cNvSpPr/>
          <p:nvPr/>
        </p:nvSpPr>
        <p:spPr>
          <a:xfrm>
            <a:off x="10195560" y="640080"/>
            <a:ext cx="1417320" cy="502920"/>
          </a:xfrm>
          <a:prstGeom prst="roundRect">
            <a:avLst>
              <a:gd name="adj" fmla="val 14545"/>
            </a:avLst>
          </a:prstGeom>
          <a:solidFill>
            <a:schemeClr val="accent1"/>
          </a:solidFill>
          <a:ln w="6350">
            <a:solidFill>
              <a:schemeClr val="accent1"/>
            </a:solidFill>
            <a:prstDash val="solid"/>
          </a:ln>
        </p:spPr>
      </p:sp>
      <p:sp>
        <p:nvSpPr>
          <p:cNvPr id="5" name="txt-820"/>
          <p:cNvSpPr txBox="1"/>
          <p:nvPr/>
        </p:nvSpPr>
        <p:spPr>
          <a:xfrm>
            <a:off x="10195560" y="640080"/>
            <a:ext cx="1417320" cy="502920"/>
          </a:xfrm>
          <a:prstGeom prst="rect">
            <a:avLst/>
          </a:prstGeom>
          <a:noFill/>
          <a:ln/>
        </p:spPr>
        <p:txBody>
          <a:bodyPr wrap="square" lIns="0" tIns="0" rIns="0" bIns="0" rtlCol="0" anchor="ctr"/>
          <a:lstStyle/>
          <a:p>
            <a:pPr marL="0" indent="0" algn="ctr">
              <a:buNone/>
            </a:pPr>
            <a:r>
              <a:rPr lang="en-US" sz="1600" b="1" dirty="0">
                <a:solidFill>
                  <a:schemeClr val="tx2"/>
                </a:solidFill>
              </a:rPr>
              <a:t>30 min</a:t>
            </a:r>
            <a:endParaRPr lang="en-US" sz="1600" dirty="0"/>
          </a:p>
        </p:txBody>
      </p:sp>
      <p:sp>
        <p:nvSpPr>
          <p:cNvPr id="6" name="num-821"/>
          <p:cNvSpPr/>
          <p:nvPr/>
        </p:nvSpPr>
        <p:spPr>
          <a:xfrm>
            <a:off x="548640" y="1572768"/>
            <a:ext cx="420624" cy="420624"/>
          </a:xfrm>
          <a:prstGeom prst="ellipse">
            <a:avLst/>
          </a:prstGeom>
          <a:solidFill>
            <a:schemeClr val="tx2"/>
          </a:solidFill>
          <a:ln w="12700">
            <a:solidFill>
              <a:schemeClr val="tx2"/>
            </a:solidFill>
            <a:prstDash val="solid"/>
          </a:ln>
        </p:spPr>
      </p:sp>
      <p:sp>
        <p:nvSpPr>
          <p:cNvPr id="7" name="txt-822"/>
          <p:cNvSpPr txBox="1"/>
          <p:nvPr/>
        </p:nvSpPr>
        <p:spPr>
          <a:xfrm>
            <a:off x="548640" y="1572768"/>
            <a:ext cx="420624" cy="420624"/>
          </a:xfrm>
          <a:prstGeom prst="rect">
            <a:avLst/>
          </a:prstGeom>
          <a:no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8" name="txt-823"/>
          <p:cNvSpPr txBox="1"/>
          <p:nvPr/>
        </p:nvSpPr>
        <p:spPr>
          <a:xfrm>
            <a:off x="1115568" y="1481328"/>
            <a:ext cx="5212080" cy="603504"/>
          </a:xfrm>
          <a:prstGeom prst="rect">
            <a:avLst/>
          </a:prstGeom>
          <a:noFill/>
          <a:ln/>
        </p:spPr>
        <p:txBody>
          <a:bodyPr wrap="square" lIns="0" tIns="0" rIns="0" bIns="0" rtlCol="0" anchor="ctr"/>
          <a:lstStyle/>
          <a:p>
            <a:pPr marL="0" indent="0">
              <a:buNone/>
            </a:pPr>
            <a:r>
              <a:rPr lang="en-US" sz="1400" dirty="0">
                <a:solidFill>
                  <a:schemeClr val="tx1"/>
                </a:solidFill>
              </a:rPr>
              <a:t>Écrivez votre domaine d'intérêt en une phrase (sinon : les femmes dans la recherche en Afrique)</a:t>
            </a:r>
            <a:endParaRPr lang="en-US" sz="1400" dirty="0"/>
          </a:p>
        </p:txBody>
      </p:sp>
      <p:sp>
        <p:nvSpPr>
          <p:cNvPr id="9" name="num-824"/>
          <p:cNvSpPr/>
          <p:nvPr/>
        </p:nvSpPr>
        <p:spPr>
          <a:xfrm>
            <a:off x="548640" y="2212848"/>
            <a:ext cx="420624" cy="420624"/>
          </a:xfrm>
          <a:prstGeom prst="ellipse">
            <a:avLst/>
          </a:prstGeom>
          <a:solidFill>
            <a:schemeClr val="tx2"/>
          </a:solidFill>
          <a:ln w="12700">
            <a:solidFill>
              <a:schemeClr val="tx2"/>
            </a:solidFill>
            <a:prstDash val="solid"/>
          </a:ln>
        </p:spPr>
      </p:sp>
      <p:sp>
        <p:nvSpPr>
          <p:cNvPr id="10" name="txt-825"/>
          <p:cNvSpPr txBox="1"/>
          <p:nvPr/>
        </p:nvSpPr>
        <p:spPr>
          <a:xfrm>
            <a:off x="548640" y="2212848"/>
            <a:ext cx="420624" cy="420624"/>
          </a:xfrm>
          <a:prstGeom prst="rect">
            <a:avLst/>
          </a:prstGeom>
          <a:no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11" name="txt-826"/>
          <p:cNvSpPr txBox="1"/>
          <p:nvPr/>
        </p:nvSpPr>
        <p:spPr>
          <a:xfrm>
            <a:off x="1115568" y="2121408"/>
            <a:ext cx="5212080" cy="603504"/>
          </a:xfrm>
          <a:prstGeom prst="rect">
            <a:avLst/>
          </a:prstGeom>
          <a:noFill/>
          <a:ln/>
        </p:spPr>
        <p:txBody>
          <a:bodyPr wrap="square" lIns="0" tIns="0" rIns="0" bIns="0" rtlCol="0" anchor="ctr"/>
          <a:lstStyle/>
          <a:p>
            <a:pPr marL="0" indent="0">
              <a:buNone/>
            </a:pPr>
            <a:r>
              <a:rPr lang="en-US" sz="1400" dirty="0">
                <a:solidFill>
                  <a:schemeClr val="tx1"/>
                </a:solidFill>
              </a:rPr>
              <a:t>Cartographiez-le dans ResearchRabbit ou Connected Papers à partir d'un article clé</a:t>
            </a:r>
            <a:endParaRPr lang="en-US" sz="1400" dirty="0"/>
          </a:p>
        </p:txBody>
      </p:sp>
      <p:sp>
        <p:nvSpPr>
          <p:cNvPr id="12" name="num-827"/>
          <p:cNvSpPr/>
          <p:nvPr/>
        </p:nvSpPr>
        <p:spPr>
          <a:xfrm>
            <a:off x="548640" y="2852928"/>
            <a:ext cx="420624" cy="420624"/>
          </a:xfrm>
          <a:prstGeom prst="ellipse">
            <a:avLst/>
          </a:prstGeom>
          <a:solidFill>
            <a:schemeClr val="tx2"/>
          </a:solidFill>
          <a:ln w="12700">
            <a:solidFill>
              <a:schemeClr val="tx2"/>
            </a:solidFill>
            <a:prstDash val="solid"/>
          </a:ln>
        </p:spPr>
      </p:sp>
      <p:sp>
        <p:nvSpPr>
          <p:cNvPr id="13" name="txt-828"/>
          <p:cNvSpPr txBox="1"/>
          <p:nvPr/>
        </p:nvSpPr>
        <p:spPr>
          <a:xfrm>
            <a:off x="548640" y="2852928"/>
            <a:ext cx="420624" cy="420624"/>
          </a:xfrm>
          <a:prstGeom prst="rect">
            <a:avLst/>
          </a:prstGeom>
          <a:no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14" name="txt-829"/>
          <p:cNvSpPr txBox="1"/>
          <p:nvPr/>
        </p:nvSpPr>
        <p:spPr>
          <a:xfrm>
            <a:off x="1115568" y="2761488"/>
            <a:ext cx="5212080" cy="603504"/>
          </a:xfrm>
          <a:prstGeom prst="rect">
            <a:avLst/>
          </a:prstGeom>
          <a:noFill/>
          <a:ln/>
        </p:spPr>
        <p:txBody>
          <a:bodyPr wrap="square" lIns="0" tIns="0" rIns="0" bIns="0" rtlCol="0" anchor="ctr"/>
          <a:lstStyle/>
          <a:p>
            <a:pPr marL="0" indent="0">
              <a:buNone/>
            </a:pPr>
            <a:r>
              <a:rPr lang="en-US" sz="1400" dirty="0">
                <a:solidFill>
                  <a:schemeClr val="tx1"/>
                </a:solidFill>
              </a:rPr>
              <a:t>Relevez 5 articles récents dans Semantic Scholar : pays, population, méthode, limite</a:t>
            </a:r>
            <a:endParaRPr lang="en-US" sz="1400" dirty="0"/>
          </a:p>
        </p:txBody>
      </p:sp>
      <p:sp>
        <p:nvSpPr>
          <p:cNvPr id="15" name="num-830"/>
          <p:cNvSpPr/>
          <p:nvPr/>
        </p:nvSpPr>
        <p:spPr>
          <a:xfrm>
            <a:off x="548640" y="3493008"/>
            <a:ext cx="420624" cy="420624"/>
          </a:xfrm>
          <a:prstGeom prst="ellipse">
            <a:avLst/>
          </a:prstGeom>
          <a:solidFill>
            <a:schemeClr val="tx2"/>
          </a:solidFill>
          <a:ln w="12700">
            <a:solidFill>
              <a:schemeClr val="tx2"/>
            </a:solidFill>
            <a:prstDash val="solid"/>
          </a:ln>
        </p:spPr>
      </p:sp>
      <p:sp>
        <p:nvSpPr>
          <p:cNvPr id="16" name="txt-831"/>
          <p:cNvSpPr txBox="1"/>
          <p:nvPr/>
        </p:nvSpPr>
        <p:spPr>
          <a:xfrm>
            <a:off x="548640" y="3493008"/>
            <a:ext cx="420624" cy="420624"/>
          </a:xfrm>
          <a:prstGeom prst="rect">
            <a:avLst/>
          </a:prstGeom>
          <a:noFill/>
          <a:ln/>
        </p:spPr>
        <p:txBody>
          <a:bodyPr wrap="square" lIns="0" tIns="0" rIns="0" bIns="0" rtlCol="0" anchor="ctr"/>
          <a:lstStyle/>
          <a:p>
            <a:pPr marL="0" indent="0" algn="ctr">
              <a:buNone/>
            </a:pPr>
            <a:r>
              <a:rPr lang="en-US" sz="1400" b="1" dirty="0">
                <a:solidFill>
                  <a:schemeClr val="bg1"/>
                </a:solidFill>
              </a:rPr>
              <a:t>4</a:t>
            </a:r>
            <a:endParaRPr lang="en-US" sz="1400" dirty="0"/>
          </a:p>
        </p:txBody>
      </p:sp>
      <p:sp>
        <p:nvSpPr>
          <p:cNvPr id="17" name="txt-832"/>
          <p:cNvSpPr txBox="1"/>
          <p:nvPr/>
        </p:nvSpPr>
        <p:spPr>
          <a:xfrm>
            <a:off x="1115568" y="3401568"/>
            <a:ext cx="5212080" cy="603504"/>
          </a:xfrm>
          <a:prstGeom prst="rect">
            <a:avLst/>
          </a:prstGeom>
          <a:noFill/>
          <a:ln/>
        </p:spPr>
        <p:txBody>
          <a:bodyPr wrap="square" lIns="0" tIns="0" rIns="0" bIns="0" rtlCol="0" anchor="ctr"/>
          <a:lstStyle/>
          <a:p>
            <a:pPr marL="0" indent="0">
              <a:buNone/>
            </a:pPr>
            <a:r>
              <a:rPr lang="en-US" sz="1400" dirty="0">
                <a:solidFill>
                  <a:schemeClr val="tx1"/>
                </a:solidFill>
              </a:rPr>
              <a:t>Demandez à l'IA 3 gaps possibles, puis cherchez chacun : est-il déjà traité ?</a:t>
            </a:r>
            <a:endParaRPr lang="en-US" sz="1400" dirty="0"/>
          </a:p>
        </p:txBody>
      </p:sp>
      <p:sp>
        <p:nvSpPr>
          <p:cNvPr id="18" name="num-833"/>
          <p:cNvSpPr/>
          <p:nvPr/>
        </p:nvSpPr>
        <p:spPr>
          <a:xfrm>
            <a:off x="548640" y="4133088"/>
            <a:ext cx="420624" cy="420624"/>
          </a:xfrm>
          <a:prstGeom prst="ellipse">
            <a:avLst/>
          </a:prstGeom>
          <a:solidFill>
            <a:schemeClr val="tx2"/>
          </a:solidFill>
          <a:ln w="12700">
            <a:solidFill>
              <a:schemeClr val="tx2"/>
            </a:solidFill>
            <a:prstDash val="solid"/>
          </a:ln>
        </p:spPr>
      </p:sp>
      <p:sp>
        <p:nvSpPr>
          <p:cNvPr id="19" name="txt-834"/>
          <p:cNvSpPr txBox="1"/>
          <p:nvPr/>
        </p:nvSpPr>
        <p:spPr>
          <a:xfrm>
            <a:off x="548640" y="4133088"/>
            <a:ext cx="420624" cy="420624"/>
          </a:xfrm>
          <a:prstGeom prst="rect">
            <a:avLst/>
          </a:prstGeom>
          <a:noFill/>
          <a:ln/>
        </p:spPr>
        <p:txBody>
          <a:bodyPr wrap="square" lIns="0" tIns="0" rIns="0" bIns="0" rtlCol="0" anchor="ctr"/>
          <a:lstStyle/>
          <a:p>
            <a:pPr marL="0" indent="0" algn="ctr">
              <a:buNone/>
            </a:pPr>
            <a:r>
              <a:rPr lang="en-US" sz="1400" b="1" dirty="0">
                <a:solidFill>
                  <a:schemeClr val="bg1"/>
                </a:solidFill>
              </a:rPr>
              <a:t>5</a:t>
            </a:r>
            <a:endParaRPr lang="en-US" sz="1400" dirty="0"/>
          </a:p>
        </p:txBody>
      </p:sp>
      <p:sp>
        <p:nvSpPr>
          <p:cNvPr id="20" name="txt-835"/>
          <p:cNvSpPr txBox="1"/>
          <p:nvPr/>
        </p:nvSpPr>
        <p:spPr>
          <a:xfrm>
            <a:off x="1115568" y="4041648"/>
            <a:ext cx="5212080" cy="603504"/>
          </a:xfrm>
          <a:prstGeom prst="rect">
            <a:avLst/>
          </a:prstGeom>
          <a:noFill/>
          <a:ln/>
        </p:spPr>
        <p:txBody>
          <a:bodyPr wrap="square" lIns="0" tIns="0" rIns="0" bIns="0" rtlCol="0" anchor="ctr"/>
          <a:lstStyle/>
          <a:p>
            <a:pPr marL="0" indent="0">
              <a:buNone/>
            </a:pPr>
            <a:r>
              <a:rPr lang="en-US" sz="1400" dirty="0">
                <a:solidFill>
                  <a:schemeClr val="tx1"/>
                </a:solidFill>
              </a:rPr>
              <a:t>Formulez votre question de recherche et passez-la au test FINER</a:t>
            </a:r>
            <a:endParaRPr lang="en-US" sz="1400" dirty="0"/>
          </a:p>
        </p:txBody>
      </p:sp>
      <p:sp>
        <p:nvSpPr>
          <p:cNvPr id="21" name="card-836"/>
          <p:cNvSpPr/>
          <p:nvPr/>
        </p:nvSpPr>
        <p:spPr>
          <a:xfrm>
            <a:off x="6675120" y="1508760"/>
            <a:ext cx="4937760" cy="3200400"/>
          </a:xfrm>
          <a:prstGeom prst="roundRect">
            <a:avLst>
              <a:gd name="adj" fmla="val 2286"/>
            </a:avLst>
          </a:prstGeom>
          <a:solidFill>
            <a:schemeClr val="bg1"/>
          </a:solidFill>
          <a:ln w="6350">
            <a:solidFill>
              <a:schemeClr val="bg1"/>
            </a:solidFill>
            <a:prstDash val="solid"/>
          </a:ln>
          <a:effectLst>
            <a:outerShdw blurRad="101600" dist="25400" dir="5400000" algn="bl" rotWithShape="0">
              <a:srgbClr val="000000">
                <a:alpha val="10000"/>
              </a:srgbClr>
            </a:outerShdw>
          </a:effectLst>
        </p:spPr>
      </p:sp>
      <p:sp>
        <p:nvSpPr>
          <p:cNvPr id="22" name="txt-837"/>
          <p:cNvSpPr txBox="1"/>
          <p:nvPr/>
        </p:nvSpPr>
        <p:spPr>
          <a:xfrm>
            <a:off x="6903720" y="1691640"/>
            <a:ext cx="4480560" cy="320040"/>
          </a:xfrm>
          <a:prstGeom prst="rect">
            <a:avLst/>
          </a:prstGeom>
          <a:noFill/>
          <a:ln/>
        </p:spPr>
        <p:txBody>
          <a:bodyPr wrap="square" lIns="0" tIns="0" rIns="0" bIns="0" rtlCol="0" anchor="t"/>
          <a:lstStyle/>
          <a:p>
            <a:pPr marL="0" indent="0">
              <a:buNone/>
            </a:pPr>
            <a:r>
              <a:rPr lang="en-US" sz="1200" b="1" dirty="0">
                <a:solidFill>
                  <a:schemeClr val="accent6"/>
                </a:solidFill>
              </a:rPr>
              <a:t>Prompt de l'étape 4</a:t>
            </a:r>
            <a:endParaRPr lang="en-US" sz="1200" dirty="0"/>
          </a:p>
        </p:txBody>
      </p:sp>
      <p:sp>
        <p:nvSpPr>
          <p:cNvPr id="23" name="txt-838"/>
          <p:cNvSpPr txBox="1"/>
          <p:nvPr/>
        </p:nvSpPr>
        <p:spPr>
          <a:xfrm>
            <a:off x="6903720" y="2057400"/>
            <a:ext cx="4480560" cy="2468880"/>
          </a:xfrm>
          <a:prstGeom prst="rect">
            <a:avLst/>
          </a:prstGeom>
          <a:noFill/>
          <a:ln/>
        </p:spPr>
        <p:txBody>
          <a:bodyPr wrap="square" lIns="0" tIns="0" rIns="0" bIns="0" rtlCol="0" anchor="t"/>
          <a:lstStyle/>
          <a:p>
            <a:pPr marL="0" indent="0">
              <a:buNone/>
            </a:pPr>
            <a:r>
              <a:rPr lang="en-US" sz="1300" dirty="0">
                <a:solidFill>
                  <a:schemeClr val="tx1"/>
                </a:solidFill>
                <a:latin typeface="Consolas" pitchFamily="34" charset="0"/>
                <a:ea typeface="Consolas" pitchFamily="34" charset="-122"/>
                <a:cs typeface="Consolas" pitchFamily="34" charset="-120"/>
              </a:rPr>
              <a:t>Voici 5 résumés d'articles sur [thème] : [coller]. Propose 3 gaps de recherche. Pour chacun : le type (contexte, population, méthode, théorie, résultats contradictoires, données datées) et les articles qui le justifient. N'invente aucun article.</a:t>
            </a:r>
            <a:endParaRPr lang="en-US" sz="1300" dirty="0"/>
          </a:p>
        </p:txBody>
      </p:sp>
      <p:sp>
        <p:nvSpPr>
          <p:cNvPr id="24" name="card-839"/>
          <p:cNvSpPr/>
          <p:nvPr/>
        </p:nvSpPr>
        <p:spPr>
          <a:xfrm>
            <a:off x="548640" y="4956048"/>
            <a:ext cx="5760720" cy="1261872"/>
          </a:xfrm>
          <a:prstGeom prst="roundRect">
            <a:avLst>
              <a:gd name="adj" fmla="val 5797"/>
            </a:avLst>
          </a:prstGeom>
          <a:solidFill>
            <a:schemeClr val="bg1"/>
          </a:solidFill>
          <a:ln w="6350">
            <a:solidFill>
              <a:schemeClr val="bg1"/>
            </a:solidFill>
            <a:prstDash val="solid"/>
          </a:ln>
          <a:effectLst>
            <a:outerShdw blurRad="101600" dist="25400" dir="5400000" algn="bl" rotWithShape="0">
              <a:srgbClr val="000000">
                <a:alpha val="10000"/>
              </a:srgbClr>
            </a:outerShdw>
          </a:effectLst>
        </p:spPr>
      </p:sp>
      <p:sp>
        <p:nvSpPr>
          <p:cNvPr id="25" name="circle-840"/>
          <p:cNvSpPr/>
          <p:nvPr/>
        </p:nvSpPr>
        <p:spPr>
          <a:xfrm>
            <a:off x="731520" y="5120640"/>
            <a:ext cx="457200" cy="457200"/>
          </a:xfrm>
          <a:prstGeom prst="ellipse">
            <a:avLst/>
          </a:prstGeom>
          <a:solidFill>
            <a:schemeClr val="accent1"/>
          </a:solidFill>
          <a:ln w="12700">
            <a:solidFill>
              <a:schemeClr val="accent1"/>
            </a:solidFill>
            <a:prstDash val="solid"/>
          </a:ln>
        </p:spPr>
      </p:sp>
      <p:pic>
        <p:nvPicPr>
          <p:cNvPr id="26" name="icon-841" descr="preencoded.png"/>
          <p:cNvPicPr>
            <a:picLocks noChangeAspect="1"/>
          </p:cNvPicPr>
          <p:nvPr/>
        </p:nvPicPr>
        <p:blipFill>
          <a:blip r:embed="rId3"/>
          <a:stretch>
            <a:fillRect/>
          </a:stretch>
        </p:blipFill>
        <p:spPr>
          <a:xfrm>
            <a:off x="845820" y="5234940"/>
            <a:ext cx="228600" cy="228600"/>
          </a:xfrm>
          <a:prstGeom prst="rect">
            <a:avLst/>
          </a:prstGeom>
        </p:spPr>
      </p:pic>
      <p:sp>
        <p:nvSpPr>
          <p:cNvPr id="27" name="txt-842"/>
          <p:cNvSpPr txBox="1"/>
          <p:nvPr/>
        </p:nvSpPr>
        <p:spPr>
          <a:xfrm>
            <a:off x="1325880" y="5074920"/>
            <a:ext cx="1828800" cy="320040"/>
          </a:xfrm>
          <a:prstGeom prst="rect">
            <a:avLst/>
          </a:prstGeom>
          <a:noFill/>
          <a:ln/>
        </p:spPr>
        <p:txBody>
          <a:bodyPr wrap="square" lIns="0" tIns="0" rIns="0" bIns="0" rtlCol="0" anchor="t"/>
          <a:lstStyle/>
          <a:p>
            <a:pPr marL="0" indent="0">
              <a:buNone/>
            </a:pPr>
            <a:r>
              <a:rPr lang="en-US" sz="1500" b="1" dirty="0">
                <a:solidFill>
                  <a:schemeClr val="accent1"/>
                </a:solidFill>
              </a:rPr>
              <a:t>Défi</a:t>
            </a:r>
            <a:endParaRPr lang="en-US" sz="1500" dirty="0"/>
          </a:p>
        </p:txBody>
      </p:sp>
      <p:sp>
        <p:nvSpPr>
          <p:cNvPr id="28" name="txt-843"/>
          <p:cNvSpPr txBox="1"/>
          <p:nvPr/>
        </p:nvSpPr>
        <p:spPr>
          <a:xfrm>
            <a:off x="1325880" y="5394960"/>
            <a:ext cx="4846320" cy="777240"/>
          </a:xfrm>
          <a:prstGeom prst="rect">
            <a:avLst/>
          </a:prstGeom>
          <a:noFill/>
          <a:ln/>
        </p:spPr>
        <p:txBody>
          <a:bodyPr wrap="square" lIns="0" tIns="0" rIns="0" bIns="0" rtlCol="0" anchor="t"/>
          <a:lstStyle/>
          <a:p>
            <a:pPr marL="0" indent="0">
              <a:buNone/>
            </a:pPr>
            <a:r>
              <a:rPr lang="en-US" sz="1300" dirty="0">
                <a:solidFill>
                  <a:schemeClr val="tx1"/>
                </a:solidFill>
              </a:rPr>
              <a:t>Faites attaquer votre question par l'IA en « jury sceptique », répondez aux 3 objections, puis analysez l'article suspect de la Fiche R.</a:t>
            </a:r>
            <a:endParaRPr lang="en-US" sz="1300" dirty="0"/>
          </a:p>
        </p:txBody>
      </p:sp>
      <p:sp>
        <p:nvSpPr>
          <p:cNvPr id="29" name="card-844"/>
          <p:cNvSpPr/>
          <p:nvPr/>
        </p:nvSpPr>
        <p:spPr>
          <a:xfrm>
            <a:off x="6675120" y="4956048"/>
            <a:ext cx="4937760" cy="1261872"/>
          </a:xfrm>
          <a:prstGeom prst="roundRect">
            <a:avLst>
              <a:gd name="adj" fmla="val 5797"/>
            </a:avLst>
          </a:prstGeom>
          <a:solidFill>
            <a:schemeClr val="tx2"/>
          </a:solidFill>
          <a:ln w="6350">
            <a:solidFill>
              <a:schemeClr val="tx2"/>
            </a:solidFill>
            <a:prstDash val="solid"/>
          </a:ln>
        </p:spPr>
      </p:sp>
      <p:sp>
        <p:nvSpPr>
          <p:cNvPr id="30" name="circle-845"/>
          <p:cNvSpPr/>
          <p:nvPr/>
        </p:nvSpPr>
        <p:spPr>
          <a:xfrm>
            <a:off x="6858000" y="5120640"/>
            <a:ext cx="457200" cy="457200"/>
          </a:xfrm>
          <a:prstGeom prst="ellipse">
            <a:avLst/>
          </a:prstGeom>
          <a:solidFill>
            <a:schemeClr val="accent1"/>
          </a:solidFill>
          <a:ln w="12700">
            <a:solidFill>
              <a:schemeClr val="accent1"/>
            </a:solidFill>
            <a:prstDash val="solid"/>
          </a:ln>
        </p:spPr>
      </p:sp>
      <p:pic>
        <p:nvPicPr>
          <p:cNvPr id="31" name="icon-846" descr="preencoded.png"/>
          <p:cNvPicPr>
            <a:picLocks noChangeAspect="1"/>
          </p:cNvPicPr>
          <p:nvPr/>
        </p:nvPicPr>
        <p:blipFill>
          <a:blip r:embed="rId4"/>
          <a:stretch>
            <a:fillRect/>
          </a:stretch>
        </p:blipFill>
        <p:spPr>
          <a:xfrm>
            <a:off x="6972300" y="5234940"/>
            <a:ext cx="228600" cy="228600"/>
          </a:xfrm>
          <a:prstGeom prst="rect">
            <a:avLst/>
          </a:prstGeom>
        </p:spPr>
      </p:pic>
      <p:sp>
        <p:nvSpPr>
          <p:cNvPr id="32" name="txt-847"/>
          <p:cNvSpPr txBox="1"/>
          <p:nvPr/>
        </p:nvSpPr>
        <p:spPr>
          <a:xfrm>
            <a:off x="7452360" y="5074920"/>
            <a:ext cx="2743200" cy="320040"/>
          </a:xfrm>
          <a:prstGeom prst="rect">
            <a:avLst/>
          </a:prstGeom>
          <a:noFill/>
          <a:ln/>
        </p:spPr>
        <p:txBody>
          <a:bodyPr wrap="square" lIns="0" tIns="0" rIns="0" bIns="0" rtlCol="0" anchor="t"/>
          <a:lstStyle/>
          <a:p>
            <a:pPr marL="0" indent="0">
              <a:buNone/>
            </a:pPr>
            <a:r>
              <a:rPr lang="en-US" sz="1500" b="1" dirty="0">
                <a:solidFill>
                  <a:schemeClr val="accent1"/>
                </a:solidFill>
              </a:rPr>
              <a:t>À rendre</a:t>
            </a:r>
            <a:endParaRPr lang="en-US" sz="1500" dirty="0"/>
          </a:p>
        </p:txBody>
      </p:sp>
      <p:sp>
        <p:nvSpPr>
          <p:cNvPr id="33" name="txt-848"/>
          <p:cNvSpPr txBox="1"/>
          <p:nvPr/>
        </p:nvSpPr>
        <p:spPr>
          <a:xfrm>
            <a:off x="7452360" y="5394960"/>
            <a:ext cx="4023360" cy="777240"/>
          </a:xfrm>
          <a:prstGeom prst="rect">
            <a:avLst/>
          </a:prstGeom>
          <a:noFill/>
          <a:ln/>
        </p:spPr>
        <p:txBody>
          <a:bodyPr wrap="square" lIns="0" tIns="0" rIns="0" bIns="0" rtlCol="0" anchor="t"/>
          <a:lstStyle/>
          <a:p>
            <a:pPr marL="0" indent="0">
              <a:buNone/>
            </a:pPr>
            <a:r>
              <a:rPr lang="en-US" sz="1300" dirty="0">
                <a:solidFill>
                  <a:schemeClr val="bg1"/>
                </a:solidFill>
              </a:rPr>
              <a:t>Fiche R : 5 articles tabulés, 3 gaps vérifiés, ma question de recherche testée (FINER)</a:t>
            </a:r>
            <a:endParaRPr lang="en-US" sz="1300" dirty="0"/>
          </a:p>
        </p:txBody>
      </p:sp>
      <p:sp>
        <p:nvSpPr>
          <p:cNvPr id="34" name="Slide Number Placeholder 0"/>
          <p:cNvSpPr>
            <a:spLocks noGrp="1"/>
          </p:cNvSpPr>
          <p:nvPr>
            <p:ph type="sldNum" sz="quarter" idx="4294967295"/>
          </p:nvPr>
        </p:nvSpPr>
        <p:spPr>
          <a:xfrm>
            <a:off x="11064240" y="6400800"/>
            <a:ext cx="54864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C82"/>
                </a:solidFill>
                <a:latin typeface="Poppins"/>
                <a:ea typeface="Poppins"/>
                <a:cs typeface="Poppins"/>
              </a:defRPr>
            </a:lvl1pPr>
          </a:lstStyle>
          <a:p>
            <a:pPr algn="r"/>
            <a:fld id="{F7021451-1387-4CA6-816F-3879F97B5CBC}" type="slidenum">
              <a:rPr lang="en-US" b="0"/>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xt-849"/>
          <p:cNvSpPr txBox="1"/>
          <p:nvPr/>
        </p:nvSpPr>
        <p:spPr>
          <a:xfrm>
            <a:off x="640080" y="2011680"/>
            <a:ext cx="2560320" cy="2011680"/>
          </a:xfrm>
          <a:prstGeom prst="rect">
            <a:avLst/>
          </a:prstGeom>
          <a:noFill/>
          <a:ln/>
        </p:spPr>
        <p:txBody>
          <a:bodyPr wrap="square" lIns="0" tIns="0" rIns="0" bIns="0" rtlCol="0" anchor="ctr"/>
          <a:lstStyle/>
          <a:p>
            <a:pPr marL="0" indent="0">
              <a:buNone/>
            </a:pPr>
            <a:r>
              <a:rPr lang="en-US" sz="9600" b="1" dirty="0">
                <a:solidFill>
                  <a:schemeClr val="accent1"/>
                </a:solidFill>
              </a:rPr>
              <a:t>T2</a:t>
            </a:r>
            <a:endParaRPr lang="en-US" sz="9600" dirty="0"/>
          </a:p>
        </p:txBody>
      </p:sp>
      <p:sp>
        <p:nvSpPr>
          <p:cNvPr id="3" name="txt-850"/>
          <p:cNvSpPr txBox="1"/>
          <p:nvPr/>
        </p:nvSpPr>
        <p:spPr>
          <a:xfrm>
            <a:off x="3291840" y="1737360"/>
            <a:ext cx="8229600" cy="457200"/>
          </a:xfrm>
          <a:prstGeom prst="rect">
            <a:avLst/>
          </a:prstGeom>
          <a:noFill/>
          <a:ln/>
        </p:spPr>
        <p:txBody>
          <a:bodyPr wrap="square" lIns="0" tIns="0" rIns="0" bIns="0" rtlCol="0" anchor="t"/>
          <a:lstStyle/>
          <a:p>
            <a:pPr marL="0" indent="0">
              <a:buNone/>
            </a:pPr>
            <a:r>
              <a:rPr lang="en-US" sz="1600" b="1" dirty="0">
                <a:solidFill>
                  <a:schemeClr val="accent1"/>
                </a:solidFill>
              </a:rPr>
              <a:t>Capsule théorique · 15 min</a:t>
            </a:r>
            <a:endParaRPr lang="en-US" sz="1600" dirty="0"/>
          </a:p>
        </p:txBody>
      </p:sp>
      <p:sp>
        <p:nvSpPr>
          <p:cNvPr id="4" name="Text 0"/>
          <p:cNvSpPr>
            <a:spLocks noGrp="1"/>
          </p:cNvSpPr>
          <p:nvPr>
            <p:ph type="title" idx="100" hasCustomPrompt="1"/>
          </p:nvPr>
        </p:nvSpPr>
        <p:spPr>
          <a:xfrm>
            <a:off x="3291840" y="2286000"/>
            <a:ext cx="8321040" cy="1463040"/>
          </a:xfrm>
          <a:prstGeom prst="rect">
            <a:avLst/>
          </a:prstGeom>
          <a:noFill/>
          <a:ln/>
        </p:spPr>
        <p:txBody>
          <a:bodyPr wrap="square" lIns="0" tIns="0" rIns="0" bIns="0" rtlCol="0" anchor="ctr"/>
          <a:lstStyle/>
          <a:p>
            <a:pPr marL="0" indent="0" algn="l">
              <a:buNone/>
            </a:pPr>
            <a:r>
              <a:rPr lang="en-US" sz="3400" b="1" dirty="0">
                <a:solidFill>
                  <a:schemeClr val="bg1"/>
                </a:solidFill>
                <a:latin typeface="Poppins" pitchFamily="34" charset="0"/>
                <a:ea typeface="Poppins" pitchFamily="34" charset="-122"/>
                <a:cs typeface="Poppins" pitchFamily="34" charset="-120"/>
              </a:rPr>
              <a:t>L'art de bien demander</a:t>
            </a:r>
            <a:endParaRPr lang="en-US" sz="3400" dirty="0"/>
          </a:p>
        </p:txBody>
      </p:sp>
      <p:sp>
        <p:nvSpPr>
          <p:cNvPr id="5" name="txt-851"/>
          <p:cNvSpPr txBox="1"/>
          <p:nvPr/>
        </p:nvSpPr>
        <p:spPr>
          <a:xfrm>
            <a:off x="3291840" y="3931920"/>
            <a:ext cx="8229600" cy="1828800"/>
          </a:xfrm>
          <a:prstGeom prst="rect">
            <a:avLst/>
          </a:prstGeom>
          <a:noFill/>
          <a:ln/>
        </p:spPr>
        <p:txBody>
          <a:bodyPr wrap="square" lIns="0" tIns="0" rIns="0" bIns="0" rtlCol="0" anchor="t"/>
          <a:lstStyle/>
          <a:p>
            <a:pPr marL="177800" indent="-177800">
              <a:spcAft>
                <a:spcPts val="600"/>
              </a:spcAft>
              <a:buSzPct val="100000"/>
              <a:buChar char="•"/>
            </a:pPr>
            <a:r>
              <a:rPr lang="en-US" sz="1600" dirty="0">
                <a:solidFill>
                  <a:schemeClr val="bg2"/>
                </a:solidFill>
              </a:rPr>
              <a:t>Une méthode simple en 4 lettres : R-C-T-F</a:t>
            </a:r>
            <a:endParaRPr lang="en-US" sz="1600" dirty="0"/>
          </a:p>
          <a:p>
            <a:pPr marL="177800" indent="-177800">
              <a:spcAft>
                <a:spcPts val="600"/>
              </a:spcAft>
              <a:buSzPct val="100000"/>
              <a:buChar char="•"/>
            </a:pPr>
            <a:r>
              <a:rPr lang="en-US" sz="1600" dirty="0">
                <a:solidFill>
                  <a:schemeClr val="bg2"/>
                </a:solidFill>
              </a:rPr>
              <a:t>Le même modèle appliqué à votre discipline</a:t>
            </a:r>
            <a:endParaRPr lang="en-US" sz="1600" dirty="0"/>
          </a:p>
          <a:p>
            <a:pPr marL="177800" indent="-177800">
              <a:spcAft>
                <a:spcPts val="600"/>
              </a:spcAft>
              <a:buSzPct val="100000"/>
              <a:buChar char="•"/>
            </a:pPr>
            <a:r>
              <a:rPr lang="en-US" sz="1600" dirty="0">
                <a:solidFill>
                  <a:schemeClr val="bg2"/>
                </a:solidFill>
              </a:rPr>
              <a:t>Trois astuces et l'intégrité scientifique</a:t>
            </a:r>
            <a:endParaRPr lang="en-US" sz="16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566928"/>
            <a:ext cx="11064240" cy="777240"/>
          </a:xfrm>
          <a:prstGeom prst="rect">
            <a:avLst/>
          </a:prstGeom>
          <a:noFill/>
          <a:ln/>
        </p:spPr>
        <p:txBody>
          <a:bodyPr wrap="square" lIns="0" tIns="0" rIns="0" bIns="0" rtlCol="0" anchor="ctr"/>
          <a:lstStyle/>
          <a:p>
            <a:pPr marL="0" indent="0" algn="l">
              <a:buNone/>
            </a:pPr>
            <a:r>
              <a:rPr lang="en-US" sz="2700" b="1" dirty="0">
                <a:solidFill>
                  <a:schemeClr val="tx2"/>
                </a:solidFill>
                <a:latin typeface="Poppins" pitchFamily="34" charset="0"/>
                <a:ea typeface="Poppins" pitchFamily="34" charset="-122"/>
                <a:cs typeface="Poppins" pitchFamily="34" charset="-120"/>
              </a:rPr>
              <a:t>Un prompt, c'est une consigne à une assistante brillante… qui ne vous connaît pas</a:t>
            </a:r>
            <a:endParaRPr lang="en-US" sz="2700" dirty="0"/>
          </a:p>
        </p:txBody>
      </p:sp>
      <p:sp>
        <p:nvSpPr>
          <p:cNvPr id="3" name="Text 0"/>
          <p:cNvSpPr>
            <a:spLocks noGrp="1"/>
          </p:cNvSpPr>
          <p:nvPr>
            <p:ph type="body" idx="101" hasCustomPrompt="1"/>
          </p:nvPr>
        </p:nvSpPr>
        <p:spPr>
          <a:xfrm>
            <a:off x="548640" y="256032"/>
            <a:ext cx="8229600" cy="292608"/>
          </a:xfrm>
          <a:prstGeom prst="rect">
            <a:avLst/>
          </a:prstGeom>
          <a:noFill/>
          <a:ln/>
        </p:spPr>
        <p:txBody>
          <a:bodyPr wrap="square" lIns="0" tIns="0" rIns="0" bIns="0" rtlCol="0" anchor="ctr"/>
          <a:lstStyle/>
          <a:p>
            <a:pPr marL="0" indent="0">
              <a:buNone/>
            </a:pPr>
            <a:r>
              <a:rPr lang="en-US" sz="1100" b="1" dirty="0">
                <a:solidFill>
                  <a:schemeClr val="accent1"/>
                </a:solidFill>
                <a:latin typeface="Poppins" pitchFamily="34" charset="0"/>
                <a:ea typeface="Poppins" pitchFamily="34" charset="-122"/>
                <a:cs typeface="Poppins" pitchFamily="34" charset="-120"/>
              </a:rPr>
              <a:t>T2 · L'ART DE BIEN DEMANDER</a:t>
            </a:r>
            <a:endParaRPr lang="en-US" sz="1100" dirty="0"/>
          </a:p>
        </p:txBody>
      </p:sp>
      <p:sp>
        <p:nvSpPr>
          <p:cNvPr id="4" name="circle-852"/>
          <p:cNvSpPr/>
          <p:nvPr/>
        </p:nvSpPr>
        <p:spPr>
          <a:xfrm>
            <a:off x="548640" y="1691640"/>
            <a:ext cx="822960" cy="822960"/>
          </a:xfrm>
          <a:prstGeom prst="ellipse">
            <a:avLst/>
          </a:prstGeom>
          <a:solidFill>
            <a:schemeClr val="accent6"/>
          </a:solidFill>
          <a:ln w="12700">
            <a:solidFill>
              <a:schemeClr val="accent6"/>
            </a:solidFill>
            <a:prstDash val="solid"/>
          </a:ln>
        </p:spPr>
      </p:sp>
      <p:pic>
        <p:nvPicPr>
          <p:cNvPr id="5" name="icon-853" descr="preencoded.png"/>
          <p:cNvPicPr>
            <a:picLocks noChangeAspect="1"/>
          </p:cNvPicPr>
          <p:nvPr/>
        </p:nvPicPr>
        <p:blipFill>
          <a:blip r:embed="rId3"/>
          <a:stretch>
            <a:fillRect/>
          </a:stretch>
        </p:blipFill>
        <p:spPr>
          <a:xfrm>
            <a:off x="754380" y="1897380"/>
            <a:ext cx="411480" cy="411480"/>
          </a:xfrm>
          <a:prstGeom prst="rect">
            <a:avLst/>
          </a:prstGeom>
        </p:spPr>
      </p:pic>
      <p:sp>
        <p:nvSpPr>
          <p:cNvPr id="6" name="txt-854"/>
          <p:cNvSpPr txBox="1"/>
          <p:nvPr/>
        </p:nvSpPr>
        <p:spPr>
          <a:xfrm>
            <a:off x="1600200" y="1691640"/>
            <a:ext cx="4754880" cy="822960"/>
          </a:xfrm>
          <a:prstGeom prst="rect">
            <a:avLst/>
          </a:prstGeom>
          <a:noFill/>
          <a:ln/>
        </p:spPr>
        <p:txBody>
          <a:bodyPr wrap="square" lIns="0" tIns="0" rIns="0" bIns="0" rtlCol="0" anchor="ctr"/>
          <a:lstStyle/>
          <a:p>
            <a:pPr marL="0" indent="0">
              <a:buNone/>
            </a:pPr>
            <a:r>
              <a:rPr lang="en-US" sz="1600" dirty="0">
                <a:solidFill>
                  <a:schemeClr val="tx1"/>
                </a:solidFill>
              </a:rPr>
              <a:t>Elle ne connaît ni votre discipline, ni votre terrain, ni votre revue cible</a:t>
            </a:r>
            <a:endParaRPr lang="en-US" sz="1600" dirty="0"/>
          </a:p>
        </p:txBody>
      </p:sp>
      <p:sp>
        <p:nvSpPr>
          <p:cNvPr id="7" name="circle-855"/>
          <p:cNvSpPr/>
          <p:nvPr/>
        </p:nvSpPr>
        <p:spPr>
          <a:xfrm>
            <a:off x="548640" y="2834640"/>
            <a:ext cx="822960" cy="822960"/>
          </a:xfrm>
          <a:prstGeom prst="ellipse">
            <a:avLst/>
          </a:prstGeom>
          <a:solidFill>
            <a:schemeClr val="accent6"/>
          </a:solidFill>
          <a:ln w="12700">
            <a:solidFill>
              <a:schemeClr val="accent6"/>
            </a:solidFill>
            <a:prstDash val="solid"/>
          </a:ln>
        </p:spPr>
      </p:sp>
      <p:pic>
        <p:nvPicPr>
          <p:cNvPr id="8" name="icon-856" descr="preencoded.png"/>
          <p:cNvPicPr>
            <a:picLocks noChangeAspect="1"/>
          </p:cNvPicPr>
          <p:nvPr/>
        </p:nvPicPr>
        <p:blipFill>
          <a:blip r:embed="rId4"/>
          <a:stretch>
            <a:fillRect/>
          </a:stretch>
        </p:blipFill>
        <p:spPr>
          <a:xfrm>
            <a:off x="754380" y="3040380"/>
            <a:ext cx="411480" cy="411480"/>
          </a:xfrm>
          <a:prstGeom prst="rect">
            <a:avLst/>
          </a:prstGeom>
        </p:spPr>
      </p:pic>
      <p:sp>
        <p:nvSpPr>
          <p:cNvPr id="9" name="txt-857"/>
          <p:cNvSpPr txBox="1"/>
          <p:nvPr/>
        </p:nvSpPr>
        <p:spPr>
          <a:xfrm>
            <a:off x="1600200" y="2834640"/>
            <a:ext cx="4754880" cy="822960"/>
          </a:xfrm>
          <a:prstGeom prst="rect">
            <a:avLst/>
          </a:prstGeom>
          <a:noFill/>
          <a:ln/>
        </p:spPr>
        <p:txBody>
          <a:bodyPr wrap="square" lIns="0" tIns="0" rIns="0" bIns="0" rtlCol="0" anchor="ctr"/>
          <a:lstStyle/>
          <a:p>
            <a:pPr marL="0" indent="0">
              <a:buNone/>
            </a:pPr>
            <a:r>
              <a:rPr lang="en-US" sz="1600" dirty="0">
                <a:solidFill>
                  <a:schemeClr val="tx1"/>
                </a:solidFill>
              </a:rPr>
              <a:t>Elle comble les vides… avec des généralités</a:t>
            </a:r>
            <a:endParaRPr lang="en-US" sz="1600" dirty="0"/>
          </a:p>
        </p:txBody>
      </p:sp>
      <p:sp>
        <p:nvSpPr>
          <p:cNvPr id="10" name="circle-858"/>
          <p:cNvSpPr/>
          <p:nvPr/>
        </p:nvSpPr>
        <p:spPr>
          <a:xfrm>
            <a:off x="548640" y="3977640"/>
            <a:ext cx="822960" cy="822960"/>
          </a:xfrm>
          <a:prstGeom prst="ellipse">
            <a:avLst/>
          </a:prstGeom>
          <a:solidFill>
            <a:schemeClr val="accent2"/>
          </a:solidFill>
          <a:ln w="12700">
            <a:solidFill>
              <a:schemeClr val="accent2"/>
            </a:solidFill>
            <a:prstDash val="solid"/>
          </a:ln>
        </p:spPr>
      </p:sp>
      <p:pic>
        <p:nvPicPr>
          <p:cNvPr id="11" name="icon-859" descr="preencoded.png"/>
          <p:cNvPicPr>
            <a:picLocks noChangeAspect="1"/>
          </p:cNvPicPr>
          <p:nvPr/>
        </p:nvPicPr>
        <p:blipFill>
          <a:blip r:embed="rId5"/>
          <a:stretch>
            <a:fillRect/>
          </a:stretch>
        </p:blipFill>
        <p:spPr>
          <a:xfrm>
            <a:off x="754380" y="4183380"/>
            <a:ext cx="411480" cy="411480"/>
          </a:xfrm>
          <a:prstGeom prst="rect">
            <a:avLst/>
          </a:prstGeom>
        </p:spPr>
      </p:pic>
      <p:sp>
        <p:nvSpPr>
          <p:cNvPr id="12" name="txt-860"/>
          <p:cNvSpPr txBox="1"/>
          <p:nvPr/>
        </p:nvSpPr>
        <p:spPr>
          <a:xfrm>
            <a:off x="1600200" y="3977640"/>
            <a:ext cx="4754880" cy="822960"/>
          </a:xfrm>
          <a:prstGeom prst="rect">
            <a:avLst/>
          </a:prstGeom>
          <a:noFill/>
          <a:ln/>
        </p:spPr>
        <p:txBody>
          <a:bodyPr wrap="square" lIns="0" tIns="0" rIns="0" bIns="0" rtlCol="0" anchor="ctr"/>
          <a:lstStyle/>
          <a:p>
            <a:pPr marL="0" indent="0">
              <a:buNone/>
            </a:pPr>
            <a:r>
              <a:rPr lang="en-US" sz="1600" b="1" dirty="0">
                <a:solidFill>
                  <a:schemeClr val="tx1"/>
                </a:solidFill>
              </a:rPr>
              <a:t>Plus de contexte = réponse plus précise et plus utile</a:t>
            </a:r>
            <a:endParaRPr lang="en-US" sz="1600" dirty="0"/>
          </a:p>
        </p:txBody>
      </p:sp>
      <p:sp>
        <p:nvSpPr>
          <p:cNvPr id="13" name="card-861"/>
          <p:cNvSpPr/>
          <p:nvPr/>
        </p:nvSpPr>
        <p:spPr>
          <a:xfrm>
            <a:off x="6766560" y="1691640"/>
            <a:ext cx="4846320" cy="3108960"/>
          </a:xfrm>
          <a:prstGeom prst="roundRect">
            <a:avLst>
              <a:gd name="adj" fmla="val 2353"/>
            </a:avLst>
          </a:prstGeom>
          <a:solidFill>
            <a:schemeClr val="bg2"/>
          </a:solidFill>
          <a:ln w="6350">
            <a:solidFill>
              <a:schemeClr val="bg2"/>
            </a:solidFill>
            <a:prstDash val="solid"/>
          </a:ln>
        </p:spPr>
      </p:sp>
      <p:sp>
        <p:nvSpPr>
          <p:cNvPr id="14" name="txt-862"/>
          <p:cNvSpPr txBox="1"/>
          <p:nvPr/>
        </p:nvSpPr>
        <p:spPr>
          <a:xfrm>
            <a:off x="7040880" y="1874520"/>
            <a:ext cx="4297680" cy="365760"/>
          </a:xfrm>
          <a:prstGeom prst="rect">
            <a:avLst/>
          </a:prstGeom>
          <a:noFill/>
          <a:ln/>
        </p:spPr>
        <p:txBody>
          <a:bodyPr wrap="square" lIns="0" tIns="0" rIns="0" bIns="0" rtlCol="0" anchor="t"/>
          <a:lstStyle/>
          <a:p>
            <a:pPr marL="0" indent="0">
              <a:buNone/>
            </a:pPr>
            <a:r>
              <a:rPr lang="en-US" sz="1300" b="1" dirty="0">
                <a:solidFill>
                  <a:schemeClr val="accent5"/>
                </a:solidFill>
              </a:rPr>
              <a:t>Question à la salle</a:t>
            </a:r>
            <a:endParaRPr lang="en-US" sz="1300" dirty="0"/>
          </a:p>
        </p:txBody>
      </p:sp>
      <p:sp>
        <p:nvSpPr>
          <p:cNvPr id="15" name="txt-863"/>
          <p:cNvSpPr txBox="1"/>
          <p:nvPr/>
        </p:nvSpPr>
        <p:spPr>
          <a:xfrm>
            <a:off x="7040880" y="2331720"/>
            <a:ext cx="4297680" cy="2286000"/>
          </a:xfrm>
          <a:prstGeom prst="rect">
            <a:avLst/>
          </a:prstGeom>
          <a:noFill/>
          <a:ln/>
        </p:spPr>
        <p:txBody>
          <a:bodyPr wrap="square" lIns="0" tIns="0" rIns="0" bIns="0" rtlCol="0" anchor="t"/>
          <a:lstStyle/>
          <a:p>
            <a:pPr marL="0" indent="0">
              <a:buNone/>
            </a:pPr>
            <a:r>
              <a:rPr lang="en-US" sz="1900" i="1" dirty="0">
                <a:solidFill>
                  <a:schemeClr val="tx2"/>
                </a:solidFill>
              </a:rPr>
              <a:t>Si vous confiiez cette tâche à une nouvelle assistante humaine, que lui diriez-vous en plus ?</a:t>
            </a:r>
            <a:endParaRPr lang="en-US" sz="1900" dirty="0"/>
          </a:p>
        </p:txBody>
      </p:sp>
      <p:sp>
        <p:nvSpPr>
          <p:cNvPr id="25" name="Slide Number Placeholder 0"/>
          <p:cNvSpPr>
            <a:spLocks noGrp="1"/>
          </p:cNvSpPr>
          <p:nvPr>
            <p:ph type="sldNum" sz="quarter" idx="4294967295"/>
          </p:nvPr>
        </p:nvSpPr>
        <p:spPr>
          <a:xfrm>
            <a:off x="11064240" y="6400800"/>
            <a:ext cx="54864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C82"/>
                </a:solidFill>
                <a:latin typeface="Poppins"/>
                <a:ea typeface="Poppins"/>
                <a:cs typeface="Poppins"/>
              </a:defRPr>
            </a:lvl1pPr>
          </a:lstStyle>
          <a:p>
            <a:pPr algn="r"/>
            <a:fld id="{F7021451-1387-4CA6-816F-3879F97B5CBC}" type="slidenum">
              <a:rPr lang="en-US" b="0"/>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566928"/>
            <a:ext cx="11064240" cy="777240"/>
          </a:xfrm>
          <a:prstGeom prst="rect">
            <a:avLst/>
          </a:prstGeom>
          <a:noFill/>
          <a:ln/>
        </p:spPr>
        <p:txBody>
          <a:bodyPr wrap="square" lIns="0" tIns="0" rIns="0" bIns="0" rtlCol="0" anchor="ctr"/>
          <a:lstStyle/>
          <a:p>
            <a:pPr marL="0" indent="0" algn="l">
              <a:buNone/>
            </a:pPr>
            <a:r>
              <a:rPr lang="en-US" sz="2700" b="1" dirty="0">
                <a:solidFill>
                  <a:schemeClr val="tx2"/>
                </a:solidFill>
                <a:latin typeface="Poppins" pitchFamily="34" charset="0"/>
                <a:ea typeface="Poppins" pitchFamily="34" charset="-122"/>
                <a:cs typeface="Poppins" pitchFamily="34" charset="-120"/>
              </a:rPr>
              <a:t>La méthode R-C-T-F</a:t>
            </a:r>
            <a:endParaRPr lang="en-US" sz="2700" dirty="0"/>
          </a:p>
        </p:txBody>
      </p:sp>
      <p:sp>
        <p:nvSpPr>
          <p:cNvPr id="3" name="Text 0"/>
          <p:cNvSpPr>
            <a:spLocks noGrp="1"/>
          </p:cNvSpPr>
          <p:nvPr>
            <p:ph type="body" idx="101" hasCustomPrompt="1"/>
          </p:nvPr>
        </p:nvSpPr>
        <p:spPr>
          <a:xfrm>
            <a:off x="548640" y="256032"/>
            <a:ext cx="8229600" cy="292608"/>
          </a:xfrm>
          <a:prstGeom prst="rect">
            <a:avLst/>
          </a:prstGeom>
          <a:noFill/>
          <a:ln/>
        </p:spPr>
        <p:txBody>
          <a:bodyPr wrap="square" lIns="0" tIns="0" rIns="0" bIns="0" rtlCol="0" anchor="ctr"/>
          <a:lstStyle/>
          <a:p>
            <a:pPr marL="0" indent="0">
              <a:buNone/>
            </a:pPr>
            <a:r>
              <a:rPr lang="en-US" sz="1100" b="1" dirty="0">
                <a:solidFill>
                  <a:schemeClr val="accent1"/>
                </a:solidFill>
                <a:latin typeface="Poppins" pitchFamily="34" charset="0"/>
                <a:ea typeface="Poppins" pitchFamily="34" charset="-122"/>
                <a:cs typeface="Poppins" pitchFamily="34" charset="-120"/>
              </a:rPr>
              <a:t>T2 · L'ART DE BIEN DEMANDER</a:t>
            </a:r>
            <a:endParaRPr lang="en-US" sz="1100" dirty="0"/>
          </a:p>
        </p:txBody>
      </p:sp>
      <p:sp>
        <p:nvSpPr>
          <p:cNvPr id="4" name="card-864"/>
          <p:cNvSpPr/>
          <p:nvPr/>
        </p:nvSpPr>
        <p:spPr>
          <a:xfrm>
            <a:off x="548640" y="1600200"/>
            <a:ext cx="2606040" cy="4343400"/>
          </a:xfrm>
          <a:prstGeom prst="roundRect">
            <a:avLst>
              <a:gd name="adj" fmla="val 2807"/>
            </a:avLst>
          </a:prstGeom>
          <a:solidFill>
            <a:schemeClr val="bg2"/>
          </a:solidFill>
          <a:ln w="6350">
            <a:solidFill>
              <a:schemeClr val="bg2"/>
            </a:solidFill>
            <a:prstDash val="solid"/>
          </a:ln>
        </p:spPr>
      </p:sp>
      <p:sp>
        <p:nvSpPr>
          <p:cNvPr id="5" name="num-865"/>
          <p:cNvSpPr/>
          <p:nvPr/>
        </p:nvSpPr>
        <p:spPr>
          <a:xfrm>
            <a:off x="822960" y="1828800"/>
            <a:ext cx="868680" cy="868680"/>
          </a:xfrm>
          <a:prstGeom prst="ellipse">
            <a:avLst/>
          </a:prstGeom>
          <a:solidFill>
            <a:schemeClr val="accent4"/>
          </a:solidFill>
          <a:ln w="12700">
            <a:solidFill>
              <a:schemeClr val="accent4"/>
            </a:solidFill>
            <a:prstDash val="solid"/>
          </a:ln>
        </p:spPr>
      </p:sp>
      <p:sp>
        <p:nvSpPr>
          <p:cNvPr id="6" name="txt-866"/>
          <p:cNvSpPr txBox="1"/>
          <p:nvPr/>
        </p:nvSpPr>
        <p:spPr>
          <a:xfrm>
            <a:off x="822960" y="1828800"/>
            <a:ext cx="868680" cy="868680"/>
          </a:xfrm>
          <a:prstGeom prst="rect">
            <a:avLst/>
          </a:prstGeom>
          <a:noFill/>
          <a:ln/>
        </p:spPr>
        <p:txBody>
          <a:bodyPr wrap="square" lIns="0" tIns="0" rIns="0" bIns="0" rtlCol="0" anchor="ctr"/>
          <a:lstStyle/>
          <a:p>
            <a:pPr marL="0" indent="0" algn="ctr">
              <a:buNone/>
            </a:pPr>
            <a:r>
              <a:rPr lang="en-US" sz="2900" b="1" dirty="0">
                <a:solidFill>
                  <a:schemeClr val="bg1"/>
                </a:solidFill>
              </a:rPr>
              <a:t>R</a:t>
            </a:r>
            <a:endParaRPr lang="en-US" sz="2900" dirty="0"/>
          </a:p>
        </p:txBody>
      </p:sp>
      <p:sp>
        <p:nvSpPr>
          <p:cNvPr id="7" name="txt-867"/>
          <p:cNvSpPr txBox="1"/>
          <p:nvPr/>
        </p:nvSpPr>
        <p:spPr>
          <a:xfrm>
            <a:off x="822960" y="2834640"/>
            <a:ext cx="2148840" cy="411480"/>
          </a:xfrm>
          <a:prstGeom prst="rect">
            <a:avLst/>
          </a:prstGeom>
          <a:noFill/>
          <a:ln/>
        </p:spPr>
        <p:txBody>
          <a:bodyPr wrap="square" lIns="0" tIns="0" rIns="0" bIns="0" rtlCol="0" anchor="t"/>
          <a:lstStyle/>
          <a:p>
            <a:pPr marL="0" indent="0">
              <a:buNone/>
            </a:pPr>
            <a:r>
              <a:rPr lang="en-US" sz="1900" b="1" dirty="0">
                <a:solidFill>
                  <a:schemeClr val="tx2"/>
                </a:solidFill>
              </a:rPr>
              <a:t>Rôle</a:t>
            </a:r>
            <a:endParaRPr lang="en-US" sz="1900" dirty="0"/>
          </a:p>
        </p:txBody>
      </p:sp>
      <p:sp>
        <p:nvSpPr>
          <p:cNvPr id="8" name="txt-868"/>
          <p:cNvSpPr txBox="1"/>
          <p:nvPr/>
        </p:nvSpPr>
        <p:spPr>
          <a:xfrm>
            <a:off x="822960" y="3273552"/>
            <a:ext cx="2148840" cy="365760"/>
          </a:xfrm>
          <a:prstGeom prst="rect">
            <a:avLst/>
          </a:prstGeom>
          <a:noFill/>
          <a:ln/>
        </p:spPr>
        <p:txBody>
          <a:bodyPr wrap="square" lIns="0" tIns="0" rIns="0" bIns="0" rtlCol="0" anchor="t"/>
          <a:lstStyle/>
          <a:p>
            <a:pPr marL="0" indent="0">
              <a:buNone/>
            </a:pPr>
            <a:r>
              <a:rPr lang="en-US" sz="1300" b="1" dirty="0">
                <a:solidFill>
                  <a:schemeClr val="accent4"/>
                </a:solidFill>
              </a:rPr>
              <a:t>Qui doit-elle être ?</a:t>
            </a:r>
            <a:endParaRPr lang="en-US" sz="1300" dirty="0"/>
          </a:p>
        </p:txBody>
      </p:sp>
      <p:sp>
        <p:nvSpPr>
          <p:cNvPr id="9" name="txt-869"/>
          <p:cNvSpPr txBox="1"/>
          <p:nvPr/>
        </p:nvSpPr>
        <p:spPr>
          <a:xfrm>
            <a:off x="822960" y="3749040"/>
            <a:ext cx="2148840" cy="2011680"/>
          </a:xfrm>
          <a:prstGeom prst="rect">
            <a:avLst/>
          </a:prstGeom>
          <a:noFill/>
          <a:ln/>
        </p:spPr>
        <p:txBody>
          <a:bodyPr wrap="square" lIns="0" tIns="0" rIns="0" bIns="0" rtlCol="0" anchor="t"/>
          <a:lstStyle/>
          <a:p>
            <a:pPr marL="0" indent="0">
              <a:buNone/>
            </a:pPr>
            <a:r>
              <a:rPr lang="en-US" sz="1300" i="1" dirty="0">
                <a:solidFill>
                  <a:schemeClr val="tx1"/>
                </a:solidFill>
              </a:rPr>
              <a:t>« Tu es relecteur pour une revue de sociologie. »</a:t>
            </a:r>
            <a:endParaRPr lang="en-US" sz="1300" dirty="0"/>
          </a:p>
        </p:txBody>
      </p:sp>
      <p:sp>
        <p:nvSpPr>
          <p:cNvPr id="10" name="card-870"/>
          <p:cNvSpPr/>
          <p:nvPr/>
        </p:nvSpPr>
        <p:spPr>
          <a:xfrm>
            <a:off x="3364992" y="1600200"/>
            <a:ext cx="2606040" cy="4343400"/>
          </a:xfrm>
          <a:prstGeom prst="roundRect">
            <a:avLst>
              <a:gd name="adj" fmla="val 2807"/>
            </a:avLst>
          </a:prstGeom>
          <a:solidFill>
            <a:schemeClr val="bg2"/>
          </a:solidFill>
          <a:ln w="6350">
            <a:solidFill>
              <a:schemeClr val="bg2"/>
            </a:solidFill>
            <a:prstDash val="solid"/>
          </a:ln>
        </p:spPr>
      </p:sp>
      <p:sp>
        <p:nvSpPr>
          <p:cNvPr id="11" name="num-871"/>
          <p:cNvSpPr/>
          <p:nvPr/>
        </p:nvSpPr>
        <p:spPr>
          <a:xfrm>
            <a:off x="3639312" y="1828800"/>
            <a:ext cx="868680" cy="868680"/>
          </a:xfrm>
          <a:prstGeom prst="ellipse">
            <a:avLst/>
          </a:prstGeom>
          <a:solidFill>
            <a:schemeClr val="accent3"/>
          </a:solidFill>
          <a:ln w="12700">
            <a:solidFill>
              <a:schemeClr val="accent3"/>
            </a:solidFill>
            <a:prstDash val="solid"/>
          </a:ln>
        </p:spPr>
      </p:sp>
      <p:sp>
        <p:nvSpPr>
          <p:cNvPr id="12" name="txt-872"/>
          <p:cNvSpPr txBox="1"/>
          <p:nvPr/>
        </p:nvSpPr>
        <p:spPr>
          <a:xfrm>
            <a:off x="3639312" y="1828800"/>
            <a:ext cx="868680" cy="868680"/>
          </a:xfrm>
          <a:prstGeom prst="rect">
            <a:avLst/>
          </a:prstGeom>
          <a:noFill/>
          <a:ln/>
        </p:spPr>
        <p:txBody>
          <a:bodyPr wrap="square" lIns="0" tIns="0" rIns="0" bIns="0" rtlCol="0" anchor="ctr"/>
          <a:lstStyle/>
          <a:p>
            <a:pPr marL="0" indent="0" algn="ctr">
              <a:buNone/>
            </a:pPr>
            <a:r>
              <a:rPr lang="en-US" sz="2900" b="1" dirty="0">
                <a:solidFill>
                  <a:schemeClr val="bg1"/>
                </a:solidFill>
              </a:rPr>
              <a:t>C</a:t>
            </a:r>
            <a:endParaRPr lang="en-US" sz="2900" dirty="0"/>
          </a:p>
        </p:txBody>
      </p:sp>
      <p:sp>
        <p:nvSpPr>
          <p:cNvPr id="13" name="txt-873"/>
          <p:cNvSpPr txBox="1"/>
          <p:nvPr/>
        </p:nvSpPr>
        <p:spPr>
          <a:xfrm>
            <a:off x="3639312" y="2834640"/>
            <a:ext cx="2148840" cy="411480"/>
          </a:xfrm>
          <a:prstGeom prst="rect">
            <a:avLst/>
          </a:prstGeom>
          <a:noFill/>
          <a:ln/>
        </p:spPr>
        <p:txBody>
          <a:bodyPr wrap="square" lIns="0" tIns="0" rIns="0" bIns="0" rtlCol="0" anchor="t"/>
          <a:lstStyle/>
          <a:p>
            <a:pPr marL="0" indent="0">
              <a:buNone/>
            </a:pPr>
            <a:r>
              <a:rPr lang="en-US" sz="1900" b="1" dirty="0">
                <a:solidFill>
                  <a:schemeClr val="tx2"/>
                </a:solidFill>
              </a:rPr>
              <a:t>Contexte</a:t>
            </a:r>
            <a:endParaRPr lang="en-US" sz="1900" dirty="0"/>
          </a:p>
        </p:txBody>
      </p:sp>
      <p:sp>
        <p:nvSpPr>
          <p:cNvPr id="14" name="txt-874"/>
          <p:cNvSpPr txBox="1"/>
          <p:nvPr/>
        </p:nvSpPr>
        <p:spPr>
          <a:xfrm>
            <a:off x="3639312" y="3273552"/>
            <a:ext cx="2148840" cy="365760"/>
          </a:xfrm>
          <a:prstGeom prst="rect">
            <a:avLst/>
          </a:prstGeom>
          <a:noFill/>
          <a:ln/>
        </p:spPr>
        <p:txBody>
          <a:bodyPr wrap="square" lIns="0" tIns="0" rIns="0" bIns="0" rtlCol="0" anchor="t"/>
          <a:lstStyle/>
          <a:p>
            <a:pPr marL="0" indent="0">
              <a:buNone/>
            </a:pPr>
            <a:r>
              <a:rPr lang="en-US" sz="1300" b="1" dirty="0">
                <a:solidFill>
                  <a:schemeClr val="accent3"/>
                </a:solidFill>
              </a:rPr>
              <a:t>Quelle situation ?</a:t>
            </a:r>
            <a:endParaRPr lang="en-US" sz="1300" dirty="0"/>
          </a:p>
        </p:txBody>
      </p:sp>
      <p:sp>
        <p:nvSpPr>
          <p:cNvPr id="15" name="txt-875"/>
          <p:cNvSpPr txBox="1"/>
          <p:nvPr/>
        </p:nvSpPr>
        <p:spPr>
          <a:xfrm>
            <a:off x="3639312" y="3749040"/>
            <a:ext cx="2148840" cy="2011680"/>
          </a:xfrm>
          <a:prstGeom prst="rect">
            <a:avLst/>
          </a:prstGeom>
          <a:noFill/>
          <a:ln/>
        </p:spPr>
        <p:txBody>
          <a:bodyPr wrap="square" lIns="0" tIns="0" rIns="0" bIns="0" rtlCol="0" anchor="t"/>
          <a:lstStyle/>
          <a:p>
            <a:pPr marL="0" indent="0">
              <a:buNone/>
            </a:pPr>
            <a:r>
              <a:rPr lang="en-US" sz="1300" i="1" dirty="0">
                <a:solidFill>
                  <a:schemeClr val="tx1"/>
                </a:solidFill>
              </a:rPr>
              <a:t>« Article sur la déscolarisation des filles dans la région de la Kara. »</a:t>
            </a:r>
            <a:endParaRPr lang="en-US" sz="1300" dirty="0"/>
          </a:p>
        </p:txBody>
      </p:sp>
      <p:sp>
        <p:nvSpPr>
          <p:cNvPr id="16" name="card-876"/>
          <p:cNvSpPr/>
          <p:nvPr/>
        </p:nvSpPr>
        <p:spPr>
          <a:xfrm>
            <a:off x="6181344" y="1600200"/>
            <a:ext cx="2606040" cy="4343400"/>
          </a:xfrm>
          <a:prstGeom prst="roundRect">
            <a:avLst>
              <a:gd name="adj" fmla="val 2807"/>
            </a:avLst>
          </a:prstGeom>
          <a:solidFill>
            <a:schemeClr val="bg2"/>
          </a:solidFill>
          <a:ln w="6350">
            <a:solidFill>
              <a:schemeClr val="bg2"/>
            </a:solidFill>
            <a:prstDash val="solid"/>
          </a:ln>
        </p:spPr>
      </p:sp>
      <p:sp>
        <p:nvSpPr>
          <p:cNvPr id="17" name="num-877"/>
          <p:cNvSpPr/>
          <p:nvPr/>
        </p:nvSpPr>
        <p:spPr>
          <a:xfrm>
            <a:off x="6455664" y="1828800"/>
            <a:ext cx="868680" cy="868680"/>
          </a:xfrm>
          <a:prstGeom prst="ellipse">
            <a:avLst/>
          </a:prstGeom>
          <a:solidFill>
            <a:schemeClr val="accent2"/>
          </a:solidFill>
          <a:ln w="12700">
            <a:solidFill>
              <a:schemeClr val="accent2"/>
            </a:solidFill>
            <a:prstDash val="solid"/>
          </a:ln>
        </p:spPr>
      </p:sp>
      <p:sp>
        <p:nvSpPr>
          <p:cNvPr id="18" name="txt-878"/>
          <p:cNvSpPr txBox="1"/>
          <p:nvPr/>
        </p:nvSpPr>
        <p:spPr>
          <a:xfrm>
            <a:off x="6455664" y="1828800"/>
            <a:ext cx="868680" cy="868680"/>
          </a:xfrm>
          <a:prstGeom prst="rect">
            <a:avLst/>
          </a:prstGeom>
          <a:noFill/>
          <a:ln/>
        </p:spPr>
        <p:txBody>
          <a:bodyPr wrap="square" lIns="0" tIns="0" rIns="0" bIns="0" rtlCol="0" anchor="ctr"/>
          <a:lstStyle/>
          <a:p>
            <a:pPr marL="0" indent="0" algn="ctr">
              <a:buNone/>
            </a:pPr>
            <a:r>
              <a:rPr lang="en-US" sz="2900" b="1" dirty="0">
                <a:solidFill>
                  <a:schemeClr val="bg1"/>
                </a:solidFill>
              </a:rPr>
              <a:t>T</a:t>
            </a:r>
            <a:endParaRPr lang="en-US" sz="2900" dirty="0"/>
          </a:p>
        </p:txBody>
      </p:sp>
      <p:sp>
        <p:nvSpPr>
          <p:cNvPr id="19" name="txt-879"/>
          <p:cNvSpPr txBox="1"/>
          <p:nvPr/>
        </p:nvSpPr>
        <p:spPr>
          <a:xfrm>
            <a:off x="6455664" y="2834640"/>
            <a:ext cx="2148840" cy="411480"/>
          </a:xfrm>
          <a:prstGeom prst="rect">
            <a:avLst/>
          </a:prstGeom>
          <a:noFill/>
          <a:ln/>
        </p:spPr>
        <p:txBody>
          <a:bodyPr wrap="square" lIns="0" tIns="0" rIns="0" bIns="0" rtlCol="0" anchor="t"/>
          <a:lstStyle/>
          <a:p>
            <a:pPr marL="0" indent="0">
              <a:buNone/>
            </a:pPr>
            <a:r>
              <a:rPr lang="en-US" sz="1900" b="1" dirty="0">
                <a:solidFill>
                  <a:schemeClr val="tx2"/>
                </a:solidFill>
              </a:rPr>
              <a:t>Tâche</a:t>
            </a:r>
            <a:endParaRPr lang="en-US" sz="1900" dirty="0"/>
          </a:p>
        </p:txBody>
      </p:sp>
      <p:sp>
        <p:nvSpPr>
          <p:cNvPr id="20" name="txt-880"/>
          <p:cNvSpPr txBox="1"/>
          <p:nvPr/>
        </p:nvSpPr>
        <p:spPr>
          <a:xfrm>
            <a:off x="6455664" y="3273552"/>
            <a:ext cx="2148840" cy="365760"/>
          </a:xfrm>
          <a:prstGeom prst="rect">
            <a:avLst/>
          </a:prstGeom>
          <a:noFill/>
          <a:ln/>
        </p:spPr>
        <p:txBody>
          <a:bodyPr wrap="square" lIns="0" tIns="0" rIns="0" bIns="0" rtlCol="0" anchor="t"/>
          <a:lstStyle/>
          <a:p>
            <a:pPr marL="0" indent="0">
              <a:buNone/>
            </a:pPr>
            <a:r>
              <a:rPr lang="en-US" sz="1300" b="1" dirty="0">
                <a:solidFill>
                  <a:schemeClr val="accent2"/>
                </a:solidFill>
              </a:rPr>
              <a:t>Que faire, précisément ?</a:t>
            </a:r>
            <a:endParaRPr lang="en-US" sz="1300" dirty="0"/>
          </a:p>
        </p:txBody>
      </p:sp>
      <p:sp>
        <p:nvSpPr>
          <p:cNvPr id="21" name="txt-881"/>
          <p:cNvSpPr txBox="1"/>
          <p:nvPr/>
        </p:nvSpPr>
        <p:spPr>
          <a:xfrm>
            <a:off x="6455664" y="3749040"/>
            <a:ext cx="2148840" cy="2011680"/>
          </a:xfrm>
          <a:prstGeom prst="rect">
            <a:avLst/>
          </a:prstGeom>
          <a:noFill/>
          <a:ln/>
        </p:spPr>
        <p:txBody>
          <a:bodyPr wrap="square" lIns="0" tIns="0" rIns="0" bIns="0" rtlCol="0" anchor="t"/>
          <a:lstStyle/>
          <a:p>
            <a:pPr marL="0" indent="0">
              <a:buNone/>
            </a:pPr>
            <a:r>
              <a:rPr lang="en-US" sz="1300" i="1" dirty="0">
                <a:solidFill>
                  <a:schemeClr val="tx1"/>
                </a:solidFill>
              </a:rPr>
              <a:t>« Rédige un résumé de 250 mots. »</a:t>
            </a:r>
            <a:endParaRPr lang="en-US" sz="1300" dirty="0"/>
          </a:p>
        </p:txBody>
      </p:sp>
      <p:sp>
        <p:nvSpPr>
          <p:cNvPr id="22" name="card-882"/>
          <p:cNvSpPr/>
          <p:nvPr/>
        </p:nvSpPr>
        <p:spPr>
          <a:xfrm>
            <a:off x="8997696" y="1600200"/>
            <a:ext cx="2606040" cy="4343400"/>
          </a:xfrm>
          <a:prstGeom prst="roundRect">
            <a:avLst>
              <a:gd name="adj" fmla="val 2807"/>
            </a:avLst>
          </a:prstGeom>
          <a:solidFill>
            <a:schemeClr val="bg2"/>
          </a:solidFill>
          <a:ln w="6350">
            <a:solidFill>
              <a:schemeClr val="bg2"/>
            </a:solidFill>
            <a:prstDash val="solid"/>
          </a:ln>
        </p:spPr>
      </p:sp>
      <p:sp>
        <p:nvSpPr>
          <p:cNvPr id="23" name="num-883"/>
          <p:cNvSpPr/>
          <p:nvPr/>
        </p:nvSpPr>
        <p:spPr>
          <a:xfrm>
            <a:off x="9272016" y="1828800"/>
            <a:ext cx="868680" cy="868680"/>
          </a:xfrm>
          <a:prstGeom prst="ellipse">
            <a:avLst/>
          </a:prstGeom>
          <a:solidFill>
            <a:schemeClr val="accent6"/>
          </a:solidFill>
          <a:ln w="12700">
            <a:solidFill>
              <a:schemeClr val="accent6"/>
            </a:solidFill>
            <a:prstDash val="solid"/>
          </a:ln>
        </p:spPr>
      </p:sp>
      <p:sp>
        <p:nvSpPr>
          <p:cNvPr id="24" name="txt-884"/>
          <p:cNvSpPr txBox="1"/>
          <p:nvPr/>
        </p:nvSpPr>
        <p:spPr>
          <a:xfrm>
            <a:off x="9272016" y="1828800"/>
            <a:ext cx="868680" cy="868680"/>
          </a:xfrm>
          <a:prstGeom prst="rect">
            <a:avLst/>
          </a:prstGeom>
          <a:noFill/>
          <a:ln/>
        </p:spPr>
        <p:txBody>
          <a:bodyPr wrap="square" lIns="0" tIns="0" rIns="0" bIns="0" rtlCol="0" anchor="ctr"/>
          <a:lstStyle/>
          <a:p>
            <a:pPr marL="0" indent="0" algn="ctr">
              <a:buNone/>
            </a:pPr>
            <a:r>
              <a:rPr lang="en-US" sz="2900" b="1" dirty="0">
                <a:solidFill>
                  <a:schemeClr val="bg1"/>
                </a:solidFill>
              </a:rPr>
              <a:t>F</a:t>
            </a:r>
            <a:endParaRPr lang="en-US" sz="2900" dirty="0"/>
          </a:p>
        </p:txBody>
      </p:sp>
      <p:sp>
        <p:nvSpPr>
          <p:cNvPr id="25" name="txt-885"/>
          <p:cNvSpPr txBox="1"/>
          <p:nvPr/>
        </p:nvSpPr>
        <p:spPr>
          <a:xfrm>
            <a:off x="9272016" y="2834640"/>
            <a:ext cx="2148840" cy="411480"/>
          </a:xfrm>
          <a:prstGeom prst="rect">
            <a:avLst/>
          </a:prstGeom>
          <a:noFill/>
          <a:ln/>
        </p:spPr>
        <p:txBody>
          <a:bodyPr wrap="square" lIns="0" tIns="0" rIns="0" bIns="0" rtlCol="0" anchor="t"/>
          <a:lstStyle/>
          <a:p>
            <a:pPr marL="0" indent="0">
              <a:buNone/>
            </a:pPr>
            <a:r>
              <a:rPr lang="en-US" sz="1900" b="1" dirty="0">
                <a:solidFill>
                  <a:schemeClr val="tx2"/>
                </a:solidFill>
              </a:rPr>
              <a:t>Format</a:t>
            </a:r>
            <a:endParaRPr lang="en-US" sz="1900" dirty="0"/>
          </a:p>
        </p:txBody>
      </p:sp>
      <p:sp>
        <p:nvSpPr>
          <p:cNvPr id="26" name="txt-886"/>
          <p:cNvSpPr txBox="1"/>
          <p:nvPr/>
        </p:nvSpPr>
        <p:spPr>
          <a:xfrm>
            <a:off x="9272016" y="3273552"/>
            <a:ext cx="2148840" cy="365760"/>
          </a:xfrm>
          <a:prstGeom prst="rect">
            <a:avLst/>
          </a:prstGeom>
          <a:noFill/>
          <a:ln/>
        </p:spPr>
        <p:txBody>
          <a:bodyPr wrap="square" lIns="0" tIns="0" rIns="0" bIns="0" rtlCol="0" anchor="t"/>
          <a:lstStyle/>
          <a:p>
            <a:pPr marL="0" indent="0">
              <a:buNone/>
            </a:pPr>
            <a:r>
              <a:rPr lang="en-US" sz="1300" b="1" dirty="0">
                <a:solidFill>
                  <a:schemeClr val="accent6"/>
                </a:solidFill>
              </a:rPr>
              <a:t>Sous quelle forme ?</a:t>
            </a:r>
            <a:endParaRPr lang="en-US" sz="1300" dirty="0"/>
          </a:p>
        </p:txBody>
      </p:sp>
      <p:sp>
        <p:nvSpPr>
          <p:cNvPr id="27" name="txt-887"/>
          <p:cNvSpPr txBox="1"/>
          <p:nvPr/>
        </p:nvSpPr>
        <p:spPr>
          <a:xfrm>
            <a:off x="9272016" y="3749040"/>
            <a:ext cx="2148840" cy="2011680"/>
          </a:xfrm>
          <a:prstGeom prst="rect">
            <a:avLst/>
          </a:prstGeom>
          <a:noFill/>
          <a:ln/>
        </p:spPr>
        <p:txBody>
          <a:bodyPr wrap="square" lIns="0" tIns="0" rIns="0" bIns="0" rtlCol="0" anchor="t"/>
          <a:lstStyle/>
          <a:p>
            <a:pPr marL="0" indent="0">
              <a:buNone/>
            </a:pPr>
            <a:r>
              <a:rPr lang="en-US" sz="1300" i="1" dirty="0">
                <a:solidFill>
                  <a:schemeClr val="tx1"/>
                </a:solidFill>
              </a:rPr>
              <a:t>« Structure IMRaD, ton académique, en français. »</a:t>
            </a:r>
            <a:endParaRPr lang="en-US" sz="1300" dirty="0"/>
          </a:p>
        </p:txBody>
      </p:sp>
      <p:sp>
        <p:nvSpPr>
          <p:cNvPr id="28" name="Slide Number Placeholder 0"/>
          <p:cNvSpPr>
            <a:spLocks noGrp="1"/>
          </p:cNvSpPr>
          <p:nvPr>
            <p:ph type="sldNum" sz="quarter" idx="4294967295"/>
          </p:nvPr>
        </p:nvSpPr>
        <p:spPr>
          <a:xfrm>
            <a:off x="11064240" y="6400800"/>
            <a:ext cx="54864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C82"/>
                </a:solidFill>
                <a:latin typeface="Poppins"/>
                <a:ea typeface="Poppins"/>
                <a:cs typeface="Poppins"/>
              </a:defRPr>
            </a:lvl1pPr>
          </a:lstStyle>
          <a:p>
            <a:pPr algn="r"/>
            <a:fld id="{F7021451-1387-4CA6-816F-3879F97B5CBC}" type="slidenum">
              <a:rPr lang="en-US" b="0"/>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566928"/>
            <a:ext cx="11064240" cy="777240"/>
          </a:xfrm>
          <a:prstGeom prst="rect">
            <a:avLst/>
          </a:prstGeom>
          <a:noFill/>
          <a:ln/>
        </p:spPr>
        <p:txBody>
          <a:bodyPr wrap="square" lIns="0" tIns="0" rIns="0" bIns="0" rtlCol="0" anchor="ctr"/>
          <a:lstStyle/>
          <a:p>
            <a:pPr marL="0" indent="0" algn="l">
              <a:buNone/>
            </a:pPr>
            <a:r>
              <a:rPr lang="en-US" sz="2700" b="1" dirty="0">
                <a:solidFill>
                  <a:schemeClr val="tx2"/>
                </a:solidFill>
                <a:latin typeface="Poppins" pitchFamily="34" charset="0"/>
                <a:ea typeface="Poppins" pitchFamily="34" charset="-122"/>
                <a:cs typeface="Poppins" pitchFamily="34" charset="-120"/>
              </a:rPr>
              <a:t>Avant / après : la même demande</a:t>
            </a:r>
            <a:endParaRPr lang="en-US" sz="2700" dirty="0"/>
          </a:p>
        </p:txBody>
      </p:sp>
      <p:sp>
        <p:nvSpPr>
          <p:cNvPr id="3" name="Text 0"/>
          <p:cNvSpPr>
            <a:spLocks noGrp="1"/>
          </p:cNvSpPr>
          <p:nvPr>
            <p:ph type="body" idx="101" hasCustomPrompt="1"/>
          </p:nvPr>
        </p:nvSpPr>
        <p:spPr>
          <a:xfrm>
            <a:off x="548640" y="256032"/>
            <a:ext cx="8229600" cy="292608"/>
          </a:xfrm>
          <a:prstGeom prst="rect">
            <a:avLst/>
          </a:prstGeom>
          <a:noFill/>
          <a:ln/>
        </p:spPr>
        <p:txBody>
          <a:bodyPr wrap="square" lIns="0" tIns="0" rIns="0" bIns="0" rtlCol="0" anchor="ctr"/>
          <a:lstStyle/>
          <a:p>
            <a:pPr marL="0" indent="0">
              <a:buNone/>
            </a:pPr>
            <a:r>
              <a:rPr lang="en-US" sz="1100" b="1" dirty="0">
                <a:solidFill>
                  <a:schemeClr val="accent1"/>
                </a:solidFill>
                <a:latin typeface="Poppins" pitchFamily="34" charset="0"/>
                <a:ea typeface="Poppins" pitchFamily="34" charset="-122"/>
                <a:cs typeface="Poppins" pitchFamily="34" charset="-120"/>
              </a:rPr>
              <a:t>T2 · L'ART DE BIEN DEMANDER</a:t>
            </a:r>
            <a:endParaRPr lang="en-US" sz="1100" dirty="0"/>
          </a:p>
        </p:txBody>
      </p:sp>
      <p:sp>
        <p:nvSpPr>
          <p:cNvPr id="4" name="card-888"/>
          <p:cNvSpPr/>
          <p:nvPr/>
        </p:nvSpPr>
        <p:spPr>
          <a:xfrm>
            <a:off x="548640" y="1554480"/>
            <a:ext cx="4206240" cy="4434840"/>
          </a:xfrm>
          <a:prstGeom prst="roundRect">
            <a:avLst>
              <a:gd name="adj" fmla="val 1739"/>
            </a:avLst>
          </a:prstGeom>
          <a:solidFill>
            <a:schemeClr val="bg2"/>
          </a:solidFill>
          <a:ln w="6350">
            <a:solidFill>
              <a:schemeClr val="bg2"/>
            </a:solidFill>
            <a:prstDash val="solid"/>
          </a:ln>
        </p:spPr>
      </p:sp>
      <p:sp>
        <p:nvSpPr>
          <p:cNvPr id="5" name="txt-889"/>
          <p:cNvSpPr txBox="1"/>
          <p:nvPr/>
        </p:nvSpPr>
        <p:spPr>
          <a:xfrm>
            <a:off x="822960" y="1737360"/>
            <a:ext cx="3657600" cy="365760"/>
          </a:xfrm>
          <a:prstGeom prst="rect">
            <a:avLst/>
          </a:prstGeom>
          <a:noFill/>
          <a:ln/>
        </p:spPr>
        <p:txBody>
          <a:bodyPr wrap="square" lIns="0" tIns="0" rIns="0" bIns="0" rtlCol="0" anchor="t"/>
          <a:lstStyle/>
          <a:p>
            <a:pPr marL="0" indent="0">
              <a:buNone/>
            </a:pPr>
            <a:r>
              <a:rPr lang="en-US" sz="1400" b="1" kern="0" spc="200" dirty="0">
                <a:solidFill>
                  <a:schemeClr val="accent3"/>
                </a:solidFill>
              </a:rPr>
              <a:t>AVANT</a:t>
            </a:r>
            <a:endParaRPr lang="en-US" sz="1400" dirty="0"/>
          </a:p>
        </p:txBody>
      </p:sp>
      <p:sp>
        <p:nvSpPr>
          <p:cNvPr id="6" name="txt-890"/>
          <p:cNvSpPr txBox="1"/>
          <p:nvPr/>
        </p:nvSpPr>
        <p:spPr>
          <a:xfrm>
            <a:off x="822960" y="2194560"/>
            <a:ext cx="3657600" cy="1280160"/>
          </a:xfrm>
          <a:prstGeom prst="rect">
            <a:avLst/>
          </a:prstGeom>
          <a:noFill/>
          <a:ln/>
        </p:spPr>
        <p:txBody>
          <a:bodyPr wrap="square" lIns="0" tIns="0" rIns="0" bIns="0" rtlCol="0" anchor="t"/>
          <a:lstStyle/>
          <a:p>
            <a:pPr marL="0" indent="0">
              <a:buNone/>
            </a:pPr>
            <a:r>
              <a:rPr lang="en-US" sz="1600" dirty="0">
                <a:solidFill>
                  <a:schemeClr val="tx1"/>
                </a:solidFill>
                <a:latin typeface="Consolas" pitchFamily="34" charset="0"/>
                <a:ea typeface="Consolas" pitchFamily="34" charset="-122"/>
                <a:cs typeface="Consolas" pitchFamily="34" charset="-120"/>
              </a:rPr>
              <a:t>« Fais-moi un résumé de mon article. »</a:t>
            </a:r>
            <a:endParaRPr lang="en-US" sz="1600" dirty="0"/>
          </a:p>
        </p:txBody>
      </p:sp>
      <p:sp>
        <p:nvSpPr>
          <p:cNvPr id="7" name="circle-891"/>
          <p:cNvSpPr/>
          <p:nvPr/>
        </p:nvSpPr>
        <p:spPr>
          <a:xfrm>
            <a:off x="822960" y="3931920"/>
            <a:ext cx="548640" cy="548640"/>
          </a:xfrm>
          <a:prstGeom prst="ellipse">
            <a:avLst/>
          </a:prstGeom>
          <a:solidFill>
            <a:schemeClr val="accent3"/>
          </a:solidFill>
          <a:ln w="12700">
            <a:solidFill>
              <a:schemeClr val="accent3"/>
            </a:solidFill>
            <a:prstDash val="solid"/>
          </a:ln>
        </p:spPr>
      </p:sp>
      <p:pic>
        <p:nvPicPr>
          <p:cNvPr id="8" name="icon-892" descr="preencoded.png"/>
          <p:cNvPicPr>
            <a:picLocks noChangeAspect="1"/>
          </p:cNvPicPr>
          <p:nvPr/>
        </p:nvPicPr>
        <p:blipFill>
          <a:blip r:embed="rId3"/>
          <a:stretch>
            <a:fillRect/>
          </a:stretch>
        </p:blipFill>
        <p:spPr>
          <a:xfrm>
            <a:off x="960120" y="4069080"/>
            <a:ext cx="274320" cy="274320"/>
          </a:xfrm>
          <a:prstGeom prst="rect">
            <a:avLst/>
          </a:prstGeom>
        </p:spPr>
      </p:pic>
      <p:sp>
        <p:nvSpPr>
          <p:cNvPr id="9" name="txt-893"/>
          <p:cNvSpPr txBox="1"/>
          <p:nvPr/>
        </p:nvSpPr>
        <p:spPr>
          <a:xfrm>
            <a:off x="1508760" y="3840480"/>
            <a:ext cx="3108960" cy="777240"/>
          </a:xfrm>
          <a:prstGeom prst="rect">
            <a:avLst/>
          </a:prstGeom>
          <a:noFill/>
          <a:ln/>
        </p:spPr>
        <p:txBody>
          <a:bodyPr wrap="square" lIns="0" tIns="0" rIns="0" bIns="0" rtlCol="0" anchor="ctr"/>
          <a:lstStyle/>
          <a:p>
            <a:pPr marL="0" indent="0">
              <a:buNone/>
            </a:pPr>
            <a:r>
              <a:rPr lang="en-US" sz="1400" dirty="0">
                <a:solidFill>
                  <a:schemeClr val="tx1"/>
                </a:solidFill>
              </a:rPr>
              <a:t>Résumé générique, trop long, sans structure</a:t>
            </a:r>
            <a:endParaRPr lang="en-US" sz="1400" dirty="0"/>
          </a:p>
        </p:txBody>
      </p:sp>
      <p:sp>
        <p:nvSpPr>
          <p:cNvPr id="10" name="card-894"/>
          <p:cNvSpPr/>
          <p:nvPr/>
        </p:nvSpPr>
        <p:spPr>
          <a:xfrm>
            <a:off x="5029200" y="1554480"/>
            <a:ext cx="6583680" cy="4434840"/>
          </a:xfrm>
          <a:prstGeom prst="roundRect">
            <a:avLst>
              <a:gd name="adj" fmla="val 1649"/>
            </a:avLst>
          </a:prstGeom>
          <a:solidFill>
            <a:schemeClr val="tx2"/>
          </a:solidFill>
          <a:ln w="6350">
            <a:solidFill>
              <a:schemeClr val="tx2"/>
            </a:solidFill>
            <a:prstDash val="solid"/>
          </a:ln>
        </p:spPr>
      </p:sp>
      <p:sp>
        <p:nvSpPr>
          <p:cNvPr id="11" name="txt-895"/>
          <p:cNvSpPr txBox="1"/>
          <p:nvPr/>
        </p:nvSpPr>
        <p:spPr>
          <a:xfrm>
            <a:off x="5303520" y="1737360"/>
            <a:ext cx="3657600" cy="365760"/>
          </a:xfrm>
          <a:prstGeom prst="rect">
            <a:avLst/>
          </a:prstGeom>
          <a:noFill/>
          <a:ln/>
        </p:spPr>
        <p:txBody>
          <a:bodyPr wrap="square" lIns="0" tIns="0" rIns="0" bIns="0" rtlCol="0" anchor="t"/>
          <a:lstStyle/>
          <a:p>
            <a:pPr marL="0" indent="0">
              <a:buNone/>
            </a:pPr>
            <a:r>
              <a:rPr lang="en-US" sz="1400" b="1" kern="0" spc="200" dirty="0">
                <a:solidFill>
                  <a:schemeClr val="accent1"/>
                </a:solidFill>
              </a:rPr>
              <a:t>APRÈS</a:t>
            </a:r>
            <a:endParaRPr lang="en-US" sz="1400" dirty="0"/>
          </a:p>
        </p:txBody>
      </p:sp>
      <p:sp>
        <p:nvSpPr>
          <p:cNvPr id="12" name="txt-896"/>
          <p:cNvSpPr txBox="1"/>
          <p:nvPr/>
        </p:nvSpPr>
        <p:spPr>
          <a:xfrm>
            <a:off x="5303520" y="2194560"/>
            <a:ext cx="6035040" cy="2514600"/>
          </a:xfrm>
          <a:prstGeom prst="rect">
            <a:avLst/>
          </a:prstGeom>
          <a:noFill/>
          <a:ln/>
        </p:spPr>
        <p:txBody>
          <a:bodyPr wrap="square" lIns="0" tIns="0" rIns="0" bIns="0" rtlCol="0" anchor="t"/>
          <a:lstStyle/>
          <a:p>
            <a:pPr marL="0" indent="0">
              <a:buNone/>
            </a:pPr>
            <a:r>
              <a:rPr lang="en-US" sz="1400" dirty="0">
                <a:solidFill>
                  <a:schemeClr val="bg1"/>
                </a:solidFill>
                <a:latin typeface="Consolas" pitchFamily="34" charset="0"/>
                <a:ea typeface="Consolas" pitchFamily="34" charset="-122"/>
                <a:cs typeface="Consolas" pitchFamily="34" charset="-120"/>
              </a:rPr>
              <a:t>« Tu es relecteur pour une revue de sociologie. Voici le brouillon de mon article sur la déscolarisation des filles dans la région de la Kara. Rédige un résumé de 250 mots, structure IMRaD, ton académique, en français. N'ajoute aucune information absente du texte. »</a:t>
            </a:r>
            <a:endParaRPr lang="en-US" sz="1400" dirty="0"/>
          </a:p>
        </p:txBody>
      </p:sp>
      <p:sp>
        <p:nvSpPr>
          <p:cNvPr id="13" name="circle-897"/>
          <p:cNvSpPr/>
          <p:nvPr/>
        </p:nvSpPr>
        <p:spPr>
          <a:xfrm>
            <a:off x="5303520" y="4937760"/>
            <a:ext cx="548640" cy="548640"/>
          </a:xfrm>
          <a:prstGeom prst="ellipse">
            <a:avLst/>
          </a:prstGeom>
          <a:solidFill>
            <a:schemeClr val="accent1"/>
          </a:solidFill>
          <a:ln w="12700">
            <a:solidFill>
              <a:schemeClr val="accent1"/>
            </a:solidFill>
            <a:prstDash val="solid"/>
          </a:ln>
        </p:spPr>
      </p:sp>
      <p:pic>
        <p:nvPicPr>
          <p:cNvPr id="14" name="icon-898" descr="preencoded.png"/>
          <p:cNvPicPr>
            <a:picLocks noChangeAspect="1"/>
          </p:cNvPicPr>
          <p:nvPr/>
        </p:nvPicPr>
        <p:blipFill>
          <a:blip r:embed="rId4"/>
          <a:stretch>
            <a:fillRect/>
          </a:stretch>
        </p:blipFill>
        <p:spPr>
          <a:xfrm>
            <a:off x="5440680" y="5074920"/>
            <a:ext cx="274320" cy="274320"/>
          </a:xfrm>
          <a:prstGeom prst="rect">
            <a:avLst/>
          </a:prstGeom>
        </p:spPr>
      </p:pic>
      <p:sp>
        <p:nvSpPr>
          <p:cNvPr id="15" name="txt-899"/>
          <p:cNvSpPr txBox="1"/>
          <p:nvPr/>
        </p:nvSpPr>
        <p:spPr>
          <a:xfrm>
            <a:off x="5989320" y="4846320"/>
            <a:ext cx="5394960" cy="777240"/>
          </a:xfrm>
          <a:prstGeom prst="rect">
            <a:avLst/>
          </a:prstGeom>
          <a:noFill/>
          <a:ln/>
        </p:spPr>
        <p:txBody>
          <a:bodyPr wrap="square" lIns="0" tIns="0" rIns="0" bIns="0" rtlCol="0" anchor="ctr"/>
          <a:lstStyle/>
          <a:p>
            <a:pPr marL="0" indent="0">
              <a:buNone/>
            </a:pPr>
            <a:r>
              <a:rPr lang="en-US" sz="1400" dirty="0">
                <a:solidFill>
                  <a:schemeClr val="bg1"/>
                </a:solidFill>
              </a:rPr>
              <a:t>Résumé ciblé, structuré, au bon format</a:t>
            </a:r>
            <a:endParaRPr lang="en-US" sz="1400" dirty="0"/>
          </a:p>
        </p:txBody>
      </p:sp>
      <p:sp>
        <p:nvSpPr>
          <p:cNvPr id="25" name="Slide Number Placeholder 0"/>
          <p:cNvSpPr>
            <a:spLocks noGrp="1"/>
          </p:cNvSpPr>
          <p:nvPr>
            <p:ph type="sldNum" sz="quarter" idx="4294967295"/>
          </p:nvPr>
        </p:nvSpPr>
        <p:spPr>
          <a:xfrm>
            <a:off x="11064240" y="6400800"/>
            <a:ext cx="54864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C82"/>
                </a:solidFill>
                <a:latin typeface="Poppins"/>
                <a:ea typeface="Poppins"/>
                <a:cs typeface="Poppins"/>
              </a:defRPr>
            </a:lvl1pPr>
          </a:lstStyle>
          <a:p>
            <a:pPr algn="r"/>
            <a:fld id="{F7021451-1387-4CA6-816F-3879F97B5CBC}" type="slidenum">
              <a:rPr lang="en-US" b="0"/>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566928"/>
            <a:ext cx="11064240" cy="777240"/>
          </a:xfrm>
          <a:prstGeom prst="rect">
            <a:avLst/>
          </a:prstGeom>
          <a:noFill/>
          <a:ln/>
        </p:spPr>
        <p:txBody>
          <a:bodyPr wrap="square" lIns="0" tIns="0" rIns="0" bIns="0" rtlCol="0" anchor="ctr"/>
          <a:lstStyle/>
          <a:p>
            <a:pPr marL="0" indent="0" algn="l">
              <a:buNone/>
            </a:pPr>
            <a:r>
              <a:rPr lang="en-US" sz="2700" b="1" dirty="0">
                <a:solidFill>
                  <a:schemeClr val="tx2"/>
                </a:solidFill>
                <a:latin typeface="Poppins" pitchFamily="34" charset="0"/>
                <a:ea typeface="Poppins" pitchFamily="34" charset="-122"/>
                <a:cs typeface="Poppins" pitchFamily="34" charset="-120"/>
              </a:rPr>
              <a:t>Le même modèle, dans votre discipline</a:t>
            </a:r>
            <a:endParaRPr lang="en-US" sz="2700" dirty="0"/>
          </a:p>
        </p:txBody>
      </p:sp>
      <p:sp>
        <p:nvSpPr>
          <p:cNvPr id="3" name="Text 0"/>
          <p:cNvSpPr>
            <a:spLocks noGrp="1"/>
          </p:cNvSpPr>
          <p:nvPr>
            <p:ph type="body" idx="101" hasCustomPrompt="1"/>
          </p:nvPr>
        </p:nvSpPr>
        <p:spPr>
          <a:xfrm>
            <a:off x="548640" y="256032"/>
            <a:ext cx="8229600" cy="292608"/>
          </a:xfrm>
          <a:prstGeom prst="rect">
            <a:avLst/>
          </a:prstGeom>
          <a:noFill/>
          <a:ln/>
        </p:spPr>
        <p:txBody>
          <a:bodyPr wrap="square" lIns="0" tIns="0" rIns="0" bIns="0" rtlCol="0" anchor="ctr"/>
          <a:lstStyle/>
          <a:p>
            <a:pPr marL="0" indent="0">
              <a:buNone/>
            </a:pPr>
            <a:r>
              <a:rPr lang="en-US" sz="1100" b="1" dirty="0">
                <a:solidFill>
                  <a:schemeClr val="accent1"/>
                </a:solidFill>
                <a:latin typeface="Poppins" pitchFamily="34" charset="0"/>
                <a:ea typeface="Poppins" pitchFamily="34" charset="-122"/>
                <a:cs typeface="Poppins" pitchFamily="34" charset="-120"/>
              </a:rPr>
              <a:t>T2 · L'ART DE BIEN DEMANDER</a:t>
            </a:r>
            <a:endParaRPr lang="en-US" sz="1100" dirty="0"/>
          </a:p>
        </p:txBody>
      </p:sp>
      <p:sp>
        <p:nvSpPr>
          <p:cNvPr id="4" name="card-900"/>
          <p:cNvSpPr/>
          <p:nvPr/>
        </p:nvSpPr>
        <p:spPr>
          <a:xfrm>
            <a:off x="548640" y="1554480"/>
            <a:ext cx="3520440" cy="4434840"/>
          </a:xfrm>
          <a:prstGeom prst="roundRect">
            <a:avLst>
              <a:gd name="adj" fmla="val 2078"/>
            </a:avLst>
          </a:prstGeom>
          <a:solidFill>
            <a:schemeClr val="bg2"/>
          </a:solidFill>
          <a:ln w="6350">
            <a:solidFill>
              <a:schemeClr val="bg2"/>
            </a:solidFill>
            <a:prstDash val="solid"/>
          </a:ln>
        </p:spPr>
      </p:sp>
      <p:sp>
        <p:nvSpPr>
          <p:cNvPr id="5" name="circle-901"/>
          <p:cNvSpPr/>
          <p:nvPr/>
        </p:nvSpPr>
        <p:spPr>
          <a:xfrm>
            <a:off x="777240" y="1737360"/>
            <a:ext cx="502920" cy="502920"/>
          </a:xfrm>
          <a:prstGeom prst="ellipse">
            <a:avLst/>
          </a:prstGeom>
          <a:solidFill>
            <a:schemeClr val="accent4"/>
          </a:solidFill>
          <a:ln w="12700">
            <a:solidFill>
              <a:schemeClr val="accent4"/>
            </a:solidFill>
            <a:prstDash val="solid"/>
          </a:ln>
        </p:spPr>
      </p:sp>
      <p:pic>
        <p:nvPicPr>
          <p:cNvPr id="6" name="icon-902" descr="preencoded.png"/>
          <p:cNvPicPr>
            <a:picLocks noChangeAspect="1"/>
          </p:cNvPicPr>
          <p:nvPr/>
        </p:nvPicPr>
        <p:blipFill>
          <a:blip r:embed="rId3"/>
          <a:stretch>
            <a:fillRect/>
          </a:stretch>
        </p:blipFill>
        <p:spPr>
          <a:xfrm>
            <a:off x="902970" y="1863090"/>
            <a:ext cx="251460" cy="251460"/>
          </a:xfrm>
          <a:prstGeom prst="rect">
            <a:avLst/>
          </a:prstGeom>
        </p:spPr>
      </p:pic>
      <p:sp>
        <p:nvSpPr>
          <p:cNvPr id="7" name="txt-903"/>
          <p:cNvSpPr txBox="1"/>
          <p:nvPr/>
        </p:nvSpPr>
        <p:spPr>
          <a:xfrm>
            <a:off x="1417320" y="1737360"/>
            <a:ext cx="2560320" cy="502920"/>
          </a:xfrm>
          <a:prstGeom prst="rect">
            <a:avLst/>
          </a:prstGeom>
          <a:noFill/>
          <a:ln/>
        </p:spPr>
        <p:txBody>
          <a:bodyPr wrap="square" lIns="0" tIns="0" rIns="0" bIns="0" rtlCol="0" anchor="ctr"/>
          <a:lstStyle/>
          <a:p>
            <a:pPr marL="0" indent="0">
              <a:buNone/>
            </a:pPr>
            <a:r>
              <a:rPr lang="en-US" sz="1400" b="1" dirty="0">
                <a:solidFill>
                  <a:schemeClr val="accent4"/>
                </a:solidFill>
              </a:rPr>
              <a:t>SHS</a:t>
            </a:r>
            <a:endParaRPr lang="en-US" sz="1400" dirty="0"/>
          </a:p>
        </p:txBody>
      </p:sp>
      <p:sp>
        <p:nvSpPr>
          <p:cNvPr id="8" name="txt-904"/>
          <p:cNvSpPr txBox="1"/>
          <p:nvPr/>
        </p:nvSpPr>
        <p:spPr>
          <a:xfrm>
            <a:off x="777240" y="2423160"/>
            <a:ext cx="3108960" cy="3474720"/>
          </a:xfrm>
          <a:prstGeom prst="rect">
            <a:avLst/>
          </a:prstGeom>
          <a:noFill/>
          <a:ln/>
        </p:spPr>
        <p:txBody>
          <a:bodyPr wrap="square" lIns="0" tIns="0" rIns="0" bIns="0" rtlCol="0" anchor="t"/>
          <a:lstStyle/>
          <a:p>
            <a:pPr marL="0" indent="0">
              <a:buNone/>
            </a:pPr>
            <a:r>
              <a:rPr lang="en-US" sz="1400" dirty="0">
                <a:solidFill>
                  <a:schemeClr val="tx1"/>
                </a:solidFill>
                <a:latin typeface="Consolas" pitchFamily="34" charset="0"/>
                <a:ea typeface="Consolas" pitchFamily="34" charset="-122"/>
                <a:cs typeface="Consolas" pitchFamily="34" charset="-120"/>
              </a:rPr>
              <a:t>« Tu es relecteur pour une revue de sciences sociales. Voici le brouillon de mon article sur la déscolarisation des filles dans la Kozah. Rédige un résumé IMRaD de 250 mots en français académique. N'ajoute aucune information absente du texte. »</a:t>
            </a:r>
            <a:endParaRPr lang="en-US" sz="1400" dirty="0"/>
          </a:p>
        </p:txBody>
      </p:sp>
      <p:sp>
        <p:nvSpPr>
          <p:cNvPr id="9" name="card-905"/>
          <p:cNvSpPr/>
          <p:nvPr/>
        </p:nvSpPr>
        <p:spPr>
          <a:xfrm>
            <a:off x="4297680" y="1554480"/>
            <a:ext cx="3520440" cy="4434840"/>
          </a:xfrm>
          <a:prstGeom prst="roundRect">
            <a:avLst>
              <a:gd name="adj" fmla="val 2078"/>
            </a:avLst>
          </a:prstGeom>
          <a:solidFill>
            <a:schemeClr val="bg2"/>
          </a:solidFill>
          <a:ln w="6350">
            <a:solidFill>
              <a:schemeClr val="bg2"/>
            </a:solidFill>
            <a:prstDash val="solid"/>
          </a:ln>
        </p:spPr>
      </p:sp>
      <p:sp>
        <p:nvSpPr>
          <p:cNvPr id="10" name="circle-906"/>
          <p:cNvSpPr/>
          <p:nvPr/>
        </p:nvSpPr>
        <p:spPr>
          <a:xfrm>
            <a:off x="4526280" y="1737360"/>
            <a:ext cx="502920" cy="502920"/>
          </a:xfrm>
          <a:prstGeom prst="ellipse">
            <a:avLst/>
          </a:prstGeom>
          <a:solidFill>
            <a:schemeClr val="accent3"/>
          </a:solidFill>
          <a:ln w="12700">
            <a:solidFill>
              <a:schemeClr val="accent3"/>
            </a:solidFill>
            <a:prstDash val="solid"/>
          </a:ln>
        </p:spPr>
      </p:sp>
      <p:pic>
        <p:nvPicPr>
          <p:cNvPr id="11" name="icon-907" descr="preencoded.png"/>
          <p:cNvPicPr>
            <a:picLocks noChangeAspect="1"/>
          </p:cNvPicPr>
          <p:nvPr/>
        </p:nvPicPr>
        <p:blipFill>
          <a:blip r:embed="rId4"/>
          <a:stretch>
            <a:fillRect/>
          </a:stretch>
        </p:blipFill>
        <p:spPr>
          <a:xfrm>
            <a:off x="4652010" y="1863090"/>
            <a:ext cx="251460" cy="251460"/>
          </a:xfrm>
          <a:prstGeom prst="rect">
            <a:avLst/>
          </a:prstGeom>
        </p:spPr>
      </p:pic>
      <p:sp>
        <p:nvSpPr>
          <p:cNvPr id="12" name="txt-908"/>
          <p:cNvSpPr txBox="1"/>
          <p:nvPr/>
        </p:nvSpPr>
        <p:spPr>
          <a:xfrm>
            <a:off x="5166360" y="1737360"/>
            <a:ext cx="2560320" cy="502920"/>
          </a:xfrm>
          <a:prstGeom prst="rect">
            <a:avLst/>
          </a:prstGeom>
          <a:noFill/>
          <a:ln/>
        </p:spPr>
        <p:txBody>
          <a:bodyPr wrap="square" lIns="0" tIns="0" rIns="0" bIns="0" rtlCol="0" anchor="ctr"/>
          <a:lstStyle/>
          <a:p>
            <a:pPr marL="0" indent="0">
              <a:buNone/>
            </a:pPr>
            <a:r>
              <a:rPr lang="en-US" sz="1400" b="1" dirty="0">
                <a:solidFill>
                  <a:schemeClr val="accent3"/>
                </a:solidFill>
              </a:rPr>
              <a:t>Santé</a:t>
            </a:r>
            <a:endParaRPr lang="en-US" sz="1400" dirty="0"/>
          </a:p>
        </p:txBody>
      </p:sp>
      <p:sp>
        <p:nvSpPr>
          <p:cNvPr id="13" name="txt-909"/>
          <p:cNvSpPr txBox="1"/>
          <p:nvPr/>
        </p:nvSpPr>
        <p:spPr>
          <a:xfrm>
            <a:off x="4526280" y="2423160"/>
            <a:ext cx="3108960" cy="3474720"/>
          </a:xfrm>
          <a:prstGeom prst="rect">
            <a:avLst/>
          </a:prstGeom>
          <a:noFill/>
          <a:ln/>
        </p:spPr>
        <p:txBody>
          <a:bodyPr wrap="square" lIns="0" tIns="0" rIns="0" bIns="0" rtlCol="0" anchor="t"/>
          <a:lstStyle/>
          <a:p>
            <a:pPr marL="0" indent="0">
              <a:buNone/>
            </a:pPr>
            <a:r>
              <a:rPr lang="en-US" sz="1400" dirty="0">
                <a:solidFill>
                  <a:schemeClr val="tx1"/>
                </a:solidFill>
                <a:latin typeface="Consolas" pitchFamily="34" charset="0"/>
                <a:ea typeface="Consolas" pitchFamily="34" charset="-122"/>
                <a:cs typeface="Consolas" pitchFamily="34" charset="-120"/>
              </a:rPr>
              <a:t>« Tu es relecteur pour une revue médicale. Voici le brouillon de mon étude transversale sur l'observance de 180 diabétiques de type 2. Rédige un résumé structuré de 250 mots. Signale entre crochets tout chiffre manquant. »</a:t>
            </a:r>
            <a:endParaRPr lang="en-US" sz="1400" dirty="0"/>
          </a:p>
        </p:txBody>
      </p:sp>
      <p:sp>
        <p:nvSpPr>
          <p:cNvPr id="14" name="card-910"/>
          <p:cNvSpPr/>
          <p:nvPr/>
        </p:nvSpPr>
        <p:spPr>
          <a:xfrm>
            <a:off x="8046720" y="1554480"/>
            <a:ext cx="3520440" cy="4434840"/>
          </a:xfrm>
          <a:prstGeom prst="roundRect">
            <a:avLst>
              <a:gd name="adj" fmla="val 2078"/>
            </a:avLst>
          </a:prstGeom>
          <a:solidFill>
            <a:schemeClr val="bg2"/>
          </a:solidFill>
          <a:ln w="6350">
            <a:solidFill>
              <a:schemeClr val="bg2"/>
            </a:solidFill>
            <a:prstDash val="solid"/>
          </a:ln>
        </p:spPr>
      </p:sp>
      <p:sp>
        <p:nvSpPr>
          <p:cNvPr id="15" name="circle-911"/>
          <p:cNvSpPr/>
          <p:nvPr/>
        </p:nvSpPr>
        <p:spPr>
          <a:xfrm>
            <a:off x="8275320" y="1737360"/>
            <a:ext cx="502920" cy="502920"/>
          </a:xfrm>
          <a:prstGeom prst="ellipse">
            <a:avLst/>
          </a:prstGeom>
          <a:solidFill>
            <a:schemeClr val="accent2"/>
          </a:solidFill>
          <a:ln w="12700">
            <a:solidFill>
              <a:schemeClr val="accent2"/>
            </a:solidFill>
            <a:prstDash val="solid"/>
          </a:ln>
        </p:spPr>
      </p:sp>
      <p:pic>
        <p:nvPicPr>
          <p:cNvPr id="16" name="icon-912" descr="preencoded.png"/>
          <p:cNvPicPr>
            <a:picLocks noChangeAspect="1"/>
          </p:cNvPicPr>
          <p:nvPr/>
        </p:nvPicPr>
        <p:blipFill>
          <a:blip r:embed="rId5"/>
          <a:stretch>
            <a:fillRect/>
          </a:stretch>
        </p:blipFill>
        <p:spPr>
          <a:xfrm>
            <a:off x="8401050" y="1863090"/>
            <a:ext cx="251460" cy="251460"/>
          </a:xfrm>
          <a:prstGeom prst="rect">
            <a:avLst/>
          </a:prstGeom>
        </p:spPr>
      </p:pic>
      <p:sp>
        <p:nvSpPr>
          <p:cNvPr id="17" name="txt-913"/>
          <p:cNvSpPr txBox="1"/>
          <p:nvPr/>
        </p:nvSpPr>
        <p:spPr>
          <a:xfrm>
            <a:off x="8915400" y="1737360"/>
            <a:ext cx="2560320" cy="502920"/>
          </a:xfrm>
          <a:prstGeom prst="rect">
            <a:avLst/>
          </a:prstGeom>
          <a:noFill/>
          <a:ln/>
        </p:spPr>
        <p:txBody>
          <a:bodyPr wrap="square" lIns="0" tIns="0" rIns="0" bIns="0" rtlCol="0" anchor="ctr"/>
          <a:lstStyle/>
          <a:p>
            <a:pPr marL="0" indent="0">
              <a:buNone/>
            </a:pPr>
            <a:r>
              <a:rPr lang="en-US" sz="1400" b="1" dirty="0">
                <a:solidFill>
                  <a:schemeClr val="accent2"/>
                </a:solidFill>
              </a:rPr>
              <a:t>Sciences &amp; environnement</a:t>
            </a:r>
            <a:endParaRPr lang="en-US" sz="1400" dirty="0"/>
          </a:p>
        </p:txBody>
      </p:sp>
      <p:sp>
        <p:nvSpPr>
          <p:cNvPr id="18" name="txt-914"/>
          <p:cNvSpPr txBox="1"/>
          <p:nvPr/>
        </p:nvSpPr>
        <p:spPr>
          <a:xfrm>
            <a:off x="8275320" y="2423160"/>
            <a:ext cx="3108960" cy="3474720"/>
          </a:xfrm>
          <a:prstGeom prst="rect">
            <a:avLst/>
          </a:prstGeom>
          <a:noFill/>
          <a:ln/>
        </p:spPr>
        <p:txBody>
          <a:bodyPr wrap="square" lIns="0" tIns="0" rIns="0" bIns="0" rtlCol="0" anchor="t"/>
          <a:lstStyle/>
          <a:p>
            <a:pPr marL="0" indent="0">
              <a:buNone/>
            </a:pPr>
            <a:r>
              <a:rPr lang="en-US" sz="1400" dirty="0">
                <a:solidFill>
                  <a:schemeClr val="tx1"/>
                </a:solidFill>
                <a:latin typeface="Consolas" pitchFamily="34" charset="0"/>
                <a:ea typeface="Consolas" pitchFamily="34" charset="-122"/>
                <a:cs typeface="Consolas" pitchFamily="34" charset="-120"/>
              </a:rPr>
              <a:t>« Tu es relecteur pour une revue d'environnement. Voici mes notes sur l'eau de 40 puits à Lomé. Rédige un résumé de 250 mots avec les valeurs exactes et leurs unités. Ne généralise pas au-delà des puits étudiés. »</a:t>
            </a:r>
            <a:endParaRPr lang="en-US" sz="1400" dirty="0"/>
          </a:p>
        </p:txBody>
      </p:sp>
      <p:sp>
        <p:nvSpPr>
          <p:cNvPr id="25" name="Slide Number Placeholder 0"/>
          <p:cNvSpPr>
            <a:spLocks noGrp="1"/>
          </p:cNvSpPr>
          <p:nvPr>
            <p:ph type="sldNum" sz="quarter" idx="4294967295"/>
          </p:nvPr>
        </p:nvSpPr>
        <p:spPr>
          <a:xfrm>
            <a:off x="11064240" y="6400800"/>
            <a:ext cx="54864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C82"/>
                </a:solidFill>
                <a:latin typeface="Poppins"/>
                <a:ea typeface="Poppins"/>
                <a:cs typeface="Poppins"/>
              </a:defRPr>
            </a:lvl1pPr>
          </a:lstStyle>
          <a:p>
            <a:pPr algn="r"/>
            <a:fld id="{F7021451-1387-4CA6-816F-3879F97B5CBC}" type="slidenum">
              <a:rPr lang="en-US" b="0"/>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566928"/>
            <a:ext cx="11064240" cy="777240"/>
          </a:xfrm>
          <a:prstGeom prst="rect">
            <a:avLst/>
          </a:prstGeom>
          <a:noFill/>
          <a:ln/>
        </p:spPr>
        <p:txBody>
          <a:bodyPr wrap="square" lIns="0" tIns="0" rIns="0" bIns="0" rtlCol="0" anchor="ctr"/>
          <a:lstStyle/>
          <a:p>
            <a:pPr marL="0" indent="0" algn="l">
              <a:buNone/>
            </a:pPr>
            <a:r>
              <a:rPr lang="en-US" sz="2700" b="1" dirty="0">
                <a:solidFill>
                  <a:schemeClr val="tx2"/>
                </a:solidFill>
                <a:latin typeface="Poppins" pitchFamily="34" charset="0"/>
                <a:ea typeface="Poppins" pitchFamily="34" charset="-122"/>
                <a:cs typeface="Poppins" pitchFamily="34" charset="-120"/>
              </a:rPr>
              <a:t>Trois astuces qui changent tout</a:t>
            </a:r>
            <a:endParaRPr lang="en-US" sz="2700" dirty="0"/>
          </a:p>
        </p:txBody>
      </p:sp>
      <p:sp>
        <p:nvSpPr>
          <p:cNvPr id="3" name="Text 0"/>
          <p:cNvSpPr>
            <a:spLocks noGrp="1"/>
          </p:cNvSpPr>
          <p:nvPr>
            <p:ph type="body" idx="101" hasCustomPrompt="1"/>
          </p:nvPr>
        </p:nvSpPr>
        <p:spPr>
          <a:xfrm>
            <a:off x="548640" y="256032"/>
            <a:ext cx="8229600" cy="292608"/>
          </a:xfrm>
          <a:prstGeom prst="rect">
            <a:avLst/>
          </a:prstGeom>
          <a:noFill/>
          <a:ln/>
        </p:spPr>
        <p:txBody>
          <a:bodyPr wrap="square" lIns="0" tIns="0" rIns="0" bIns="0" rtlCol="0" anchor="ctr"/>
          <a:lstStyle/>
          <a:p>
            <a:pPr marL="0" indent="0">
              <a:buNone/>
            </a:pPr>
            <a:r>
              <a:rPr lang="en-US" sz="1100" b="1" dirty="0">
                <a:solidFill>
                  <a:schemeClr val="accent1"/>
                </a:solidFill>
                <a:latin typeface="Poppins" pitchFamily="34" charset="0"/>
                <a:ea typeface="Poppins" pitchFamily="34" charset="-122"/>
                <a:cs typeface="Poppins" pitchFamily="34" charset="-120"/>
              </a:rPr>
              <a:t>T2 · L'ART DE BIEN DEMANDER</a:t>
            </a:r>
            <a:endParaRPr lang="en-US" sz="1100" dirty="0"/>
          </a:p>
        </p:txBody>
      </p:sp>
      <p:sp>
        <p:nvSpPr>
          <p:cNvPr id="4" name="card-915"/>
          <p:cNvSpPr/>
          <p:nvPr/>
        </p:nvSpPr>
        <p:spPr>
          <a:xfrm>
            <a:off x="548640" y="1600200"/>
            <a:ext cx="11064240" cy="1234440"/>
          </a:xfrm>
          <a:prstGeom prst="roundRect">
            <a:avLst>
              <a:gd name="adj" fmla="val 5926"/>
            </a:avLst>
          </a:prstGeom>
          <a:solidFill>
            <a:schemeClr val="bg2"/>
          </a:solidFill>
          <a:ln w="6350">
            <a:solidFill>
              <a:schemeClr val="bg2"/>
            </a:solidFill>
            <a:prstDash val="solid"/>
          </a:ln>
        </p:spPr>
      </p:sp>
      <p:sp>
        <p:nvSpPr>
          <p:cNvPr id="5" name="circle-916"/>
          <p:cNvSpPr/>
          <p:nvPr/>
        </p:nvSpPr>
        <p:spPr>
          <a:xfrm>
            <a:off x="777240" y="1828800"/>
            <a:ext cx="777240" cy="777240"/>
          </a:xfrm>
          <a:prstGeom prst="ellipse">
            <a:avLst/>
          </a:prstGeom>
          <a:solidFill>
            <a:schemeClr val="accent6"/>
          </a:solidFill>
          <a:ln w="12700">
            <a:solidFill>
              <a:schemeClr val="accent6"/>
            </a:solidFill>
            <a:prstDash val="solid"/>
          </a:ln>
        </p:spPr>
      </p:sp>
      <p:pic>
        <p:nvPicPr>
          <p:cNvPr id="6" name="icon-917" descr="preencoded.png"/>
          <p:cNvPicPr>
            <a:picLocks noChangeAspect="1"/>
          </p:cNvPicPr>
          <p:nvPr/>
        </p:nvPicPr>
        <p:blipFill>
          <a:blip r:embed="rId3"/>
          <a:stretch>
            <a:fillRect/>
          </a:stretch>
        </p:blipFill>
        <p:spPr>
          <a:xfrm>
            <a:off x="971550" y="2023110"/>
            <a:ext cx="388620" cy="388620"/>
          </a:xfrm>
          <a:prstGeom prst="rect">
            <a:avLst/>
          </a:prstGeom>
        </p:spPr>
      </p:pic>
      <p:sp>
        <p:nvSpPr>
          <p:cNvPr id="7" name="txt-918"/>
          <p:cNvSpPr txBox="1"/>
          <p:nvPr/>
        </p:nvSpPr>
        <p:spPr>
          <a:xfrm>
            <a:off x="1783080" y="1737360"/>
            <a:ext cx="3291840" cy="960120"/>
          </a:xfrm>
          <a:prstGeom prst="rect">
            <a:avLst/>
          </a:prstGeom>
          <a:noFill/>
          <a:ln/>
        </p:spPr>
        <p:txBody>
          <a:bodyPr wrap="square" lIns="0" tIns="0" rIns="0" bIns="0" rtlCol="0" anchor="ctr"/>
          <a:lstStyle/>
          <a:p>
            <a:pPr marL="0" indent="0">
              <a:buNone/>
            </a:pPr>
            <a:r>
              <a:rPr lang="en-US" sz="1800" b="1" dirty="0">
                <a:solidFill>
                  <a:schemeClr val="tx2"/>
                </a:solidFill>
              </a:rPr>
              <a:t>Donnez un exemple</a:t>
            </a:r>
            <a:endParaRPr lang="en-US" sz="1800" dirty="0"/>
          </a:p>
        </p:txBody>
      </p:sp>
      <p:sp>
        <p:nvSpPr>
          <p:cNvPr id="8" name="txt-919"/>
          <p:cNvSpPr txBox="1"/>
          <p:nvPr/>
        </p:nvSpPr>
        <p:spPr>
          <a:xfrm>
            <a:off x="5120640" y="1737360"/>
            <a:ext cx="6309360" cy="960120"/>
          </a:xfrm>
          <a:prstGeom prst="rect">
            <a:avLst/>
          </a:prstGeom>
          <a:noFill/>
          <a:ln/>
        </p:spPr>
        <p:txBody>
          <a:bodyPr wrap="square" lIns="0" tIns="0" rIns="0" bIns="0" rtlCol="0" anchor="ctr"/>
          <a:lstStyle/>
          <a:p>
            <a:pPr marL="0" indent="0">
              <a:buNone/>
            </a:pPr>
            <a:r>
              <a:rPr lang="en-US" sz="1500" i="1" dirty="0">
                <a:solidFill>
                  <a:schemeClr val="tx1"/>
                </a:solidFill>
              </a:rPr>
              <a:t>« Voici un résumé que j'apprécie : […]. Écris dans ce style. »</a:t>
            </a:r>
            <a:endParaRPr lang="en-US" sz="1500" dirty="0"/>
          </a:p>
        </p:txBody>
      </p:sp>
      <p:sp>
        <p:nvSpPr>
          <p:cNvPr id="9" name="card-920"/>
          <p:cNvSpPr/>
          <p:nvPr/>
        </p:nvSpPr>
        <p:spPr>
          <a:xfrm>
            <a:off x="548640" y="3063240"/>
            <a:ext cx="11064240" cy="1234440"/>
          </a:xfrm>
          <a:prstGeom prst="roundRect">
            <a:avLst>
              <a:gd name="adj" fmla="val 5926"/>
            </a:avLst>
          </a:prstGeom>
          <a:solidFill>
            <a:schemeClr val="bg2"/>
          </a:solidFill>
          <a:ln w="6350">
            <a:solidFill>
              <a:schemeClr val="bg2"/>
            </a:solidFill>
            <a:prstDash val="solid"/>
          </a:ln>
        </p:spPr>
      </p:sp>
      <p:sp>
        <p:nvSpPr>
          <p:cNvPr id="10" name="circle-921"/>
          <p:cNvSpPr/>
          <p:nvPr/>
        </p:nvSpPr>
        <p:spPr>
          <a:xfrm>
            <a:off x="777240" y="3291840"/>
            <a:ext cx="777240" cy="777240"/>
          </a:xfrm>
          <a:prstGeom prst="ellipse">
            <a:avLst/>
          </a:prstGeom>
          <a:solidFill>
            <a:schemeClr val="accent6"/>
          </a:solidFill>
          <a:ln w="12700">
            <a:solidFill>
              <a:schemeClr val="accent6"/>
            </a:solidFill>
            <a:prstDash val="solid"/>
          </a:ln>
        </p:spPr>
      </p:sp>
      <p:pic>
        <p:nvPicPr>
          <p:cNvPr id="11" name="icon-922" descr="preencoded.png"/>
          <p:cNvPicPr>
            <a:picLocks noChangeAspect="1"/>
          </p:cNvPicPr>
          <p:nvPr/>
        </p:nvPicPr>
        <p:blipFill>
          <a:blip r:embed="rId4"/>
          <a:stretch>
            <a:fillRect/>
          </a:stretch>
        </p:blipFill>
        <p:spPr>
          <a:xfrm>
            <a:off x="971550" y="3486150"/>
            <a:ext cx="388620" cy="388620"/>
          </a:xfrm>
          <a:prstGeom prst="rect">
            <a:avLst/>
          </a:prstGeom>
        </p:spPr>
      </p:pic>
      <p:sp>
        <p:nvSpPr>
          <p:cNvPr id="12" name="txt-923"/>
          <p:cNvSpPr txBox="1"/>
          <p:nvPr/>
        </p:nvSpPr>
        <p:spPr>
          <a:xfrm>
            <a:off x="1783080" y="3200400"/>
            <a:ext cx="3291840" cy="960120"/>
          </a:xfrm>
          <a:prstGeom prst="rect">
            <a:avLst/>
          </a:prstGeom>
          <a:noFill/>
          <a:ln/>
        </p:spPr>
        <p:txBody>
          <a:bodyPr wrap="square" lIns="0" tIns="0" rIns="0" bIns="0" rtlCol="0" anchor="ctr"/>
          <a:lstStyle/>
          <a:p>
            <a:pPr marL="0" indent="0">
              <a:buNone/>
            </a:pPr>
            <a:r>
              <a:rPr lang="en-US" sz="1800" b="1" dirty="0">
                <a:solidFill>
                  <a:schemeClr val="tx2"/>
                </a:solidFill>
              </a:rPr>
              <a:t>Itérez</a:t>
            </a:r>
            <a:endParaRPr lang="en-US" sz="1800" dirty="0"/>
          </a:p>
        </p:txBody>
      </p:sp>
      <p:sp>
        <p:nvSpPr>
          <p:cNvPr id="13" name="txt-924"/>
          <p:cNvSpPr txBox="1"/>
          <p:nvPr/>
        </p:nvSpPr>
        <p:spPr>
          <a:xfrm>
            <a:off x="5120640" y="3200400"/>
            <a:ext cx="6309360" cy="960120"/>
          </a:xfrm>
          <a:prstGeom prst="rect">
            <a:avLst/>
          </a:prstGeom>
          <a:noFill/>
          <a:ln/>
        </p:spPr>
        <p:txBody>
          <a:bodyPr wrap="square" lIns="0" tIns="0" rIns="0" bIns="0" rtlCol="0" anchor="ctr"/>
          <a:lstStyle/>
          <a:p>
            <a:pPr marL="0" indent="0">
              <a:buNone/>
            </a:pPr>
            <a:r>
              <a:rPr lang="en-US" sz="1500" i="1" dirty="0">
                <a:solidFill>
                  <a:schemeClr val="tx1"/>
                </a:solidFill>
              </a:rPr>
              <a:t>« Plus court. Supprime le jargon. Renforce la conclusion. »</a:t>
            </a:r>
            <a:endParaRPr lang="en-US" sz="1500" dirty="0"/>
          </a:p>
        </p:txBody>
      </p:sp>
      <p:sp>
        <p:nvSpPr>
          <p:cNvPr id="14" name="card-925"/>
          <p:cNvSpPr/>
          <p:nvPr/>
        </p:nvSpPr>
        <p:spPr>
          <a:xfrm>
            <a:off x="548640" y="4526280"/>
            <a:ext cx="11064240" cy="1234440"/>
          </a:xfrm>
          <a:prstGeom prst="roundRect">
            <a:avLst>
              <a:gd name="adj" fmla="val 5926"/>
            </a:avLst>
          </a:prstGeom>
          <a:solidFill>
            <a:schemeClr val="bg2"/>
          </a:solidFill>
          <a:ln w="6350">
            <a:solidFill>
              <a:schemeClr val="bg2"/>
            </a:solidFill>
            <a:prstDash val="solid"/>
          </a:ln>
        </p:spPr>
      </p:sp>
      <p:sp>
        <p:nvSpPr>
          <p:cNvPr id="15" name="circle-926"/>
          <p:cNvSpPr/>
          <p:nvPr/>
        </p:nvSpPr>
        <p:spPr>
          <a:xfrm>
            <a:off x="777240" y="4754880"/>
            <a:ext cx="777240" cy="777240"/>
          </a:xfrm>
          <a:prstGeom prst="ellipse">
            <a:avLst/>
          </a:prstGeom>
          <a:solidFill>
            <a:schemeClr val="accent6"/>
          </a:solidFill>
          <a:ln w="12700">
            <a:solidFill>
              <a:schemeClr val="accent6"/>
            </a:solidFill>
            <a:prstDash val="solid"/>
          </a:ln>
        </p:spPr>
      </p:sp>
      <p:pic>
        <p:nvPicPr>
          <p:cNvPr id="16" name="icon-927" descr="preencoded.png"/>
          <p:cNvPicPr>
            <a:picLocks noChangeAspect="1"/>
          </p:cNvPicPr>
          <p:nvPr/>
        </p:nvPicPr>
        <p:blipFill>
          <a:blip r:embed="rId5"/>
          <a:stretch>
            <a:fillRect/>
          </a:stretch>
        </p:blipFill>
        <p:spPr>
          <a:xfrm>
            <a:off x="971550" y="4949190"/>
            <a:ext cx="388620" cy="388620"/>
          </a:xfrm>
          <a:prstGeom prst="rect">
            <a:avLst/>
          </a:prstGeom>
        </p:spPr>
      </p:pic>
      <p:sp>
        <p:nvSpPr>
          <p:cNvPr id="17" name="txt-928"/>
          <p:cNvSpPr txBox="1"/>
          <p:nvPr/>
        </p:nvSpPr>
        <p:spPr>
          <a:xfrm>
            <a:off x="1783080" y="4663440"/>
            <a:ext cx="3291840" cy="960120"/>
          </a:xfrm>
          <a:prstGeom prst="rect">
            <a:avLst/>
          </a:prstGeom>
          <a:noFill/>
          <a:ln/>
        </p:spPr>
        <p:txBody>
          <a:bodyPr wrap="square" lIns="0" tIns="0" rIns="0" bIns="0" rtlCol="0" anchor="ctr"/>
          <a:lstStyle/>
          <a:p>
            <a:pPr marL="0" indent="0">
              <a:buNone/>
            </a:pPr>
            <a:r>
              <a:rPr lang="en-US" sz="1800" b="1" dirty="0">
                <a:solidFill>
                  <a:schemeClr val="tx2"/>
                </a:solidFill>
              </a:rPr>
              <a:t>Faites-vous interroger</a:t>
            </a:r>
            <a:endParaRPr lang="en-US" sz="1800" dirty="0"/>
          </a:p>
        </p:txBody>
      </p:sp>
      <p:sp>
        <p:nvSpPr>
          <p:cNvPr id="18" name="txt-929"/>
          <p:cNvSpPr txBox="1"/>
          <p:nvPr/>
        </p:nvSpPr>
        <p:spPr>
          <a:xfrm>
            <a:off x="5120640" y="4663440"/>
            <a:ext cx="6309360" cy="960120"/>
          </a:xfrm>
          <a:prstGeom prst="rect">
            <a:avLst/>
          </a:prstGeom>
          <a:noFill/>
          <a:ln/>
        </p:spPr>
        <p:txBody>
          <a:bodyPr wrap="square" lIns="0" tIns="0" rIns="0" bIns="0" rtlCol="0" anchor="ctr"/>
          <a:lstStyle/>
          <a:p>
            <a:pPr marL="0" indent="0">
              <a:buNone/>
            </a:pPr>
            <a:r>
              <a:rPr lang="en-US" sz="1500" i="1" dirty="0">
                <a:solidFill>
                  <a:schemeClr val="tx1"/>
                </a:solidFill>
              </a:rPr>
              <a:t>« Avant de rédiger, pose-moi les questions dont tu as besoin. »</a:t>
            </a:r>
            <a:endParaRPr lang="en-US" sz="1500" dirty="0"/>
          </a:p>
        </p:txBody>
      </p:sp>
      <p:sp>
        <p:nvSpPr>
          <p:cNvPr id="25" name="Slide Number Placeholder 0"/>
          <p:cNvSpPr>
            <a:spLocks noGrp="1"/>
          </p:cNvSpPr>
          <p:nvPr>
            <p:ph type="sldNum" sz="quarter" idx="4294967295"/>
          </p:nvPr>
        </p:nvSpPr>
        <p:spPr>
          <a:xfrm>
            <a:off x="11064240" y="6400800"/>
            <a:ext cx="54864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C82"/>
                </a:solidFill>
                <a:latin typeface="Poppins"/>
                <a:ea typeface="Poppins"/>
                <a:cs typeface="Poppins"/>
              </a:defRPr>
            </a:lvl1pPr>
          </a:lstStyle>
          <a:p>
            <a:pPr algn="r"/>
            <a:fld id="{F7021451-1387-4CA6-816F-3879F97B5CBC}" type="slidenum">
              <a:rPr lang="en-US" b="0"/>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566928"/>
            <a:ext cx="11064240" cy="777240"/>
          </a:xfrm>
          <a:prstGeom prst="rect">
            <a:avLst/>
          </a:prstGeom>
          <a:noFill/>
          <a:ln/>
        </p:spPr>
        <p:txBody>
          <a:bodyPr wrap="square" lIns="0" tIns="0" rIns="0" bIns="0" rtlCol="0" anchor="ctr"/>
          <a:lstStyle/>
          <a:p>
            <a:pPr marL="0" indent="0" algn="l">
              <a:buNone/>
            </a:pPr>
            <a:r>
              <a:rPr lang="en-US" sz="2700" b="1" dirty="0">
                <a:solidFill>
                  <a:schemeClr val="tx2"/>
                </a:solidFill>
                <a:latin typeface="Poppins" pitchFamily="34" charset="0"/>
                <a:ea typeface="Poppins" pitchFamily="34" charset="-122"/>
                <a:cs typeface="Poppins" pitchFamily="34" charset="-120"/>
              </a:rPr>
              <a:t>L'IA, votre thèse et l'intégrité scientifique</a:t>
            </a:r>
            <a:endParaRPr lang="en-US" sz="2700" dirty="0"/>
          </a:p>
        </p:txBody>
      </p:sp>
      <p:sp>
        <p:nvSpPr>
          <p:cNvPr id="3" name="Text 0"/>
          <p:cNvSpPr>
            <a:spLocks noGrp="1"/>
          </p:cNvSpPr>
          <p:nvPr>
            <p:ph type="body" idx="101" hasCustomPrompt="1"/>
          </p:nvPr>
        </p:nvSpPr>
        <p:spPr>
          <a:xfrm>
            <a:off x="548640" y="256032"/>
            <a:ext cx="8229600" cy="292608"/>
          </a:xfrm>
          <a:prstGeom prst="rect">
            <a:avLst/>
          </a:prstGeom>
          <a:noFill/>
          <a:ln/>
        </p:spPr>
        <p:txBody>
          <a:bodyPr wrap="square" lIns="0" tIns="0" rIns="0" bIns="0" rtlCol="0" anchor="ctr"/>
          <a:lstStyle/>
          <a:p>
            <a:pPr marL="0" indent="0">
              <a:buNone/>
            </a:pPr>
            <a:r>
              <a:rPr lang="en-US" sz="1100" b="1" dirty="0">
                <a:solidFill>
                  <a:schemeClr val="accent1"/>
                </a:solidFill>
                <a:latin typeface="Poppins" pitchFamily="34" charset="0"/>
                <a:ea typeface="Poppins" pitchFamily="34" charset="-122"/>
                <a:cs typeface="Poppins" pitchFamily="34" charset="-120"/>
              </a:rPr>
              <a:t>T2 · L'ART DE BIEN DEMANDER</a:t>
            </a:r>
            <a:endParaRPr lang="en-US" sz="1100" dirty="0"/>
          </a:p>
        </p:txBody>
      </p:sp>
      <p:sp>
        <p:nvSpPr>
          <p:cNvPr id="4" name="card-930"/>
          <p:cNvSpPr/>
          <p:nvPr/>
        </p:nvSpPr>
        <p:spPr>
          <a:xfrm>
            <a:off x="548640" y="1600200"/>
            <a:ext cx="5440680" cy="1965960"/>
          </a:xfrm>
          <a:prstGeom prst="roundRect">
            <a:avLst>
              <a:gd name="adj" fmla="val 3721"/>
            </a:avLst>
          </a:prstGeom>
          <a:solidFill>
            <a:schemeClr val="bg2"/>
          </a:solidFill>
          <a:ln w="6350">
            <a:solidFill>
              <a:schemeClr val="bg2"/>
            </a:solidFill>
            <a:prstDash val="solid"/>
          </a:ln>
        </p:spPr>
      </p:sp>
      <p:sp>
        <p:nvSpPr>
          <p:cNvPr id="5" name="circle-931"/>
          <p:cNvSpPr/>
          <p:nvPr/>
        </p:nvSpPr>
        <p:spPr>
          <a:xfrm>
            <a:off x="822960" y="1920240"/>
            <a:ext cx="777240" cy="777240"/>
          </a:xfrm>
          <a:prstGeom prst="ellipse">
            <a:avLst/>
          </a:prstGeom>
          <a:solidFill>
            <a:schemeClr val="tx2"/>
          </a:solidFill>
          <a:ln w="12700">
            <a:solidFill>
              <a:schemeClr val="tx2"/>
            </a:solidFill>
            <a:prstDash val="solid"/>
          </a:ln>
        </p:spPr>
      </p:sp>
      <p:pic>
        <p:nvPicPr>
          <p:cNvPr id="6" name="icon-932" descr="preencoded.png"/>
          <p:cNvPicPr>
            <a:picLocks noChangeAspect="1"/>
          </p:cNvPicPr>
          <p:nvPr/>
        </p:nvPicPr>
        <p:blipFill>
          <a:blip r:embed="rId3"/>
          <a:stretch>
            <a:fillRect/>
          </a:stretch>
        </p:blipFill>
        <p:spPr>
          <a:xfrm>
            <a:off x="1017270" y="2114550"/>
            <a:ext cx="388620" cy="388620"/>
          </a:xfrm>
          <a:prstGeom prst="rect">
            <a:avLst/>
          </a:prstGeom>
        </p:spPr>
      </p:pic>
      <p:sp>
        <p:nvSpPr>
          <p:cNvPr id="7" name="txt-933"/>
          <p:cNvSpPr txBox="1"/>
          <p:nvPr/>
        </p:nvSpPr>
        <p:spPr>
          <a:xfrm>
            <a:off x="1828800" y="1874520"/>
            <a:ext cx="3977640" cy="502920"/>
          </a:xfrm>
          <a:prstGeom prst="rect">
            <a:avLst/>
          </a:prstGeom>
          <a:noFill/>
          <a:ln/>
        </p:spPr>
        <p:txBody>
          <a:bodyPr wrap="square" lIns="0" tIns="0" rIns="0" bIns="0" rtlCol="0" anchor="t"/>
          <a:lstStyle/>
          <a:p>
            <a:pPr marL="0" indent="0">
              <a:buNone/>
            </a:pPr>
            <a:r>
              <a:rPr lang="en-US" sz="1700" b="1" dirty="0">
                <a:solidFill>
                  <a:schemeClr val="tx2"/>
                </a:solidFill>
              </a:rPr>
              <a:t>L'IA n'est jamais auteure</a:t>
            </a:r>
            <a:endParaRPr lang="en-US" sz="1700" dirty="0"/>
          </a:p>
        </p:txBody>
      </p:sp>
      <p:sp>
        <p:nvSpPr>
          <p:cNvPr id="8" name="txt-934"/>
          <p:cNvSpPr txBox="1"/>
          <p:nvPr/>
        </p:nvSpPr>
        <p:spPr>
          <a:xfrm>
            <a:off x="1828800" y="2423160"/>
            <a:ext cx="3977640" cy="1005840"/>
          </a:xfrm>
          <a:prstGeom prst="rect">
            <a:avLst/>
          </a:prstGeom>
          <a:noFill/>
          <a:ln/>
        </p:spPr>
        <p:txBody>
          <a:bodyPr wrap="square" lIns="0" tIns="0" rIns="0" bIns="0" rtlCol="0" anchor="t"/>
          <a:lstStyle/>
          <a:p>
            <a:pPr marL="0" indent="0">
              <a:buNone/>
            </a:pPr>
            <a:r>
              <a:rPr lang="en-US" sz="1400" dirty="0">
                <a:solidFill>
                  <a:schemeClr val="tx1"/>
                </a:solidFill>
              </a:rPr>
              <a:t>Position du COPE et des grands éditeurs scientifiques</a:t>
            </a:r>
            <a:endParaRPr lang="en-US" sz="1400" dirty="0"/>
          </a:p>
        </p:txBody>
      </p:sp>
      <p:sp>
        <p:nvSpPr>
          <p:cNvPr id="9" name="card-935"/>
          <p:cNvSpPr/>
          <p:nvPr/>
        </p:nvSpPr>
        <p:spPr>
          <a:xfrm>
            <a:off x="6172200" y="1600200"/>
            <a:ext cx="5440680" cy="1965960"/>
          </a:xfrm>
          <a:prstGeom prst="roundRect">
            <a:avLst>
              <a:gd name="adj" fmla="val 3721"/>
            </a:avLst>
          </a:prstGeom>
          <a:solidFill>
            <a:schemeClr val="bg2"/>
          </a:solidFill>
          <a:ln w="6350">
            <a:solidFill>
              <a:schemeClr val="bg2"/>
            </a:solidFill>
            <a:prstDash val="solid"/>
          </a:ln>
        </p:spPr>
      </p:sp>
      <p:sp>
        <p:nvSpPr>
          <p:cNvPr id="10" name="circle-936"/>
          <p:cNvSpPr/>
          <p:nvPr/>
        </p:nvSpPr>
        <p:spPr>
          <a:xfrm>
            <a:off x="6446520" y="1920240"/>
            <a:ext cx="777240" cy="777240"/>
          </a:xfrm>
          <a:prstGeom prst="ellipse">
            <a:avLst/>
          </a:prstGeom>
          <a:solidFill>
            <a:schemeClr val="tx2"/>
          </a:solidFill>
          <a:ln w="12700">
            <a:solidFill>
              <a:schemeClr val="tx2"/>
            </a:solidFill>
            <a:prstDash val="solid"/>
          </a:ln>
        </p:spPr>
      </p:sp>
      <p:pic>
        <p:nvPicPr>
          <p:cNvPr id="11" name="icon-937" descr="preencoded.png"/>
          <p:cNvPicPr>
            <a:picLocks noChangeAspect="1"/>
          </p:cNvPicPr>
          <p:nvPr/>
        </p:nvPicPr>
        <p:blipFill>
          <a:blip r:embed="rId4"/>
          <a:stretch>
            <a:fillRect/>
          </a:stretch>
        </p:blipFill>
        <p:spPr>
          <a:xfrm>
            <a:off x="6640830" y="2114550"/>
            <a:ext cx="388620" cy="388620"/>
          </a:xfrm>
          <a:prstGeom prst="rect">
            <a:avLst/>
          </a:prstGeom>
        </p:spPr>
      </p:pic>
      <p:sp>
        <p:nvSpPr>
          <p:cNvPr id="12" name="txt-938"/>
          <p:cNvSpPr txBox="1"/>
          <p:nvPr/>
        </p:nvSpPr>
        <p:spPr>
          <a:xfrm>
            <a:off x="7452360" y="1874520"/>
            <a:ext cx="3977640" cy="502920"/>
          </a:xfrm>
          <a:prstGeom prst="rect">
            <a:avLst/>
          </a:prstGeom>
          <a:noFill/>
          <a:ln/>
        </p:spPr>
        <p:txBody>
          <a:bodyPr wrap="square" lIns="0" tIns="0" rIns="0" bIns="0" rtlCol="0" anchor="t"/>
          <a:lstStyle/>
          <a:p>
            <a:pPr marL="0" indent="0">
              <a:buNone/>
            </a:pPr>
            <a:r>
              <a:rPr lang="en-US" sz="1700" b="1" dirty="0">
                <a:solidFill>
                  <a:schemeClr val="tx2"/>
                </a:solidFill>
              </a:rPr>
              <a:t>Déclarez son usage</a:t>
            </a:r>
            <a:endParaRPr lang="en-US" sz="1700" dirty="0"/>
          </a:p>
        </p:txBody>
      </p:sp>
      <p:sp>
        <p:nvSpPr>
          <p:cNvPr id="13" name="txt-939"/>
          <p:cNvSpPr txBox="1"/>
          <p:nvPr/>
        </p:nvSpPr>
        <p:spPr>
          <a:xfrm>
            <a:off x="7452360" y="2423160"/>
            <a:ext cx="3977640" cy="1005840"/>
          </a:xfrm>
          <a:prstGeom prst="rect">
            <a:avLst/>
          </a:prstGeom>
          <a:noFill/>
          <a:ln/>
        </p:spPr>
        <p:txBody>
          <a:bodyPr wrap="square" lIns="0" tIns="0" rIns="0" bIns="0" rtlCol="0" anchor="t"/>
          <a:lstStyle/>
          <a:p>
            <a:pPr marL="0" indent="0">
              <a:buNone/>
            </a:pPr>
            <a:r>
              <a:rPr lang="en-US" sz="1400" dirty="0">
                <a:solidFill>
                  <a:schemeClr val="tx1"/>
                </a:solidFill>
              </a:rPr>
              <a:t>Thèse : méthodologie ou avant-propos. Article : selon la revue</a:t>
            </a:r>
            <a:endParaRPr lang="en-US" sz="1400" dirty="0"/>
          </a:p>
        </p:txBody>
      </p:sp>
      <p:sp>
        <p:nvSpPr>
          <p:cNvPr id="14" name="card-940"/>
          <p:cNvSpPr/>
          <p:nvPr/>
        </p:nvSpPr>
        <p:spPr>
          <a:xfrm>
            <a:off x="548640" y="3794760"/>
            <a:ext cx="5440680" cy="1965960"/>
          </a:xfrm>
          <a:prstGeom prst="roundRect">
            <a:avLst>
              <a:gd name="adj" fmla="val 3721"/>
            </a:avLst>
          </a:prstGeom>
          <a:solidFill>
            <a:schemeClr val="bg2"/>
          </a:solidFill>
          <a:ln w="6350">
            <a:solidFill>
              <a:schemeClr val="bg2"/>
            </a:solidFill>
            <a:prstDash val="solid"/>
          </a:ln>
        </p:spPr>
      </p:sp>
      <p:sp>
        <p:nvSpPr>
          <p:cNvPr id="15" name="circle-941"/>
          <p:cNvSpPr/>
          <p:nvPr/>
        </p:nvSpPr>
        <p:spPr>
          <a:xfrm>
            <a:off x="822960" y="4114800"/>
            <a:ext cx="777240" cy="777240"/>
          </a:xfrm>
          <a:prstGeom prst="ellipse">
            <a:avLst/>
          </a:prstGeom>
          <a:solidFill>
            <a:schemeClr val="tx2"/>
          </a:solidFill>
          <a:ln w="12700">
            <a:solidFill>
              <a:schemeClr val="tx2"/>
            </a:solidFill>
            <a:prstDash val="solid"/>
          </a:ln>
        </p:spPr>
      </p:sp>
      <p:pic>
        <p:nvPicPr>
          <p:cNvPr id="16" name="icon-942" descr="preencoded.png"/>
          <p:cNvPicPr>
            <a:picLocks noChangeAspect="1"/>
          </p:cNvPicPr>
          <p:nvPr/>
        </p:nvPicPr>
        <p:blipFill>
          <a:blip r:embed="rId5"/>
          <a:stretch>
            <a:fillRect/>
          </a:stretch>
        </p:blipFill>
        <p:spPr>
          <a:xfrm>
            <a:off x="1017270" y="4309110"/>
            <a:ext cx="388620" cy="388620"/>
          </a:xfrm>
          <a:prstGeom prst="rect">
            <a:avLst/>
          </a:prstGeom>
        </p:spPr>
      </p:pic>
      <p:sp>
        <p:nvSpPr>
          <p:cNvPr id="17" name="txt-943"/>
          <p:cNvSpPr txBox="1"/>
          <p:nvPr/>
        </p:nvSpPr>
        <p:spPr>
          <a:xfrm>
            <a:off x="1828800" y="4069080"/>
            <a:ext cx="3977640" cy="502920"/>
          </a:xfrm>
          <a:prstGeom prst="rect">
            <a:avLst/>
          </a:prstGeom>
          <a:noFill/>
          <a:ln/>
        </p:spPr>
        <p:txBody>
          <a:bodyPr wrap="square" lIns="0" tIns="0" rIns="0" bIns="0" rtlCol="0" anchor="t"/>
          <a:lstStyle/>
          <a:p>
            <a:pPr marL="0" indent="0">
              <a:buNone/>
            </a:pPr>
            <a:r>
              <a:rPr lang="en-US" sz="1700" b="1" dirty="0">
                <a:solidFill>
                  <a:schemeClr val="tx2"/>
                </a:solidFill>
              </a:rPr>
              <a:t>Vous restez responsable</a:t>
            </a:r>
            <a:endParaRPr lang="en-US" sz="1700" dirty="0"/>
          </a:p>
        </p:txBody>
      </p:sp>
      <p:sp>
        <p:nvSpPr>
          <p:cNvPr id="18" name="txt-944"/>
          <p:cNvSpPr txBox="1"/>
          <p:nvPr/>
        </p:nvSpPr>
        <p:spPr>
          <a:xfrm>
            <a:off x="1828800" y="4617720"/>
            <a:ext cx="3977640" cy="1005840"/>
          </a:xfrm>
          <a:prstGeom prst="rect">
            <a:avLst/>
          </a:prstGeom>
          <a:noFill/>
          <a:ln/>
        </p:spPr>
        <p:txBody>
          <a:bodyPr wrap="square" lIns="0" tIns="0" rIns="0" bIns="0" rtlCol="0" anchor="t"/>
          <a:lstStyle/>
          <a:p>
            <a:pPr marL="0" indent="0">
              <a:buNone/>
            </a:pPr>
            <a:r>
              <a:rPr lang="en-US" sz="1400" dirty="0">
                <a:solidFill>
                  <a:schemeClr val="tx1"/>
                </a:solidFill>
              </a:rPr>
              <a:t>Devant votre jury : chaque phrase, chaque chiffre, chaque référence</a:t>
            </a:r>
            <a:endParaRPr lang="en-US" sz="1400" dirty="0"/>
          </a:p>
        </p:txBody>
      </p:sp>
      <p:sp>
        <p:nvSpPr>
          <p:cNvPr id="19" name="card-945"/>
          <p:cNvSpPr/>
          <p:nvPr/>
        </p:nvSpPr>
        <p:spPr>
          <a:xfrm>
            <a:off x="6172200" y="3794760"/>
            <a:ext cx="5440680" cy="1965960"/>
          </a:xfrm>
          <a:prstGeom prst="roundRect">
            <a:avLst>
              <a:gd name="adj" fmla="val 3721"/>
            </a:avLst>
          </a:prstGeom>
          <a:solidFill>
            <a:schemeClr val="bg2"/>
          </a:solidFill>
          <a:ln w="6350">
            <a:solidFill>
              <a:schemeClr val="bg2"/>
            </a:solidFill>
            <a:prstDash val="solid"/>
          </a:ln>
        </p:spPr>
      </p:sp>
      <p:sp>
        <p:nvSpPr>
          <p:cNvPr id="20" name="circle-946"/>
          <p:cNvSpPr/>
          <p:nvPr/>
        </p:nvSpPr>
        <p:spPr>
          <a:xfrm>
            <a:off x="6446520" y="4114800"/>
            <a:ext cx="777240" cy="777240"/>
          </a:xfrm>
          <a:prstGeom prst="ellipse">
            <a:avLst/>
          </a:prstGeom>
          <a:solidFill>
            <a:schemeClr val="tx2"/>
          </a:solidFill>
          <a:ln w="12700">
            <a:solidFill>
              <a:schemeClr val="tx2"/>
            </a:solidFill>
            <a:prstDash val="solid"/>
          </a:ln>
        </p:spPr>
      </p:sp>
      <p:pic>
        <p:nvPicPr>
          <p:cNvPr id="21" name="icon-947" descr="preencoded.png"/>
          <p:cNvPicPr>
            <a:picLocks noChangeAspect="1"/>
          </p:cNvPicPr>
          <p:nvPr/>
        </p:nvPicPr>
        <p:blipFill>
          <a:blip r:embed="rId6"/>
          <a:stretch>
            <a:fillRect/>
          </a:stretch>
        </p:blipFill>
        <p:spPr>
          <a:xfrm>
            <a:off x="6640830" y="4309110"/>
            <a:ext cx="388620" cy="388620"/>
          </a:xfrm>
          <a:prstGeom prst="rect">
            <a:avLst/>
          </a:prstGeom>
        </p:spPr>
      </p:pic>
      <p:sp>
        <p:nvSpPr>
          <p:cNvPr id="22" name="txt-948"/>
          <p:cNvSpPr txBox="1"/>
          <p:nvPr/>
        </p:nvSpPr>
        <p:spPr>
          <a:xfrm>
            <a:off x="7452360" y="4069080"/>
            <a:ext cx="3977640" cy="502920"/>
          </a:xfrm>
          <a:prstGeom prst="rect">
            <a:avLst/>
          </a:prstGeom>
          <a:noFill/>
          <a:ln/>
        </p:spPr>
        <p:txBody>
          <a:bodyPr wrap="square" lIns="0" tIns="0" rIns="0" bIns="0" rtlCol="0" anchor="t"/>
          <a:lstStyle/>
          <a:p>
            <a:pPr marL="0" indent="0">
              <a:buNone/>
            </a:pPr>
            <a:r>
              <a:rPr lang="en-US" sz="1700" b="1" dirty="0">
                <a:solidFill>
                  <a:schemeClr val="tx2"/>
                </a:solidFill>
              </a:rPr>
              <a:t>Connaissez les règles</a:t>
            </a:r>
            <a:endParaRPr lang="en-US" sz="1700" dirty="0"/>
          </a:p>
        </p:txBody>
      </p:sp>
      <p:sp>
        <p:nvSpPr>
          <p:cNvPr id="23" name="txt-949"/>
          <p:cNvSpPr txBox="1"/>
          <p:nvPr/>
        </p:nvSpPr>
        <p:spPr>
          <a:xfrm>
            <a:off x="7452360" y="4617720"/>
            <a:ext cx="3977640" cy="1005840"/>
          </a:xfrm>
          <a:prstGeom prst="rect">
            <a:avLst/>
          </a:prstGeom>
          <a:noFill/>
          <a:ln/>
        </p:spPr>
        <p:txBody>
          <a:bodyPr wrap="square" lIns="0" tIns="0" rIns="0" bIns="0" rtlCol="0" anchor="t"/>
          <a:lstStyle/>
          <a:p>
            <a:pPr marL="0" indent="0">
              <a:buNone/>
            </a:pPr>
            <a:r>
              <a:rPr lang="en-US" sz="1400" dirty="0">
                <a:solidFill>
                  <a:schemeClr val="tx1"/>
                </a:solidFill>
              </a:rPr>
              <a:t>École doctorale, revue, direction de thèse : parlez-en avant d'utiliser</a:t>
            </a:r>
            <a:endParaRPr lang="en-US" sz="1400" dirty="0"/>
          </a:p>
        </p:txBody>
      </p:sp>
      <p:sp>
        <p:nvSpPr>
          <p:cNvPr id="25" name="Slide Number Placeholder 0"/>
          <p:cNvSpPr>
            <a:spLocks noGrp="1"/>
          </p:cNvSpPr>
          <p:nvPr>
            <p:ph type="sldNum" sz="quarter" idx="4294967295"/>
          </p:nvPr>
        </p:nvSpPr>
        <p:spPr>
          <a:xfrm>
            <a:off x="11064240" y="6400800"/>
            <a:ext cx="54864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C82"/>
                </a:solidFill>
                <a:latin typeface="Poppins"/>
                <a:ea typeface="Poppins"/>
                <a:cs typeface="Poppins"/>
              </a:defRPr>
            </a:lvl1pPr>
          </a:lstStyle>
          <a:p>
            <a:pPr algn="r"/>
            <a:fld id="{F7021451-1387-4CA6-816F-3879F97B5CBC}" type="slidenum">
              <a:rPr lang="en-US" b="0"/>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566928"/>
            <a:ext cx="11064240" cy="777240"/>
          </a:xfrm>
          <a:prstGeom prst="rect">
            <a:avLst/>
          </a:prstGeom>
          <a:noFill/>
          <a:ln/>
        </p:spPr>
        <p:txBody>
          <a:bodyPr wrap="square" lIns="0" tIns="0" rIns="0" bIns="0" rtlCol="0" anchor="ctr"/>
          <a:lstStyle/>
          <a:p>
            <a:pPr marL="0" indent="0" algn="l">
              <a:buNone/>
            </a:pPr>
            <a:r>
              <a:rPr lang="en-US" sz="2700" b="1" dirty="0">
                <a:solidFill>
                  <a:schemeClr val="tx2"/>
                </a:solidFill>
                <a:latin typeface="Poppins" pitchFamily="34" charset="0"/>
                <a:ea typeface="Poppins" pitchFamily="34" charset="-122"/>
                <a:cs typeface="Poppins" pitchFamily="34" charset="-120"/>
              </a:rPr>
              <a:t>Vidéos : bien rédiger un prompt</a:t>
            </a:r>
            <a:endParaRPr lang="en-US" sz="2700" dirty="0"/>
          </a:p>
        </p:txBody>
      </p:sp>
      <p:sp>
        <p:nvSpPr>
          <p:cNvPr id="3" name="Text 0"/>
          <p:cNvSpPr>
            <a:spLocks noGrp="1"/>
          </p:cNvSpPr>
          <p:nvPr>
            <p:ph type="body" idx="101" hasCustomPrompt="1"/>
          </p:nvPr>
        </p:nvSpPr>
        <p:spPr>
          <a:xfrm>
            <a:off x="548640" y="256032"/>
            <a:ext cx="8229600" cy="292608"/>
          </a:xfrm>
          <a:prstGeom prst="rect">
            <a:avLst/>
          </a:prstGeom>
          <a:noFill/>
          <a:ln/>
        </p:spPr>
        <p:txBody>
          <a:bodyPr wrap="square" lIns="0" tIns="0" rIns="0" bIns="0" rtlCol="0" anchor="ctr"/>
          <a:lstStyle/>
          <a:p>
            <a:pPr marL="0" indent="0">
              <a:buNone/>
            </a:pPr>
            <a:r>
              <a:rPr lang="en-US" sz="1100" b="1" dirty="0">
                <a:solidFill>
                  <a:schemeClr val="accent1"/>
                </a:solidFill>
                <a:latin typeface="Poppins" pitchFamily="34" charset="0"/>
                <a:ea typeface="Poppins" pitchFamily="34" charset="-122"/>
                <a:cs typeface="Poppins" pitchFamily="34" charset="-120"/>
              </a:rPr>
              <a:t>T2 · POUR ALLER PLUS LOIN</a:t>
            </a:r>
            <a:endParaRPr lang="en-US" sz="1100" dirty="0"/>
          </a:p>
        </p:txBody>
      </p:sp>
      <p:sp>
        <p:nvSpPr>
          <p:cNvPr id="4" name="card-950"/>
          <p:cNvSpPr/>
          <p:nvPr/>
        </p:nvSpPr>
        <p:spPr>
          <a:xfrm>
            <a:off x="548640" y="1600200"/>
            <a:ext cx="5440680" cy="1298448"/>
          </a:xfrm>
          <a:prstGeom prst="roundRect">
            <a:avLst>
              <a:gd name="adj" fmla="val 5634"/>
            </a:avLst>
          </a:prstGeom>
          <a:solidFill>
            <a:schemeClr val="bg2"/>
          </a:solidFill>
          <a:ln w="6350">
            <a:solidFill>
              <a:schemeClr val="bg2"/>
            </a:solidFill>
            <a:prstDash val="solid"/>
          </a:ln>
        </p:spPr>
      </p:sp>
      <p:sp>
        <p:nvSpPr>
          <p:cNvPr id="5" name="play-951"/>
          <p:cNvSpPr/>
          <p:nvPr/>
        </p:nvSpPr>
        <p:spPr>
          <a:xfrm>
            <a:off x="777240" y="1901952"/>
            <a:ext cx="685800" cy="685800"/>
          </a:xfrm>
          <a:prstGeom prst="ellipse">
            <a:avLst/>
          </a:prstGeom>
          <a:solidFill>
            <a:schemeClr val="accent3"/>
          </a:solidFill>
          <a:ln w="12700">
            <a:solidFill>
              <a:schemeClr val="accent3"/>
            </a:solidFill>
            <a:prstDash val="solid"/>
          </a:ln>
        </p:spPr>
      </p:sp>
      <p:sp>
        <p:nvSpPr>
          <p:cNvPr id="6" name="tri-952"/>
          <p:cNvSpPr/>
          <p:nvPr/>
        </p:nvSpPr>
        <p:spPr>
          <a:xfrm rot="5400000">
            <a:off x="1024128" y="2075688"/>
            <a:ext cx="274320" cy="329184"/>
          </a:xfrm>
          <a:prstGeom prst="triangle">
            <a:avLst/>
          </a:prstGeom>
          <a:solidFill>
            <a:schemeClr val="bg1"/>
          </a:solidFill>
          <a:ln w="12700">
            <a:solidFill>
              <a:schemeClr val="bg1"/>
            </a:solidFill>
            <a:prstDash val="solid"/>
          </a:ln>
        </p:spPr>
      </p:sp>
      <p:sp>
        <p:nvSpPr>
          <p:cNvPr id="7" name="txt-953"/>
          <p:cNvSpPr txBox="1"/>
          <p:nvPr/>
        </p:nvSpPr>
        <p:spPr>
          <a:xfrm>
            <a:off x="1645920" y="1709928"/>
            <a:ext cx="4206240" cy="566928"/>
          </a:xfrm>
          <a:prstGeom prst="rect">
            <a:avLst/>
          </a:prstGeom>
          <a:noFill/>
          <a:ln/>
        </p:spPr>
        <p:txBody>
          <a:bodyPr wrap="square" lIns="0" tIns="0" rIns="0" bIns="0" rtlCol="0" anchor="ctr"/>
          <a:lstStyle/>
          <a:p>
            <a:pPr marL="0" indent="0">
              <a:buNone/>
            </a:pPr>
            <a:r>
              <a:rPr lang="en-US" sz="1300" b="1" dirty="0">
                <a:solidFill>
                  <a:schemeClr val="tx2"/>
                </a:solidFill>
              </a:rPr>
              <a:t>IA : comment faire un prompt efficace ?</a:t>
            </a:r>
            <a:endParaRPr lang="en-US" sz="1300" dirty="0"/>
          </a:p>
        </p:txBody>
      </p:sp>
      <p:sp>
        <p:nvSpPr>
          <p:cNvPr id="8" name="txt-954"/>
          <p:cNvSpPr txBox="1"/>
          <p:nvPr/>
        </p:nvSpPr>
        <p:spPr>
          <a:xfrm>
            <a:off x="1645920" y="2276856"/>
            <a:ext cx="4206240" cy="256032"/>
          </a:xfrm>
          <a:prstGeom prst="rect">
            <a:avLst/>
          </a:prstGeom>
          <a:noFill/>
          <a:ln/>
        </p:spPr>
        <p:txBody>
          <a:bodyPr wrap="square" lIns="0" tIns="0" rIns="0" bIns="0" rtlCol="0" anchor="t"/>
          <a:lstStyle/>
          <a:p>
            <a:pPr marL="0" indent="0">
              <a:buNone/>
            </a:pPr>
            <a:r>
              <a:rPr lang="en-US" sz="1100" dirty="0">
                <a:solidFill>
                  <a:schemeClr val="accent5"/>
                </a:solidFill>
              </a:rPr>
              <a:t>Microsoft ExpertZone France · 5 min</a:t>
            </a:r>
            <a:endParaRPr lang="en-US" sz="1100" dirty="0"/>
          </a:p>
        </p:txBody>
      </p:sp>
      <p:sp>
        <p:nvSpPr>
          <p:cNvPr id="9" name="txt-955"/>
          <p:cNvSpPr txBox="1"/>
          <p:nvPr/>
        </p:nvSpPr>
        <p:spPr>
          <a:xfrm>
            <a:off x="1645920" y="2532888"/>
            <a:ext cx="4206240" cy="256032"/>
          </a:xfrm>
          <a:prstGeom prst="rect">
            <a:avLst/>
          </a:prstGeom>
          <a:noFill/>
          <a:ln/>
        </p:spPr>
        <p:txBody>
          <a:bodyPr wrap="square" lIns="0" tIns="0" rIns="0" bIns="0" rtlCol="0" anchor="t"/>
          <a:lstStyle/>
          <a:p>
            <a:pPr marL="0" indent="0">
              <a:buNone/>
            </a:pPr>
            <a:r>
              <a:rPr lang="en-US" sz="1100" b="1" u="sng" dirty="0">
                <a:solidFill>
                  <a:schemeClr val="accent6"/>
                </a:solidFill>
                <a:hlinkClick r:id="rId3" tooltip="IA : comment faire un prompt efficace ?">
                  <a:extLst>
                    <a:ext uri="{A12FA001-AC4F-418D-AE19-62706E023703}">
                      <ahyp:hlinkClr xmlns:ahyp="http://schemas.microsoft.com/office/drawing/2018/hyperlinkcolor" val="tx"/>
                    </a:ext>
                  </a:extLst>
                </a:hlinkClick>
              </a:rPr>
              <a:t>youtu.be/ulvp6w7y8UY</a:t>
            </a:r>
            <a:endParaRPr lang="en-US" sz="1100" dirty="0"/>
          </a:p>
        </p:txBody>
      </p:sp>
      <p:sp>
        <p:nvSpPr>
          <p:cNvPr id="10" name="card-956"/>
          <p:cNvSpPr/>
          <p:nvPr/>
        </p:nvSpPr>
        <p:spPr>
          <a:xfrm>
            <a:off x="6172200" y="1600200"/>
            <a:ext cx="5440680" cy="1298448"/>
          </a:xfrm>
          <a:prstGeom prst="roundRect">
            <a:avLst>
              <a:gd name="adj" fmla="val 5634"/>
            </a:avLst>
          </a:prstGeom>
          <a:solidFill>
            <a:schemeClr val="bg2"/>
          </a:solidFill>
          <a:ln w="6350">
            <a:solidFill>
              <a:schemeClr val="bg2"/>
            </a:solidFill>
            <a:prstDash val="solid"/>
          </a:ln>
        </p:spPr>
      </p:sp>
      <p:sp>
        <p:nvSpPr>
          <p:cNvPr id="11" name="play-957"/>
          <p:cNvSpPr/>
          <p:nvPr/>
        </p:nvSpPr>
        <p:spPr>
          <a:xfrm>
            <a:off x="6400800" y="1901952"/>
            <a:ext cx="685800" cy="685800"/>
          </a:xfrm>
          <a:prstGeom prst="ellipse">
            <a:avLst/>
          </a:prstGeom>
          <a:solidFill>
            <a:schemeClr val="accent3"/>
          </a:solidFill>
          <a:ln w="12700">
            <a:solidFill>
              <a:schemeClr val="accent3"/>
            </a:solidFill>
            <a:prstDash val="solid"/>
          </a:ln>
        </p:spPr>
      </p:sp>
      <p:sp>
        <p:nvSpPr>
          <p:cNvPr id="12" name="tri-958"/>
          <p:cNvSpPr/>
          <p:nvPr/>
        </p:nvSpPr>
        <p:spPr>
          <a:xfrm rot="5400000">
            <a:off x="6647688" y="2075688"/>
            <a:ext cx="274320" cy="329184"/>
          </a:xfrm>
          <a:prstGeom prst="triangle">
            <a:avLst/>
          </a:prstGeom>
          <a:solidFill>
            <a:schemeClr val="bg1"/>
          </a:solidFill>
          <a:ln w="12700">
            <a:solidFill>
              <a:schemeClr val="bg1"/>
            </a:solidFill>
            <a:prstDash val="solid"/>
          </a:ln>
        </p:spPr>
      </p:sp>
      <p:sp>
        <p:nvSpPr>
          <p:cNvPr id="13" name="txt-959"/>
          <p:cNvSpPr txBox="1"/>
          <p:nvPr/>
        </p:nvSpPr>
        <p:spPr>
          <a:xfrm>
            <a:off x="7269480" y="1709928"/>
            <a:ext cx="4206240" cy="566928"/>
          </a:xfrm>
          <a:prstGeom prst="rect">
            <a:avLst/>
          </a:prstGeom>
          <a:noFill/>
          <a:ln/>
        </p:spPr>
        <p:txBody>
          <a:bodyPr wrap="square" lIns="0" tIns="0" rIns="0" bIns="0" rtlCol="0" anchor="ctr"/>
          <a:lstStyle/>
          <a:p>
            <a:pPr marL="0" indent="0">
              <a:buNone/>
            </a:pPr>
            <a:r>
              <a:rPr lang="en-US" sz="1300" b="1" dirty="0">
                <a:solidFill>
                  <a:schemeClr val="tx2"/>
                </a:solidFill>
              </a:rPr>
              <a:t>Comment rédiger un bon prompt</a:t>
            </a:r>
            <a:endParaRPr lang="en-US" sz="1300" dirty="0"/>
          </a:p>
        </p:txBody>
      </p:sp>
      <p:sp>
        <p:nvSpPr>
          <p:cNvPr id="14" name="txt-960"/>
          <p:cNvSpPr txBox="1"/>
          <p:nvPr/>
        </p:nvSpPr>
        <p:spPr>
          <a:xfrm>
            <a:off x="7269480" y="2276856"/>
            <a:ext cx="4206240" cy="256032"/>
          </a:xfrm>
          <a:prstGeom prst="rect">
            <a:avLst/>
          </a:prstGeom>
          <a:noFill/>
          <a:ln/>
        </p:spPr>
        <p:txBody>
          <a:bodyPr wrap="square" lIns="0" tIns="0" rIns="0" bIns="0" rtlCol="0" anchor="t"/>
          <a:lstStyle/>
          <a:p>
            <a:pPr marL="0" indent="0">
              <a:buNone/>
            </a:pPr>
            <a:r>
              <a:rPr lang="en-US" sz="1100" dirty="0">
                <a:solidFill>
                  <a:schemeClr val="accent5"/>
                </a:solidFill>
              </a:rPr>
              <a:t>Ludo Salenne · 32 min</a:t>
            </a:r>
            <a:endParaRPr lang="en-US" sz="1100" dirty="0"/>
          </a:p>
        </p:txBody>
      </p:sp>
      <p:sp>
        <p:nvSpPr>
          <p:cNvPr id="15" name="txt-961"/>
          <p:cNvSpPr txBox="1"/>
          <p:nvPr/>
        </p:nvSpPr>
        <p:spPr>
          <a:xfrm>
            <a:off x="7269480" y="2532888"/>
            <a:ext cx="4206240" cy="256032"/>
          </a:xfrm>
          <a:prstGeom prst="rect">
            <a:avLst/>
          </a:prstGeom>
          <a:noFill/>
          <a:ln/>
        </p:spPr>
        <p:txBody>
          <a:bodyPr wrap="square" lIns="0" tIns="0" rIns="0" bIns="0" rtlCol="0" anchor="t"/>
          <a:lstStyle/>
          <a:p>
            <a:pPr marL="0" indent="0">
              <a:buNone/>
            </a:pPr>
            <a:r>
              <a:rPr lang="en-US" sz="1100" b="1" u="sng" dirty="0">
                <a:solidFill>
                  <a:schemeClr val="accent6"/>
                </a:solidFill>
                <a:hlinkClick r:id="rId4" tooltip="Comment rédiger un bon prompt">
                  <a:extLst>
                    <a:ext uri="{A12FA001-AC4F-418D-AE19-62706E023703}">
                      <ahyp:hlinkClr xmlns:ahyp="http://schemas.microsoft.com/office/drawing/2018/hyperlinkcolor" val="tx"/>
                    </a:ext>
                  </a:extLst>
                </a:hlinkClick>
              </a:rPr>
              <a:t>youtu.be/KtRCp6LpF3U</a:t>
            </a:r>
            <a:endParaRPr lang="en-US" sz="1100" dirty="0"/>
          </a:p>
        </p:txBody>
      </p:sp>
      <p:sp>
        <p:nvSpPr>
          <p:cNvPr id="16" name="txt-962"/>
          <p:cNvSpPr txBox="1"/>
          <p:nvPr/>
        </p:nvSpPr>
        <p:spPr>
          <a:xfrm>
            <a:off x="548640" y="6053328"/>
            <a:ext cx="11064240" cy="256032"/>
          </a:xfrm>
          <a:prstGeom prst="rect">
            <a:avLst/>
          </a:prstGeom>
          <a:noFill/>
          <a:ln/>
        </p:spPr>
        <p:txBody>
          <a:bodyPr wrap="square" lIns="0" tIns="0" rIns="0" bIns="0" rtlCol="0" anchor="t"/>
          <a:lstStyle/>
          <a:p>
            <a:pPr marL="0" indent="0">
              <a:buNone/>
            </a:pPr>
            <a:r>
              <a:rPr lang="en-US" sz="1000" i="1" dirty="0">
                <a:solidFill>
                  <a:schemeClr val="accent5"/>
                </a:solidFill>
              </a:rPr>
              <a:t>Vidéos en français vérifiées en octobre 2026. Liens cliquables en mode diaporama.</a:t>
            </a:r>
            <a:endParaRPr lang="en-US" sz="1000" dirty="0"/>
          </a:p>
        </p:txBody>
      </p:sp>
      <p:sp>
        <p:nvSpPr>
          <p:cNvPr id="25" name="Slide Number Placeholder 0"/>
          <p:cNvSpPr>
            <a:spLocks noGrp="1"/>
          </p:cNvSpPr>
          <p:nvPr>
            <p:ph type="sldNum" sz="quarter" idx="4294967295"/>
          </p:nvPr>
        </p:nvSpPr>
        <p:spPr>
          <a:xfrm>
            <a:off x="11064240" y="6400800"/>
            <a:ext cx="54864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C82"/>
                </a:solidFill>
                <a:latin typeface="Poppins"/>
                <a:ea typeface="Poppins"/>
                <a:cs typeface="Poppins"/>
              </a:defRPr>
            </a:lvl1pPr>
          </a:lstStyle>
          <a:p>
            <a:pPr algn="r"/>
            <a:fld id="{F7021451-1387-4CA6-816F-3879F97B5CBC}" type="slidenum">
              <a:rPr lang="en-US" b="0"/>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566928"/>
            <a:ext cx="11064240" cy="777240"/>
          </a:xfrm>
          <a:prstGeom prst="rect">
            <a:avLst/>
          </a:prstGeom>
          <a:noFill/>
          <a:ln/>
        </p:spPr>
        <p:txBody>
          <a:bodyPr wrap="square" lIns="0" tIns="0" rIns="0" bIns="0" rtlCol="0" anchor="ctr"/>
          <a:lstStyle/>
          <a:p>
            <a:pPr marL="0" indent="0" algn="l">
              <a:buNone/>
            </a:pPr>
            <a:r>
              <a:rPr lang="en-US" sz="2700" b="1" dirty="0">
                <a:solidFill>
                  <a:schemeClr val="tx2"/>
                </a:solidFill>
                <a:latin typeface="Poppins" pitchFamily="34" charset="0"/>
                <a:ea typeface="Poppins" pitchFamily="34" charset="-122"/>
                <a:cs typeface="Poppins" pitchFamily="34" charset="-120"/>
              </a:rPr>
              <a:t>Lab 1 · Rédaction scientifique</a:t>
            </a:r>
            <a:endParaRPr lang="en-US" sz="2700" dirty="0"/>
          </a:p>
        </p:txBody>
      </p:sp>
      <p:sp>
        <p:nvSpPr>
          <p:cNvPr id="3" name="Text 0"/>
          <p:cNvSpPr>
            <a:spLocks noGrp="1"/>
          </p:cNvSpPr>
          <p:nvPr>
            <p:ph type="body" idx="101" hasCustomPrompt="1"/>
          </p:nvPr>
        </p:nvSpPr>
        <p:spPr>
          <a:xfrm>
            <a:off x="548640" y="256032"/>
            <a:ext cx="8229600" cy="292608"/>
          </a:xfrm>
          <a:prstGeom prst="rect">
            <a:avLst/>
          </a:prstGeom>
          <a:noFill/>
          <a:ln/>
        </p:spPr>
        <p:txBody>
          <a:bodyPr wrap="square" lIns="0" tIns="0" rIns="0" bIns="0" rtlCol="0" anchor="ctr"/>
          <a:lstStyle/>
          <a:p>
            <a:pPr marL="0" indent="0">
              <a:buNone/>
            </a:pPr>
            <a:r>
              <a:rPr lang="en-US" sz="1100" b="1" dirty="0">
                <a:solidFill>
                  <a:schemeClr val="accent1"/>
                </a:solidFill>
                <a:latin typeface="Poppins" pitchFamily="34" charset="0"/>
                <a:ea typeface="Poppins" pitchFamily="34" charset="-122"/>
                <a:cs typeface="Poppins" pitchFamily="34" charset="-120"/>
              </a:rPr>
              <a:t>LAB 1 · 45 MIN</a:t>
            </a:r>
            <a:endParaRPr lang="en-US" sz="1100" dirty="0"/>
          </a:p>
        </p:txBody>
      </p:sp>
      <p:sp>
        <p:nvSpPr>
          <p:cNvPr id="4" name="card-963"/>
          <p:cNvSpPr/>
          <p:nvPr/>
        </p:nvSpPr>
        <p:spPr>
          <a:xfrm>
            <a:off x="10195560" y="640080"/>
            <a:ext cx="1417320" cy="502920"/>
          </a:xfrm>
          <a:prstGeom prst="roundRect">
            <a:avLst>
              <a:gd name="adj" fmla="val 14545"/>
            </a:avLst>
          </a:prstGeom>
          <a:solidFill>
            <a:schemeClr val="accent1"/>
          </a:solidFill>
          <a:ln w="6350">
            <a:solidFill>
              <a:schemeClr val="accent1"/>
            </a:solidFill>
            <a:prstDash val="solid"/>
          </a:ln>
        </p:spPr>
      </p:sp>
      <p:sp>
        <p:nvSpPr>
          <p:cNvPr id="5" name="txt-964"/>
          <p:cNvSpPr txBox="1"/>
          <p:nvPr/>
        </p:nvSpPr>
        <p:spPr>
          <a:xfrm>
            <a:off x="10195560" y="640080"/>
            <a:ext cx="1417320" cy="502920"/>
          </a:xfrm>
          <a:prstGeom prst="rect">
            <a:avLst/>
          </a:prstGeom>
          <a:noFill/>
          <a:ln/>
        </p:spPr>
        <p:txBody>
          <a:bodyPr wrap="square" lIns="0" tIns="0" rIns="0" bIns="0" rtlCol="0" anchor="ctr"/>
          <a:lstStyle/>
          <a:p>
            <a:pPr marL="0" indent="0" algn="ctr">
              <a:buNone/>
            </a:pPr>
            <a:r>
              <a:rPr lang="en-US" sz="1600" b="1" dirty="0">
                <a:solidFill>
                  <a:schemeClr val="tx2"/>
                </a:solidFill>
              </a:rPr>
              <a:t>45 min</a:t>
            </a:r>
            <a:endParaRPr lang="en-US" sz="1600" dirty="0"/>
          </a:p>
        </p:txBody>
      </p:sp>
      <p:sp>
        <p:nvSpPr>
          <p:cNvPr id="6" name="num-965"/>
          <p:cNvSpPr/>
          <p:nvPr/>
        </p:nvSpPr>
        <p:spPr>
          <a:xfrm>
            <a:off x="548640" y="1572768"/>
            <a:ext cx="420624" cy="420624"/>
          </a:xfrm>
          <a:prstGeom prst="ellipse">
            <a:avLst/>
          </a:prstGeom>
          <a:solidFill>
            <a:schemeClr val="tx2"/>
          </a:solidFill>
          <a:ln w="12700">
            <a:solidFill>
              <a:schemeClr val="tx2"/>
            </a:solidFill>
            <a:prstDash val="solid"/>
          </a:ln>
        </p:spPr>
      </p:sp>
      <p:sp>
        <p:nvSpPr>
          <p:cNvPr id="7" name="txt-966"/>
          <p:cNvSpPr txBox="1"/>
          <p:nvPr/>
        </p:nvSpPr>
        <p:spPr>
          <a:xfrm>
            <a:off x="548640" y="1572768"/>
            <a:ext cx="420624" cy="420624"/>
          </a:xfrm>
          <a:prstGeom prst="rect">
            <a:avLst/>
          </a:prstGeom>
          <a:no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8" name="txt-967"/>
          <p:cNvSpPr txBox="1"/>
          <p:nvPr/>
        </p:nvSpPr>
        <p:spPr>
          <a:xfrm>
            <a:off x="1115568" y="1481328"/>
            <a:ext cx="5212080" cy="603504"/>
          </a:xfrm>
          <a:prstGeom prst="rect">
            <a:avLst/>
          </a:prstGeom>
          <a:noFill/>
          <a:ln/>
        </p:spPr>
        <p:txBody>
          <a:bodyPr wrap="square" lIns="0" tIns="0" rIns="0" bIns="0" rtlCol="0" anchor="ctr"/>
          <a:lstStyle/>
          <a:p>
            <a:pPr marL="0" indent="0">
              <a:buNone/>
            </a:pPr>
            <a:r>
              <a:rPr lang="en-US" sz="1400" dirty="0">
                <a:solidFill>
                  <a:schemeClr val="tx1"/>
                </a:solidFill>
              </a:rPr>
              <a:t>Ouvrez votre résumé de thèse ou un paragraphe de votre état de l'art (sinon, le résumé fictif du pack commun)</a:t>
            </a:r>
            <a:endParaRPr lang="en-US" sz="1400" dirty="0"/>
          </a:p>
        </p:txBody>
      </p:sp>
      <p:sp>
        <p:nvSpPr>
          <p:cNvPr id="9" name="num-968"/>
          <p:cNvSpPr/>
          <p:nvPr/>
        </p:nvSpPr>
        <p:spPr>
          <a:xfrm>
            <a:off x="548640" y="2212848"/>
            <a:ext cx="420624" cy="420624"/>
          </a:xfrm>
          <a:prstGeom prst="ellipse">
            <a:avLst/>
          </a:prstGeom>
          <a:solidFill>
            <a:schemeClr val="tx2"/>
          </a:solidFill>
          <a:ln w="12700">
            <a:solidFill>
              <a:schemeClr val="tx2"/>
            </a:solidFill>
            <a:prstDash val="solid"/>
          </a:ln>
        </p:spPr>
      </p:sp>
      <p:sp>
        <p:nvSpPr>
          <p:cNvPr id="10" name="txt-969"/>
          <p:cNvSpPr txBox="1"/>
          <p:nvPr/>
        </p:nvSpPr>
        <p:spPr>
          <a:xfrm>
            <a:off x="548640" y="2212848"/>
            <a:ext cx="420624" cy="420624"/>
          </a:xfrm>
          <a:prstGeom prst="rect">
            <a:avLst/>
          </a:prstGeom>
          <a:no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11" name="txt-970"/>
          <p:cNvSpPr txBox="1"/>
          <p:nvPr/>
        </p:nvSpPr>
        <p:spPr>
          <a:xfrm>
            <a:off x="1115568" y="2121408"/>
            <a:ext cx="5212080" cy="603504"/>
          </a:xfrm>
          <a:prstGeom prst="rect">
            <a:avLst/>
          </a:prstGeom>
          <a:noFill/>
          <a:ln/>
        </p:spPr>
        <p:txBody>
          <a:bodyPr wrap="square" lIns="0" tIns="0" rIns="0" bIns="0" rtlCol="0" anchor="ctr"/>
          <a:lstStyle/>
          <a:p>
            <a:pPr marL="0" indent="0">
              <a:buNone/>
            </a:pPr>
            <a:r>
              <a:rPr lang="en-US" sz="1400" dirty="0">
                <a:solidFill>
                  <a:schemeClr val="tx1"/>
                </a:solidFill>
              </a:rPr>
              <a:t>Rédigez un prompt R-C-T-F + règles pour obtenir un résumé de 250 mots</a:t>
            </a:r>
            <a:endParaRPr lang="en-US" sz="1400" dirty="0"/>
          </a:p>
        </p:txBody>
      </p:sp>
      <p:sp>
        <p:nvSpPr>
          <p:cNvPr id="12" name="num-971"/>
          <p:cNvSpPr/>
          <p:nvPr/>
        </p:nvSpPr>
        <p:spPr>
          <a:xfrm>
            <a:off x="548640" y="2852928"/>
            <a:ext cx="420624" cy="420624"/>
          </a:xfrm>
          <a:prstGeom prst="ellipse">
            <a:avLst/>
          </a:prstGeom>
          <a:solidFill>
            <a:schemeClr val="tx2"/>
          </a:solidFill>
          <a:ln w="12700">
            <a:solidFill>
              <a:schemeClr val="tx2"/>
            </a:solidFill>
            <a:prstDash val="solid"/>
          </a:ln>
        </p:spPr>
      </p:sp>
      <p:sp>
        <p:nvSpPr>
          <p:cNvPr id="13" name="txt-972"/>
          <p:cNvSpPr txBox="1"/>
          <p:nvPr/>
        </p:nvSpPr>
        <p:spPr>
          <a:xfrm>
            <a:off x="548640" y="2852928"/>
            <a:ext cx="420624" cy="420624"/>
          </a:xfrm>
          <a:prstGeom prst="rect">
            <a:avLst/>
          </a:prstGeom>
          <a:no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14" name="txt-973"/>
          <p:cNvSpPr txBox="1"/>
          <p:nvPr/>
        </p:nvSpPr>
        <p:spPr>
          <a:xfrm>
            <a:off x="1115568" y="2761488"/>
            <a:ext cx="5212080" cy="603504"/>
          </a:xfrm>
          <a:prstGeom prst="rect">
            <a:avLst/>
          </a:prstGeom>
          <a:noFill/>
          <a:ln/>
        </p:spPr>
        <p:txBody>
          <a:bodyPr wrap="square" lIns="0" tIns="0" rIns="0" bIns="0" rtlCol="0" anchor="ctr"/>
          <a:lstStyle/>
          <a:p>
            <a:pPr marL="0" indent="0">
              <a:buNone/>
            </a:pPr>
            <a:r>
              <a:rPr lang="en-US" sz="1400" dirty="0">
                <a:solidFill>
                  <a:schemeClr val="tx1"/>
                </a:solidFill>
              </a:rPr>
              <a:t>Améliorez le résultat en au moins 2 itérations</a:t>
            </a:r>
            <a:endParaRPr lang="en-US" sz="1400" dirty="0"/>
          </a:p>
        </p:txBody>
      </p:sp>
      <p:sp>
        <p:nvSpPr>
          <p:cNvPr id="15" name="num-974"/>
          <p:cNvSpPr/>
          <p:nvPr/>
        </p:nvSpPr>
        <p:spPr>
          <a:xfrm>
            <a:off x="548640" y="3493008"/>
            <a:ext cx="420624" cy="420624"/>
          </a:xfrm>
          <a:prstGeom prst="ellipse">
            <a:avLst/>
          </a:prstGeom>
          <a:solidFill>
            <a:schemeClr val="tx2"/>
          </a:solidFill>
          <a:ln w="12700">
            <a:solidFill>
              <a:schemeClr val="tx2"/>
            </a:solidFill>
            <a:prstDash val="solid"/>
          </a:ln>
        </p:spPr>
      </p:sp>
      <p:sp>
        <p:nvSpPr>
          <p:cNvPr id="16" name="txt-975"/>
          <p:cNvSpPr txBox="1"/>
          <p:nvPr/>
        </p:nvSpPr>
        <p:spPr>
          <a:xfrm>
            <a:off x="548640" y="3493008"/>
            <a:ext cx="420624" cy="420624"/>
          </a:xfrm>
          <a:prstGeom prst="rect">
            <a:avLst/>
          </a:prstGeom>
          <a:noFill/>
          <a:ln/>
        </p:spPr>
        <p:txBody>
          <a:bodyPr wrap="square" lIns="0" tIns="0" rIns="0" bIns="0" rtlCol="0" anchor="ctr"/>
          <a:lstStyle/>
          <a:p>
            <a:pPr marL="0" indent="0" algn="ctr">
              <a:buNone/>
            </a:pPr>
            <a:r>
              <a:rPr lang="en-US" sz="1400" b="1" dirty="0">
                <a:solidFill>
                  <a:schemeClr val="bg1"/>
                </a:solidFill>
              </a:rPr>
              <a:t>4</a:t>
            </a:r>
            <a:endParaRPr lang="en-US" sz="1400" dirty="0"/>
          </a:p>
        </p:txBody>
      </p:sp>
      <p:sp>
        <p:nvSpPr>
          <p:cNvPr id="17" name="txt-976"/>
          <p:cNvSpPr txBox="1"/>
          <p:nvPr/>
        </p:nvSpPr>
        <p:spPr>
          <a:xfrm>
            <a:off x="1115568" y="3401568"/>
            <a:ext cx="5212080" cy="603504"/>
          </a:xfrm>
          <a:prstGeom prst="rect">
            <a:avLst/>
          </a:prstGeom>
          <a:noFill/>
          <a:ln/>
        </p:spPr>
        <p:txBody>
          <a:bodyPr wrap="square" lIns="0" tIns="0" rIns="0" bIns="0" rtlCol="0" anchor="ctr"/>
          <a:lstStyle/>
          <a:p>
            <a:pPr marL="0" indent="0">
              <a:buNone/>
            </a:pPr>
            <a:r>
              <a:rPr lang="en-US" sz="1400" dirty="0">
                <a:solidFill>
                  <a:schemeClr val="tx1"/>
                </a:solidFill>
              </a:rPr>
              <a:t>Relecteur exigeant : relevez 3 critiques et répondez à chacune, comme à un reviewer</a:t>
            </a:r>
            <a:endParaRPr lang="en-US" sz="1400" dirty="0"/>
          </a:p>
        </p:txBody>
      </p:sp>
      <p:sp>
        <p:nvSpPr>
          <p:cNvPr id="18" name="num-977"/>
          <p:cNvSpPr/>
          <p:nvPr/>
        </p:nvSpPr>
        <p:spPr>
          <a:xfrm>
            <a:off x="548640" y="4133088"/>
            <a:ext cx="420624" cy="420624"/>
          </a:xfrm>
          <a:prstGeom prst="ellipse">
            <a:avLst/>
          </a:prstGeom>
          <a:solidFill>
            <a:schemeClr val="tx2"/>
          </a:solidFill>
          <a:ln w="12700">
            <a:solidFill>
              <a:schemeClr val="tx2"/>
            </a:solidFill>
            <a:prstDash val="solid"/>
          </a:ln>
        </p:spPr>
      </p:sp>
      <p:sp>
        <p:nvSpPr>
          <p:cNvPr id="19" name="txt-978"/>
          <p:cNvSpPr txBox="1"/>
          <p:nvPr/>
        </p:nvSpPr>
        <p:spPr>
          <a:xfrm>
            <a:off x="548640" y="4133088"/>
            <a:ext cx="420624" cy="420624"/>
          </a:xfrm>
          <a:prstGeom prst="rect">
            <a:avLst/>
          </a:prstGeom>
          <a:noFill/>
          <a:ln/>
        </p:spPr>
        <p:txBody>
          <a:bodyPr wrap="square" lIns="0" tIns="0" rIns="0" bIns="0" rtlCol="0" anchor="ctr"/>
          <a:lstStyle/>
          <a:p>
            <a:pPr marL="0" indent="0" algn="ctr">
              <a:buNone/>
            </a:pPr>
            <a:r>
              <a:rPr lang="en-US" sz="1400" b="1" dirty="0">
                <a:solidFill>
                  <a:schemeClr val="bg1"/>
                </a:solidFill>
              </a:rPr>
              <a:t>5</a:t>
            </a:r>
            <a:endParaRPr lang="en-US" sz="1400" dirty="0"/>
          </a:p>
        </p:txBody>
      </p:sp>
      <p:sp>
        <p:nvSpPr>
          <p:cNvPr id="20" name="txt-979"/>
          <p:cNvSpPr txBox="1"/>
          <p:nvPr/>
        </p:nvSpPr>
        <p:spPr>
          <a:xfrm>
            <a:off x="1115568" y="4041648"/>
            <a:ext cx="5212080" cy="603504"/>
          </a:xfrm>
          <a:prstGeom prst="rect">
            <a:avLst/>
          </a:prstGeom>
          <a:noFill/>
          <a:ln/>
        </p:spPr>
        <p:txBody>
          <a:bodyPr wrap="square" lIns="0" tIns="0" rIns="0" bIns="0" rtlCol="0" anchor="ctr"/>
          <a:lstStyle/>
          <a:p>
            <a:pPr marL="0" indent="0">
              <a:buNone/>
            </a:pPr>
            <a:r>
              <a:rPr lang="en-US" sz="1400" dirty="0">
                <a:solidFill>
                  <a:schemeClr val="tx1"/>
                </a:solidFill>
              </a:rPr>
              <a:t>Vérifiez vous-même chaque affirmation dans votre texte source</a:t>
            </a:r>
            <a:endParaRPr lang="en-US" sz="1400" dirty="0"/>
          </a:p>
        </p:txBody>
      </p:sp>
      <p:sp>
        <p:nvSpPr>
          <p:cNvPr id="21" name="card-980"/>
          <p:cNvSpPr/>
          <p:nvPr/>
        </p:nvSpPr>
        <p:spPr>
          <a:xfrm>
            <a:off x="6675120" y="1508760"/>
            <a:ext cx="4937760" cy="3200400"/>
          </a:xfrm>
          <a:prstGeom prst="roundRect">
            <a:avLst>
              <a:gd name="adj" fmla="val 2286"/>
            </a:avLst>
          </a:prstGeom>
          <a:solidFill>
            <a:schemeClr val="bg1"/>
          </a:solidFill>
          <a:ln w="6350">
            <a:solidFill>
              <a:schemeClr val="bg1"/>
            </a:solidFill>
            <a:prstDash val="solid"/>
          </a:ln>
          <a:effectLst>
            <a:outerShdw blurRad="101600" dist="25400" dir="5400000" algn="bl" rotWithShape="0">
              <a:srgbClr val="000000">
                <a:alpha val="10000"/>
              </a:srgbClr>
            </a:outerShdw>
          </a:effectLst>
        </p:spPr>
      </p:sp>
      <p:sp>
        <p:nvSpPr>
          <p:cNvPr id="22" name="txt-981"/>
          <p:cNvSpPr txBox="1"/>
          <p:nvPr/>
        </p:nvSpPr>
        <p:spPr>
          <a:xfrm>
            <a:off x="6903720" y="1691640"/>
            <a:ext cx="4480560" cy="320040"/>
          </a:xfrm>
          <a:prstGeom prst="rect">
            <a:avLst/>
          </a:prstGeom>
          <a:noFill/>
          <a:ln/>
        </p:spPr>
        <p:txBody>
          <a:bodyPr wrap="square" lIns="0" tIns="0" rIns="0" bIns="0" rtlCol="0" anchor="t"/>
          <a:lstStyle/>
          <a:p>
            <a:pPr marL="0" indent="0">
              <a:buNone/>
            </a:pPr>
            <a:r>
              <a:rPr lang="en-US" sz="1200" b="1" dirty="0">
                <a:solidFill>
                  <a:schemeClr val="accent6"/>
                </a:solidFill>
              </a:rPr>
              <a:t>Pas de texte personnel ?</a:t>
            </a:r>
            <a:endParaRPr lang="en-US" sz="1200" dirty="0"/>
          </a:p>
        </p:txBody>
      </p:sp>
      <p:sp>
        <p:nvSpPr>
          <p:cNvPr id="23" name="txt-982"/>
          <p:cNvSpPr txBox="1"/>
          <p:nvPr/>
        </p:nvSpPr>
        <p:spPr>
          <a:xfrm>
            <a:off x="6903720" y="2057400"/>
            <a:ext cx="4480560" cy="2468880"/>
          </a:xfrm>
          <a:prstGeom prst="rect">
            <a:avLst/>
          </a:prstGeom>
          <a:noFill/>
          <a:ln/>
        </p:spPr>
        <p:txBody>
          <a:bodyPr wrap="square" lIns="0" tIns="0" rIns="0" bIns="0" rtlCol="0" anchor="t"/>
          <a:lstStyle/>
          <a:p>
            <a:pPr marL="0" indent="0">
              <a:buNone/>
            </a:pPr>
            <a:r>
              <a:rPr lang="en-US" sz="1300" dirty="0">
                <a:solidFill>
                  <a:schemeClr val="tx1"/>
                </a:solidFill>
                <a:latin typeface="Consolas" pitchFamily="34" charset="0"/>
                <a:ea typeface="Consolas" pitchFamily="34" charset="-122"/>
                <a:cs typeface="Consolas" pitchFamily="34" charset="-120"/>
              </a:rPr>
              <a:t>Ouvrez CORPUS-LABS / 0-Pack-commun / Resume_these.docx</a:t>
            </a:r>
            <a:endParaRPr lang="en-US" sz="1300" dirty="0"/>
          </a:p>
          <a:p>
            <a:pPr marL="0" indent="0">
              <a:buNone/>
            </a:pPr>
            <a:endParaRPr lang="en-US" sz="1300" dirty="0"/>
          </a:p>
          <a:p>
            <a:pPr marL="0" indent="0">
              <a:buNone/>
            </a:pPr>
            <a:r>
              <a:rPr lang="en-US" sz="1300" dirty="0">
                <a:solidFill>
                  <a:schemeClr val="tx1"/>
                </a:solidFill>
                <a:latin typeface="Consolas" pitchFamily="34" charset="0"/>
                <a:ea typeface="Consolas" pitchFamily="34" charset="-122"/>
                <a:cs typeface="Consolas" pitchFamily="34" charset="-120"/>
              </a:rPr>
              <a:t>« Trajectoires des doctorantes au Togo : obstacles et leviers de réussite »</a:t>
            </a:r>
            <a:endParaRPr lang="en-US" sz="1300" dirty="0"/>
          </a:p>
          <a:p>
            <a:pPr marL="0" indent="0">
              <a:buNone/>
            </a:pPr>
            <a:endParaRPr lang="en-US" sz="1300" dirty="0"/>
          </a:p>
          <a:p>
            <a:pPr marL="0" indent="0">
              <a:buNone/>
            </a:pPr>
            <a:r>
              <a:rPr lang="en-US" sz="1300" dirty="0">
                <a:solidFill>
                  <a:schemeClr val="tx1"/>
                </a:solidFill>
                <a:latin typeface="Consolas" pitchFamily="34" charset="0"/>
                <a:ea typeface="Consolas" pitchFamily="34" charset="-122"/>
                <a:cs typeface="Consolas" pitchFamily="34" charset="-120"/>
              </a:rPr>
              <a:t>Attention : ce brouillon contient des erreurs volontaires. À vous de les trouver.</a:t>
            </a:r>
            <a:endParaRPr lang="en-US" sz="1300" dirty="0"/>
          </a:p>
        </p:txBody>
      </p:sp>
      <p:sp>
        <p:nvSpPr>
          <p:cNvPr id="24" name="card-983"/>
          <p:cNvSpPr/>
          <p:nvPr/>
        </p:nvSpPr>
        <p:spPr>
          <a:xfrm>
            <a:off x="548640" y="4956048"/>
            <a:ext cx="5760720" cy="1261872"/>
          </a:xfrm>
          <a:prstGeom prst="roundRect">
            <a:avLst>
              <a:gd name="adj" fmla="val 5797"/>
            </a:avLst>
          </a:prstGeom>
          <a:solidFill>
            <a:schemeClr val="bg1"/>
          </a:solidFill>
          <a:ln w="6350">
            <a:solidFill>
              <a:schemeClr val="bg1"/>
            </a:solidFill>
            <a:prstDash val="solid"/>
          </a:ln>
          <a:effectLst>
            <a:outerShdw blurRad="101600" dist="25400" dir="5400000" algn="bl" rotWithShape="0">
              <a:srgbClr val="000000">
                <a:alpha val="10000"/>
              </a:srgbClr>
            </a:outerShdw>
          </a:effectLst>
        </p:spPr>
      </p:sp>
      <p:sp>
        <p:nvSpPr>
          <p:cNvPr id="25" name="circle-984"/>
          <p:cNvSpPr/>
          <p:nvPr/>
        </p:nvSpPr>
        <p:spPr>
          <a:xfrm>
            <a:off x="731520" y="5120640"/>
            <a:ext cx="457200" cy="457200"/>
          </a:xfrm>
          <a:prstGeom prst="ellipse">
            <a:avLst/>
          </a:prstGeom>
          <a:solidFill>
            <a:schemeClr val="accent1"/>
          </a:solidFill>
          <a:ln w="12700">
            <a:solidFill>
              <a:schemeClr val="accent1"/>
            </a:solidFill>
            <a:prstDash val="solid"/>
          </a:ln>
        </p:spPr>
      </p:sp>
      <p:pic>
        <p:nvPicPr>
          <p:cNvPr id="26" name="icon-985" descr="preencoded.png"/>
          <p:cNvPicPr>
            <a:picLocks noChangeAspect="1"/>
          </p:cNvPicPr>
          <p:nvPr/>
        </p:nvPicPr>
        <p:blipFill>
          <a:blip r:embed="rId3"/>
          <a:stretch>
            <a:fillRect/>
          </a:stretch>
        </p:blipFill>
        <p:spPr>
          <a:xfrm>
            <a:off x="845820" y="5234940"/>
            <a:ext cx="228600" cy="228600"/>
          </a:xfrm>
          <a:prstGeom prst="rect">
            <a:avLst/>
          </a:prstGeom>
        </p:spPr>
      </p:pic>
      <p:sp>
        <p:nvSpPr>
          <p:cNvPr id="27" name="txt-986"/>
          <p:cNvSpPr txBox="1"/>
          <p:nvPr/>
        </p:nvSpPr>
        <p:spPr>
          <a:xfrm>
            <a:off x="1325880" y="5074920"/>
            <a:ext cx="1828800" cy="320040"/>
          </a:xfrm>
          <a:prstGeom prst="rect">
            <a:avLst/>
          </a:prstGeom>
          <a:noFill/>
          <a:ln/>
        </p:spPr>
        <p:txBody>
          <a:bodyPr wrap="square" lIns="0" tIns="0" rIns="0" bIns="0" rtlCol="0" anchor="t"/>
          <a:lstStyle/>
          <a:p>
            <a:pPr marL="0" indent="0">
              <a:buNone/>
            </a:pPr>
            <a:r>
              <a:rPr lang="en-US" sz="1500" b="1" dirty="0">
                <a:solidFill>
                  <a:schemeClr val="accent1"/>
                </a:solidFill>
              </a:rPr>
              <a:t>Défi</a:t>
            </a:r>
            <a:endParaRPr lang="en-US" sz="1500" dirty="0"/>
          </a:p>
        </p:txBody>
      </p:sp>
      <p:sp>
        <p:nvSpPr>
          <p:cNvPr id="28" name="txt-987"/>
          <p:cNvSpPr txBox="1"/>
          <p:nvPr/>
        </p:nvSpPr>
        <p:spPr>
          <a:xfrm>
            <a:off x="1325880" y="5394960"/>
            <a:ext cx="4846320" cy="777240"/>
          </a:xfrm>
          <a:prstGeom prst="rect">
            <a:avLst/>
          </a:prstGeom>
          <a:noFill/>
          <a:ln/>
        </p:spPr>
        <p:txBody>
          <a:bodyPr wrap="square" lIns="0" tIns="0" rIns="0" bIns="0" rtlCol="0" anchor="t"/>
          <a:lstStyle/>
          <a:p>
            <a:pPr marL="0" indent="0">
              <a:buNone/>
            </a:pPr>
            <a:r>
              <a:rPr lang="en-US" sz="1300" dirty="0">
                <a:solidFill>
                  <a:schemeClr val="tx1"/>
                </a:solidFill>
              </a:rPr>
              <a:t>Faites jouer à l'IA votre jury de thèse : quelles 3 questions vous poserait-il sur ce résumé ? Préparez vos réponses.</a:t>
            </a:r>
            <a:endParaRPr lang="en-US" sz="1300" dirty="0"/>
          </a:p>
        </p:txBody>
      </p:sp>
      <p:sp>
        <p:nvSpPr>
          <p:cNvPr id="29" name="card-988"/>
          <p:cNvSpPr/>
          <p:nvPr/>
        </p:nvSpPr>
        <p:spPr>
          <a:xfrm>
            <a:off x="6675120" y="4956048"/>
            <a:ext cx="4937760" cy="1261872"/>
          </a:xfrm>
          <a:prstGeom prst="roundRect">
            <a:avLst>
              <a:gd name="adj" fmla="val 5797"/>
            </a:avLst>
          </a:prstGeom>
          <a:solidFill>
            <a:schemeClr val="tx2"/>
          </a:solidFill>
          <a:ln w="6350">
            <a:solidFill>
              <a:schemeClr val="tx2"/>
            </a:solidFill>
            <a:prstDash val="solid"/>
          </a:ln>
        </p:spPr>
      </p:sp>
      <p:sp>
        <p:nvSpPr>
          <p:cNvPr id="30" name="circle-989"/>
          <p:cNvSpPr/>
          <p:nvPr/>
        </p:nvSpPr>
        <p:spPr>
          <a:xfrm>
            <a:off x="6858000" y="5120640"/>
            <a:ext cx="457200" cy="457200"/>
          </a:xfrm>
          <a:prstGeom prst="ellipse">
            <a:avLst/>
          </a:prstGeom>
          <a:solidFill>
            <a:schemeClr val="accent1"/>
          </a:solidFill>
          <a:ln w="12700">
            <a:solidFill>
              <a:schemeClr val="accent1"/>
            </a:solidFill>
            <a:prstDash val="solid"/>
          </a:ln>
        </p:spPr>
      </p:sp>
      <p:pic>
        <p:nvPicPr>
          <p:cNvPr id="31" name="icon-990" descr="preencoded.png"/>
          <p:cNvPicPr>
            <a:picLocks noChangeAspect="1"/>
          </p:cNvPicPr>
          <p:nvPr/>
        </p:nvPicPr>
        <p:blipFill>
          <a:blip r:embed="rId4"/>
          <a:stretch>
            <a:fillRect/>
          </a:stretch>
        </p:blipFill>
        <p:spPr>
          <a:xfrm>
            <a:off x="6972300" y="5234940"/>
            <a:ext cx="228600" cy="228600"/>
          </a:xfrm>
          <a:prstGeom prst="rect">
            <a:avLst/>
          </a:prstGeom>
        </p:spPr>
      </p:pic>
      <p:sp>
        <p:nvSpPr>
          <p:cNvPr id="32" name="txt-991"/>
          <p:cNvSpPr txBox="1"/>
          <p:nvPr/>
        </p:nvSpPr>
        <p:spPr>
          <a:xfrm>
            <a:off x="7452360" y="5074920"/>
            <a:ext cx="2743200" cy="320040"/>
          </a:xfrm>
          <a:prstGeom prst="rect">
            <a:avLst/>
          </a:prstGeom>
          <a:noFill/>
          <a:ln/>
        </p:spPr>
        <p:txBody>
          <a:bodyPr wrap="square" lIns="0" tIns="0" rIns="0" bIns="0" rtlCol="0" anchor="t"/>
          <a:lstStyle/>
          <a:p>
            <a:pPr marL="0" indent="0">
              <a:buNone/>
            </a:pPr>
            <a:r>
              <a:rPr lang="en-US" sz="1500" b="1" dirty="0">
                <a:solidFill>
                  <a:schemeClr val="accent1"/>
                </a:solidFill>
              </a:rPr>
              <a:t>À rendre</a:t>
            </a:r>
            <a:endParaRPr lang="en-US" sz="1500" dirty="0"/>
          </a:p>
        </p:txBody>
      </p:sp>
      <p:sp>
        <p:nvSpPr>
          <p:cNvPr id="33" name="txt-992"/>
          <p:cNvSpPr txBox="1"/>
          <p:nvPr/>
        </p:nvSpPr>
        <p:spPr>
          <a:xfrm>
            <a:off x="7452360" y="5394960"/>
            <a:ext cx="4023360" cy="777240"/>
          </a:xfrm>
          <a:prstGeom prst="rect">
            <a:avLst/>
          </a:prstGeom>
          <a:noFill/>
          <a:ln/>
        </p:spPr>
        <p:txBody>
          <a:bodyPr wrap="square" lIns="0" tIns="0" rIns="0" bIns="0" rtlCol="0" anchor="t"/>
          <a:lstStyle/>
          <a:p>
            <a:pPr marL="0" indent="0">
              <a:buNone/>
            </a:pPr>
            <a:r>
              <a:rPr lang="en-US" sz="1300" dirty="0">
                <a:solidFill>
                  <a:schemeClr val="bg1"/>
                </a:solidFill>
              </a:rPr>
              <a:t>Fiche 1 : prompt final, réponses au relecteur, résumé et 3 corrections</a:t>
            </a:r>
            <a:endParaRPr lang="en-US" sz="1300" dirty="0"/>
          </a:p>
        </p:txBody>
      </p:sp>
      <p:sp>
        <p:nvSpPr>
          <p:cNvPr id="34" name="Slide Number Placeholder 0"/>
          <p:cNvSpPr>
            <a:spLocks noGrp="1"/>
          </p:cNvSpPr>
          <p:nvPr>
            <p:ph type="sldNum" sz="quarter" idx="4294967295"/>
          </p:nvPr>
        </p:nvSpPr>
        <p:spPr>
          <a:xfrm>
            <a:off x="11064240" y="6400800"/>
            <a:ext cx="54864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C82"/>
                </a:solidFill>
                <a:latin typeface="Poppins"/>
                <a:ea typeface="Poppins"/>
                <a:cs typeface="Poppins"/>
              </a:defRPr>
            </a:lvl1pPr>
          </a:lstStyle>
          <a:p>
            <a:pPr algn="r"/>
            <a:fld id="{F7021451-1387-4CA6-816F-3879F97B5CBC}" type="slidenum">
              <a:rPr lang="en-US" b="0"/>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xt-993"/>
          <p:cNvSpPr txBox="1"/>
          <p:nvPr/>
        </p:nvSpPr>
        <p:spPr>
          <a:xfrm>
            <a:off x="640080" y="2011680"/>
            <a:ext cx="2560320" cy="2011680"/>
          </a:xfrm>
          <a:prstGeom prst="rect">
            <a:avLst/>
          </a:prstGeom>
          <a:noFill/>
          <a:ln/>
        </p:spPr>
        <p:txBody>
          <a:bodyPr wrap="square" lIns="0" tIns="0" rIns="0" bIns="0" rtlCol="0" anchor="ctr"/>
          <a:lstStyle/>
          <a:p>
            <a:pPr marL="0" indent="0">
              <a:buNone/>
            </a:pPr>
            <a:r>
              <a:rPr lang="en-US" sz="9600" b="1" dirty="0">
                <a:solidFill>
                  <a:schemeClr val="accent1"/>
                </a:solidFill>
              </a:rPr>
              <a:t>T3</a:t>
            </a:r>
            <a:endParaRPr lang="en-US" sz="9600" dirty="0"/>
          </a:p>
        </p:txBody>
      </p:sp>
      <p:sp>
        <p:nvSpPr>
          <p:cNvPr id="3" name="txt-994"/>
          <p:cNvSpPr txBox="1"/>
          <p:nvPr/>
        </p:nvSpPr>
        <p:spPr>
          <a:xfrm>
            <a:off x="3291840" y="1737360"/>
            <a:ext cx="8229600" cy="457200"/>
          </a:xfrm>
          <a:prstGeom prst="rect">
            <a:avLst/>
          </a:prstGeom>
          <a:noFill/>
          <a:ln/>
        </p:spPr>
        <p:txBody>
          <a:bodyPr wrap="square" lIns="0" tIns="0" rIns="0" bIns="0" rtlCol="0" anchor="t"/>
          <a:lstStyle/>
          <a:p>
            <a:pPr marL="0" indent="0">
              <a:buNone/>
            </a:pPr>
            <a:r>
              <a:rPr lang="en-US" sz="1600" b="1" dirty="0">
                <a:solidFill>
                  <a:schemeClr val="accent1"/>
                </a:solidFill>
              </a:rPr>
              <a:t>Capsule théorique · 20 min + Labs 2 et 3</a:t>
            </a:r>
            <a:endParaRPr lang="en-US" sz="1600" dirty="0"/>
          </a:p>
        </p:txBody>
      </p:sp>
      <p:sp>
        <p:nvSpPr>
          <p:cNvPr id="4" name="Text 0"/>
          <p:cNvSpPr>
            <a:spLocks noGrp="1"/>
          </p:cNvSpPr>
          <p:nvPr>
            <p:ph type="title" idx="100" hasCustomPrompt="1"/>
          </p:nvPr>
        </p:nvSpPr>
        <p:spPr>
          <a:xfrm>
            <a:off x="3291840" y="2286000"/>
            <a:ext cx="8321040" cy="1463040"/>
          </a:xfrm>
          <a:prstGeom prst="rect">
            <a:avLst/>
          </a:prstGeom>
          <a:noFill/>
          <a:ln/>
        </p:spPr>
        <p:txBody>
          <a:bodyPr wrap="square" lIns="0" tIns="0" rIns="0" bIns="0" rtlCol="0" anchor="ctr"/>
          <a:lstStyle/>
          <a:p>
            <a:pPr marL="0" indent="0" algn="l">
              <a:buNone/>
            </a:pPr>
            <a:r>
              <a:rPr lang="en-US" sz="3400" b="1" dirty="0">
                <a:solidFill>
                  <a:schemeClr val="bg1"/>
                </a:solidFill>
                <a:latin typeface="Poppins" pitchFamily="34" charset="0"/>
                <a:ea typeface="Poppins" pitchFamily="34" charset="-122"/>
                <a:cs typeface="Poppins" pitchFamily="34" charset="-120"/>
              </a:rPr>
              <a:t>Discuter avec ses documents : le RAG</a:t>
            </a:r>
            <a:endParaRPr lang="en-US" sz="3400" dirty="0"/>
          </a:p>
        </p:txBody>
      </p:sp>
      <p:sp>
        <p:nvSpPr>
          <p:cNvPr id="5" name="txt-995"/>
          <p:cNvSpPr txBox="1"/>
          <p:nvPr/>
        </p:nvSpPr>
        <p:spPr>
          <a:xfrm>
            <a:off x="3291840" y="3931920"/>
            <a:ext cx="8229600" cy="1828800"/>
          </a:xfrm>
          <a:prstGeom prst="rect">
            <a:avLst/>
          </a:prstGeom>
          <a:noFill/>
          <a:ln/>
        </p:spPr>
        <p:txBody>
          <a:bodyPr wrap="square" lIns="0" tIns="0" rIns="0" bIns="0" rtlCol="0" anchor="t"/>
          <a:lstStyle/>
          <a:p>
            <a:pPr marL="177800" indent="-177800">
              <a:spcAft>
                <a:spcPts val="600"/>
              </a:spcAft>
              <a:buSzPct val="100000"/>
              <a:buChar char="•"/>
            </a:pPr>
            <a:r>
              <a:rPr lang="en-US" sz="1600" dirty="0">
                <a:solidFill>
                  <a:schemeClr val="bg2"/>
                </a:solidFill>
              </a:rPr>
              <a:t>Comment fonctionne un RAG, sans jargon</a:t>
            </a:r>
            <a:endParaRPr lang="en-US" sz="1600" dirty="0"/>
          </a:p>
          <a:p>
            <a:pPr marL="177800" indent="-177800">
              <a:spcAft>
                <a:spcPts val="600"/>
              </a:spcAft>
              <a:buSzPct val="100000"/>
              <a:buChar char="•"/>
            </a:pPr>
            <a:r>
              <a:rPr lang="en-US" sz="1600" dirty="0">
                <a:solidFill>
                  <a:schemeClr val="bg2"/>
                </a:solidFill>
              </a:rPr>
              <a:t>Gemini Notebook : un RAG prêt à l'emploi, en 6 étapes</a:t>
            </a:r>
            <a:endParaRPr lang="en-US" sz="1600" dirty="0"/>
          </a:p>
          <a:p>
            <a:pPr marL="177800" indent="-177800">
              <a:spcAft>
                <a:spcPts val="600"/>
              </a:spcAft>
              <a:buSzPct val="100000"/>
              <a:buChar char="•"/>
            </a:pPr>
            <a:r>
              <a:rPr lang="en-US" sz="1600" dirty="0">
                <a:solidFill>
                  <a:schemeClr val="bg2"/>
                </a:solidFill>
              </a:rPr>
              <a:t>Bien préparer ses sources, bien interroger, connaître les limites</a:t>
            </a:r>
            <a:endParaRPr lang="en-US" sz="16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566928"/>
            <a:ext cx="11064240" cy="777240"/>
          </a:xfrm>
          <a:prstGeom prst="rect">
            <a:avLst/>
          </a:prstGeom>
          <a:noFill/>
          <a:ln/>
        </p:spPr>
        <p:txBody>
          <a:bodyPr wrap="square" lIns="0" tIns="0" rIns="0" bIns="0" rtlCol="0" anchor="ctr"/>
          <a:lstStyle/>
          <a:p>
            <a:pPr marL="0" indent="0" algn="l">
              <a:buNone/>
            </a:pPr>
            <a:r>
              <a:rPr lang="en-US" sz="2700" b="1" dirty="0">
                <a:solidFill>
                  <a:schemeClr val="tx2"/>
                </a:solidFill>
                <a:latin typeface="Poppins" pitchFamily="34" charset="0"/>
                <a:ea typeface="Poppins" pitchFamily="34" charset="-122"/>
                <a:cs typeface="Poppins" pitchFamily="34" charset="-120"/>
              </a:rPr>
              <a:t>Le RAG : définition</a:t>
            </a:r>
            <a:endParaRPr lang="en-US" sz="2700" dirty="0"/>
          </a:p>
        </p:txBody>
      </p:sp>
      <p:sp>
        <p:nvSpPr>
          <p:cNvPr id="3" name="Text 0"/>
          <p:cNvSpPr>
            <a:spLocks noGrp="1"/>
          </p:cNvSpPr>
          <p:nvPr>
            <p:ph type="body" idx="101" hasCustomPrompt="1"/>
          </p:nvPr>
        </p:nvSpPr>
        <p:spPr>
          <a:xfrm>
            <a:off x="548640" y="256032"/>
            <a:ext cx="8229600" cy="292608"/>
          </a:xfrm>
          <a:prstGeom prst="rect">
            <a:avLst/>
          </a:prstGeom>
          <a:noFill/>
          <a:ln/>
        </p:spPr>
        <p:txBody>
          <a:bodyPr wrap="square" lIns="0" tIns="0" rIns="0" bIns="0" rtlCol="0" anchor="ctr"/>
          <a:lstStyle/>
          <a:p>
            <a:pPr marL="0" indent="0">
              <a:buNone/>
            </a:pPr>
            <a:r>
              <a:rPr lang="en-US" sz="1100" b="1" dirty="0">
                <a:solidFill>
                  <a:schemeClr val="accent1"/>
                </a:solidFill>
                <a:latin typeface="Poppins" pitchFamily="34" charset="0"/>
                <a:ea typeface="Poppins" pitchFamily="34" charset="-122"/>
                <a:cs typeface="Poppins" pitchFamily="34" charset="-120"/>
              </a:rPr>
              <a:t>T3 · LE RAG</a:t>
            </a:r>
            <a:endParaRPr lang="en-US" sz="1100" dirty="0"/>
          </a:p>
        </p:txBody>
      </p:sp>
      <p:sp>
        <p:nvSpPr>
          <p:cNvPr id="4" name="card-996"/>
          <p:cNvSpPr/>
          <p:nvPr/>
        </p:nvSpPr>
        <p:spPr>
          <a:xfrm>
            <a:off x="548640" y="1554480"/>
            <a:ext cx="11064240" cy="1691640"/>
          </a:xfrm>
          <a:prstGeom prst="roundRect">
            <a:avLst>
              <a:gd name="adj" fmla="val 4324"/>
            </a:avLst>
          </a:prstGeom>
          <a:solidFill>
            <a:schemeClr val="tx2"/>
          </a:solidFill>
          <a:ln w="6350">
            <a:solidFill>
              <a:schemeClr val="tx2"/>
            </a:solidFill>
            <a:prstDash val="solid"/>
          </a:ln>
        </p:spPr>
      </p:sp>
      <p:sp>
        <p:nvSpPr>
          <p:cNvPr id="5" name="txt-997"/>
          <p:cNvSpPr txBox="1"/>
          <p:nvPr/>
        </p:nvSpPr>
        <p:spPr>
          <a:xfrm>
            <a:off x="822960" y="1691640"/>
            <a:ext cx="2743200" cy="320040"/>
          </a:xfrm>
          <a:prstGeom prst="rect">
            <a:avLst/>
          </a:prstGeom>
          <a:noFill/>
          <a:ln/>
        </p:spPr>
        <p:txBody>
          <a:bodyPr wrap="square" lIns="0" tIns="0" rIns="0" bIns="0" rtlCol="0" anchor="t"/>
          <a:lstStyle/>
          <a:p>
            <a:pPr marL="0" indent="0">
              <a:buNone/>
            </a:pPr>
            <a:r>
              <a:rPr lang="en-US" sz="1400" b="1" dirty="0">
                <a:solidFill>
                  <a:schemeClr val="accent1"/>
                </a:solidFill>
              </a:rPr>
              <a:t>Définition</a:t>
            </a:r>
            <a:endParaRPr lang="en-US" sz="1400" dirty="0"/>
          </a:p>
        </p:txBody>
      </p:sp>
      <p:sp>
        <p:nvSpPr>
          <p:cNvPr id="6" name="txt-998"/>
          <p:cNvSpPr txBox="1"/>
          <p:nvPr/>
        </p:nvSpPr>
        <p:spPr>
          <a:xfrm>
            <a:off x="822960" y="2029968"/>
            <a:ext cx="10515600" cy="1143000"/>
          </a:xfrm>
          <a:prstGeom prst="rect">
            <a:avLst/>
          </a:prstGeom>
          <a:noFill/>
          <a:ln/>
        </p:spPr>
        <p:txBody>
          <a:bodyPr wrap="square" lIns="0" tIns="0" rIns="0" bIns="0" rtlCol="0" anchor="t"/>
          <a:lstStyle/>
          <a:p>
            <a:pPr marL="0" indent="0">
              <a:buNone/>
            </a:pPr>
            <a:r>
              <a:rPr lang="en-US" sz="1500" dirty="0">
                <a:solidFill>
                  <a:schemeClr val="bg1"/>
                </a:solidFill>
              </a:rPr>
              <a:t>Le RAG (Retrieval-Augmented Generation, « génération augmentée par récupération ») est une technique qui, avant de répondre, recherche les passages les plus pertinents dans une collection de documents choisis par l'utilisateur, puis les transmet au modèle de langage pour qu'il fonde sa réponse sur ces passages et les cite.</a:t>
            </a:r>
            <a:endParaRPr lang="en-US" sz="1500" dirty="0"/>
          </a:p>
        </p:txBody>
      </p:sp>
      <p:sp>
        <p:nvSpPr>
          <p:cNvPr id="7" name="card-999"/>
          <p:cNvSpPr/>
          <p:nvPr/>
        </p:nvSpPr>
        <p:spPr>
          <a:xfrm>
            <a:off x="548640" y="3474720"/>
            <a:ext cx="3520440" cy="1691640"/>
          </a:xfrm>
          <a:prstGeom prst="roundRect">
            <a:avLst>
              <a:gd name="adj" fmla="val 4324"/>
            </a:avLst>
          </a:prstGeom>
          <a:solidFill>
            <a:schemeClr val="bg2"/>
          </a:solidFill>
          <a:ln w="6350">
            <a:solidFill>
              <a:schemeClr val="bg2"/>
            </a:solidFill>
            <a:prstDash val="solid"/>
          </a:ln>
        </p:spPr>
      </p:sp>
      <p:sp>
        <p:nvSpPr>
          <p:cNvPr id="8" name="num-1000"/>
          <p:cNvSpPr/>
          <p:nvPr/>
        </p:nvSpPr>
        <p:spPr>
          <a:xfrm>
            <a:off x="777240" y="3657600"/>
            <a:ext cx="685800" cy="685800"/>
          </a:xfrm>
          <a:prstGeom prst="ellipse">
            <a:avLst/>
          </a:prstGeom>
          <a:solidFill>
            <a:schemeClr val="accent4"/>
          </a:solidFill>
          <a:ln w="12700">
            <a:solidFill>
              <a:schemeClr val="accent4"/>
            </a:solidFill>
            <a:prstDash val="solid"/>
          </a:ln>
        </p:spPr>
      </p:sp>
      <p:sp>
        <p:nvSpPr>
          <p:cNvPr id="9" name="txt-1001"/>
          <p:cNvSpPr txBox="1"/>
          <p:nvPr/>
        </p:nvSpPr>
        <p:spPr>
          <a:xfrm>
            <a:off x="777240" y="3657600"/>
            <a:ext cx="685800" cy="685800"/>
          </a:xfrm>
          <a:prstGeom prst="rect">
            <a:avLst/>
          </a:prstGeom>
          <a:noFill/>
          <a:ln/>
        </p:spPr>
        <p:txBody>
          <a:bodyPr wrap="square" lIns="0" tIns="0" rIns="0" bIns="0" rtlCol="0" anchor="ctr"/>
          <a:lstStyle/>
          <a:p>
            <a:pPr marL="0" indent="0" algn="ctr">
              <a:buNone/>
            </a:pPr>
            <a:r>
              <a:rPr lang="en-US" sz="2300" b="1" dirty="0">
                <a:solidFill>
                  <a:schemeClr val="bg1"/>
                </a:solidFill>
              </a:rPr>
              <a:t>R</a:t>
            </a:r>
            <a:endParaRPr lang="en-US" sz="2300" dirty="0"/>
          </a:p>
        </p:txBody>
      </p:sp>
      <p:sp>
        <p:nvSpPr>
          <p:cNvPr id="10" name="txt-1002"/>
          <p:cNvSpPr txBox="1"/>
          <p:nvPr/>
        </p:nvSpPr>
        <p:spPr>
          <a:xfrm>
            <a:off x="1600200" y="3611880"/>
            <a:ext cx="2331720" cy="457200"/>
          </a:xfrm>
          <a:prstGeom prst="rect">
            <a:avLst/>
          </a:prstGeom>
          <a:noFill/>
          <a:ln/>
        </p:spPr>
        <p:txBody>
          <a:bodyPr wrap="square" lIns="0" tIns="0" rIns="0" bIns="0" rtlCol="0" anchor="ctr"/>
          <a:lstStyle/>
          <a:p>
            <a:pPr marL="0" indent="0">
              <a:buNone/>
            </a:pPr>
            <a:r>
              <a:rPr lang="en-US" sz="1400" b="1" dirty="0">
                <a:solidFill>
                  <a:schemeClr val="tx2"/>
                </a:solidFill>
              </a:rPr>
              <a:t>Retrieval · Récupérer</a:t>
            </a:r>
            <a:endParaRPr lang="en-US" sz="1400" dirty="0"/>
          </a:p>
        </p:txBody>
      </p:sp>
      <p:sp>
        <p:nvSpPr>
          <p:cNvPr id="11" name="txt-1003"/>
          <p:cNvSpPr txBox="1"/>
          <p:nvPr/>
        </p:nvSpPr>
        <p:spPr>
          <a:xfrm>
            <a:off x="1600200" y="4069080"/>
            <a:ext cx="2331720" cy="1051560"/>
          </a:xfrm>
          <a:prstGeom prst="rect">
            <a:avLst/>
          </a:prstGeom>
          <a:noFill/>
          <a:ln/>
        </p:spPr>
        <p:txBody>
          <a:bodyPr wrap="square" lIns="0" tIns="0" rIns="0" bIns="0" rtlCol="0" anchor="t"/>
          <a:lstStyle/>
          <a:p>
            <a:pPr marL="0" indent="0">
              <a:buNone/>
            </a:pPr>
            <a:r>
              <a:rPr lang="en-US" sz="1200" dirty="0">
                <a:solidFill>
                  <a:schemeClr val="tx1"/>
                </a:solidFill>
              </a:rPr>
              <a:t>Chercher les passages pertinents dans VOS documents</a:t>
            </a:r>
            <a:endParaRPr lang="en-US" sz="1200" dirty="0"/>
          </a:p>
        </p:txBody>
      </p:sp>
      <p:sp>
        <p:nvSpPr>
          <p:cNvPr id="12" name="card-1004"/>
          <p:cNvSpPr/>
          <p:nvPr/>
        </p:nvSpPr>
        <p:spPr>
          <a:xfrm>
            <a:off x="4297680" y="3474720"/>
            <a:ext cx="3520440" cy="1691640"/>
          </a:xfrm>
          <a:prstGeom prst="roundRect">
            <a:avLst>
              <a:gd name="adj" fmla="val 4324"/>
            </a:avLst>
          </a:prstGeom>
          <a:solidFill>
            <a:schemeClr val="bg2"/>
          </a:solidFill>
          <a:ln w="6350">
            <a:solidFill>
              <a:schemeClr val="bg2"/>
            </a:solidFill>
            <a:prstDash val="solid"/>
          </a:ln>
        </p:spPr>
      </p:sp>
      <p:sp>
        <p:nvSpPr>
          <p:cNvPr id="13" name="num-1005"/>
          <p:cNvSpPr/>
          <p:nvPr/>
        </p:nvSpPr>
        <p:spPr>
          <a:xfrm>
            <a:off x="4526280" y="3657600"/>
            <a:ext cx="685800" cy="685800"/>
          </a:xfrm>
          <a:prstGeom prst="ellipse">
            <a:avLst/>
          </a:prstGeom>
          <a:solidFill>
            <a:schemeClr val="accent6"/>
          </a:solidFill>
          <a:ln w="12700">
            <a:solidFill>
              <a:schemeClr val="accent6"/>
            </a:solidFill>
            <a:prstDash val="solid"/>
          </a:ln>
        </p:spPr>
      </p:sp>
      <p:sp>
        <p:nvSpPr>
          <p:cNvPr id="14" name="txt-1006"/>
          <p:cNvSpPr txBox="1"/>
          <p:nvPr/>
        </p:nvSpPr>
        <p:spPr>
          <a:xfrm>
            <a:off x="4526280" y="3657600"/>
            <a:ext cx="685800" cy="685800"/>
          </a:xfrm>
          <a:prstGeom prst="rect">
            <a:avLst/>
          </a:prstGeom>
          <a:noFill/>
          <a:ln/>
        </p:spPr>
        <p:txBody>
          <a:bodyPr wrap="square" lIns="0" tIns="0" rIns="0" bIns="0" rtlCol="0" anchor="ctr"/>
          <a:lstStyle/>
          <a:p>
            <a:pPr marL="0" indent="0" algn="ctr">
              <a:buNone/>
            </a:pPr>
            <a:r>
              <a:rPr lang="en-US" sz="2300" b="1" dirty="0">
                <a:solidFill>
                  <a:schemeClr val="bg1"/>
                </a:solidFill>
              </a:rPr>
              <a:t>A</a:t>
            </a:r>
            <a:endParaRPr lang="en-US" sz="2300" dirty="0"/>
          </a:p>
        </p:txBody>
      </p:sp>
      <p:sp>
        <p:nvSpPr>
          <p:cNvPr id="15" name="txt-1007"/>
          <p:cNvSpPr txBox="1"/>
          <p:nvPr/>
        </p:nvSpPr>
        <p:spPr>
          <a:xfrm>
            <a:off x="5349240" y="3611880"/>
            <a:ext cx="2331720" cy="457200"/>
          </a:xfrm>
          <a:prstGeom prst="rect">
            <a:avLst/>
          </a:prstGeom>
          <a:noFill/>
          <a:ln/>
        </p:spPr>
        <p:txBody>
          <a:bodyPr wrap="square" lIns="0" tIns="0" rIns="0" bIns="0" rtlCol="0" anchor="ctr"/>
          <a:lstStyle/>
          <a:p>
            <a:pPr marL="0" indent="0">
              <a:buNone/>
            </a:pPr>
            <a:r>
              <a:rPr lang="en-US" sz="1400" b="1" dirty="0">
                <a:solidFill>
                  <a:schemeClr val="tx2"/>
                </a:solidFill>
              </a:rPr>
              <a:t>Augmented · Augmenter</a:t>
            </a:r>
            <a:endParaRPr lang="en-US" sz="1400" dirty="0"/>
          </a:p>
        </p:txBody>
      </p:sp>
      <p:sp>
        <p:nvSpPr>
          <p:cNvPr id="16" name="txt-1008"/>
          <p:cNvSpPr txBox="1"/>
          <p:nvPr/>
        </p:nvSpPr>
        <p:spPr>
          <a:xfrm>
            <a:off x="5349240" y="4069080"/>
            <a:ext cx="2331720" cy="1051560"/>
          </a:xfrm>
          <a:prstGeom prst="rect">
            <a:avLst/>
          </a:prstGeom>
          <a:noFill/>
          <a:ln/>
        </p:spPr>
        <p:txBody>
          <a:bodyPr wrap="square" lIns="0" tIns="0" rIns="0" bIns="0" rtlCol="0" anchor="t"/>
          <a:lstStyle/>
          <a:p>
            <a:pPr marL="0" indent="0">
              <a:buNone/>
            </a:pPr>
            <a:r>
              <a:rPr lang="en-US" sz="1200" dirty="0">
                <a:solidFill>
                  <a:schemeClr val="tx1"/>
                </a:solidFill>
              </a:rPr>
              <a:t>Ajouter ces passages à votre question, dans le contexte envoyé au modèle</a:t>
            </a:r>
            <a:endParaRPr lang="en-US" sz="1200" dirty="0"/>
          </a:p>
        </p:txBody>
      </p:sp>
      <p:sp>
        <p:nvSpPr>
          <p:cNvPr id="17" name="card-1009"/>
          <p:cNvSpPr/>
          <p:nvPr/>
        </p:nvSpPr>
        <p:spPr>
          <a:xfrm>
            <a:off x="8046720" y="3474720"/>
            <a:ext cx="3520440" cy="1691640"/>
          </a:xfrm>
          <a:prstGeom prst="roundRect">
            <a:avLst>
              <a:gd name="adj" fmla="val 4324"/>
            </a:avLst>
          </a:prstGeom>
          <a:solidFill>
            <a:schemeClr val="bg2"/>
          </a:solidFill>
          <a:ln w="6350">
            <a:solidFill>
              <a:schemeClr val="bg2"/>
            </a:solidFill>
            <a:prstDash val="solid"/>
          </a:ln>
        </p:spPr>
      </p:sp>
      <p:sp>
        <p:nvSpPr>
          <p:cNvPr id="18" name="num-1010"/>
          <p:cNvSpPr/>
          <p:nvPr/>
        </p:nvSpPr>
        <p:spPr>
          <a:xfrm>
            <a:off x="8275320" y="3657600"/>
            <a:ext cx="685800" cy="685800"/>
          </a:xfrm>
          <a:prstGeom prst="ellipse">
            <a:avLst/>
          </a:prstGeom>
          <a:solidFill>
            <a:schemeClr val="accent2"/>
          </a:solidFill>
          <a:ln w="12700">
            <a:solidFill>
              <a:schemeClr val="accent2"/>
            </a:solidFill>
            <a:prstDash val="solid"/>
          </a:ln>
        </p:spPr>
      </p:sp>
      <p:sp>
        <p:nvSpPr>
          <p:cNvPr id="19" name="txt-1011"/>
          <p:cNvSpPr txBox="1"/>
          <p:nvPr/>
        </p:nvSpPr>
        <p:spPr>
          <a:xfrm>
            <a:off x="8275320" y="3657600"/>
            <a:ext cx="685800" cy="685800"/>
          </a:xfrm>
          <a:prstGeom prst="rect">
            <a:avLst/>
          </a:prstGeom>
          <a:noFill/>
          <a:ln/>
        </p:spPr>
        <p:txBody>
          <a:bodyPr wrap="square" lIns="0" tIns="0" rIns="0" bIns="0" rtlCol="0" anchor="ctr"/>
          <a:lstStyle/>
          <a:p>
            <a:pPr marL="0" indent="0" algn="ctr">
              <a:buNone/>
            </a:pPr>
            <a:r>
              <a:rPr lang="en-US" sz="2300" b="1" dirty="0">
                <a:solidFill>
                  <a:schemeClr val="bg1"/>
                </a:solidFill>
              </a:rPr>
              <a:t>G</a:t>
            </a:r>
            <a:endParaRPr lang="en-US" sz="2300" dirty="0"/>
          </a:p>
        </p:txBody>
      </p:sp>
      <p:sp>
        <p:nvSpPr>
          <p:cNvPr id="20" name="txt-1012"/>
          <p:cNvSpPr txBox="1"/>
          <p:nvPr/>
        </p:nvSpPr>
        <p:spPr>
          <a:xfrm>
            <a:off x="9098280" y="3611880"/>
            <a:ext cx="2331720" cy="457200"/>
          </a:xfrm>
          <a:prstGeom prst="rect">
            <a:avLst/>
          </a:prstGeom>
          <a:noFill/>
          <a:ln/>
        </p:spPr>
        <p:txBody>
          <a:bodyPr wrap="square" lIns="0" tIns="0" rIns="0" bIns="0" rtlCol="0" anchor="ctr"/>
          <a:lstStyle/>
          <a:p>
            <a:pPr marL="0" indent="0">
              <a:buNone/>
            </a:pPr>
            <a:r>
              <a:rPr lang="en-US" sz="1400" b="1" dirty="0">
                <a:solidFill>
                  <a:schemeClr val="tx2"/>
                </a:solidFill>
              </a:rPr>
              <a:t>Generation · Générer</a:t>
            </a:r>
            <a:endParaRPr lang="en-US" sz="1400" dirty="0"/>
          </a:p>
        </p:txBody>
      </p:sp>
      <p:sp>
        <p:nvSpPr>
          <p:cNvPr id="21" name="txt-1013"/>
          <p:cNvSpPr txBox="1"/>
          <p:nvPr/>
        </p:nvSpPr>
        <p:spPr>
          <a:xfrm>
            <a:off x="9098280" y="4069080"/>
            <a:ext cx="2331720" cy="1051560"/>
          </a:xfrm>
          <a:prstGeom prst="rect">
            <a:avLst/>
          </a:prstGeom>
          <a:noFill/>
          <a:ln/>
        </p:spPr>
        <p:txBody>
          <a:bodyPr wrap="square" lIns="0" tIns="0" rIns="0" bIns="0" rtlCol="0" anchor="t"/>
          <a:lstStyle/>
          <a:p>
            <a:pPr marL="0" indent="0">
              <a:buNone/>
            </a:pPr>
            <a:r>
              <a:rPr lang="en-US" sz="1200" dirty="0">
                <a:solidFill>
                  <a:schemeClr val="tx1"/>
                </a:solidFill>
              </a:rPr>
              <a:t>Le modèle rédige la réponse à partir de ces passages et indique d'où vient chaque idée</a:t>
            </a:r>
            <a:endParaRPr lang="en-US" sz="1200" dirty="0"/>
          </a:p>
        </p:txBody>
      </p:sp>
      <p:sp>
        <p:nvSpPr>
          <p:cNvPr id="22" name="card-1014"/>
          <p:cNvSpPr/>
          <p:nvPr/>
        </p:nvSpPr>
        <p:spPr>
          <a:xfrm>
            <a:off x="548640" y="5349240"/>
            <a:ext cx="11064240" cy="621792"/>
          </a:xfrm>
          <a:prstGeom prst="roundRect">
            <a:avLst>
              <a:gd name="adj" fmla="val 11765"/>
            </a:avLst>
          </a:prstGeom>
          <a:solidFill>
            <a:schemeClr val="accent1"/>
          </a:solidFill>
          <a:ln w="6350">
            <a:solidFill>
              <a:schemeClr val="accent1"/>
            </a:solidFill>
            <a:prstDash val="solid"/>
          </a:ln>
        </p:spPr>
      </p:sp>
      <p:sp>
        <p:nvSpPr>
          <p:cNvPr id="23" name="txt-1015"/>
          <p:cNvSpPr txBox="1"/>
          <p:nvPr/>
        </p:nvSpPr>
        <p:spPr>
          <a:xfrm>
            <a:off x="822960" y="5349240"/>
            <a:ext cx="10515600" cy="621792"/>
          </a:xfrm>
          <a:prstGeom prst="rect">
            <a:avLst/>
          </a:prstGeom>
          <a:noFill/>
          <a:ln/>
        </p:spPr>
        <p:txBody>
          <a:bodyPr wrap="square" lIns="0" tIns="0" rIns="0" bIns="0" rtlCol="0" anchor="ctr"/>
          <a:lstStyle/>
          <a:p>
            <a:pPr marL="0" indent="0">
              <a:buNone/>
            </a:pPr>
            <a:r>
              <a:rPr lang="en-US" sz="1400" b="1" dirty="0">
                <a:solidFill>
                  <a:schemeClr val="tx2"/>
                </a:solidFill>
              </a:rPr>
              <a:t>Dans le « user flow » vu ce matin, le RAG agit à l'étape 2 : c'est le contexte qui change, pas le modèle.</a:t>
            </a:r>
            <a:endParaRPr lang="en-US" sz="1400" dirty="0"/>
          </a:p>
        </p:txBody>
      </p:sp>
      <p:sp>
        <p:nvSpPr>
          <p:cNvPr id="25" name="Slide Number Placeholder 0"/>
          <p:cNvSpPr>
            <a:spLocks noGrp="1"/>
          </p:cNvSpPr>
          <p:nvPr>
            <p:ph type="sldNum" sz="quarter" idx="4294967295"/>
          </p:nvPr>
        </p:nvSpPr>
        <p:spPr>
          <a:xfrm>
            <a:off x="11064240" y="6400800"/>
            <a:ext cx="54864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C82"/>
                </a:solidFill>
                <a:latin typeface="Poppins"/>
                <a:ea typeface="Poppins"/>
                <a:cs typeface="Poppins"/>
              </a:defRPr>
            </a:lvl1pPr>
          </a:lstStyle>
          <a:p>
            <a:pPr algn="r"/>
            <a:fld id="{F7021451-1387-4CA6-816F-3879F97B5CBC}" type="slidenum">
              <a:rPr lang="en-US" b="0"/>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566928"/>
            <a:ext cx="11064240" cy="777240"/>
          </a:xfrm>
          <a:prstGeom prst="rect">
            <a:avLst/>
          </a:prstGeom>
          <a:noFill/>
          <a:ln/>
        </p:spPr>
        <p:txBody>
          <a:bodyPr wrap="square" lIns="0" tIns="0" rIns="0" bIns="0" rtlCol="0" anchor="ctr"/>
          <a:lstStyle/>
          <a:p>
            <a:pPr marL="0" indent="0" algn="l">
              <a:buNone/>
            </a:pPr>
            <a:r>
              <a:rPr lang="en-US" sz="2700" b="1" dirty="0">
                <a:solidFill>
                  <a:schemeClr val="tx2"/>
                </a:solidFill>
                <a:latin typeface="Poppins" pitchFamily="34" charset="0"/>
                <a:ea typeface="Poppins" pitchFamily="34" charset="-122"/>
                <a:cs typeface="Poppins" pitchFamily="34" charset="-120"/>
              </a:rPr>
              <a:t>Comment fonctionne un RAG</a:t>
            </a:r>
            <a:endParaRPr lang="en-US" sz="2700" dirty="0"/>
          </a:p>
        </p:txBody>
      </p:sp>
      <p:sp>
        <p:nvSpPr>
          <p:cNvPr id="3" name="Text 0"/>
          <p:cNvSpPr>
            <a:spLocks noGrp="1"/>
          </p:cNvSpPr>
          <p:nvPr>
            <p:ph type="body" idx="101" hasCustomPrompt="1"/>
          </p:nvPr>
        </p:nvSpPr>
        <p:spPr>
          <a:xfrm>
            <a:off x="548640" y="256032"/>
            <a:ext cx="8229600" cy="292608"/>
          </a:xfrm>
          <a:prstGeom prst="rect">
            <a:avLst/>
          </a:prstGeom>
          <a:noFill/>
          <a:ln/>
        </p:spPr>
        <p:txBody>
          <a:bodyPr wrap="square" lIns="0" tIns="0" rIns="0" bIns="0" rtlCol="0" anchor="ctr"/>
          <a:lstStyle/>
          <a:p>
            <a:pPr marL="0" indent="0">
              <a:buNone/>
            </a:pPr>
            <a:r>
              <a:rPr lang="en-US" sz="1100" b="1" dirty="0">
                <a:solidFill>
                  <a:schemeClr val="accent1"/>
                </a:solidFill>
                <a:latin typeface="Poppins" pitchFamily="34" charset="0"/>
                <a:ea typeface="Poppins" pitchFamily="34" charset="-122"/>
                <a:cs typeface="Poppins" pitchFamily="34" charset="-120"/>
              </a:rPr>
              <a:t>T3 · LE RAG</a:t>
            </a:r>
            <a:endParaRPr lang="en-US" sz="1100" dirty="0"/>
          </a:p>
        </p:txBody>
      </p:sp>
      <p:sp>
        <p:nvSpPr>
          <p:cNvPr id="4" name="card-1016"/>
          <p:cNvSpPr/>
          <p:nvPr/>
        </p:nvSpPr>
        <p:spPr>
          <a:xfrm>
            <a:off x="548640" y="1600200"/>
            <a:ext cx="2011680" cy="3017520"/>
          </a:xfrm>
          <a:prstGeom prst="roundRect">
            <a:avLst>
              <a:gd name="adj" fmla="val 3636"/>
            </a:avLst>
          </a:prstGeom>
          <a:solidFill>
            <a:schemeClr val="bg2"/>
          </a:solidFill>
          <a:ln w="6350">
            <a:solidFill>
              <a:schemeClr val="bg2"/>
            </a:solidFill>
            <a:prstDash val="solid"/>
          </a:ln>
        </p:spPr>
      </p:sp>
      <p:sp>
        <p:nvSpPr>
          <p:cNvPr id="5" name="num-1017"/>
          <p:cNvSpPr/>
          <p:nvPr/>
        </p:nvSpPr>
        <p:spPr>
          <a:xfrm>
            <a:off x="685800" y="1737360"/>
            <a:ext cx="384048" cy="384048"/>
          </a:xfrm>
          <a:prstGeom prst="ellipse">
            <a:avLst/>
          </a:prstGeom>
          <a:solidFill>
            <a:schemeClr val="accent1"/>
          </a:solidFill>
          <a:ln w="12700">
            <a:solidFill>
              <a:schemeClr val="accent1"/>
            </a:solidFill>
            <a:prstDash val="solid"/>
          </a:ln>
        </p:spPr>
      </p:sp>
      <p:sp>
        <p:nvSpPr>
          <p:cNvPr id="6" name="txt-1018"/>
          <p:cNvSpPr txBox="1"/>
          <p:nvPr/>
        </p:nvSpPr>
        <p:spPr>
          <a:xfrm>
            <a:off x="685800" y="1737360"/>
            <a:ext cx="384048" cy="384048"/>
          </a:xfrm>
          <a:prstGeom prst="rect">
            <a:avLst/>
          </a:prstGeom>
          <a:noFill/>
          <a:ln/>
        </p:spPr>
        <p:txBody>
          <a:bodyPr wrap="square" lIns="0" tIns="0" rIns="0" bIns="0" rtlCol="0" anchor="ctr"/>
          <a:lstStyle/>
          <a:p>
            <a:pPr marL="0" indent="0" algn="ctr">
              <a:buNone/>
            </a:pPr>
            <a:r>
              <a:rPr lang="en-US" sz="1300" b="1" dirty="0">
                <a:solidFill>
                  <a:schemeClr val="tx2"/>
                </a:solidFill>
              </a:rPr>
              <a:t>1</a:t>
            </a:r>
            <a:endParaRPr lang="en-US" sz="1300" dirty="0"/>
          </a:p>
        </p:txBody>
      </p:sp>
      <p:sp>
        <p:nvSpPr>
          <p:cNvPr id="7" name="circle-1019"/>
          <p:cNvSpPr/>
          <p:nvPr/>
        </p:nvSpPr>
        <p:spPr>
          <a:xfrm>
            <a:off x="1143000" y="2103120"/>
            <a:ext cx="777240" cy="777240"/>
          </a:xfrm>
          <a:prstGeom prst="ellipse">
            <a:avLst/>
          </a:prstGeom>
          <a:solidFill>
            <a:schemeClr val="accent6"/>
          </a:solidFill>
          <a:ln w="12700">
            <a:solidFill>
              <a:schemeClr val="accent6"/>
            </a:solidFill>
            <a:prstDash val="solid"/>
          </a:ln>
        </p:spPr>
      </p:sp>
      <p:pic>
        <p:nvPicPr>
          <p:cNvPr id="8" name="icon-1020" descr="preencoded.png"/>
          <p:cNvPicPr>
            <a:picLocks noChangeAspect="1"/>
          </p:cNvPicPr>
          <p:nvPr/>
        </p:nvPicPr>
        <p:blipFill>
          <a:blip r:embed="rId3"/>
          <a:stretch>
            <a:fillRect/>
          </a:stretch>
        </p:blipFill>
        <p:spPr>
          <a:xfrm>
            <a:off x="1337310" y="2297430"/>
            <a:ext cx="388620" cy="388620"/>
          </a:xfrm>
          <a:prstGeom prst="rect">
            <a:avLst/>
          </a:prstGeom>
        </p:spPr>
      </p:pic>
      <p:sp>
        <p:nvSpPr>
          <p:cNvPr id="9" name="txt-1021"/>
          <p:cNvSpPr txBox="1"/>
          <p:nvPr/>
        </p:nvSpPr>
        <p:spPr>
          <a:xfrm>
            <a:off x="685800" y="3017520"/>
            <a:ext cx="1737360" cy="411480"/>
          </a:xfrm>
          <a:prstGeom prst="rect">
            <a:avLst/>
          </a:prstGeom>
          <a:noFill/>
          <a:ln/>
        </p:spPr>
        <p:txBody>
          <a:bodyPr wrap="square" lIns="0" tIns="0" rIns="0" bIns="0" rtlCol="0" anchor="t"/>
          <a:lstStyle/>
          <a:p>
            <a:pPr marL="0" indent="0" algn="ctr">
              <a:buNone/>
            </a:pPr>
            <a:r>
              <a:rPr lang="en-US" sz="1500" b="1" dirty="0">
                <a:solidFill>
                  <a:schemeClr val="tx2"/>
                </a:solidFill>
              </a:rPr>
              <a:t>Vos documents</a:t>
            </a:r>
            <a:endParaRPr lang="en-US" sz="1500" dirty="0"/>
          </a:p>
        </p:txBody>
      </p:sp>
      <p:sp>
        <p:nvSpPr>
          <p:cNvPr id="10" name="txt-1022"/>
          <p:cNvSpPr txBox="1"/>
          <p:nvPr/>
        </p:nvSpPr>
        <p:spPr>
          <a:xfrm>
            <a:off x="685800" y="3429000"/>
            <a:ext cx="1737360" cy="1143000"/>
          </a:xfrm>
          <a:prstGeom prst="rect">
            <a:avLst/>
          </a:prstGeom>
          <a:noFill/>
          <a:ln/>
        </p:spPr>
        <p:txBody>
          <a:bodyPr wrap="square" lIns="0" tIns="0" rIns="0" bIns="0" rtlCol="0" anchor="t"/>
          <a:lstStyle/>
          <a:p>
            <a:pPr marL="0" indent="0" algn="ctr">
              <a:buNone/>
            </a:pPr>
            <a:r>
              <a:rPr lang="en-US" sz="1200" dirty="0">
                <a:solidFill>
                  <a:schemeClr val="tx1"/>
                </a:solidFill>
              </a:rPr>
              <a:t>Entretiens, articles, rapports</a:t>
            </a:r>
            <a:endParaRPr lang="en-US" sz="1200" dirty="0"/>
          </a:p>
        </p:txBody>
      </p:sp>
      <p:sp>
        <p:nvSpPr>
          <p:cNvPr id="11" name="arrow-1023"/>
          <p:cNvSpPr/>
          <p:nvPr/>
        </p:nvSpPr>
        <p:spPr>
          <a:xfrm>
            <a:off x="2578608" y="3108960"/>
            <a:ext cx="201168" cy="0"/>
          </a:xfrm>
          <a:prstGeom prst="line">
            <a:avLst/>
          </a:prstGeom>
          <a:noFill/>
          <a:ln w="22225">
            <a:solidFill>
              <a:srgbClr val="6B7C82"/>
            </a:solidFill>
            <a:prstDash val="solid"/>
            <a:tailEnd type="triangle"/>
          </a:ln>
        </p:spPr>
      </p:sp>
      <p:sp>
        <p:nvSpPr>
          <p:cNvPr id="12" name="card-1024"/>
          <p:cNvSpPr/>
          <p:nvPr/>
        </p:nvSpPr>
        <p:spPr>
          <a:xfrm>
            <a:off x="2798064" y="1600200"/>
            <a:ext cx="2011680" cy="3017520"/>
          </a:xfrm>
          <a:prstGeom prst="roundRect">
            <a:avLst>
              <a:gd name="adj" fmla="val 3636"/>
            </a:avLst>
          </a:prstGeom>
          <a:solidFill>
            <a:schemeClr val="bg2"/>
          </a:solidFill>
          <a:ln w="6350">
            <a:solidFill>
              <a:schemeClr val="bg2"/>
            </a:solidFill>
            <a:prstDash val="solid"/>
          </a:ln>
        </p:spPr>
      </p:sp>
      <p:sp>
        <p:nvSpPr>
          <p:cNvPr id="13" name="num-1025"/>
          <p:cNvSpPr/>
          <p:nvPr/>
        </p:nvSpPr>
        <p:spPr>
          <a:xfrm>
            <a:off x="2935224" y="1737360"/>
            <a:ext cx="384048" cy="384048"/>
          </a:xfrm>
          <a:prstGeom prst="ellipse">
            <a:avLst/>
          </a:prstGeom>
          <a:solidFill>
            <a:schemeClr val="accent1"/>
          </a:solidFill>
          <a:ln w="12700">
            <a:solidFill>
              <a:schemeClr val="accent1"/>
            </a:solidFill>
            <a:prstDash val="solid"/>
          </a:ln>
        </p:spPr>
      </p:sp>
      <p:sp>
        <p:nvSpPr>
          <p:cNvPr id="14" name="txt-1026"/>
          <p:cNvSpPr txBox="1"/>
          <p:nvPr/>
        </p:nvSpPr>
        <p:spPr>
          <a:xfrm>
            <a:off x="2935224" y="1737360"/>
            <a:ext cx="384048" cy="384048"/>
          </a:xfrm>
          <a:prstGeom prst="rect">
            <a:avLst/>
          </a:prstGeom>
          <a:noFill/>
          <a:ln/>
        </p:spPr>
        <p:txBody>
          <a:bodyPr wrap="square" lIns="0" tIns="0" rIns="0" bIns="0" rtlCol="0" anchor="ctr"/>
          <a:lstStyle/>
          <a:p>
            <a:pPr marL="0" indent="0" algn="ctr">
              <a:buNone/>
            </a:pPr>
            <a:r>
              <a:rPr lang="en-US" sz="1300" b="1" dirty="0">
                <a:solidFill>
                  <a:schemeClr val="tx2"/>
                </a:solidFill>
              </a:rPr>
              <a:t>2</a:t>
            </a:r>
            <a:endParaRPr lang="en-US" sz="1300" dirty="0"/>
          </a:p>
        </p:txBody>
      </p:sp>
      <p:sp>
        <p:nvSpPr>
          <p:cNvPr id="15" name="circle-1027"/>
          <p:cNvSpPr/>
          <p:nvPr/>
        </p:nvSpPr>
        <p:spPr>
          <a:xfrm>
            <a:off x="3392424" y="2103120"/>
            <a:ext cx="777240" cy="777240"/>
          </a:xfrm>
          <a:prstGeom prst="ellipse">
            <a:avLst/>
          </a:prstGeom>
          <a:solidFill>
            <a:schemeClr val="accent6"/>
          </a:solidFill>
          <a:ln w="12700">
            <a:solidFill>
              <a:schemeClr val="accent6"/>
            </a:solidFill>
            <a:prstDash val="solid"/>
          </a:ln>
        </p:spPr>
      </p:sp>
      <p:pic>
        <p:nvPicPr>
          <p:cNvPr id="16" name="icon-1028" descr="preencoded.png"/>
          <p:cNvPicPr>
            <a:picLocks noChangeAspect="1"/>
          </p:cNvPicPr>
          <p:nvPr/>
        </p:nvPicPr>
        <p:blipFill>
          <a:blip r:embed="rId4"/>
          <a:stretch>
            <a:fillRect/>
          </a:stretch>
        </p:blipFill>
        <p:spPr>
          <a:xfrm>
            <a:off x="3586734" y="2297430"/>
            <a:ext cx="388620" cy="388620"/>
          </a:xfrm>
          <a:prstGeom prst="rect">
            <a:avLst/>
          </a:prstGeom>
        </p:spPr>
      </p:pic>
      <p:sp>
        <p:nvSpPr>
          <p:cNvPr id="17" name="txt-1029"/>
          <p:cNvSpPr txBox="1"/>
          <p:nvPr/>
        </p:nvSpPr>
        <p:spPr>
          <a:xfrm>
            <a:off x="2935224" y="3017520"/>
            <a:ext cx="1737360" cy="411480"/>
          </a:xfrm>
          <a:prstGeom prst="rect">
            <a:avLst/>
          </a:prstGeom>
          <a:noFill/>
          <a:ln/>
        </p:spPr>
        <p:txBody>
          <a:bodyPr wrap="square" lIns="0" tIns="0" rIns="0" bIns="0" rtlCol="0" anchor="t"/>
          <a:lstStyle/>
          <a:p>
            <a:pPr marL="0" indent="0" algn="ctr">
              <a:buNone/>
            </a:pPr>
            <a:r>
              <a:rPr lang="en-US" sz="1500" b="1" dirty="0">
                <a:solidFill>
                  <a:schemeClr val="tx2"/>
                </a:solidFill>
              </a:rPr>
              <a:t>Découpage</a:t>
            </a:r>
            <a:endParaRPr lang="en-US" sz="1500" dirty="0"/>
          </a:p>
        </p:txBody>
      </p:sp>
      <p:sp>
        <p:nvSpPr>
          <p:cNvPr id="18" name="txt-1030"/>
          <p:cNvSpPr txBox="1"/>
          <p:nvPr/>
        </p:nvSpPr>
        <p:spPr>
          <a:xfrm>
            <a:off x="2935224" y="3429000"/>
            <a:ext cx="1737360" cy="1143000"/>
          </a:xfrm>
          <a:prstGeom prst="rect">
            <a:avLst/>
          </a:prstGeom>
          <a:noFill/>
          <a:ln/>
        </p:spPr>
        <p:txBody>
          <a:bodyPr wrap="square" lIns="0" tIns="0" rIns="0" bIns="0" rtlCol="0" anchor="t"/>
          <a:lstStyle/>
          <a:p>
            <a:pPr marL="0" indent="0" algn="ctr">
              <a:buNone/>
            </a:pPr>
            <a:r>
              <a:rPr lang="en-US" sz="1200" dirty="0">
                <a:solidFill>
                  <a:schemeClr val="tx1"/>
                </a:solidFill>
              </a:rPr>
              <a:t>En courts passages</a:t>
            </a:r>
            <a:endParaRPr lang="en-US" sz="1200" dirty="0"/>
          </a:p>
        </p:txBody>
      </p:sp>
      <p:sp>
        <p:nvSpPr>
          <p:cNvPr id="19" name="arrow-1031"/>
          <p:cNvSpPr/>
          <p:nvPr/>
        </p:nvSpPr>
        <p:spPr>
          <a:xfrm>
            <a:off x="4828032" y="3108960"/>
            <a:ext cx="201168" cy="0"/>
          </a:xfrm>
          <a:prstGeom prst="line">
            <a:avLst/>
          </a:prstGeom>
          <a:noFill/>
          <a:ln w="22225">
            <a:solidFill>
              <a:srgbClr val="6B7C82"/>
            </a:solidFill>
            <a:prstDash val="solid"/>
            <a:tailEnd type="triangle"/>
          </a:ln>
        </p:spPr>
      </p:sp>
      <p:sp>
        <p:nvSpPr>
          <p:cNvPr id="20" name="card-1032"/>
          <p:cNvSpPr/>
          <p:nvPr/>
        </p:nvSpPr>
        <p:spPr>
          <a:xfrm>
            <a:off x="5047488" y="1600200"/>
            <a:ext cx="2011680" cy="3017520"/>
          </a:xfrm>
          <a:prstGeom prst="roundRect">
            <a:avLst>
              <a:gd name="adj" fmla="val 3636"/>
            </a:avLst>
          </a:prstGeom>
          <a:solidFill>
            <a:schemeClr val="bg2"/>
          </a:solidFill>
          <a:ln w="6350">
            <a:solidFill>
              <a:schemeClr val="bg2"/>
            </a:solidFill>
            <a:prstDash val="solid"/>
          </a:ln>
        </p:spPr>
      </p:sp>
      <p:sp>
        <p:nvSpPr>
          <p:cNvPr id="21" name="num-1033"/>
          <p:cNvSpPr/>
          <p:nvPr/>
        </p:nvSpPr>
        <p:spPr>
          <a:xfrm>
            <a:off x="5184648" y="1737360"/>
            <a:ext cx="384048" cy="384048"/>
          </a:xfrm>
          <a:prstGeom prst="ellipse">
            <a:avLst/>
          </a:prstGeom>
          <a:solidFill>
            <a:schemeClr val="accent1"/>
          </a:solidFill>
          <a:ln w="12700">
            <a:solidFill>
              <a:schemeClr val="accent1"/>
            </a:solidFill>
            <a:prstDash val="solid"/>
          </a:ln>
        </p:spPr>
      </p:sp>
      <p:sp>
        <p:nvSpPr>
          <p:cNvPr id="22" name="txt-1034"/>
          <p:cNvSpPr txBox="1"/>
          <p:nvPr/>
        </p:nvSpPr>
        <p:spPr>
          <a:xfrm>
            <a:off x="5184648" y="1737360"/>
            <a:ext cx="384048" cy="384048"/>
          </a:xfrm>
          <a:prstGeom prst="rect">
            <a:avLst/>
          </a:prstGeom>
          <a:noFill/>
          <a:ln/>
        </p:spPr>
        <p:txBody>
          <a:bodyPr wrap="square" lIns="0" tIns="0" rIns="0" bIns="0" rtlCol="0" anchor="ctr"/>
          <a:lstStyle/>
          <a:p>
            <a:pPr marL="0" indent="0" algn="ctr">
              <a:buNone/>
            </a:pPr>
            <a:r>
              <a:rPr lang="en-US" sz="1300" b="1" dirty="0">
                <a:solidFill>
                  <a:schemeClr val="tx2"/>
                </a:solidFill>
              </a:rPr>
              <a:t>3</a:t>
            </a:r>
            <a:endParaRPr lang="en-US" sz="1300" dirty="0"/>
          </a:p>
        </p:txBody>
      </p:sp>
      <p:sp>
        <p:nvSpPr>
          <p:cNvPr id="23" name="circle-1035"/>
          <p:cNvSpPr/>
          <p:nvPr/>
        </p:nvSpPr>
        <p:spPr>
          <a:xfrm>
            <a:off x="5641848" y="2103120"/>
            <a:ext cx="777240" cy="777240"/>
          </a:xfrm>
          <a:prstGeom prst="ellipse">
            <a:avLst/>
          </a:prstGeom>
          <a:solidFill>
            <a:schemeClr val="accent6"/>
          </a:solidFill>
          <a:ln w="12700">
            <a:solidFill>
              <a:schemeClr val="accent6"/>
            </a:solidFill>
            <a:prstDash val="solid"/>
          </a:ln>
        </p:spPr>
      </p:sp>
      <p:pic>
        <p:nvPicPr>
          <p:cNvPr id="24" name="icon-1036" descr="preencoded.png"/>
          <p:cNvPicPr>
            <a:picLocks noChangeAspect="1"/>
          </p:cNvPicPr>
          <p:nvPr/>
        </p:nvPicPr>
        <p:blipFill>
          <a:blip r:embed="rId5"/>
          <a:stretch>
            <a:fillRect/>
          </a:stretch>
        </p:blipFill>
        <p:spPr>
          <a:xfrm>
            <a:off x="5836158" y="2297430"/>
            <a:ext cx="388620" cy="388620"/>
          </a:xfrm>
          <a:prstGeom prst="rect">
            <a:avLst/>
          </a:prstGeom>
        </p:spPr>
      </p:pic>
      <p:sp>
        <p:nvSpPr>
          <p:cNvPr id="25" name="txt-1037"/>
          <p:cNvSpPr txBox="1"/>
          <p:nvPr/>
        </p:nvSpPr>
        <p:spPr>
          <a:xfrm>
            <a:off x="5184648" y="3017520"/>
            <a:ext cx="1737360" cy="411480"/>
          </a:xfrm>
          <a:prstGeom prst="rect">
            <a:avLst/>
          </a:prstGeom>
          <a:noFill/>
          <a:ln/>
        </p:spPr>
        <p:txBody>
          <a:bodyPr wrap="square" lIns="0" tIns="0" rIns="0" bIns="0" rtlCol="0" anchor="t"/>
          <a:lstStyle/>
          <a:p>
            <a:pPr marL="0" indent="0" algn="ctr">
              <a:buNone/>
            </a:pPr>
            <a:r>
              <a:rPr lang="en-US" sz="1500" b="1" dirty="0">
                <a:solidFill>
                  <a:schemeClr val="tx2"/>
                </a:solidFill>
              </a:rPr>
              <a:t>Indexation</a:t>
            </a:r>
            <a:endParaRPr lang="en-US" sz="1500" dirty="0"/>
          </a:p>
        </p:txBody>
      </p:sp>
      <p:sp>
        <p:nvSpPr>
          <p:cNvPr id="26" name="txt-1038"/>
          <p:cNvSpPr txBox="1"/>
          <p:nvPr/>
        </p:nvSpPr>
        <p:spPr>
          <a:xfrm>
            <a:off x="5184648" y="3429000"/>
            <a:ext cx="1737360" cy="1143000"/>
          </a:xfrm>
          <a:prstGeom prst="rect">
            <a:avLst/>
          </a:prstGeom>
          <a:noFill/>
          <a:ln/>
        </p:spPr>
        <p:txBody>
          <a:bodyPr wrap="square" lIns="0" tIns="0" rIns="0" bIns="0" rtlCol="0" anchor="t"/>
          <a:lstStyle/>
          <a:p>
            <a:pPr marL="0" indent="0" algn="ctr">
              <a:buNone/>
            </a:pPr>
            <a:r>
              <a:rPr lang="en-US" sz="1200" dirty="0">
                <a:solidFill>
                  <a:schemeClr val="tx1"/>
                </a:solidFill>
              </a:rPr>
              <a:t>Chaque passage reçoit une « empreinte de sens »</a:t>
            </a:r>
            <a:endParaRPr lang="en-US" sz="1200" dirty="0"/>
          </a:p>
        </p:txBody>
      </p:sp>
      <p:sp>
        <p:nvSpPr>
          <p:cNvPr id="27" name="arrow-1039"/>
          <p:cNvSpPr/>
          <p:nvPr/>
        </p:nvSpPr>
        <p:spPr>
          <a:xfrm>
            <a:off x="7077456" y="3108960"/>
            <a:ext cx="201168" cy="0"/>
          </a:xfrm>
          <a:prstGeom prst="line">
            <a:avLst/>
          </a:prstGeom>
          <a:noFill/>
          <a:ln w="22225">
            <a:solidFill>
              <a:srgbClr val="6B7C82"/>
            </a:solidFill>
            <a:prstDash val="solid"/>
            <a:tailEnd type="triangle"/>
          </a:ln>
        </p:spPr>
      </p:sp>
      <p:sp>
        <p:nvSpPr>
          <p:cNvPr id="28" name="card-1040"/>
          <p:cNvSpPr/>
          <p:nvPr/>
        </p:nvSpPr>
        <p:spPr>
          <a:xfrm>
            <a:off x="7296912" y="1600200"/>
            <a:ext cx="2011680" cy="3017520"/>
          </a:xfrm>
          <a:prstGeom prst="roundRect">
            <a:avLst>
              <a:gd name="adj" fmla="val 3636"/>
            </a:avLst>
          </a:prstGeom>
          <a:solidFill>
            <a:schemeClr val="bg2"/>
          </a:solidFill>
          <a:ln w="6350">
            <a:solidFill>
              <a:schemeClr val="bg2"/>
            </a:solidFill>
            <a:prstDash val="solid"/>
          </a:ln>
        </p:spPr>
      </p:sp>
      <p:sp>
        <p:nvSpPr>
          <p:cNvPr id="29" name="num-1041"/>
          <p:cNvSpPr/>
          <p:nvPr/>
        </p:nvSpPr>
        <p:spPr>
          <a:xfrm>
            <a:off x="7434072" y="1737360"/>
            <a:ext cx="384048" cy="384048"/>
          </a:xfrm>
          <a:prstGeom prst="ellipse">
            <a:avLst/>
          </a:prstGeom>
          <a:solidFill>
            <a:schemeClr val="accent1"/>
          </a:solidFill>
          <a:ln w="12700">
            <a:solidFill>
              <a:schemeClr val="accent1"/>
            </a:solidFill>
            <a:prstDash val="solid"/>
          </a:ln>
        </p:spPr>
      </p:sp>
      <p:sp>
        <p:nvSpPr>
          <p:cNvPr id="30" name="txt-1042"/>
          <p:cNvSpPr txBox="1"/>
          <p:nvPr/>
        </p:nvSpPr>
        <p:spPr>
          <a:xfrm>
            <a:off x="7434072" y="1737360"/>
            <a:ext cx="384048" cy="384048"/>
          </a:xfrm>
          <a:prstGeom prst="rect">
            <a:avLst/>
          </a:prstGeom>
          <a:noFill/>
          <a:ln/>
        </p:spPr>
        <p:txBody>
          <a:bodyPr wrap="square" lIns="0" tIns="0" rIns="0" bIns="0" rtlCol="0" anchor="ctr"/>
          <a:lstStyle/>
          <a:p>
            <a:pPr marL="0" indent="0" algn="ctr">
              <a:buNone/>
            </a:pPr>
            <a:r>
              <a:rPr lang="en-US" sz="1300" b="1" dirty="0">
                <a:solidFill>
                  <a:schemeClr val="tx2"/>
                </a:solidFill>
              </a:rPr>
              <a:t>4</a:t>
            </a:r>
            <a:endParaRPr lang="en-US" sz="1300" dirty="0"/>
          </a:p>
        </p:txBody>
      </p:sp>
      <p:sp>
        <p:nvSpPr>
          <p:cNvPr id="31" name="circle-1043"/>
          <p:cNvSpPr/>
          <p:nvPr/>
        </p:nvSpPr>
        <p:spPr>
          <a:xfrm>
            <a:off x="7891272" y="2103120"/>
            <a:ext cx="777240" cy="777240"/>
          </a:xfrm>
          <a:prstGeom prst="ellipse">
            <a:avLst/>
          </a:prstGeom>
          <a:solidFill>
            <a:schemeClr val="accent6"/>
          </a:solidFill>
          <a:ln w="12700">
            <a:solidFill>
              <a:schemeClr val="accent6"/>
            </a:solidFill>
            <a:prstDash val="solid"/>
          </a:ln>
        </p:spPr>
      </p:sp>
      <p:pic>
        <p:nvPicPr>
          <p:cNvPr id="32" name="icon-1044" descr="preencoded.png"/>
          <p:cNvPicPr>
            <a:picLocks noChangeAspect="1"/>
          </p:cNvPicPr>
          <p:nvPr/>
        </p:nvPicPr>
        <p:blipFill>
          <a:blip r:embed="rId6"/>
          <a:stretch>
            <a:fillRect/>
          </a:stretch>
        </p:blipFill>
        <p:spPr>
          <a:xfrm>
            <a:off x="8085582" y="2297430"/>
            <a:ext cx="388620" cy="388620"/>
          </a:xfrm>
          <a:prstGeom prst="rect">
            <a:avLst/>
          </a:prstGeom>
        </p:spPr>
      </p:pic>
      <p:sp>
        <p:nvSpPr>
          <p:cNvPr id="33" name="txt-1045"/>
          <p:cNvSpPr txBox="1"/>
          <p:nvPr/>
        </p:nvSpPr>
        <p:spPr>
          <a:xfrm>
            <a:off x="7434072" y="3017520"/>
            <a:ext cx="1737360" cy="411480"/>
          </a:xfrm>
          <a:prstGeom prst="rect">
            <a:avLst/>
          </a:prstGeom>
          <a:noFill/>
          <a:ln/>
        </p:spPr>
        <p:txBody>
          <a:bodyPr wrap="square" lIns="0" tIns="0" rIns="0" bIns="0" rtlCol="0" anchor="t"/>
          <a:lstStyle/>
          <a:p>
            <a:pPr marL="0" indent="0" algn="ctr">
              <a:buNone/>
            </a:pPr>
            <a:r>
              <a:rPr lang="en-US" sz="1500" b="1" dirty="0">
                <a:solidFill>
                  <a:schemeClr val="tx2"/>
                </a:solidFill>
              </a:rPr>
              <a:t>Recherche</a:t>
            </a:r>
            <a:endParaRPr lang="en-US" sz="1500" dirty="0"/>
          </a:p>
        </p:txBody>
      </p:sp>
      <p:sp>
        <p:nvSpPr>
          <p:cNvPr id="34" name="txt-1046"/>
          <p:cNvSpPr txBox="1"/>
          <p:nvPr/>
        </p:nvSpPr>
        <p:spPr>
          <a:xfrm>
            <a:off x="7434072" y="3429000"/>
            <a:ext cx="1737360" cy="1143000"/>
          </a:xfrm>
          <a:prstGeom prst="rect">
            <a:avLst/>
          </a:prstGeom>
          <a:noFill/>
          <a:ln/>
        </p:spPr>
        <p:txBody>
          <a:bodyPr wrap="square" lIns="0" tIns="0" rIns="0" bIns="0" rtlCol="0" anchor="t"/>
          <a:lstStyle/>
          <a:p>
            <a:pPr marL="0" indent="0" algn="ctr">
              <a:buNone/>
            </a:pPr>
            <a:r>
              <a:rPr lang="en-US" sz="1200" dirty="0">
                <a:solidFill>
                  <a:schemeClr val="tx1"/>
                </a:solidFill>
              </a:rPr>
              <a:t>Votre question est comparée aux empreintes : les passages proches sont retrouvés</a:t>
            </a:r>
            <a:endParaRPr lang="en-US" sz="1200" dirty="0"/>
          </a:p>
        </p:txBody>
      </p:sp>
      <p:sp>
        <p:nvSpPr>
          <p:cNvPr id="35" name="arrow-1047"/>
          <p:cNvSpPr/>
          <p:nvPr/>
        </p:nvSpPr>
        <p:spPr>
          <a:xfrm>
            <a:off x="9326880" y="3108960"/>
            <a:ext cx="201168" cy="0"/>
          </a:xfrm>
          <a:prstGeom prst="line">
            <a:avLst/>
          </a:prstGeom>
          <a:noFill/>
          <a:ln w="22225">
            <a:solidFill>
              <a:srgbClr val="6B7C82"/>
            </a:solidFill>
            <a:prstDash val="solid"/>
            <a:tailEnd type="triangle"/>
          </a:ln>
        </p:spPr>
      </p:sp>
      <p:sp>
        <p:nvSpPr>
          <p:cNvPr id="36" name="card-1048"/>
          <p:cNvSpPr/>
          <p:nvPr/>
        </p:nvSpPr>
        <p:spPr>
          <a:xfrm>
            <a:off x="9546336" y="1600200"/>
            <a:ext cx="2011680" cy="3017520"/>
          </a:xfrm>
          <a:prstGeom prst="roundRect">
            <a:avLst>
              <a:gd name="adj" fmla="val 3636"/>
            </a:avLst>
          </a:prstGeom>
          <a:solidFill>
            <a:schemeClr val="tx2"/>
          </a:solidFill>
          <a:ln w="6350">
            <a:solidFill>
              <a:schemeClr val="tx2"/>
            </a:solidFill>
            <a:prstDash val="solid"/>
          </a:ln>
        </p:spPr>
      </p:sp>
      <p:sp>
        <p:nvSpPr>
          <p:cNvPr id="37" name="num-1049"/>
          <p:cNvSpPr/>
          <p:nvPr/>
        </p:nvSpPr>
        <p:spPr>
          <a:xfrm>
            <a:off x="9683496" y="1737360"/>
            <a:ext cx="384048" cy="384048"/>
          </a:xfrm>
          <a:prstGeom prst="ellipse">
            <a:avLst/>
          </a:prstGeom>
          <a:solidFill>
            <a:schemeClr val="accent1"/>
          </a:solidFill>
          <a:ln w="12700">
            <a:solidFill>
              <a:schemeClr val="accent1"/>
            </a:solidFill>
            <a:prstDash val="solid"/>
          </a:ln>
        </p:spPr>
      </p:sp>
      <p:sp>
        <p:nvSpPr>
          <p:cNvPr id="38" name="txt-1050"/>
          <p:cNvSpPr txBox="1"/>
          <p:nvPr/>
        </p:nvSpPr>
        <p:spPr>
          <a:xfrm>
            <a:off x="9683496" y="1737360"/>
            <a:ext cx="384048" cy="384048"/>
          </a:xfrm>
          <a:prstGeom prst="rect">
            <a:avLst/>
          </a:prstGeom>
          <a:noFill/>
          <a:ln/>
        </p:spPr>
        <p:txBody>
          <a:bodyPr wrap="square" lIns="0" tIns="0" rIns="0" bIns="0" rtlCol="0" anchor="ctr"/>
          <a:lstStyle/>
          <a:p>
            <a:pPr marL="0" indent="0" algn="ctr">
              <a:buNone/>
            </a:pPr>
            <a:r>
              <a:rPr lang="en-US" sz="1300" b="1" dirty="0">
                <a:solidFill>
                  <a:schemeClr val="tx2"/>
                </a:solidFill>
              </a:rPr>
              <a:t>5</a:t>
            </a:r>
            <a:endParaRPr lang="en-US" sz="1300" dirty="0"/>
          </a:p>
        </p:txBody>
      </p:sp>
      <p:sp>
        <p:nvSpPr>
          <p:cNvPr id="39" name="circle-1051"/>
          <p:cNvSpPr/>
          <p:nvPr/>
        </p:nvSpPr>
        <p:spPr>
          <a:xfrm>
            <a:off x="10140696" y="2103120"/>
            <a:ext cx="777240" cy="777240"/>
          </a:xfrm>
          <a:prstGeom prst="ellipse">
            <a:avLst/>
          </a:prstGeom>
          <a:solidFill>
            <a:schemeClr val="accent1"/>
          </a:solidFill>
          <a:ln w="12700">
            <a:solidFill>
              <a:schemeClr val="accent1"/>
            </a:solidFill>
            <a:prstDash val="solid"/>
          </a:ln>
        </p:spPr>
      </p:sp>
      <p:pic>
        <p:nvPicPr>
          <p:cNvPr id="40" name="icon-1052" descr="preencoded.png"/>
          <p:cNvPicPr>
            <a:picLocks noChangeAspect="1"/>
          </p:cNvPicPr>
          <p:nvPr/>
        </p:nvPicPr>
        <p:blipFill>
          <a:blip r:embed="rId7"/>
          <a:stretch>
            <a:fillRect/>
          </a:stretch>
        </p:blipFill>
        <p:spPr>
          <a:xfrm>
            <a:off x="10335006" y="2297430"/>
            <a:ext cx="388620" cy="388620"/>
          </a:xfrm>
          <a:prstGeom prst="rect">
            <a:avLst/>
          </a:prstGeom>
        </p:spPr>
      </p:pic>
      <p:sp>
        <p:nvSpPr>
          <p:cNvPr id="41" name="txt-1053"/>
          <p:cNvSpPr txBox="1"/>
          <p:nvPr/>
        </p:nvSpPr>
        <p:spPr>
          <a:xfrm>
            <a:off x="9683496" y="3017520"/>
            <a:ext cx="1737360" cy="411480"/>
          </a:xfrm>
          <a:prstGeom prst="rect">
            <a:avLst/>
          </a:prstGeom>
          <a:noFill/>
          <a:ln/>
        </p:spPr>
        <p:txBody>
          <a:bodyPr wrap="square" lIns="0" tIns="0" rIns="0" bIns="0" rtlCol="0" anchor="t"/>
          <a:lstStyle/>
          <a:p>
            <a:pPr marL="0" indent="0" algn="ctr">
              <a:buNone/>
            </a:pPr>
            <a:r>
              <a:rPr lang="en-US" sz="1500" b="1" dirty="0">
                <a:solidFill>
                  <a:schemeClr val="bg1"/>
                </a:solidFill>
              </a:rPr>
              <a:t>Réponse citée</a:t>
            </a:r>
            <a:endParaRPr lang="en-US" sz="1500" dirty="0"/>
          </a:p>
        </p:txBody>
      </p:sp>
      <p:sp>
        <p:nvSpPr>
          <p:cNvPr id="42" name="txt-1054"/>
          <p:cNvSpPr txBox="1"/>
          <p:nvPr/>
        </p:nvSpPr>
        <p:spPr>
          <a:xfrm>
            <a:off x="9683496" y="3429000"/>
            <a:ext cx="1737360" cy="1143000"/>
          </a:xfrm>
          <a:prstGeom prst="rect">
            <a:avLst/>
          </a:prstGeom>
          <a:noFill/>
          <a:ln/>
        </p:spPr>
        <p:txBody>
          <a:bodyPr wrap="square" lIns="0" tIns="0" rIns="0" bIns="0" rtlCol="0" anchor="t"/>
          <a:lstStyle/>
          <a:p>
            <a:pPr marL="0" indent="0" algn="ctr">
              <a:buNone/>
            </a:pPr>
            <a:r>
              <a:rPr lang="en-US" sz="1200" dirty="0">
                <a:solidFill>
                  <a:schemeClr val="bg2"/>
                </a:solidFill>
              </a:rPr>
              <a:t>L'IA rédige à partir de ces passages et les cite</a:t>
            </a:r>
            <a:endParaRPr lang="en-US" sz="1200" dirty="0"/>
          </a:p>
        </p:txBody>
      </p:sp>
      <p:sp>
        <p:nvSpPr>
          <p:cNvPr id="43" name="txt-1055"/>
          <p:cNvSpPr txBox="1"/>
          <p:nvPr/>
        </p:nvSpPr>
        <p:spPr>
          <a:xfrm>
            <a:off x="548640" y="4754880"/>
            <a:ext cx="11064240" cy="320040"/>
          </a:xfrm>
          <a:prstGeom prst="rect">
            <a:avLst/>
          </a:prstGeom>
          <a:noFill/>
          <a:ln/>
        </p:spPr>
        <p:txBody>
          <a:bodyPr wrap="square" lIns="0" tIns="0" rIns="0" bIns="0" rtlCol="0" anchor="t"/>
          <a:lstStyle/>
          <a:p>
            <a:pPr marL="0" indent="0">
              <a:buNone/>
            </a:pPr>
            <a:r>
              <a:rPr lang="en-US" sz="1300" b="1" dirty="0">
                <a:solidFill>
                  <a:schemeClr val="accent5"/>
                </a:solidFill>
              </a:rPr>
              <a:t>Étapes 1 à 3 : </a:t>
            </a:r>
            <a:r>
              <a:rPr lang="en-US" sz="1300" dirty="0">
                <a:solidFill>
                  <a:schemeClr val="accent5"/>
                </a:solidFill>
              </a:rPr>
              <a:t>faites une fois, quand vous ajoutez vos sources.    </a:t>
            </a:r>
            <a:r>
              <a:rPr lang="en-US" sz="1300" b="1" dirty="0">
                <a:solidFill>
                  <a:schemeClr val="accent5"/>
                </a:solidFill>
              </a:rPr>
              <a:t>Étapes 4 et 5 : </a:t>
            </a:r>
            <a:r>
              <a:rPr lang="en-US" sz="1300" dirty="0">
                <a:solidFill>
                  <a:schemeClr val="accent5"/>
                </a:solidFill>
              </a:rPr>
              <a:t>à chaque question.</a:t>
            </a:r>
            <a:endParaRPr lang="en-US" sz="1300" dirty="0"/>
          </a:p>
        </p:txBody>
      </p:sp>
      <p:sp>
        <p:nvSpPr>
          <p:cNvPr id="44" name="card-1056"/>
          <p:cNvSpPr/>
          <p:nvPr/>
        </p:nvSpPr>
        <p:spPr>
          <a:xfrm>
            <a:off x="548640" y="5212080"/>
            <a:ext cx="11064240" cy="777240"/>
          </a:xfrm>
          <a:prstGeom prst="roundRect">
            <a:avLst>
              <a:gd name="adj" fmla="val 9412"/>
            </a:avLst>
          </a:prstGeom>
          <a:solidFill>
            <a:schemeClr val="accent1"/>
          </a:solidFill>
          <a:ln w="6350">
            <a:solidFill>
              <a:schemeClr val="accent1"/>
            </a:solidFill>
            <a:prstDash val="solid"/>
          </a:ln>
        </p:spPr>
      </p:sp>
      <p:sp>
        <p:nvSpPr>
          <p:cNvPr id="45" name="txt-1057"/>
          <p:cNvSpPr txBox="1"/>
          <p:nvPr/>
        </p:nvSpPr>
        <p:spPr>
          <a:xfrm>
            <a:off x="822960" y="5212080"/>
            <a:ext cx="10515600" cy="777240"/>
          </a:xfrm>
          <a:prstGeom prst="rect">
            <a:avLst/>
          </a:prstGeom>
          <a:noFill/>
          <a:ln/>
        </p:spPr>
        <p:txBody>
          <a:bodyPr wrap="square" lIns="0" tIns="0" rIns="0" bIns="0" rtlCol="0" anchor="ctr"/>
          <a:lstStyle/>
          <a:p>
            <a:pPr marL="0" indent="0">
              <a:buNone/>
            </a:pPr>
            <a:r>
              <a:rPr lang="en-US" sz="1500" b="1" dirty="0">
                <a:solidFill>
                  <a:schemeClr val="tx2"/>
                </a:solidFill>
              </a:rPr>
              <a:t>Comme une bibliothécaire qui cherche d'abord dans VOS rayons, puis vous répond en indiquant l'étagère.</a:t>
            </a:r>
            <a:endParaRPr lang="en-US" sz="1500" dirty="0"/>
          </a:p>
        </p:txBody>
      </p:sp>
      <p:sp>
        <p:nvSpPr>
          <p:cNvPr id="46" name="Slide Number Placeholder 0"/>
          <p:cNvSpPr>
            <a:spLocks noGrp="1"/>
          </p:cNvSpPr>
          <p:nvPr>
            <p:ph type="sldNum" sz="quarter" idx="4294967295"/>
          </p:nvPr>
        </p:nvSpPr>
        <p:spPr>
          <a:xfrm>
            <a:off x="11064240" y="6400800"/>
            <a:ext cx="54864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C82"/>
                </a:solidFill>
                <a:latin typeface="Poppins"/>
                <a:ea typeface="Poppins"/>
                <a:cs typeface="Poppins"/>
              </a:defRPr>
            </a:lvl1pPr>
          </a:lstStyle>
          <a:p>
            <a:pPr algn="r"/>
            <a:fld id="{F7021451-1387-4CA6-816F-3879F97B5CBC}" type="slidenum">
              <a:rPr lang="en-US" b="0"/>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566928"/>
            <a:ext cx="11064240" cy="777240"/>
          </a:xfrm>
          <a:prstGeom prst="rect">
            <a:avLst/>
          </a:prstGeom>
          <a:noFill/>
          <a:ln/>
        </p:spPr>
        <p:txBody>
          <a:bodyPr wrap="square" lIns="0" tIns="0" rIns="0" bIns="0" rtlCol="0" anchor="ctr"/>
          <a:lstStyle/>
          <a:p>
            <a:pPr marL="0" indent="0" algn="l">
              <a:buNone/>
            </a:pPr>
            <a:r>
              <a:rPr lang="en-US" sz="2700" b="1" dirty="0">
                <a:solidFill>
                  <a:schemeClr val="tx2"/>
                </a:solidFill>
                <a:latin typeface="Poppins" pitchFamily="34" charset="0"/>
                <a:ea typeface="Poppins" pitchFamily="34" charset="-122"/>
                <a:cs typeface="Poppins" pitchFamily="34" charset="-120"/>
              </a:rPr>
              <a:t>Sans RAG ou avec RAG : la différence</a:t>
            </a:r>
            <a:endParaRPr lang="en-US" sz="2700" dirty="0"/>
          </a:p>
        </p:txBody>
      </p:sp>
      <p:sp>
        <p:nvSpPr>
          <p:cNvPr id="3" name="Text 0"/>
          <p:cNvSpPr>
            <a:spLocks noGrp="1"/>
          </p:cNvSpPr>
          <p:nvPr>
            <p:ph type="body" idx="101" hasCustomPrompt="1"/>
          </p:nvPr>
        </p:nvSpPr>
        <p:spPr>
          <a:xfrm>
            <a:off x="548640" y="256032"/>
            <a:ext cx="8229600" cy="292608"/>
          </a:xfrm>
          <a:prstGeom prst="rect">
            <a:avLst/>
          </a:prstGeom>
          <a:noFill/>
          <a:ln/>
        </p:spPr>
        <p:txBody>
          <a:bodyPr wrap="square" lIns="0" tIns="0" rIns="0" bIns="0" rtlCol="0" anchor="ctr"/>
          <a:lstStyle/>
          <a:p>
            <a:pPr marL="0" indent="0">
              <a:buNone/>
            </a:pPr>
            <a:r>
              <a:rPr lang="en-US" sz="1100" b="1" dirty="0">
                <a:solidFill>
                  <a:schemeClr val="accent1"/>
                </a:solidFill>
                <a:latin typeface="Poppins" pitchFamily="34" charset="0"/>
                <a:ea typeface="Poppins" pitchFamily="34" charset="-122"/>
                <a:cs typeface="Poppins" pitchFamily="34" charset="-120"/>
              </a:rPr>
              <a:t>T3 · LE RAG</a:t>
            </a:r>
            <a:endParaRPr lang="en-US" sz="1100" dirty="0"/>
          </a:p>
        </p:txBody>
      </p:sp>
      <p:sp>
        <p:nvSpPr>
          <p:cNvPr id="4" name="card-1058"/>
          <p:cNvSpPr/>
          <p:nvPr/>
        </p:nvSpPr>
        <p:spPr>
          <a:xfrm>
            <a:off x="548640" y="1600200"/>
            <a:ext cx="5440680" cy="3383280"/>
          </a:xfrm>
          <a:prstGeom prst="roundRect">
            <a:avLst>
              <a:gd name="adj" fmla="val 2162"/>
            </a:avLst>
          </a:prstGeom>
          <a:solidFill>
            <a:schemeClr val="bg2"/>
          </a:solidFill>
          <a:ln w="6350">
            <a:solidFill>
              <a:schemeClr val="bg2"/>
            </a:solidFill>
            <a:prstDash val="solid"/>
          </a:ln>
        </p:spPr>
      </p:sp>
      <p:sp>
        <p:nvSpPr>
          <p:cNvPr id="5" name="txt-1059"/>
          <p:cNvSpPr txBox="1"/>
          <p:nvPr/>
        </p:nvSpPr>
        <p:spPr>
          <a:xfrm>
            <a:off x="868680" y="1783080"/>
            <a:ext cx="4846320" cy="457200"/>
          </a:xfrm>
          <a:prstGeom prst="rect">
            <a:avLst/>
          </a:prstGeom>
          <a:noFill/>
          <a:ln/>
        </p:spPr>
        <p:txBody>
          <a:bodyPr wrap="square" lIns="0" tIns="0" rIns="0" bIns="0" rtlCol="0" anchor="t"/>
          <a:lstStyle/>
          <a:p>
            <a:pPr marL="0" indent="0">
              <a:buNone/>
            </a:pPr>
            <a:r>
              <a:rPr lang="en-US" sz="1900" b="1" dirty="0">
                <a:solidFill>
                  <a:schemeClr val="accent3"/>
                </a:solidFill>
              </a:rPr>
              <a:t>Chatbot classique</a:t>
            </a:r>
            <a:endParaRPr lang="en-US" sz="1900" dirty="0"/>
          </a:p>
        </p:txBody>
      </p:sp>
      <p:sp>
        <p:nvSpPr>
          <p:cNvPr id="6" name="circle-1060"/>
          <p:cNvSpPr/>
          <p:nvPr/>
        </p:nvSpPr>
        <p:spPr>
          <a:xfrm>
            <a:off x="868680" y="2423160"/>
            <a:ext cx="411480" cy="411480"/>
          </a:xfrm>
          <a:prstGeom prst="ellipse">
            <a:avLst/>
          </a:prstGeom>
          <a:solidFill>
            <a:schemeClr val="accent3"/>
          </a:solidFill>
          <a:ln w="12700">
            <a:solidFill>
              <a:schemeClr val="accent3"/>
            </a:solidFill>
            <a:prstDash val="solid"/>
          </a:ln>
        </p:spPr>
      </p:sp>
      <p:pic>
        <p:nvPicPr>
          <p:cNvPr id="7" name="icon-1061" descr="preencoded.png"/>
          <p:cNvPicPr>
            <a:picLocks noChangeAspect="1"/>
          </p:cNvPicPr>
          <p:nvPr/>
        </p:nvPicPr>
        <p:blipFill>
          <a:blip r:embed="rId3"/>
          <a:stretch>
            <a:fillRect/>
          </a:stretch>
        </p:blipFill>
        <p:spPr>
          <a:xfrm>
            <a:off x="971550" y="2526030"/>
            <a:ext cx="205740" cy="205740"/>
          </a:xfrm>
          <a:prstGeom prst="rect">
            <a:avLst/>
          </a:prstGeom>
        </p:spPr>
      </p:pic>
      <p:sp>
        <p:nvSpPr>
          <p:cNvPr id="8" name="txt-1062"/>
          <p:cNvSpPr txBox="1"/>
          <p:nvPr/>
        </p:nvSpPr>
        <p:spPr>
          <a:xfrm>
            <a:off x="1463040" y="2377440"/>
            <a:ext cx="4389120" cy="502920"/>
          </a:xfrm>
          <a:prstGeom prst="rect">
            <a:avLst/>
          </a:prstGeom>
          <a:noFill/>
          <a:ln/>
        </p:spPr>
        <p:txBody>
          <a:bodyPr wrap="square" lIns="0" tIns="0" rIns="0" bIns="0" rtlCol="0" anchor="ctr"/>
          <a:lstStyle/>
          <a:p>
            <a:pPr marL="0" indent="0">
              <a:buNone/>
            </a:pPr>
            <a:r>
              <a:rPr lang="en-US" sz="1400" dirty="0">
                <a:solidFill>
                  <a:schemeClr val="tx1"/>
                </a:solidFill>
              </a:rPr>
              <a:t>Répond « de mémoire »</a:t>
            </a:r>
            <a:endParaRPr lang="en-US" sz="1400" dirty="0"/>
          </a:p>
        </p:txBody>
      </p:sp>
      <p:sp>
        <p:nvSpPr>
          <p:cNvPr id="9" name="circle-1063"/>
          <p:cNvSpPr/>
          <p:nvPr/>
        </p:nvSpPr>
        <p:spPr>
          <a:xfrm>
            <a:off x="868680" y="3044952"/>
            <a:ext cx="411480" cy="411480"/>
          </a:xfrm>
          <a:prstGeom prst="ellipse">
            <a:avLst/>
          </a:prstGeom>
          <a:solidFill>
            <a:schemeClr val="accent3"/>
          </a:solidFill>
          <a:ln w="12700">
            <a:solidFill>
              <a:schemeClr val="accent3"/>
            </a:solidFill>
            <a:prstDash val="solid"/>
          </a:ln>
        </p:spPr>
      </p:sp>
      <p:pic>
        <p:nvPicPr>
          <p:cNvPr id="10" name="icon-1064" descr="preencoded.png"/>
          <p:cNvPicPr>
            <a:picLocks noChangeAspect="1"/>
          </p:cNvPicPr>
          <p:nvPr/>
        </p:nvPicPr>
        <p:blipFill>
          <a:blip r:embed="rId3"/>
          <a:stretch>
            <a:fillRect/>
          </a:stretch>
        </p:blipFill>
        <p:spPr>
          <a:xfrm>
            <a:off x="971550" y="3147822"/>
            <a:ext cx="205740" cy="205740"/>
          </a:xfrm>
          <a:prstGeom prst="rect">
            <a:avLst/>
          </a:prstGeom>
        </p:spPr>
      </p:pic>
      <p:sp>
        <p:nvSpPr>
          <p:cNvPr id="11" name="txt-1065"/>
          <p:cNvSpPr txBox="1"/>
          <p:nvPr/>
        </p:nvSpPr>
        <p:spPr>
          <a:xfrm>
            <a:off x="1463040" y="2999232"/>
            <a:ext cx="4389120" cy="502920"/>
          </a:xfrm>
          <a:prstGeom prst="rect">
            <a:avLst/>
          </a:prstGeom>
          <a:noFill/>
          <a:ln/>
        </p:spPr>
        <p:txBody>
          <a:bodyPr wrap="square" lIns="0" tIns="0" rIns="0" bIns="0" rtlCol="0" anchor="ctr"/>
          <a:lstStyle/>
          <a:p>
            <a:pPr marL="0" indent="0">
              <a:buNone/>
            </a:pPr>
            <a:r>
              <a:rPr lang="en-US" sz="1400" dirty="0">
                <a:solidFill>
                  <a:schemeClr val="tx1"/>
                </a:solidFill>
              </a:rPr>
              <a:t>Ne connaît pas vos documents</a:t>
            </a:r>
            <a:endParaRPr lang="en-US" sz="1400" dirty="0"/>
          </a:p>
        </p:txBody>
      </p:sp>
      <p:sp>
        <p:nvSpPr>
          <p:cNvPr id="12" name="circle-1066"/>
          <p:cNvSpPr/>
          <p:nvPr/>
        </p:nvSpPr>
        <p:spPr>
          <a:xfrm>
            <a:off x="868680" y="3666744"/>
            <a:ext cx="411480" cy="411480"/>
          </a:xfrm>
          <a:prstGeom prst="ellipse">
            <a:avLst/>
          </a:prstGeom>
          <a:solidFill>
            <a:schemeClr val="accent3"/>
          </a:solidFill>
          <a:ln w="12700">
            <a:solidFill>
              <a:schemeClr val="accent3"/>
            </a:solidFill>
            <a:prstDash val="solid"/>
          </a:ln>
        </p:spPr>
      </p:sp>
      <p:pic>
        <p:nvPicPr>
          <p:cNvPr id="13" name="icon-1067" descr="preencoded.png"/>
          <p:cNvPicPr>
            <a:picLocks noChangeAspect="1"/>
          </p:cNvPicPr>
          <p:nvPr/>
        </p:nvPicPr>
        <p:blipFill>
          <a:blip r:embed="rId3"/>
          <a:stretch>
            <a:fillRect/>
          </a:stretch>
        </p:blipFill>
        <p:spPr>
          <a:xfrm>
            <a:off x="971550" y="3769614"/>
            <a:ext cx="205740" cy="205740"/>
          </a:xfrm>
          <a:prstGeom prst="rect">
            <a:avLst/>
          </a:prstGeom>
        </p:spPr>
      </p:pic>
      <p:sp>
        <p:nvSpPr>
          <p:cNvPr id="14" name="txt-1068"/>
          <p:cNvSpPr txBox="1"/>
          <p:nvPr/>
        </p:nvSpPr>
        <p:spPr>
          <a:xfrm>
            <a:off x="1463040" y="3621024"/>
            <a:ext cx="4389120" cy="502920"/>
          </a:xfrm>
          <a:prstGeom prst="rect">
            <a:avLst/>
          </a:prstGeom>
          <a:noFill/>
          <a:ln/>
        </p:spPr>
        <p:txBody>
          <a:bodyPr wrap="square" lIns="0" tIns="0" rIns="0" bIns="0" rtlCol="0" anchor="ctr"/>
          <a:lstStyle/>
          <a:p>
            <a:pPr marL="0" indent="0">
              <a:buNone/>
            </a:pPr>
            <a:r>
              <a:rPr lang="en-US" sz="1400" dirty="0">
                <a:solidFill>
                  <a:schemeClr val="tx1"/>
                </a:solidFill>
              </a:rPr>
              <a:t>Peut inventer sans le signaler</a:t>
            </a:r>
            <a:endParaRPr lang="en-US" sz="1400" dirty="0"/>
          </a:p>
        </p:txBody>
      </p:sp>
      <p:sp>
        <p:nvSpPr>
          <p:cNvPr id="15" name="circle-1069"/>
          <p:cNvSpPr/>
          <p:nvPr/>
        </p:nvSpPr>
        <p:spPr>
          <a:xfrm>
            <a:off x="868680" y="4288536"/>
            <a:ext cx="411480" cy="411480"/>
          </a:xfrm>
          <a:prstGeom prst="ellipse">
            <a:avLst/>
          </a:prstGeom>
          <a:solidFill>
            <a:schemeClr val="accent3"/>
          </a:solidFill>
          <a:ln w="12700">
            <a:solidFill>
              <a:schemeClr val="accent3"/>
            </a:solidFill>
            <a:prstDash val="solid"/>
          </a:ln>
        </p:spPr>
      </p:sp>
      <p:pic>
        <p:nvPicPr>
          <p:cNvPr id="16" name="icon-1070" descr="preencoded.png"/>
          <p:cNvPicPr>
            <a:picLocks noChangeAspect="1"/>
          </p:cNvPicPr>
          <p:nvPr/>
        </p:nvPicPr>
        <p:blipFill>
          <a:blip r:embed="rId3"/>
          <a:stretch>
            <a:fillRect/>
          </a:stretch>
        </p:blipFill>
        <p:spPr>
          <a:xfrm>
            <a:off x="971550" y="4391406"/>
            <a:ext cx="205740" cy="205740"/>
          </a:xfrm>
          <a:prstGeom prst="rect">
            <a:avLst/>
          </a:prstGeom>
        </p:spPr>
      </p:pic>
      <p:sp>
        <p:nvSpPr>
          <p:cNvPr id="17" name="txt-1071"/>
          <p:cNvSpPr txBox="1"/>
          <p:nvPr/>
        </p:nvSpPr>
        <p:spPr>
          <a:xfrm>
            <a:off x="1463040" y="4242816"/>
            <a:ext cx="4389120" cy="502920"/>
          </a:xfrm>
          <a:prstGeom prst="rect">
            <a:avLst/>
          </a:prstGeom>
          <a:noFill/>
          <a:ln/>
        </p:spPr>
        <p:txBody>
          <a:bodyPr wrap="square" lIns="0" tIns="0" rIns="0" bIns="0" rtlCol="0" anchor="ctr"/>
          <a:lstStyle/>
          <a:p>
            <a:pPr marL="0" indent="0">
              <a:buNone/>
            </a:pPr>
            <a:r>
              <a:rPr lang="en-US" sz="1400" dirty="0">
                <a:solidFill>
                  <a:schemeClr val="tx1"/>
                </a:solidFill>
              </a:rPr>
              <a:t>Sources rarement vérifiables</a:t>
            </a:r>
            <a:endParaRPr lang="en-US" sz="1400" dirty="0"/>
          </a:p>
        </p:txBody>
      </p:sp>
      <p:sp>
        <p:nvSpPr>
          <p:cNvPr id="18" name="card-1072"/>
          <p:cNvSpPr/>
          <p:nvPr/>
        </p:nvSpPr>
        <p:spPr>
          <a:xfrm>
            <a:off x="6172200" y="1600200"/>
            <a:ext cx="5440680" cy="3383280"/>
          </a:xfrm>
          <a:prstGeom prst="roundRect">
            <a:avLst>
              <a:gd name="adj" fmla="val 2162"/>
            </a:avLst>
          </a:prstGeom>
          <a:solidFill>
            <a:schemeClr val="tx2"/>
          </a:solidFill>
          <a:ln w="6350">
            <a:solidFill>
              <a:schemeClr val="tx2"/>
            </a:solidFill>
            <a:prstDash val="solid"/>
          </a:ln>
        </p:spPr>
      </p:sp>
      <p:sp>
        <p:nvSpPr>
          <p:cNvPr id="19" name="txt-1073"/>
          <p:cNvSpPr txBox="1"/>
          <p:nvPr/>
        </p:nvSpPr>
        <p:spPr>
          <a:xfrm>
            <a:off x="6492240" y="1783080"/>
            <a:ext cx="4846320" cy="457200"/>
          </a:xfrm>
          <a:prstGeom prst="rect">
            <a:avLst/>
          </a:prstGeom>
          <a:noFill/>
          <a:ln/>
        </p:spPr>
        <p:txBody>
          <a:bodyPr wrap="square" lIns="0" tIns="0" rIns="0" bIns="0" rtlCol="0" anchor="t"/>
          <a:lstStyle/>
          <a:p>
            <a:pPr marL="0" indent="0">
              <a:buNone/>
            </a:pPr>
            <a:r>
              <a:rPr lang="en-US" sz="1900" b="1" dirty="0">
                <a:solidFill>
                  <a:schemeClr val="accent1"/>
                </a:solidFill>
              </a:rPr>
              <a:t>Avec un RAG</a:t>
            </a:r>
            <a:endParaRPr lang="en-US" sz="1900" dirty="0"/>
          </a:p>
        </p:txBody>
      </p:sp>
      <p:sp>
        <p:nvSpPr>
          <p:cNvPr id="20" name="circle-1074"/>
          <p:cNvSpPr/>
          <p:nvPr/>
        </p:nvSpPr>
        <p:spPr>
          <a:xfrm>
            <a:off x="6492240" y="2423160"/>
            <a:ext cx="411480" cy="411480"/>
          </a:xfrm>
          <a:prstGeom prst="ellipse">
            <a:avLst/>
          </a:prstGeom>
          <a:solidFill>
            <a:schemeClr val="accent2"/>
          </a:solidFill>
          <a:ln w="12700">
            <a:solidFill>
              <a:schemeClr val="accent2"/>
            </a:solidFill>
            <a:prstDash val="solid"/>
          </a:ln>
        </p:spPr>
      </p:sp>
      <p:pic>
        <p:nvPicPr>
          <p:cNvPr id="21" name="icon-1075" descr="preencoded.png"/>
          <p:cNvPicPr>
            <a:picLocks noChangeAspect="1"/>
          </p:cNvPicPr>
          <p:nvPr/>
        </p:nvPicPr>
        <p:blipFill>
          <a:blip r:embed="rId4"/>
          <a:stretch>
            <a:fillRect/>
          </a:stretch>
        </p:blipFill>
        <p:spPr>
          <a:xfrm>
            <a:off x="6595110" y="2526030"/>
            <a:ext cx="205740" cy="205740"/>
          </a:xfrm>
          <a:prstGeom prst="rect">
            <a:avLst/>
          </a:prstGeom>
        </p:spPr>
      </p:pic>
      <p:sp>
        <p:nvSpPr>
          <p:cNvPr id="22" name="txt-1076"/>
          <p:cNvSpPr txBox="1"/>
          <p:nvPr/>
        </p:nvSpPr>
        <p:spPr>
          <a:xfrm>
            <a:off x="7086600" y="2377440"/>
            <a:ext cx="4389120" cy="502920"/>
          </a:xfrm>
          <a:prstGeom prst="rect">
            <a:avLst/>
          </a:prstGeom>
          <a:noFill/>
          <a:ln/>
        </p:spPr>
        <p:txBody>
          <a:bodyPr wrap="square" lIns="0" tIns="0" rIns="0" bIns="0" rtlCol="0" anchor="ctr"/>
          <a:lstStyle/>
          <a:p>
            <a:pPr marL="0" indent="0">
              <a:buNone/>
            </a:pPr>
            <a:r>
              <a:rPr lang="en-US" sz="1400" dirty="0">
                <a:solidFill>
                  <a:schemeClr val="bg1"/>
                </a:solidFill>
              </a:rPr>
              <a:t>Répond à partir de vos documents</a:t>
            </a:r>
            <a:endParaRPr lang="en-US" sz="1400" dirty="0"/>
          </a:p>
        </p:txBody>
      </p:sp>
      <p:sp>
        <p:nvSpPr>
          <p:cNvPr id="23" name="circle-1077"/>
          <p:cNvSpPr/>
          <p:nvPr/>
        </p:nvSpPr>
        <p:spPr>
          <a:xfrm>
            <a:off x="6492240" y="3044952"/>
            <a:ext cx="411480" cy="411480"/>
          </a:xfrm>
          <a:prstGeom prst="ellipse">
            <a:avLst/>
          </a:prstGeom>
          <a:solidFill>
            <a:schemeClr val="accent2"/>
          </a:solidFill>
          <a:ln w="12700">
            <a:solidFill>
              <a:schemeClr val="accent2"/>
            </a:solidFill>
            <a:prstDash val="solid"/>
          </a:ln>
        </p:spPr>
      </p:sp>
      <p:pic>
        <p:nvPicPr>
          <p:cNvPr id="24" name="icon-1078" descr="preencoded.png"/>
          <p:cNvPicPr>
            <a:picLocks noChangeAspect="1"/>
          </p:cNvPicPr>
          <p:nvPr/>
        </p:nvPicPr>
        <p:blipFill>
          <a:blip r:embed="rId4"/>
          <a:stretch>
            <a:fillRect/>
          </a:stretch>
        </p:blipFill>
        <p:spPr>
          <a:xfrm>
            <a:off x="6595110" y="3147822"/>
            <a:ext cx="205740" cy="205740"/>
          </a:xfrm>
          <a:prstGeom prst="rect">
            <a:avLst/>
          </a:prstGeom>
        </p:spPr>
      </p:pic>
      <p:sp>
        <p:nvSpPr>
          <p:cNvPr id="25" name="txt-1079"/>
          <p:cNvSpPr txBox="1"/>
          <p:nvPr/>
        </p:nvSpPr>
        <p:spPr>
          <a:xfrm>
            <a:off x="7086600" y="2999232"/>
            <a:ext cx="4389120" cy="502920"/>
          </a:xfrm>
          <a:prstGeom prst="rect">
            <a:avLst/>
          </a:prstGeom>
          <a:noFill/>
          <a:ln/>
        </p:spPr>
        <p:txBody>
          <a:bodyPr wrap="square" lIns="0" tIns="0" rIns="0" bIns="0" rtlCol="0" anchor="ctr"/>
          <a:lstStyle/>
          <a:p>
            <a:pPr marL="0" indent="0">
              <a:buNone/>
            </a:pPr>
            <a:r>
              <a:rPr lang="en-US" sz="1400" dirty="0">
                <a:solidFill>
                  <a:schemeClr val="bg1"/>
                </a:solidFill>
              </a:rPr>
              <a:t>Cite le passage exact [1], [2]…</a:t>
            </a:r>
            <a:endParaRPr lang="en-US" sz="1400" dirty="0"/>
          </a:p>
        </p:txBody>
      </p:sp>
      <p:sp>
        <p:nvSpPr>
          <p:cNvPr id="26" name="circle-1080"/>
          <p:cNvSpPr/>
          <p:nvPr/>
        </p:nvSpPr>
        <p:spPr>
          <a:xfrm>
            <a:off x="6492240" y="3666744"/>
            <a:ext cx="411480" cy="411480"/>
          </a:xfrm>
          <a:prstGeom prst="ellipse">
            <a:avLst/>
          </a:prstGeom>
          <a:solidFill>
            <a:schemeClr val="accent2"/>
          </a:solidFill>
          <a:ln w="12700">
            <a:solidFill>
              <a:schemeClr val="accent2"/>
            </a:solidFill>
            <a:prstDash val="solid"/>
          </a:ln>
        </p:spPr>
      </p:sp>
      <p:pic>
        <p:nvPicPr>
          <p:cNvPr id="27" name="icon-1081" descr="preencoded.png"/>
          <p:cNvPicPr>
            <a:picLocks noChangeAspect="1"/>
          </p:cNvPicPr>
          <p:nvPr/>
        </p:nvPicPr>
        <p:blipFill>
          <a:blip r:embed="rId4"/>
          <a:stretch>
            <a:fillRect/>
          </a:stretch>
        </p:blipFill>
        <p:spPr>
          <a:xfrm>
            <a:off x="6595110" y="3769614"/>
            <a:ext cx="205740" cy="205740"/>
          </a:xfrm>
          <a:prstGeom prst="rect">
            <a:avLst/>
          </a:prstGeom>
        </p:spPr>
      </p:pic>
      <p:sp>
        <p:nvSpPr>
          <p:cNvPr id="28" name="txt-1082"/>
          <p:cNvSpPr txBox="1"/>
          <p:nvPr/>
        </p:nvSpPr>
        <p:spPr>
          <a:xfrm>
            <a:off x="7086600" y="3621024"/>
            <a:ext cx="4389120" cy="502920"/>
          </a:xfrm>
          <a:prstGeom prst="rect">
            <a:avLst/>
          </a:prstGeom>
          <a:noFill/>
          <a:ln/>
        </p:spPr>
        <p:txBody>
          <a:bodyPr wrap="square" lIns="0" tIns="0" rIns="0" bIns="0" rtlCol="0" anchor="ctr"/>
          <a:lstStyle/>
          <a:p>
            <a:pPr marL="0" indent="0">
              <a:buNone/>
            </a:pPr>
            <a:r>
              <a:rPr lang="en-US" sz="1400" dirty="0">
                <a:solidFill>
                  <a:schemeClr val="bg1"/>
                </a:solidFill>
              </a:rPr>
              <a:t>Peut dire « ce n'est pas dans les sources »</a:t>
            </a:r>
            <a:endParaRPr lang="en-US" sz="1400" dirty="0"/>
          </a:p>
        </p:txBody>
      </p:sp>
      <p:sp>
        <p:nvSpPr>
          <p:cNvPr id="29" name="circle-1083"/>
          <p:cNvSpPr/>
          <p:nvPr/>
        </p:nvSpPr>
        <p:spPr>
          <a:xfrm>
            <a:off x="6492240" y="4288536"/>
            <a:ext cx="411480" cy="411480"/>
          </a:xfrm>
          <a:prstGeom prst="ellipse">
            <a:avLst/>
          </a:prstGeom>
          <a:solidFill>
            <a:schemeClr val="accent2"/>
          </a:solidFill>
          <a:ln w="12700">
            <a:solidFill>
              <a:schemeClr val="accent2"/>
            </a:solidFill>
            <a:prstDash val="solid"/>
          </a:ln>
        </p:spPr>
      </p:sp>
      <p:pic>
        <p:nvPicPr>
          <p:cNvPr id="30" name="icon-1084" descr="preencoded.png"/>
          <p:cNvPicPr>
            <a:picLocks noChangeAspect="1"/>
          </p:cNvPicPr>
          <p:nvPr/>
        </p:nvPicPr>
        <p:blipFill>
          <a:blip r:embed="rId4"/>
          <a:stretch>
            <a:fillRect/>
          </a:stretch>
        </p:blipFill>
        <p:spPr>
          <a:xfrm>
            <a:off x="6595110" y="4391406"/>
            <a:ext cx="205740" cy="205740"/>
          </a:xfrm>
          <a:prstGeom prst="rect">
            <a:avLst/>
          </a:prstGeom>
        </p:spPr>
      </p:pic>
      <p:sp>
        <p:nvSpPr>
          <p:cNvPr id="31" name="txt-1085"/>
          <p:cNvSpPr txBox="1"/>
          <p:nvPr/>
        </p:nvSpPr>
        <p:spPr>
          <a:xfrm>
            <a:off x="7086600" y="4242816"/>
            <a:ext cx="4389120" cy="502920"/>
          </a:xfrm>
          <a:prstGeom prst="rect">
            <a:avLst/>
          </a:prstGeom>
          <a:noFill/>
          <a:ln/>
        </p:spPr>
        <p:txBody>
          <a:bodyPr wrap="square" lIns="0" tIns="0" rIns="0" bIns="0" rtlCol="0" anchor="ctr"/>
          <a:lstStyle/>
          <a:p>
            <a:pPr marL="0" indent="0">
              <a:buNone/>
            </a:pPr>
            <a:r>
              <a:rPr lang="en-US" sz="1400" dirty="0">
                <a:solidFill>
                  <a:schemeClr val="bg1"/>
                </a:solidFill>
              </a:rPr>
              <a:t>Chaque réponse est vérifiable en un clic</a:t>
            </a:r>
            <a:endParaRPr lang="en-US" sz="1400" dirty="0"/>
          </a:p>
        </p:txBody>
      </p:sp>
      <p:sp>
        <p:nvSpPr>
          <p:cNvPr id="32" name="card-1086"/>
          <p:cNvSpPr/>
          <p:nvPr/>
        </p:nvSpPr>
        <p:spPr>
          <a:xfrm>
            <a:off x="548640" y="5212080"/>
            <a:ext cx="11064240" cy="777240"/>
          </a:xfrm>
          <a:prstGeom prst="roundRect">
            <a:avLst>
              <a:gd name="adj" fmla="val 9412"/>
            </a:avLst>
          </a:prstGeom>
          <a:solidFill>
            <a:schemeClr val="bg2"/>
          </a:solidFill>
          <a:ln w="6350">
            <a:solidFill>
              <a:schemeClr val="bg2"/>
            </a:solidFill>
            <a:prstDash val="solid"/>
          </a:ln>
        </p:spPr>
      </p:sp>
      <p:sp>
        <p:nvSpPr>
          <p:cNvPr id="33" name="txt-1087"/>
          <p:cNvSpPr txBox="1"/>
          <p:nvPr/>
        </p:nvSpPr>
        <p:spPr>
          <a:xfrm>
            <a:off x="822960" y="5212080"/>
            <a:ext cx="10515600" cy="777240"/>
          </a:xfrm>
          <a:prstGeom prst="rect">
            <a:avLst/>
          </a:prstGeom>
          <a:noFill/>
          <a:ln/>
        </p:spPr>
        <p:txBody>
          <a:bodyPr wrap="square" lIns="0" tIns="0" rIns="0" bIns="0" rtlCol="0" anchor="ctr"/>
          <a:lstStyle/>
          <a:p>
            <a:pPr marL="0" indent="0">
              <a:buNone/>
            </a:pPr>
            <a:r>
              <a:rPr lang="en-US" sz="1600" b="1" dirty="0">
                <a:solidFill>
                  <a:schemeClr val="tx2"/>
                </a:solidFill>
              </a:rPr>
              <a:t>Le RAG ne rend pas l'IA infaillible : il rend ses erreurs repérables.</a:t>
            </a:r>
            <a:endParaRPr lang="en-US" sz="1600" dirty="0"/>
          </a:p>
        </p:txBody>
      </p:sp>
      <p:sp>
        <p:nvSpPr>
          <p:cNvPr id="34" name="Slide Number Placeholder 0"/>
          <p:cNvSpPr>
            <a:spLocks noGrp="1"/>
          </p:cNvSpPr>
          <p:nvPr>
            <p:ph type="sldNum" sz="quarter" idx="4294967295"/>
          </p:nvPr>
        </p:nvSpPr>
        <p:spPr>
          <a:xfrm>
            <a:off x="11064240" y="6400800"/>
            <a:ext cx="54864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C82"/>
                </a:solidFill>
                <a:latin typeface="Poppins"/>
                <a:ea typeface="Poppins"/>
                <a:cs typeface="Poppins"/>
              </a:defRPr>
            </a:lvl1pPr>
          </a:lstStyle>
          <a:p>
            <a:pPr algn="r"/>
            <a:fld id="{F7021451-1387-4CA6-816F-3879F97B5CBC}" type="slidenum">
              <a:rPr lang="en-US" b="0"/>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566928"/>
            <a:ext cx="11064240" cy="777240"/>
          </a:xfrm>
          <a:prstGeom prst="rect">
            <a:avLst/>
          </a:prstGeom>
          <a:noFill/>
          <a:ln/>
        </p:spPr>
        <p:txBody>
          <a:bodyPr wrap="square" lIns="0" tIns="0" rIns="0" bIns="0" rtlCol="0" anchor="ctr"/>
          <a:lstStyle/>
          <a:p>
            <a:pPr marL="0" indent="0" algn="l">
              <a:buNone/>
            </a:pPr>
            <a:r>
              <a:rPr lang="en-US" sz="2700" b="1" dirty="0">
                <a:solidFill>
                  <a:schemeClr val="tx2"/>
                </a:solidFill>
                <a:latin typeface="Poppins" pitchFamily="34" charset="0"/>
                <a:ea typeface="Poppins" pitchFamily="34" charset="-122"/>
                <a:cs typeface="Poppins" pitchFamily="34" charset="-120"/>
              </a:rPr>
              <a:t>Gemini Notebook : un RAG prêt à l'emploi</a:t>
            </a:r>
            <a:endParaRPr lang="en-US" sz="2700" dirty="0"/>
          </a:p>
        </p:txBody>
      </p:sp>
      <p:sp>
        <p:nvSpPr>
          <p:cNvPr id="3" name="Text 0"/>
          <p:cNvSpPr>
            <a:spLocks noGrp="1"/>
          </p:cNvSpPr>
          <p:nvPr>
            <p:ph type="body" idx="101" hasCustomPrompt="1"/>
          </p:nvPr>
        </p:nvSpPr>
        <p:spPr>
          <a:xfrm>
            <a:off x="548640" y="256032"/>
            <a:ext cx="8229600" cy="292608"/>
          </a:xfrm>
          <a:prstGeom prst="rect">
            <a:avLst/>
          </a:prstGeom>
          <a:noFill/>
          <a:ln/>
        </p:spPr>
        <p:txBody>
          <a:bodyPr wrap="square" lIns="0" tIns="0" rIns="0" bIns="0" rtlCol="0" anchor="ctr"/>
          <a:lstStyle/>
          <a:p>
            <a:pPr marL="0" indent="0">
              <a:buNone/>
            </a:pPr>
            <a:r>
              <a:rPr lang="en-US" sz="1100" b="1" dirty="0">
                <a:solidFill>
                  <a:schemeClr val="accent1"/>
                </a:solidFill>
                <a:latin typeface="Poppins" pitchFamily="34" charset="0"/>
                <a:ea typeface="Poppins" pitchFamily="34" charset="-122"/>
                <a:cs typeface="Poppins" pitchFamily="34" charset="-120"/>
              </a:rPr>
              <a:t>T3 · GEMINI NOTEBOOK</a:t>
            </a:r>
            <a:endParaRPr lang="en-US" sz="1100" dirty="0"/>
          </a:p>
        </p:txBody>
      </p:sp>
      <p:sp>
        <p:nvSpPr>
          <p:cNvPr id="4" name="card-1088"/>
          <p:cNvSpPr/>
          <p:nvPr/>
        </p:nvSpPr>
        <p:spPr>
          <a:xfrm>
            <a:off x="548640" y="1554480"/>
            <a:ext cx="7680960" cy="4389120"/>
          </a:xfrm>
          <a:prstGeom prst="roundRect">
            <a:avLst>
              <a:gd name="adj" fmla="val 1667"/>
            </a:avLst>
          </a:prstGeom>
          <a:solidFill>
            <a:schemeClr val="bg1"/>
          </a:solidFill>
          <a:ln w="12700">
            <a:solidFill>
              <a:srgbClr val="C9D6D8"/>
            </a:solidFill>
            <a:prstDash val="solid"/>
          </a:ln>
          <a:effectLst>
            <a:outerShdw blurRad="101600" dist="25400" dir="5400000" algn="bl" rotWithShape="0">
              <a:srgbClr val="000000">
                <a:alpha val="10000"/>
              </a:srgbClr>
            </a:outerShdw>
          </a:effectLst>
        </p:spPr>
      </p:sp>
      <p:sp>
        <p:nvSpPr>
          <p:cNvPr id="5" name="card-1089"/>
          <p:cNvSpPr/>
          <p:nvPr/>
        </p:nvSpPr>
        <p:spPr>
          <a:xfrm>
            <a:off x="548640" y="1554480"/>
            <a:ext cx="7680960" cy="457200"/>
          </a:xfrm>
          <a:prstGeom prst="roundRect">
            <a:avLst>
              <a:gd name="adj" fmla="val 16000"/>
            </a:avLst>
          </a:prstGeom>
          <a:solidFill>
            <a:schemeClr val="bg2"/>
          </a:solidFill>
          <a:ln w="6350">
            <a:solidFill>
              <a:schemeClr val="bg2"/>
            </a:solidFill>
            <a:prstDash val="solid"/>
          </a:ln>
        </p:spPr>
      </p:sp>
      <p:sp>
        <p:nvSpPr>
          <p:cNvPr id="6" name="txt-1090"/>
          <p:cNvSpPr txBox="1"/>
          <p:nvPr/>
        </p:nvSpPr>
        <p:spPr>
          <a:xfrm>
            <a:off x="731520" y="1554480"/>
            <a:ext cx="4572000" cy="457200"/>
          </a:xfrm>
          <a:prstGeom prst="rect">
            <a:avLst/>
          </a:prstGeom>
          <a:noFill/>
          <a:ln/>
        </p:spPr>
        <p:txBody>
          <a:bodyPr wrap="square" lIns="0" tIns="0" rIns="0" bIns="0" rtlCol="0" anchor="ctr"/>
          <a:lstStyle/>
          <a:p>
            <a:pPr marL="0" indent="0">
              <a:buNone/>
            </a:pPr>
            <a:r>
              <a:rPr lang="en-US" sz="1200" b="1" dirty="0">
                <a:solidFill>
                  <a:schemeClr val="tx2"/>
                </a:solidFill>
              </a:rPr>
              <a:t>Lab 3 · Entretiens SHS</a:t>
            </a:r>
            <a:endParaRPr lang="en-US" sz="1200" dirty="0"/>
          </a:p>
        </p:txBody>
      </p:sp>
      <p:sp>
        <p:nvSpPr>
          <p:cNvPr id="7" name="card-1091"/>
          <p:cNvSpPr/>
          <p:nvPr/>
        </p:nvSpPr>
        <p:spPr>
          <a:xfrm>
            <a:off x="7040880" y="1627632"/>
            <a:ext cx="1005840" cy="310896"/>
          </a:xfrm>
          <a:prstGeom prst="roundRect">
            <a:avLst>
              <a:gd name="adj" fmla="val 23529"/>
            </a:avLst>
          </a:prstGeom>
          <a:solidFill>
            <a:schemeClr val="tx2"/>
          </a:solidFill>
          <a:ln w="6350">
            <a:solidFill>
              <a:schemeClr val="tx2"/>
            </a:solidFill>
            <a:prstDash val="solid"/>
          </a:ln>
        </p:spPr>
      </p:sp>
      <p:sp>
        <p:nvSpPr>
          <p:cNvPr id="8" name="txt-1092"/>
          <p:cNvSpPr txBox="1"/>
          <p:nvPr/>
        </p:nvSpPr>
        <p:spPr>
          <a:xfrm>
            <a:off x="7040880" y="1627632"/>
            <a:ext cx="1005840" cy="310896"/>
          </a:xfrm>
          <a:prstGeom prst="rect">
            <a:avLst/>
          </a:prstGeom>
          <a:noFill/>
          <a:ln/>
        </p:spPr>
        <p:txBody>
          <a:bodyPr wrap="square" lIns="0" tIns="0" rIns="0" bIns="0" rtlCol="0" anchor="ctr"/>
          <a:lstStyle/>
          <a:p>
            <a:pPr marL="0" indent="0" algn="ctr">
              <a:buNone/>
            </a:pPr>
            <a:r>
              <a:rPr lang="en-US" sz="1000" b="1" dirty="0">
                <a:solidFill>
                  <a:schemeClr val="bg1"/>
                </a:solidFill>
              </a:rPr>
              <a:t>Partager</a:t>
            </a:r>
            <a:endParaRPr lang="en-US" sz="1000" dirty="0"/>
          </a:p>
        </p:txBody>
      </p:sp>
      <p:sp>
        <p:nvSpPr>
          <p:cNvPr id="9" name="card-1093"/>
          <p:cNvSpPr/>
          <p:nvPr/>
        </p:nvSpPr>
        <p:spPr>
          <a:xfrm>
            <a:off x="685800" y="2148840"/>
            <a:ext cx="2148840" cy="3657600"/>
          </a:xfrm>
          <a:prstGeom prst="roundRect">
            <a:avLst>
              <a:gd name="adj" fmla="val 3404"/>
            </a:avLst>
          </a:prstGeom>
          <a:solidFill>
            <a:schemeClr val="bg2"/>
          </a:solidFill>
          <a:ln w="6350">
            <a:solidFill>
              <a:schemeClr val="bg2"/>
            </a:solidFill>
            <a:prstDash val="solid"/>
          </a:ln>
        </p:spPr>
      </p:sp>
      <p:sp>
        <p:nvSpPr>
          <p:cNvPr id="10" name="txt-1094"/>
          <p:cNvSpPr txBox="1"/>
          <p:nvPr/>
        </p:nvSpPr>
        <p:spPr>
          <a:xfrm>
            <a:off x="822960" y="2212848"/>
            <a:ext cx="1828800" cy="292608"/>
          </a:xfrm>
          <a:prstGeom prst="rect">
            <a:avLst/>
          </a:prstGeom>
          <a:noFill/>
          <a:ln/>
        </p:spPr>
        <p:txBody>
          <a:bodyPr wrap="square" lIns="0" tIns="0" rIns="0" bIns="0" rtlCol="0" anchor="t"/>
          <a:lstStyle/>
          <a:p>
            <a:pPr marL="0" indent="0">
              <a:buNone/>
            </a:pPr>
            <a:r>
              <a:rPr lang="en-US" sz="1200" b="1" dirty="0">
                <a:solidFill>
                  <a:schemeClr val="tx2"/>
                </a:solidFill>
              </a:rPr>
              <a:t>Sources</a:t>
            </a:r>
            <a:endParaRPr lang="en-US" sz="1200" dirty="0"/>
          </a:p>
        </p:txBody>
      </p:sp>
      <p:sp>
        <p:nvSpPr>
          <p:cNvPr id="11" name="card-1095"/>
          <p:cNvSpPr/>
          <p:nvPr/>
        </p:nvSpPr>
        <p:spPr>
          <a:xfrm>
            <a:off x="822960" y="2560320"/>
            <a:ext cx="1874520" cy="292608"/>
          </a:xfrm>
          <a:prstGeom prst="roundRect">
            <a:avLst>
              <a:gd name="adj" fmla="val 25000"/>
            </a:avLst>
          </a:prstGeom>
          <a:solidFill>
            <a:schemeClr val="bg1"/>
          </a:solidFill>
          <a:ln w="6350">
            <a:solidFill>
              <a:schemeClr val="bg1"/>
            </a:solidFill>
            <a:prstDash val="solid"/>
          </a:ln>
        </p:spPr>
      </p:sp>
      <p:sp>
        <p:nvSpPr>
          <p:cNvPr id="12" name="txt-1096"/>
          <p:cNvSpPr txBox="1"/>
          <p:nvPr/>
        </p:nvSpPr>
        <p:spPr>
          <a:xfrm>
            <a:off x="822960" y="2560320"/>
            <a:ext cx="1874520" cy="292608"/>
          </a:xfrm>
          <a:prstGeom prst="rect">
            <a:avLst/>
          </a:prstGeom>
          <a:noFill/>
          <a:ln/>
        </p:spPr>
        <p:txBody>
          <a:bodyPr wrap="square" lIns="0" tIns="0" rIns="0" bIns="0" rtlCol="0" anchor="ctr"/>
          <a:lstStyle/>
          <a:p>
            <a:pPr marL="0" indent="0" algn="ctr">
              <a:buNone/>
            </a:pPr>
            <a:r>
              <a:rPr lang="en-US" sz="1000" b="1" dirty="0">
                <a:solidFill>
                  <a:schemeClr val="accent6"/>
                </a:solidFill>
              </a:rPr>
              <a:t>+ Ajouter</a:t>
            </a:r>
            <a:endParaRPr lang="en-US" sz="1000" dirty="0"/>
          </a:p>
        </p:txBody>
      </p:sp>
      <p:sp>
        <p:nvSpPr>
          <p:cNvPr id="13" name="txt-1097"/>
          <p:cNvSpPr txBox="1"/>
          <p:nvPr/>
        </p:nvSpPr>
        <p:spPr>
          <a:xfrm>
            <a:off x="822960" y="2971800"/>
            <a:ext cx="1965960" cy="329184"/>
          </a:xfrm>
          <a:prstGeom prst="rect">
            <a:avLst/>
          </a:prstGeom>
          <a:noFill/>
          <a:ln/>
        </p:spPr>
        <p:txBody>
          <a:bodyPr wrap="square" lIns="0" tIns="0" rIns="0" bIns="0" rtlCol="0" anchor="ctr"/>
          <a:lstStyle/>
          <a:p>
            <a:pPr marL="0" indent="0">
              <a:buNone/>
            </a:pPr>
            <a:r>
              <a:rPr lang="en-US" sz="1000" dirty="0">
                <a:solidFill>
                  <a:schemeClr val="tx1"/>
                </a:solidFill>
              </a:rPr>
              <a:t>☑  E1_Mere_41ans</a:t>
            </a:r>
            <a:endParaRPr lang="en-US" sz="1000" dirty="0"/>
          </a:p>
        </p:txBody>
      </p:sp>
      <p:sp>
        <p:nvSpPr>
          <p:cNvPr id="14" name="txt-1098"/>
          <p:cNvSpPr txBox="1"/>
          <p:nvPr/>
        </p:nvSpPr>
        <p:spPr>
          <a:xfrm>
            <a:off x="822960" y="3355848"/>
            <a:ext cx="1965960" cy="329184"/>
          </a:xfrm>
          <a:prstGeom prst="rect">
            <a:avLst/>
          </a:prstGeom>
          <a:noFill/>
          <a:ln/>
        </p:spPr>
        <p:txBody>
          <a:bodyPr wrap="square" lIns="0" tIns="0" rIns="0" bIns="0" rtlCol="0" anchor="ctr"/>
          <a:lstStyle/>
          <a:p>
            <a:pPr marL="0" indent="0">
              <a:buNone/>
            </a:pPr>
            <a:r>
              <a:rPr lang="en-US" sz="1000" dirty="0">
                <a:solidFill>
                  <a:schemeClr val="tx1"/>
                </a:solidFill>
              </a:rPr>
              <a:t>☑  E2_Pere_52ans</a:t>
            </a:r>
            <a:endParaRPr lang="en-US" sz="1000" dirty="0"/>
          </a:p>
        </p:txBody>
      </p:sp>
      <p:sp>
        <p:nvSpPr>
          <p:cNvPr id="15" name="txt-1099"/>
          <p:cNvSpPr txBox="1"/>
          <p:nvPr/>
        </p:nvSpPr>
        <p:spPr>
          <a:xfrm>
            <a:off x="822960" y="3739896"/>
            <a:ext cx="1965960" cy="329184"/>
          </a:xfrm>
          <a:prstGeom prst="rect">
            <a:avLst/>
          </a:prstGeom>
          <a:noFill/>
          <a:ln/>
        </p:spPr>
        <p:txBody>
          <a:bodyPr wrap="square" lIns="0" tIns="0" rIns="0" bIns="0" rtlCol="0" anchor="ctr"/>
          <a:lstStyle/>
          <a:p>
            <a:pPr marL="0" indent="0">
              <a:buNone/>
            </a:pPr>
            <a:r>
              <a:rPr lang="en-US" sz="1000" dirty="0">
                <a:solidFill>
                  <a:schemeClr val="tx1"/>
                </a:solidFill>
              </a:rPr>
              <a:t>☑  E3_GrandMere</a:t>
            </a:r>
            <a:endParaRPr lang="en-US" sz="1000" dirty="0"/>
          </a:p>
        </p:txBody>
      </p:sp>
      <p:sp>
        <p:nvSpPr>
          <p:cNvPr id="16" name="txt-1100"/>
          <p:cNvSpPr txBox="1"/>
          <p:nvPr/>
        </p:nvSpPr>
        <p:spPr>
          <a:xfrm>
            <a:off x="822960" y="4123944"/>
            <a:ext cx="1965960" cy="329184"/>
          </a:xfrm>
          <a:prstGeom prst="rect">
            <a:avLst/>
          </a:prstGeom>
          <a:noFill/>
          <a:ln/>
        </p:spPr>
        <p:txBody>
          <a:bodyPr wrap="square" lIns="0" tIns="0" rIns="0" bIns="0" rtlCol="0" anchor="ctr"/>
          <a:lstStyle/>
          <a:p>
            <a:pPr marL="0" indent="0">
              <a:buNone/>
            </a:pPr>
            <a:r>
              <a:rPr lang="en-US" sz="1000" dirty="0">
                <a:solidFill>
                  <a:schemeClr val="tx1"/>
                </a:solidFill>
              </a:rPr>
              <a:t>☑  E4_AncienneEleve</a:t>
            </a:r>
            <a:endParaRPr lang="en-US" sz="1000" dirty="0"/>
          </a:p>
        </p:txBody>
      </p:sp>
      <p:sp>
        <p:nvSpPr>
          <p:cNvPr id="17" name="txt-1101"/>
          <p:cNvSpPr txBox="1"/>
          <p:nvPr/>
        </p:nvSpPr>
        <p:spPr>
          <a:xfrm>
            <a:off x="822960" y="4507992"/>
            <a:ext cx="1965960" cy="329184"/>
          </a:xfrm>
          <a:prstGeom prst="rect">
            <a:avLst/>
          </a:prstGeom>
          <a:noFill/>
          <a:ln/>
        </p:spPr>
        <p:txBody>
          <a:bodyPr wrap="square" lIns="0" tIns="0" rIns="0" bIns="0" rtlCol="0" anchor="ctr"/>
          <a:lstStyle/>
          <a:p>
            <a:pPr marL="0" indent="0">
              <a:buNone/>
            </a:pPr>
            <a:r>
              <a:rPr lang="en-US" sz="1000" dirty="0">
                <a:solidFill>
                  <a:schemeClr val="tx1"/>
                </a:solidFill>
              </a:rPr>
              <a:t>☑  E5_PresidentAPE</a:t>
            </a:r>
            <a:endParaRPr lang="en-US" sz="1000" dirty="0"/>
          </a:p>
        </p:txBody>
      </p:sp>
      <p:sp>
        <p:nvSpPr>
          <p:cNvPr id="18" name="card-1102"/>
          <p:cNvSpPr/>
          <p:nvPr/>
        </p:nvSpPr>
        <p:spPr>
          <a:xfrm>
            <a:off x="2926080" y="2148840"/>
            <a:ext cx="3246120" cy="3657600"/>
          </a:xfrm>
          <a:prstGeom prst="roundRect">
            <a:avLst>
              <a:gd name="adj" fmla="val 2254"/>
            </a:avLst>
          </a:prstGeom>
          <a:solidFill>
            <a:schemeClr val="bg1"/>
          </a:solidFill>
          <a:ln w="12700">
            <a:solidFill>
              <a:srgbClr val="D7E2E3"/>
            </a:solidFill>
            <a:prstDash val="solid"/>
          </a:ln>
        </p:spPr>
      </p:sp>
      <p:sp>
        <p:nvSpPr>
          <p:cNvPr id="19" name="txt-1103"/>
          <p:cNvSpPr txBox="1"/>
          <p:nvPr/>
        </p:nvSpPr>
        <p:spPr>
          <a:xfrm>
            <a:off x="3063240" y="2212848"/>
            <a:ext cx="1828800" cy="292608"/>
          </a:xfrm>
          <a:prstGeom prst="rect">
            <a:avLst/>
          </a:prstGeom>
          <a:noFill/>
          <a:ln/>
        </p:spPr>
        <p:txBody>
          <a:bodyPr wrap="square" lIns="0" tIns="0" rIns="0" bIns="0" rtlCol="0" anchor="t"/>
          <a:lstStyle/>
          <a:p>
            <a:pPr marL="0" indent="0">
              <a:buNone/>
            </a:pPr>
            <a:r>
              <a:rPr lang="en-US" sz="1200" b="1" dirty="0">
                <a:solidFill>
                  <a:schemeClr val="tx2"/>
                </a:solidFill>
              </a:rPr>
              <a:t>Discussion</a:t>
            </a:r>
            <a:endParaRPr lang="en-US" sz="1200" dirty="0"/>
          </a:p>
        </p:txBody>
      </p:sp>
      <p:sp>
        <p:nvSpPr>
          <p:cNvPr id="20" name="card-1104"/>
          <p:cNvSpPr/>
          <p:nvPr/>
        </p:nvSpPr>
        <p:spPr>
          <a:xfrm>
            <a:off x="3931920" y="2578608"/>
            <a:ext cx="2103120" cy="566928"/>
          </a:xfrm>
          <a:prstGeom prst="roundRect">
            <a:avLst>
              <a:gd name="adj" fmla="val 12903"/>
            </a:avLst>
          </a:prstGeom>
          <a:solidFill>
            <a:schemeClr val="tx2"/>
          </a:solidFill>
          <a:ln w="6350">
            <a:solidFill>
              <a:schemeClr val="tx2"/>
            </a:solidFill>
            <a:prstDash val="solid"/>
          </a:ln>
        </p:spPr>
      </p:sp>
      <p:sp>
        <p:nvSpPr>
          <p:cNvPr id="21" name="txt-1105"/>
          <p:cNvSpPr txBox="1"/>
          <p:nvPr/>
        </p:nvSpPr>
        <p:spPr>
          <a:xfrm>
            <a:off x="4023360" y="2578608"/>
            <a:ext cx="1920240" cy="566928"/>
          </a:xfrm>
          <a:prstGeom prst="rect">
            <a:avLst/>
          </a:prstGeom>
          <a:noFill/>
          <a:ln/>
        </p:spPr>
        <p:txBody>
          <a:bodyPr wrap="square" lIns="0" tIns="0" rIns="0" bIns="0" rtlCol="0" anchor="ctr"/>
          <a:lstStyle/>
          <a:p>
            <a:pPr marL="0" indent="0">
              <a:buNone/>
            </a:pPr>
            <a:r>
              <a:rPr lang="en-US" sz="1000" dirty="0">
                <a:solidFill>
                  <a:schemeClr val="bg1"/>
                </a:solidFill>
              </a:rPr>
              <a:t>Pourquoi les filles arrêtent-elles le collège ?</a:t>
            </a:r>
            <a:endParaRPr lang="en-US" sz="1000" dirty="0"/>
          </a:p>
        </p:txBody>
      </p:sp>
      <p:sp>
        <p:nvSpPr>
          <p:cNvPr id="22" name="card-1106"/>
          <p:cNvSpPr/>
          <p:nvPr/>
        </p:nvSpPr>
        <p:spPr>
          <a:xfrm>
            <a:off x="3063240" y="3291840"/>
            <a:ext cx="2971800" cy="1920240"/>
          </a:xfrm>
          <a:prstGeom prst="roundRect">
            <a:avLst>
              <a:gd name="adj" fmla="val 3810"/>
            </a:avLst>
          </a:prstGeom>
          <a:solidFill>
            <a:schemeClr val="bg2"/>
          </a:solidFill>
          <a:ln w="6350">
            <a:solidFill>
              <a:schemeClr val="bg2"/>
            </a:solidFill>
            <a:prstDash val="solid"/>
          </a:ln>
        </p:spPr>
      </p:sp>
      <p:sp>
        <p:nvSpPr>
          <p:cNvPr id="23" name="txt-1107"/>
          <p:cNvSpPr txBox="1"/>
          <p:nvPr/>
        </p:nvSpPr>
        <p:spPr>
          <a:xfrm>
            <a:off x="3182112" y="3383280"/>
            <a:ext cx="2743200" cy="1737360"/>
          </a:xfrm>
          <a:prstGeom prst="rect">
            <a:avLst/>
          </a:prstGeom>
          <a:noFill/>
          <a:ln/>
        </p:spPr>
        <p:txBody>
          <a:bodyPr wrap="square" lIns="0" tIns="0" rIns="0" bIns="0" rtlCol="0" anchor="t"/>
          <a:lstStyle/>
          <a:p>
            <a:pPr marL="0" indent="0">
              <a:buNone/>
            </a:pPr>
            <a:r>
              <a:rPr lang="en-US" sz="1100" dirty="0">
                <a:solidFill>
                  <a:schemeClr val="tx1"/>
                </a:solidFill>
              </a:rPr>
              <a:t>Les entretiens citent le coût de la scolarité </a:t>
            </a:r>
            <a:r>
              <a:rPr lang="en-US" sz="1100" b="1" dirty="0">
                <a:solidFill>
                  <a:schemeClr val="accent6"/>
                </a:solidFill>
              </a:rPr>
              <a:t>[1]</a:t>
            </a:r>
            <a:r>
              <a:rPr lang="en-US" sz="1100" dirty="0">
                <a:solidFill>
                  <a:schemeClr val="tx1"/>
                </a:solidFill>
              </a:rPr>
              <a:t>, les travaux domestiques </a:t>
            </a:r>
            <a:r>
              <a:rPr lang="en-US" sz="1100" b="1" dirty="0">
                <a:solidFill>
                  <a:schemeClr val="accent6"/>
                </a:solidFill>
              </a:rPr>
              <a:t>[2]</a:t>
            </a:r>
            <a:r>
              <a:rPr lang="en-US" sz="1100" dirty="0">
                <a:solidFill>
                  <a:schemeClr val="tx1"/>
                </a:solidFill>
              </a:rPr>
              <a:t> et les grossesses précoces </a:t>
            </a:r>
            <a:r>
              <a:rPr lang="en-US" sz="1100" b="1" dirty="0">
                <a:solidFill>
                  <a:schemeClr val="accent6"/>
                </a:solidFill>
              </a:rPr>
              <a:t>[3]</a:t>
            </a:r>
            <a:r>
              <a:rPr lang="en-US" sz="1100" dirty="0">
                <a:solidFill>
                  <a:schemeClr val="tx1"/>
                </a:solidFill>
              </a:rPr>
              <a:t>…</a:t>
            </a:r>
            <a:endParaRPr lang="en-US" sz="1100" dirty="0"/>
          </a:p>
        </p:txBody>
      </p:sp>
      <p:sp>
        <p:nvSpPr>
          <p:cNvPr id="24" name="card-1108"/>
          <p:cNvSpPr/>
          <p:nvPr/>
        </p:nvSpPr>
        <p:spPr>
          <a:xfrm>
            <a:off x="3063240" y="5257800"/>
            <a:ext cx="2971800" cy="438912"/>
          </a:xfrm>
          <a:prstGeom prst="roundRect">
            <a:avLst>
              <a:gd name="adj" fmla="val 16667"/>
            </a:avLst>
          </a:prstGeom>
          <a:solidFill>
            <a:schemeClr val="bg1"/>
          </a:solidFill>
          <a:ln w="12700">
            <a:solidFill>
              <a:srgbClr val="C9D6D8"/>
            </a:solidFill>
            <a:prstDash val="solid"/>
          </a:ln>
        </p:spPr>
      </p:sp>
      <p:sp>
        <p:nvSpPr>
          <p:cNvPr id="25" name="txt-1109"/>
          <p:cNvSpPr txBox="1"/>
          <p:nvPr/>
        </p:nvSpPr>
        <p:spPr>
          <a:xfrm>
            <a:off x="3200400" y="5257800"/>
            <a:ext cx="2743200" cy="438912"/>
          </a:xfrm>
          <a:prstGeom prst="rect">
            <a:avLst/>
          </a:prstGeom>
          <a:noFill/>
          <a:ln/>
        </p:spPr>
        <p:txBody>
          <a:bodyPr wrap="square" lIns="0" tIns="0" rIns="0" bIns="0" rtlCol="0" anchor="ctr"/>
          <a:lstStyle/>
          <a:p>
            <a:pPr marL="0" indent="0">
              <a:buNone/>
            </a:pPr>
            <a:r>
              <a:rPr lang="en-US" sz="1000" i="1" dirty="0">
                <a:solidFill>
                  <a:schemeClr val="accent5"/>
                </a:solidFill>
              </a:rPr>
              <a:t>Posez une question…</a:t>
            </a:r>
            <a:endParaRPr lang="en-US" sz="1000" dirty="0"/>
          </a:p>
        </p:txBody>
      </p:sp>
      <p:sp>
        <p:nvSpPr>
          <p:cNvPr id="26" name="card-1110"/>
          <p:cNvSpPr/>
          <p:nvPr/>
        </p:nvSpPr>
        <p:spPr>
          <a:xfrm>
            <a:off x="6263640" y="2148840"/>
            <a:ext cx="1828800" cy="3657600"/>
          </a:xfrm>
          <a:prstGeom prst="roundRect">
            <a:avLst>
              <a:gd name="adj" fmla="val 4000"/>
            </a:avLst>
          </a:prstGeom>
          <a:solidFill>
            <a:schemeClr val="bg2"/>
          </a:solidFill>
          <a:ln w="6350">
            <a:solidFill>
              <a:schemeClr val="bg2"/>
            </a:solidFill>
            <a:prstDash val="solid"/>
          </a:ln>
        </p:spPr>
      </p:sp>
      <p:sp>
        <p:nvSpPr>
          <p:cNvPr id="27" name="txt-1111"/>
          <p:cNvSpPr txBox="1"/>
          <p:nvPr/>
        </p:nvSpPr>
        <p:spPr>
          <a:xfrm>
            <a:off x="6400800" y="2212848"/>
            <a:ext cx="1554480" cy="292608"/>
          </a:xfrm>
          <a:prstGeom prst="rect">
            <a:avLst/>
          </a:prstGeom>
          <a:noFill/>
          <a:ln/>
        </p:spPr>
        <p:txBody>
          <a:bodyPr wrap="square" lIns="0" tIns="0" rIns="0" bIns="0" rtlCol="0" anchor="t"/>
          <a:lstStyle/>
          <a:p>
            <a:pPr marL="0" indent="0">
              <a:buNone/>
            </a:pPr>
            <a:r>
              <a:rPr lang="en-US" sz="1200" b="1" dirty="0">
                <a:solidFill>
                  <a:schemeClr val="tx2"/>
                </a:solidFill>
              </a:rPr>
              <a:t>Studio</a:t>
            </a:r>
            <a:endParaRPr lang="en-US" sz="1200" dirty="0"/>
          </a:p>
        </p:txBody>
      </p:sp>
      <p:sp>
        <p:nvSpPr>
          <p:cNvPr id="28" name="card-1112"/>
          <p:cNvSpPr/>
          <p:nvPr/>
        </p:nvSpPr>
        <p:spPr>
          <a:xfrm>
            <a:off x="6400800" y="2606040"/>
            <a:ext cx="1554480" cy="402336"/>
          </a:xfrm>
          <a:prstGeom prst="roundRect">
            <a:avLst>
              <a:gd name="adj" fmla="val 18182"/>
            </a:avLst>
          </a:prstGeom>
          <a:solidFill>
            <a:schemeClr val="bg1"/>
          </a:solidFill>
          <a:ln w="6350">
            <a:solidFill>
              <a:schemeClr val="bg1"/>
            </a:solidFill>
            <a:prstDash val="solid"/>
          </a:ln>
        </p:spPr>
      </p:sp>
      <p:sp>
        <p:nvSpPr>
          <p:cNvPr id="29" name="txt-1113"/>
          <p:cNvSpPr txBox="1"/>
          <p:nvPr/>
        </p:nvSpPr>
        <p:spPr>
          <a:xfrm>
            <a:off x="6400800" y="2606040"/>
            <a:ext cx="1554480" cy="402336"/>
          </a:xfrm>
          <a:prstGeom prst="rect">
            <a:avLst/>
          </a:prstGeom>
          <a:noFill/>
          <a:ln/>
        </p:spPr>
        <p:txBody>
          <a:bodyPr wrap="square" lIns="0" tIns="0" rIns="0" bIns="0" rtlCol="0" anchor="ctr"/>
          <a:lstStyle/>
          <a:p>
            <a:pPr marL="0" indent="0" algn="ctr">
              <a:buNone/>
            </a:pPr>
            <a:r>
              <a:rPr lang="en-US" sz="1000" b="1" dirty="0">
                <a:solidFill>
                  <a:schemeClr val="tx2"/>
                </a:solidFill>
              </a:rPr>
              <a:t>Aperçu audio</a:t>
            </a:r>
            <a:endParaRPr lang="en-US" sz="1000" dirty="0"/>
          </a:p>
        </p:txBody>
      </p:sp>
      <p:sp>
        <p:nvSpPr>
          <p:cNvPr id="30" name="card-1114"/>
          <p:cNvSpPr/>
          <p:nvPr/>
        </p:nvSpPr>
        <p:spPr>
          <a:xfrm>
            <a:off x="6400800" y="3136392"/>
            <a:ext cx="1554480" cy="402336"/>
          </a:xfrm>
          <a:prstGeom prst="roundRect">
            <a:avLst>
              <a:gd name="adj" fmla="val 18182"/>
            </a:avLst>
          </a:prstGeom>
          <a:solidFill>
            <a:schemeClr val="bg1"/>
          </a:solidFill>
          <a:ln w="6350">
            <a:solidFill>
              <a:schemeClr val="bg1"/>
            </a:solidFill>
            <a:prstDash val="solid"/>
          </a:ln>
        </p:spPr>
      </p:sp>
      <p:sp>
        <p:nvSpPr>
          <p:cNvPr id="31" name="txt-1115"/>
          <p:cNvSpPr txBox="1"/>
          <p:nvPr/>
        </p:nvSpPr>
        <p:spPr>
          <a:xfrm>
            <a:off x="6400800" y="3136392"/>
            <a:ext cx="1554480" cy="402336"/>
          </a:xfrm>
          <a:prstGeom prst="rect">
            <a:avLst/>
          </a:prstGeom>
          <a:noFill/>
          <a:ln/>
        </p:spPr>
        <p:txBody>
          <a:bodyPr wrap="square" lIns="0" tIns="0" rIns="0" bIns="0" rtlCol="0" anchor="ctr"/>
          <a:lstStyle/>
          <a:p>
            <a:pPr marL="0" indent="0" algn="ctr">
              <a:buNone/>
            </a:pPr>
            <a:r>
              <a:rPr lang="en-US" sz="1000" b="1" dirty="0">
                <a:solidFill>
                  <a:schemeClr val="tx2"/>
                </a:solidFill>
              </a:rPr>
              <a:t>Aperçu vidéo</a:t>
            </a:r>
            <a:endParaRPr lang="en-US" sz="1000" dirty="0"/>
          </a:p>
        </p:txBody>
      </p:sp>
      <p:sp>
        <p:nvSpPr>
          <p:cNvPr id="32" name="card-1116"/>
          <p:cNvSpPr/>
          <p:nvPr/>
        </p:nvSpPr>
        <p:spPr>
          <a:xfrm>
            <a:off x="6400800" y="3666744"/>
            <a:ext cx="1554480" cy="402336"/>
          </a:xfrm>
          <a:prstGeom prst="roundRect">
            <a:avLst>
              <a:gd name="adj" fmla="val 18182"/>
            </a:avLst>
          </a:prstGeom>
          <a:solidFill>
            <a:schemeClr val="bg1"/>
          </a:solidFill>
          <a:ln w="6350">
            <a:solidFill>
              <a:schemeClr val="bg1"/>
            </a:solidFill>
            <a:prstDash val="solid"/>
          </a:ln>
        </p:spPr>
      </p:sp>
      <p:sp>
        <p:nvSpPr>
          <p:cNvPr id="33" name="txt-1117"/>
          <p:cNvSpPr txBox="1"/>
          <p:nvPr/>
        </p:nvSpPr>
        <p:spPr>
          <a:xfrm>
            <a:off x="6400800" y="3666744"/>
            <a:ext cx="1554480" cy="402336"/>
          </a:xfrm>
          <a:prstGeom prst="rect">
            <a:avLst/>
          </a:prstGeom>
          <a:noFill/>
          <a:ln/>
        </p:spPr>
        <p:txBody>
          <a:bodyPr wrap="square" lIns="0" tIns="0" rIns="0" bIns="0" rtlCol="0" anchor="ctr"/>
          <a:lstStyle/>
          <a:p>
            <a:pPr marL="0" indent="0" algn="ctr">
              <a:buNone/>
            </a:pPr>
            <a:r>
              <a:rPr lang="en-US" sz="1000" b="1" dirty="0">
                <a:solidFill>
                  <a:schemeClr val="tx2"/>
                </a:solidFill>
              </a:rPr>
              <a:t>Carte mentale</a:t>
            </a:r>
            <a:endParaRPr lang="en-US" sz="1000" dirty="0"/>
          </a:p>
        </p:txBody>
      </p:sp>
      <p:sp>
        <p:nvSpPr>
          <p:cNvPr id="34" name="card-1118"/>
          <p:cNvSpPr/>
          <p:nvPr/>
        </p:nvSpPr>
        <p:spPr>
          <a:xfrm>
            <a:off x="6400800" y="4197096"/>
            <a:ext cx="1554480" cy="402336"/>
          </a:xfrm>
          <a:prstGeom prst="roundRect">
            <a:avLst>
              <a:gd name="adj" fmla="val 18182"/>
            </a:avLst>
          </a:prstGeom>
          <a:solidFill>
            <a:schemeClr val="bg1"/>
          </a:solidFill>
          <a:ln w="6350">
            <a:solidFill>
              <a:schemeClr val="bg1"/>
            </a:solidFill>
            <a:prstDash val="solid"/>
          </a:ln>
        </p:spPr>
      </p:sp>
      <p:sp>
        <p:nvSpPr>
          <p:cNvPr id="35" name="txt-1119"/>
          <p:cNvSpPr txBox="1"/>
          <p:nvPr/>
        </p:nvSpPr>
        <p:spPr>
          <a:xfrm>
            <a:off x="6400800" y="4197096"/>
            <a:ext cx="1554480" cy="402336"/>
          </a:xfrm>
          <a:prstGeom prst="rect">
            <a:avLst/>
          </a:prstGeom>
          <a:noFill/>
          <a:ln/>
        </p:spPr>
        <p:txBody>
          <a:bodyPr wrap="square" lIns="0" tIns="0" rIns="0" bIns="0" rtlCol="0" anchor="ctr"/>
          <a:lstStyle/>
          <a:p>
            <a:pPr marL="0" indent="0" algn="ctr">
              <a:buNone/>
            </a:pPr>
            <a:r>
              <a:rPr lang="en-US" sz="1000" b="1" dirty="0">
                <a:solidFill>
                  <a:schemeClr val="tx2"/>
                </a:solidFill>
              </a:rPr>
              <a:t>Rapports</a:t>
            </a:r>
            <a:endParaRPr lang="en-US" sz="1000" dirty="0"/>
          </a:p>
        </p:txBody>
      </p:sp>
      <p:sp>
        <p:nvSpPr>
          <p:cNvPr id="36" name="card-1120"/>
          <p:cNvSpPr/>
          <p:nvPr/>
        </p:nvSpPr>
        <p:spPr>
          <a:xfrm>
            <a:off x="6400800" y="4727448"/>
            <a:ext cx="1554480" cy="402336"/>
          </a:xfrm>
          <a:prstGeom prst="roundRect">
            <a:avLst>
              <a:gd name="adj" fmla="val 18182"/>
            </a:avLst>
          </a:prstGeom>
          <a:solidFill>
            <a:schemeClr val="bg1"/>
          </a:solidFill>
          <a:ln w="6350">
            <a:solidFill>
              <a:schemeClr val="bg1"/>
            </a:solidFill>
            <a:prstDash val="solid"/>
          </a:ln>
        </p:spPr>
      </p:sp>
      <p:sp>
        <p:nvSpPr>
          <p:cNvPr id="37" name="txt-1121"/>
          <p:cNvSpPr txBox="1"/>
          <p:nvPr/>
        </p:nvSpPr>
        <p:spPr>
          <a:xfrm>
            <a:off x="6400800" y="4727448"/>
            <a:ext cx="1554480" cy="402336"/>
          </a:xfrm>
          <a:prstGeom prst="rect">
            <a:avLst/>
          </a:prstGeom>
          <a:noFill/>
          <a:ln/>
        </p:spPr>
        <p:txBody>
          <a:bodyPr wrap="square" lIns="0" tIns="0" rIns="0" bIns="0" rtlCol="0" anchor="ctr"/>
          <a:lstStyle/>
          <a:p>
            <a:pPr marL="0" indent="0" algn="ctr">
              <a:buNone/>
            </a:pPr>
            <a:r>
              <a:rPr lang="en-US" sz="1000" b="1" dirty="0">
                <a:solidFill>
                  <a:schemeClr val="tx2"/>
                </a:solidFill>
              </a:rPr>
              <a:t>Fiches</a:t>
            </a:r>
            <a:endParaRPr lang="en-US" sz="1000" dirty="0"/>
          </a:p>
        </p:txBody>
      </p:sp>
      <p:sp>
        <p:nvSpPr>
          <p:cNvPr id="38" name="card-1122"/>
          <p:cNvSpPr/>
          <p:nvPr/>
        </p:nvSpPr>
        <p:spPr>
          <a:xfrm>
            <a:off x="6400800" y="5257800"/>
            <a:ext cx="1554480" cy="402336"/>
          </a:xfrm>
          <a:prstGeom prst="roundRect">
            <a:avLst>
              <a:gd name="adj" fmla="val 18182"/>
            </a:avLst>
          </a:prstGeom>
          <a:solidFill>
            <a:schemeClr val="bg1"/>
          </a:solidFill>
          <a:ln w="6350">
            <a:solidFill>
              <a:schemeClr val="bg1"/>
            </a:solidFill>
            <a:prstDash val="solid"/>
          </a:ln>
        </p:spPr>
      </p:sp>
      <p:sp>
        <p:nvSpPr>
          <p:cNvPr id="39" name="txt-1123"/>
          <p:cNvSpPr txBox="1"/>
          <p:nvPr/>
        </p:nvSpPr>
        <p:spPr>
          <a:xfrm>
            <a:off x="6400800" y="5257800"/>
            <a:ext cx="1554480" cy="402336"/>
          </a:xfrm>
          <a:prstGeom prst="rect">
            <a:avLst/>
          </a:prstGeom>
          <a:noFill/>
          <a:ln/>
        </p:spPr>
        <p:txBody>
          <a:bodyPr wrap="square" lIns="0" tIns="0" rIns="0" bIns="0" rtlCol="0" anchor="ctr"/>
          <a:lstStyle/>
          <a:p>
            <a:pPr marL="0" indent="0" algn="ctr">
              <a:buNone/>
            </a:pPr>
            <a:r>
              <a:rPr lang="en-US" sz="1000" b="1" dirty="0">
                <a:solidFill>
                  <a:schemeClr val="tx2"/>
                </a:solidFill>
              </a:rPr>
              <a:t>Quiz</a:t>
            </a:r>
            <a:endParaRPr lang="en-US" sz="1000" dirty="0"/>
          </a:p>
        </p:txBody>
      </p:sp>
      <p:sp>
        <p:nvSpPr>
          <p:cNvPr id="40" name="num-1124"/>
          <p:cNvSpPr/>
          <p:nvPr/>
        </p:nvSpPr>
        <p:spPr>
          <a:xfrm>
            <a:off x="8503920" y="1600200"/>
            <a:ext cx="502920" cy="502920"/>
          </a:xfrm>
          <a:prstGeom prst="ellipse">
            <a:avLst/>
          </a:prstGeom>
          <a:solidFill>
            <a:schemeClr val="accent1"/>
          </a:solidFill>
          <a:ln w="12700">
            <a:solidFill>
              <a:schemeClr val="accent1"/>
            </a:solidFill>
            <a:prstDash val="solid"/>
          </a:ln>
        </p:spPr>
      </p:sp>
      <p:sp>
        <p:nvSpPr>
          <p:cNvPr id="41" name="txt-1125"/>
          <p:cNvSpPr txBox="1"/>
          <p:nvPr/>
        </p:nvSpPr>
        <p:spPr>
          <a:xfrm>
            <a:off x="8503920" y="1600200"/>
            <a:ext cx="502920" cy="502920"/>
          </a:xfrm>
          <a:prstGeom prst="rect">
            <a:avLst/>
          </a:prstGeom>
          <a:noFill/>
          <a:ln/>
        </p:spPr>
        <p:txBody>
          <a:bodyPr wrap="square" lIns="0" tIns="0" rIns="0" bIns="0" rtlCol="0" anchor="ctr"/>
          <a:lstStyle/>
          <a:p>
            <a:pPr marL="0" indent="0" algn="ctr">
              <a:buNone/>
            </a:pPr>
            <a:r>
              <a:rPr lang="en-US" sz="1700" b="1" dirty="0">
                <a:solidFill>
                  <a:schemeClr val="tx2"/>
                </a:solidFill>
              </a:rPr>
              <a:t>1</a:t>
            </a:r>
            <a:endParaRPr lang="en-US" sz="1700" dirty="0"/>
          </a:p>
        </p:txBody>
      </p:sp>
      <p:sp>
        <p:nvSpPr>
          <p:cNvPr id="42" name="txt-1126"/>
          <p:cNvSpPr txBox="1"/>
          <p:nvPr/>
        </p:nvSpPr>
        <p:spPr>
          <a:xfrm>
            <a:off x="9144000" y="1581912"/>
            <a:ext cx="2468880" cy="365760"/>
          </a:xfrm>
          <a:prstGeom prst="rect">
            <a:avLst/>
          </a:prstGeom>
          <a:noFill/>
          <a:ln/>
        </p:spPr>
        <p:txBody>
          <a:bodyPr wrap="square" lIns="0" tIns="0" rIns="0" bIns="0" rtlCol="0" anchor="t"/>
          <a:lstStyle/>
          <a:p>
            <a:pPr marL="0" indent="0">
              <a:buNone/>
            </a:pPr>
            <a:r>
              <a:rPr lang="en-US" sz="1500" b="1" dirty="0">
                <a:solidFill>
                  <a:schemeClr val="tx2"/>
                </a:solidFill>
              </a:rPr>
              <a:t>Sources</a:t>
            </a:r>
            <a:endParaRPr lang="en-US" sz="1500" dirty="0"/>
          </a:p>
        </p:txBody>
      </p:sp>
      <p:sp>
        <p:nvSpPr>
          <p:cNvPr id="43" name="txt-1127"/>
          <p:cNvSpPr txBox="1"/>
          <p:nvPr/>
        </p:nvSpPr>
        <p:spPr>
          <a:xfrm>
            <a:off x="9144000" y="1965960"/>
            <a:ext cx="2468880" cy="1051560"/>
          </a:xfrm>
          <a:prstGeom prst="rect">
            <a:avLst/>
          </a:prstGeom>
          <a:noFill/>
          <a:ln/>
        </p:spPr>
        <p:txBody>
          <a:bodyPr wrap="square" lIns="0" tIns="0" rIns="0" bIns="0" rtlCol="0" anchor="t"/>
          <a:lstStyle/>
          <a:p>
            <a:pPr marL="0" indent="0">
              <a:buNone/>
            </a:pPr>
            <a:r>
              <a:rPr lang="en-US" sz="1200" dirty="0">
                <a:solidFill>
                  <a:schemeClr val="tx1"/>
                </a:solidFill>
              </a:rPr>
              <a:t>Ce que l'IA a le droit de lire. Cochez ou décochez pour cibler la question.</a:t>
            </a:r>
            <a:endParaRPr lang="en-US" sz="1200" dirty="0"/>
          </a:p>
        </p:txBody>
      </p:sp>
      <p:sp>
        <p:nvSpPr>
          <p:cNvPr id="44" name="num-1128"/>
          <p:cNvSpPr/>
          <p:nvPr/>
        </p:nvSpPr>
        <p:spPr>
          <a:xfrm>
            <a:off x="8503920" y="3108960"/>
            <a:ext cx="502920" cy="502920"/>
          </a:xfrm>
          <a:prstGeom prst="ellipse">
            <a:avLst/>
          </a:prstGeom>
          <a:solidFill>
            <a:schemeClr val="accent1"/>
          </a:solidFill>
          <a:ln w="12700">
            <a:solidFill>
              <a:schemeClr val="accent1"/>
            </a:solidFill>
            <a:prstDash val="solid"/>
          </a:ln>
        </p:spPr>
      </p:sp>
      <p:sp>
        <p:nvSpPr>
          <p:cNvPr id="45" name="txt-1129"/>
          <p:cNvSpPr txBox="1"/>
          <p:nvPr/>
        </p:nvSpPr>
        <p:spPr>
          <a:xfrm>
            <a:off x="8503920" y="3108960"/>
            <a:ext cx="502920" cy="502920"/>
          </a:xfrm>
          <a:prstGeom prst="rect">
            <a:avLst/>
          </a:prstGeom>
          <a:noFill/>
          <a:ln/>
        </p:spPr>
        <p:txBody>
          <a:bodyPr wrap="square" lIns="0" tIns="0" rIns="0" bIns="0" rtlCol="0" anchor="ctr"/>
          <a:lstStyle/>
          <a:p>
            <a:pPr marL="0" indent="0" algn="ctr">
              <a:buNone/>
            </a:pPr>
            <a:r>
              <a:rPr lang="en-US" sz="1700" b="1" dirty="0">
                <a:solidFill>
                  <a:schemeClr val="tx2"/>
                </a:solidFill>
              </a:rPr>
              <a:t>2</a:t>
            </a:r>
            <a:endParaRPr lang="en-US" sz="1700" dirty="0"/>
          </a:p>
        </p:txBody>
      </p:sp>
      <p:sp>
        <p:nvSpPr>
          <p:cNvPr id="46" name="txt-1130"/>
          <p:cNvSpPr txBox="1"/>
          <p:nvPr/>
        </p:nvSpPr>
        <p:spPr>
          <a:xfrm>
            <a:off x="9144000" y="3090672"/>
            <a:ext cx="2468880" cy="365760"/>
          </a:xfrm>
          <a:prstGeom prst="rect">
            <a:avLst/>
          </a:prstGeom>
          <a:noFill/>
          <a:ln/>
        </p:spPr>
        <p:txBody>
          <a:bodyPr wrap="square" lIns="0" tIns="0" rIns="0" bIns="0" rtlCol="0" anchor="t"/>
          <a:lstStyle/>
          <a:p>
            <a:pPr marL="0" indent="0">
              <a:buNone/>
            </a:pPr>
            <a:r>
              <a:rPr lang="en-US" sz="1500" b="1" dirty="0">
                <a:solidFill>
                  <a:schemeClr val="tx2"/>
                </a:solidFill>
              </a:rPr>
              <a:t>Discussion</a:t>
            </a:r>
            <a:endParaRPr lang="en-US" sz="1500" dirty="0"/>
          </a:p>
        </p:txBody>
      </p:sp>
      <p:sp>
        <p:nvSpPr>
          <p:cNvPr id="47" name="txt-1131"/>
          <p:cNvSpPr txBox="1"/>
          <p:nvPr/>
        </p:nvSpPr>
        <p:spPr>
          <a:xfrm>
            <a:off x="9144000" y="3474720"/>
            <a:ext cx="2468880" cy="1051560"/>
          </a:xfrm>
          <a:prstGeom prst="rect">
            <a:avLst/>
          </a:prstGeom>
          <a:noFill/>
          <a:ln/>
        </p:spPr>
        <p:txBody>
          <a:bodyPr wrap="square" lIns="0" tIns="0" rIns="0" bIns="0" rtlCol="0" anchor="t"/>
          <a:lstStyle/>
          <a:p>
            <a:pPr marL="0" indent="0">
              <a:buNone/>
            </a:pPr>
            <a:r>
              <a:rPr lang="en-US" sz="1200" dirty="0">
                <a:solidFill>
                  <a:schemeClr val="tx1"/>
                </a:solidFill>
              </a:rPr>
              <a:t>Questions en langage naturel ; réponses avec renvois cliquables vers le passage exact.</a:t>
            </a:r>
            <a:endParaRPr lang="en-US" sz="1200" dirty="0"/>
          </a:p>
        </p:txBody>
      </p:sp>
      <p:sp>
        <p:nvSpPr>
          <p:cNvPr id="48" name="num-1132"/>
          <p:cNvSpPr/>
          <p:nvPr/>
        </p:nvSpPr>
        <p:spPr>
          <a:xfrm>
            <a:off x="8503920" y="4617720"/>
            <a:ext cx="502920" cy="502920"/>
          </a:xfrm>
          <a:prstGeom prst="ellipse">
            <a:avLst/>
          </a:prstGeom>
          <a:solidFill>
            <a:schemeClr val="accent1"/>
          </a:solidFill>
          <a:ln w="12700">
            <a:solidFill>
              <a:schemeClr val="accent1"/>
            </a:solidFill>
            <a:prstDash val="solid"/>
          </a:ln>
        </p:spPr>
      </p:sp>
      <p:sp>
        <p:nvSpPr>
          <p:cNvPr id="49" name="txt-1133"/>
          <p:cNvSpPr txBox="1"/>
          <p:nvPr/>
        </p:nvSpPr>
        <p:spPr>
          <a:xfrm>
            <a:off x="8503920" y="4617720"/>
            <a:ext cx="502920" cy="502920"/>
          </a:xfrm>
          <a:prstGeom prst="rect">
            <a:avLst/>
          </a:prstGeom>
          <a:noFill/>
          <a:ln/>
        </p:spPr>
        <p:txBody>
          <a:bodyPr wrap="square" lIns="0" tIns="0" rIns="0" bIns="0" rtlCol="0" anchor="ctr"/>
          <a:lstStyle/>
          <a:p>
            <a:pPr marL="0" indent="0" algn="ctr">
              <a:buNone/>
            </a:pPr>
            <a:r>
              <a:rPr lang="en-US" sz="1700" b="1" dirty="0">
                <a:solidFill>
                  <a:schemeClr val="tx2"/>
                </a:solidFill>
              </a:rPr>
              <a:t>3</a:t>
            </a:r>
            <a:endParaRPr lang="en-US" sz="1700" dirty="0"/>
          </a:p>
        </p:txBody>
      </p:sp>
      <p:sp>
        <p:nvSpPr>
          <p:cNvPr id="50" name="txt-1134"/>
          <p:cNvSpPr txBox="1"/>
          <p:nvPr/>
        </p:nvSpPr>
        <p:spPr>
          <a:xfrm>
            <a:off x="9144000" y="4599432"/>
            <a:ext cx="2468880" cy="365760"/>
          </a:xfrm>
          <a:prstGeom prst="rect">
            <a:avLst/>
          </a:prstGeom>
          <a:noFill/>
          <a:ln/>
        </p:spPr>
        <p:txBody>
          <a:bodyPr wrap="square" lIns="0" tIns="0" rIns="0" bIns="0" rtlCol="0" anchor="t"/>
          <a:lstStyle/>
          <a:p>
            <a:pPr marL="0" indent="0">
              <a:buNone/>
            </a:pPr>
            <a:r>
              <a:rPr lang="en-US" sz="1500" b="1" dirty="0">
                <a:solidFill>
                  <a:schemeClr val="tx2"/>
                </a:solidFill>
              </a:rPr>
              <a:t>Studio</a:t>
            </a:r>
            <a:endParaRPr lang="en-US" sz="1500" dirty="0"/>
          </a:p>
        </p:txBody>
      </p:sp>
      <p:sp>
        <p:nvSpPr>
          <p:cNvPr id="51" name="txt-1135"/>
          <p:cNvSpPr txBox="1"/>
          <p:nvPr/>
        </p:nvSpPr>
        <p:spPr>
          <a:xfrm>
            <a:off x="9144000" y="4983480"/>
            <a:ext cx="2468880" cy="1051560"/>
          </a:xfrm>
          <a:prstGeom prst="rect">
            <a:avLst/>
          </a:prstGeom>
          <a:noFill/>
          <a:ln/>
        </p:spPr>
        <p:txBody>
          <a:bodyPr wrap="square" lIns="0" tIns="0" rIns="0" bIns="0" rtlCol="0" anchor="t"/>
          <a:lstStyle/>
          <a:p>
            <a:pPr marL="0" indent="0">
              <a:buNone/>
            </a:pPr>
            <a:r>
              <a:rPr lang="en-US" sz="1200" dirty="0">
                <a:solidFill>
                  <a:schemeClr val="tx1"/>
                </a:solidFill>
              </a:rPr>
              <a:t>Transforme vos sources en rapport, carte mentale, podcast, vidéo, fiches ou quiz.</a:t>
            </a:r>
            <a:endParaRPr lang="en-US" sz="1200" dirty="0"/>
          </a:p>
        </p:txBody>
      </p:sp>
      <p:sp>
        <p:nvSpPr>
          <p:cNvPr id="52" name="txt-1136"/>
          <p:cNvSpPr txBox="1"/>
          <p:nvPr/>
        </p:nvSpPr>
        <p:spPr>
          <a:xfrm>
            <a:off x="548640" y="6053328"/>
            <a:ext cx="11064240" cy="256032"/>
          </a:xfrm>
          <a:prstGeom prst="rect">
            <a:avLst/>
          </a:prstGeom>
          <a:noFill/>
          <a:ln/>
        </p:spPr>
        <p:txBody>
          <a:bodyPr wrap="square" lIns="0" tIns="0" rIns="0" bIns="0" rtlCol="0" anchor="t"/>
          <a:lstStyle/>
          <a:p>
            <a:pPr marL="0" indent="0">
              <a:buNone/>
            </a:pPr>
            <a:r>
              <a:rPr lang="en-US" sz="1000" i="1" dirty="0">
                <a:solidFill>
                  <a:schemeClr val="accent5"/>
                </a:solidFill>
              </a:rPr>
              <a:t>Maquette simplifiée : l'interface réelle peut différer légèrement selon les mises à jour.</a:t>
            </a:r>
            <a:endParaRPr lang="en-US" sz="1000" dirty="0"/>
          </a:p>
        </p:txBody>
      </p:sp>
      <p:sp>
        <p:nvSpPr>
          <p:cNvPr id="53" name="Slide Number Placeholder 0"/>
          <p:cNvSpPr>
            <a:spLocks noGrp="1"/>
          </p:cNvSpPr>
          <p:nvPr>
            <p:ph type="sldNum" sz="quarter" idx="4294967295"/>
          </p:nvPr>
        </p:nvSpPr>
        <p:spPr>
          <a:xfrm>
            <a:off x="11064240" y="6400800"/>
            <a:ext cx="54864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C82"/>
                </a:solidFill>
                <a:latin typeface="Poppins"/>
                <a:ea typeface="Poppins"/>
                <a:cs typeface="Poppins"/>
              </a:defRPr>
            </a:lvl1pPr>
          </a:lstStyle>
          <a:p>
            <a:pPr algn="r"/>
            <a:fld id="{F7021451-1387-4CA6-816F-3879F97B5CBC}" type="slidenum">
              <a:rPr lang="en-US" b="0"/>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566928"/>
            <a:ext cx="11064240" cy="777240"/>
          </a:xfrm>
          <a:prstGeom prst="rect">
            <a:avLst/>
          </a:prstGeom>
          <a:noFill/>
          <a:ln/>
        </p:spPr>
        <p:txBody>
          <a:bodyPr wrap="square" lIns="0" tIns="0" rIns="0" bIns="0" rtlCol="0" anchor="ctr"/>
          <a:lstStyle/>
          <a:p>
            <a:pPr marL="0" indent="0" algn="l">
              <a:buNone/>
            </a:pPr>
            <a:r>
              <a:rPr lang="en-US" sz="2700" b="1" dirty="0">
                <a:solidFill>
                  <a:schemeClr val="tx2"/>
                </a:solidFill>
                <a:latin typeface="Poppins" pitchFamily="34" charset="0"/>
                <a:ea typeface="Poppins" pitchFamily="34" charset="-122"/>
                <a:cs typeface="Poppins" pitchFamily="34" charset="-120"/>
              </a:rPr>
              <a:t>Construire son RAG en 6 étapes</a:t>
            </a:r>
            <a:endParaRPr lang="en-US" sz="2700" dirty="0"/>
          </a:p>
        </p:txBody>
      </p:sp>
      <p:sp>
        <p:nvSpPr>
          <p:cNvPr id="3" name="Text 0"/>
          <p:cNvSpPr>
            <a:spLocks noGrp="1"/>
          </p:cNvSpPr>
          <p:nvPr>
            <p:ph type="body" idx="101" hasCustomPrompt="1"/>
          </p:nvPr>
        </p:nvSpPr>
        <p:spPr>
          <a:xfrm>
            <a:off x="548640" y="256032"/>
            <a:ext cx="8229600" cy="292608"/>
          </a:xfrm>
          <a:prstGeom prst="rect">
            <a:avLst/>
          </a:prstGeom>
          <a:noFill/>
          <a:ln/>
        </p:spPr>
        <p:txBody>
          <a:bodyPr wrap="square" lIns="0" tIns="0" rIns="0" bIns="0" rtlCol="0" anchor="ctr"/>
          <a:lstStyle/>
          <a:p>
            <a:pPr marL="0" indent="0">
              <a:buNone/>
            </a:pPr>
            <a:r>
              <a:rPr lang="en-US" sz="1100" b="1" dirty="0">
                <a:solidFill>
                  <a:schemeClr val="accent1"/>
                </a:solidFill>
                <a:latin typeface="Poppins" pitchFamily="34" charset="0"/>
                <a:ea typeface="Poppins" pitchFamily="34" charset="-122"/>
                <a:cs typeface="Poppins" pitchFamily="34" charset="-120"/>
              </a:rPr>
              <a:t>T3 · GEMINI NOTEBOOK</a:t>
            </a:r>
            <a:endParaRPr lang="en-US" sz="1100" dirty="0"/>
          </a:p>
        </p:txBody>
      </p:sp>
      <p:sp>
        <p:nvSpPr>
          <p:cNvPr id="4" name="card-1137"/>
          <p:cNvSpPr/>
          <p:nvPr/>
        </p:nvSpPr>
        <p:spPr>
          <a:xfrm>
            <a:off x="548640" y="1554480"/>
            <a:ext cx="3520440" cy="2057400"/>
          </a:xfrm>
          <a:prstGeom prst="roundRect">
            <a:avLst>
              <a:gd name="adj" fmla="val 3556"/>
            </a:avLst>
          </a:prstGeom>
          <a:solidFill>
            <a:schemeClr val="bg2"/>
          </a:solidFill>
          <a:ln w="6350">
            <a:solidFill>
              <a:schemeClr val="bg2"/>
            </a:solidFill>
            <a:prstDash val="solid"/>
          </a:ln>
        </p:spPr>
      </p:sp>
      <p:sp>
        <p:nvSpPr>
          <p:cNvPr id="5" name="num-1138"/>
          <p:cNvSpPr/>
          <p:nvPr/>
        </p:nvSpPr>
        <p:spPr>
          <a:xfrm>
            <a:off x="777240" y="1783080"/>
            <a:ext cx="502920" cy="502920"/>
          </a:xfrm>
          <a:prstGeom prst="ellipse">
            <a:avLst/>
          </a:prstGeom>
          <a:solidFill>
            <a:schemeClr val="accent1"/>
          </a:solidFill>
          <a:ln w="12700">
            <a:solidFill>
              <a:schemeClr val="accent1"/>
            </a:solidFill>
            <a:prstDash val="solid"/>
          </a:ln>
        </p:spPr>
      </p:sp>
      <p:sp>
        <p:nvSpPr>
          <p:cNvPr id="6" name="txt-1139"/>
          <p:cNvSpPr txBox="1"/>
          <p:nvPr/>
        </p:nvSpPr>
        <p:spPr>
          <a:xfrm>
            <a:off x="777240" y="1783080"/>
            <a:ext cx="502920" cy="502920"/>
          </a:xfrm>
          <a:prstGeom prst="rect">
            <a:avLst/>
          </a:prstGeom>
          <a:noFill/>
          <a:ln/>
        </p:spPr>
        <p:txBody>
          <a:bodyPr wrap="square" lIns="0" tIns="0" rIns="0" bIns="0" rtlCol="0" anchor="ctr"/>
          <a:lstStyle/>
          <a:p>
            <a:pPr marL="0" indent="0" algn="ctr">
              <a:buNone/>
            </a:pPr>
            <a:r>
              <a:rPr lang="en-US" sz="1700" b="1" dirty="0">
                <a:solidFill>
                  <a:schemeClr val="tx2"/>
                </a:solidFill>
              </a:rPr>
              <a:t>1</a:t>
            </a:r>
            <a:endParaRPr lang="en-US" sz="1700" dirty="0"/>
          </a:p>
        </p:txBody>
      </p:sp>
      <p:sp>
        <p:nvSpPr>
          <p:cNvPr id="7" name="circle-1140"/>
          <p:cNvSpPr/>
          <p:nvPr/>
        </p:nvSpPr>
        <p:spPr>
          <a:xfrm>
            <a:off x="3291840" y="1783080"/>
            <a:ext cx="548640" cy="548640"/>
          </a:xfrm>
          <a:prstGeom prst="ellipse">
            <a:avLst/>
          </a:prstGeom>
          <a:solidFill>
            <a:schemeClr val="accent6"/>
          </a:solidFill>
          <a:ln w="12700">
            <a:solidFill>
              <a:schemeClr val="accent6"/>
            </a:solidFill>
            <a:prstDash val="solid"/>
          </a:ln>
        </p:spPr>
      </p:sp>
      <p:pic>
        <p:nvPicPr>
          <p:cNvPr id="8" name="icon-1141" descr="preencoded.png"/>
          <p:cNvPicPr>
            <a:picLocks noChangeAspect="1"/>
          </p:cNvPicPr>
          <p:nvPr/>
        </p:nvPicPr>
        <p:blipFill>
          <a:blip r:embed="rId3"/>
          <a:stretch>
            <a:fillRect/>
          </a:stretch>
        </p:blipFill>
        <p:spPr>
          <a:xfrm>
            <a:off x="3429000" y="1920240"/>
            <a:ext cx="274320" cy="274320"/>
          </a:xfrm>
          <a:prstGeom prst="rect">
            <a:avLst/>
          </a:prstGeom>
        </p:spPr>
      </p:pic>
      <p:sp>
        <p:nvSpPr>
          <p:cNvPr id="9" name="txt-1142"/>
          <p:cNvSpPr txBox="1"/>
          <p:nvPr/>
        </p:nvSpPr>
        <p:spPr>
          <a:xfrm>
            <a:off x="777240" y="2395728"/>
            <a:ext cx="3108960" cy="384048"/>
          </a:xfrm>
          <a:prstGeom prst="rect">
            <a:avLst/>
          </a:prstGeom>
          <a:noFill/>
          <a:ln/>
        </p:spPr>
        <p:txBody>
          <a:bodyPr wrap="square" lIns="0" tIns="0" rIns="0" bIns="0" rtlCol="0" anchor="t"/>
          <a:lstStyle/>
          <a:p>
            <a:pPr marL="0" indent="0">
              <a:buNone/>
            </a:pPr>
            <a:r>
              <a:rPr lang="en-US" sz="1500" b="1" dirty="0">
                <a:solidFill>
                  <a:schemeClr val="tx2"/>
                </a:solidFill>
              </a:rPr>
              <a:t>Créer un carnet</a:t>
            </a:r>
            <a:endParaRPr lang="en-US" sz="1500" dirty="0"/>
          </a:p>
        </p:txBody>
      </p:sp>
      <p:sp>
        <p:nvSpPr>
          <p:cNvPr id="10" name="txt-1143"/>
          <p:cNvSpPr txBox="1"/>
          <p:nvPr/>
        </p:nvSpPr>
        <p:spPr>
          <a:xfrm>
            <a:off x="777240" y="2788920"/>
            <a:ext cx="3108960" cy="777240"/>
          </a:xfrm>
          <a:prstGeom prst="rect">
            <a:avLst/>
          </a:prstGeom>
          <a:noFill/>
          <a:ln/>
        </p:spPr>
        <p:txBody>
          <a:bodyPr wrap="square" lIns="0" tIns="0" rIns="0" bIns="0" rtlCol="0" anchor="t"/>
          <a:lstStyle/>
          <a:p>
            <a:pPr marL="0" indent="0">
              <a:buNone/>
            </a:pPr>
            <a:r>
              <a:rPr lang="en-US" sz="1200" dirty="0">
                <a:solidFill>
                  <a:schemeClr val="tx1"/>
                </a:solidFill>
              </a:rPr>
              <a:t>notebook.google.com → « Créer ». Un carnet = un projet ou un corpus.</a:t>
            </a:r>
            <a:endParaRPr lang="en-US" sz="1200" dirty="0"/>
          </a:p>
        </p:txBody>
      </p:sp>
      <p:sp>
        <p:nvSpPr>
          <p:cNvPr id="11" name="card-1144"/>
          <p:cNvSpPr/>
          <p:nvPr/>
        </p:nvSpPr>
        <p:spPr>
          <a:xfrm>
            <a:off x="4297680" y="1554480"/>
            <a:ext cx="3520440" cy="2057400"/>
          </a:xfrm>
          <a:prstGeom prst="roundRect">
            <a:avLst>
              <a:gd name="adj" fmla="val 3556"/>
            </a:avLst>
          </a:prstGeom>
          <a:solidFill>
            <a:schemeClr val="bg2"/>
          </a:solidFill>
          <a:ln w="6350">
            <a:solidFill>
              <a:schemeClr val="bg2"/>
            </a:solidFill>
            <a:prstDash val="solid"/>
          </a:ln>
        </p:spPr>
      </p:sp>
      <p:sp>
        <p:nvSpPr>
          <p:cNvPr id="12" name="num-1145"/>
          <p:cNvSpPr/>
          <p:nvPr/>
        </p:nvSpPr>
        <p:spPr>
          <a:xfrm>
            <a:off x="4526280" y="1783080"/>
            <a:ext cx="502920" cy="502920"/>
          </a:xfrm>
          <a:prstGeom prst="ellipse">
            <a:avLst/>
          </a:prstGeom>
          <a:solidFill>
            <a:schemeClr val="accent1"/>
          </a:solidFill>
          <a:ln w="12700">
            <a:solidFill>
              <a:schemeClr val="accent1"/>
            </a:solidFill>
            <a:prstDash val="solid"/>
          </a:ln>
        </p:spPr>
      </p:sp>
      <p:sp>
        <p:nvSpPr>
          <p:cNvPr id="13" name="txt-1146"/>
          <p:cNvSpPr txBox="1"/>
          <p:nvPr/>
        </p:nvSpPr>
        <p:spPr>
          <a:xfrm>
            <a:off x="4526280" y="1783080"/>
            <a:ext cx="502920" cy="502920"/>
          </a:xfrm>
          <a:prstGeom prst="rect">
            <a:avLst/>
          </a:prstGeom>
          <a:noFill/>
          <a:ln/>
        </p:spPr>
        <p:txBody>
          <a:bodyPr wrap="square" lIns="0" tIns="0" rIns="0" bIns="0" rtlCol="0" anchor="ctr"/>
          <a:lstStyle/>
          <a:p>
            <a:pPr marL="0" indent="0" algn="ctr">
              <a:buNone/>
            </a:pPr>
            <a:r>
              <a:rPr lang="en-US" sz="1700" b="1" dirty="0">
                <a:solidFill>
                  <a:schemeClr val="tx2"/>
                </a:solidFill>
              </a:rPr>
              <a:t>2</a:t>
            </a:r>
            <a:endParaRPr lang="en-US" sz="1700" dirty="0"/>
          </a:p>
        </p:txBody>
      </p:sp>
      <p:sp>
        <p:nvSpPr>
          <p:cNvPr id="14" name="circle-1147"/>
          <p:cNvSpPr/>
          <p:nvPr/>
        </p:nvSpPr>
        <p:spPr>
          <a:xfrm>
            <a:off x="7040880" y="1783080"/>
            <a:ext cx="548640" cy="548640"/>
          </a:xfrm>
          <a:prstGeom prst="ellipse">
            <a:avLst/>
          </a:prstGeom>
          <a:solidFill>
            <a:schemeClr val="accent6"/>
          </a:solidFill>
          <a:ln w="12700">
            <a:solidFill>
              <a:schemeClr val="accent6"/>
            </a:solidFill>
            <a:prstDash val="solid"/>
          </a:ln>
        </p:spPr>
      </p:sp>
      <p:pic>
        <p:nvPicPr>
          <p:cNvPr id="15" name="icon-1148" descr="preencoded.png"/>
          <p:cNvPicPr>
            <a:picLocks noChangeAspect="1"/>
          </p:cNvPicPr>
          <p:nvPr/>
        </p:nvPicPr>
        <p:blipFill>
          <a:blip r:embed="rId4"/>
          <a:stretch>
            <a:fillRect/>
          </a:stretch>
        </p:blipFill>
        <p:spPr>
          <a:xfrm>
            <a:off x="7178040" y="1920240"/>
            <a:ext cx="274320" cy="274320"/>
          </a:xfrm>
          <a:prstGeom prst="rect">
            <a:avLst/>
          </a:prstGeom>
        </p:spPr>
      </p:pic>
      <p:sp>
        <p:nvSpPr>
          <p:cNvPr id="16" name="txt-1149"/>
          <p:cNvSpPr txBox="1"/>
          <p:nvPr/>
        </p:nvSpPr>
        <p:spPr>
          <a:xfrm>
            <a:off x="4526280" y="2395728"/>
            <a:ext cx="3108960" cy="384048"/>
          </a:xfrm>
          <a:prstGeom prst="rect">
            <a:avLst/>
          </a:prstGeom>
          <a:noFill/>
          <a:ln/>
        </p:spPr>
        <p:txBody>
          <a:bodyPr wrap="square" lIns="0" tIns="0" rIns="0" bIns="0" rtlCol="0" anchor="t"/>
          <a:lstStyle/>
          <a:p>
            <a:pPr marL="0" indent="0">
              <a:buNone/>
            </a:pPr>
            <a:r>
              <a:rPr lang="en-US" sz="1500" b="1" dirty="0">
                <a:solidFill>
                  <a:schemeClr val="tx2"/>
                </a:solidFill>
              </a:rPr>
              <a:t>Ajouter les sources</a:t>
            </a:r>
            <a:endParaRPr lang="en-US" sz="1500" dirty="0"/>
          </a:p>
        </p:txBody>
      </p:sp>
      <p:sp>
        <p:nvSpPr>
          <p:cNvPr id="17" name="txt-1150"/>
          <p:cNvSpPr txBox="1"/>
          <p:nvPr/>
        </p:nvSpPr>
        <p:spPr>
          <a:xfrm>
            <a:off x="4526280" y="2788920"/>
            <a:ext cx="3108960" cy="777240"/>
          </a:xfrm>
          <a:prstGeom prst="rect">
            <a:avLst/>
          </a:prstGeom>
          <a:noFill/>
          <a:ln/>
        </p:spPr>
        <p:txBody>
          <a:bodyPr wrap="square" lIns="0" tIns="0" rIns="0" bIns="0" rtlCol="0" anchor="t"/>
          <a:lstStyle/>
          <a:p>
            <a:pPr marL="0" indent="0">
              <a:buNone/>
            </a:pPr>
            <a:r>
              <a:rPr lang="en-US" sz="1200" dirty="0">
                <a:solidFill>
                  <a:schemeClr val="tx1"/>
                </a:solidFill>
              </a:rPr>
              <a:t>PDF, Word, Google Docs/Slides, sites web, YouTube, audio, texte collé. Jusqu'à 50 en gratuit.</a:t>
            </a:r>
            <a:endParaRPr lang="en-US" sz="1200" dirty="0"/>
          </a:p>
        </p:txBody>
      </p:sp>
      <p:sp>
        <p:nvSpPr>
          <p:cNvPr id="18" name="card-1151"/>
          <p:cNvSpPr/>
          <p:nvPr/>
        </p:nvSpPr>
        <p:spPr>
          <a:xfrm>
            <a:off x="8046720" y="1554480"/>
            <a:ext cx="3520440" cy="2057400"/>
          </a:xfrm>
          <a:prstGeom prst="roundRect">
            <a:avLst>
              <a:gd name="adj" fmla="val 3556"/>
            </a:avLst>
          </a:prstGeom>
          <a:solidFill>
            <a:schemeClr val="bg2"/>
          </a:solidFill>
          <a:ln w="6350">
            <a:solidFill>
              <a:schemeClr val="bg2"/>
            </a:solidFill>
            <a:prstDash val="solid"/>
          </a:ln>
        </p:spPr>
      </p:sp>
      <p:sp>
        <p:nvSpPr>
          <p:cNvPr id="19" name="num-1152"/>
          <p:cNvSpPr/>
          <p:nvPr/>
        </p:nvSpPr>
        <p:spPr>
          <a:xfrm>
            <a:off x="8275320" y="1783080"/>
            <a:ext cx="502920" cy="502920"/>
          </a:xfrm>
          <a:prstGeom prst="ellipse">
            <a:avLst/>
          </a:prstGeom>
          <a:solidFill>
            <a:schemeClr val="accent1"/>
          </a:solidFill>
          <a:ln w="12700">
            <a:solidFill>
              <a:schemeClr val="accent1"/>
            </a:solidFill>
            <a:prstDash val="solid"/>
          </a:ln>
        </p:spPr>
      </p:sp>
      <p:sp>
        <p:nvSpPr>
          <p:cNvPr id="20" name="txt-1153"/>
          <p:cNvSpPr txBox="1"/>
          <p:nvPr/>
        </p:nvSpPr>
        <p:spPr>
          <a:xfrm>
            <a:off x="8275320" y="1783080"/>
            <a:ext cx="502920" cy="502920"/>
          </a:xfrm>
          <a:prstGeom prst="rect">
            <a:avLst/>
          </a:prstGeom>
          <a:noFill/>
          <a:ln/>
        </p:spPr>
        <p:txBody>
          <a:bodyPr wrap="square" lIns="0" tIns="0" rIns="0" bIns="0" rtlCol="0" anchor="ctr"/>
          <a:lstStyle/>
          <a:p>
            <a:pPr marL="0" indent="0" algn="ctr">
              <a:buNone/>
            </a:pPr>
            <a:r>
              <a:rPr lang="en-US" sz="1700" b="1" dirty="0">
                <a:solidFill>
                  <a:schemeClr val="tx2"/>
                </a:solidFill>
              </a:rPr>
              <a:t>3</a:t>
            </a:r>
            <a:endParaRPr lang="en-US" sz="1700" dirty="0"/>
          </a:p>
        </p:txBody>
      </p:sp>
      <p:sp>
        <p:nvSpPr>
          <p:cNvPr id="21" name="circle-1154"/>
          <p:cNvSpPr/>
          <p:nvPr/>
        </p:nvSpPr>
        <p:spPr>
          <a:xfrm>
            <a:off x="10789920" y="1783080"/>
            <a:ext cx="548640" cy="548640"/>
          </a:xfrm>
          <a:prstGeom prst="ellipse">
            <a:avLst/>
          </a:prstGeom>
          <a:solidFill>
            <a:schemeClr val="accent6"/>
          </a:solidFill>
          <a:ln w="12700">
            <a:solidFill>
              <a:schemeClr val="accent6"/>
            </a:solidFill>
            <a:prstDash val="solid"/>
          </a:ln>
        </p:spPr>
      </p:sp>
      <p:pic>
        <p:nvPicPr>
          <p:cNvPr id="22" name="icon-1155" descr="preencoded.png"/>
          <p:cNvPicPr>
            <a:picLocks noChangeAspect="1"/>
          </p:cNvPicPr>
          <p:nvPr/>
        </p:nvPicPr>
        <p:blipFill>
          <a:blip r:embed="rId5"/>
          <a:stretch>
            <a:fillRect/>
          </a:stretch>
        </p:blipFill>
        <p:spPr>
          <a:xfrm>
            <a:off x="10927080" y="1920240"/>
            <a:ext cx="274320" cy="274320"/>
          </a:xfrm>
          <a:prstGeom prst="rect">
            <a:avLst/>
          </a:prstGeom>
        </p:spPr>
      </p:pic>
      <p:sp>
        <p:nvSpPr>
          <p:cNvPr id="23" name="txt-1156"/>
          <p:cNvSpPr txBox="1"/>
          <p:nvPr/>
        </p:nvSpPr>
        <p:spPr>
          <a:xfrm>
            <a:off x="8275320" y="2395728"/>
            <a:ext cx="3108960" cy="384048"/>
          </a:xfrm>
          <a:prstGeom prst="rect">
            <a:avLst/>
          </a:prstGeom>
          <a:noFill/>
          <a:ln/>
        </p:spPr>
        <p:txBody>
          <a:bodyPr wrap="square" lIns="0" tIns="0" rIns="0" bIns="0" rtlCol="0" anchor="t"/>
          <a:lstStyle/>
          <a:p>
            <a:pPr marL="0" indent="0">
              <a:buNone/>
            </a:pPr>
            <a:r>
              <a:rPr lang="en-US" sz="1500" b="1" dirty="0">
                <a:solidFill>
                  <a:schemeClr val="tx2"/>
                </a:solidFill>
              </a:rPr>
              <a:t>Nommer et vérifier</a:t>
            </a:r>
            <a:endParaRPr lang="en-US" sz="1500" dirty="0"/>
          </a:p>
        </p:txBody>
      </p:sp>
      <p:sp>
        <p:nvSpPr>
          <p:cNvPr id="24" name="txt-1157"/>
          <p:cNvSpPr txBox="1"/>
          <p:nvPr/>
        </p:nvSpPr>
        <p:spPr>
          <a:xfrm>
            <a:off x="8275320" y="2788920"/>
            <a:ext cx="3108960" cy="777240"/>
          </a:xfrm>
          <a:prstGeom prst="rect">
            <a:avLst/>
          </a:prstGeom>
          <a:noFill/>
          <a:ln/>
        </p:spPr>
        <p:txBody>
          <a:bodyPr wrap="square" lIns="0" tIns="0" rIns="0" bIns="0" rtlCol="0" anchor="t"/>
          <a:lstStyle/>
          <a:p>
            <a:pPr marL="0" indent="0">
              <a:buNone/>
            </a:pPr>
            <a:r>
              <a:rPr lang="en-US" sz="1200" dirty="0">
                <a:solidFill>
                  <a:schemeClr val="tx1"/>
                </a:solidFill>
              </a:rPr>
              <a:t>Titres explicites (E1_Mere_41ans). Lire le résumé automatique de chaque source.</a:t>
            </a:r>
            <a:endParaRPr lang="en-US" sz="1200" dirty="0"/>
          </a:p>
        </p:txBody>
      </p:sp>
      <p:sp>
        <p:nvSpPr>
          <p:cNvPr id="25" name="card-1158"/>
          <p:cNvSpPr/>
          <p:nvPr/>
        </p:nvSpPr>
        <p:spPr>
          <a:xfrm>
            <a:off x="548640" y="3794760"/>
            <a:ext cx="3520440" cy="2057400"/>
          </a:xfrm>
          <a:prstGeom prst="roundRect">
            <a:avLst>
              <a:gd name="adj" fmla="val 3556"/>
            </a:avLst>
          </a:prstGeom>
          <a:solidFill>
            <a:schemeClr val="bg2"/>
          </a:solidFill>
          <a:ln w="6350">
            <a:solidFill>
              <a:schemeClr val="bg2"/>
            </a:solidFill>
            <a:prstDash val="solid"/>
          </a:ln>
        </p:spPr>
      </p:sp>
      <p:sp>
        <p:nvSpPr>
          <p:cNvPr id="26" name="num-1159"/>
          <p:cNvSpPr/>
          <p:nvPr/>
        </p:nvSpPr>
        <p:spPr>
          <a:xfrm>
            <a:off x="777240" y="4023360"/>
            <a:ext cx="502920" cy="502920"/>
          </a:xfrm>
          <a:prstGeom prst="ellipse">
            <a:avLst/>
          </a:prstGeom>
          <a:solidFill>
            <a:schemeClr val="accent1"/>
          </a:solidFill>
          <a:ln w="12700">
            <a:solidFill>
              <a:schemeClr val="accent1"/>
            </a:solidFill>
            <a:prstDash val="solid"/>
          </a:ln>
        </p:spPr>
      </p:sp>
      <p:sp>
        <p:nvSpPr>
          <p:cNvPr id="27" name="txt-1160"/>
          <p:cNvSpPr txBox="1"/>
          <p:nvPr/>
        </p:nvSpPr>
        <p:spPr>
          <a:xfrm>
            <a:off x="777240" y="4023360"/>
            <a:ext cx="502920" cy="502920"/>
          </a:xfrm>
          <a:prstGeom prst="rect">
            <a:avLst/>
          </a:prstGeom>
          <a:noFill/>
          <a:ln/>
        </p:spPr>
        <p:txBody>
          <a:bodyPr wrap="square" lIns="0" tIns="0" rIns="0" bIns="0" rtlCol="0" anchor="ctr"/>
          <a:lstStyle/>
          <a:p>
            <a:pPr marL="0" indent="0" algn="ctr">
              <a:buNone/>
            </a:pPr>
            <a:r>
              <a:rPr lang="en-US" sz="1700" b="1" dirty="0">
                <a:solidFill>
                  <a:schemeClr val="tx2"/>
                </a:solidFill>
              </a:rPr>
              <a:t>4</a:t>
            </a:r>
            <a:endParaRPr lang="en-US" sz="1700" dirty="0"/>
          </a:p>
        </p:txBody>
      </p:sp>
      <p:sp>
        <p:nvSpPr>
          <p:cNvPr id="28" name="circle-1161"/>
          <p:cNvSpPr/>
          <p:nvPr/>
        </p:nvSpPr>
        <p:spPr>
          <a:xfrm>
            <a:off x="3291840" y="4023360"/>
            <a:ext cx="548640" cy="548640"/>
          </a:xfrm>
          <a:prstGeom prst="ellipse">
            <a:avLst/>
          </a:prstGeom>
          <a:solidFill>
            <a:schemeClr val="accent6"/>
          </a:solidFill>
          <a:ln w="12700">
            <a:solidFill>
              <a:schemeClr val="accent6"/>
            </a:solidFill>
            <a:prstDash val="solid"/>
          </a:ln>
        </p:spPr>
      </p:sp>
      <p:pic>
        <p:nvPicPr>
          <p:cNvPr id="29" name="icon-1162" descr="preencoded.png"/>
          <p:cNvPicPr>
            <a:picLocks noChangeAspect="1"/>
          </p:cNvPicPr>
          <p:nvPr/>
        </p:nvPicPr>
        <p:blipFill>
          <a:blip r:embed="rId6"/>
          <a:stretch>
            <a:fillRect/>
          </a:stretch>
        </p:blipFill>
        <p:spPr>
          <a:xfrm>
            <a:off x="3429000" y="4160520"/>
            <a:ext cx="274320" cy="274320"/>
          </a:xfrm>
          <a:prstGeom prst="rect">
            <a:avLst/>
          </a:prstGeom>
        </p:spPr>
      </p:pic>
      <p:sp>
        <p:nvSpPr>
          <p:cNvPr id="30" name="txt-1163"/>
          <p:cNvSpPr txBox="1"/>
          <p:nvPr/>
        </p:nvSpPr>
        <p:spPr>
          <a:xfrm>
            <a:off x="777240" y="4636008"/>
            <a:ext cx="3108960" cy="384048"/>
          </a:xfrm>
          <a:prstGeom prst="rect">
            <a:avLst/>
          </a:prstGeom>
          <a:noFill/>
          <a:ln/>
        </p:spPr>
        <p:txBody>
          <a:bodyPr wrap="square" lIns="0" tIns="0" rIns="0" bIns="0" rtlCol="0" anchor="t"/>
          <a:lstStyle/>
          <a:p>
            <a:pPr marL="0" indent="0">
              <a:buNone/>
            </a:pPr>
            <a:r>
              <a:rPr lang="en-US" sz="1500" b="1" dirty="0">
                <a:solidFill>
                  <a:schemeClr val="tx2"/>
                </a:solidFill>
              </a:rPr>
              <a:t>Régler la discussion</a:t>
            </a:r>
            <a:endParaRPr lang="en-US" sz="1500" dirty="0"/>
          </a:p>
        </p:txBody>
      </p:sp>
      <p:sp>
        <p:nvSpPr>
          <p:cNvPr id="31" name="txt-1164"/>
          <p:cNvSpPr txBox="1"/>
          <p:nvPr/>
        </p:nvSpPr>
        <p:spPr>
          <a:xfrm>
            <a:off x="777240" y="5029200"/>
            <a:ext cx="3108960" cy="777240"/>
          </a:xfrm>
          <a:prstGeom prst="rect">
            <a:avLst/>
          </a:prstGeom>
          <a:noFill/>
          <a:ln/>
        </p:spPr>
        <p:txBody>
          <a:bodyPr wrap="square" lIns="0" tIns="0" rIns="0" bIns="0" rtlCol="0" anchor="t"/>
          <a:lstStyle/>
          <a:p>
            <a:pPr marL="0" indent="0">
              <a:buNone/>
            </a:pPr>
            <a:r>
              <a:rPr lang="en-US" sz="1200" dirty="0">
                <a:solidFill>
                  <a:schemeClr val="tx1"/>
                </a:solidFill>
              </a:rPr>
              <a:t>Si disponible : objectif, rôle et longueur des réponses dans les réglages du chat.</a:t>
            </a:r>
            <a:endParaRPr lang="en-US" sz="1200" dirty="0"/>
          </a:p>
        </p:txBody>
      </p:sp>
      <p:sp>
        <p:nvSpPr>
          <p:cNvPr id="32" name="card-1165"/>
          <p:cNvSpPr/>
          <p:nvPr/>
        </p:nvSpPr>
        <p:spPr>
          <a:xfrm>
            <a:off x="4297680" y="3794760"/>
            <a:ext cx="3520440" cy="2057400"/>
          </a:xfrm>
          <a:prstGeom prst="roundRect">
            <a:avLst>
              <a:gd name="adj" fmla="val 3556"/>
            </a:avLst>
          </a:prstGeom>
          <a:solidFill>
            <a:schemeClr val="bg2"/>
          </a:solidFill>
          <a:ln w="6350">
            <a:solidFill>
              <a:schemeClr val="bg2"/>
            </a:solidFill>
            <a:prstDash val="solid"/>
          </a:ln>
        </p:spPr>
      </p:sp>
      <p:sp>
        <p:nvSpPr>
          <p:cNvPr id="33" name="num-1166"/>
          <p:cNvSpPr/>
          <p:nvPr/>
        </p:nvSpPr>
        <p:spPr>
          <a:xfrm>
            <a:off x="4526280" y="4023360"/>
            <a:ext cx="502920" cy="502920"/>
          </a:xfrm>
          <a:prstGeom prst="ellipse">
            <a:avLst/>
          </a:prstGeom>
          <a:solidFill>
            <a:schemeClr val="accent1"/>
          </a:solidFill>
          <a:ln w="12700">
            <a:solidFill>
              <a:schemeClr val="accent1"/>
            </a:solidFill>
            <a:prstDash val="solid"/>
          </a:ln>
        </p:spPr>
      </p:sp>
      <p:sp>
        <p:nvSpPr>
          <p:cNvPr id="34" name="txt-1167"/>
          <p:cNvSpPr txBox="1"/>
          <p:nvPr/>
        </p:nvSpPr>
        <p:spPr>
          <a:xfrm>
            <a:off x="4526280" y="4023360"/>
            <a:ext cx="502920" cy="502920"/>
          </a:xfrm>
          <a:prstGeom prst="rect">
            <a:avLst/>
          </a:prstGeom>
          <a:noFill/>
          <a:ln/>
        </p:spPr>
        <p:txBody>
          <a:bodyPr wrap="square" lIns="0" tIns="0" rIns="0" bIns="0" rtlCol="0" anchor="ctr"/>
          <a:lstStyle/>
          <a:p>
            <a:pPr marL="0" indent="0" algn="ctr">
              <a:buNone/>
            </a:pPr>
            <a:r>
              <a:rPr lang="en-US" sz="1700" b="1" dirty="0">
                <a:solidFill>
                  <a:schemeClr val="tx2"/>
                </a:solidFill>
              </a:rPr>
              <a:t>5</a:t>
            </a:r>
            <a:endParaRPr lang="en-US" sz="1700" dirty="0"/>
          </a:p>
        </p:txBody>
      </p:sp>
      <p:sp>
        <p:nvSpPr>
          <p:cNvPr id="35" name="circle-1168"/>
          <p:cNvSpPr/>
          <p:nvPr/>
        </p:nvSpPr>
        <p:spPr>
          <a:xfrm>
            <a:off x="7040880" y="4023360"/>
            <a:ext cx="548640" cy="548640"/>
          </a:xfrm>
          <a:prstGeom prst="ellipse">
            <a:avLst/>
          </a:prstGeom>
          <a:solidFill>
            <a:schemeClr val="accent6"/>
          </a:solidFill>
          <a:ln w="12700">
            <a:solidFill>
              <a:schemeClr val="accent6"/>
            </a:solidFill>
            <a:prstDash val="solid"/>
          </a:ln>
        </p:spPr>
      </p:sp>
      <p:pic>
        <p:nvPicPr>
          <p:cNvPr id="36" name="icon-1169" descr="preencoded.png"/>
          <p:cNvPicPr>
            <a:picLocks noChangeAspect="1"/>
          </p:cNvPicPr>
          <p:nvPr/>
        </p:nvPicPr>
        <p:blipFill>
          <a:blip r:embed="rId7"/>
          <a:stretch>
            <a:fillRect/>
          </a:stretch>
        </p:blipFill>
        <p:spPr>
          <a:xfrm>
            <a:off x="7178040" y="4160520"/>
            <a:ext cx="274320" cy="274320"/>
          </a:xfrm>
          <a:prstGeom prst="rect">
            <a:avLst/>
          </a:prstGeom>
        </p:spPr>
      </p:pic>
      <p:sp>
        <p:nvSpPr>
          <p:cNvPr id="37" name="txt-1170"/>
          <p:cNvSpPr txBox="1"/>
          <p:nvPr/>
        </p:nvSpPr>
        <p:spPr>
          <a:xfrm>
            <a:off x="4526280" y="4636008"/>
            <a:ext cx="3108960" cy="384048"/>
          </a:xfrm>
          <a:prstGeom prst="rect">
            <a:avLst/>
          </a:prstGeom>
          <a:noFill/>
          <a:ln/>
        </p:spPr>
        <p:txBody>
          <a:bodyPr wrap="square" lIns="0" tIns="0" rIns="0" bIns="0" rtlCol="0" anchor="t"/>
          <a:lstStyle/>
          <a:p>
            <a:pPr marL="0" indent="0">
              <a:buNone/>
            </a:pPr>
            <a:r>
              <a:rPr lang="en-US" sz="1500" b="1" dirty="0">
                <a:solidFill>
                  <a:schemeClr val="tx2"/>
                </a:solidFill>
              </a:rPr>
              <a:t>Interroger et cibler</a:t>
            </a:r>
            <a:endParaRPr lang="en-US" sz="1500" dirty="0"/>
          </a:p>
        </p:txBody>
      </p:sp>
      <p:sp>
        <p:nvSpPr>
          <p:cNvPr id="38" name="txt-1171"/>
          <p:cNvSpPr txBox="1"/>
          <p:nvPr/>
        </p:nvSpPr>
        <p:spPr>
          <a:xfrm>
            <a:off x="4526280" y="5029200"/>
            <a:ext cx="3108960" cy="777240"/>
          </a:xfrm>
          <a:prstGeom prst="rect">
            <a:avLst/>
          </a:prstGeom>
          <a:noFill/>
          <a:ln/>
        </p:spPr>
        <p:txBody>
          <a:bodyPr wrap="square" lIns="0" tIns="0" rIns="0" bIns="0" rtlCol="0" anchor="t"/>
          <a:lstStyle/>
          <a:p>
            <a:pPr marL="0" indent="0">
              <a:buNone/>
            </a:pPr>
            <a:r>
              <a:rPr lang="en-US" sz="1200" dirty="0">
                <a:solidFill>
                  <a:schemeClr val="tx1"/>
                </a:solidFill>
              </a:rPr>
              <a:t>Cocher les sources utiles, exiger des citations, cliquer sur [1] pour vérifier.</a:t>
            </a:r>
            <a:endParaRPr lang="en-US" sz="1200" dirty="0"/>
          </a:p>
        </p:txBody>
      </p:sp>
      <p:sp>
        <p:nvSpPr>
          <p:cNvPr id="39" name="card-1172"/>
          <p:cNvSpPr/>
          <p:nvPr/>
        </p:nvSpPr>
        <p:spPr>
          <a:xfrm>
            <a:off x="8046720" y="3794760"/>
            <a:ext cx="3520440" cy="2057400"/>
          </a:xfrm>
          <a:prstGeom prst="roundRect">
            <a:avLst>
              <a:gd name="adj" fmla="val 3556"/>
            </a:avLst>
          </a:prstGeom>
          <a:solidFill>
            <a:schemeClr val="bg2"/>
          </a:solidFill>
          <a:ln w="6350">
            <a:solidFill>
              <a:schemeClr val="bg2"/>
            </a:solidFill>
            <a:prstDash val="solid"/>
          </a:ln>
        </p:spPr>
      </p:sp>
      <p:sp>
        <p:nvSpPr>
          <p:cNvPr id="40" name="num-1173"/>
          <p:cNvSpPr/>
          <p:nvPr/>
        </p:nvSpPr>
        <p:spPr>
          <a:xfrm>
            <a:off x="8275320" y="4023360"/>
            <a:ext cx="502920" cy="502920"/>
          </a:xfrm>
          <a:prstGeom prst="ellipse">
            <a:avLst/>
          </a:prstGeom>
          <a:solidFill>
            <a:schemeClr val="accent1"/>
          </a:solidFill>
          <a:ln w="12700">
            <a:solidFill>
              <a:schemeClr val="accent1"/>
            </a:solidFill>
            <a:prstDash val="solid"/>
          </a:ln>
        </p:spPr>
      </p:sp>
      <p:sp>
        <p:nvSpPr>
          <p:cNvPr id="41" name="txt-1174"/>
          <p:cNvSpPr txBox="1"/>
          <p:nvPr/>
        </p:nvSpPr>
        <p:spPr>
          <a:xfrm>
            <a:off x="8275320" y="4023360"/>
            <a:ext cx="502920" cy="502920"/>
          </a:xfrm>
          <a:prstGeom prst="rect">
            <a:avLst/>
          </a:prstGeom>
          <a:noFill/>
          <a:ln/>
        </p:spPr>
        <p:txBody>
          <a:bodyPr wrap="square" lIns="0" tIns="0" rIns="0" bIns="0" rtlCol="0" anchor="ctr"/>
          <a:lstStyle/>
          <a:p>
            <a:pPr marL="0" indent="0" algn="ctr">
              <a:buNone/>
            </a:pPr>
            <a:r>
              <a:rPr lang="en-US" sz="1700" b="1" dirty="0">
                <a:solidFill>
                  <a:schemeClr val="tx2"/>
                </a:solidFill>
              </a:rPr>
              <a:t>6</a:t>
            </a:r>
            <a:endParaRPr lang="en-US" sz="1700" dirty="0"/>
          </a:p>
        </p:txBody>
      </p:sp>
      <p:sp>
        <p:nvSpPr>
          <p:cNvPr id="42" name="circle-1175"/>
          <p:cNvSpPr/>
          <p:nvPr/>
        </p:nvSpPr>
        <p:spPr>
          <a:xfrm>
            <a:off x="10789920" y="4023360"/>
            <a:ext cx="548640" cy="548640"/>
          </a:xfrm>
          <a:prstGeom prst="ellipse">
            <a:avLst/>
          </a:prstGeom>
          <a:solidFill>
            <a:schemeClr val="accent6"/>
          </a:solidFill>
          <a:ln w="12700">
            <a:solidFill>
              <a:schemeClr val="accent6"/>
            </a:solidFill>
            <a:prstDash val="solid"/>
          </a:ln>
        </p:spPr>
      </p:sp>
      <p:pic>
        <p:nvPicPr>
          <p:cNvPr id="43" name="icon-1176" descr="preencoded.png"/>
          <p:cNvPicPr>
            <a:picLocks noChangeAspect="1"/>
          </p:cNvPicPr>
          <p:nvPr/>
        </p:nvPicPr>
        <p:blipFill>
          <a:blip r:embed="rId8"/>
          <a:stretch>
            <a:fillRect/>
          </a:stretch>
        </p:blipFill>
        <p:spPr>
          <a:xfrm>
            <a:off x="10927080" y="4160520"/>
            <a:ext cx="274320" cy="274320"/>
          </a:xfrm>
          <a:prstGeom prst="rect">
            <a:avLst/>
          </a:prstGeom>
        </p:spPr>
      </p:pic>
      <p:sp>
        <p:nvSpPr>
          <p:cNvPr id="44" name="txt-1177"/>
          <p:cNvSpPr txBox="1"/>
          <p:nvPr/>
        </p:nvSpPr>
        <p:spPr>
          <a:xfrm>
            <a:off x="8275320" y="4636008"/>
            <a:ext cx="3108960" cy="384048"/>
          </a:xfrm>
          <a:prstGeom prst="rect">
            <a:avLst/>
          </a:prstGeom>
          <a:noFill/>
          <a:ln/>
        </p:spPr>
        <p:txBody>
          <a:bodyPr wrap="square" lIns="0" tIns="0" rIns="0" bIns="0" rtlCol="0" anchor="t"/>
          <a:lstStyle/>
          <a:p>
            <a:pPr marL="0" indent="0">
              <a:buNone/>
            </a:pPr>
            <a:r>
              <a:rPr lang="en-US" sz="1500" b="1" dirty="0">
                <a:solidFill>
                  <a:schemeClr val="tx2"/>
                </a:solidFill>
              </a:rPr>
              <a:t>Garder et produire</a:t>
            </a:r>
            <a:endParaRPr lang="en-US" sz="1500" dirty="0"/>
          </a:p>
        </p:txBody>
      </p:sp>
      <p:sp>
        <p:nvSpPr>
          <p:cNvPr id="45" name="txt-1178"/>
          <p:cNvSpPr txBox="1"/>
          <p:nvPr/>
        </p:nvSpPr>
        <p:spPr>
          <a:xfrm>
            <a:off x="8275320" y="5029200"/>
            <a:ext cx="3108960" cy="777240"/>
          </a:xfrm>
          <a:prstGeom prst="rect">
            <a:avLst/>
          </a:prstGeom>
          <a:noFill/>
          <a:ln/>
        </p:spPr>
        <p:txBody>
          <a:bodyPr wrap="square" lIns="0" tIns="0" rIns="0" bIns="0" rtlCol="0" anchor="t"/>
          <a:lstStyle/>
          <a:p>
            <a:pPr marL="0" indent="0">
              <a:buNone/>
            </a:pPr>
            <a:r>
              <a:rPr lang="en-US" sz="1200" dirty="0">
                <a:solidFill>
                  <a:schemeClr val="tx1"/>
                </a:solidFill>
              </a:rPr>
              <a:t>Enregistrer les bonnes réponses en notes ; générer rapport ou carte mentale.</a:t>
            </a:r>
            <a:endParaRPr lang="en-US" sz="1200" dirty="0"/>
          </a:p>
        </p:txBody>
      </p:sp>
      <p:sp>
        <p:nvSpPr>
          <p:cNvPr id="46" name="txt-1179"/>
          <p:cNvSpPr txBox="1"/>
          <p:nvPr/>
        </p:nvSpPr>
        <p:spPr>
          <a:xfrm>
            <a:off x="548640" y="6053328"/>
            <a:ext cx="11064240" cy="256032"/>
          </a:xfrm>
          <a:prstGeom prst="rect">
            <a:avLst/>
          </a:prstGeom>
          <a:noFill/>
          <a:ln/>
        </p:spPr>
        <p:txBody>
          <a:bodyPr wrap="square" lIns="0" tIns="0" rIns="0" bIns="0" rtlCol="0" anchor="t"/>
          <a:lstStyle/>
          <a:p>
            <a:pPr marL="0" indent="0">
              <a:buNone/>
            </a:pPr>
            <a:r>
              <a:rPr lang="en-US" sz="1000" i="1" dirty="0">
                <a:solidFill>
                  <a:schemeClr val="accent5"/>
                </a:solidFill>
              </a:rPr>
              <a:t>Limites de la version gratuite (octobre 2026) : 50 sources par carnet ; 500 000 mots ou 200 Mo par source.</a:t>
            </a:r>
            <a:endParaRPr lang="en-US" sz="1000" dirty="0"/>
          </a:p>
        </p:txBody>
      </p:sp>
      <p:sp>
        <p:nvSpPr>
          <p:cNvPr id="47" name="Slide Number Placeholder 0"/>
          <p:cNvSpPr>
            <a:spLocks noGrp="1"/>
          </p:cNvSpPr>
          <p:nvPr>
            <p:ph type="sldNum" sz="quarter" idx="4294967295"/>
          </p:nvPr>
        </p:nvSpPr>
        <p:spPr>
          <a:xfrm>
            <a:off x="11064240" y="6400800"/>
            <a:ext cx="54864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C82"/>
                </a:solidFill>
                <a:latin typeface="Poppins"/>
                <a:ea typeface="Poppins"/>
                <a:cs typeface="Poppins"/>
              </a:defRPr>
            </a:lvl1pPr>
          </a:lstStyle>
          <a:p>
            <a:pPr algn="r"/>
            <a:fld id="{F7021451-1387-4CA6-816F-3879F97B5CBC}" type="slidenum">
              <a:rPr lang="en-US" b="0"/>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566928"/>
            <a:ext cx="11064240" cy="777240"/>
          </a:xfrm>
          <a:prstGeom prst="rect">
            <a:avLst/>
          </a:prstGeom>
          <a:noFill/>
          <a:ln/>
        </p:spPr>
        <p:txBody>
          <a:bodyPr wrap="square" lIns="0" tIns="0" rIns="0" bIns="0" rtlCol="0" anchor="ctr"/>
          <a:lstStyle/>
          <a:p>
            <a:pPr marL="0" indent="0" algn="l">
              <a:buNone/>
            </a:pPr>
            <a:r>
              <a:rPr lang="en-US" sz="2700" b="1" dirty="0">
                <a:solidFill>
                  <a:schemeClr val="tx2"/>
                </a:solidFill>
                <a:latin typeface="Poppins" pitchFamily="34" charset="0"/>
                <a:ea typeface="Poppins" pitchFamily="34" charset="-122"/>
                <a:cs typeface="Poppins" pitchFamily="34" charset="-120"/>
              </a:rPr>
              <a:t>La qualité du RAG dépend de la qualité des sources</a:t>
            </a:r>
            <a:endParaRPr lang="en-US" sz="2700" dirty="0"/>
          </a:p>
        </p:txBody>
      </p:sp>
      <p:sp>
        <p:nvSpPr>
          <p:cNvPr id="3" name="Text 0"/>
          <p:cNvSpPr>
            <a:spLocks noGrp="1"/>
          </p:cNvSpPr>
          <p:nvPr>
            <p:ph type="body" idx="101" hasCustomPrompt="1"/>
          </p:nvPr>
        </p:nvSpPr>
        <p:spPr>
          <a:xfrm>
            <a:off x="548640" y="256032"/>
            <a:ext cx="8229600" cy="292608"/>
          </a:xfrm>
          <a:prstGeom prst="rect">
            <a:avLst/>
          </a:prstGeom>
          <a:noFill/>
          <a:ln/>
        </p:spPr>
        <p:txBody>
          <a:bodyPr wrap="square" lIns="0" tIns="0" rIns="0" bIns="0" rtlCol="0" anchor="ctr"/>
          <a:lstStyle/>
          <a:p>
            <a:pPr marL="0" indent="0">
              <a:buNone/>
            </a:pPr>
            <a:r>
              <a:rPr lang="en-US" sz="1100" b="1" dirty="0">
                <a:solidFill>
                  <a:schemeClr val="accent1"/>
                </a:solidFill>
                <a:latin typeface="Poppins" pitchFamily="34" charset="0"/>
                <a:ea typeface="Poppins" pitchFamily="34" charset="-122"/>
                <a:cs typeface="Poppins" pitchFamily="34" charset="-120"/>
              </a:rPr>
              <a:t>T3 · GEMINI NOTEBOOK</a:t>
            </a:r>
            <a:endParaRPr lang="en-US" sz="1100" dirty="0"/>
          </a:p>
        </p:txBody>
      </p:sp>
      <p:sp>
        <p:nvSpPr>
          <p:cNvPr id="4" name="card-1180"/>
          <p:cNvSpPr/>
          <p:nvPr/>
        </p:nvSpPr>
        <p:spPr>
          <a:xfrm>
            <a:off x="548640" y="1554480"/>
            <a:ext cx="5440680" cy="1325880"/>
          </a:xfrm>
          <a:prstGeom prst="roundRect">
            <a:avLst>
              <a:gd name="adj" fmla="val 5517"/>
            </a:avLst>
          </a:prstGeom>
          <a:solidFill>
            <a:schemeClr val="bg2"/>
          </a:solidFill>
          <a:ln w="6350">
            <a:solidFill>
              <a:schemeClr val="bg2"/>
            </a:solidFill>
            <a:prstDash val="solid"/>
          </a:ln>
        </p:spPr>
      </p:sp>
      <p:sp>
        <p:nvSpPr>
          <p:cNvPr id="5" name="circle-1181"/>
          <p:cNvSpPr/>
          <p:nvPr/>
        </p:nvSpPr>
        <p:spPr>
          <a:xfrm>
            <a:off x="777240" y="1847088"/>
            <a:ext cx="731520" cy="731520"/>
          </a:xfrm>
          <a:prstGeom prst="ellipse">
            <a:avLst/>
          </a:prstGeom>
          <a:solidFill>
            <a:schemeClr val="accent6"/>
          </a:solidFill>
          <a:ln w="12700">
            <a:solidFill>
              <a:schemeClr val="accent6"/>
            </a:solidFill>
            <a:prstDash val="solid"/>
          </a:ln>
        </p:spPr>
      </p:sp>
      <p:pic>
        <p:nvPicPr>
          <p:cNvPr id="6" name="icon-1182" descr="preencoded.png"/>
          <p:cNvPicPr>
            <a:picLocks noChangeAspect="1"/>
          </p:cNvPicPr>
          <p:nvPr/>
        </p:nvPicPr>
        <p:blipFill>
          <a:blip r:embed="rId3"/>
          <a:stretch>
            <a:fillRect/>
          </a:stretch>
        </p:blipFill>
        <p:spPr>
          <a:xfrm>
            <a:off x="960120" y="2029968"/>
            <a:ext cx="365760" cy="365760"/>
          </a:xfrm>
          <a:prstGeom prst="rect">
            <a:avLst/>
          </a:prstGeom>
        </p:spPr>
      </p:pic>
      <p:sp>
        <p:nvSpPr>
          <p:cNvPr id="7" name="txt-1183"/>
          <p:cNvSpPr txBox="1"/>
          <p:nvPr/>
        </p:nvSpPr>
        <p:spPr>
          <a:xfrm>
            <a:off x="1691640" y="1691640"/>
            <a:ext cx="4160520" cy="365760"/>
          </a:xfrm>
          <a:prstGeom prst="rect">
            <a:avLst/>
          </a:prstGeom>
          <a:noFill/>
          <a:ln/>
        </p:spPr>
        <p:txBody>
          <a:bodyPr wrap="square" lIns="0" tIns="0" rIns="0" bIns="0" rtlCol="0" anchor="t"/>
          <a:lstStyle/>
          <a:p>
            <a:pPr marL="0" indent="0">
              <a:buNone/>
            </a:pPr>
            <a:r>
              <a:rPr lang="en-US" sz="1500" b="1" dirty="0">
                <a:solidFill>
                  <a:schemeClr val="tx2"/>
                </a:solidFill>
              </a:rPr>
              <a:t>Un document = une source</a:t>
            </a:r>
            <a:endParaRPr lang="en-US" sz="1500" dirty="0"/>
          </a:p>
        </p:txBody>
      </p:sp>
      <p:sp>
        <p:nvSpPr>
          <p:cNvPr id="8" name="txt-1184"/>
          <p:cNvSpPr txBox="1"/>
          <p:nvPr/>
        </p:nvSpPr>
        <p:spPr>
          <a:xfrm>
            <a:off x="1691640" y="2057400"/>
            <a:ext cx="4160520" cy="777240"/>
          </a:xfrm>
          <a:prstGeom prst="rect">
            <a:avLst/>
          </a:prstGeom>
          <a:noFill/>
          <a:ln/>
        </p:spPr>
        <p:txBody>
          <a:bodyPr wrap="square" lIns="0" tIns="0" rIns="0" bIns="0" rtlCol="0" anchor="t"/>
          <a:lstStyle/>
          <a:p>
            <a:pPr marL="0" indent="0">
              <a:buNone/>
            </a:pPr>
            <a:r>
              <a:rPr lang="en-US" sz="1200" dirty="0">
                <a:solidFill>
                  <a:schemeClr val="tx1"/>
                </a:solidFill>
              </a:rPr>
              <a:t>Un entretien par fichier, pas un fichier de 20 entretiens : les citations sont plus précises.</a:t>
            </a:r>
            <a:endParaRPr lang="en-US" sz="1200" dirty="0"/>
          </a:p>
        </p:txBody>
      </p:sp>
      <p:sp>
        <p:nvSpPr>
          <p:cNvPr id="9" name="card-1185"/>
          <p:cNvSpPr/>
          <p:nvPr/>
        </p:nvSpPr>
        <p:spPr>
          <a:xfrm>
            <a:off x="6172200" y="1554480"/>
            <a:ext cx="5440680" cy="1325880"/>
          </a:xfrm>
          <a:prstGeom prst="roundRect">
            <a:avLst>
              <a:gd name="adj" fmla="val 5517"/>
            </a:avLst>
          </a:prstGeom>
          <a:solidFill>
            <a:schemeClr val="bg2"/>
          </a:solidFill>
          <a:ln w="6350">
            <a:solidFill>
              <a:schemeClr val="bg2"/>
            </a:solidFill>
            <a:prstDash val="solid"/>
          </a:ln>
        </p:spPr>
      </p:sp>
      <p:sp>
        <p:nvSpPr>
          <p:cNvPr id="10" name="circle-1186"/>
          <p:cNvSpPr/>
          <p:nvPr/>
        </p:nvSpPr>
        <p:spPr>
          <a:xfrm>
            <a:off x="6400800" y="1847088"/>
            <a:ext cx="731520" cy="731520"/>
          </a:xfrm>
          <a:prstGeom prst="ellipse">
            <a:avLst/>
          </a:prstGeom>
          <a:solidFill>
            <a:schemeClr val="accent6"/>
          </a:solidFill>
          <a:ln w="12700">
            <a:solidFill>
              <a:schemeClr val="accent6"/>
            </a:solidFill>
            <a:prstDash val="solid"/>
          </a:ln>
        </p:spPr>
      </p:sp>
      <p:pic>
        <p:nvPicPr>
          <p:cNvPr id="11" name="icon-1187" descr="preencoded.png"/>
          <p:cNvPicPr>
            <a:picLocks noChangeAspect="1"/>
          </p:cNvPicPr>
          <p:nvPr/>
        </p:nvPicPr>
        <p:blipFill>
          <a:blip r:embed="rId4"/>
          <a:stretch>
            <a:fillRect/>
          </a:stretch>
        </p:blipFill>
        <p:spPr>
          <a:xfrm>
            <a:off x="6583680" y="2029968"/>
            <a:ext cx="365760" cy="365760"/>
          </a:xfrm>
          <a:prstGeom prst="rect">
            <a:avLst/>
          </a:prstGeom>
        </p:spPr>
      </p:pic>
      <p:sp>
        <p:nvSpPr>
          <p:cNvPr id="12" name="txt-1188"/>
          <p:cNvSpPr txBox="1"/>
          <p:nvPr/>
        </p:nvSpPr>
        <p:spPr>
          <a:xfrm>
            <a:off x="7315200" y="1691640"/>
            <a:ext cx="4160520" cy="365760"/>
          </a:xfrm>
          <a:prstGeom prst="rect">
            <a:avLst/>
          </a:prstGeom>
          <a:noFill/>
          <a:ln/>
        </p:spPr>
        <p:txBody>
          <a:bodyPr wrap="square" lIns="0" tIns="0" rIns="0" bIns="0" rtlCol="0" anchor="t"/>
          <a:lstStyle/>
          <a:p>
            <a:pPr marL="0" indent="0">
              <a:buNone/>
            </a:pPr>
            <a:r>
              <a:rPr lang="en-US" sz="1500" b="1" dirty="0">
                <a:solidFill>
                  <a:schemeClr val="tx2"/>
                </a:solidFill>
              </a:rPr>
              <a:t>Des noms explicites</a:t>
            </a:r>
            <a:endParaRPr lang="en-US" sz="1500" dirty="0"/>
          </a:p>
        </p:txBody>
      </p:sp>
      <p:sp>
        <p:nvSpPr>
          <p:cNvPr id="13" name="txt-1189"/>
          <p:cNvSpPr txBox="1"/>
          <p:nvPr/>
        </p:nvSpPr>
        <p:spPr>
          <a:xfrm>
            <a:off x="7315200" y="2057400"/>
            <a:ext cx="4160520" cy="777240"/>
          </a:xfrm>
          <a:prstGeom prst="rect">
            <a:avLst/>
          </a:prstGeom>
          <a:noFill/>
          <a:ln/>
        </p:spPr>
        <p:txBody>
          <a:bodyPr wrap="square" lIns="0" tIns="0" rIns="0" bIns="0" rtlCol="0" anchor="t"/>
          <a:lstStyle/>
          <a:p>
            <a:pPr marL="0" indent="0">
              <a:buNone/>
            </a:pPr>
            <a:r>
              <a:rPr lang="en-US" sz="1200" dirty="0">
                <a:solidFill>
                  <a:schemeClr val="tx1"/>
                </a:solidFill>
              </a:rPr>
              <a:t>« E3_GrandMere_68ans » plutôt que « Document (3) ».</a:t>
            </a:r>
            <a:endParaRPr lang="en-US" sz="1200" dirty="0"/>
          </a:p>
        </p:txBody>
      </p:sp>
      <p:sp>
        <p:nvSpPr>
          <p:cNvPr id="14" name="card-1190"/>
          <p:cNvSpPr/>
          <p:nvPr/>
        </p:nvSpPr>
        <p:spPr>
          <a:xfrm>
            <a:off x="548640" y="3035808"/>
            <a:ext cx="5440680" cy="1325880"/>
          </a:xfrm>
          <a:prstGeom prst="roundRect">
            <a:avLst>
              <a:gd name="adj" fmla="val 5517"/>
            </a:avLst>
          </a:prstGeom>
          <a:solidFill>
            <a:schemeClr val="bg2"/>
          </a:solidFill>
          <a:ln w="6350">
            <a:solidFill>
              <a:schemeClr val="bg2"/>
            </a:solidFill>
            <a:prstDash val="solid"/>
          </a:ln>
        </p:spPr>
      </p:sp>
      <p:sp>
        <p:nvSpPr>
          <p:cNvPr id="15" name="circle-1191"/>
          <p:cNvSpPr/>
          <p:nvPr/>
        </p:nvSpPr>
        <p:spPr>
          <a:xfrm>
            <a:off x="777240" y="3328416"/>
            <a:ext cx="731520" cy="731520"/>
          </a:xfrm>
          <a:prstGeom prst="ellipse">
            <a:avLst/>
          </a:prstGeom>
          <a:solidFill>
            <a:schemeClr val="accent6"/>
          </a:solidFill>
          <a:ln w="12700">
            <a:solidFill>
              <a:schemeClr val="accent6"/>
            </a:solidFill>
            <a:prstDash val="solid"/>
          </a:ln>
        </p:spPr>
      </p:sp>
      <p:pic>
        <p:nvPicPr>
          <p:cNvPr id="16" name="icon-1192" descr="preencoded.png"/>
          <p:cNvPicPr>
            <a:picLocks noChangeAspect="1"/>
          </p:cNvPicPr>
          <p:nvPr/>
        </p:nvPicPr>
        <p:blipFill>
          <a:blip r:embed="rId5"/>
          <a:stretch>
            <a:fillRect/>
          </a:stretch>
        </p:blipFill>
        <p:spPr>
          <a:xfrm>
            <a:off x="960120" y="3511296"/>
            <a:ext cx="365760" cy="365760"/>
          </a:xfrm>
          <a:prstGeom prst="rect">
            <a:avLst/>
          </a:prstGeom>
        </p:spPr>
      </p:pic>
      <p:sp>
        <p:nvSpPr>
          <p:cNvPr id="17" name="txt-1193"/>
          <p:cNvSpPr txBox="1"/>
          <p:nvPr/>
        </p:nvSpPr>
        <p:spPr>
          <a:xfrm>
            <a:off x="1691640" y="3172968"/>
            <a:ext cx="4160520" cy="365760"/>
          </a:xfrm>
          <a:prstGeom prst="rect">
            <a:avLst/>
          </a:prstGeom>
          <a:noFill/>
          <a:ln/>
        </p:spPr>
        <p:txBody>
          <a:bodyPr wrap="square" lIns="0" tIns="0" rIns="0" bIns="0" rtlCol="0" anchor="t"/>
          <a:lstStyle/>
          <a:p>
            <a:pPr marL="0" indent="0">
              <a:buNone/>
            </a:pPr>
            <a:r>
              <a:rPr lang="en-US" sz="1500" b="1" dirty="0">
                <a:solidFill>
                  <a:schemeClr val="tx2"/>
                </a:solidFill>
              </a:rPr>
              <a:t>Du vrai texte</a:t>
            </a:r>
            <a:endParaRPr lang="en-US" sz="1500" dirty="0"/>
          </a:p>
        </p:txBody>
      </p:sp>
      <p:sp>
        <p:nvSpPr>
          <p:cNvPr id="18" name="txt-1194"/>
          <p:cNvSpPr txBox="1"/>
          <p:nvPr/>
        </p:nvSpPr>
        <p:spPr>
          <a:xfrm>
            <a:off x="1691640" y="3538728"/>
            <a:ext cx="4160520" cy="777240"/>
          </a:xfrm>
          <a:prstGeom prst="rect">
            <a:avLst/>
          </a:prstGeom>
          <a:noFill/>
          <a:ln/>
        </p:spPr>
        <p:txBody>
          <a:bodyPr wrap="square" lIns="0" tIns="0" rIns="0" bIns="0" rtlCol="0" anchor="t"/>
          <a:lstStyle/>
          <a:p>
            <a:pPr marL="0" indent="0">
              <a:buNone/>
            </a:pPr>
            <a:r>
              <a:rPr lang="en-US" sz="1200" dirty="0">
                <a:solidFill>
                  <a:schemeClr val="tx1"/>
                </a:solidFill>
              </a:rPr>
              <a:t>Un PDF scanné est une image : passer d'abord par la reconnaissance de caractères (OCR).</a:t>
            </a:r>
            <a:endParaRPr lang="en-US" sz="1200" dirty="0"/>
          </a:p>
        </p:txBody>
      </p:sp>
      <p:sp>
        <p:nvSpPr>
          <p:cNvPr id="19" name="card-1195"/>
          <p:cNvSpPr/>
          <p:nvPr/>
        </p:nvSpPr>
        <p:spPr>
          <a:xfrm>
            <a:off x="6172200" y="3035808"/>
            <a:ext cx="5440680" cy="1325880"/>
          </a:xfrm>
          <a:prstGeom prst="roundRect">
            <a:avLst>
              <a:gd name="adj" fmla="val 5517"/>
            </a:avLst>
          </a:prstGeom>
          <a:solidFill>
            <a:schemeClr val="bg2"/>
          </a:solidFill>
          <a:ln w="6350">
            <a:solidFill>
              <a:schemeClr val="bg2"/>
            </a:solidFill>
            <a:prstDash val="solid"/>
          </a:ln>
        </p:spPr>
      </p:sp>
      <p:sp>
        <p:nvSpPr>
          <p:cNvPr id="20" name="circle-1196"/>
          <p:cNvSpPr/>
          <p:nvPr/>
        </p:nvSpPr>
        <p:spPr>
          <a:xfrm>
            <a:off x="6400800" y="3328416"/>
            <a:ext cx="731520" cy="731520"/>
          </a:xfrm>
          <a:prstGeom prst="ellipse">
            <a:avLst/>
          </a:prstGeom>
          <a:solidFill>
            <a:schemeClr val="accent6"/>
          </a:solidFill>
          <a:ln w="12700">
            <a:solidFill>
              <a:schemeClr val="accent6"/>
            </a:solidFill>
            <a:prstDash val="solid"/>
          </a:ln>
        </p:spPr>
      </p:sp>
      <p:pic>
        <p:nvPicPr>
          <p:cNvPr id="21" name="icon-1197" descr="preencoded.png"/>
          <p:cNvPicPr>
            <a:picLocks noChangeAspect="1"/>
          </p:cNvPicPr>
          <p:nvPr/>
        </p:nvPicPr>
        <p:blipFill>
          <a:blip r:embed="rId6"/>
          <a:stretch>
            <a:fillRect/>
          </a:stretch>
        </p:blipFill>
        <p:spPr>
          <a:xfrm>
            <a:off x="6583680" y="3511296"/>
            <a:ext cx="365760" cy="365760"/>
          </a:xfrm>
          <a:prstGeom prst="rect">
            <a:avLst/>
          </a:prstGeom>
        </p:spPr>
      </p:pic>
      <p:sp>
        <p:nvSpPr>
          <p:cNvPr id="22" name="txt-1198"/>
          <p:cNvSpPr txBox="1"/>
          <p:nvPr/>
        </p:nvSpPr>
        <p:spPr>
          <a:xfrm>
            <a:off x="7315200" y="3172968"/>
            <a:ext cx="4160520" cy="365760"/>
          </a:xfrm>
          <a:prstGeom prst="rect">
            <a:avLst/>
          </a:prstGeom>
          <a:noFill/>
          <a:ln/>
        </p:spPr>
        <p:txBody>
          <a:bodyPr wrap="square" lIns="0" tIns="0" rIns="0" bIns="0" rtlCol="0" anchor="t"/>
          <a:lstStyle/>
          <a:p>
            <a:pPr marL="0" indent="0">
              <a:buNone/>
            </a:pPr>
            <a:r>
              <a:rPr lang="en-US" sz="1500" b="1" dirty="0">
                <a:solidFill>
                  <a:schemeClr val="tx2"/>
                </a:solidFill>
              </a:rPr>
              <a:t>Des métadonnées en tête</a:t>
            </a:r>
            <a:endParaRPr lang="en-US" sz="1500" dirty="0"/>
          </a:p>
        </p:txBody>
      </p:sp>
      <p:sp>
        <p:nvSpPr>
          <p:cNvPr id="23" name="txt-1199"/>
          <p:cNvSpPr txBox="1"/>
          <p:nvPr/>
        </p:nvSpPr>
        <p:spPr>
          <a:xfrm>
            <a:off x="7315200" y="3538728"/>
            <a:ext cx="4160520" cy="777240"/>
          </a:xfrm>
          <a:prstGeom prst="rect">
            <a:avLst/>
          </a:prstGeom>
          <a:noFill/>
          <a:ln/>
        </p:spPr>
        <p:txBody>
          <a:bodyPr wrap="square" lIns="0" tIns="0" rIns="0" bIns="0" rtlCol="0" anchor="t"/>
          <a:lstStyle/>
          <a:p>
            <a:pPr marL="0" indent="0">
              <a:buNone/>
            </a:pPr>
            <a:r>
              <a:rPr lang="en-US" sz="1200" dirty="0">
                <a:solidFill>
                  <a:schemeClr val="tx1"/>
                </a:solidFill>
              </a:rPr>
              <a:t>Date, profil, lieu, langue de l'entretien : l'IA pourra filtrer et comparer.</a:t>
            </a:r>
            <a:endParaRPr lang="en-US" sz="1200" dirty="0"/>
          </a:p>
        </p:txBody>
      </p:sp>
      <p:sp>
        <p:nvSpPr>
          <p:cNvPr id="24" name="card-1200"/>
          <p:cNvSpPr/>
          <p:nvPr/>
        </p:nvSpPr>
        <p:spPr>
          <a:xfrm>
            <a:off x="548640" y="4517136"/>
            <a:ext cx="5440680" cy="1325880"/>
          </a:xfrm>
          <a:prstGeom prst="roundRect">
            <a:avLst>
              <a:gd name="adj" fmla="val 5517"/>
            </a:avLst>
          </a:prstGeom>
          <a:solidFill>
            <a:schemeClr val="bg2"/>
          </a:solidFill>
          <a:ln w="6350">
            <a:solidFill>
              <a:schemeClr val="bg2"/>
            </a:solidFill>
            <a:prstDash val="solid"/>
          </a:ln>
        </p:spPr>
      </p:sp>
      <p:sp>
        <p:nvSpPr>
          <p:cNvPr id="25" name="circle-1201"/>
          <p:cNvSpPr/>
          <p:nvPr/>
        </p:nvSpPr>
        <p:spPr>
          <a:xfrm>
            <a:off x="777240" y="4809744"/>
            <a:ext cx="731520" cy="731520"/>
          </a:xfrm>
          <a:prstGeom prst="ellipse">
            <a:avLst/>
          </a:prstGeom>
          <a:solidFill>
            <a:schemeClr val="accent6"/>
          </a:solidFill>
          <a:ln w="12700">
            <a:solidFill>
              <a:schemeClr val="accent6"/>
            </a:solidFill>
            <a:prstDash val="solid"/>
          </a:ln>
        </p:spPr>
      </p:sp>
      <p:pic>
        <p:nvPicPr>
          <p:cNvPr id="26" name="icon-1202" descr="preencoded.png"/>
          <p:cNvPicPr>
            <a:picLocks noChangeAspect="1"/>
          </p:cNvPicPr>
          <p:nvPr/>
        </p:nvPicPr>
        <p:blipFill>
          <a:blip r:embed="rId7"/>
          <a:stretch>
            <a:fillRect/>
          </a:stretch>
        </p:blipFill>
        <p:spPr>
          <a:xfrm>
            <a:off x="960120" y="4992624"/>
            <a:ext cx="365760" cy="365760"/>
          </a:xfrm>
          <a:prstGeom prst="rect">
            <a:avLst/>
          </a:prstGeom>
        </p:spPr>
      </p:pic>
      <p:sp>
        <p:nvSpPr>
          <p:cNvPr id="27" name="txt-1203"/>
          <p:cNvSpPr txBox="1"/>
          <p:nvPr/>
        </p:nvSpPr>
        <p:spPr>
          <a:xfrm>
            <a:off x="1691640" y="4654296"/>
            <a:ext cx="4160520" cy="365760"/>
          </a:xfrm>
          <a:prstGeom prst="rect">
            <a:avLst/>
          </a:prstGeom>
          <a:noFill/>
          <a:ln/>
        </p:spPr>
        <p:txBody>
          <a:bodyPr wrap="square" lIns="0" tIns="0" rIns="0" bIns="0" rtlCol="0" anchor="t"/>
          <a:lstStyle/>
          <a:p>
            <a:pPr marL="0" indent="0">
              <a:buNone/>
            </a:pPr>
            <a:r>
              <a:rPr lang="en-US" sz="1500" b="1" dirty="0">
                <a:solidFill>
                  <a:schemeClr val="tx2"/>
                </a:solidFill>
              </a:rPr>
              <a:t>Anonymiser</a:t>
            </a:r>
            <a:endParaRPr lang="en-US" sz="1500" dirty="0"/>
          </a:p>
        </p:txBody>
      </p:sp>
      <p:sp>
        <p:nvSpPr>
          <p:cNvPr id="28" name="txt-1204"/>
          <p:cNvSpPr txBox="1"/>
          <p:nvPr/>
        </p:nvSpPr>
        <p:spPr>
          <a:xfrm>
            <a:off x="1691640" y="5020056"/>
            <a:ext cx="4160520" cy="777240"/>
          </a:xfrm>
          <a:prstGeom prst="rect">
            <a:avLst/>
          </a:prstGeom>
          <a:noFill/>
          <a:ln/>
        </p:spPr>
        <p:txBody>
          <a:bodyPr wrap="square" lIns="0" tIns="0" rIns="0" bIns="0" rtlCol="0" anchor="t"/>
          <a:lstStyle/>
          <a:p>
            <a:pPr marL="0" indent="0">
              <a:buNone/>
            </a:pPr>
            <a:r>
              <a:rPr lang="en-US" sz="1200" dirty="0">
                <a:solidFill>
                  <a:schemeClr val="tx1"/>
                </a:solidFill>
              </a:rPr>
              <a:t>Pseudonymes, lieux généralisés, fonctions masquées, avant tout chargement.</a:t>
            </a:r>
            <a:endParaRPr lang="en-US" sz="1200" dirty="0"/>
          </a:p>
        </p:txBody>
      </p:sp>
      <p:sp>
        <p:nvSpPr>
          <p:cNvPr id="29" name="card-1205"/>
          <p:cNvSpPr/>
          <p:nvPr/>
        </p:nvSpPr>
        <p:spPr>
          <a:xfrm>
            <a:off x="6172200" y="4517136"/>
            <a:ext cx="5440680" cy="1325880"/>
          </a:xfrm>
          <a:prstGeom prst="roundRect">
            <a:avLst>
              <a:gd name="adj" fmla="val 5517"/>
            </a:avLst>
          </a:prstGeom>
          <a:solidFill>
            <a:schemeClr val="bg2"/>
          </a:solidFill>
          <a:ln w="6350">
            <a:solidFill>
              <a:schemeClr val="bg2"/>
            </a:solidFill>
            <a:prstDash val="solid"/>
          </a:ln>
        </p:spPr>
      </p:sp>
      <p:sp>
        <p:nvSpPr>
          <p:cNvPr id="30" name="circle-1206"/>
          <p:cNvSpPr/>
          <p:nvPr/>
        </p:nvSpPr>
        <p:spPr>
          <a:xfrm>
            <a:off x="6400800" y="4809744"/>
            <a:ext cx="731520" cy="731520"/>
          </a:xfrm>
          <a:prstGeom prst="ellipse">
            <a:avLst/>
          </a:prstGeom>
          <a:solidFill>
            <a:schemeClr val="accent6"/>
          </a:solidFill>
          <a:ln w="12700">
            <a:solidFill>
              <a:schemeClr val="accent6"/>
            </a:solidFill>
            <a:prstDash val="solid"/>
          </a:ln>
        </p:spPr>
      </p:sp>
      <p:pic>
        <p:nvPicPr>
          <p:cNvPr id="31" name="icon-1207" descr="preencoded.png"/>
          <p:cNvPicPr>
            <a:picLocks noChangeAspect="1"/>
          </p:cNvPicPr>
          <p:nvPr/>
        </p:nvPicPr>
        <p:blipFill>
          <a:blip r:embed="rId8"/>
          <a:stretch>
            <a:fillRect/>
          </a:stretch>
        </p:blipFill>
        <p:spPr>
          <a:xfrm>
            <a:off x="6583680" y="4992624"/>
            <a:ext cx="365760" cy="365760"/>
          </a:xfrm>
          <a:prstGeom prst="rect">
            <a:avLst/>
          </a:prstGeom>
        </p:spPr>
      </p:pic>
      <p:sp>
        <p:nvSpPr>
          <p:cNvPr id="32" name="txt-1208"/>
          <p:cNvSpPr txBox="1"/>
          <p:nvPr/>
        </p:nvSpPr>
        <p:spPr>
          <a:xfrm>
            <a:off x="7315200" y="4654296"/>
            <a:ext cx="4160520" cy="365760"/>
          </a:xfrm>
          <a:prstGeom prst="rect">
            <a:avLst/>
          </a:prstGeom>
          <a:noFill/>
          <a:ln/>
        </p:spPr>
        <p:txBody>
          <a:bodyPr wrap="square" lIns="0" tIns="0" rIns="0" bIns="0" rtlCol="0" anchor="t"/>
          <a:lstStyle/>
          <a:p>
            <a:pPr marL="0" indent="0">
              <a:buNone/>
            </a:pPr>
            <a:r>
              <a:rPr lang="en-US" sz="1500" b="1" dirty="0">
                <a:solidFill>
                  <a:schemeClr val="tx2"/>
                </a:solidFill>
              </a:rPr>
              <a:t>Ajouter un « guide »</a:t>
            </a:r>
            <a:endParaRPr lang="en-US" sz="1500" dirty="0"/>
          </a:p>
        </p:txBody>
      </p:sp>
      <p:sp>
        <p:nvSpPr>
          <p:cNvPr id="33" name="txt-1209"/>
          <p:cNvSpPr txBox="1"/>
          <p:nvPr/>
        </p:nvSpPr>
        <p:spPr>
          <a:xfrm>
            <a:off x="7315200" y="5020056"/>
            <a:ext cx="4160520" cy="777240"/>
          </a:xfrm>
          <a:prstGeom prst="rect">
            <a:avLst/>
          </a:prstGeom>
          <a:noFill/>
          <a:ln/>
        </p:spPr>
        <p:txBody>
          <a:bodyPr wrap="square" lIns="0" tIns="0" rIns="0" bIns="0" rtlCol="0" anchor="t"/>
          <a:lstStyle/>
          <a:p>
            <a:pPr marL="0" indent="0">
              <a:buNone/>
            </a:pPr>
            <a:r>
              <a:rPr lang="en-US" sz="1200" dirty="0">
                <a:solidFill>
                  <a:schemeClr val="tx1"/>
                </a:solidFill>
              </a:rPr>
              <a:t>Votre grille de codage ou votre glossaire comme source supplémentaire.</a:t>
            </a:r>
            <a:endParaRPr lang="en-US" sz="1200" dirty="0"/>
          </a:p>
        </p:txBody>
      </p:sp>
      <p:sp>
        <p:nvSpPr>
          <p:cNvPr id="34" name="Slide Number Placeholder 0"/>
          <p:cNvSpPr>
            <a:spLocks noGrp="1"/>
          </p:cNvSpPr>
          <p:nvPr>
            <p:ph type="sldNum" sz="quarter" idx="4294967295"/>
          </p:nvPr>
        </p:nvSpPr>
        <p:spPr>
          <a:xfrm>
            <a:off x="11064240" y="6400800"/>
            <a:ext cx="54864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C82"/>
                </a:solidFill>
                <a:latin typeface="Poppins"/>
                <a:ea typeface="Poppins"/>
                <a:cs typeface="Poppins"/>
              </a:defRPr>
            </a:lvl1pPr>
          </a:lstStyle>
          <a:p>
            <a:pPr algn="r"/>
            <a:fld id="{F7021451-1387-4CA6-816F-3879F97B5CBC}" type="slidenum">
              <a:rPr lang="en-US" b="0"/>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566928"/>
            <a:ext cx="11064240" cy="777240"/>
          </a:xfrm>
          <a:prstGeom prst="rect">
            <a:avLst/>
          </a:prstGeom>
          <a:noFill/>
          <a:ln/>
        </p:spPr>
        <p:txBody>
          <a:bodyPr wrap="square" lIns="0" tIns="0" rIns="0" bIns="0" rtlCol="0" anchor="ctr"/>
          <a:lstStyle/>
          <a:p>
            <a:pPr marL="0" indent="0" algn="l">
              <a:buNone/>
            </a:pPr>
            <a:r>
              <a:rPr lang="en-US" sz="2700" b="1" dirty="0">
                <a:solidFill>
                  <a:schemeClr val="tx2"/>
                </a:solidFill>
                <a:latin typeface="Poppins" pitchFamily="34" charset="0"/>
                <a:ea typeface="Poppins" pitchFamily="34" charset="-122"/>
                <a:cs typeface="Poppins" pitchFamily="34" charset="-120"/>
              </a:rPr>
              <a:t>Six questions qui exploitent vraiment un RAG</a:t>
            </a:r>
            <a:endParaRPr lang="en-US" sz="2700" dirty="0"/>
          </a:p>
        </p:txBody>
      </p:sp>
      <p:sp>
        <p:nvSpPr>
          <p:cNvPr id="3" name="Text 0"/>
          <p:cNvSpPr>
            <a:spLocks noGrp="1"/>
          </p:cNvSpPr>
          <p:nvPr>
            <p:ph type="body" idx="101" hasCustomPrompt="1"/>
          </p:nvPr>
        </p:nvSpPr>
        <p:spPr>
          <a:xfrm>
            <a:off x="548640" y="256032"/>
            <a:ext cx="8229600" cy="292608"/>
          </a:xfrm>
          <a:prstGeom prst="rect">
            <a:avLst/>
          </a:prstGeom>
          <a:noFill/>
          <a:ln/>
        </p:spPr>
        <p:txBody>
          <a:bodyPr wrap="square" lIns="0" tIns="0" rIns="0" bIns="0" rtlCol="0" anchor="ctr"/>
          <a:lstStyle/>
          <a:p>
            <a:pPr marL="0" indent="0">
              <a:buNone/>
            </a:pPr>
            <a:r>
              <a:rPr lang="en-US" sz="1100" b="1" dirty="0">
                <a:solidFill>
                  <a:schemeClr val="accent1"/>
                </a:solidFill>
                <a:latin typeface="Poppins" pitchFamily="34" charset="0"/>
                <a:ea typeface="Poppins" pitchFamily="34" charset="-122"/>
                <a:cs typeface="Poppins" pitchFamily="34" charset="-120"/>
              </a:rPr>
              <a:t>T3 · GEMINI NOTEBOOK</a:t>
            </a:r>
            <a:endParaRPr lang="en-US" sz="1100" dirty="0"/>
          </a:p>
        </p:txBody>
      </p:sp>
      <p:sp>
        <p:nvSpPr>
          <p:cNvPr id="4" name="card-1210"/>
          <p:cNvSpPr/>
          <p:nvPr/>
        </p:nvSpPr>
        <p:spPr>
          <a:xfrm>
            <a:off x="548640" y="1554480"/>
            <a:ext cx="5440680" cy="1325880"/>
          </a:xfrm>
          <a:prstGeom prst="roundRect">
            <a:avLst>
              <a:gd name="adj" fmla="val 5517"/>
            </a:avLst>
          </a:prstGeom>
          <a:solidFill>
            <a:schemeClr val="bg2"/>
          </a:solidFill>
          <a:ln w="6350">
            <a:solidFill>
              <a:schemeClr val="bg2"/>
            </a:solidFill>
            <a:prstDash val="solid"/>
          </a:ln>
        </p:spPr>
      </p:sp>
      <p:sp>
        <p:nvSpPr>
          <p:cNvPr id="5" name="txt-1211"/>
          <p:cNvSpPr txBox="1"/>
          <p:nvPr/>
        </p:nvSpPr>
        <p:spPr>
          <a:xfrm>
            <a:off x="822960" y="1664208"/>
            <a:ext cx="4937760" cy="347472"/>
          </a:xfrm>
          <a:prstGeom prst="rect">
            <a:avLst/>
          </a:prstGeom>
          <a:noFill/>
          <a:ln/>
        </p:spPr>
        <p:txBody>
          <a:bodyPr wrap="square" lIns="0" tIns="0" rIns="0" bIns="0" rtlCol="0" anchor="t"/>
          <a:lstStyle/>
          <a:p>
            <a:pPr marL="0" indent="0">
              <a:buNone/>
            </a:pPr>
            <a:r>
              <a:rPr lang="en-US" sz="1400" b="1" dirty="0">
                <a:solidFill>
                  <a:schemeClr val="accent6"/>
                </a:solidFill>
              </a:rPr>
              <a:t>Rester dans les sources</a:t>
            </a:r>
            <a:endParaRPr lang="en-US" sz="1400" dirty="0"/>
          </a:p>
        </p:txBody>
      </p:sp>
      <p:sp>
        <p:nvSpPr>
          <p:cNvPr id="6" name="txt-1212"/>
          <p:cNvSpPr txBox="1"/>
          <p:nvPr/>
        </p:nvSpPr>
        <p:spPr>
          <a:xfrm>
            <a:off x="822960" y="2029968"/>
            <a:ext cx="4937760" cy="777240"/>
          </a:xfrm>
          <a:prstGeom prst="rect">
            <a:avLst/>
          </a:prstGeom>
          <a:noFill/>
          <a:ln/>
        </p:spPr>
        <p:txBody>
          <a:bodyPr wrap="square" lIns="0" tIns="0" rIns="0" bIns="0" rtlCol="0" anchor="t"/>
          <a:lstStyle/>
          <a:p>
            <a:pPr marL="0" indent="0">
              <a:buNone/>
            </a:pPr>
            <a:r>
              <a:rPr lang="en-US" sz="1200" dirty="0">
                <a:solidFill>
                  <a:schemeClr val="tx1"/>
                </a:solidFill>
                <a:latin typeface="Consolas" pitchFamily="34" charset="0"/>
                <a:ea typeface="Consolas" pitchFamily="34" charset="-122"/>
                <a:cs typeface="Consolas" pitchFamily="34" charset="-120"/>
              </a:rPr>
              <a:t>« En te limitant strictement aux sources, quels freins à la scolarisation sont évoqués ? »</a:t>
            </a:r>
            <a:endParaRPr lang="en-US" sz="1200" dirty="0"/>
          </a:p>
        </p:txBody>
      </p:sp>
      <p:sp>
        <p:nvSpPr>
          <p:cNvPr id="7" name="card-1213"/>
          <p:cNvSpPr/>
          <p:nvPr/>
        </p:nvSpPr>
        <p:spPr>
          <a:xfrm>
            <a:off x="6172200" y="1554480"/>
            <a:ext cx="5440680" cy="1325880"/>
          </a:xfrm>
          <a:prstGeom prst="roundRect">
            <a:avLst>
              <a:gd name="adj" fmla="val 5517"/>
            </a:avLst>
          </a:prstGeom>
          <a:solidFill>
            <a:schemeClr val="bg2"/>
          </a:solidFill>
          <a:ln w="6350">
            <a:solidFill>
              <a:schemeClr val="bg2"/>
            </a:solidFill>
            <a:prstDash val="solid"/>
          </a:ln>
        </p:spPr>
      </p:sp>
      <p:sp>
        <p:nvSpPr>
          <p:cNvPr id="8" name="txt-1214"/>
          <p:cNvSpPr txBox="1"/>
          <p:nvPr/>
        </p:nvSpPr>
        <p:spPr>
          <a:xfrm>
            <a:off x="6446520" y="1664208"/>
            <a:ext cx="4937760" cy="347472"/>
          </a:xfrm>
          <a:prstGeom prst="rect">
            <a:avLst/>
          </a:prstGeom>
          <a:noFill/>
          <a:ln/>
        </p:spPr>
        <p:txBody>
          <a:bodyPr wrap="square" lIns="0" tIns="0" rIns="0" bIns="0" rtlCol="0" anchor="t"/>
          <a:lstStyle/>
          <a:p>
            <a:pPr marL="0" indent="0">
              <a:buNone/>
            </a:pPr>
            <a:r>
              <a:rPr lang="en-US" sz="1400" b="1" dirty="0">
                <a:solidFill>
                  <a:schemeClr val="accent6"/>
                </a:solidFill>
              </a:rPr>
              <a:t>Exiger le mot exact</a:t>
            </a:r>
            <a:endParaRPr lang="en-US" sz="1400" dirty="0"/>
          </a:p>
        </p:txBody>
      </p:sp>
      <p:sp>
        <p:nvSpPr>
          <p:cNvPr id="9" name="txt-1215"/>
          <p:cNvSpPr txBox="1"/>
          <p:nvPr/>
        </p:nvSpPr>
        <p:spPr>
          <a:xfrm>
            <a:off x="6446520" y="2029968"/>
            <a:ext cx="4937760" cy="777240"/>
          </a:xfrm>
          <a:prstGeom prst="rect">
            <a:avLst/>
          </a:prstGeom>
          <a:noFill/>
          <a:ln/>
        </p:spPr>
        <p:txBody>
          <a:bodyPr wrap="square" lIns="0" tIns="0" rIns="0" bIns="0" rtlCol="0" anchor="t"/>
          <a:lstStyle/>
          <a:p>
            <a:pPr marL="0" indent="0">
              <a:buNone/>
            </a:pPr>
            <a:r>
              <a:rPr lang="en-US" sz="1200" dirty="0">
                <a:solidFill>
                  <a:schemeClr val="tx1"/>
                </a:solidFill>
                <a:latin typeface="Consolas" pitchFamily="34" charset="0"/>
                <a:ea typeface="Consolas" pitchFamily="34" charset="-122"/>
                <a:cs typeface="Consolas" pitchFamily="34" charset="-120"/>
              </a:rPr>
              <a:t>« Cite mot pour mot 3 passages sur la distance, avec leur source. »</a:t>
            </a:r>
            <a:endParaRPr lang="en-US" sz="1200" dirty="0"/>
          </a:p>
        </p:txBody>
      </p:sp>
      <p:sp>
        <p:nvSpPr>
          <p:cNvPr id="10" name="card-1216"/>
          <p:cNvSpPr/>
          <p:nvPr/>
        </p:nvSpPr>
        <p:spPr>
          <a:xfrm>
            <a:off x="548640" y="3035808"/>
            <a:ext cx="5440680" cy="1325880"/>
          </a:xfrm>
          <a:prstGeom prst="roundRect">
            <a:avLst>
              <a:gd name="adj" fmla="val 5517"/>
            </a:avLst>
          </a:prstGeom>
          <a:solidFill>
            <a:schemeClr val="bg2"/>
          </a:solidFill>
          <a:ln w="6350">
            <a:solidFill>
              <a:schemeClr val="bg2"/>
            </a:solidFill>
            <a:prstDash val="solid"/>
          </a:ln>
        </p:spPr>
      </p:sp>
      <p:sp>
        <p:nvSpPr>
          <p:cNvPr id="11" name="txt-1217"/>
          <p:cNvSpPr txBox="1"/>
          <p:nvPr/>
        </p:nvSpPr>
        <p:spPr>
          <a:xfrm>
            <a:off x="822960" y="3145536"/>
            <a:ext cx="4937760" cy="347472"/>
          </a:xfrm>
          <a:prstGeom prst="rect">
            <a:avLst/>
          </a:prstGeom>
          <a:noFill/>
          <a:ln/>
        </p:spPr>
        <p:txBody>
          <a:bodyPr wrap="square" lIns="0" tIns="0" rIns="0" bIns="0" rtlCol="0" anchor="t"/>
          <a:lstStyle/>
          <a:p>
            <a:pPr marL="0" indent="0">
              <a:buNone/>
            </a:pPr>
            <a:r>
              <a:rPr lang="en-US" sz="1400" b="1" dirty="0">
                <a:solidFill>
                  <a:schemeClr val="accent6"/>
                </a:solidFill>
              </a:rPr>
              <a:t>Chercher la contradiction</a:t>
            </a:r>
            <a:endParaRPr lang="en-US" sz="1400" dirty="0"/>
          </a:p>
        </p:txBody>
      </p:sp>
      <p:sp>
        <p:nvSpPr>
          <p:cNvPr id="12" name="txt-1218"/>
          <p:cNvSpPr txBox="1"/>
          <p:nvPr/>
        </p:nvSpPr>
        <p:spPr>
          <a:xfrm>
            <a:off x="822960" y="3511296"/>
            <a:ext cx="4937760" cy="777240"/>
          </a:xfrm>
          <a:prstGeom prst="rect">
            <a:avLst/>
          </a:prstGeom>
          <a:noFill/>
          <a:ln/>
        </p:spPr>
        <p:txBody>
          <a:bodyPr wrap="square" lIns="0" tIns="0" rIns="0" bIns="0" rtlCol="0" anchor="t"/>
          <a:lstStyle/>
          <a:p>
            <a:pPr marL="0" indent="0">
              <a:buNone/>
            </a:pPr>
            <a:r>
              <a:rPr lang="en-US" sz="1200" dirty="0">
                <a:solidFill>
                  <a:schemeClr val="tx1"/>
                </a:solidFill>
                <a:latin typeface="Consolas" pitchFamily="34" charset="0"/>
                <a:ea typeface="Consolas" pitchFamily="34" charset="-122"/>
                <a:cs typeface="Consolas" pitchFamily="34" charset="-120"/>
              </a:rPr>
              <a:t>« Quels entretiens contredisent l'idée que la pauvreté est la seule cause ? »</a:t>
            </a:r>
            <a:endParaRPr lang="en-US" sz="1200" dirty="0"/>
          </a:p>
        </p:txBody>
      </p:sp>
      <p:sp>
        <p:nvSpPr>
          <p:cNvPr id="13" name="card-1219"/>
          <p:cNvSpPr/>
          <p:nvPr/>
        </p:nvSpPr>
        <p:spPr>
          <a:xfrm>
            <a:off x="6172200" y="3035808"/>
            <a:ext cx="5440680" cy="1325880"/>
          </a:xfrm>
          <a:prstGeom prst="roundRect">
            <a:avLst>
              <a:gd name="adj" fmla="val 5517"/>
            </a:avLst>
          </a:prstGeom>
          <a:solidFill>
            <a:schemeClr val="tx2"/>
          </a:solidFill>
          <a:ln w="6350">
            <a:solidFill>
              <a:schemeClr val="tx2"/>
            </a:solidFill>
            <a:prstDash val="solid"/>
          </a:ln>
        </p:spPr>
      </p:sp>
      <p:sp>
        <p:nvSpPr>
          <p:cNvPr id="14" name="txt-1220"/>
          <p:cNvSpPr txBox="1"/>
          <p:nvPr/>
        </p:nvSpPr>
        <p:spPr>
          <a:xfrm>
            <a:off x="6446520" y="3145536"/>
            <a:ext cx="4937760" cy="347472"/>
          </a:xfrm>
          <a:prstGeom prst="rect">
            <a:avLst/>
          </a:prstGeom>
          <a:noFill/>
          <a:ln/>
        </p:spPr>
        <p:txBody>
          <a:bodyPr wrap="square" lIns="0" tIns="0" rIns="0" bIns="0" rtlCol="0" anchor="t"/>
          <a:lstStyle/>
          <a:p>
            <a:pPr marL="0" indent="0">
              <a:buNone/>
            </a:pPr>
            <a:r>
              <a:rPr lang="en-US" sz="1400" b="1" dirty="0">
                <a:solidFill>
                  <a:schemeClr val="accent1"/>
                </a:solidFill>
              </a:rPr>
              <a:t>Tester les limites</a:t>
            </a:r>
            <a:endParaRPr lang="en-US" sz="1400" dirty="0"/>
          </a:p>
        </p:txBody>
      </p:sp>
      <p:sp>
        <p:nvSpPr>
          <p:cNvPr id="15" name="txt-1221"/>
          <p:cNvSpPr txBox="1"/>
          <p:nvPr/>
        </p:nvSpPr>
        <p:spPr>
          <a:xfrm>
            <a:off x="6446520" y="3511296"/>
            <a:ext cx="4937760" cy="777240"/>
          </a:xfrm>
          <a:prstGeom prst="rect">
            <a:avLst/>
          </a:prstGeom>
          <a:noFill/>
          <a:ln/>
        </p:spPr>
        <p:txBody>
          <a:bodyPr wrap="square" lIns="0" tIns="0" rIns="0" bIns="0" rtlCol="0" anchor="t"/>
          <a:lstStyle/>
          <a:p>
            <a:pPr marL="0" indent="0">
              <a:buNone/>
            </a:pPr>
            <a:r>
              <a:rPr lang="en-US" sz="1200" dirty="0">
                <a:solidFill>
                  <a:schemeClr val="bg1"/>
                </a:solidFill>
                <a:latin typeface="Consolas" pitchFamily="34" charset="0"/>
                <a:ea typeface="Consolas" pitchFamily="34" charset="-122"/>
                <a:cs typeface="Consolas" pitchFamily="34" charset="-120"/>
              </a:rPr>
              <a:t>« Que disent les enquêtés sur Internet ? » (réponse attendue : rien)</a:t>
            </a:r>
            <a:endParaRPr lang="en-US" sz="1200" dirty="0"/>
          </a:p>
        </p:txBody>
      </p:sp>
      <p:sp>
        <p:nvSpPr>
          <p:cNvPr id="16" name="card-1222"/>
          <p:cNvSpPr/>
          <p:nvPr/>
        </p:nvSpPr>
        <p:spPr>
          <a:xfrm>
            <a:off x="548640" y="4517136"/>
            <a:ext cx="5440680" cy="1325880"/>
          </a:xfrm>
          <a:prstGeom prst="roundRect">
            <a:avLst>
              <a:gd name="adj" fmla="val 5517"/>
            </a:avLst>
          </a:prstGeom>
          <a:solidFill>
            <a:schemeClr val="bg2"/>
          </a:solidFill>
          <a:ln w="6350">
            <a:solidFill>
              <a:schemeClr val="bg2"/>
            </a:solidFill>
            <a:prstDash val="solid"/>
          </a:ln>
        </p:spPr>
      </p:sp>
      <p:sp>
        <p:nvSpPr>
          <p:cNvPr id="17" name="txt-1223"/>
          <p:cNvSpPr txBox="1"/>
          <p:nvPr/>
        </p:nvSpPr>
        <p:spPr>
          <a:xfrm>
            <a:off x="822960" y="4626864"/>
            <a:ext cx="4937760" cy="347472"/>
          </a:xfrm>
          <a:prstGeom prst="rect">
            <a:avLst/>
          </a:prstGeom>
          <a:noFill/>
          <a:ln/>
        </p:spPr>
        <p:txBody>
          <a:bodyPr wrap="square" lIns="0" tIns="0" rIns="0" bIns="0" rtlCol="0" anchor="t"/>
          <a:lstStyle/>
          <a:p>
            <a:pPr marL="0" indent="0">
              <a:buNone/>
            </a:pPr>
            <a:r>
              <a:rPr lang="en-US" sz="1400" b="1" dirty="0">
                <a:solidFill>
                  <a:schemeClr val="accent6"/>
                </a:solidFill>
              </a:rPr>
              <a:t>Comparer</a:t>
            </a:r>
            <a:endParaRPr lang="en-US" sz="1400" dirty="0"/>
          </a:p>
        </p:txBody>
      </p:sp>
      <p:sp>
        <p:nvSpPr>
          <p:cNvPr id="18" name="txt-1224"/>
          <p:cNvSpPr txBox="1"/>
          <p:nvPr/>
        </p:nvSpPr>
        <p:spPr>
          <a:xfrm>
            <a:off x="822960" y="4992624"/>
            <a:ext cx="4937760" cy="777240"/>
          </a:xfrm>
          <a:prstGeom prst="rect">
            <a:avLst/>
          </a:prstGeom>
          <a:noFill/>
          <a:ln/>
        </p:spPr>
        <p:txBody>
          <a:bodyPr wrap="square" lIns="0" tIns="0" rIns="0" bIns="0" rtlCol="0" anchor="t"/>
          <a:lstStyle/>
          <a:p>
            <a:pPr marL="0" indent="0">
              <a:buNone/>
            </a:pPr>
            <a:r>
              <a:rPr lang="en-US" sz="1200" dirty="0">
                <a:solidFill>
                  <a:schemeClr val="tx1"/>
                </a:solidFill>
                <a:latin typeface="Consolas" pitchFamily="34" charset="0"/>
                <a:ea typeface="Consolas" pitchFamily="34" charset="-122"/>
                <a:cs typeface="Consolas" pitchFamily="34" charset="-120"/>
              </a:rPr>
              <a:t>« Compare E1 et E4 sur le rôle de la mère. »</a:t>
            </a:r>
            <a:endParaRPr lang="en-US" sz="1200" dirty="0"/>
          </a:p>
        </p:txBody>
      </p:sp>
      <p:sp>
        <p:nvSpPr>
          <p:cNvPr id="19" name="card-1225"/>
          <p:cNvSpPr/>
          <p:nvPr/>
        </p:nvSpPr>
        <p:spPr>
          <a:xfrm>
            <a:off x="6172200" y="4517136"/>
            <a:ext cx="5440680" cy="1325880"/>
          </a:xfrm>
          <a:prstGeom prst="roundRect">
            <a:avLst>
              <a:gd name="adj" fmla="val 5517"/>
            </a:avLst>
          </a:prstGeom>
          <a:solidFill>
            <a:schemeClr val="bg2"/>
          </a:solidFill>
          <a:ln w="6350">
            <a:solidFill>
              <a:schemeClr val="bg2"/>
            </a:solidFill>
            <a:prstDash val="solid"/>
          </a:ln>
        </p:spPr>
      </p:sp>
      <p:sp>
        <p:nvSpPr>
          <p:cNvPr id="20" name="txt-1226"/>
          <p:cNvSpPr txBox="1"/>
          <p:nvPr/>
        </p:nvSpPr>
        <p:spPr>
          <a:xfrm>
            <a:off x="6446520" y="4626864"/>
            <a:ext cx="4937760" cy="347472"/>
          </a:xfrm>
          <a:prstGeom prst="rect">
            <a:avLst/>
          </a:prstGeom>
          <a:noFill/>
          <a:ln/>
        </p:spPr>
        <p:txBody>
          <a:bodyPr wrap="square" lIns="0" tIns="0" rIns="0" bIns="0" rtlCol="0" anchor="t"/>
          <a:lstStyle/>
          <a:p>
            <a:pPr marL="0" indent="0">
              <a:buNone/>
            </a:pPr>
            <a:r>
              <a:rPr lang="en-US" sz="1400" b="1" dirty="0">
                <a:solidFill>
                  <a:schemeClr val="accent6"/>
                </a:solidFill>
              </a:rPr>
              <a:t>Structurer</a:t>
            </a:r>
            <a:endParaRPr lang="en-US" sz="1400" dirty="0"/>
          </a:p>
        </p:txBody>
      </p:sp>
      <p:sp>
        <p:nvSpPr>
          <p:cNvPr id="21" name="txt-1227"/>
          <p:cNvSpPr txBox="1"/>
          <p:nvPr/>
        </p:nvSpPr>
        <p:spPr>
          <a:xfrm>
            <a:off x="6446520" y="4992624"/>
            <a:ext cx="4937760" cy="777240"/>
          </a:xfrm>
          <a:prstGeom prst="rect">
            <a:avLst/>
          </a:prstGeom>
          <a:noFill/>
          <a:ln/>
        </p:spPr>
        <p:txBody>
          <a:bodyPr wrap="square" lIns="0" tIns="0" rIns="0" bIns="0" rtlCol="0" anchor="t"/>
          <a:lstStyle/>
          <a:p>
            <a:pPr marL="0" indent="0">
              <a:buNone/>
            </a:pPr>
            <a:r>
              <a:rPr lang="en-US" sz="1200" dirty="0">
                <a:solidFill>
                  <a:schemeClr val="tx1"/>
                </a:solidFill>
                <a:latin typeface="Consolas" pitchFamily="34" charset="0"/>
                <a:ea typeface="Consolas" pitchFamily="34" charset="-122"/>
                <a:cs typeface="Consolas" pitchFamily="34" charset="-120"/>
              </a:rPr>
              <a:t>« Construis un tableau thème × entretien, avec une citation par case. »</a:t>
            </a:r>
            <a:endParaRPr lang="en-US" sz="1200" dirty="0"/>
          </a:p>
        </p:txBody>
      </p:sp>
      <p:sp>
        <p:nvSpPr>
          <p:cNvPr id="25" name="Slide Number Placeholder 0"/>
          <p:cNvSpPr>
            <a:spLocks noGrp="1"/>
          </p:cNvSpPr>
          <p:nvPr>
            <p:ph type="sldNum" sz="quarter" idx="4294967295"/>
          </p:nvPr>
        </p:nvSpPr>
        <p:spPr>
          <a:xfrm>
            <a:off x="11064240" y="6400800"/>
            <a:ext cx="54864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C82"/>
                </a:solidFill>
                <a:latin typeface="Poppins"/>
                <a:ea typeface="Poppins"/>
                <a:cs typeface="Poppins"/>
              </a:defRPr>
            </a:lvl1pPr>
          </a:lstStyle>
          <a:p>
            <a:pPr algn="r"/>
            <a:fld id="{F7021451-1387-4CA6-816F-3879F97B5CBC}" type="slidenum">
              <a:rPr lang="en-US" b="0"/>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566928"/>
            <a:ext cx="11064240" cy="777240"/>
          </a:xfrm>
          <a:prstGeom prst="rect">
            <a:avLst/>
          </a:prstGeom>
          <a:noFill/>
          <a:ln/>
        </p:spPr>
        <p:txBody>
          <a:bodyPr wrap="square" lIns="0" tIns="0" rIns="0" bIns="0" rtlCol="0" anchor="ctr"/>
          <a:lstStyle/>
          <a:p>
            <a:pPr marL="0" indent="0" algn="l">
              <a:buNone/>
            </a:pPr>
            <a:r>
              <a:rPr lang="en-US" sz="2700" b="1" dirty="0">
                <a:solidFill>
                  <a:schemeClr val="tx2"/>
                </a:solidFill>
                <a:latin typeface="Poppins" pitchFamily="34" charset="0"/>
                <a:ea typeface="Poppins" pitchFamily="34" charset="-122"/>
                <a:cs typeface="Poppins" pitchFamily="34" charset="-120"/>
              </a:rPr>
              <a:t>Au-delà du chat : le Studio au service de la chercheure</a:t>
            </a:r>
            <a:endParaRPr lang="en-US" sz="2700" dirty="0"/>
          </a:p>
        </p:txBody>
      </p:sp>
      <p:sp>
        <p:nvSpPr>
          <p:cNvPr id="3" name="Text 0"/>
          <p:cNvSpPr>
            <a:spLocks noGrp="1"/>
          </p:cNvSpPr>
          <p:nvPr>
            <p:ph type="body" idx="101" hasCustomPrompt="1"/>
          </p:nvPr>
        </p:nvSpPr>
        <p:spPr>
          <a:xfrm>
            <a:off x="548640" y="256032"/>
            <a:ext cx="8229600" cy="292608"/>
          </a:xfrm>
          <a:prstGeom prst="rect">
            <a:avLst/>
          </a:prstGeom>
          <a:noFill/>
          <a:ln/>
        </p:spPr>
        <p:txBody>
          <a:bodyPr wrap="square" lIns="0" tIns="0" rIns="0" bIns="0" rtlCol="0" anchor="ctr"/>
          <a:lstStyle/>
          <a:p>
            <a:pPr marL="0" indent="0">
              <a:buNone/>
            </a:pPr>
            <a:r>
              <a:rPr lang="en-US" sz="1100" b="1" dirty="0">
                <a:solidFill>
                  <a:schemeClr val="accent1"/>
                </a:solidFill>
                <a:latin typeface="Poppins" pitchFamily="34" charset="0"/>
                <a:ea typeface="Poppins" pitchFamily="34" charset="-122"/>
                <a:cs typeface="Poppins" pitchFamily="34" charset="-120"/>
              </a:rPr>
              <a:t>T3 · GEMINI NOTEBOOK</a:t>
            </a:r>
            <a:endParaRPr lang="en-US" sz="1100" dirty="0"/>
          </a:p>
        </p:txBody>
      </p:sp>
      <p:sp>
        <p:nvSpPr>
          <p:cNvPr id="4" name="card-1228"/>
          <p:cNvSpPr/>
          <p:nvPr/>
        </p:nvSpPr>
        <p:spPr>
          <a:xfrm>
            <a:off x="548640" y="1554480"/>
            <a:ext cx="3520440" cy="2011680"/>
          </a:xfrm>
          <a:prstGeom prst="roundRect">
            <a:avLst>
              <a:gd name="adj" fmla="val 3636"/>
            </a:avLst>
          </a:prstGeom>
          <a:solidFill>
            <a:schemeClr val="bg2"/>
          </a:solidFill>
          <a:ln w="6350">
            <a:solidFill>
              <a:schemeClr val="bg2"/>
            </a:solidFill>
            <a:prstDash val="solid"/>
          </a:ln>
        </p:spPr>
      </p:sp>
      <p:sp>
        <p:nvSpPr>
          <p:cNvPr id="5" name="circle-1229"/>
          <p:cNvSpPr/>
          <p:nvPr/>
        </p:nvSpPr>
        <p:spPr>
          <a:xfrm>
            <a:off x="777240" y="1783080"/>
            <a:ext cx="640080" cy="640080"/>
          </a:xfrm>
          <a:prstGeom prst="ellipse">
            <a:avLst/>
          </a:prstGeom>
          <a:solidFill>
            <a:schemeClr val="accent6"/>
          </a:solidFill>
          <a:ln w="12700">
            <a:solidFill>
              <a:schemeClr val="accent6"/>
            </a:solidFill>
            <a:prstDash val="solid"/>
          </a:ln>
        </p:spPr>
      </p:sp>
      <p:pic>
        <p:nvPicPr>
          <p:cNvPr id="6" name="icon-1230" descr="preencoded.png"/>
          <p:cNvPicPr>
            <a:picLocks noChangeAspect="1"/>
          </p:cNvPicPr>
          <p:nvPr/>
        </p:nvPicPr>
        <p:blipFill>
          <a:blip r:embed="rId3"/>
          <a:stretch>
            <a:fillRect/>
          </a:stretch>
        </p:blipFill>
        <p:spPr>
          <a:xfrm>
            <a:off x="937260" y="1943100"/>
            <a:ext cx="320040" cy="320040"/>
          </a:xfrm>
          <a:prstGeom prst="rect">
            <a:avLst/>
          </a:prstGeom>
        </p:spPr>
      </p:pic>
      <p:sp>
        <p:nvSpPr>
          <p:cNvPr id="7" name="txt-1231"/>
          <p:cNvSpPr txBox="1"/>
          <p:nvPr/>
        </p:nvSpPr>
        <p:spPr>
          <a:xfrm>
            <a:off x="1554480" y="1828800"/>
            <a:ext cx="2377440" cy="548640"/>
          </a:xfrm>
          <a:prstGeom prst="rect">
            <a:avLst/>
          </a:prstGeom>
          <a:noFill/>
          <a:ln/>
        </p:spPr>
        <p:txBody>
          <a:bodyPr wrap="square" lIns="0" tIns="0" rIns="0" bIns="0" rtlCol="0" anchor="ctr"/>
          <a:lstStyle/>
          <a:p>
            <a:pPr marL="0" indent="0">
              <a:buNone/>
            </a:pPr>
            <a:r>
              <a:rPr lang="en-US" sz="1500" b="1" dirty="0">
                <a:solidFill>
                  <a:schemeClr val="tx2"/>
                </a:solidFill>
              </a:rPr>
              <a:t>Rapports</a:t>
            </a:r>
            <a:endParaRPr lang="en-US" sz="1500" dirty="0"/>
          </a:p>
        </p:txBody>
      </p:sp>
      <p:sp>
        <p:nvSpPr>
          <p:cNvPr id="8" name="txt-1232"/>
          <p:cNvSpPr txBox="1"/>
          <p:nvPr/>
        </p:nvSpPr>
        <p:spPr>
          <a:xfrm>
            <a:off x="777240" y="2560320"/>
            <a:ext cx="3108960" cy="914400"/>
          </a:xfrm>
          <a:prstGeom prst="rect">
            <a:avLst/>
          </a:prstGeom>
          <a:noFill/>
          <a:ln/>
        </p:spPr>
        <p:txBody>
          <a:bodyPr wrap="square" lIns="0" tIns="0" rIns="0" bIns="0" rtlCol="0" anchor="t"/>
          <a:lstStyle/>
          <a:p>
            <a:pPr marL="0" indent="0">
              <a:buNone/>
            </a:pPr>
            <a:r>
              <a:rPr lang="en-US" sz="1200" dirty="0">
                <a:solidFill>
                  <a:schemeClr val="tx1"/>
                </a:solidFill>
              </a:rPr>
              <a:t>Note de synthèse, guide d'étude, document de briefing à partir du corpus</a:t>
            </a:r>
            <a:endParaRPr lang="en-US" sz="1200" dirty="0"/>
          </a:p>
        </p:txBody>
      </p:sp>
      <p:sp>
        <p:nvSpPr>
          <p:cNvPr id="9" name="card-1233"/>
          <p:cNvSpPr/>
          <p:nvPr/>
        </p:nvSpPr>
        <p:spPr>
          <a:xfrm>
            <a:off x="4297680" y="1554480"/>
            <a:ext cx="3520440" cy="2011680"/>
          </a:xfrm>
          <a:prstGeom prst="roundRect">
            <a:avLst>
              <a:gd name="adj" fmla="val 3636"/>
            </a:avLst>
          </a:prstGeom>
          <a:solidFill>
            <a:schemeClr val="bg2"/>
          </a:solidFill>
          <a:ln w="6350">
            <a:solidFill>
              <a:schemeClr val="bg2"/>
            </a:solidFill>
            <a:prstDash val="solid"/>
          </a:ln>
        </p:spPr>
      </p:sp>
      <p:sp>
        <p:nvSpPr>
          <p:cNvPr id="10" name="circle-1234"/>
          <p:cNvSpPr/>
          <p:nvPr/>
        </p:nvSpPr>
        <p:spPr>
          <a:xfrm>
            <a:off x="4526280" y="1783080"/>
            <a:ext cx="640080" cy="640080"/>
          </a:xfrm>
          <a:prstGeom prst="ellipse">
            <a:avLst/>
          </a:prstGeom>
          <a:solidFill>
            <a:schemeClr val="accent6"/>
          </a:solidFill>
          <a:ln w="12700">
            <a:solidFill>
              <a:schemeClr val="accent6"/>
            </a:solidFill>
            <a:prstDash val="solid"/>
          </a:ln>
        </p:spPr>
      </p:sp>
      <p:pic>
        <p:nvPicPr>
          <p:cNvPr id="11" name="icon-1235" descr="preencoded.png"/>
          <p:cNvPicPr>
            <a:picLocks noChangeAspect="1"/>
          </p:cNvPicPr>
          <p:nvPr/>
        </p:nvPicPr>
        <p:blipFill>
          <a:blip r:embed="rId4"/>
          <a:stretch>
            <a:fillRect/>
          </a:stretch>
        </p:blipFill>
        <p:spPr>
          <a:xfrm>
            <a:off x="4686300" y="1943100"/>
            <a:ext cx="320040" cy="320040"/>
          </a:xfrm>
          <a:prstGeom prst="rect">
            <a:avLst/>
          </a:prstGeom>
        </p:spPr>
      </p:pic>
      <p:sp>
        <p:nvSpPr>
          <p:cNvPr id="12" name="txt-1236"/>
          <p:cNvSpPr txBox="1"/>
          <p:nvPr/>
        </p:nvSpPr>
        <p:spPr>
          <a:xfrm>
            <a:off x="5303520" y="1828800"/>
            <a:ext cx="2377440" cy="548640"/>
          </a:xfrm>
          <a:prstGeom prst="rect">
            <a:avLst/>
          </a:prstGeom>
          <a:noFill/>
          <a:ln/>
        </p:spPr>
        <p:txBody>
          <a:bodyPr wrap="square" lIns="0" tIns="0" rIns="0" bIns="0" rtlCol="0" anchor="ctr"/>
          <a:lstStyle/>
          <a:p>
            <a:pPr marL="0" indent="0">
              <a:buNone/>
            </a:pPr>
            <a:r>
              <a:rPr lang="en-US" sz="1500" b="1" dirty="0">
                <a:solidFill>
                  <a:schemeClr val="tx2"/>
                </a:solidFill>
              </a:rPr>
              <a:t>Carte mentale</a:t>
            </a:r>
            <a:endParaRPr lang="en-US" sz="1500" dirty="0"/>
          </a:p>
        </p:txBody>
      </p:sp>
      <p:sp>
        <p:nvSpPr>
          <p:cNvPr id="13" name="txt-1237"/>
          <p:cNvSpPr txBox="1"/>
          <p:nvPr/>
        </p:nvSpPr>
        <p:spPr>
          <a:xfrm>
            <a:off x="4526280" y="2560320"/>
            <a:ext cx="3108960" cy="914400"/>
          </a:xfrm>
          <a:prstGeom prst="rect">
            <a:avLst/>
          </a:prstGeom>
          <a:noFill/>
          <a:ln/>
        </p:spPr>
        <p:txBody>
          <a:bodyPr wrap="square" lIns="0" tIns="0" rIns="0" bIns="0" rtlCol="0" anchor="t"/>
          <a:lstStyle/>
          <a:p>
            <a:pPr marL="0" indent="0">
              <a:buNone/>
            </a:pPr>
            <a:r>
              <a:rPr lang="en-US" sz="1200" dirty="0">
                <a:solidFill>
                  <a:schemeClr val="tx1"/>
                </a:solidFill>
              </a:rPr>
              <a:t>Vue d'ensemble des thèmes ; cliquer sur un nœud pour l'explorer</a:t>
            </a:r>
            <a:endParaRPr lang="en-US" sz="1200" dirty="0"/>
          </a:p>
        </p:txBody>
      </p:sp>
      <p:sp>
        <p:nvSpPr>
          <p:cNvPr id="14" name="card-1238"/>
          <p:cNvSpPr/>
          <p:nvPr/>
        </p:nvSpPr>
        <p:spPr>
          <a:xfrm>
            <a:off x="8046720" y="1554480"/>
            <a:ext cx="3520440" cy="2011680"/>
          </a:xfrm>
          <a:prstGeom prst="roundRect">
            <a:avLst>
              <a:gd name="adj" fmla="val 3636"/>
            </a:avLst>
          </a:prstGeom>
          <a:solidFill>
            <a:schemeClr val="bg2"/>
          </a:solidFill>
          <a:ln w="6350">
            <a:solidFill>
              <a:schemeClr val="bg2"/>
            </a:solidFill>
            <a:prstDash val="solid"/>
          </a:ln>
        </p:spPr>
      </p:sp>
      <p:sp>
        <p:nvSpPr>
          <p:cNvPr id="15" name="circle-1239"/>
          <p:cNvSpPr/>
          <p:nvPr/>
        </p:nvSpPr>
        <p:spPr>
          <a:xfrm>
            <a:off x="8275320" y="1783080"/>
            <a:ext cx="640080" cy="640080"/>
          </a:xfrm>
          <a:prstGeom prst="ellipse">
            <a:avLst/>
          </a:prstGeom>
          <a:solidFill>
            <a:schemeClr val="accent6"/>
          </a:solidFill>
          <a:ln w="12700">
            <a:solidFill>
              <a:schemeClr val="accent6"/>
            </a:solidFill>
            <a:prstDash val="solid"/>
          </a:ln>
        </p:spPr>
      </p:sp>
      <p:pic>
        <p:nvPicPr>
          <p:cNvPr id="16" name="icon-1240" descr="preencoded.png"/>
          <p:cNvPicPr>
            <a:picLocks noChangeAspect="1"/>
          </p:cNvPicPr>
          <p:nvPr/>
        </p:nvPicPr>
        <p:blipFill>
          <a:blip r:embed="rId5"/>
          <a:stretch>
            <a:fillRect/>
          </a:stretch>
        </p:blipFill>
        <p:spPr>
          <a:xfrm>
            <a:off x="8435340" y="1943100"/>
            <a:ext cx="320040" cy="320040"/>
          </a:xfrm>
          <a:prstGeom prst="rect">
            <a:avLst/>
          </a:prstGeom>
        </p:spPr>
      </p:pic>
      <p:sp>
        <p:nvSpPr>
          <p:cNvPr id="17" name="txt-1241"/>
          <p:cNvSpPr txBox="1"/>
          <p:nvPr/>
        </p:nvSpPr>
        <p:spPr>
          <a:xfrm>
            <a:off x="9052560" y="1828800"/>
            <a:ext cx="2377440" cy="548640"/>
          </a:xfrm>
          <a:prstGeom prst="rect">
            <a:avLst/>
          </a:prstGeom>
          <a:noFill/>
          <a:ln/>
        </p:spPr>
        <p:txBody>
          <a:bodyPr wrap="square" lIns="0" tIns="0" rIns="0" bIns="0" rtlCol="0" anchor="ctr"/>
          <a:lstStyle/>
          <a:p>
            <a:pPr marL="0" indent="0">
              <a:buNone/>
            </a:pPr>
            <a:r>
              <a:rPr lang="en-US" sz="1500" b="1" dirty="0">
                <a:solidFill>
                  <a:schemeClr val="tx2"/>
                </a:solidFill>
              </a:rPr>
              <a:t>Aperçu audio</a:t>
            </a:r>
            <a:endParaRPr lang="en-US" sz="1500" dirty="0"/>
          </a:p>
        </p:txBody>
      </p:sp>
      <p:sp>
        <p:nvSpPr>
          <p:cNvPr id="18" name="txt-1242"/>
          <p:cNvSpPr txBox="1"/>
          <p:nvPr/>
        </p:nvSpPr>
        <p:spPr>
          <a:xfrm>
            <a:off x="8275320" y="2560320"/>
            <a:ext cx="3108960" cy="914400"/>
          </a:xfrm>
          <a:prstGeom prst="rect">
            <a:avLst/>
          </a:prstGeom>
          <a:noFill/>
          <a:ln/>
        </p:spPr>
        <p:txBody>
          <a:bodyPr wrap="square" lIns="0" tIns="0" rIns="0" bIns="0" rtlCol="0" anchor="t"/>
          <a:lstStyle/>
          <a:p>
            <a:pPr marL="0" indent="0">
              <a:buNone/>
            </a:pPr>
            <a:r>
              <a:rPr lang="en-US" sz="1200" dirty="0">
                <a:solidFill>
                  <a:schemeClr val="tx1"/>
                </a:solidFill>
              </a:rPr>
              <a:t>Discussion de type podcast sur vos sources, pour réviser en déplacement</a:t>
            </a:r>
            <a:endParaRPr lang="en-US" sz="1200" dirty="0"/>
          </a:p>
        </p:txBody>
      </p:sp>
      <p:sp>
        <p:nvSpPr>
          <p:cNvPr id="19" name="card-1243"/>
          <p:cNvSpPr/>
          <p:nvPr/>
        </p:nvSpPr>
        <p:spPr>
          <a:xfrm>
            <a:off x="548640" y="3749040"/>
            <a:ext cx="3520440" cy="2011680"/>
          </a:xfrm>
          <a:prstGeom prst="roundRect">
            <a:avLst>
              <a:gd name="adj" fmla="val 3636"/>
            </a:avLst>
          </a:prstGeom>
          <a:solidFill>
            <a:schemeClr val="bg2"/>
          </a:solidFill>
          <a:ln w="6350">
            <a:solidFill>
              <a:schemeClr val="bg2"/>
            </a:solidFill>
            <a:prstDash val="solid"/>
          </a:ln>
        </p:spPr>
      </p:sp>
      <p:sp>
        <p:nvSpPr>
          <p:cNvPr id="20" name="circle-1244"/>
          <p:cNvSpPr/>
          <p:nvPr/>
        </p:nvSpPr>
        <p:spPr>
          <a:xfrm>
            <a:off x="777240" y="3977640"/>
            <a:ext cx="640080" cy="640080"/>
          </a:xfrm>
          <a:prstGeom prst="ellipse">
            <a:avLst/>
          </a:prstGeom>
          <a:solidFill>
            <a:schemeClr val="accent6"/>
          </a:solidFill>
          <a:ln w="12700">
            <a:solidFill>
              <a:schemeClr val="accent6"/>
            </a:solidFill>
            <a:prstDash val="solid"/>
          </a:ln>
        </p:spPr>
      </p:sp>
      <p:pic>
        <p:nvPicPr>
          <p:cNvPr id="21" name="icon-1245" descr="preencoded.png"/>
          <p:cNvPicPr>
            <a:picLocks noChangeAspect="1"/>
          </p:cNvPicPr>
          <p:nvPr/>
        </p:nvPicPr>
        <p:blipFill>
          <a:blip r:embed="rId6"/>
          <a:stretch>
            <a:fillRect/>
          </a:stretch>
        </p:blipFill>
        <p:spPr>
          <a:xfrm>
            <a:off x="937260" y="4137660"/>
            <a:ext cx="320040" cy="320040"/>
          </a:xfrm>
          <a:prstGeom prst="rect">
            <a:avLst/>
          </a:prstGeom>
        </p:spPr>
      </p:pic>
      <p:sp>
        <p:nvSpPr>
          <p:cNvPr id="22" name="txt-1246"/>
          <p:cNvSpPr txBox="1"/>
          <p:nvPr/>
        </p:nvSpPr>
        <p:spPr>
          <a:xfrm>
            <a:off x="1554480" y="4023360"/>
            <a:ext cx="2377440" cy="548640"/>
          </a:xfrm>
          <a:prstGeom prst="rect">
            <a:avLst/>
          </a:prstGeom>
          <a:noFill/>
          <a:ln/>
        </p:spPr>
        <p:txBody>
          <a:bodyPr wrap="square" lIns="0" tIns="0" rIns="0" bIns="0" rtlCol="0" anchor="ctr"/>
          <a:lstStyle/>
          <a:p>
            <a:pPr marL="0" indent="0">
              <a:buNone/>
            </a:pPr>
            <a:r>
              <a:rPr lang="en-US" sz="1500" b="1" dirty="0">
                <a:solidFill>
                  <a:schemeClr val="tx2"/>
                </a:solidFill>
              </a:rPr>
              <a:t>Aperçu vidéo</a:t>
            </a:r>
            <a:endParaRPr lang="en-US" sz="1500" dirty="0"/>
          </a:p>
        </p:txBody>
      </p:sp>
      <p:sp>
        <p:nvSpPr>
          <p:cNvPr id="23" name="txt-1247"/>
          <p:cNvSpPr txBox="1"/>
          <p:nvPr/>
        </p:nvSpPr>
        <p:spPr>
          <a:xfrm>
            <a:off x="777240" y="4754880"/>
            <a:ext cx="3108960" cy="914400"/>
          </a:xfrm>
          <a:prstGeom prst="rect">
            <a:avLst/>
          </a:prstGeom>
          <a:noFill/>
          <a:ln/>
        </p:spPr>
        <p:txBody>
          <a:bodyPr wrap="square" lIns="0" tIns="0" rIns="0" bIns="0" rtlCol="0" anchor="t"/>
          <a:lstStyle/>
          <a:p>
            <a:pPr marL="0" indent="0">
              <a:buNone/>
            </a:pPr>
            <a:r>
              <a:rPr lang="en-US" sz="1200" dirty="0">
                <a:solidFill>
                  <a:schemeClr val="tx1"/>
                </a:solidFill>
              </a:rPr>
              <a:t>Présentation commentée générée à partir des sources</a:t>
            </a:r>
            <a:endParaRPr lang="en-US" sz="1200" dirty="0"/>
          </a:p>
        </p:txBody>
      </p:sp>
      <p:sp>
        <p:nvSpPr>
          <p:cNvPr id="24" name="card-1248"/>
          <p:cNvSpPr/>
          <p:nvPr/>
        </p:nvSpPr>
        <p:spPr>
          <a:xfrm>
            <a:off x="4297680" y="3749040"/>
            <a:ext cx="3520440" cy="2011680"/>
          </a:xfrm>
          <a:prstGeom prst="roundRect">
            <a:avLst>
              <a:gd name="adj" fmla="val 3636"/>
            </a:avLst>
          </a:prstGeom>
          <a:solidFill>
            <a:schemeClr val="bg2"/>
          </a:solidFill>
          <a:ln w="6350">
            <a:solidFill>
              <a:schemeClr val="bg2"/>
            </a:solidFill>
            <a:prstDash val="solid"/>
          </a:ln>
        </p:spPr>
      </p:sp>
      <p:sp>
        <p:nvSpPr>
          <p:cNvPr id="25" name="circle-1249"/>
          <p:cNvSpPr/>
          <p:nvPr/>
        </p:nvSpPr>
        <p:spPr>
          <a:xfrm>
            <a:off x="4526280" y="3977640"/>
            <a:ext cx="640080" cy="640080"/>
          </a:xfrm>
          <a:prstGeom prst="ellipse">
            <a:avLst/>
          </a:prstGeom>
          <a:solidFill>
            <a:schemeClr val="accent1"/>
          </a:solidFill>
          <a:ln w="12700">
            <a:solidFill>
              <a:schemeClr val="accent1"/>
            </a:solidFill>
            <a:prstDash val="solid"/>
          </a:ln>
        </p:spPr>
      </p:sp>
      <p:pic>
        <p:nvPicPr>
          <p:cNvPr id="26" name="icon-1250" descr="preencoded.png"/>
          <p:cNvPicPr>
            <a:picLocks noChangeAspect="1"/>
          </p:cNvPicPr>
          <p:nvPr/>
        </p:nvPicPr>
        <p:blipFill>
          <a:blip r:embed="rId7"/>
          <a:stretch>
            <a:fillRect/>
          </a:stretch>
        </p:blipFill>
        <p:spPr>
          <a:xfrm>
            <a:off x="4686300" y="4137660"/>
            <a:ext cx="320040" cy="320040"/>
          </a:xfrm>
          <a:prstGeom prst="rect">
            <a:avLst/>
          </a:prstGeom>
        </p:spPr>
      </p:pic>
      <p:sp>
        <p:nvSpPr>
          <p:cNvPr id="27" name="txt-1251"/>
          <p:cNvSpPr txBox="1"/>
          <p:nvPr/>
        </p:nvSpPr>
        <p:spPr>
          <a:xfrm>
            <a:off x="5303520" y="4023360"/>
            <a:ext cx="2377440" cy="548640"/>
          </a:xfrm>
          <a:prstGeom prst="rect">
            <a:avLst/>
          </a:prstGeom>
          <a:noFill/>
          <a:ln/>
        </p:spPr>
        <p:txBody>
          <a:bodyPr wrap="square" lIns="0" tIns="0" rIns="0" bIns="0" rtlCol="0" anchor="ctr"/>
          <a:lstStyle/>
          <a:p>
            <a:pPr marL="0" indent="0">
              <a:buNone/>
            </a:pPr>
            <a:r>
              <a:rPr lang="en-US" sz="1500" b="1" dirty="0">
                <a:solidFill>
                  <a:schemeClr val="tx2"/>
                </a:solidFill>
              </a:rPr>
              <a:t>Fiches et quiz</a:t>
            </a:r>
            <a:endParaRPr lang="en-US" sz="1500" dirty="0"/>
          </a:p>
        </p:txBody>
      </p:sp>
      <p:sp>
        <p:nvSpPr>
          <p:cNvPr id="28" name="txt-1252"/>
          <p:cNvSpPr txBox="1"/>
          <p:nvPr/>
        </p:nvSpPr>
        <p:spPr>
          <a:xfrm>
            <a:off x="4526280" y="4754880"/>
            <a:ext cx="3108960" cy="914400"/>
          </a:xfrm>
          <a:prstGeom prst="rect">
            <a:avLst/>
          </a:prstGeom>
          <a:noFill/>
          <a:ln/>
        </p:spPr>
        <p:txBody>
          <a:bodyPr wrap="square" lIns="0" tIns="0" rIns="0" bIns="0" rtlCol="0" anchor="t"/>
          <a:lstStyle/>
          <a:p>
            <a:pPr marL="0" indent="0">
              <a:buNone/>
            </a:pPr>
            <a:r>
              <a:rPr lang="en-US" sz="1200" dirty="0">
                <a:solidFill>
                  <a:schemeClr val="tx1"/>
                </a:solidFill>
              </a:rPr>
              <a:t>Pour vos étudiants : questions générées à partir de votre cours</a:t>
            </a:r>
            <a:endParaRPr lang="en-US" sz="1200" dirty="0"/>
          </a:p>
        </p:txBody>
      </p:sp>
      <p:sp>
        <p:nvSpPr>
          <p:cNvPr id="29" name="card-1253"/>
          <p:cNvSpPr/>
          <p:nvPr/>
        </p:nvSpPr>
        <p:spPr>
          <a:xfrm>
            <a:off x="8046720" y="3749040"/>
            <a:ext cx="3520440" cy="2011680"/>
          </a:xfrm>
          <a:prstGeom prst="roundRect">
            <a:avLst>
              <a:gd name="adj" fmla="val 3636"/>
            </a:avLst>
          </a:prstGeom>
          <a:solidFill>
            <a:schemeClr val="bg2"/>
          </a:solidFill>
          <a:ln w="6350">
            <a:solidFill>
              <a:schemeClr val="bg2"/>
            </a:solidFill>
            <a:prstDash val="solid"/>
          </a:ln>
        </p:spPr>
      </p:sp>
      <p:sp>
        <p:nvSpPr>
          <p:cNvPr id="30" name="circle-1254"/>
          <p:cNvSpPr/>
          <p:nvPr/>
        </p:nvSpPr>
        <p:spPr>
          <a:xfrm>
            <a:off x="8275320" y="3977640"/>
            <a:ext cx="640080" cy="640080"/>
          </a:xfrm>
          <a:prstGeom prst="ellipse">
            <a:avLst/>
          </a:prstGeom>
          <a:solidFill>
            <a:schemeClr val="accent6"/>
          </a:solidFill>
          <a:ln w="12700">
            <a:solidFill>
              <a:schemeClr val="accent6"/>
            </a:solidFill>
            <a:prstDash val="solid"/>
          </a:ln>
        </p:spPr>
      </p:sp>
      <p:pic>
        <p:nvPicPr>
          <p:cNvPr id="31" name="icon-1255" descr="preencoded.png"/>
          <p:cNvPicPr>
            <a:picLocks noChangeAspect="1"/>
          </p:cNvPicPr>
          <p:nvPr/>
        </p:nvPicPr>
        <p:blipFill>
          <a:blip r:embed="rId8"/>
          <a:stretch>
            <a:fillRect/>
          </a:stretch>
        </p:blipFill>
        <p:spPr>
          <a:xfrm>
            <a:off x="8435340" y="4137660"/>
            <a:ext cx="320040" cy="320040"/>
          </a:xfrm>
          <a:prstGeom prst="rect">
            <a:avLst/>
          </a:prstGeom>
        </p:spPr>
      </p:pic>
      <p:sp>
        <p:nvSpPr>
          <p:cNvPr id="32" name="txt-1256"/>
          <p:cNvSpPr txBox="1"/>
          <p:nvPr/>
        </p:nvSpPr>
        <p:spPr>
          <a:xfrm>
            <a:off x="9052560" y="4023360"/>
            <a:ext cx="2377440" cy="548640"/>
          </a:xfrm>
          <a:prstGeom prst="rect">
            <a:avLst/>
          </a:prstGeom>
          <a:noFill/>
          <a:ln/>
        </p:spPr>
        <p:txBody>
          <a:bodyPr wrap="square" lIns="0" tIns="0" rIns="0" bIns="0" rtlCol="0" anchor="ctr"/>
          <a:lstStyle/>
          <a:p>
            <a:pPr marL="0" indent="0">
              <a:buNone/>
            </a:pPr>
            <a:r>
              <a:rPr lang="en-US" sz="1500" b="1" dirty="0">
                <a:solidFill>
                  <a:schemeClr val="tx2"/>
                </a:solidFill>
              </a:rPr>
              <a:t>Recherche de sources</a:t>
            </a:r>
            <a:endParaRPr lang="en-US" sz="1500" dirty="0"/>
          </a:p>
        </p:txBody>
      </p:sp>
      <p:sp>
        <p:nvSpPr>
          <p:cNvPr id="33" name="txt-1257"/>
          <p:cNvSpPr txBox="1"/>
          <p:nvPr/>
        </p:nvSpPr>
        <p:spPr>
          <a:xfrm>
            <a:off x="8275320" y="4754880"/>
            <a:ext cx="3108960" cy="914400"/>
          </a:xfrm>
          <a:prstGeom prst="rect">
            <a:avLst/>
          </a:prstGeom>
          <a:noFill/>
          <a:ln/>
        </p:spPr>
        <p:txBody>
          <a:bodyPr wrap="square" lIns="0" tIns="0" rIns="0" bIns="0" rtlCol="0" anchor="t"/>
          <a:lstStyle/>
          <a:p>
            <a:pPr marL="0" indent="0">
              <a:buNone/>
            </a:pPr>
            <a:r>
              <a:rPr lang="en-US" sz="1200" dirty="0">
                <a:solidFill>
                  <a:schemeClr val="tx1"/>
                </a:solidFill>
              </a:rPr>
              <a:t>Trouver des sources web ou Drive à ajouter (Deep Research, 18 ans et +)</a:t>
            </a:r>
            <a:endParaRPr lang="en-US" sz="1200" dirty="0"/>
          </a:p>
        </p:txBody>
      </p:sp>
      <p:sp>
        <p:nvSpPr>
          <p:cNvPr id="34" name="Slide Number Placeholder 0"/>
          <p:cNvSpPr>
            <a:spLocks noGrp="1"/>
          </p:cNvSpPr>
          <p:nvPr>
            <p:ph type="sldNum" sz="quarter" idx="4294967295"/>
          </p:nvPr>
        </p:nvSpPr>
        <p:spPr>
          <a:xfrm>
            <a:off x="11064240" y="6400800"/>
            <a:ext cx="54864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C82"/>
                </a:solidFill>
                <a:latin typeface="Poppins"/>
                <a:ea typeface="Poppins"/>
                <a:cs typeface="Poppins"/>
              </a:defRPr>
            </a:lvl1pPr>
          </a:lstStyle>
          <a:p>
            <a:pPr algn="r"/>
            <a:fld id="{F7021451-1387-4CA6-816F-3879F97B5CBC}" type="slidenum">
              <a:rPr lang="en-US" b="0"/>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566928"/>
            <a:ext cx="11064240" cy="777240"/>
          </a:xfrm>
          <a:prstGeom prst="rect">
            <a:avLst/>
          </a:prstGeom>
          <a:noFill/>
          <a:ln/>
        </p:spPr>
        <p:txBody>
          <a:bodyPr wrap="square" lIns="0" tIns="0" rIns="0" bIns="0" rtlCol="0" anchor="ctr"/>
          <a:lstStyle/>
          <a:p>
            <a:pPr marL="0" indent="0" algn="l">
              <a:buNone/>
            </a:pPr>
            <a:r>
              <a:rPr lang="en-US" sz="2700" b="1" dirty="0">
                <a:solidFill>
                  <a:schemeClr val="tx2"/>
                </a:solidFill>
                <a:latin typeface="Poppins" pitchFamily="34" charset="0"/>
                <a:ea typeface="Poppins" pitchFamily="34" charset="-122"/>
                <a:cs typeface="Poppins" pitchFamily="34" charset="-120"/>
              </a:rPr>
              <a:t>Les limites à garder en tête</a:t>
            </a:r>
            <a:endParaRPr lang="en-US" sz="2700" dirty="0"/>
          </a:p>
        </p:txBody>
      </p:sp>
      <p:sp>
        <p:nvSpPr>
          <p:cNvPr id="3" name="Text 0"/>
          <p:cNvSpPr>
            <a:spLocks noGrp="1"/>
          </p:cNvSpPr>
          <p:nvPr>
            <p:ph type="body" idx="101" hasCustomPrompt="1"/>
          </p:nvPr>
        </p:nvSpPr>
        <p:spPr>
          <a:xfrm>
            <a:off x="548640" y="256032"/>
            <a:ext cx="8229600" cy="292608"/>
          </a:xfrm>
          <a:prstGeom prst="rect">
            <a:avLst/>
          </a:prstGeom>
          <a:noFill/>
          <a:ln/>
        </p:spPr>
        <p:txBody>
          <a:bodyPr wrap="square" lIns="0" tIns="0" rIns="0" bIns="0" rtlCol="0" anchor="ctr"/>
          <a:lstStyle/>
          <a:p>
            <a:pPr marL="0" indent="0">
              <a:buNone/>
            </a:pPr>
            <a:r>
              <a:rPr lang="en-US" sz="1100" b="1" dirty="0">
                <a:solidFill>
                  <a:schemeClr val="accent1"/>
                </a:solidFill>
                <a:latin typeface="Poppins" pitchFamily="34" charset="0"/>
                <a:ea typeface="Poppins" pitchFamily="34" charset="-122"/>
                <a:cs typeface="Poppins" pitchFamily="34" charset="-120"/>
              </a:rPr>
              <a:t>T3 · GEMINI NOTEBOOK</a:t>
            </a:r>
            <a:endParaRPr lang="en-US" sz="1100" dirty="0"/>
          </a:p>
        </p:txBody>
      </p:sp>
      <p:sp>
        <p:nvSpPr>
          <p:cNvPr id="4" name="card-1258"/>
          <p:cNvSpPr/>
          <p:nvPr/>
        </p:nvSpPr>
        <p:spPr>
          <a:xfrm>
            <a:off x="548640" y="1600200"/>
            <a:ext cx="2606040" cy="3200400"/>
          </a:xfrm>
          <a:prstGeom prst="roundRect">
            <a:avLst>
              <a:gd name="adj" fmla="val 2807"/>
            </a:avLst>
          </a:prstGeom>
          <a:solidFill>
            <a:schemeClr val="bg2"/>
          </a:solidFill>
          <a:ln w="6350">
            <a:solidFill>
              <a:schemeClr val="bg2"/>
            </a:solidFill>
            <a:prstDash val="solid"/>
          </a:ln>
        </p:spPr>
      </p:sp>
      <p:sp>
        <p:nvSpPr>
          <p:cNvPr id="5" name="circle-1259"/>
          <p:cNvSpPr/>
          <p:nvPr/>
        </p:nvSpPr>
        <p:spPr>
          <a:xfrm>
            <a:off x="822960" y="1828800"/>
            <a:ext cx="685800" cy="685800"/>
          </a:xfrm>
          <a:prstGeom prst="ellipse">
            <a:avLst/>
          </a:prstGeom>
          <a:solidFill>
            <a:schemeClr val="accent3"/>
          </a:solidFill>
          <a:ln w="12700">
            <a:solidFill>
              <a:schemeClr val="accent3"/>
            </a:solidFill>
            <a:prstDash val="solid"/>
          </a:ln>
        </p:spPr>
      </p:sp>
      <p:pic>
        <p:nvPicPr>
          <p:cNvPr id="6" name="icon-1260" descr="preencoded.png"/>
          <p:cNvPicPr>
            <a:picLocks noChangeAspect="1"/>
          </p:cNvPicPr>
          <p:nvPr/>
        </p:nvPicPr>
        <p:blipFill>
          <a:blip r:embed="rId3"/>
          <a:stretch>
            <a:fillRect/>
          </a:stretch>
        </p:blipFill>
        <p:spPr>
          <a:xfrm>
            <a:off x="994410" y="2000250"/>
            <a:ext cx="342900" cy="342900"/>
          </a:xfrm>
          <a:prstGeom prst="rect">
            <a:avLst/>
          </a:prstGeom>
        </p:spPr>
      </p:pic>
      <p:sp>
        <p:nvSpPr>
          <p:cNvPr id="7" name="txt-1261"/>
          <p:cNvSpPr txBox="1"/>
          <p:nvPr/>
        </p:nvSpPr>
        <p:spPr>
          <a:xfrm>
            <a:off x="822960" y="2697480"/>
            <a:ext cx="2148840" cy="457200"/>
          </a:xfrm>
          <a:prstGeom prst="rect">
            <a:avLst/>
          </a:prstGeom>
          <a:noFill/>
          <a:ln/>
        </p:spPr>
        <p:txBody>
          <a:bodyPr wrap="square" lIns="0" tIns="0" rIns="0" bIns="0" rtlCol="0" anchor="t"/>
          <a:lstStyle/>
          <a:p>
            <a:pPr marL="0" indent="0">
              <a:buNone/>
            </a:pPr>
            <a:r>
              <a:rPr lang="en-US" sz="1500" b="1" dirty="0">
                <a:solidFill>
                  <a:schemeClr val="tx2"/>
                </a:solidFill>
              </a:rPr>
              <a:t>Biais de corpus</a:t>
            </a:r>
            <a:endParaRPr lang="en-US" sz="1500" dirty="0"/>
          </a:p>
        </p:txBody>
      </p:sp>
      <p:sp>
        <p:nvSpPr>
          <p:cNvPr id="8" name="txt-1262"/>
          <p:cNvSpPr txBox="1"/>
          <p:nvPr/>
        </p:nvSpPr>
        <p:spPr>
          <a:xfrm>
            <a:off x="822960" y="3154680"/>
            <a:ext cx="2148840" cy="1554480"/>
          </a:xfrm>
          <a:prstGeom prst="rect">
            <a:avLst/>
          </a:prstGeom>
          <a:noFill/>
          <a:ln/>
        </p:spPr>
        <p:txBody>
          <a:bodyPr wrap="square" lIns="0" tIns="0" rIns="0" bIns="0" rtlCol="0" anchor="t"/>
          <a:lstStyle/>
          <a:p>
            <a:pPr marL="0" indent="0">
              <a:buNone/>
            </a:pPr>
            <a:r>
              <a:rPr lang="en-US" sz="1200" dirty="0">
                <a:solidFill>
                  <a:schemeClr val="tx1"/>
                </a:solidFill>
              </a:rPr>
              <a:t>Le RAG ne voit que ce que vous lui donnez. Corpus partiel = conclusions partielles.</a:t>
            </a:r>
            <a:endParaRPr lang="en-US" sz="1200" dirty="0"/>
          </a:p>
        </p:txBody>
      </p:sp>
      <p:sp>
        <p:nvSpPr>
          <p:cNvPr id="9" name="card-1263"/>
          <p:cNvSpPr/>
          <p:nvPr/>
        </p:nvSpPr>
        <p:spPr>
          <a:xfrm>
            <a:off x="3364992" y="1600200"/>
            <a:ext cx="2606040" cy="3200400"/>
          </a:xfrm>
          <a:prstGeom prst="roundRect">
            <a:avLst>
              <a:gd name="adj" fmla="val 2807"/>
            </a:avLst>
          </a:prstGeom>
          <a:solidFill>
            <a:schemeClr val="bg2"/>
          </a:solidFill>
          <a:ln w="6350">
            <a:solidFill>
              <a:schemeClr val="bg2"/>
            </a:solidFill>
            <a:prstDash val="solid"/>
          </a:ln>
        </p:spPr>
      </p:sp>
      <p:sp>
        <p:nvSpPr>
          <p:cNvPr id="10" name="circle-1264"/>
          <p:cNvSpPr/>
          <p:nvPr/>
        </p:nvSpPr>
        <p:spPr>
          <a:xfrm>
            <a:off x="3639312" y="1828800"/>
            <a:ext cx="685800" cy="685800"/>
          </a:xfrm>
          <a:prstGeom prst="ellipse">
            <a:avLst/>
          </a:prstGeom>
          <a:solidFill>
            <a:schemeClr val="accent3"/>
          </a:solidFill>
          <a:ln w="12700">
            <a:solidFill>
              <a:schemeClr val="accent3"/>
            </a:solidFill>
            <a:prstDash val="solid"/>
          </a:ln>
        </p:spPr>
      </p:sp>
      <p:pic>
        <p:nvPicPr>
          <p:cNvPr id="11" name="icon-1265" descr="preencoded.png"/>
          <p:cNvPicPr>
            <a:picLocks noChangeAspect="1"/>
          </p:cNvPicPr>
          <p:nvPr/>
        </p:nvPicPr>
        <p:blipFill>
          <a:blip r:embed="rId4"/>
          <a:stretch>
            <a:fillRect/>
          </a:stretch>
        </p:blipFill>
        <p:spPr>
          <a:xfrm>
            <a:off x="3810762" y="2000250"/>
            <a:ext cx="342900" cy="342900"/>
          </a:xfrm>
          <a:prstGeom prst="rect">
            <a:avLst/>
          </a:prstGeom>
        </p:spPr>
      </p:pic>
      <p:sp>
        <p:nvSpPr>
          <p:cNvPr id="12" name="txt-1266"/>
          <p:cNvSpPr txBox="1"/>
          <p:nvPr/>
        </p:nvSpPr>
        <p:spPr>
          <a:xfrm>
            <a:off x="3639312" y="2697480"/>
            <a:ext cx="2148840" cy="457200"/>
          </a:xfrm>
          <a:prstGeom prst="rect">
            <a:avLst/>
          </a:prstGeom>
          <a:noFill/>
          <a:ln/>
        </p:spPr>
        <p:txBody>
          <a:bodyPr wrap="square" lIns="0" tIns="0" rIns="0" bIns="0" rtlCol="0" anchor="t"/>
          <a:lstStyle/>
          <a:p>
            <a:pPr marL="0" indent="0">
              <a:buNone/>
            </a:pPr>
            <a:r>
              <a:rPr lang="en-US" sz="1500" b="1" dirty="0">
                <a:solidFill>
                  <a:schemeClr val="tx2"/>
                </a:solidFill>
              </a:rPr>
              <a:t>Découpage imparfait</a:t>
            </a:r>
            <a:endParaRPr lang="en-US" sz="1500" dirty="0"/>
          </a:p>
        </p:txBody>
      </p:sp>
      <p:sp>
        <p:nvSpPr>
          <p:cNvPr id="13" name="txt-1267"/>
          <p:cNvSpPr txBox="1"/>
          <p:nvPr/>
        </p:nvSpPr>
        <p:spPr>
          <a:xfrm>
            <a:off x="3639312" y="3154680"/>
            <a:ext cx="2148840" cy="1554480"/>
          </a:xfrm>
          <a:prstGeom prst="rect">
            <a:avLst/>
          </a:prstGeom>
          <a:noFill/>
          <a:ln/>
        </p:spPr>
        <p:txBody>
          <a:bodyPr wrap="square" lIns="0" tIns="0" rIns="0" bIns="0" rtlCol="0" anchor="t"/>
          <a:lstStyle/>
          <a:p>
            <a:pPr marL="0" indent="0">
              <a:buNone/>
            </a:pPr>
            <a:r>
              <a:rPr lang="en-US" sz="1200" dirty="0">
                <a:solidFill>
                  <a:schemeClr val="tx1"/>
                </a:solidFill>
              </a:rPr>
              <a:t>Tableaux, scans, mises en page complexes : des passages peuvent être mal lus.</a:t>
            </a:r>
            <a:endParaRPr lang="en-US" sz="1200" dirty="0"/>
          </a:p>
        </p:txBody>
      </p:sp>
      <p:sp>
        <p:nvSpPr>
          <p:cNvPr id="14" name="card-1268"/>
          <p:cNvSpPr/>
          <p:nvPr/>
        </p:nvSpPr>
        <p:spPr>
          <a:xfrm>
            <a:off x="6181344" y="1600200"/>
            <a:ext cx="2606040" cy="3200400"/>
          </a:xfrm>
          <a:prstGeom prst="roundRect">
            <a:avLst>
              <a:gd name="adj" fmla="val 2807"/>
            </a:avLst>
          </a:prstGeom>
          <a:solidFill>
            <a:schemeClr val="bg2"/>
          </a:solidFill>
          <a:ln w="6350">
            <a:solidFill>
              <a:schemeClr val="bg2"/>
            </a:solidFill>
            <a:prstDash val="solid"/>
          </a:ln>
        </p:spPr>
      </p:sp>
      <p:sp>
        <p:nvSpPr>
          <p:cNvPr id="15" name="circle-1269"/>
          <p:cNvSpPr/>
          <p:nvPr/>
        </p:nvSpPr>
        <p:spPr>
          <a:xfrm>
            <a:off x="6455664" y="1828800"/>
            <a:ext cx="685800" cy="685800"/>
          </a:xfrm>
          <a:prstGeom prst="ellipse">
            <a:avLst/>
          </a:prstGeom>
          <a:solidFill>
            <a:schemeClr val="accent3"/>
          </a:solidFill>
          <a:ln w="12700">
            <a:solidFill>
              <a:schemeClr val="accent3"/>
            </a:solidFill>
            <a:prstDash val="solid"/>
          </a:ln>
        </p:spPr>
      </p:sp>
      <p:pic>
        <p:nvPicPr>
          <p:cNvPr id="16" name="icon-1270" descr="preencoded.png"/>
          <p:cNvPicPr>
            <a:picLocks noChangeAspect="1"/>
          </p:cNvPicPr>
          <p:nvPr/>
        </p:nvPicPr>
        <p:blipFill>
          <a:blip r:embed="rId5"/>
          <a:stretch>
            <a:fillRect/>
          </a:stretch>
        </p:blipFill>
        <p:spPr>
          <a:xfrm>
            <a:off x="6627114" y="2000250"/>
            <a:ext cx="342900" cy="342900"/>
          </a:xfrm>
          <a:prstGeom prst="rect">
            <a:avLst/>
          </a:prstGeom>
        </p:spPr>
      </p:pic>
      <p:sp>
        <p:nvSpPr>
          <p:cNvPr id="17" name="txt-1271"/>
          <p:cNvSpPr txBox="1"/>
          <p:nvPr/>
        </p:nvSpPr>
        <p:spPr>
          <a:xfrm>
            <a:off x="6455664" y="2697480"/>
            <a:ext cx="2148840" cy="457200"/>
          </a:xfrm>
          <a:prstGeom prst="rect">
            <a:avLst/>
          </a:prstGeom>
          <a:noFill/>
          <a:ln/>
        </p:spPr>
        <p:txBody>
          <a:bodyPr wrap="square" lIns="0" tIns="0" rIns="0" bIns="0" rtlCol="0" anchor="t"/>
          <a:lstStyle/>
          <a:p>
            <a:pPr marL="0" indent="0">
              <a:buNone/>
            </a:pPr>
            <a:r>
              <a:rPr lang="en-US" sz="1500" b="1" dirty="0">
                <a:solidFill>
                  <a:schemeClr val="tx2"/>
                </a:solidFill>
              </a:rPr>
              <a:t>Langues locales</a:t>
            </a:r>
            <a:endParaRPr lang="en-US" sz="1500" dirty="0"/>
          </a:p>
        </p:txBody>
      </p:sp>
      <p:sp>
        <p:nvSpPr>
          <p:cNvPr id="18" name="txt-1272"/>
          <p:cNvSpPr txBox="1"/>
          <p:nvPr/>
        </p:nvSpPr>
        <p:spPr>
          <a:xfrm>
            <a:off x="6455664" y="3154680"/>
            <a:ext cx="2148840" cy="1554480"/>
          </a:xfrm>
          <a:prstGeom prst="rect">
            <a:avLst/>
          </a:prstGeom>
          <a:noFill/>
          <a:ln/>
        </p:spPr>
        <p:txBody>
          <a:bodyPr wrap="square" lIns="0" tIns="0" rIns="0" bIns="0" rtlCol="0" anchor="t"/>
          <a:lstStyle/>
          <a:p>
            <a:pPr marL="0" indent="0">
              <a:buNone/>
            </a:pPr>
            <a:r>
              <a:rPr lang="en-US" sz="1200" dirty="0">
                <a:solidFill>
                  <a:schemeClr val="tx1"/>
                </a:solidFill>
              </a:rPr>
              <a:t>Passages en éwé, kabiyè… mal compris ou ignorés.</a:t>
            </a:r>
            <a:endParaRPr lang="en-US" sz="1200" dirty="0"/>
          </a:p>
        </p:txBody>
      </p:sp>
      <p:sp>
        <p:nvSpPr>
          <p:cNvPr id="19" name="card-1273"/>
          <p:cNvSpPr/>
          <p:nvPr/>
        </p:nvSpPr>
        <p:spPr>
          <a:xfrm>
            <a:off x="8997696" y="1600200"/>
            <a:ext cx="2606040" cy="3200400"/>
          </a:xfrm>
          <a:prstGeom prst="roundRect">
            <a:avLst>
              <a:gd name="adj" fmla="val 2807"/>
            </a:avLst>
          </a:prstGeom>
          <a:solidFill>
            <a:schemeClr val="bg2"/>
          </a:solidFill>
          <a:ln w="6350">
            <a:solidFill>
              <a:schemeClr val="bg2"/>
            </a:solidFill>
            <a:prstDash val="solid"/>
          </a:ln>
        </p:spPr>
      </p:sp>
      <p:sp>
        <p:nvSpPr>
          <p:cNvPr id="20" name="circle-1274"/>
          <p:cNvSpPr/>
          <p:nvPr/>
        </p:nvSpPr>
        <p:spPr>
          <a:xfrm>
            <a:off x="9272016" y="1828800"/>
            <a:ext cx="685800" cy="685800"/>
          </a:xfrm>
          <a:prstGeom prst="ellipse">
            <a:avLst/>
          </a:prstGeom>
          <a:solidFill>
            <a:schemeClr val="accent3"/>
          </a:solidFill>
          <a:ln w="12700">
            <a:solidFill>
              <a:schemeClr val="accent3"/>
            </a:solidFill>
            <a:prstDash val="solid"/>
          </a:ln>
        </p:spPr>
      </p:sp>
      <p:pic>
        <p:nvPicPr>
          <p:cNvPr id="21" name="icon-1275" descr="preencoded.png"/>
          <p:cNvPicPr>
            <a:picLocks noChangeAspect="1"/>
          </p:cNvPicPr>
          <p:nvPr/>
        </p:nvPicPr>
        <p:blipFill>
          <a:blip r:embed="rId6"/>
          <a:stretch>
            <a:fillRect/>
          </a:stretch>
        </p:blipFill>
        <p:spPr>
          <a:xfrm>
            <a:off x="9443466" y="2000250"/>
            <a:ext cx="342900" cy="342900"/>
          </a:xfrm>
          <a:prstGeom prst="rect">
            <a:avLst/>
          </a:prstGeom>
        </p:spPr>
      </p:pic>
      <p:sp>
        <p:nvSpPr>
          <p:cNvPr id="22" name="txt-1276"/>
          <p:cNvSpPr txBox="1"/>
          <p:nvPr/>
        </p:nvSpPr>
        <p:spPr>
          <a:xfrm>
            <a:off x="9272016" y="2697480"/>
            <a:ext cx="2148840" cy="457200"/>
          </a:xfrm>
          <a:prstGeom prst="rect">
            <a:avLst/>
          </a:prstGeom>
          <a:noFill/>
          <a:ln/>
        </p:spPr>
        <p:txBody>
          <a:bodyPr wrap="square" lIns="0" tIns="0" rIns="0" bIns="0" rtlCol="0" anchor="t"/>
          <a:lstStyle/>
          <a:p>
            <a:pPr marL="0" indent="0">
              <a:buNone/>
            </a:pPr>
            <a:r>
              <a:rPr lang="en-US" sz="1500" b="1" dirty="0">
                <a:solidFill>
                  <a:schemeClr val="tx2"/>
                </a:solidFill>
              </a:rPr>
              <a:t>Interprétation</a:t>
            </a:r>
            <a:endParaRPr lang="en-US" sz="1500" dirty="0"/>
          </a:p>
        </p:txBody>
      </p:sp>
      <p:sp>
        <p:nvSpPr>
          <p:cNvPr id="23" name="txt-1277"/>
          <p:cNvSpPr txBox="1"/>
          <p:nvPr/>
        </p:nvSpPr>
        <p:spPr>
          <a:xfrm>
            <a:off x="9272016" y="3154680"/>
            <a:ext cx="2148840" cy="1554480"/>
          </a:xfrm>
          <a:prstGeom prst="rect">
            <a:avLst/>
          </a:prstGeom>
          <a:noFill/>
          <a:ln/>
        </p:spPr>
        <p:txBody>
          <a:bodyPr wrap="square" lIns="0" tIns="0" rIns="0" bIns="0" rtlCol="0" anchor="t"/>
          <a:lstStyle/>
          <a:p>
            <a:pPr marL="0" indent="0">
              <a:buNone/>
            </a:pPr>
            <a:r>
              <a:rPr lang="en-US" sz="1200" dirty="0">
                <a:solidFill>
                  <a:schemeClr val="tx1"/>
                </a:solidFill>
              </a:rPr>
              <a:t>La citation peut être exacte et l'interprétation fausse. Lisez le contexte.</a:t>
            </a:r>
            <a:endParaRPr lang="en-US" sz="1200" dirty="0"/>
          </a:p>
        </p:txBody>
      </p:sp>
      <p:sp>
        <p:nvSpPr>
          <p:cNvPr id="24" name="card-1278"/>
          <p:cNvSpPr/>
          <p:nvPr/>
        </p:nvSpPr>
        <p:spPr>
          <a:xfrm>
            <a:off x="548640" y="5074920"/>
            <a:ext cx="11064240" cy="868680"/>
          </a:xfrm>
          <a:prstGeom prst="roundRect">
            <a:avLst>
              <a:gd name="adj" fmla="val 8421"/>
            </a:avLst>
          </a:prstGeom>
          <a:solidFill>
            <a:schemeClr val="tx2"/>
          </a:solidFill>
          <a:ln w="6350">
            <a:solidFill>
              <a:schemeClr val="tx2"/>
            </a:solidFill>
            <a:prstDash val="solid"/>
          </a:ln>
        </p:spPr>
      </p:sp>
      <p:sp>
        <p:nvSpPr>
          <p:cNvPr id="25" name="txt-1279"/>
          <p:cNvSpPr txBox="1"/>
          <p:nvPr/>
        </p:nvSpPr>
        <p:spPr>
          <a:xfrm>
            <a:off x="822960" y="5074920"/>
            <a:ext cx="10515600" cy="868680"/>
          </a:xfrm>
          <a:prstGeom prst="rect">
            <a:avLst/>
          </a:prstGeom>
          <a:noFill/>
          <a:ln/>
        </p:spPr>
        <p:txBody>
          <a:bodyPr wrap="square" lIns="0" tIns="0" rIns="0" bIns="0" rtlCol="0" anchor="ctr"/>
          <a:lstStyle/>
          <a:p>
            <a:pPr marL="0" indent="0">
              <a:buNone/>
            </a:pPr>
            <a:r>
              <a:rPr lang="en-US" sz="1500" b="1" dirty="0">
                <a:solidFill>
                  <a:schemeClr val="bg1"/>
                </a:solidFill>
              </a:rPr>
              <a:t>Un RAG accélère la lecture d'un corpus. Il ne remplace ni la lecture, ni l'interprétation de la chercheure.</a:t>
            </a:r>
            <a:endParaRPr lang="en-US" sz="1500" dirty="0"/>
          </a:p>
        </p:txBody>
      </p:sp>
      <p:sp>
        <p:nvSpPr>
          <p:cNvPr id="26" name="Slide Number Placeholder 0"/>
          <p:cNvSpPr>
            <a:spLocks noGrp="1"/>
          </p:cNvSpPr>
          <p:nvPr>
            <p:ph type="sldNum" sz="quarter" idx="4294967295"/>
          </p:nvPr>
        </p:nvSpPr>
        <p:spPr>
          <a:xfrm>
            <a:off x="11064240" y="6400800"/>
            <a:ext cx="54864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C82"/>
                </a:solidFill>
                <a:latin typeface="Poppins"/>
                <a:ea typeface="Poppins"/>
                <a:cs typeface="Poppins"/>
              </a:defRPr>
            </a:lvl1pPr>
          </a:lstStyle>
          <a:p>
            <a:pPr algn="r"/>
            <a:fld id="{F7021451-1387-4CA6-816F-3879F97B5CBC}" type="slidenum">
              <a:rPr lang="en-US" b="0"/>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566928"/>
            <a:ext cx="11064240" cy="777240"/>
          </a:xfrm>
          <a:prstGeom prst="rect">
            <a:avLst/>
          </a:prstGeom>
          <a:noFill/>
          <a:ln/>
        </p:spPr>
        <p:txBody>
          <a:bodyPr wrap="square" lIns="0" tIns="0" rIns="0" bIns="0" rtlCol="0" anchor="ctr"/>
          <a:lstStyle/>
          <a:p>
            <a:pPr marL="0" indent="0" algn="l">
              <a:buNone/>
            </a:pPr>
            <a:r>
              <a:rPr lang="en-US" sz="2700" b="1" dirty="0">
                <a:solidFill>
                  <a:schemeClr val="tx2"/>
                </a:solidFill>
                <a:latin typeface="Poppins" pitchFamily="34" charset="0"/>
                <a:ea typeface="Poppins" pitchFamily="34" charset="-122"/>
                <a:cs typeface="Poppins" pitchFamily="34" charset="-120"/>
              </a:rPr>
              <a:t>Pas de PDF ? Le pack commun : 12 articles</a:t>
            </a:r>
            <a:endParaRPr lang="en-US" sz="2700" dirty="0"/>
          </a:p>
        </p:txBody>
      </p:sp>
      <p:sp>
        <p:nvSpPr>
          <p:cNvPr id="3" name="Text 0"/>
          <p:cNvSpPr>
            <a:spLocks noGrp="1"/>
          </p:cNvSpPr>
          <p:nvPr>
            <p:ph type="body" idx="101" hasCustomPrompt="1"/>
          </p:nvPr>
        </p:nvSpPr>
        <p:spPr>
          <a:xfrm>
            <a:off x="548640" y="256032"/>
            <a:ext cx="8229600" cy="292608"/>
          </a:xfrm>
          <a:prstGeom prst="rect">
            <a:avLst/>
          </a:prstGeom>
          <a:noFill/>
          <a:ln/>
        </p:spPr>
        <p:txBody>
          <a:bodyPr wrap="square" lIns="0" tIns="0" rIns="0" bIns="0" rtlCol="0" anchor="ctr"/>
          <a:lstStyle/>
          <a:p>
            <a:pPr marL="0" indent="0">
              <a:buNone/>
            </a:pPr>
            <a:r>
              <a:rPr lang="en-US" sz="1100" b="1" dirty="0">
                <a:solidFill>
                  <a:schemeClr val="accent1"/>
                </a:solidFill>
                <a:latin typeface="Poppins" pitchFamily="34" charset="0"/>
                <a:ea typeface="Poppins" pitchFamily="34" charset="-122"/>
                <a:cs typeface="Poppins" pitchFamily="34" charset="-120"/>
              </a:rPr>
              <a:t>T3 · CAS D'USAGE RÉEL</a:t>
            </a:r>
            <a:endParaRPr lang="en-US" sz="1100" dirty="0"/>
          </a:p>
        </p:txBody>
      </p:sp>
      <p:graphicFrame>
        <p:nvGraphicFramePr>
          <p:cNvPr id="56" name="table-1280"/>
          <p:cNvGraphicFramePr>
            <a:graphicFrameLocks noGrp="1"/>
          </p:cNvGraphicFramePr>
          <p:nvPr>
            <p:extLst>
              <p:ext uri="{D42A27DB-BD31-4B8C-83A1-F6EECF244321}">
                <p14:modId xmlns:p14="http://schemas.microsoft.com/office/powerpoint/2010/main" val="1579011935"/>
              </p:ext>
            </p:extLst>
          </p:nvPr>
        </p:nvGraphicFramePr>
        <p:xfrm>
          <a:off x="548640" y="1298448"/>
          <a:ext cx="11064240" cy="914400"/>
        </p:xfrm>
        <a:graphic>
          <a:graphicData uri="http://schemas.openxmlformats.org/drawingml/2006/table">
            <a:tbl>
              <a:tblPr/>
              <a:tblGrid>
                <a:gridCol w="457200">
                  <a:extLst>
                    <a:ext uri="{9D8B030D-6E8A-4147-A177-3AD203B41FA5}">
                      <a16:colId xmlns:a16="http://schemas.microsoft.com/office/drawing/2014/main" val="20000"/>
                    </a:ext>
                  </a:extLst>
                </a:gridCol>
                <a:gridCol w="667512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tblGrid>
              <a:tr h="274320">
                <a:tc>
                  <a:txBody>
                    <a:bodyPr/>
                    <a:lstStyle/>
                    <a:p>
                      <a:pPr marL="0" indent="0">
                        <a:buNone/>
                      </a:pPr>
                      <a:r>
                        <a:rPr lang="en-US" sz="1000" b="1" dirty="0">
                          <a:solidFill>
                            <a:schemeClr val="bg1"/>
                          </a:solidFill>
                        </a:rPr>
                        <a:t>N°</a:t>
                      </a:r>
                      <a:endParaRPr lang="en-US" sz="1000" dirty="0"/>
                    </a:p>
                  </a:txBody>
                  <a:tcPr marL="73152" marR="73152"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tx2"/>
                    </a:solidFill>
                  </a:tcPr>
                </a:tc>
                <a:tc>
                  <a:txBody>
                    <a:bodyPr/>
                    <a:lstStyle/>
                    <a:p>
                      <a:pPr marL="0" indent="0">
                        <a:buNone/>
                      </a:pPr>
                      <a:r>
                        <a:rPr lang="en-US" sz="1000" b="1" dirty="0">
                          <a:solidFill>
                            <a:schemeClr val="bg1"/>
                          </a:solidFill>
                        </a:rPr>
                        <a:t>Article</a:t>
                      </a:r>
                      <a:endParaRPr lang="en-US" sz="1000" dirty="0"/>
                    </a:p>
                  </a:txBody>
                  <a:tcPr marL="73152" marR="73152"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tx2"/>
                    </a:solidFill>
                  </a:tcPr>
                </a:tc>
                <a:tc>
                  <a:txBody>
                    <a:bodyPr/>
                    <a:lstStyle/>
                    <a:p>
                      <a:pPr marL="0" indent="0">
                        <a:buNone/>
                      </a:pPr>
                      <a:r>
                        <a:rPr lang="en-US" sz="1000" b="1" dirty="0">
                          <a:solidFill>
                            <a:schemeClr val="bg1"/>
                          </a:solidFill>
                        </a:rPr>
                        <a:t>Revue</a:t>
                      </a:r>
                      <a:endParaRPr lang="en-US" sz="1000" dirty="0"/>
                    </a:p>
                  </a:txBody>
                  <a:tcPr marL="73152" marR="73152"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tx2"/>
                    </a:solidFill>
                  </a:tcPr>
                </a:tc>
                <a:tc>
                  <a:txBody>
                    <a:bodyPr/>
                    <a:lstStyle/>
                    <a:p>
                      <a:pPr marL="0" indent="0">
                        <a:buNone/>
                      </a:pPr>
                      <a:r>
                        <a:rPr lang="en-US" sz="1000" b="1" dirty="0">
                          <a:solidFill>
                            <a:schemeClr val="bg1"/>
                          </a:solidFill>
                        </a:rPr>
                        <a:t>Type d'étude</a:t>
                      </a:r>
                      <a:endParaRPr lang="en-US" sz="1000" dirty="0"/>
                    </a:p>
                  </a:txBody>
                  <a:tcPr marL="73152" marR="73152"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352044">
                <a:tc>
                  <a:txBody>
                    <a:bodyPr/>
                    <a:lstStyle/>
                    <a:p>
                      <a:pPr marL="0" indent="0" algn="ctr">
                        <a:buNone/>
                      </a:pPr>
                      <a:r>
                        <a:rPr lang="en-US" sz="900" b="1" dirty="0">
                          <a:solidFill>
                            <a:schemeClr val="accent6"/>
                          </a:solidFill>
                        </a:rPr>
                        <a:t>1</a:t>
                      </a:r>
                      <a:endParaRPr lang="en-US" sz="900" dirty="0"/>
                    </a:p>
                  </a:txBody>
                  <a:tcPr marL="73152" marR="73152"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900" b="1" dirty="0">
                          <a:solidFill>
                            <a:schemeClr val="tx2"/>
                          </a:solidFill>
                        </a:rPr>
                        <a:t>Sougou et al. (2022) · </a:t>
                      </a:r>
                      <a:r>
                        <a:rPr lang="en-US" sz="900" dirty="0">
                          <a:solidFill>
                            <a:srgbClr val="000000"/>
                          </a:solidFill>
                        </a:rPr>
                        <a:t>Barriers of West African women scientists in their research and academic careers: A qualitative research</a:t>
                      </a:r>
                      <a:endParaRPr lang="en-US" sz="900" dirty="0"/>
                    </a:p>
                  </a:txBody>
                  <a:tcPr marL="73152" marR="73152"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900" dirty="0">
                          <a:solidFill>
                            <a:srgbClr val="000000"/>
                          </a:solidFill>
                        </a:rPr>
                        <a:t>PLoS ONE</a:t>
                      </a:r>
                      <a:endParaRPr lang="en-US" sz="900" dirty="0"/>
                    </a:p>
                  </a:txBody>
                  <a:tcPr marL="73152" marR="73152"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900" dirty="0">
                          <a:solidFill>
                            <a:srgbClr val="000000"/>
                          </a:solidFill>
                        </a:rPr>
                        <a:t>Qualitative · 30 entretiens · 5 pays</a:t>
                      </a:r>
                      <a:endParaRPr lang="en-US" sz="900" dirty="0"/>
                    </a:p>
                  </a:txBody>
                  <a:tcPr marL="73152" marR="73152"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352044">
                <a:tc>
                  <a:txBody>
                    <a:bodyPr/>
                    <a:lstStyle/>
                    <a:p>
                      <a:pPr marL="0" indent="0" algn="ctr">
                        <a:buNone/>
                      </a:pPr>
                      <a:r>
                        <a:rPr lang="en-US" sz="900" b="1" dirty="0">
                          <a:solidFill>
                            <a:schemeClr val="accent6"/>
                          </a:solidFill>
                        </a:rPr>
                        <a:t>2</a:t>
                      </a:r>
                      <a:endParaRPr lang="en-US" sz="900" dirty="0"/>
                    </a:p>
                  </a:txBody>
                  <a:tcPr marL="73152" marR="73152"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900" b="1" dirty="0">
                          <a:solidFill>
                            <a:schemeClr val="tx2"/>
                          </a:solidFill>
                        </a:rPr>
                        <a:t>Fisher et al. (2020) · </a:t>
                      </a:r>
                      <a:r>
                        <a:rPr lang="en-US" sz="900" dirty="0">
                          <a:solidFill>
                            <a:srgbClr val="000000"/>
                          </a:solidFill>
                        </a:rPr>
                        <a:t>Making it to the PhD: Gender and student performance in sub-Saharan Africa</a:t>
                      </a:r>
                      <a:endParaRPr lang="en-US" sz="900" dirty="0"/>
                    </a:p>
                  </a:txBody>
                  <a:tcPr marL="73152" marR="73152"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900" dirty="0">
                          <a:solidFill>
                            <a:srgbClr val="000000"/>
                          </a:solidFill>
                        </a:rPr>
                        <a:t>PLoS ONE</a:t>
                      </a:r>
                      <a:endParaRPr lang="en-US" sz="900" dirty="0"/>
                    </a:p>
                  </a:txBody>
                  <a:tcPr marL="73152" marR="73152"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900" dirty="0">
                          <a:solidFill>
                            <a:srgbClr val="000000"/>
                          </a:solidFill>
                        </a:rPr>
                        <a:t>Enquête · 227 docteurs · 17 pays</a:t>
                      </a:r>
                      <a:endParaRPr lang="en-US" sz="900" dirty="0"/>
                    </a:p>
                  </a:txBody>
                  <a:tcPr marL="73152" marR="73152"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352044">
                <a:tc>
                  <a:txBody>
                    <a:bodyPr/>
                    <a:lstStyle/>
                    <a:p>
                      <a:pPr marL="0" indent="0" algn="ctr">
                        <a:buNone/>
                      </a:pPr>
                      <a:r>
                        <a:rPr lang="en-US" sz="900" b="1" dirty="0">
                          <a:solidFill>
                            <a:schemeClr val="accent6"/>
                          </a:solidFill>
                        </a:rPr>
                        <a:t>3</a:t>
                      </a:r>
                      <a:endParaRPr lang="en-US" sz="900" dirty="0"/>
                    </a:p>
                  </a:txBody>
                  <a:tcPr marL="73152" marR="73152"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900" b="1" dirty="0">
                          <a:solidFill>
                            <a:schemeClr val="tx2"/>
                          </a:solidFill>
                        </a:rPr>
                        <a:t>Bam, Walters &amp; Jansen (2024) · </a:t>
                      </a:r>
                      <a:r>
                        <a:rPr lang="en-US" sz="900" dirty="0">
                          <a:solidFill>
                            <a:srgbClr val="000000"/>
                          </a:solidFill>
                        </a:rPr>
                        <a:t>Care and academic work in a pandemic lockdown: a study of women academics in South Africa</a:t>
                      </a:r>
                      <a:endParaRPr lang="en-US" sz="900" dirty="0"/>
                    </a:p>
                  </a:txBody>
                  <a:tcPr marL="73152" marR="73152"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900" dirty="0">
                          <a:solidFill>
                            <a:srgbClr val="000000"/>
                          </a:solidFill>
                        </a:rPr>
                        <a:t>Higher Education</a:t>
                      </a:r>
                      <a:endParaRPr lang="en-US" sz="900" dirty="0"/>
                    </a:p>
                  </a:txBody>
                  <a:tcPr marL="73152" marR="73152"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900" dirty="0">
                          <a:solidFill>
                            <a:srgbClr val="000000"/>
                          </a:solidFill>
                        </a:rPr>
                        <a:t>Enquête · 2 029 universitaires</a:t>
                      </a:r>
                      <a:endParaRPr lang="en-US" sz="900" dirty="0"/>
                    </a:p>
                  </a:txBody>
                  <a:tcPr marL="73152" marR="73152"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352044">
                <a:tc>
                  <a:txBody>
                    <a:bodyPr/>
                    <a:lstStyle/>
                    <a:p>
                      <a:pPr marL="0" indent="0" algn="ctr">
                        <a:buNone/>
                      </a:pPr>
                      <a:r>
                        <a:rPr lang="en-US" sz="900" b="1" dirty="0">
                          <a:solidFill>
                            <a:schemeClr val="accent6"/>
                          </a:solidFill>
                        </a:rPr>
                        <a:t>4</a:t>
                      </a:r>
                      <a:endParaRPr lang="en-US" sz="900" dirty="0"/>
                    </a:p>
                  </a:txBody>
                  <a:tcPr marL="73152" marR="73152"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900" b="1" dirty="0">
                          <a:solidFill>
                            <a:schemeClr val="tx2"/>
                          </a:solidFill>
                        </a:rPr>
                        <a:t>Kay &amp; Karmowska (2025) · </a:t>
                      </a:r>
                      <a:r>
                        <a:rPr lang="en-US" sz="900" dirty="0">
                          <a:solidFill>
                            <a:srgbClr val="000000"/>
                          </a:solidFill>
                        </a:rPr>
                        <a:t>Personal factors in the career development of early career researchers in Kenya and implications for models of mentoring practice</a:t>
                      </a:r>
                      <a:endParaRPr lang="en-US" sz="900" dirty="0"/>
                    </a:p>
                  </a:txBody>
                  <a:tcPr marL="73152" marR="73152"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900" dirty="0">
                          <a:solidFill>
                            <a:srgbClr val="000000"/>
                          </a:solidFill>
                        </a:rPr>
                        <a:t>Higher Education</a:t>
                      </a:r>
                      <a:endParaRPr lang="en-US" sz="900" dirty="0"/>
                    </a:p>
                  </a:txBody>
                  <a:tcPr marL="73152" marR="73152"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900" dirty="0">
                          <a:solidFill>
                            <a:srgbClr val="000000"/>
                          </a:solidFill>
                        </a:rPr>
                        <a:t>Qualitative · 18 docteurs</a:t>
                      </a:r>
                      <a:endParaRPr lang="en-US" sz="900" dirty="0"/>
                    </a:p>
                  </a:txBody>
                  <a:tcPr marL="73152" marR="73152"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352044">
                <a:tc>
                  <a:txBody>
                    <a:bodyPr/>
                    <a:lstStyle/>
                    <a:p>
                      <a:pPr marL="0" indent="0" algn="ctr">
                        <a:buNone/>
                      </a:pPr>
                      <a:r>
                        <a:rPr lang="en-US" sz="900" b="1" dirty="0">
                          <a:solidFill>
                            <a:schemeClr val="accent6"/>
                          </a:solidFill>
                        </a:rPr>
                        <a:t>5</a:t>
                      </a:r>
                      <a:endParaRPr lang="en-US" sz="900" dirty="0"/>
                    </a:p>
                  </a:txBody>
                  <a:tcPr marL="73152" marR="73152"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900" b="1" dirty="0">
                          <a:solidFill>
                            <a:schemeClr val="tx2"/>
                          </a:solidFill>
                        </a:rPr>
                        <a:t>Mtwisha et al. (2021) · </a:t>
                      </a:r>
                      <a:r>
                        <a:rPr lang="en-US" sz="900" dirty="0">
                          <a:solidFill>
                            <a:srgbClr val="000000"/>
                          </a:solidFill>
                        </a:rPr>
                        <a:t>Early- and mid-career transitions to research leadership in Africa</a:t>
                      </a:r>
                      <a:endParaRPr lang="en-US" sz="900" dirty="0"/>
                    </a:p>
                  </a:txBody>
                  <a:tcPr marL="73152" marR="73152"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900" dirty="0">
                          <a:solidFill>
                            <a:srgbClr val="000000"/>
                          </a:solidFill>
                        </a:rPr>
                        <a:t>Wellcome Open Research</a:t>
                      </a:r>
                      <a:endParaRPr lang="en-US" sz="900" dirty="0"/>
                    </a:p>
                  </a:txBody>
                  <a:tcPr marL="73152" marR="73152"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900" dirty="0">
                          <a:solidFill>
                            <a:srgbClr val="000000"/>
                          </a:solidFill>
                        </a:rPr>
                        <a:t>Mixte · entretiens, focus groups, 250 questionnaires</a:t>
                      </a:r>
                      <a:endParaRPr lang="en-US" sz="900" dirty="0"/>
                    </a:p>
                  </a:txBody>
                  <a:tcPr marL="73152" marR="73152"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r h="352044">
                <a:tc>
                  <a:txBody>
                    <a:bodyPr/>
                    <a:lstStyle/>
                    <a:p>
                      <a:pPr marL="0" indent="0" algn="ctr">
                        <a:buNone/>
                      </a:pPr>
                      <a:r>
                        <a:rPr lang="en-US" sz="900" b="1" dirty="0">
                          <a:solidFill>
                            <a:schemeClr val="accent6"/>
                          </a:solidFill>
                        </a:rPr>
                        <a:t>6</a:t>
                      </a:r>
                      <a:endParaRPr lang="en-US" sz="900" dirty="0"/>
                    </a:p>
                  </a:txBody>
                  <a:tcPr marL="73152" marR="73152"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900" b="1" dirty="0">
                          <a:solidFill>
                            <a:schemeClr val="tx2"/>
                          </a:solidFill>
                        </a:rPr>
                        <a:t>Jackson et al. (2022) · </a:t>
                      </a:r>
                      <a:r>
                        <a:rPr lang="en-US" sz="900" dirty="0">
                          <a:solidFill>
                            <a:srgbClr val="000000"/>
                          </a:solidFill>
                        </a:rPr>
                        <a:t>Pathways to research leadership for early career researchers in Africa: A potential role for African and global funders</a:t>
                      </a:r>
                      <a:endParaRPr lang="en-US" sz="900" dirty="0"/>
                    </a:p>
                  </a:txBody>
                  <a:tcPr marL="73152" marR="73152"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900" dirty="0">
                          <a:solidFill>
                            <a:srgbClr val="000000"/>
                          </a:solidFill>
                        </a:rPr>
                        <a:t>South African Journal of Higher Education</a:t>
                      </a:r>
                      <a:endParaRPr lang="en-US" sz="900" dirty="0"/>
                    </a:p>
                  </a:txBody>
                  <a:tcPr marL="73152" marR="73152"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900" dirty="0">
                          <a:solidFill>
                            <a:srgbClr val="000000"/>
                          </a:solidFill>
                        </a:rPr>
                        <a:t>Analyse et recommandations</a:t>
                      </a:r>
                      <a:endParaRPr lang="en-US" sz="900" dirty="0"/>
                    </a:p>
                  </a:txBody>
                  <a:tcPr marL="73152" marR="73152"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6"/>
                  </a:ext>
                </a:extLst>
              </a:tr>
              <a:tr h="352044">
                <a:tc>
                  <a:txBody>
                    <a:bodyPr/>
                    <a:lstStyle/>
                    <a:p>
                      <a:pPr marL="0" indent="0" algn="ctr">
                        <a:buNone/>
                      </a:pPr>
                      <a:r>
                        <a:rPr lang="en-US" sz="900" b="1" dirty="0">
                          <a:solidFill>
                            <a:schemeClr val="accent6"/>
                          </a:solidFill>
                        </a:rPr>
                        <a:t>7</a:t>
                      </a:r>
                      <a:endParaRPr lang="en-US" sz="900" dirty="0"/>
                    </a:p>
                  </a:txBody>
                  <a:tcPr marL="73152" marR="73152"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900" b="1" dirty="0">
                          <a:solidFill>
                            <a:schemeClr val="tx2"/>
                          </a:solidFill>
                        </a:rPr>
                        <a:t>Founou et al. (2023) · </a:t>
                      </a:r>
                      <a:r>
                        <a:rPr lang="en-US" sz="900" dirty="0">
                          <a:solidFill>
                            <a:srgbClr val="000000"/>
                          </a:solidFill>
                        </a:rPr>
                        <a:t>African women in science and development, bridging the gender gap</a:t>
                      </a:r>
                      <a:endParaRPr lang="en-US" sz="900" dirty="0"/>
                    </a:p>
                  </a:txBody>
                  <a:tcPr marL="73152" marR="73152"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900" dirty="0">
                          <a:solidFill>
                            <a:srgbClr val="000000"/>
                          </a:solidFill>
                        </a:rPr>
                        <a:t>World Development Perspectives</a:t>
                      </a:r>
                      <a:endParaRPr lang="en-US" sz="900" dirty="0"/>
                    </a:p>
                  </a:txBody>
                  <a:tcPr marL="73152" marR="73152"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900" dirty="0">
                          <a:solidFill>
                            <a:srgbClr val="000000"/>
                          </a:solidFill>
                        </a:rPr>
                        <a:t>Article d'opinion (4 p.)</a:t>
                      </a:r>
                      <a:endParaRPr lang="en-US" sz="900" dirty="0"/>
                    </a:p>
                  </a:txBody>
                  <a:tcPr marL="73152" marR="73152"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7"/>
                  </a:ext>
                </a:extLst>
              </a:tr>
              <a:tr h="352044">
                <a:tc>
                  <a:txBody>
                    <a:bodyPr/>
                    <a:lstStyle/>
                    <a:p>
                      <a:pPr marL="0" indent="0" algn="ctr">
                        <a:buNone/>
                      </a:pPr>
                      <a:r>
                        <a:rPr lang="en-US" sz="900" b="1" dirty="0">
                          <a:solidFill>
                            <a:schemeClr val="accent6"/>
                          </a:solidFill>
                        </a:rPr>
                        <a:t>8</a:t>
                      </a:r>
                      <a:endParaRPr lang="en-US" sz="900" dirty="0"/>
                    </a:p>
                  </a:txBody>
                  <a:tcPr marL="73152" marR="73152"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900" b="1" dirty="0">
                          <a:solidFill>
                            <a:schemeClr val="tx2"/>
                          </a:solidFill>
                        </a:rPr>
                        <a:t>Bouilly (2024) · </a:t>
                      </a:r>
                      <a:r>
                        <a:rPr lang="en-US" sz="900" dirty="0">
                          <a:solidFill>
                            <a:srgbClr val="000000"/>
                          </a:solidFill>
                        </a:rPr>
                        <a:t>Devenir historienne des femmes et militante syndicale au Togo (entretien avec Agnélé Lassey)</a:t>
                      </a:r>
                      <a:endParaRPr lang="en-US" sz="900" dirty="0"/>
                    </a:p>
                  </a:txBody>
                  <a:tcPr marL="73152" marR="73152"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900" dirty="0">
                          <a:solidFill>
                            <a:srgbClr val="000000"/>
                          </a:solidFill>
                        </a:rPr>
                        <a:t>Revue d'histoire contemporaine de l'Afrique</a:t>
                      </a:r>
                      <a:endParaRPr lang="en-US" sz="900" dirty="0"/>
                    </a:p>
                  </a:txBody>
                  <a:tcPr marL="73152" marR="73152"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900" dirty="0">
                          <a:solidFill>
                            <a:srgbClr val="000000"/>
                          </a:solidFill>
                        </a:rPr>
                        <a:t>Entretien · en français · Togo</a:t>
                      </a:r>
                      <a:endParaRPr lang="en-US" sz="900" dirty="0"/>
                    </a:p>
                  </a:txBody>
                  <a:tcPr marL="73152" marR="73152"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8"/>
                  </a:ext>
                </a:extLst>
              </a:tr>
              <a:tr h="352044">
                <a:tc>
                  <a:txBody>
                    <a:bodyPr/>
                    <a:lstStyle/>
                    <a:p>
                      <a:pPr marL="0" indent="0" algn="ctr">
                        <a:buNone/>
                      </a:pPr>
                      <a:r>
                        <a:rPr lang="en-US" sz="900" b="1" dirty="0">
                          <a:solidFill>
                            <a:schemeClr val="accent6"/>
                          </a:solidFill>
                        </a:rPr>
                        <a:t>9</a:t>
                      </a:r>
                      <a:endParaRPr lang="en-US" sz="900" dirty="0"/>
                    </a:p>
                  </a:txBody>
                  <a:tcPr marL="73152" marR="73152"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900" b="1" dirty="0">
                          <a:solidFill>
                            <a:schemeClr val="tx2"/>
                          </a:solidFill>
                        </a:rPr>
                        <a:t>Keita et al. (2024) · </a:t>
                      </a:r>
                      <a:r>
                        <a:rPr lang="en-US" sz="900" dirty="0">
                          <a:solidFill>
                            <a:srgbClr val="000000"/>
                          </a:solidFill>
                        </a:rPr>
                        <a:t>Entre plafond de verre et pesanteurs sociales : carrières académiques et stratégies de conciliation vie privée/professionnelle des femmes. L'exemple des universités maliennes</a:t>
                      </a:r>
                      <a:endParaRPr lang="en-US" sz="900" dirty="0"/>
                    </a:p>
                  </a:txBody>
                  <a:tcPr marL="73152" marR="73152"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900" dirty="0">
                          <a:solidFill>
                            <a:srgbClr val="000000"/>
                          </a:solidFill>
                        </a:rPr>
                        <a:t>Kurukan Fuga</a:t>
                      </a:r>
                      <a:endParaRPr lang="en-US" sz="900" dirty="0"/>
                    </a:p>
                  </a:txBody>
                  <a:tcPr marL="73152" marR="73152"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900" dirty="0">
                          <a:solidFill>
                            <a:srgbClr val="000000"/>
                          </a:solidFill>
                        </a:rPr>
                        <a:t>Qualitative · en français · Mali</a:t>
                      </a:r>
                      <a:endParaRPr lang="en-US" sz="900" dirty="0"/>
                    </a:p>
                  </a:txBody>
                  <a:tcPr marL="73152" marR="73152"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9"/>
                  </a:ext>
                </a:extLst>
              </a:tr>
              <a:tr h="352044">
                <a:tc>
                  <a:txBody>
                    <a:bodyPr/>
                    <a:lstStyle/>
                    <a:p>
                      <a:pPr marL="0" indent="0" algn="ctr">
                        <a:buNone/>
                      </a:pPr>
                      <a:r>
                        <a:rPr lang="en-US" sz="900" b="1" dirty="0">
                          <a:solidFill>
                            <a:schemeClr val="accent6"/>
                          </a:solidFill>
                        </a:rPr>
                        <a:t>10</a:t>
                      </a:r>
                      <a:endParaRPr lang="en-US" sz="900" dirty="0"/>
                    </a:p>
                  </a:txBody>
                  <a:tcPr marL="73152" marR="73152"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900" b="1" dirty="0">
                          <a:solidFill>
                            <a:schemeClr val="tx2"/>
                          </a:solidFill>
                        </a:rPr>
                        <a:t>Boukar &amp; Mal Ibrahima (2020) · </a:t>
                      </a:r>
                      <a:r>
                        <a:rPr lang="en-US" sz="900" dirty="0">
                          <a:solidFill>
                            <a:srgbClr val="000000"/>
                          </a:solidFill>
                        </a:rPr>
                        <a:t>Les obstacles à l'exercice du leadership féminin au sein de l'Université</a:t>
                      </a:r>
                      <a:endParaRPr lang="en-US" sz="900" dirty="0"/>
                    </a:p>
                  </a:txBody>
                  <a:tcPr marL="73152" marR="73152"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900" dirty="0">
                          <a:solidFill>
                            <a:srgbClr val="000000"/>
                          </a:solidFill>
                        </a:rPr>
                        <a:t>Revue internationale des sciences de gestion</a:t>
                      </a:r>
                      <a:endParaRPr lang="en-US" sz="900" dirty="0"/>
                    </a:p>
                  </a:txBody>
                  <a:tcPr marL="73152" marR="73152"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900" dirty="0">
                          <a:solidFill>
                            <a:srgbClr val="000000"/>
                          </a:solidFill>
                        </a:rPr>
                        <a:t>15 entretiens · en français · Cameroun</a:t>
                      </a:r>
                      <a:endParaRPr lang="en-US" sz="900" dirty="0"/>
                    </a:p>
                  </a:txBody>
                  <a:tcPr marL="73152" marR="73152"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10"/>
                  </a:ext>
                </a:extLst>
              </a:tr>
              <a:tr h="352044">
                <a:tc>
                  <a:txBody>
                    <a:bodyPr/>
                    <a:lstStyle/>
                    <a:p>
                      <a:pPr marL="0" indent="0" algn="ctr">
                        <a:buNone/>
                      </a:pPr>
                      <a:r>
                        <a:rPr lang="en-US" sz="900" b="1" dirty="0">
                          <a:solidFill>
                            <a:schemeClr val="accent6"/>
                          </a:solidFill>
                        </a:rPr>
                        <a:t>11</a:t>
                      </a:r>
                      <a:endParaRPr lang="en-US" sz="900" dirty="0"/>
                    </a:p>
                  </a:txBody>
                  <a:tcPr marL="73152" marR="73152"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900" b="1" dirty="0">
                          <a:solidFill>
                            <a:schemeClr val="tx2"/>
                          </a:solidFill>
                        </a:rPr>
                        <a:t>Djeutsa &amp; Ébongué (2025) · </a:t>
                      </a:r>
                      <a:r>
                        <a:rPr lang="en-US" sz="900" dirty="0">
                          <a:solidFill>
                            <a:srgbClr val="000000"/>
                          </a:solidFill>
                        </a:rPr>
                        <a:t>Estime de soi et persistance des étudiantes en STIM à l'ENSAI de Ngaoundéré au Cameroun</a:t>
                      </a:r>
                      <a:endParaRPr lang="en-US" sz="900" dirty="0"/>
                    </a:p>
                  </a:txBody>
                  <a:tcPr marL="73152" marR="73152"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900" dirty="0">
                          <a:solidFill>
                            <a:srgbClr val="000000"/>
                          </a:solidFill>
                        </a:rPr>
                        <a:t>European Scientific Journal</a:t>
                      </a:r>
                      <a:endParaRPr lang="en-US" sz="900" dirty="0"/>
                    </a:p>
                  </a:txBody>
                  <a:tcPr marL="73152" marR="73152"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900" dirty="0">
                          <a:solidFill>
                            <a:srgbClr val="000000"/>
                          </a:solidFill>
                        </a:rPr>
                        <a:t>Questionnaire · 72 étudiantes · en français</a:t>
                      </a:r>
                      <a:endParaRPr lang="en-US" sz="900" dirty="0"/>
                    </a:p>
                  </a:txBody>
                  <a:tcPr marL="73152" marR="73152"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11"/>
                  </a:ext>
                </a:extLst>
              </a:tr>
              <a:tr h="352044">
                <a:tc>
                  <a:txBody>
                    <a:bodyPr/>
                    <a:lstStyle/>
                    <a:p>
                      <a:pPr marL="0" indent="0" algn="ctr">
                        <a:buNone/>
                      </a:pPr>
                      <a:r>
                        <a:rPr lang="en-US" sz="900" b="1" dirty="0">
                          <a:solidFill>
                            <a:schemeClr val="accent6"/>
                          </a:solidFill>
                        </a:rPr>
                        <a:t>12</a:t>
                      </a:r>
                      <a:endParaRPr lang="en-US" sz="900" dirty="0"/>
                    </a:p>
                  </a:txBody>
                  <a:tcPr marL="73152" marR="73152"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900" b="1" dirty="0">
                          <a:solidFill>
                            <a:schemeClr val="tx2"/>
                          </a:solidFill>
                        </a:rPr>
                        <a:t>Pilette (2025) · </a:t>
                      </a:r>
                      <a:r>
                        <a:rPr lang="en-US" sz="900" dirty="0">
                          <a:solidFill>
                            <a:srgbClr val="000000"/>
                          </a:solidFill>
                        </a:rPr>
                        <a:t>L'identité scientifique chez les étudiantes en STIM : une recension des écrits</a:t>
                      </a:r>
                      <a:endParaRPr lang="en-US" sz="900" dirty="0"/>
                    </a:p>
                  </a:txBody>
                  <a:tcPr marL="73152" marR="73152"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900" dirty="0">
                          <a:solidFill>
                            <a:srgbClr val="000000"/>
                          </a:solidFill>
                        </a:rPr>
                        <a:t>Facteurs humains (Université Laval)</a:t>
                      </a:r>
                      <a:endParaRPr lang="en-US" sz="900" dirty="0"/>
                    </a:p>
                  </a:txBody>
                  <a:tcPr marL="73152" marR="73152"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900" dirty="0">
                          <a:solidFill>
                            <a:srgbClr val="000000"/>
                          </a:solidFill>
                        </a:rPr>
                        <a:t>Recension des écrits · en français</a:t>
                      </a:r>
                      <a:endParaRPr lang="en-US" sz="900" dirty="0"/>
                    </a:p>
                  </a:txBody>
                  <a:tcPr marL="73152" marR="73152"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12"/>
                  </a:ext>
                </a:extLst>
              </a:tr>
            </a:tbl>
          </a:graphicData>
        </a:graphic>
      </p:graphicFrame>
      <p:sp>
        <p:nvSpPr>
          <p:cNvPr id="5" name="txt-1281"/>
          <p:cNvSpPr txBox="1"/>
          <p:nvPr/>
        </p:nvSpPr>
        <p:spPr>
          <a:xfrm>
            <a:off x="548640" y="6053328"/>
            <a:ext cx="11064240" cy="256032"/>
          </a:xfrm>
          <a:prstGeom prst="rect">
            <a:avLst/>
          </a:prstGeom>
          <a:noFill/>
          <a:ln/>
        </p:spPr>
        <p:txBody>
          <a:bodyPr wrap="square" lIns="0" tIns="0" rIns="0" bIns="0" rtlCol="0" anchor="t"/>
          <a:lstStyle/>
          <a:p>
            <a:pPr marL="0" indent="0">
              <a:buNone/>
            </a:pPr>
            <a:r>
              <a:rPr lang="en-US" sz="1000" i="1" dirty="0">
                <a:solidFill>
                  <a:schemeClr val="accent5"/>
                </a:solidFill>
              </a:rPr>
              <a:t>Thème : les femmes dans la recherche en Afrique · Dossier CORPUS-LABS / 0-Pack-commun / Bibliographie · Accès libre, vérifié en octobre 2026</a:t>
            </a:r>
            <a:endParaRPr lang="en-US" sz="1000" dirty="0"/>
          </a:p>
        </p:txBody>
      </p:sp>
      <p:sp>
        <p:nvSpPr>
          <p:cNvPr id="25" name="Slide Number Placeholder 0"/>
          <p:cNvSpPr>
            <a:spLocks noGrp="1"/>
          </p:cNvSpPr>
          <p:nvPr>
            <p:ph type="sldNum" sz="quarter" idx="4294967295"/>
          </p:nvPr>
        </p:nvSpPr>
        <p:spPr>
          <a:xfrm>
            <a:off x="11064240" y="6400800"/>
            <a:ext cx="54864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C82"/>
                </a:solidFill>
                <a:latin typeface="Poppins"/>
                <a:ea typeface="Poppins"/>
                <a:cs typeface="Poppins"/>
              </a:defRPr>
            </a:lvl1pPr>
          </a:lstStyle>
          <a:p>
            <a:pPr algn="r"/>
            <a:fld id="{F7021451-1387-4CA6-816F-3879F97B5CBC}" type="slidenum">
              <a:rPr lang="en-US" b="0"/>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566928"/>
            <a:ext cx="11064240" cy="777240"/>
          </a:xfrm>
          <a:prstGeom prst="rect">
            <a:avLst/>
          </a:prstGeom>
          <a:noFill/>
          <a:ln/>
        </p:spPr>
        <p:txBody>
          <a:bodyPr wrap="square" lIns="0" tIns="0" rIns="0" bIns="0" rtlCol="0" anchor="ctr"/>
          <a:lstStyle/>
          <a:p>
            <a:pPr marL="0" indent="0" algn="l">
              <a:buNone/>
            </a:pPr>
            <a:r>
              <a:rPr lang="en-US" sz="2700" b="1" dirty="0">
                <a:solidFill>
                  <a:schemeClr val="tx2"/>
                </a:solidFill>
                <a:latin typeface="Poppins" pitchFamily="34" charset="0"/>
                <a:ea typeface="Poppins" pitchFamily="34" charset="-122"/>
                <a:cs typeface="Poppins" pitchFamily="34" charset="-120"/>
              </a:rPr>
              <a:t>Lab 2 · Un RAG sur votre bibliographie</a:t>
            </a:r>
            <a:endParaRPr lang="en-US" sz="2700" dirty="0"/>
          </a:p>
        </p:txBody>
      </p:sp>
      <p:sp>
        <p:nvSpPr>
          <p:cNvPr id="3" name="Text 0"/>
          <p:cNvSpPr>
            <a:spLocks noGrp="1"/>
          </p:cNvSpPr>
          <p:nvPr>
            <p:ph type="body" idx="101" hasCustomPrompt="1"/>
          </p:nvPr>
        </p:nvSpPr>
        <p:spPr>
          <a:xfrm>
            <a:off x="548640" y="256032"/>
            <a:ext cx="8229600" cy="292608"/>
          </a:xfrm>
          <a:prstGeom prst="rect">
            <a:avLst/>
          </a:prstGeom>
          <a:noFill/>
          <a:ln/>
        </p:spPr>
        <p:txBody>
          <a:bodyPr wrap="square" lIns="0" tIns="0" rIns="0" bIns="0" rtlCol="0" anchor="ctr"/>
          <a:lstStyle/>
          <a:p>
            <a:pPr marL="0" indent="0">
              <a:buNone/>
            </a:pPr>
            <a:r>
              <a:rPr lang="en-US" sz="1100" b="1" dirty="0">
                <a:solidFill>
                  <a:schemeClr val="accent1"/>
                </a:solidFill>
                <a:latin typeface="Poppins" pitchFamily="34" charset="0"/>
                <a:ea typeface="Poppins" pitchFamily="34" charset="-122"/>
                <a:cs typeface="Poppins" pitchFamily="34" charset="-120"/>
              </a:rPr>
              <a:t>LAB 2 · 30 MIN</a:t>
            </a:r>
            <a:endParaRPr lang="en-US" sz="1100" dirty="0"/>
          </a:p>
        </p:txBody>
      </p:sp>
      <p:sp>
        <p:nvSpPr>
          <p:cNvPr id="4" name="card-1282"/>
          <p:cNvSpPr/>
          <p:nvPr/>
        </p:nvSpPr>
        <p:spPr>
          <a:xfrm>
            <a:off x="10195560" y="640080"/>
            <a:ext cx="1417320" cy="502920"/>
          </a:xfrm>
          <a:prstGeom prst="roundRect">
            <a:avLst>
              <a:gd name="adj" fmla="val 14545"/>
            </a:avLst>
          </a:prstGeom>
          <a:solidFill>
            <a:schemeClr val="accent1"/>
          </a:solidFill>
          <a:ln w="6350">
            <a:solidFill>
              <a:schemeClr val="accent1"/>
            </a:solidFill>
            <a:prstDash val="solid"/>
          </a:ln>
        </p:spPr>
      </p:sp>
      <p:sp>
        <p:nvSpPr>
          <p:cNvPr id="5" name="txt-1283"/>
          <p:cNvSpPr txBox="1"/>
          <p:nvPr/>
        </p:nvSpPr>
        <p:spPr>
          <a:xfrm>
            <a:off x="10195560" y="640080"/>
            <a:ext cx="1417320" cy="502920"/>
          </a:xfrm>
          <a:prstGeom prst="rect">
            <a:avLst/>
          </a:prstGeom>
          <a:noFill/>
          <a:ln/>
        </p:spPr>
        <p:txBody>
          <a:bodyPr wrap="square" lIns="0" tIns="0" rIns="0" bIns="0" rtlCol="0" anchor="ctr"/>
          <a:lstStyle/>
          <a:p>
            <a:pPr marL="0" indent="0" algn="ctr">
              <a:buNone/>
            </a:pPr>
            <a:r>
              <a:rPr lang="en-US" sz="1600" b="1" dirty="0">
                <a:solidFill>
                  <a:schemeClr val="tx2"/>
                </a:solidFill>
              </a:rPr>
              <a:t>30 min</a:t>
            </a:r>
            <a:endParaRPr lang="en-US" sz="1600" dirty="0"/>
          </a:p>
        </p:txBody>
      </p:sp>
      <p:sp>
        <p:nvSpPr>
          <p:cNvPr id="6" name="num-1284"/>
          <p:cNvSpPr/>
          <p:nvPr/>
        </p:nvSpPr>
        <p:spPr>
          <a:xfrm>
            <a:off x="548640" y="1572768"/>
            <a:ext cx="420624" cy="420624"/>
          </a:xfrm>
          <a:prstGeom prst="ellipse">
            <a:avLst/>
          </a:prstGeom>
          <a:solidFill>
            <a:schemeClr val="tx2"/>
          </a:solidFill>
          <a:ln w="12700">
            <a:solidFill>
              <a:schemeClr val="tx2"/>
            </a:solidFill>
            <a:prstDash val="solid"/>
          </a:ln>
        </p:spPr>
      </p:sp>
      <p:sp>
        <p:nvSpPr>
          <p:cNvPr id="7" name="txt-1285"/>
          <p:cNvSpPr txBox="1"/>
          <p:nvPr/>
        </p:nvSpPr>
        <p:spPr>
          <a:xfrm>
            <a:off x="548640" y="1572768"/>
            <a:ext cx="420624" cy="420624"/>
          </a:xfrm>
          <a:prstGeom prst="rect">
            <a:avLst/>
          </a:prstGeom>
          <a:no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8" name="txt-1286"/>
          <p:cNvSpPr txBox="1"/>
          <p:nvPr/>
        </p:nvSpPr>
        <p:spPr>
          <a:xfrm>
            <a:off x="1115568" y="1481328"/>
            <a:ext cx="5212080" cy="603504"/>
          </a:xfrm>
          <a:prstGeom prst="rect">
            <a:avLst/>
          </a:prstGeom>
          <a:noFill/>
          <a:ln/>
        </p:spPr>
        <p:txBody>
          <a:bodyPr wrap="square" lIns="0" tIns="0" rIns="0" bIns="0" rtlCol="0" anchor="ctr"/>
          <a:lstStyle/>
          <a:p>
            <a:pPr marL="0" indent="0">
              <a:buNone/>
            </a:pPr>
            <a:r>
              <a:rPr lang="en-US" sz="1400" dirty="0">
                <a:solidFill>
                  <a:schemeClr val="tx1"/>
                </a:solidFill>
              </a:rPr>
              <a:t>Créez un carnet « Lab2 – ma revue de littérature » avec 5 à 10 articles de votre thèse (PDF)</a:t>
            </a:r>
            <a:endParaRPr lang="en-US" sz="1400" dirty="0"/>
          </a:p>
        </p:txBody>
      </p:sp>
      <p:sp>
        <p:nvSpPr>
          <p:cNvPr id="9" name="num-1287"/>
          <p:cNvSpPr/>
          <p:nvPr/>
        </p:nvSpPr>
        <p:spPr>
          <a:xfrm>
            <a:off x="548640" y="2212848"/>
            <a:ext cx="420624" cy="420624"/>
          </a:xfrm>
          <a:prstGeom prst="ellipse">
            <a:avLst/>
          </a:prstGeom>
          <a:solidFill>
            <a:schemeClr val="tx2"/>
          </a:solidFill>
          <a:ln w="12700">
            <a:solidFill>
              <a:schemeClr val="tx2"/>
            </a:solidFill>
            <a:prstDash val="solid"/>
          </a:ln>
        </p:spPr>
      </p:sp>
      <p:sp>
        <p:nvSpPr>
          <p:cNvPr id="10" name="txt-1288"/>
          <p:cNvSpPr txBox="1"/>
          <p:nvPr/>
        </p:nvSpPr>
        <p:spPr>
          <a:xfrm>
            <a:off x="548640" y="2212848"/>
            <a:ext cx="420624" cy="420624"/>
          </a:xfrm>
          <a:prstGeom prst="rect">
            <a:avLst/>
          </a:prstGeom>
          <a:no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11" name="txt-1289"/>
          <p:cNvSpPr txBox="1"/>
          <p:nvPr/>
        </p:nvSpPr>
        <p:spPr>
          <a:xfrm>
            <a:off x="1115568" y="2121408"/>
            <a:ext cx="5212080" cy="603504"/>
          </a:xfrm>
          <a:prstGeom prst="rect">
            <a:avLst/>
          </a:prstGeom>
          <a:noFill/>
          <a:ln/>
        </p:spPr>
        <p:txBody>
          <a:bodyPr wrap="square" lIns="0" tIns="0" rIns="0" bIns="0" rtlCol="0" anchor="ctr"/>
          <a:lstStyle/>
          <a:p>
            <a:pPr marL="0" indent="0">
              <a:buNone/>
            </a:pPr>
            <a:r>
              <a:rPr lang="en-US" sz="1400" dirty="0">
                <a:solidFill>
                  <a:schemeClr val="tx1"/>
                </a:solidFill>
              </a:rPr>
              <a:t>Pas de PDF ? Prenez les 12 articles du pack commun (diapo précédente)</a:t>
            </a:r>
            <a:endParaRPr lang="en-US" sz="1400" dirty="0"/>
          </a:p>
        </p:txBody>
      </p:sp>
      <p:sp>
        <p:nvSpPr>
          <p:cNvPr id="12" name="num-1290"/>
          <p:cNvSpPr/>
          <p:nvPr/>
        </p:nvSpPr>
        <p:spPr>
          <a:xfrm>
            <a:off x="548640" y="2852928"/>
            <a:ext cx="420624" cy="420624"/>
          </a:xfrm>
          <a:prstGeom prst="ellipse">
            <a:avLst/>
          </a:prstGeom>
          <a:solidFill>
            <a:schemeClr val="tx2"/>
          </a:solidFill>
          <a:ln w="12700">
            <a:solidFill>
              <a:schemeClr val="tx2"/>
            </a:solidFill>
            <a:prstDash val="solid"/>
          </a:ln>
        </p:spPr>
      </p:sp>
      <p:sp>
        <p:nvSpPr>
          <p:cNvPr id="13" name="txt-1291"/>
          <p:cNvSpPr txBox="1"/>
          <p:nvPr/>
        </p:nvSpPr>
        <p:spPr>
          <a:xfrm>
            <a:off x="548640" y="2852928"/>
            <a:ext cx="420624" cy="420624"/>
          </a:xfrm>
          <a:prstGeom prst="rect">
            <a:avLst/>
          </a:prstGeom>
          <a:no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14" name="txt-1292"/>
          <p:cNvSpPr txBox="1"/>
          <p:nvPr/>
        </p:nvSpPr>
        <p:spPr>
          <a:xfrm>
            <a:off x="1115568" y="2761488"/>
            <a:ext cx="5212080" cy="603504"/>
          </a:xfrm>
          <a:prstGeom prst="rect">
            <a:avLst/>
          </a:prstGeom>
          <a:noFill/>
          <a:ln/>
        </p:spPr>
        <p:txBody>
          <a:bodyPr wrap="square" lIns="0" tIns="0" rIns="0" bIns="0" rtlCol="0" anchor="ctr"/>
          <a:lstStyle/>
          <a:p>
            <a:pPr marL="0" indent="0">
              <a:buNone/>
            </a:pPr>
            <a:r>
              <a:rPr lang="en-US" sz="1400" dirty="0">
                <a:solidFill>
                  <a:schemeClr val="tx1"/>
                </a:solidFill>
              </a:rPr>
              <a:t>Question factuelle sur un article : vérifiez la page citée</a:t>
            </a:r>
            <a:endParaRPr lang="en-US" sz="1400" dirty="0"/>
          </a:p>
        </p:txBody>
      </p:sp>
      <p:sp>
        <p:nvSpPr>
          <p:cNvPr id="15" name="num-1293"/>
          <p:cNvSpPr/>
          <p:nvPr/>
        </p:nvSpPr>
        <p:spPr>
          <a:xfrm>
            <a:off x="548640" y="3493008"/>
            <a:ext cx="420624" cy="420624"/>
          </a:xfrm>
          <a:prstGeom prst="ellipse">
            <a:avLst/>
          </a:prstGeom>
          <a:solidFill>
            <a:schemeClr val="tx2"/>
          </a:solidFill>
          <a:ln w="12700">
            <a:solidFill>
              <a:schemeClr val="tx2"/>
            </a:solidFill>
            <a:prstDash val="solid"/>
          </a:ln>
        </p:spPr>
      </p:sp>
      <p:sp>
        <p:nvSpPr>
          <p:cNvPr id="16" name="txt-1294"/>
          <p:cNvSpPr txBox="1"/>
          <p:nvPr/>
        </p:nvSpPr>
        <p:spPr>
          <a:xfrm>
            <a:off x="548640" y="3493008"/>
            <a:ext cx="420624" cy="420624"/>
          </a:xfrm>
          <a:prstGeom prst="rect">
            <a:avLst/>
          </a:prstGeom>
          <a:noFill/>
          <a:ln/>
        </p:spPr>
        <p:txBody>
          <a:bodyPr wrap="square" lIns="0" tIns="0" rIns="0" bIns="0" rtlCol="0" anchor="ctr"/>
          <a:lstStyle/>
          <a:p>
            <a:pPr marL="0" indent="0" algn="ctr">
              <a:buNone/>
            </a:pPr>
            <a:r>
              <a:rPr lang="en-US" sz="1400" b="1" dirty="0">
                <a:solidFill>
                  <a:schemeClr val="bg1"/>
                </a:solidFill>
              </a:rPr>
              <a:t>4</a:t>
            </a:r>
            <a:endParaRPr lang="en-US" sz="1400" dirty="0"/>
          </a:p>
        </p:txBody>
      </p:sp>
      <p:sp>
        <p:nvSpPr>
          <p:cNvPr id="17" name="txt-1295"/>
          <p:cNvSpPr txBox="1"/>
          <p:nvPr/>
        </p:nvSpPr>
        <p:spPr>
          <a:xfrm>
            <a:off x="1115568" y="3401568"/>
            <a:ext cx="5212080" cy="603504"/>
          </a:xfrm>
          <a:prstGeom prst="rect">
            <a:avLst/>
          </a:prstGeom>
          <a:noFill/>
          <a:ln/>
        </p:spPr>
        <p:txBody>
          <a:bodyPr wrap="square" lIns="0" tIns="0" rIns="0" bIns="0" rtlCol="0" anchor="ctr"/>
          <a:lstStyle/>
          <a:p>
            <a:pPr marL="0" indent="0">
              <a:buNone/>
            </a:pPr>
            <a:r>
              <a:rPr lang="en-US" sz="1400" dirty="0">
                <a:solidFill>
                  <a:schemeClr val="tx1"/>
                </a:solidFill>
              </a:rPr>
              <a:t>Construisez la matrice de synthèse (prompt ci-contre) et vérifiez 3 cases</a:t>
            </a:r>
            <a:endParaRPr lang="en-US" sz="1400" dirty="0"/>
          </a:p>
        </p:txBody>
      </p:sp>
      <p:sp>
        <p:nvSpPr>
          <p:cNvPr id="18" name="num-1296"/>
          <p:cNvSpPr/>
          <p:nvPr/>
        </p:nvSpPr>
        <p:spPr>
          <a:xfrm>
            <a:off x="548640" y="4133088"/>
            <a:ext cx="420624" cy="420624"/>
          </a:xfrm>
          <a:prstGeom prst="ellipse">
            <a:avLst/>
          </a:prstGeom>
          <a:solidFill>
            <a:schemeClr val="tx2"/>
          </a:solidFill>
          <a:ln w="12700">
            <a:solidFill>
              <a:schemeClr val="tx2"/>
            </a:solidFill>
            <a:prstDash val="solid"/>
          </a:ln>
        </p:spPr>
      </p:sp>
      <p:sp>
        <p:nvSpPr>
          <p:cNvPr id="19" name="txt-1297"/>
          <p:cNvSpPr txBox="1"/>
          <p:nvPr/>
        </p:nvSpPr>
        <p:spPr>
          <a:xfrm>
            <a:off x="548640" y="4133088"/>
            <a:ext cx="420624" cy="420624"/>
          </a:xfrm>
          <a:prstGeom prst="rect">
            <a:avLst/>
          </a:prstGeom>
          <a:noFill/>
          <a:ln/>
        </p:spPr>
        <p:txBody>
          <a:bodyPr wrap="square" lIns="0" tIns="0" rIns="0" bIns="0" rtlCol="0" anchor="ctr"/>
          <a:lstStyle/>
          <a:p>
            <a:pPr marL="0" indent="0" algn="ctr">
              <a:buNone/>
            </a:pPr>
            <a:r>
              <a:rPr lang="en-US" sz="1400" b="1" dirty="0">
                <a:solidFill>
                  <a:schemeClr val="bg1"/>
                </a:solidFill>
              </a:rPr>
              <a:t>5</a:t>
            </a:r>
            <a:endParaRPr lang="en-US" sz="1400" dirty="0"/>
          </a:p>
        </p:txBody>
      </p:sp>
      <p:sp>
        <p:nvSpPr>
          <p:cNvPr id="20" name="txt-1298"/>
          <p:cNvSpPr txBox="1"/>
          <p:nvPr/>
        </p:nvSpPr>
        <p:spPr>
          <a:xfrm>
            <a:off x="1115568" y="4041648"/>
            <a:ext cx="5212080" cy="603504"/>
          </a:xfrm>
          <a:prstGeom prst="rect">
            <a:avLst/>
          </a:prstGeom>
          <a:noFill/>
          <a:ln/>
        </p:spPr>
        <p:txBody>
          <a:bodyPr wrap="square" lIns="0" tIns="0" rIns="0" bIns="0" rtlCol="0" anchor="ctr"/>
          <a:lstStyle/>
          <a:p>
            <a:pPr marL="0" indent="0">
              <a:buNone/>
            </a:pPr>
            <a:r>
              <a:rPr lang="en-US" sz="1400" dirty="0">
                <a:solidFill>
                  <a:schemeClr val="tx1"/>
                </a:solidFill>
              </a:rPr>
              <a:t>Piège : interrogez-le sur un aspect absent de vos sources</a:t>
            </a:r>
            <a:endParaRPr lang="en-US" sz="1400" dirty="0"/>
          </a:p>
        </p:txBody>
      </p:sp>
      <p:sp>
        <p:nvSpPr>
          <p:cNvPr id="21" name="card-1299"/>
          <p:cNvSpPr/>
          <p:nvPr/>
        </p:nvSpPr>
        <p:spPr>
          <a:xfrm>
            <a:off x="6675120" y="1508760"/>
            <a:ext cx="4937760" cy="3200400"/>
          </a:xfrm>
          <a:prstGeom prst="roundRect">
            <a:avLst>
              <a:gd name="adj" fmla="val 2286"/>
            </a:avLst>
          </a:prstGeom>
          <a:solidFill>
            <a:schemeClr val="bg1"/>
          </a:solidFill>
          <a:ln w="6350">
            <a:solidFill>
              <a:schemeClr val="bg1"/>
            </a:solidFill>
            <a:prstDash val="solid"/>
          </a:ln>
          <a:effectLst>
            <a:outerShdw blurRad="101600" dist="25400" dir="5400000" algn="bl" rotWithShape="0">
              <a:srgbClr val="000000">
                <a:alpha val="10000"/>
              </a:srgbClr>
            </a:outerShdw>
          </a:effectLst>
        </p:spPr>
      </p:sp>
      <p:sp>
        <p:nvSpPr>
          <p:cNvPr id="22" name="txt-1300"/>
          <p:cNvSpPr txBox="1"/>
          <p:nvPr/>
        </p:nvSpPr>
        <p:spPr>
          <a:xfrm>
            <a:off x="6903720" y="1691640"/>
            <a:ext cx="4480560" cy="320040"/>
          </a:xfrm>
          <a:prstGeom prst="rect">
            <a:avLst/>
          </a:prstGeom>
          <a:noFill/>
          <a:ln/>
        </p:spPr>
        <p:txBody>
          <a:bodyPr wrap="square" lIns="0" tIns="0" rIns="0" bIns="0" rtlCol="0" anchor="t"/>
          <a:lstStyle/>
          <a:p>
            <a:pPr marL="0" indent="0">
              <a:buNone/>
            </a:pPr>
            <a:r>
              <a:rPr lang="en-US" sz="1200" b="1" dirty="0">
                <a:solidFill>
                  <a:schemeClr val="accent6"/>
                </a:solidFill>
              </a:rPr>
              <a:t>Prompt de la matrice de synthèse</a:t>
            </a:r>
            <a:endParaRPr lang="en-US" sz="1200" dirty="0"/>
          </a:p>
        </p:txBody>
      </p:sp>
      <p:sp>
        <p:nvSpPr>
          <p:cNvPr id="23" name="txt-1301"/>
          <p:cNvSpPr txBox="1"/>
          <p:nvPr/>
        </p:nvSpPr>
        <p:spPr>
          <a:xfrm>
            <a:off x="6903720" y="2057400"/>
            <a:ext cx="4480560" cy="2468880"/>
          </a:xfrm>
          <a:prstGeom prst="rect">
            <a:avLst/>
          </a:prstGeom>
          <a:noFill/>
          <a:ln/>
        </p:spPr>
        <p:txBody>
          <a:bodyPr wrap="square" lIns="0" tIns="0" rIns="0" bIns="0" rtlCol="0" anchor="t"/>
          <a:lstStyle/>
          <a:p>
            <a:pPr marL="0" indent="0">
              <a:buNone/>
            </a:pPr>
            <a:r>
              <a:rPr lang="en-US" sz="1300" dirty="0">
                <a:solidFill>
                  <a:schemeClr val="tx1"/>
                </a:solidFill>
                <a:latin typeface="Consolas" pitchFamily="34" charset="0"/>
                <a:ea typeface="Consolas" pitchFamily="34" charset="-122"/>
                <a:cs typeface="Consolas" pitchFamily="34" charset="-120"/>
              </a:rPr>
              <a:t>En te limitant strictement aux sources, construis un tableau : une ligne par article ; colonnes : question de recherche, méthode, terrain, résultat principal, limite. Dans chaque case, une citation exacte avec la page. Écris « non trouvé » si l'information manque.</a:t>
            </a:r>
            <a:endParaRPr lang="en-US" sz="1300" dirty="0"/>
          </a:p>
        </p:txBody>
      </p:sp>
      <p:sp>
        <p:nvSpPr>
          <p:cNvPr id="24" name="card-1302"/>
          <p:cNvSpPr/>
          <p:nvPr/>
        </p:nvSpPr>
        <p:spPr>
          <a:xfrm>
            <a:off x="548640" y="4956048"/>
            <a:ext cx="5760720" cy="1261872"/>
          </a:xfrm>
          <a:prstGeom prst="roundRect">
            <a:avLst>
              <a:gd name="adj" fmla="val 5797"/>
            </a:avLst>
          </a:prstGeom>
          <a:solidFill>
            <a:schemeClr val="bg1"/>
          </a:solidFill>
          <a:ln w="6350">
            <a:solidFill>
              <a:schemeClr val="bg1"/>
            </a:solidFill>
            <a:prstDash val="solid"/>
          </a:ln>
          <a:effectLst>
            <a:outerShdw blurRad="101600" dist="25400" dir="5400000" algn="bl" rotWithShape="0">
              <a:srgbClr val="000000">
                <a:alpha val="10000"/>
              </a:srgbClr>
            </a:outerShdw>
          </a:effectLst>
        </p:spPr>
      </p:sp>
      <p:sp>
        <p:nvSpPr>
          <p:cNvPr id="25" name="circle-1303"/>
          <p:cNvSpPr/>
          <p:nvPr/>
        </p:nvSpPr>
        <p:spPr>
          <a:xfrm>
            <a:off x="731520" y="5120640"/>
            <a:ext cx="457200" cy="457200"/>
          </a:xfrm>
          <a:prstGeom prst="ellipse">
            <a:avLst/>
          </a:prstGeom>
          <a:solidFill>
            <a:schemeClr val="accent1"/>
          </a:solidFill>
          <a:ln w="12700">
            <a:solidFill>
              <a:schemeClr val="accent1"/>
            </a:solidFill>
            <a:prstDash val="solid"/>
          </a:ln>
        </p:spPr>
      </p:sp>
      <p:pic>
        <p:nvPicPr>
          <p:cNvPr id="26" name="icon-1304" descr="preencoded.png"/>
          <p:cNvPicPr>
            <a:picLocks noChangeAspect="1"/>
          </p:cNvPicPr>
          <p:nvPr/>
        </p:nvPicPr>
        <p:blipFill>
          <a:blip r:embed="rId3"/>
          <a:stretch>
            <a:fillRect/>
          </a:stretch>
        </p:blipFill>
        <p:spPr>
          <a:xfrm>
            <a:off x="845820" y="5234940"/>
            <a:ext cx="228600" cy="228600"/>
          </a:xfrm>
          <a:prstGeom prst="rect">
            <a:avLst/>
          </a:prstGeom>
        </p:spPr>
      </p:pic>
      <p:sp>
        <p:nvSpPr>
          <p:cNvPr id="27" name="txt-1305"/>
          <p:cNvSpPr txBox="1"/>
          <p:nvPr/>
        </p:nvSpPr>
        <p:spPr>
          <a:xfrm>
            <a:off x="1325880" y="5074920"/>
            <a:ext cx="1828800" cy="320040"/>
          </a:xfrm>
          <a:prstGeom prst="rect">
            <a:avLst/>
          </a:prstGeom>
          <a:noFill/>
          <a:ln/>
        </p:spPr>
        <p:txBody>
          <a:bodyPr wrap="square" lIns="0" tIns="0" rIns="0" bIns="0" rtlCol="0" anchor="t"/>
          <a:lstStyle/>
          <a:p>
            <a:pPr marL="0" indent="0">
              <a:buNone/>
            </a:pPr>
            <a:r>
              <a:rPr lang="en-US" sz="1500" b="1" dirty="0">
                <a:solidFill>
                  <a:schemeClr val="accent1"/>
                </a:solidFill>
              </a:rPr>
              <a:t>Défi</a:t>
            </a:r>
            <a:endParaRPr lang="en-US" sz="1500" dirty="0"/>
          </a:p>
        </p:txBody>
      </p:sp>
      <p:sp>
        <p:nvSpPr>
          <p:cNvPr id="28" name="txt-1306"/>
          <p:cNvSpPr txBox="1"/>
          <p:nvPr/>
        </p:nvSpPr>
        <p:spPr>
          <a:xfrm>
            <a:off x="1325880" y="5394960"/>
            <a:ext cx="4846320" cy="777240"/>
          </a:xfrm>
          <a:prstGeom prst="rect">
            <a:avLst/>
          </a:prstGeom>
          <a:noFill/>
          <a:ln/>
        </p:spPr>
        <p:txBody>
          <a:bodyPr wrap="square" lIns="0" tIns="0" rIns="0" bIns="0" rtlCol="0" anchor="t"/>
          <a:lstStyle/>
          <a:p>
            <a:pPr marL="0" indent="0">
              <a:buNone/>
            </a:pPr>
            <a:r>
              <a:rPr lang="en-US" sz="1300" dirty="0">
                <a:solidFill>
                  <a:schemeClr val="tx1"/>
                </a:solidFill>
              </a:rPr>
              <a:t>Demandez : « Sur quels points ces articles divergent-ils ? Cite les passages. » Vérifiez deux divergences dans les PDF.</a:t>
            </a:r>
            <a:endParaRPr lang="en-US" sz="1300" dirty="0"/>
          </a:p>
        </p:txBody>
      </p:sp>
      <p:sp>
        <p:nvSpPr>
          <p:cNvPr id="29" name="card-1307"/>
          <p:cNvSpPr/>
          <p:nvPr/>
        </p:nvSpPr>
        <p:spPr>
          <a:xfrm>
            <a:off x="6675120" y="4956048"/>
            <a:ext cx="4937760" cy="1261872"/>
          </a:xfrm>
          <a:prstGeom prst="roundRect">
            <a:avLst>
              <a:gd name="adj" fmla="val 5797"/>
            </a:avLst>
          </a:prstGeom>
          <a:solidFill>
            <a:schemeClr val="tx2"/>
          </a:solidFill>
          <a:ln w="6350">
            <a:solidFill>
              <a:schemeClr val="tx2"/>
            </a:solidFill>
            <a:prstDash val="solid"/>
          </a:ln>
        </p:spPr>
      </p:sp>
      <p:sp>
        <p:nvSpPr>
          <p:cNvPr id="30" name="circle-1308"/>
          <p:cNvSpPr/>
          <p:nvPr/>
        </p:nvSpPr>
        <p:spPr>
          <a:xfrm>
            <a:off x="6858000" y="5120640"/>
            <a:ext cx="457200" cy="457200"/>
          </a:xfrm>
          <a:prstGeom prst="ellipse">
            <a:avLst/>
          </a:prstGeom>
          <a:solidFill>
            <a:schemeClr val="accent1"/>
          </a:solidFill>
          <a:ln w="12700">
            <a:solidFill>
              <a:schemeClr val="accent1"/>
            </a:solidFill>
            <a:prstDash val="solid"/>
          </a:ln>
        </p:spPr>
      </p:sp>
      <p:pic>
        <p:nvPicPr>
          <p:cNvPr id="31" name="icon-1309" descr="preencoded.png"/>
          <p:cNvPicPr>
            <a:picLocks noChangeAspect="1"/>
          </p:cNvPicPr>
          <p:nvPr/>
        </p:nvPicPr>
        <p:blipFill>
          <a:blip r:embed="rId4"/>
          <a:stretch>
            <a:fillRect/>
          </a:stretch>
        </p:blipFill>
        <p:spPr>
          <a:xfrm>
            <a:off x="6972300" y="5234940"/>
            <a:ext cx="228600" cy="228600"/>
          </a:xfrm>
          <a:prstGeom prst="rect">
            <a:avLst/>
          </a:prstGeom>
        </p:spPr>
      </p:pic>
      <p:sp>
        <p:nvSpPr>
          <p:cNvPr id="32" name="txt-1310"/>
          <p:cNvSpPr txBox="1"/>
          <p:nvPr/>
        </p:nvSpPr>
        <p:spPr>
          <a:xfrm>
            <a:off x="7452360" y="5074920"/>
            <a:ext cx="2743200" cy="320040"/>
          </a:xfrm>
          <a:prstGeom prst="rect">
            <a:avLst/>
          </a:prstGeom>
          <a:noFill/>
          <a:ln/>
        </p:spPr>
        <p:txBody>
          <a:bodyPr wrap="square" lIns="0" tIns="0" rIns="0" bIns="0" rtlCol="0" anchor="t"/>
          <a:lstStyle/>
          <a:p>
            <a:pPr marL="0" indent="0">
              <a:buNone/>
            </a:pPr>
            <a:r>
              <a:rPr lang="en-US" sz="1500" b="1" dirty="0">
                <a:solidFill>
                  <a:schemeClr val="accent1"/>
                </a:solidFill>
              </a:rPr>
              <a:t>À rendre</a:t>
            </a:r>
            <a:endParaRPr lang="en-US" sz="1500" dirty="0"/>
          </a:p>
        </p:txBody>
      </p:sp>
      <p:sp>
        <p:nvSpPr>
          <p:cNvPr id="33" name="txt-1311"/>
          <p:cNvSpPr txBox="1"/>
          <p:nvPr/>
        </p:nvSpPr>
        <p:spPr>
          <a:xfrm>
            <a:off x="7452360" y="5394960"/>
            <a:ext cx="4023360" cy="777240"/>
          </a:xfrm>
          <a:prstGeom prst="rect">
            <a:avLst/>
          </a:prstGeom>
          <a:noFill/>
          <a:ln/>
        </p:spPr>
        <p:txBody>
          <a:bodyPr wrap="square" lIns="0" tIns="0" rIns="0" bIns="0" rtlCol="0" anchor="t"/>
          <a:lstStyle/>
          <a:p>
            <a:pPr marL="0" indent="0">
              <a:buNone/>
            </a:pPr>
            <a:r>
              <a:rPr lang="en-US" sz="1300" dirty="0">
                <a:solidFill>
                  <a:schemeClr val="bg1"/>
                </a:solidFill>
              </a:rPr>
              <a:t>Fiche 2 : votre matrice de synthèse vérifiée et le résultat du piège</a:t>
            </a:r>
            <a:endParaRPr lang="en-US" sz="1300" dirty="0"/>
          </a:p>
        </p:txBody>
      </p:sp>
      <p:sp>
        <p:nvSpPr>
          <p:cNvPr id="34" name="Slide Number Placeholder 0"/>
          <p:cNvSpPr>
            <a:spLocks noGrp="1"/>
          </p:cNvSpPr>
          <p:nvPr>
            <p:ph type="sldNum" sz="quarter" idx="4294967295"/>
          </p:nvPr>
        </p:nvSpPr>
        <p:spPr>
          <a:xfrm>
            <a:off x="11064240" y="6400800"/>
            <a:ext cx="54864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C82"/>
                </a:solidFill>
                <a:latin typeface="Poppins"/>
                <a:ea typeface="Poppins"/>
                <a:cs typeface="Poppins"/>
              </a:defRPr>
            </a:lvl1pPr>
          </a:lstStyle>
          <a:p>
            <a:pPr algn="r"/>
            <a:fld id="{F7021451-1387-4CA6-816F-3879F97B5CBC}" type="slidenum">
              <a:rPr lang="en-US" b="0"/>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566928"/>
            <a:ext cx="11064240" cy="777240"/>
          </a:xfrm>
          <a:prstGeom prst="rect">
            <a:avLst/>
          </a:prstGeom>
          <a:noFill/>
          <a:ln/>
        </p:spPr>
        <p:txBody>
          <a:bodyPr wrap="square" lIns="0" tIns="0" rIns="0" bIns="0" rtlCol="0" anchor="ctr"/>
          <a:lstStyle/>
          <a:p>
            <a:pPr marL="0" indent="0" algn="l">
              <a:buNone/>
            </a:pPr>
            <a:r>
              <a:rPr lang="en-US" sz="2700" b="1" dirty="0">
                <a:solidFill>
                  <a:schemeClr val="tx2"/>
                </a:solidFill>
                <a:latin typeface="Poppins" pitchFamily="34" charset="0"/>
                <a:ea typeface="Poppins" pitchFamily="34" charset="-122"/>
                <a:cs typeface="Poppins" pitchFamily="34" charset="-120"/>
              </a:rPr>
              <a:t>Le codage thématique : où l'IA peut aider</a:t>
            </a:r>
            <a:endParaRPr lang="en-US" sz="2700" dirty="0"/>
          </a:p>
        </p:txBody>
      </p:sp>
      <p:sp>
        <p:nvSpPr>
          <p:cNvPr id="3" name="Text 0"/>
          <p:cNvSpPr>
            <a:spLocks noGrp="1"/>
          </p:cNvSpPr>
          <p:nvPr>
            <p:ph type="body" idx="101" hasCustomPrompt="1"/>
          </p:nvPr>
        </p:nvSpPr>
        <p:spPr>
          <a:xfrm>
            <a:off x="548640" y="256032"/>
            <a:ext cx="8229600" cy="292608"/>
          </a:xfrm>
          <a:prstGeom prst="rect">
            <a:avLst/>
          </a:prstGeom>
          <a:noFill/>
          <a:ln/>
        </p:spPr>
        <p:txBody>
          <a:bodyPr wrap="square" lIns="0" tIns="0" rIns="0" bIns="0" rtlCol="0" anchor="ctr"/>
          <a:lstStyle/>
          <a:p>
            <a:pPr marL="0" indent="0">
              <a:buNone/>
            </a:pPr>
            <a:r>
              <a:rPr lang="en-US" sz="1100" b="1" dirty="0">
                <a:solidFill>
                  <a:schemeClr val="accent1"/>
                </a:solidFill>
                <a:latin typeface="Poppins" pitchFamily="34" charset="0"/>
                <a:ea typeface="Poppins" pitchFamily="34" charset="-122"/>
                <a:cs typeface="Poppins" pitchFamily="34" charset="-120"/>
              </a:rPr>
              <a:t>T3 · ANALYSE QUALITATIVE</a:t>
            </a:r>
            <a:endParaRPr lang="en-US" sz="1100" dirty="0"/>
          </a:p>
        </p:txBody>
      </p:sp>
      <p:sp>
        <p:nvSpPr>
          <p:cNvPr id="4" name="num-1312"/>
          <p:cNvSpPr/>
          <p:nvPr/>
        </p:nvSpPr>
        <p:spPr>
          <a:xfrm>
            <a:off x="1097280" y="1691640"/>
            <a:ext cx="685800" cy="685800"/>
          </a:xfrm>
          <a:prstGeom prst="ellipse">
            <a:avLst/>
          </a:prstGeom>
          <a:solidFill>
            <a:schemeClr val="tx2"/>
          </a:solidFill>
          <a:ln w="12700">
            <a:solidFill>
              <a:schemeClr val="tx2"/>
            </a:solidFill>
            <a:prstDash val="solid"/>
          </a:ln>
        </p:spPr>
      </p:sp>
      <p:sp>
        <p:nvSpPr>
          <p:cNvPr id="5" name="txt-1313"/>
          <p:cNvSpPr txBox="1"/>
          <p:nvPr/>
        </p:nvSpPr>
        <p:spPr>
          <a:xfrm>
            <a:off x="1097280" y="1691640"/>
            <a:ext cx="685800" cy="685800"/>
          </a:xfrm>
          <a:prstGeom prst="rect">
            <a:avLst/>
          </a:prstGeom>
          <a:noFill/>
          <a:ln/>
        </p:spPr>
        <p:txBody>
          <a:bodyPr wrap="square" lIns="0" tIns="0" rIns="0" bIns="0" rtlCol="0" anchor="ctr"/>
          <a:lstStyle/>
          <a:p>
            <a:pPr marL="0" indent="0" algn="ctr">
              <a:buNone/>
            </a:pPr>
            <a:r>
              <a:rPr lang="en-US" sz="2300" b="1" dirty="0">
                <a:solidFill>
                  <a:schemeClr val="bg1"/>
                </a:solidFill>
              </a:rPr>
              <a:t>1</a:t>
            </a:r>
            <a:endParaRPr lang="en-US" sz="2300" dirty="0"/>
          </a:p>
        </p:txBody>
      </p:sp>
      <p:sp>
        <p:nvSpPr>
          <p:cNvPr id="6" name="arrow-1314"/>
          <p:cNvSpPr/>
          <p:nvPr/>
        </p:nvSpPr>
        <p:spPr>
          <a:xfrm>
            <a:off x="1874520" y="2034540"/>
            <a:ext cx="1005840" cy="0"/>
          </a:xfrm>
          <a:prstGeom prst="line">
            <a:avLst/>
          </a:prstGeom>
          <a:noFill/>
          <a:ln w="22225">
            <a:solidFill>
              <a:srgbClr val="6B7C82"/>
            </a:solidFill>
            <a:prstDash val="solid"/>
            <a:tailEnd type="triangle"/>
          </a:ln>
        </p:spPr>
      </p:sp>
      <p:sp>
        <p:nvSpPr>
          <p:cNvPr id="7" name="txt-1315"/>
          <p:cNvSpPr txBox="1"/>
          <p:nvPr/>
        </p:nvSpPr>
        <p:spPr>
          <a:xfrm>
            <a:off x="548640" y="2560320"/>
            <a:ext cx="1783080" cy="731520"/>
          </a:xfrm>
          <a:prstGeom prst="rect">
            <a:avLst/>
          </a:prstGeom>
          <a:noFill/>
          <a:ln/>
        </p:spPr>
        <p:txBody>
          <a:bodyPr wrap="square" lIns="0" tIns="0" rIns="0" bIns="0" rtlCol="0" anchor="t"/>
          <a:lstStyle/>
          <a:p>
            <a:pPr marL="0" indent="0" algn="ctr">
              <a:buNone/>
            </a:pPr>
            <a:r>
              <a:rPr lang="en-US" sz="1400" b="1" dirty="0">
                <a:solidFill>
                  <a:schemeClr val="tx2"/>
                </a:solidFill>
              </a:rPr>
              <a:t>Se familiariser</a:t>
            </a:r>
            <a:endParaRPr lang="en-US" sz="1400" dirty="0"/>
          </a:p>
        </p:txBody>
      </p:sp>
      <p:sp>
        <p:nvSpPr>
          <p:cNvPr id="8" name="card-1316"/>
          <p:cNvSpPr/>
          <p:nvPr/>
        </p:nvSpPr>
        <p:spPr>
          <a:xfrm>
            <a:off x="640080" y="3383280"/>
            <a:ext cx="1600200" cy="502920"/>
          </a:xfrm>
          <a:prstGeom prst="roundRect">
            <a:avLst>
              <a:gd name="adj" fmla="val 14545"/>
            </a:avLst>
          </a:prstGeom>
          <a:solidFill>
            <a:schemeClr val="tx2"/>
          </a:solidFill>
          <a:ln w="6350">
            <a:solidFill>
              <a:schemeClr val="tx2"/>
            </a:solidFill>
            <a:prstDash val="solid"/>
          </a:ln>
        </p:spPr>
      </p:sp>
      <p:sp>
        <p:nvSpPr>
          <p:cNvPr id="9" name="txt-1317"/>
          <p:cNvSpPr txBox="1"/>
          <p:nvPr/>
        </p:nvSpPr>
        <p:spPr>
          <a:xfrm>
            <a:off x="640080" y="3383280"/>
            <a:ext cx="1600200" cy="502920"/>
          </a:xfrm>
          <a:prstGeom prst="rect">
            <a:avLst/>
          </a:prstGeom>
          <a:noFill/>
          <a:ln/>
        </p:spPr>
        <p:txBody>
          <a:bodyPr wrap="square" lIns="0" tIns="0" rIns="0" bIns="0" rtlCol="0" anchor="ctr"/>
          <a:lstStyle/>
          <a:p>
            <a:pPr marL="0" indent="0" algn="ctr">
              <a:buNone/>
            </a:pPr>
            <a:r>
              <a:rPr lang="en-US" sz="1200" b="1" dirty="0">
                <a:solidFill>
                  <a:schemeClr val="bg1"/>
                </a:solidFill>
              </a:rPr>
              <a:t>Vous seule</a:t>
            </a:r>
            <a:endParaRPr lang="en-US" sz="1200" dirty="0"/>
          </a:p>
        </p:txBody>
      </p:sp>
      <p:sp>
        <p:nvSpPr>
          <p:cNvPr id="10" name="num-1318"/>
          <p:cNvSpPr/>
          <p:nvPr/>
        </p:nvSpPr>
        <p:spPr>
          <a:xfrm>
            <a:off x="2971800" y="1691640"/>
            <a:ext cx="685800" cy="685800"/>
          </a:xfrm>
          <a:prstGeom prst="ellipse">
            <a:avLst/>
          </a:prstGeom>
          <a:solidFill>
            <a:schemeClr val="tx2"/>
          </a:solidFill>
          <a:ln w="12700">
            <a:solidFill>
              <a:schemeClr val="tx2"/>
            </a:solidFill>
            <a:prstDash val="solid"/>
          </a:ln>
        </p:spPr>
      </p:sp>
      <p:sp>
        <p:nvSpPr>
          <p:cNvPr id="11" name="txt-1319"/>
          <p:cNvSpPr txBox="1"/>
          <p:nvPr/>
        </p:nvSpPr>
        <p:spPr>
          <a:xfrm>
            <a:off x="2971800" y="1691640"/>
            <a:ext cx="685800" cy="685800"/>
          </a:xfrm>
          <a:prstGeom prst="rect">
            <a:avLst/>
          </a:prstGeom>
          <a:noFill/>
          <a:ln/>
        </p:spPr>
        <p:txBody>
          <a:bodyPr wrap="square" lIns="0" tIns="0" rIns="0" bIns="0" rtlCol="0" anchor="ctr"/>
          <a:lstStyle/>
          <a:p>
            <a:pPr marL="0" indent="0" algn="ctr">
              <a:buNone/>
            </a:pPr>
            <a:r>
              <a:rPr lang="en-US" sz="2300" b="1" dirty="0">
                <a:solidFill>
                  <a:schemeClr val="bg1"/>
                </a:solidFill>
              </a:rPr>
              <a:t>2</a:t>
            </a:r>
            <a:endParaRPr lang="en-US" sz="2300" dirty="0"/>
          </a:p>
        </p:txBody>
      </p:sp>
      <p:sp>
        <p:nvSpPr>
          <p:cNvPr id="12" name="arrow-1320"/>
          <p:cNvSpPr/>
          <p:nvPr/>
        </p:nvSpPr>
        <p:spPr>
          <a:xfrm>
            <a:off x="3749040" y="2034540"/>
            <a:ext cx="1005840" cy="0"/>
          </a:xfrm>
          <a:prstGeom prst="line">
            <a:avLst/>
          </a:prstGeom>
          <a:noFill/>
          <a:ln w="22225">
            <a:solidFill>
              <a:srgbClr val="6B7C82"/>
            </a:solidFill>
            <a:prstDash val="solid"/>
            <a:tailEnd type="triangle"/>
          </a:ln>
        </p:spPr>
      </p:sp>
      <p:sp>
        <p:nvSpPr>
          <p:cNvPr id="13" name="txt-1321"/>
          <p:cNvSpPr txBox="1"/>
          <p:nvPr/>
        </p:nvSpPr>
        <p:spPr>
          <a:xfrm>
            <a:off x="2423160" y="2560320"/>
            <a:ext cx="1783080" cy="731520"/>
          </a:xfrm>
          <a:prstGeom prst="rect">
            <a:avLst/>
          </a:prstGeom>
          <a:noFill/>
          <a:ln/>
        </p:spPr>
        <p:txBody>
          <a:bodyPr wrap="square" lIns="0" tIns="0" rIns="0" bIns="0" rtlCol="0" anchor="t"/>
          <a:lstStyle/>
          <a:p>
            <a:pPr marL="0" indent="0" algn="ctr">
              <a:buNone/>
            </a:pPr>
            <a:r>
              <a:rPr lang="en-US" sz="1400" b="1" dirty="0">
                <a:solidFill>
                  <a:schemeClr val="tx2"/>
                </a:solidFill>
              </a:rPr>
              <a:t>Coder</a:t>
            </a:r>
            <a:endParaRPr lang="en-US" sz="1400" dirty="0"/>
          </a:p>
        </p:txBody>
      </p:sp>
      <p:sp>
        <p:nvSpPr>
          <p:cNvPr id="14" name="card-1322"/>
          <p:cNvSpPr/>
          <p:nvPr/>
        </p:nvSpPr>
        <p:spPr>
          <a:xfrm>
            <a:off x="2514600" y="3383280"/>
            <a:ext cx="1600200" cy="502920"/>
          </a:xfrm>
          <a:prstGeom prst="roundRect">
            <a:avLst>
              <a:gd name="adj" fmla="val 14545"/>
            </a:avLst>
          </a:prstGeom>
          <a:solidFill>
            <a:schemeClr val="accent1"/>
          </a:solidFill>
          <a:ln w="6350">
            <a:solidFill>
              <a:schemeClr val="accent1"/>
            </a:solidFill>
            <a:prstDash val="solid"/>
          </a:ln>
        </p:spPr>
      </p:sp>
      <p:sp>
        <p:nvSpPr>
          <p:cNvPr id="15" name="txt-1323"/>
          <p:cNvSpPr txBox="1"/>
          <p:nvPr/>
        </p:nvSpPr>
        <p:spPr>
          <a:xfrm>
            <a:off x="2514600" y="3383280"/>
            <a:ext cx="1600200" cy="502920"/>
          </a:xfrm>
          <a:prstGeom prst="rect">
            <a:avLst/>
          </a:prstGeom>
          <a:noFill/>
          <a:ln/>
        </p:spPr>
        <p:txBody>
          <a:bodyPr wrap="square" lIns="0" tIns="0" rIns="0" bIns="0" rtlCol="0" anchor="ctr"/>
          <a:lstStyle/>
          <a:p>
            <a:pPr marL="0" indent="0" algn="ctr">
              <a:buNone/>
            </a:pPr>
            <a:r>
              <a:rPr lang="en-US" sz="1200" b="1" dirty="0">
                <a:solidFill>
                  <a:schemeClr val="tx2"/>
                </a:solidFill>
              </a:rPr>
              <a:t>IA = assistante</a:t>
            </a:r>
            <a:endParaRPr lang="en-US" sz="1200" dirty="0"/>
          </a:p>
        </p:txBody>
      </p:sp>
      <p:sp>
        <p:nvSpPr>
          <p:cNvPr id="16" name="num-1324"/>
          <p:cNvSpPr/>
          <p:nvPr/>
        </p:nvSpPr>
        <p:spPr>
          <a:xfrm>
            <a:off x="4846320" y="1691640"/>
            <a:ext cx="685800" cy="685800"/>
          </a:xfrm>
          <a:prstGeom prst="ellipse">
            <a:avLst/>
          </a:prstGeom>
          <a:solidFill>
            <a:schemeClr val="tx2"/>
          </a:solidFill>
          <a:ln w="12700">
            <a:solidFill>
              <a:schemeClr val="tx2"/>
            </a:solidFill>
            <a:prstDash val="solid"/>
          </a:ln>
        </p:spPr>
      </p:sp>
      <p:sp>
        <p:nvSpPr>
          <p:cNvPr id="17" name="txt-1325"/>
          <p:cNvSpPr txBox="1"/>
          <p:nvPr/>
        </p:nvSpPr>
        <p:spPr>
          <a:xfrm>
            <a:off x="4846320" y="1691640"/>
            <a:ext cx="685800" cy="685800"/>
          </a:xfrm>
          <a:prstGeom prst="rect">
            <a:avLst/>
          </a:prstGeom>
          <a:noFill/>
          <a:ln/>
        </p:spPr>
        <p:txBody>
          <a:bodyPr wrap="square" lIns="0" tIns="0" rIns="0" bIns="0" rtlCol="0" anchor="ctr"/>
          <a:lstStyle/>
          <a:p>
            <a:pPr marL="0" indent="0" algn="ctr">
              <a:buNone/>
            </a:pPr>
            <a:r>
              <a:rPr lang="en-US" sz="2300" b="1" dirty="0">
                <a:solidFill>
                  <a:schemeClr val="bg1"/>
                </a:solidFill>
              </a:rPr>
              <a:t>3</a:t>
            </a:r>
            <a:endParaRPr lang="en-US" sz="2300" dirty="0"/>
          </a:p>
        </p:txBody>
      </p:sp>
      <p:sp>
        <p:nvSpPr>
          <p:cNvPr id="18" name="arrow-1326"/>
          <p:cNvSpPr/>
          <p:nvPr/>
        </p:nvSpPr>
        <p:spPr>
          <a:xfrm>
            <a:off x="5623560" y="2034540"/>
            <a:ext cx="1005840" cy="0"/>
          </a:xfrm>
          <a:prstGeom prst="line">
            <a:avLst/>
          </a:prstGeom>
          <a:noFill/>
          <a:ln w="22225">
            <a:solidFill>
              <a:srgbClr val="6B7C82"/>
            </a:solidFill>
            <a:prstDash val="solid"/>
            <a:tailEnd type="triangle"/>
          </a:ln>
        </p:spPr>
      </p:sp>
      <p:sp>
        <p:nvSpPr>
          <p:cNvPr id="19" name="txt-1327"/>
          <p:cNvSpPr txBox="1"/>
          <p:nvPr/>
        </p:nvSpPr>
        <p:spPr>
          <a:xfrm>
            <a:off x="4297680" y="2560320"/>
            <a:ext cx="1783080" cy="731520"/>
          </a:xfrm>
          <a:prstGeom prst="rect">
            <a:avLst/>
          </a:prstGeom>
          <a:noFill/>
          <a:ln/>
        </p:spPr>
        <p:txBody>
          <a:bodyPr wrap="square" lIns="0" tIns="0" rIns="0" bIns="0" rtlCol="0" anchor="t"/>
          <a:lstStyle/>
          <a:p>
            <a:pPr marL="0" indent="0" algn="ctr">
              <a:buNone/>
            </a:pPr>
            <a:r>
              <a:rPr lang="en-US" sz="1400" b="1" dirty="0">
                <a:solidFill>
                  <a:schemeClr val="tx2"/>
                </a:solidFill>
              </a:rPr>
              <a:t>Chercher les thèmes</a:t>
            </a:r>
            <a:endParaRPr lang="en-US" sz="1400" dirty="0"/>
          </a:p>
        </p:txBody>
      </p:sp>
      <p:sp>
        <p:nvSpPr>
          <p:cNvPr id="20" name="card-1328"/>
          <p:cNvSpPr/>
          <p:nvPr/>
        </p:nvSpPr>
        <p:spPr>
          <a:xfrm>
            <a:off x="4389120" y="3383280"/>
            <a:ext cx="1600200" cy="502920"/>
          </a:xfrm>
          <a:prstGeom prst="roundRect">
            <a:avLst>
              <a:gd name="adj" fmla="val 14545"/>
            </a:avLst>
          </a:prstGeom>
          <a:solidFill>
            <a:schemeClr val="accent1"/>
          </a:solidFill>
          <a:ln w="6350">
            <a:solidFill>
              <a:schemeClr val="accent1"/>
            </a:solidFill>
            <a:prstDash val="solid"/>
          </a:ln>
        </p:spPr>
      </p:sp>
      <p:sp>
        <p:nvSpPr>
          <p:cNvPr id="21" name="txt-1329"/>
          <p:cNvSpPr txBox="1"/>
          <p:nvPr/>
        </p:nvSpPr>
        <p:spPr>
          <a:xfrm>
            <a:off x="4389120" y="3383280"/>
            <a:ext cx="1600200" cy="502920"/>
          </a:xfrm>
          <a:prstGeom prst="rect">
            <a:avLst/>
          </a:prstGeom>
          <a:noFill/>
          <a:ln/>
        </p:spPr>
        <p:txBody>
          <a:bodyPr wrap="square" lIns="0" tIns="0" rIns="0" bIns="0" rtlCol="0" anchor="ctr"/>
          <a:lstStyle/>
          <a:p>
            <a:pPr marL="0" indent="0" algn="ctr">
              <a:buNone/>
            </a:pPr>
            <a:r>
              <a:rPr lang="en-US" sz="1200" b="1" dirty="0">
                <a:solidFill>
                  <a:schemeClr val="tx2"/>
                </a:solidFill>
              </a:rPr>
              <a:t>IA = assistante</a:t>
            </a:r>
            <a:endParaRPr lang="en-US" sz="1200" dirty="0"/>
          </a:p>
        </p:txBody>
      </p:sp>
      <p:sp>
        <p:nvSpPr>
          <p:cNvPr id="22" name="num-1330"/>
          <p:cNvSpPr/>
          <p:nvPr/>
        </p:nvSpPr>
        <p:spPr>
          <a:xfrm>
            <a:off x="6720840" y="1691640"/>
            <a:ext cx="685800" cy="685800"/>
          </a:xfrm>
          <a:prstGeom prst="ellipse">
            <a:avLst/>
          </a:prstGeom>
          <a:solidFill>
            <a:schemeClr val="tx2"/>
          </a:solidFill>
          <a:ln w="12700">
            <a:solidFill>
              <a:schemeClr val="tx2"/>
            </a:solidFill>
            <a:prstDash val="solid"/>
          </a:ln>
        </p:spPr>
      </p:sp>
      <p:sp>
        <p:nvSpPr>
          <p:cNvPr id="23" name="txt-1331"/>
          <p:cNvSpPr txBox="1"/>
          <p:nvPr/>
        </p:nvSpPr>
        <p:spPr>
          <a:xfrm>
            <a:off x="6720840" y="1691640"/>
            <a:ext cx="685800" cy="685800"/>
          </a:xfrm>
          <a:prstGeom prst="rect">
            <a:avLst/>
          </a:prstGeom>
          <a:noFill/>
          <a:ln/>
        </p:spPr>
        <p:txBody>
          <a:bodyPr wrap="square" lIns="0" tIns="0" rIns="0" bIns="0" rtlCol="0" anchor="ctr"/>
          <a:lstStyle/>
          <a:p>
            <a:pPr marL="0" indent="0" algn="ctr">
              <a:buNone/>
            </a:pPr>
            <a:r>
              <a:rPr lang="en-US" sz="2300" b="1" dirty="0">
                <a:solidFill>
                  <a:schemeClr val="bg1"/>
                </a:solidFill>
              </a:rPr>
              <a:t>4</a:t>
            </a:r>
            <a:endParaRPr lang="en-US" sz="2300" dirty="0"/>
          </a:p>
        </p:txBody>
      </p:sp>
      <p:sp>
        <p:nvSpPr>
          <p:cNvPr id="24" name="arrow-1332"/>
          <p:cNvSpPr/>
          <p:nvPr/>
        </p:nvSpPr>
        <p:spPr>
          <a:xfrm>
            <a:off x="7498080" y="2034540"/>
            <a:ext cx="1005840" cy="0"/>
          </a:xfrm>
          <a:prstGeom prst="line">
            <a:avLst/>
          </a:prstGeom>
          <a:noFill/>
          <a:ln w="22225">
            <a:solidFill>
              <a:srgbClr val="6B7C82"/>
            </a:solidFill>
            <a:prstDash val="solid"/>
            <a:tailEnd type="triangle"/>
          </a:ln>
        </p:spPr>
      </p:sp>
      <p:sp>
        <p:nvSpPr>
          <p:cNvPr id="25" name="txt-1333"/>
          <p:cNvSpPr txBox="1"/>
          <p:nvPr/>
        </p:nvSpPr>
        <p:spPr>
          <a:xfrm>
            <a:off x="6172200" y="2560320"/>
            <a:ext cx="1783080" cy="731520"/>
          </a:xfrm>
          <a:prstGeom prst="rect">
            <a:avLst/>
          </a:prstGeom>
          <a:noFill/>
          <a:ln/>
        </p:spPr>
        <p:txBody>
          <a:bodyPr wrap="square" lIns="0" tIns="0" rIns="0" bIns="0" rtlCol="0" anchor="t"/>
          <a:lstStyle/>
          <a:p>
            <a:pPr marL="0" indent="0" algn="ctr">
              <a:buNone/>
            </a:pPr>
            <a:r>
              <a:rPr lang="en-US" sz="1400" b="1" dirty="0">
                <a:solidFill>
                  <a:schemeClr val="tx2"/>
                </a:solidFill>
              </a:rPr>
              <a:t>Réviser les thèmes</a:t>
            </a:r>
            <a:endParaRPr lang="en-US" sz="1400" dirty="0"/>
          </a:p>
        </p:txBody>
      </p:sp>
      <p:sp>
        <p:nvSpPr>
          <p:cNvPr id="26" name="card-1334"/>
          <p:cNvSpPr/>
          <p:nvPr/>
        </p:nvSpPr>
        <p:spPr>
          <a:xfrm>
            <a:off x="6263640" y="3383280"/>
            <a:ext cx="1600200" cy="502920"/>
          </a:xfrm>
          <a:prstGeom prst="roundRect">
            <a:avLst>
              <a:gd name="adj" fmla="val 14545"/>
            </a:avLst>
          </a:prstGeom>
          <a:solidFill>
            <a:schemeClr val="tx2"/>
          </a:solidFill>
          <a:ln w="6350">
            <a:solidFill>
              <a:schemeClr val="tx2"/>
            </a:solidFill>
            <a:prstDash val="solid"/>
          </a:ln>
        </p:spPr>
      </p:sp>
      <p:sp>
        <p:nvSpPr>
          <p:cNvPr id="27" name="txt-1335"/>
          <p:cNvSpPr txBox="1"/>
          <p:nvPr/>
        </p:nvSpPr>
        <p:spPr>
          <a:xfrm>
            <a:off x="6263640" y="3383280"/>
            <a:ext cx="1600200" cy="502920"/>
          </a:xfrm>
          <a:prstGeom prst="rect">
            <a:avLst/>
          </a:prstGeom>
          <a:noFill/>
          <a:ln/>
        </p:spPr>
        <p:txBody>
          <a:bodyPr wrap="square" lIns="0" tIns="0" rIns="0" bIns="0" rtlCol="0" anchor="ctr"/>
          <a:lstStyle/>
          <a:p>
            <a:pPr marL="0" indent="0" algn="ctr">
              <a:buNone/>
            </a:pPr>
            <a:r>
              <a:rPr lang="en-US" sz="1200" b="1" dirty="0">
                <a:solidFill>
                  <a:schemeClr val="bg1"/>
                </a:solidFill>
              </a:rPr>
              <a:t>Vous seule</a:t>
            </a:r>
            <a:endParaRPr lang="en-US" sz="1200" dirty="0"/>
          </a:p>
        </p:txBody>
      </p:sp>
      <p:sp>
        <p:nvSpPr>
          <p:cNvPr id="28" name="num-1336"/>
          <p:cNvSpPr/>
          <p:nvPr/>
        </p:nvSpPr>
        <p:spPr>
          <a:xfrm>
            <a:off x="8595360" y="1691640"/>
            <a:ext cx="685800" cy="685800"/>
          </a:xfrm>
          <a:prstGeom prst="ellipse">
            <a:avLst/>
          </a:prstGeom>
          <a:solidFill>
            <a:schemeClr val="tx2"/>
          </a:solidFill>
          <a:ln w="12700">
            <a:solidFill>
              <a:schemeClr val="tx2"/>
            </a:solidFill>
            <a:prstDash val="solid"/>
          </a:ln>
        </p:spPr>
      </p:sp>
      <p:sp>
        <p:nvSpPr>
          <p:cNvPr id="29" name="txt-1337"/>
          <p:cNvSpPr txBox="1"/>
          <p:nvPr/>
        </p:nvSpPr>
        <p:spPr>
          <a:xfrm>
            <a:off x="8595360" y="1691640"/>
            <a:ext cx="685800" cy="685800"/>
          </a:xfrm>
          <a:prstGeom prst="rect">
            <a:avLst/>
          </a:prstGeom>
          <a:noFill/>
          <a:ln/>
        </p:spPr>
        <p:txBody>
          <a:bodyPr wrap="square" lIns="0" tIns="0" rIns="0" bIns="0" rtlCol="0" anchor="ctr"/>
          <a:lstStyle/>
          <a:p>
            <a:pPr marL="0" indent="0" algn="ctr">
              <a:buNone/>
            </a:pPr>
            <a:r>
              <a:rPr lang="en-US" sz="2300" b="1" dirty="0">
                <a:solidFill>
                  <a:schemeClr val="bg1"/>
                </a:solidFill>
              </a:rPr>
              <a:t>5</a:t>
            </a:r>
            <a:endParaRPr lang="en-US" sz="2300" dirty="0"/>
          </a:p>
        </p:txBody>
      </p:sp>
      <p:sp>
        <p:nvSpPr>
          <p:cNvPr id="30" name="arrow-1338"/>
          <p:cNvSpPr/>
          <p:nvPr/>
        </p:nvSpPr>
        <p:spPr>
          <a:xfrm>
            <a:off x="9372600" y="2034540"/>
            <a:ext cx="1005840" cy="0"/>
          </a:xfrm>
          <a:prstGeom prst="line">
            <a:avLst/>
          </a:prstGeom>
          <a:noFill/>
          <a:ln w="22225">
            <a:solidFill>
              <a:srgbClr val="6B7C82"/>
            </a:solidFill>
            <a:prstDash val="solid"/>
            <a:tailEnd type="triangle"/>
          </a:ln>
        </p:spPr>
      </p:sp>
      <p:sp>
        <p:nvSpPr>
          <p:cNvPr id="31" name="txt-1339"/>
          <p:cNvSpPr txBox="1"/>
          <p:nvPr/>
        </p:nvSpPr>
        <p:spPr>
          <a:xfrm>
            <a:off x="8046720" y="2560320"/>
            <a:ext cx="1783080" cy="731520"/>
          </a:xfrm>
          <a:prstGeom prst="rect">
            <a:avLst/>
          </a:prstGeom>
          <a:noFill/>
          <a:ln/>
        </p:spPr>
        <p:txBody>
          <a:bodyPr wrap="square" lIns="0" tIns="0" rIns="0" bIns="0" rtlCol="0" anchor="t"/>
          <a:lstStyle/>
          <a:p>
            <a:pPr marL="0" indent="0" algn="ctr">
              <a:buNone/>
            </a:pPr>
            <a:r>
              <a:rPr lang="en-US" sz="1400" b="1" dirty="0">
                <a:solidFill>
                  <a:schemeClr val="tx2"/>
                </a:solidFill>
              </a:rPr>
              <a:t>Définir et nommer</a:t>
            </a:r>
            <a:endParaRPr lang="en-US" sz="1400" dirty="0"/>
          </a:p>
        </p:txBody>
      </p:sp>
      <p:sp>
        <p:nvSpPr>
          <p:cNvPr id="32" name="card-1340"/>
          <p:cNvSpPr/>
          <p:nvPr/>
        </p:nvSpPr>
        <p:spPr>
          <a:xfrm>
            <a:off x="8138160" y="3383280"/>
            <a:ext cx="1600200" cy="502920"/>
          </a:xfrm>
          <a:prstGeom prst="roundRect">
            <a:avLst>
              <a:gd name="adj" fmla="val 14545"/>
            </a:avLst>
          </a:prstGeom>
          <a:solidFill>
            <a:schemeClr val="accent1"/>
          </a:solidFill>
          <a:ln w="6350">
            <a:solidFill>
              <a:schemeClr val="accent1"/>
            </a:solidFill>
            <a:prstDash val="solid"/>
          </a:ln>
        </p:spPr>
      </p:sp>
      <p:sp>
        <p:nvSpPr>
          <p:cNvPr id="33" name="txt-1341"/>
          <p:cNvSpPr txBox="1"/>
          <p:nvPr/>
        </p:nvSpPr>
        <p:spPr>
          <a:xfrm>
            <a:off x="8138160" y="3383280"/>
            <a:ext cx="1600200" cy="502920"/>
          </a:xfrm>
          <a:prstGeom prst="rect">
            <a:avLst/>
          </a:prstGeom>
          <a:noFill/>
          <a:ln/>
        </p:spPr>
        <p:txBody>
          <a:bodyPr wrap="square" lIns="0" tIns="0" rIns="0" bIns="0" rtlCol="0" anchor="ctr"/>
          <a:lstStyle/>
          <a:p>
            <a:pPr marL="0" indent="0" algn="ctr">
              <a:buNone/>
            </a:pPr>
            <a:r>
              <a:rPr lang="en-US" sz="1200" b="1" dirty="0">
                <a:solidFill>
                  <a:schemeClr val="tx2"/>
                </a:solidFill>
              </a:rPr>
              <a:t>IA = assistante</a:t>
            </a:r>
            <a:endParaRPr lang="en-US" sz="1200" dirty="0"/>
          </a:p>
        </p:txBody>
      </p:sp>
      <p:sp>
        <p:nvSpPr>
          <p:cNvPr id="34" name="num-1342"/>
          <p:cNvSpPr/>
          <p:nvPr/>
        </p:nvSpPr>
        <p:spPr>
          <a:xfrm>
            <a:off x="10469880" y="1691640"/>
            <a:ext cx="685800" cy="685800"/>
          </a:xfrm>
          <a:prstGeom prst="ellipse">
            <a:avLst/>
          </a:prstGeom>
          <a:solidFill>
            <a:schemeClr val="tx2"/>
          </a:solidFill>
          <a:ln w="12700">
            <a:solidFill>
              <a:schemeClr val="tx2"/>
            </a:solidFill>
            <a:prstDash val="solid"/>
          </a:ln>
        </p:spPr>
      </p:sp>
      <p:sp>
        <p:nvSpPr>
          <p:cNvPr id="35" name="txt-1343"/>
          <p:cNvSpPr txBox="1"/>
          <p:nvPr/>
        </p:nvSpPr>
        <p:spPr>
          <a:xfrm>
            <a:off x="10469880" y="1691640"/>
            <a:ext cx="685800" cy="685800"/>
          </a:xfrm>
          <a:prstGeom prst="rect">
            <a:avLst/>
          </a:prstGeom>
          <a:noFill/>
          <a:ln/>
        </p:spPr>
        <p:txBody>
          <a:bodyPr wrap="square" lIns="0" tIns="0" rIns="0" bIns="0" rtlCol="0" anchor="ctr"/>
          <a:lstStyle/>
          <a:p>
            <a:pPr marL="0" indent="0" algn="ctr">
              <a:buNone/>
            </a:pPr>
            <a:r>
              <a:rPr lang="en-US" sz="2300" b="1" dirty="0">
                <a:solidFill>
                  <a:schemeClr val="bg1"/>
                </a:solidFill>
              </a:rPr>
              <a:t>6</a:t>
            </a:r>
            <a:endParaRPr lang="en-US" sz="2300" dirty="0"/>
          </a:p>
        </p:txBody>
      </p:sp>
      <p:sp>
        <p:nvSpPr>
          <p:cNvPr id="36" name="txt-1344"/>
          <p:cNvSpPr txBox="1"/>
          <p:nvPr/>
        </p:nvSpPr>
        <p:spPr>
          <a:xfrm>
            <a:off x="9921240" y="2560320"/>
            <a:ext cx="1783080" cy="731520"/>
          </a:xfrm>
          <a:prstGeom prst="rect">
            <a:avLst/>
          </a:prstGeom>
          <a:noFill/>
          <a:ln/>
        </p:spPr>
        <p:txBody>
          <a:bodyPr wrap="square" lIns="0" tIns="0" rIns="0" bIns="0" rtlCol="0" anchor="t"/>
          <a:lstStyle/>
          <a:p>
            <a:pPr marL="0" indent="0" algn="ctr">
              <a:buNone/>
            </a:pPr>
            <a:r>
              <a:rPr lang="en-US" sz="1400" b="1" dirty="0">
                <a:solidFill>
                  <a:schemeClr val="tx2"/>
                </a:solidFill>
              </a:rPr>
              <a:t>Rédiger</a:t>
            </a:r>
            <a:endParaRPr lang="en-US" sz="1400" dirty="0"/>
          </a:p>
        </p:txBody>
      </p:sp>
      <p:sp>
        <p:nvSpPr>
          <p:cNvPr id="37" name="card-1345"/>
          <p:cNvSpPr/>
          <p:nvPr/>
        </p:nvSpPr>
        <p:spPr>
          <a:xfrm>
            <a:off x="10012680" y="3383280"/>
            <a:ext cx="1600200" cy="502920"/>
          </a:xfrm>
          <a:prstGeom prst="roundRect">
            <a:avLst>
              <a:gd name="adj" fmla="val 14545"/>
            </a:avLst>
          </a:prstGeom>
          <a:solidFill>
            <a:schemeClr val="accent1"/>
          </a:solidFill>
          <a:ln w="6350">
            <a:solidFill>
              <a:schemeClr val="accent1"/>
            </a:solidFill>
            <a:prstDash val="solid"/>
          </a:ln>
        </p:spPr>
      </p:sp>
      <p:sp>
        <p:nvSpPr>
          <p:cNvPr id="38" name="txt-1346"/>
          <p:cNvSpPr txBox="1"/>
          <p:nvPr/>
        </p:nvSpPr>
        <p:spPr>
          <a:xfrm>
            <a:off x="10012680" y="3383280"/>
            <a:ext cx="1600200" cy="502920"/>
          </a:xfrm>
          <a:prstGeom prst="rect">
            <a:avLst/>
          </a:prstGeom>
          <a:noFill/>
          <a:ln/>
        </p:spPr>
        <p:txBody>
          <a:bodyPr wrap="square" lIns="0" tIns="0" rIns="0" bIns="0" rtlCol="0" anchor="ctr"/>
          <a:lstStyle/>
          <a:p>
            <a:pPr marL="0" indent="0" algn="ctr">
              <a:buNone/>
            </a:pPr>
            <a:r>
              <a:rPr lang="en-US" sz="1200" b="1" dirty="0">
                <a:solidFill>
                  <a:schemeClr val="tx2"/>
                </a:solidFill>
              </a:rPr>
              <a:t>IA = assistante</a:t>
            </a:r>
            <a:endParaRPr lang="en-US" sz="1200" dirty="0"/>
          </a:p>
        </p:txBody>
      </p:sp>
      <p:sp>
        <p:nvSpPr>
          <p:cNvPr id="39" name="card-1347"/>
          <p:cNvSpPr/>
          <p:nvPr/>
        </p:nvSpPr>
        <p:spPr>
          <a:xfrm>
            <a:off x="548640" y="4343400"/>
            <a:ext cx="11064240" cy="1417320"/>
          </a:xfrm>
          <a:prstGeom prst="roundRect">
            <a:avLst>
              <a:gd name="adj" fmla="val 5161"/>
            </a:avLst>
          </a:prstGeom>
          <a:solidFill>
            <a:schemeClr val="bg2"/>
          </a:solidFill>
          <a:ln w="6350">
            <a:solidFill>
              <a:schemeClr val="bg2"/>
            </a:solidFill>
            <a:prstDash val="solid"/>
          </a:ln>
        </p:spPr>
      </p:sp>
      <p:sp>
        <p:nvSpPr>
          <p:cNvPr id="40" name="txt-1348"/>
          <p:cNvSpPr txBox="1"/>
          <p:nvPr/>
        </p:nvSpPr>
        <p:spPr>
          <a:xfrm>
            <a:off x="822960" y="4480560"/>
            <a:ext cx="10515600" cy="1188720"/>
          </a:xfrm>
          <a:prstGeom prst="rect">
            <a:avLst/>
          </a:prstGeom>
          <a:noFill/>
          <a:ln/>
        </p:spPr>
        <p:txBody>
          <a:bodyPr wrap="square" lIns="0" tIns="0" rIns="0" bIns="0" rtlCol="0" anchor="ctr"/>
          <a:lstStyle/>
          <a:p>
            <a:pPr marL="0" indent="0">
              <a:buNone/>
            </a:pPr>
            <a:r>
              <a:rPr lang="en-US" sz="1500" b="1" dirty="0">
                <a:solidFill>
                  <a:schemeClr val="tx2"/>
                </a:solidFill>
              </a:rPr>
              <a:t>Pourquoi « vous seule » aux étapes 1 et 4 ? </a:t>
            </a:r>
            <a:r>
              <a:rPr lang="en-US" sz="1500" dirty="0">
                <a:solidFill>
                  <a:schemeClr val="tx1"/>
                </a:solidFill>
              </a:rPr>
              <a:t>Lire vos entretiens et juger si un thème tient vraiment, c'est le cœur de votre expertise. L'IA accélère le reste ; elle ne remplace pas votre interprétation.</a:t>
            </a:r>
            <a:endParaRPr lang="en-US" sz="1500" dirty="0"/>
          </a:p>
        </p:txBody>
      </p:sp>
      <p:sp>
        <p:nvSpPr>
          <p:cNvPr id="41" name="txt-1349"/>
          <p:cNvSpPr txBox="1"/>
          <p:nvPr/>
        </p:nvSpPr>
        <p:spPr>
          <a:xfrm>
            <a:off x="548640" y="6053328"/>
            <a:ext cx="11064240" cy="256032"/>
          </a:xfrm>
          <a:prstGeom prst="rect">
            <a:avLst/>
          </a:prstGeom>
          <a:noFill/>
          <a:ln/>
        </p:spPr>
        <p:txBody>
          <a:bodyPr wrap="square" lIns="0" tIns="0" rIns="0" bIns="0" rtlCol="0" anchor="t"/>
          <a:lstStyle/>
          <a:p>
            <a:pPr marL="0" indent="0">
              <a:buNone/>
            </a:pPr>
            <a:r>
              <a:rPr lang="en-US" sz="1000" i="1" dirty="0">
                <a:solidFill>
                  <a:schemeClr val="accent5"/>
                </a:solidFill>
              </a:rPr>
              <a:t>Étapes d'après Braun &amp; Clarke (2006).</a:t>
            </a:r>
            <a:endParaRPr lang="en-US" sz="1000" dirty="0"/>
          </a:p>
        </p:txBody>
      </p:sp>
      <p:sp>
        <p:nvSpPr>
          <p:cNvPr id="42" name="Slide Number Placeholder 0"/>
          <p:cNvSpPr>
            <a:spLocks noGrp="1"/>
          </p:cNvSpPr>
          <p:nvPr>
            <p:ph type="sldNum" sz="quarter" idx="4294967295"/>
          </p:nvPr>
        </p:nvSpPr>
        <p:spPr>
          <a:xfrm>
            <a:off x="11064240" y="6400800"/>
            <a:ext cx="54864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C82"/>
                </a:solidFill>
                <a:latin typeface="Poppins"/>
                <a:ea typeface="Poppins"/>
                <a:cs typeface="Poppins"/>
              </a:defRPr>
            </a:lvl1pPr>
          </a:lstStyle>
          <a:p>
            <a:pPr algn="r"/>
            <a:fld id="{F7021451-1387-4CA6-816F-3879F97B5CBC}" type="slidenum">
              <a:rPr lang="en-US" b="0"/>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566928"/>
            <a:ext cx="11064240" cy="777240"/>
          </a:xfrm>
          <a:prstGeom prst="rect">
            <a:avLst/>
          </a:prstGeom>
          <a:noFill/>
          <a:ln/>
        </p:spPr>
        <p:txBody>
          <a:bodyPr wrap="square" lIns="0" tIns="0" rIns="0" bIns="0" rtlCol="0" anchor="ctr"/>
          <a:lstStyle/>
          <a:p>
            <a:pPr marL="0" indent="0" algn="l">
              <a:buNone/>
            </a:pPr>
            <a:r>
              <a:rPr lang="en-US" sz="2700" b="1" dirty="0">
                <a:solidFill>
                  <a:schemeClr val="tx2"/>
                </a:solidFill>
                <a:latin typeface="Poppins" pitchFamily="34" charset="0"/>
                <a:ea typeface="Poppins" pitchFamily="34" charset="-122"/>
                <a:cs typeface="Poppins" pitchFamily="34" charset="-120"/>
              </a:rPr>
              <a:t>L'IA propose, la chercheure dispose</a:t>
            </a:r>
            <a:endParaRPr lang="en-US" sz="2700" dirty="0"/>
          </a:p>
        </p:txBody>
      </p:sp>
      <p:sp>
        <p:nvSpPr>
          <p:cNvPr id="3" name="Text 0"/>
          <p:cNvSpPr>
            <a:spLocks noGrp="1"/>
          </p:cNvSpPr>
          <p:nvPr>
            <p:ph type="body" idx="101" hasCustomPrompt="1"/>
          </p:nvPr>
        </p:nvSpPr>
        <p:spPr>
          <a:xfrm>
            <a:off x="548640" y="256032"/>
            <a:ext cx="8229600" cy="292608"/>
          </a:xfrm>
          <a:prstGeom prst="rect">
            <a:avLst/>
          </a:prstGeom>
          <a:noFill/>
          <a:ln/>
        </p:spPr>
        <p:txBody>
          <a:bodyPr wrap="square" lIns="0" tIns="0" rIns="0" bIns="0" rtlCol="0" anchor="ctr"/>
          <a:lstStyle/>
          <a:p>
            <a:pPr marL="0" indent="0">
              <a:buNone/>
            </a:pPr>
            <a:r>
              <a:rPr lang="en-US" sz="1100" b="1" dirty="0">
                <a:solidFill>
                  <a:schemeClr val="accent1"/>
                </a:solidFill>
                <a:latin typeface="Poppins" pitchFamily="34" charset="0"/>
                <a:ea typeface="Poppins" pitchFamily="34" charset="-122"/>
                <a:cs typeface="Poppins" pitchFamily="34" charset="-120"/>
              </a:rPr>
              <a:t>T3 · ANALYSE QUALITATIVE</a:t>
            </a:r>
            <a:endParaRPr lang="en-US" sz="1100" dirty="0"/>
          </a:p>
        </p:txBody>
      </p:sp>
      <p:sp>
        <p:nvSpPr>
          <p:cNvPr id="4" name="card-1350"/>
          <p:cNvSpPr/>
          <p:nvPr/>
        </p:nvSpPr>
        <p:spPr>
          <a:xfrm>
            <a:off x="548640" y="1600200"/>
            <a:ext cx="2606040" cy="2606040"/>
          </a:xfrm>
          <a:prstGeom prst="roundRect">
            <a:avLst>
              <a:gd name="adj" fmla="val 2807"/>
            </a:avLst>
          </a:prstGeom>
          <a:solidFill>
            <a:schemeClr val="bg2"/>
          </a:solidFill>
          <a:ln w="6350">
            <a:solidFill>
              <a:schemeClr val="bg2"/>
            </a:solidFill>
            <a:prstDash val="solid"/>
          </a:ln>
        </p:spPr>
      </p:sp>
      <p:sp>
        <p:nvSpPr>
          <p:cNvPr id="5" name="circle-1351"/>
          <p:cNvSpPr/>
          <p:nvPr/>
        </p:nvSpPr>
        <p:spPr>
          <a:xfrm>
            <a:off x="822960" y="1828800"/>
            <a:ext cx="685800" cy="685800"/>
          </a:xfrm>
          <a:prstGeom prst="ellipse">
            <a:avLst/>
          </a:prstGeom>
          <a:solidFill>
            <a:schemeClr val="accent3"/>
          </a:solidFill>
          <a:ln w="12700">
            <a:solidFill>
              <a:schemeClr val="accent3"/>
            </a:solidFill>
            <a:prstDash val="solid"/>
          </a:ln>
        </p:spPr>
      </p:sp>
      <p:pic>
        <p:nvPicPr>
          <p:cNvPr id="6" name="icon-1352" descr="preencoded.png"/>
          <p:cNvPicPr>
            <a:picLocks noChangeAspect="1"/>
          </p:cNvPicPr>
          <p:nvPr/>
        </p:nvPicPr>
        <p:blipFill>
          <a:blip r:embed="rId3"/>
          <a:stretch>
            <a:fillRect/>
          </a:stretch>
        </p:blipFill>
        <p:spPr>
          <a:xfrm>
            <a:off x="994410" y="2000250"/>
            <a:ext cx="342900" cy="342900"/>
          </a:xfrm>
          <a:prstGeom prst="rect">
            <a:avLst/>
          </a:prstGeom>
        </p:spPr>
      </p:pic>
      <p:sp>
        <p:nvSpPr>
          <p:cNvPr id="7" name="txt-1353"/>
          <p:cNvSpPr txBox="1"/>
          <p:nvPr/>
        </p:nvSpPr>
        <p:spPr>
          <a:xfrm>
            <a:off x="822960" y="2651760"/>
            <a:ext cx="2148840" cy="411480"/>
          </a:xfrm>
          <a:prstGeom prst="rect">
            <a:avLst/>
          </a:prstGeom>
          <a:noFill/>
          <a:ln/>
        </p:spPr>
        <p:txBody>
          <a:bodyPr wrap="square" lIns="0" tIns="0" rIns="0" bIns="0" rtlCol="0" anchor="t"/>
          <a:lstStyle/>
          <a:p>
            <a:pPr marL="0" indent="0">
              <a:buNone/>
            </a:pPr>
            <a:r>
              <a:rPr lang="en-US" sz="1500" b="1" dirty="0">
                <a:solidFill>
                  <a:schemeClr val="tx2"/>
                </a:solidFill>
              </a:rPr>
              <a:t>Surinterprétation</a:t>
            </a:r>
            <a:endParaRPr lang="en-US" sz="1500" dirty="0"/>
          </a:p>
        </p:txBody>
      </p:sp>
      <p:sp>
        <p:nvSpPr>
          <p:cNvPr id="8" name="txt-1354"/>
          <p:cNvSpPr txBox="1"/>
          <p:nvPr/>
        </p:nvSpPr>
        <p:spPr>
          <a:xfrm>
            <a:off x="822960" y="3108960"/>
            <a:ext cx="2148840" cy="1005840"/>
          </a:xfrm>
          <a:prstGeom prst="rect">
            <a:avLst/>
          </a:prstGeom>
          <a:noFill/>
          <a:ln/>
        </p:spPr>
        <p:txBody>
          <a:bodyPr wrap="square" lIns="0" tIns="0" rIns="0" bIns="0" rtlCol="0" anchor="t"/>
          <a:lstStyle/>
          <a:p>
            <a:pPr marL="0" indent="0">
              <a:buNone/>
            </a:pPr>
            <a:r>
              <a:rPr lang="en-US" sz="1300" dirty="0">
                <a:solidFill>
                  <a:schemeClr val="tx1"/>
                </a:solidFill>
              </a:rPr>
              <a:t>Elle trouve des thèmes même là où il n'y en a pas</a:t>
            </a:r>
            <a:endParaRPr lang="en-US" sz="1300" dirty="0"/>
          </a:p>
        </p:txBody>
      </p:sp>
      <p:sp>
        <p:nvSpPr>
          <p:cNvPr id="9" name="card-1355"/>
          <p:cNvSpPr/>
          <p:nvPr/>
        </p:nvSpPr>
        <p:spPr>
          <a:xfrm>
            <a:off x="3364992" y="1600200"/>
            <a:ext cx="2606040" cy="2606040"/>
          </a:xfrm>
          <a:prstGeom prst="roundRect">
            <a:avLst>
              <a:gd name="adj" fmla="val 2807"/>
            </a:avLst>
          </a:prstGeom>
          <a:solidFill>
            <a:schemeClr val="bg2"/>
          </a:solidFill>
          <a:ln w="6350">
            <a:solidFill>
              <a:schemeClr val="bg2"/>
            </a:solidFill>
            <a:prstDash val="solid"/>
          </a:ln>
        </p:spPr>
      </p:sp>
      <p:sp>
        <p:nvSpPr>
          <p:cNvPr id="10" name="circle-1356"/>
          <p:cNvSpPr/>
          <p:nvPr/>
        </p:nvSpPr>
        <p:spPr>
          <a:xfrm>
            <a:off x="3639312" y="1828800"/>
            <a:ext cx="685800" cy="685800"/>
          </a:xfrm>
          <a:prstGeom prst="ellipse">
            <a:avLst/>
          </a:prstGeom>
          <a:solidFill>
            <a:schemeClr val="accent3"/>
          </a:solidFill>
          <a:ln w="12700">
            <a:solidFill>
              <a:schemeClr val="accent3"/>
            </a:solidFill>
            <a:prstDash val="solid"/>
          </a:ln>
        </p:spPr>
      </p:sp>
      <p:pic>
        <p:nvPicPr>
          <p:cNvPr id="11" name="icon-1357" descr="preencoded.png"/>
          <p:cNvPicPr>
            <a:picLocks noChangeAspect="1"/>
          </p:cNvPicPr>
          <p:nvPr/>
        </p:nvPicPr>
        <p:blipFill>
          <a:blip r:embed="rId4"/>
          <a:stretch>
            <a:fillRect/>
          </a:stretch>
        </p:blipFill>
        <p:spPr>
          <a:xfrm>
            <a:off x="3810762" y="2000250"/>
            <a:ext cx="342900" cy="342900"/>
          </a:xfrm>
          <a:prstGeom prst="rect">
            <a:avLst/>
          </a:prstGeom>
        </p:spPr>
      </p:pic>
      <p:sp>
        <p:nvSpPr>
          <p:cNvPr id="12" name="txt-1358"/>
          <p:cNvSpPr txBox="1"/>
          <p:nvPr/>
        </p:nvSpPr>
        <p:spPr>
          <a:xfrm>
            <a:off x="3639312" y="2651760"/>
            <a:ext cx="2148840" cy="411480"/>
          </a:xfrm>
          <a:prstGeom prst="rect">
            <a:avLst/>
          </a:prstGeom>
          <a:noFill/>
          <a:ln/>
        </p:spPr>
        <p:txBody>
          <a:bodyPr wrap="square" lIns="0" tIns="0" rIns="0" bIns="0" rtlCol="0" anchor="t"/>
          <a:lstStyle/>
          <a:p>
            <a:pPr marL="0" indent="0">
              <a:buNone/>
            </a:pPr>
            <a:r>
              <a:rPr lang="en-US" sz="1500" b="1" dirty="0">
                <a:solidFill>
                  <a:schemeClr val="tx2"/>
                </a:solidFill>
              </a:rPr>
              <a:t>Nuances culturelles</a:t>
            </a:r>
            <a:endParaRPr lang="en-US" sz="1500" dirty="0"/>
          </a:p>
        </p:txBody>
      </p:sp>
      <p:sp>
        <p:nvSpPr>
          <p:cNvPr id="13" name="txt-1359"/>
          <p:cNvSpPr txBox="1"/>
          <p:nvPr/>
        </p:nvSpPr>
        <p:spPr>
          <a:xfrm>
            <a:off x="3639312" y="3108960"/>
            <a:ext cx="2148840" cy="1005840"/>
          </a:xfrm>
          <a:prstGeom prst="rect">
            <a:avLst/>
          </a:prstGeom>
          <a:noFill/>
          <a:ln/>
        </p:spPr>
        <p:txBody>
          <a:bodyPr wrap="square" lIns="0" tIns="0" rIns="0" bIns="0" rtlCol="0" anchor="t"/>
          <a:lstStyle/>
          <a:p>
            <a:pPr marL="0" indent="0">
              <a:buNone/>
            </a:pPr>
            <a:r>
              <a:rPr lang="en-US" sz="1300" dirty="0">
                <a:solidFill>
                  <a:schemeClr val="tx1"/>
                </a:solidFill>
              </a:rPr>
              <a:t>Proverbes, implicites, rapports d'âge et de genre</a:t>
            </a:r>
            <a:endParaRPr lang="en-US" sz="1300" dirty="0"/>
          </a:p>
        </p:txBody>
      </p:sp>
      <p:sp>
        <p:nvSpPr>
          <p:cNvPr id="14" name="card-1360"/>
          <p:cNvSpPr/>
          <p:nvPr/>
        </p:nvSpPr>
        <p:spPr>
          <a:xfrm>
            <a:off x="6181344" y="1600200"/>
            <a:ext cx="2606040" cy="2606040"/>
          </a:xfrm>
          <a:prstGeom prst="roundRect">
            <a:avLst>
              <a:gd name="adj" fmla="val 2807"/>
            </a:avLst>
          </a:prstGeom>
          <a:solidFill>
            <a:schemeClr val="bg2"/>
          </a:solidFill>
          <a:ln w="6350">
            <a:solidFill>
              <a:schemeClr val="bg2"/>
            </a:solidFill>
            <a:prstDash val="solid"/>
          </a:ln>
        </p:spPr>
      </p:sp>
      <p:sp>
        <p:nvSpPr>
          <p:cNvPr id="15" name="circle-1361"/>
          <p:cNvSpPr/>
          <p:nvPr/>
        </p:nvSpPr>
        <p:spPr>
          <a:xfrm>
            <a:off x="6455664" y="1828800"/>
            <a:ext cx="685800" cy="685800"/>
          </a:xfrm>
          <a:prstGeom prst="ellipse">
            <a:avLst/>
          </a:prstGeom>
          <a:solidFill>
            <a:schemeClr val="accent3"/>
          </a:solidFill>
          <a:ln w="12700">
            <a:solidFill>
              <a:schemeClr val="accent3"/>
            </a:solidFill>
            <a:prstDash val="solid"/>
          </a:ln>
        </p:spPr>
      </p:sp>
      <p:pic>
        <p:nvPicPr>
          <p:cNvPr id="16" name="icon-1362" descr="preencoded.png"/>
          <p:cNvPicPr>
            <a:picLocks noChangeAspect="1"/>
          </p:cNvPicPr>
          <p:nvPr/>
        </p:nvPicPr>
        <p:blipFill>
          <a:blip r:embed="rId5"/>
          <a:stretch>
            <a:fillRect/>
          </a:stretch>
        </p:blipFill>
        <p:spPr>
          <a:xfrm>
            <a:off x="6627114" y="2000250"/>
            <a:ext cx="342900" cy="342900"/>
          </a:xfrm>
          <a:prstGeom prst="rect">
            <a:avLst/>
          </a:prstGeom>
        </p:spPr>
      </p:pic>
      <p:sp>
        <p:nvSpPr>
          <p:cNvPr id="17" name="txt-1363"/>
          <p:cNvSpPr txBox="1"/>
          <p:nvPr/>
        </p:nvSpPr>
        <p:spPr>
          <a:xfrm>
            <a:off x="6455664" y="2651760"/>
            <a:ext cx="2148840" cy="411480"/>
          </a:xfrm>
          <a:prstGeom prst="rect">
            <a:avLst/>
          </a:prstGeom>
          <a:noFill/>
          <a:ln/>
        </p:spPr>
        <p:txBody>
          <a:bodyPr wrap="square" lIns="0" tIns="0" rIns="0" bIns="0" rtlCol="0" anchor="t"/>
          <a:lstStyle/>
          <a:p>
            <a:pPr marL="0" indent="0">
              <a:buNone/>
            </a:pPr>
            <a:r>
              <a:rPr lang="en-US" sz="1500" b="1" dirty="0">
                <a:solidFill>
                  <a:schemeClr val="tx2"/>
                </a:solidFill>
              </a:rPr>
              <a:t>Langues locales</a:t>
            </a:r>
            <a:endParaRPr lang="en-US" sz="1500" dirty="0"/>
          </a:p>
        </p:txBody>
      </p:sp>
      <p:sp>
        <p:nvSpPr>
          <p:cNvPr id="18" name="txt-1364"/>
          <p:cNvSpPr txBox="1"/>
          <p:nvPr/>
        </p:nvSpPr>
        <p:spPr>
          <a:xfrm>
            <a:off x="6455664" y="3108960"/>
            <a:ext cx="2148840" cy="1005840"/>
          </a:xfrm>
          <a:prstGeom prst="rect">
            <a:avLst/>
          </a:prstGeom>
          <a:noFill/>
          <a:ln/>
        </p:spPr>
        <p:txBody>
          <a:bodyPr wrap="square" lIns="0" tIns="0" rIns="0" bIns="0" rtlCol="0" anchor="t"/>
          <a:lstStyle/>
          <a:p>
            <a:pPr marL="0" indent="0">
              <a:buNone/>
            </a:pPr>
            <a:r>
              <a:rPr lang="en-US" sz="1300" dirty="0">
                <a:solidFill>
                  <a:schemeClr val="tx1"/>
                </a:solidFill>
              </a:rPr>
              <a:t>Passages en éwé, kabiyè… mal compris ou ignorés</a:t>
            </a:r>
            <a:endParaRPr lang="en-US" sz="1300" dirty="0"/>
          </a:p>
        </p:txBody>
      </p:sp>
      <p:sp>
        <p:nvSpPr>
          <p:cNvPr id="19" name="card-1365"/>
          <p:cNvSpPr/>
          <p:nvPr/>
        </p:nvSpPr>
        <p:spPr>
          <a:xfrm>
            <a:off x="8997696" y="1600200"/>
            <a:ext cx="2606040" cy="2606040"/>
          </a:xfrm>
          <a:prstGeom prst="roundRect">
            <a:avLst>
              <a:gd name="adj" fmla="val 2807"/>
            </a:avLst>
          </a:prstGeom>
          <a:solidFill>
            <a:schemeClr val="bg2"/>
          </a:solidFill>
          <a:ln w="6350">
            <a:solidFill>
              <a:schemeClr val="bg2"/>
            </a:solidFill>
            <a:prstDash val="solid"/>
          </a:ln>
        </p:spPr>
      </p:sp>
      <p:sp>
        <p:nvSpPr>
          <p:cNvPr id="20" name="circle-1366"/>
          <p:cNvSpPr/>
          <p:nvPr/>
        </p:nvSpPr>
        <p:spPr>
          <a:xfrm>
            <a:off x="9272016" y="1828800"/>
            <a:ext cx="685800" cy="685800"/>
          </a:xfrm>
          <a:prstGeom prst="ellipse">
            <a:avLst/>
          </a:prstGeom>
          <a:solidFill>
            <a:schemeClr val="accent3"/>
          </a:solidFill>
          <a:ln w="12700">
            <a:solidFill>
              <a:schemeClr val="accent3"/>
            </a:solidFill>
            <a:prstDash val="solid"/>
          </a:ln>
        </p:spPr>
      </p:sp>
      <p:pic>
        <p:nvPicPr>
          <p:cNvPr id="21" name="icon-1367" descr="preencoded.png"/>
          <p:cNvPicPr>
            <a:picLocks noChangeAspect="1"/>
          </p:cNvPicPr>
          <p:nvPr/>
        </p:nvPicPr>
        <p:blipFill>
          <a:blip r:embed="rId6"/>
          <a:stretch>
            <a:fillRect/>
          </a:stretch>
        </p:blipFill>
        <p:spPr>
          <a:xfrm>
            <a:off x="9443466" y="2000250"/>
            <a:ext cx="342900" cy="342900"/>
          </a:xfrm>
          <a:prstGeom prst="rect">
            <a:avLst/>
          </a:prstGeom>
        </p:spPr>
      </p:pic>
      <p:sp>
        <p:nvSpPr>
          <p:cNvPr id="22" name="txt-1368"/>
          <p:cNvSpPr txBox="1"/>
          <p:nvPr/>
        </p:nvSpPr>
        <p:spPr>
          <a:xfrm>
            <a:off x="9272016" y="2651760"/>
            <a:ext cx="2148840" cy="411480"/>
          </a:xfrm>
          <a:prstGeom prst="rect">
            <a:avLst/>
          </a:prstGeom>
          <a:noFill/>
          <a:ln/>
        </p:spPr>
        <p:txBody>
          <a:bodyPr wrap="square" lIns="0" tIns="0" rIns="0" bIns="0" rtlCol="0" anchor="t"/>
          <a:lstStyle/>
          <a:p>
            <a:pPr marL="0" indent="0">
              <a:buNone/>
            </a:pPr>
            <a:r>
              <a:rPr lang="en-US" sz="1500" b="1" dirty="0">
                <a:solidFill>
                  <a:schemeClr val="tx2"/>
                </a:solidFill>
              </a:rPr>
              <a:t>Les silences</a:t>
            </a:r>
            <a:endParaRPr lang="en-US" sz="1500" dirty="0"/>
          </a:p>
        </p:txBody>
      </p:sp>
      <p:sp>
        <p:nvSpPr>
          <p:cNvPr id="23" name="txt-1369"/>
          <p:cNvSpPr txBox="1"/>
          <p:nvPr/>
        </p:nvSpPr>
        <p:spPr>
          <a:xfrm>
            <a:off x="9272016" y="3108960"/>
            <a:ext cx="2148840" cy="1005840"/>
          </a:xfrm>
          <a:prstGeom prst="rect">
            <a:avLst/>
          </a:prstGeom>
          <a:noFill/>
          <a:ln/>
        </p:spPr>
        <p:txBody>
          <a:bodyPr wrap="square" lIns="0" tIns="0" rIns="0" bIns="0" rtlCol="0" anchor="t"/>
          <a:lstStyle/>
          <a:p>
            <a:pPr marL="0" indent="0">
              <a:buNone/>
            </a:pPr>
            <a:r>
              <a:rPr lang="en-US" sz="1300" dirty="0">
                <a:solidFill>
                  <a:schemeClr val="tx1"/>
                </a:solidFill>
              </a:rPr>
              <a:t>Ce qui n'est pas dit lui échappe totalement</a:t>
            </a:r>
            <a:endParaRPr lang="en-US" sz="1300" dirty="0"/>
          </a:p>
        </p:txBody>
      </p:sp>
      <p:sp>
        <p:nvSpPr>
          <p:cNvPr id="24" name="txt-1370"/>
          <p:cNvSpPr txBox="1"/>
          <p:nvPr/>
        </p:nvSpPr>
        <p:spPr>
          <a:xfrm>
            <a:off x="548640" y="4434840"/>
            <a:ext cx="10972800" cy="411480"/>
          </a:xfrm>
          <a:prstGeom prst="rect">
            <a:avLst/>
          </a:prstGeom>
          <a:noFill/>
          <a:ln/>
        </p:spPr>
        <p:txBody>
          <a:bodyPr wrap="square" lIns="0" tIns="0" rIns="0" bIns="0" rtlCol="0" anchor="t"/>
          <a:lstStyle/>
          <a:p>
            <a:pPr marL="0" indent="0">
              <a:buNone/>
            </a:pPr>
            <a:r>
              <a:rPr lang="en-US" sz="1600" b="1" dirty="0">
                <a:solidFill>
                  <a:schemeClr val="tx2"/>
                </a:solidFill>
              </a:rPr>
              <a:t>Avant de charger un entretien réel : 3 vérifications</a:t>
            </a:r>
            <a:endParaRPr lang="en-US" sz="1600" dirty="0"/>
          </a:p>
        </p:txBody>
      </p:sp>
      <p:sp>
        <p:nvSpPr>
          <p:cNvPr id="25" name="circle-1371"/>
          <p:cNvSpPr/>
          <p:nvPr/>
        </p:nvSpPr>
        <p:spPr>
          <a:xfrm>
            <a:off x="548640" y="4983480"/>
            <a:ext cx="457200" cy="457200"/>
          </a:xfrm>
          <a:prstGeom prst="ellipse">
            <a:avLst/>
          </a:prstGeom>
          <a:solidFill>
            <a:schemeClr val="accent2"/>
          </a:solidFill>
          <a:ln w="12700">
            <a:solidFill>
              <a:schemeClr val="accent2"/>
            </a:solidFill>
            <a:prstDash val="solid"/>
          </a:ln>
        </p:spPr>
      </p:sp>
      <p:pic>
        <p:nvPicPr>
          <p:cNvPr id="26" name="icon-1372" descr="preencoded.png"/>
          <p:cNvPicPr>
            <a:picLocks noChangeAspect="1"/>
          </p:cNvPicPr>
          <p:nvPr/>
        </p:nvPicPr>
        <p:blipFill>
          <a:blip r:embed="rId7"/>
          <a:stretch>
            <a:fillRect/>
          </a:stretch>
        </p:blipFill>
        <p:spPr>
          <a:xfrm>
            <a:off x="662940" y="5097780"/>
            <a:ext cx="228600" cy="228600"/>
          </a:xfrm>
          <a:prstGeom prst="rect">
            <a:avLst/>
          </a:prstGeom>
        </p:spPr>
      </p:pic>
      <p:sp>
        <p:nvSpPr>
          <p:cNvPr id="27" name="txt-1373"/>
          <p:cNvSpPr txBox="1"/>
          <p:nvPr/>
        </p:nvSpPr>
        <p:spPr>
          <a:xfrm>
            <a:off x="1143000" y="4937760"/>
            <a:ext cx="3017520" cy="868680"/>
          </a:xfrm>
          <a:prstGeom prst="rect">
            <a:avLst/>
          </a:prstGeom>
          <a:noFill/>
          <a:ln/>
        </p:spPr>
        <p:txBody>
          <a:bodyPr wrap="square" lIns="0" tIns="0" rIns="0" bIns="0" rtlCol="0" anchor="t"/>
          <a:lstStyle/>
          <a:p>
            <a:pPr marL="0" indent="0">
              <a:buNone/>
            </a:pPr>
            <a:r>
              <a:rPr lang="en-US" sz="1300" dirty="0">
                <a:solidFill>
                  <a:schemeClr val="tx1"/>
                </a:solidFill>
              </a:rPr>
              <a:t>Consentement : couvre-t-il un traitement numérique ?</a:t>
            </a:r>
            <a:endParaRPr lang="en-US" sz="1300" dirty="0"/>
          </a:p>
        </p:txBody>
      </p:sp>
      <p:sp>
        <p:nvSpPr>
          <p:cNvPr id="28" name="circle-1374"/>
          <p:cNvSpPr/>
          <p:nvPr/>
        </p:nvSpPr>
        <p:spPr>
          <a:xfrm>
            <a:off x="4297680" y="4983480"/>
            <a:ext cx="457200" cy="457200"/>
          </a:xfrm>
          <a:prstGeom prst="ellipse">
            <a:avLst/>
          </a:prstGeom>
          <a:solidFill>
            <a:schemeClr val="accent2"/>
          </a:solidFill>
          <a:ln w="12700">
            <a:solidFill>
              <a:schemeClr val="accent2"/>
            </a:solidFill>
            <a:prstDash val="solid"/>
          </a:ln>
        </p:spPr>
      </p:sp>
      <p:pic>
        <p:nvPicPr>
          <p:cNvPr id="29" name="icon-1375" descr="preencoded.png"/>
          <p:cNvPicPr>
            <a:picLocks noChangeAspect="1"/>
          </p:cNvPicPr>
          <p:nvPr/>
        </p:nvPicPr>
        <p:blipFill>
          <a:blip r:embed="rId7"/>
          <a:stretch>
            <a:fillRect/>
          </a:stretch>
        </p:blipFill>
        <p:spPr>
          <a:xfrm>
            <a:off x="4411980" y="5097780"/>
            <a:ext cx="228600" cy="228600"/>
          </a:xfrm>
          <a:prstGeom prst="rect">
            <a:avLst/>
          </a:prstGeom>
        </p:spPr>
      </p:pic>
      <p:sp>
        <p:nvSpPr>
          <p:cNvPr id="30" name="txt-1376"/>
          <p:cNvSpPr txBox="1"/>
          <p:nvPr/>
        </p:nvSpPr>
        <p:spPr>
          <a:xfrm>
            <a:off x="4892040" y="4937760"/>
            <a:ext cx="3017520" cy="868680"/>
          </a:xfrm>
          <a:prstGeom prst="rect">
            <a:avLst/>
          </a:prstGeom>
          <a:noFill/>
          <a:ln/>
        </p:spPr>
        <p:txBody>
          <a:bodyPr wrap="square" lIns="0" tIns="0" rIns="0" bIns="0" rtlCol="0" anchor="t"/>
          <a:lstStyle/>
          <a:p>
            <a:pPr marL="0" indent="0">
              <a:buNone/>
            </a:pPr>
            <a:r>
              <a:rPr lang="en-US" sz="1300" dirty="0">
                <a:solidFill>
                  <a:schemeClr val="tx1"/>
                </a:solidFill>
              </a:rPr>
              <a:t>Anonymisation : noms, lieux, fonctions remplacés</a:t>
            </a:r>
            <a:endParaRPr lang="en-US" sz="1300" dirty="0"/>
          </a:p>
        </p:txBody>
      </p:sp>
      <p:sp>
        <p:nvSpPr>
          <p:cNvPr id="31" name="circle-1377"/>
          <p:cNvSpPr/>
          <p:nvPr/>
        </p:nvSpPr>
        <p:spPr>
          <a:xfrm>
            <a:off x="8046720" y="4983480"/>
            <a:ext cx="457200" cy="457200"/>
          </a:xfrm>
          <a:prstGeom prst="ellipse">
            <a:avLst/>
          </a:prstGeom>
          <a:solidFill>
            <a:schemeClr val="accent2"/>
          </a:solidFill>
          <a:ln w="12700">
            <a:solidFill>
              <a:schemeClr val="accent2"/>
            </a:solidFill>
            <a:prstDash val="solid"/>
          </a:ln>
        </p:spPr>
      </p:sp>
      <p:pic>
        <p:nvPicPr>
          <p:cNvPr id="32" name="icon-1378" descr="preencoded.png"/>
          <p:cNvPicPr>
            <a:picLocks noChangeAspect="1"/>
          </p:cNvPicPr>
          <p:nvPr/>
        </p:nvPicPr>
        <p:blipFill>
          <a:blip r:embed="rId7"/>
          <a:stretch>
            <a:fillRect/>
          </a:stretch>
        </p:blipFill>
        <p:spPr>
          <a:xfrm>
            <a:off x="8161020" y="5097780"/>
            <a:ext cx="228600" cy="228600"/>
          </a:xfrm>
          <a:prstGeom prst="rect">
            <a:avLst/>
          </a:prstGeom>
        </p:spPr>
      </p:pic>
      <p:sp>
        <p:nvSpPr>
          <p:cNvPr id="33" name="txt-1379"/>
          <p:cNvSpPr txBox="1"/>
          <p:nvPr/>
        </p:nvSpPr>
        <p:spPr>
          <a:xfrm>
            <a:off x="8641080" y="4937760"/>
            <a:ext cx="3017520" cy="868680"/>
          </a:xfrm>
          <a:prstGeom prst="rect">
            <a:avLst/>
          </a:prstGeom>
          <a:noFill/>
          <a:ln/>
        </p:spPr>
        <p:txBody>
          <a:bodyPr wrap="square" lIns="0" tIns="0" rIns="0" bIns="0" rtlCol="0" anchor="t"/>
          <a:lstStyle/>
          <a:p>
            <a:pPr marL="0" indent="0">
              <a:buNone/>
            </a:pPr>
            <a:r>
              <a:rPr lang="en-US" sz="1300" dirty="0">
                <a:solidFill>
                  <a:schemeClr val="tx1"/>
                </a:solidFill>
              </a:rPr>
              <a:t>Avis éthique : le protocole prévoit-il l'usage d'outils IA ?</a:t>
            </a:r>
            <a:endParaRPr lang="en-US" sz="1300" dirty="0"/>
          </a:p>
        </p:txBody>
      </p:sp>
      <p:sp>
        <p:nvSpPr>
          <p:cNvPr id="34" name="Slide Number Placeholder 0"/>
          <p:cNvSpPr>
            <a:spLocks noGrp="1"/>
          </p:cNvSpPr>
          <p:nvPr>
            <p:ph type="sldNum" sz="quarter" idx="4294967295"/>
          </p:nvPr>
        </p:nvSpPr>
        <p:spPr>
          <a:xfrm>
            <a:off x="11064240" y="6400800"/>
            <a:ext cx="54864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C82"/>
                </a:solidFill>
                <a:latin typeface="Poppins"/>
                <a:ea typeface="Poppins"/>
                <a:cs typeface="Poppins"/>
              </a:defRPr>
            </a:lvl1pPr>
          </a:lstStyle>
          <a:p>
            <a:pPr algn="r"/>
            <a:fld id="{F7021451-1387-4CA6-816F-3879F97B5CBC}" type="slidenum">
              <a:rPr lang="en-US" b="0"/>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566928"/>
            <a:ext cx="11064240" cy="777240"/>
          </a:xfrm>
          <a:prstGeom prst="rect">
            <a:avLst/>
          </a:prstGeom>
          <a:noFill/>
          <a:ln/>
        </p:spPr>
        <p:txBody>
          <a:bodyPr wrap="square" lIns="0" tIns="0" rIns="0" bIns="0" rtlCol="0" anchor="ctr"/>
          <a:lstStyle/>
          <a:p>
            <a:pPr marL="0" indent="0" algn="l">
              <a:buNone/>
            </a:pPr>
            <a:r>
              <a:rPr lang="en-US" sz="2700" b="1" dirty="0">
                <a:solidFill>
                  <a:schemeClr val="tx2"/>
                </a:solidFill>
                <a:latin typeface="Poppins" pitchFamily="34" charset="0"/>
                <a:ea typeface="Poppins" pitchFamily="34" charset="-122"/>
                <a:cs typeface="Poppins" pitchFamily="34" charset="-120"/>
              </a:rPr>
              <a:t>Lab 3 · Analyse qualitative</a:t>
            </a:r>
            <a:endParaRPr lang="en-US" sz="2700" dirty="0"/>
          </a:p>
        </p:txBody>
      </p:sp>
      <p:sp>
        <p:nvSpPr>
          <p:cNvPr id="3" name="Text 0"/>
          <p:cNvSpPr>
            <a:spLocks noGrp="1"/>
          </p:cNvSpPr>
          <p:nvPr>
            <p:ph type="body" idx="101" hasCustomPrompt="1"/>
          </p:nvPr>
        </p:nvSpPr>
        <p:spPr>
          <a:xfrm>
            <a:off x="548640" y="256032"/>
            <a:ext cx="8229600" cy="292608"/>
          </a:xfrm>
          <a:prstGeom prst="rect">
            <a:avLst/>
          </a:prstGeom>
          <a:noFill/>
          <a:ln/>
        </p:spPr>
        <p:txBody>
          <a:bodyPr wrap="square" lIns="0" tIns="0" rIns="0" bIns="0" rtlCol="0" anchor="ctr"/>
          <a:lstStyle/>
          <a:p>
            <a:pPr marL="0" indent="0">
              <a:buNone/>
            </a:pPr>
            <a:r>
              <a:rPr lang="en-US" sz="1100" b="1" dirty="0">
                <a:solidFill>
                  <a:schemeClr val="accent1"/>
                </a:solidFill>
                <a:latin typeface="Poppins" pitchFamily="34" charset="0"/>
                <a:ea typeface="Poppins" pitchFamily="34" charset="-122"/>
                <a:cs typeface="Poppins" pitchFamily="34" charset="-120"/>
              </a:rPr>
              <a:t>LAB 3 · 50 MIN</a:t>
            </a:r>
            <a:endParaRPr lang="en-US" sz="1100" dirty="0"/>
          </a:p>
        </p:txBody>
      </p:sp>
      <p:sp>
        <p:nvSpPr>
          <p:cNvPr id="4" name="card-1380"/>
          <p:cNvSpPr/>
          <p:nvPr/>
        </p:nvSpPr>
        <p:spPr>
          <a:xfrm>
            <a:off x="10195560" y="640080"/>
            <a:ext cx="1417320" cy="502920"/>
          </a:xfrm>
          <a:prstGeom prst="roundRect">
            <a:avLst>
              <a:gd name="adj" fmla="val 14545"/>
            </a:avLst>
          </a:prstGeom>
          <a:solidFill>
            <a:schemeClr val="accent1"/>
          </a:solidFill>
          <a:ln w="6350">
            <a:solidFill>
              <a:schemeClr val="accent1"/>
            </a:solidFill>
            <a:prstDash val="solid"/>
          </a:ln>
        </p:spPr>
      </p:sp>
      <p:sp>
        <p:nvSpPr>
          <p:cNvPr id="5" name="txt-1381"/>
          <p:cNvSpPr txBox="1"/>
          <p:nvPr/>
        </p:nvSpPr>
        <p:spPr>
          <a:xfrm>
            <a:off x="10195560" y="640080"/>
            <a:ext cx="1417320" cy="502920"/>
          </a:xfrm>
          <a:prstGeom prst="rect">
            <a:avLst/>
          </a:prstGeom>
          <a:noFill/>
          <a:ln/>
        </p:spPr>
        <p:txBody>
          <a:bodyPr wrap="square" lIns="0" tIns="0" rIns="0" bIns="0" rtlCol="0" anchor="ctr"/>
          <a:lstStyle/>
          <a:p>
            <a:pPr marL="0" indent="0" algn="ctr">
              <a:buNone/>
            </a:pPr>
            <a:r>
              <a:rPr lang="en-US" sz="1600" b="1" dirty="0">
                <a:solidFill>
                  <a:schemeClr val="tx2"/>
                </a:solidFill>
              </a:rPr>
              <a:t>50 min</a:t>
            </a:r>
            <a:endParaRPr lang="en-US" sz="1600" dirty="0"/>
          </a:p>
        </p:txBody>
      </p:sp>
      <p:sp>
        <p:nvSpPr>
          <p:cNvPr id="6" name="num-1382"/>
          <p:cNvSpPr/>
          <p:nvPr/>
        </p:nvSpPr>
        <p:spPr>
          <a:xfrm>
            <a:off x="548640" y="1572768"/>
            <a:ext cx="420624" cy="420624"/>
          </a:xfrm>
          <a:prstGeom prst="ellipse">
            <a:avLst/>
          </a:prstGeom>
          <a:solidFill>
            <a:schemeClr val="tx2"/>
          </a:solidFill>
          <a:ln w="12700">
            <a:solidFill>
              <a:schemeClr val="tx2"/>
            </a:solidFill>
            <a:prstDash val="solid"/>
          </a:ln>
        </p:spPr>
      </p:sp>
      <p:sp>
        <p:nvSpPr>
          <p:cNvPr id="7" name="txt-1383"/>
          <p:cNvSpPr txBox="1"/>
          <p:nvPr/>
        </p:nvSpPr>
        <p:spPr>
          <a:xfrm>
            <a:off x="548640" y="1572768"/>
            <a:ext cx="420624" cy="420624"/>
          </a:xfrm>
          <a:prstGeom prst="rect">
            <a:avLst/>
          </a:prstGeom>
          <a:no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8" name="txt-1384"/>
          <p:cNvSpPr txBox="1"/>
          <p:nvPr/>
        </p:nvSpPr>
        <p:spPr>
          <a:xfrm>
            <a:off x="1115568" y="1481328"/>
            <a:ext cx="5212080" cy="603504"/>
          </a:xfrm>
          <a:prstGeom prst="rect">
            <a:avLst/>
          </a:prstGeom>
          <a:noFill/>
          <a:ln/>
        </p:spPr>
        <p:txBody>
          <a:bodyPr wrap="square" lIns="0" tIns="0" rIns="0" bIns="0" rtlCol="0" anchor="ctr"/>
          <a:lstStyle/>
          <a:p>
            <a:pPr marL="0" indent="0">
              <a:buNone/>
            </a:pPr>
            <a:r>
              <a:rPr lang="en-US" sz="1400" dirty="0">
                <a:solidFill>
                  <a:schemeClr val="tx1"/>
                </a:solidFill>
              </a:rPr>
              <a:t>Créez un 2e carnet avec les 5 entretiens fictifs de votre piste</a:t>
            </a:r>
            <a:endParaRPr lang="en-US" sz="1400" dirty="0"/>
          </a:p>
        </p:txBody>
      </p:sp>
      <p:sp>
        <p:nvSpPr>
          <p:cNvPr id="9" name="num-1385"/>
          <p:cNvSpPr/>
          <p:nvPr/>
        </p:nvSpPr>
        <p:spPr>
          <a:xfrm>
            <a:off x="548640" y="2212848"/>
            <a:ext cx="420624" cy="420624"/>
          </a:xfrm>
          <a:prstGeom prst="ellipse">
            <a:avLst/>
          </a:prstGeom>
          <a:solidFill>
            <a:schemeClr val="tx2"/>
          </a:solidFill>
          <a:ln w="12700">
            <a:solidFill>
              <a:schemeClr val="tx2"/>
            </a:solidFill>
            <a:prstDash val="solid"/>
          </a:ln>
        </p:spPr>
      </p:sp>
      <p:sp>
        <p:nvSpPr>
          <p:cNvPr id="10" name="txt-1386"/>
          <p:cNvSpPr txBox="1"/>
          <p:nvPr/>
        </p:nvSpPr>
        <p:spPr>
          <a:xfrm>
            <a:off x="548640" y="2212848"/>
            <a:ext cx="420624" cy="420624"/>
          </a:xfrm>
          <a:prstGeom prst="rect">
            <a:avLst/>
          </a:prstGeom>
          <a:no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11" name="txt-1387"/>
          <p:cNvSpPr txBox="1"/>
          <p:nvPr/>
        </p:nvSpPr>
        <p:spPr>
          <a:xfrm>
            <a:off x="1115568" y="2121408"/>
            <a:ext cx="5212080" cy="603504"/>
          </a:xfrm>
          <a:prstGeom prst="rect">
            <a:avLst/>
          </a:prstGeom>
          <a:noFill/>
          <a:ln/>
        </p:spPr>
        <p:txBody>
          <a:bodyPr wrap="square" lIns="0" tIns="0" rIns="0" bIns="0" rtlCol="0" anchor="ctr"/>
          <a:lstStyle/>
          <a:p>
            <a:pPr marL="0" indent="0">
              <a:buNone/>
            </a:pPr>
            <a:r>
              <a:rPr lang="en-US" sz="1400" dirty="0">
                <a:solidFill>
                  <a:schemeClr val="tx1"/>
                </a:solidFill>
              </a:rPr>
              <a:t>Codez vous-même le premier entretien, sur papier (10 min)</a:t>
            </a:r>
            <a:endParaRPr lang="en-US" sz="1400" dirty="0"/>
          </a:p>
        </p:txBody>
      </p:sp>
      <p:sp>
        <p:nvSpPr>
          <p:cNvPr id="12" name="num-1388"/>
          <p:cNvSpPr/>
          <p:nvPr/>
        </p:nvSpPr>
        <p:spPr>
          <a:xfrm>
            <a:off x="548640" y="2852928"/>
            <a:ext cx="420624" cy="420624"/>
          </a:xfrm>
          <a:prstGeom prst="ellipse">
            <a:avLst/>
          </a:prstGeom>
          <a:solidFill>
            <a:schemeClr val="tx2"/>
          </a:solidFill>
          <a:ln w="12700">
            <a:solidFill>
              <a:schemeClr val="tx2"/>
            </a:solidFill>
            <a:prstDash val="solid"/>
          </a:ln>
        </p:spPr>
      </p:sp>
      <p:sp>
        <p:nvSpPr>
          <p:cNvPr id="13" name="txt-1389"/>
          <p:cNvSpPr txBox="1"/>
          <p:nvPr/>
        </p:nvSpPr>
        <p:spPr>
          <a:xfrm>
            <a:off x="548640" y="2852928"/>
            <a:ext cx="420624" cy="420624"/>
          </a:xfrm>
          <a:prstGeom prst="rect">
            <a:avLst/>
          </a:prstGeom>
          <a:no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14" name="txt-1390"/>
          <p:cNvSpPr txBox="1"/>
          <p:nvPr/>
        </p:nvSpPr>
        <p:spPr>
          <a:xfrm>
            <a:off x="1115568" y="2761488"/>
            <a:ext cx="5212080" cy="603504"/>
          </a:xfrm>
          <a:prstGeom prst="rect">
            <a:avLst/>
          </a:prstGeom>
          <a:noFill/>
          <a:ln/>
        </p:spPr>
        <p:txBody>
          <a:bodyPr wrap="square" lIns="0" tIns="0" rIns="0" bIns="0" rtlCol="0" anchor="ctr"/>
          <a:lstStyle/>
          <a:p>
            <a:pPr marL="0" indent="0">
              <a:buNone/>
            </a:pPr>
            <a:r>
              <a:rPr lang="en-US" sz="1400" dirty="0">
                <a:solidFill>
                  <a:schemeClr val="tx1"/>
                </a:solidFill>
              </a:rPr>
              <a:t>Demandez les thèmes, avec 2 citations exactes chacun, puis comparez avec les vôtres</a:t>
            </a:r>
            <a:endParaRPr lang="en-US" sz="1400" dirty="0"/>
          </a:p>
        </p:txBody>
      </p:sp>
      <p:sp>
        <p:nvSpPr>
          <p:cNvPr id="15" name="num-1391"/>
          <p:cNvSpPr/>
          <p:nvPr/>
        </p:nvSpPr>
        <p:spPr>
          <a:xfrm>
            <a:off x="548640" y="3493008"/>
            <a:ext cx="420624" cy="420624"/>
          </a:xfrm>
          <a:prstGeom prst="ellipse">
            <a:avLst/>
          </a:prstGeom>
          <a:solidFill>
            <a:schemeClr val="tx2"/>
          </a:solidFill>
          <a:ln w="12700">
            <a:solidFill>
              <a:schemeClr val="tx2"/>
            </a:solidFill>
            <a:prstDash val="solid"/>
          </a:ln>
        </p:spPr>
      </p:sp>
      <p:sp>
        <p:nvSpPr>
          <p:cNvPr id="16" name="txt-1392"/>
          <p:cNvSpPr txBox="1"/>
          <p:nvPr/>
        </p:nvSpPr>
        <p:spPr>
          <a:xfrm>
            <a:off x="548640" y="3493008"/>
            <a:ext cx="420624" cy="420624"/>
          </a:xfrm>
          <a:prstGeom prst="rect">
            <a:avLst/>
          </a:prstGeom>
          <a:noFill/>
          <a:ln/>
        </p:spPr>
        <p:txBody>
          <a:bodyPr wrap="square" lIns="0" tIns="0" rIns="0" bIns="0" rtlCol="0" anchor="ctr"/>
          <a:lstStyle/>
          <a:p>
            <a:pPr marL="0" indent="0" algn="ctr">
              <a:buNone/>
            </a:pPr>
            <a:r>
              <a:rPr lang="en-US" sz="1400" b="1" dirty="0">
                <a:solidFill>
                  <a:schemeClr val="bg1"/>
                </a:solidFill>
              </a:rPr>
              <a:t>4</a:t>
            </a:r>
            <a:endParaRPr lang="en-US" sz="1400" dirty="0"/>
          </a:p>
        </p:txBody>
      </p:sp>
      <p:sp>
        <p:nvSpPr>
          <p:cNvPr id="17" name="txt-1393"/>
          <p:cNvSpPr txBox="1"/>
          <p:nvPr/>
        </p:nvSpPr>
        <p:spPr>
          <a:xfrm>
            <a:off x="1115568" y="3401568"/>
            <a:ext cx="5212080" cy="603504"/>
          </a:xfrm>
          <a:prstGeom prst="rect">
            <a:avLst/>
          </a:prstGeom>
          <a:noFill/>
          <a:ln/>
        </p:spPr>
        <p:txBody>
          <a:bodyPr wrap="square" lIns="0" tIns="0" rIns="0" bIns="0" rtlCol="0" anchor="ctr"/>
          <a:lstStyle/>
          <a:p>
            <a:pPr marL="0" indent="0">
              <a:buNone/>
            </a:pPr>
            <a:r>
              <a:rPr lang="en-US" sz="1400" dirty="0">
                <a:solidFill>
                  <a:schemeClr val="tx1"/>
                </a:solidFill>
              </a:rPr>
              <a:t>Vérifiez 3 citations en cliquant sur les renvois</a:t>
            </a:r>
            <a:endParaRPr lang="en-US" sz="1400" dirty="0"/>
          </a:p>
        </p:txBody>
      </p:sp>
      <p:sp>
        <p:nvSpPr>
          <p:cNvPr id="18" name="num-1394"/>
          <p:cNvSpPr/>
          <p:nvPr/>
        </p:nvSpPr>
        <p:spPr>
          <a:xfrm>
            <a:off x="548640" y="4133088"/>
            <a:ext cx="420624" cy="420624"/>
          </a:xfrm>
          <a:prstGeom prst="ellipse">
            <a:avLst/>
          </a:prstGeom>
          <a:solidFill>
            <a:schemeClr val="tx2"/>
          </a:solidFill>
          <a:ln w="12700">
            <a:solidFill>
              <a:schemeClr val="tx2"/>
            </a:solidFill>
            <a:prstDash val="solid"/>
          </a:ln>
        </p:spPr>
      </p:sp>
      <p:sp>
        <p:nvSpPr>
          <p:cNvPr id="19" name="txt-1395"/>
          <p:cNvSpPr txBox="1"/>
          <p:nvPr/>
        </p:nvSpPr>
        <p:spPr>
          <a:xfrm>
            <a:off x="548640" y="4133088"/>
            <a:ext cx="420624" cy="420624"/>
          </a:xfrm>
          <a:prstGeom prst="rect">
            <a:avLst/>
          </a:prstGeom>
          <a:noFill/>
          <a:ln/>
        </p:spPr>
        <p:txBody>
          <a:bodyPr wrap="square" lIns="0" tIns="0" rIns="0" bIns="0" rtlCol="0" anchor="ctr"/>
          <a:lstStyle/>
          <a:p>
            <a:pPr marL="0" indent="0" algn="ctr">
              <a:buNone/>
            </a:pPr>
            <a:r>
              <a:rPr lang="en-US" sz="1400" b="1" dirty="0">
                <a:solidFill>
                  <a:schemeClr val="bg1"/>
                </a:solidFill>
              </a:rPr>
              <a:t>5</a:t>
            </a:r>
            <a:endParaRPr lang="en-US" sz="1400" dirty="0"/>
          </a:p>
        </p:txBody>
      </p:sp>
      <p:sp>
        <p:nvSpPr>
          <p:cNvPr id="20" name="txt-1396"/>
          <p:cNvSpPr txBox="1"/>
          <p:nvPr/>
        </p:nvSpPr>
        <p:spPr>
          <a:xfrm>
            <a:off x="1115568" y="4041648"/>
            <a:ext cx="5212080" cy="603504"/>
          </a:xfrm>
          <a:prstGeom prst="rect">
            <a:avLst/>
          </a:prstGeom>
          <a:noFill/>
          <a:ln/>
        </p:spPr>
        <p:txBody>
          <a:bodyPr wrap="square" lIns="0" tIns="0" rIns="0" bIns="0" rtlCol="0" anchor="ctr"/>
          <a:lstStyle/>
          <a:p>
            <a:pPr marL="0" indent="0">
              <a:buNone/>
            </a:pPr>
            <a:r>
              <a:rPr lang="en-US" sz="1400" dirty="0">
                <a:solidFill>
                  <a:schemeClr val="tx1"/>
                </a:solidFill>
              </a:rPr>
              <a:t>Demandez : « Quels passages n'as-tu pas pu interpréter ? »</a:t>
            </a:r>
            <a:endParaRPr lang="en-US" sz="1400" dirty="0"/>
          </a:p>
        </p:txBody>
      </p:sp>
      <p:sp>
        <p:nvSpPr>
          <p:cNvPr id="21" name="card-1397"/>
          <p:cNvSpPr/>
          <p:nvPr/>
        </p:nvSpPr>
        <p:spPr>
          <a:xfrm>
            <a:off x="6675120" y="1508760"/>
            <a:ext cx="4937760" cy="960120"/>
          </a:xfrm>
          <a:prstGeom prst="roundRect">
            <a:avLst>
              <a:gd name="adj" fmla="val 7619"/>
            </a:avLst>
          </a:prstGeom>
          <a:solidFill>
            <a:schemeClr val="bg1"/>
          </a:solidFill>
          <a:ln w="6350">
            <a:solidFill>
              <a:schemeClr val="bg1"/>
            </a:solidFill>
            <a:prstDash val="solid"/>
          </a:ln>
          <a:effectLst>
            <a:outerShdw blurRad="101600" dist="25400" dir="5400000" algn="bl" rotWithShape="0">
              <a:srgbClr val="000000">
                <a:alpha val="10000"/>
              </a:srgbClr>
            </a:outerShdw>
          </a:effectLst>
        </p:spPr>
      </p:sp>
      <p:sp>
        <p:nvSpPr>
          <p:cNvPr id="22" name="circle-1398"/>
          <p:cNvSpPr/>
          <p:nvPr/>
        </p:nvSpPr>
        <p:spPr>
          <a:xfrm>
            <a:off x="6839712" y="1709928"/>
            <a:ext cx="548640" cy="548640"/>
          </a:xfrm>
          <a:prstGeom prst="ellipse">
            <a:avLst/>
          </a:prstGeom>
          <a:solidFill>
            <a:schemeClr val="accent4"/>
          </a:solidFill>
          <a:ln w="12700">
            <a:solidFill>
              <a:schemeClr val="accent4"/>
            </a:solidFill>
            <a:prstDash val="solid"/>
          </a:ln>
        </p:spPr>
      </p:sp>
      <p:pic>
        <p:nvPicPr>
          <p:cNvPr id="23" name="icon-1399" descr="preencoded.png"/>
          <p:cNvPicPr>
            <a:picLocks noChangeAspect="1"/>
          </p:cNvPicPr>
          <p:nvPr/>
        </p:nvPicPr>
        <p:blipFill>
          <a:blip r:embed="rId3"/>
          <a:stretch>
            <a:fillRect/>
          </a:stretch>
        </p:blipFill>
        <p:spPr>
          <a:xfrm>
            <a:off x="6976872" y="1847088"/>
            <a:ext cx="274320" cy="274320"/>
          </a:xfrm>
          <a:prstGeom prst="rect">
            <a:avLst/>
          </a:prstGeom>
        </p:spPr>
      </p:pic>
      <p:sp>
        <p:nvSpPr>
          <p:cNvPr id="24" name="txt-1400"/>
          <p:cNvSpPr txBox="1"/>
          <p:nvPr/>
        </p:nvSpPr>
        <p:spPr>
          <a:xfrm>
            <a:off x="7543800" y="1600200"/>
            <a:ext cx="3931920" cy="274320"/>
          </a:xfrm>
          <a:prstGeom prst="rect">
            <a:avLst/>
          </a:prstGeom>
          <a:noFill/>
          <a:ln/>
        </p:spPr>
        <p:txBody>
          <a:bodyPr wrap="square" lIns="0" tIns="0" rIns="0" bIns="0" rtlCol="0" anchor="t"/>
          <a:lstStyle/>
          <a:p>
            <a:pPr marL="0" indent="0">
              <a:buNone/>
            </a:pPr>
            <a:r>
              <a:rPr lang="en-US" sz="1200" b="1" dirty="0">
                <a:solidFill>
                  <a:schemeClr val="accent4"/>
                </a:solidFill>
              </a:rPr>
              <a:t>SHS</a:t>
            </a:r>
            <a:endParaRPr lang="en-US" sz="1200" dirty="0"/>
          </a:p>
        </p:txBody>
      </p:sp>
      <p:sp>
        <p:nvSpPr>
          <p:cNvPr id="25" name="txt-1401"/>
          <p:cNvSpPr txBox="1"/>
          <p:nvPr/>
        </p:nvSpPr>
        <p:spPr>
          <a:xfrm>
            <a:off x="7543800" y="1874520"/>
            <a:ext cx="3931920" cy="548640"/>
          </a:xfrm>
          <a:prstGeom prst="rect">
            <a:avLst/>
          </a:prstGeom>
          <a:noFill/>
          <a:ln/>
        </p:spPr>
        <p:txBody>
          <a:bodyPr wrap="square" lIns="0" tIns="0" rIns="0" bIns="0" rtlCol="0" anchor="t"/>
          <a:lstStyle/>
          <a:p>
            <a:pPr marL="0" indent="0">
              <a:buNone/>
            </a:pPr>
            <a:r>
              <a:rPr lang="en-US" sz="1300" dirty="0">
                <a:solidFill>
                  <a:schemeClr val="tx1"/>
                </a:solidFill>
              </a:rPr>
              <a:t>Parents d'élèves sur la scolarisation des filles</a:t>
            </a:r>
            <a:endParaRPr lang="en-US" sz="1300" dirty="0"/>
          </a:p>
        </p:txBody>
      </p:sp>
      <p:sp>
        <p:nvSpPr>
          <p:cNvPr id="26" name="card-1402"/>
          <p:cNvSpPr/>
          <p:nvPr/>
        </p:nvSpPr>
        <p:spPr>
          <a:xfrm>
            <a:off x="6675120" y="2624328"/>
            <a:ext cx="4937760" cy="960120"/>
          </a:xfrm>
          <a:prstGeom prst="roundRect">
            <a:avLst>
              <a:gd name="adj" fmla="val 7619"/>
            </a:avLst>
          </a:prstGeom>
          <a:solidFill>
            <a:schemeClr val="bg1"/>
          </a:solidFill>
          <a:ln w="6350">
            <a:solidFill>
              <a:schemeClr val="bg1"/>
            </a:solidFill>
            <a:prstDash val="solid"/>
          </a:ln>
          <a:effectLst>
            <a:outerShdw blurRad="101600" dist="25400" dir="5400000" algn="bl" rotWithShape="0">
              <a:srgbClr val="000000">
                <a:alpha val="10000"/>
              </a:srgbClr>
            </a:outerShdw>
          </a:effectLst>
        </p:spPr>
      </p:sp>
      <p:sp>
        <p:nvSpPr>
          <p:cNvPr id="27" name="circle-1403"/>
          <p:cNvSpPr/>
          <p:nvPr/>
        </p:nvSpPr>
        <p:spPr>
          <a:xfrm>
            <a:off x="6839712" y="2825496"/>
            <a:ext cx="548640" cy="548640"/>
          </a:xfrm>
          <a:prstGeom prst="ellipse">
            <a:avLst/>
          </a:prstGeom>
          <a:solidFill>
            <a:schemeClr val="accent3"/>
          </a:solidFill>
          <a:ln w="12700">
            <a:solidFill>
              <a:schemeClr val="accent3"/>
            </a:solidFill>
            <a:prstDash val="solid"/>
          </a:ln>
        </p:spPr>
      </p:sp>
      <p:pic>
        <p:nvPicPr>
          <p:cNvPr id="28" name="icon-1404" descr="preencoded.png"/>
          <p:cNvPicPr>
            <a:picLocks noChangeAspect="1"/>
          </p:cNvPicPr>
          <p:nvPr/>
        </p:nvPicPr>
        <p:blipFill>
          <a:blip r:embed="rId4"/>
          <a:stretch>
            <a:fillRect/>
          </a:stretch>
        </p:blipFill>
        <p:spPr>
          <a:xfrm>
            <a:off x="6976872" y="2962656"/>
            <a:ext cx="274320" cy="274320"/>
          </a:xfrm>
          <a:prstGeom prst="rect">
            <a:avLst/>
          </a:prstGeom>
        </p:spPr>
      </p:pic>
      <p:sp>
        <p:nvSpPr>
          <p:cNvPr id="29" name="txt-1405"/>
          <p:cNvSpPr txBox="1"/>
          <p:nvPr/>
        </p:nvSpPr>
        <p:spPr>
          <a:xfrm>
            <a:off x="7543800" y="2715768"/>
            <a:ext cx="3931920" cy="274320"/>
          </a:xfrm>
          <a:prstGeom prst="rect">
            <a:avLst/>
          </a:prstGeom>
          <a:noFill/>
          <a:ln/>
        </p:spPr>
        <p:txBody>
          <a:bodyPr wrap="square" lIns="0" tIns="0" rIns="0" bIns="0" rtlCol="0" anchor="t"/>
          <a:lstStyle/>
          <a:p>
            <a:pPr marL="0" indent="0">
              <a:buNone/>
            </a:pPr>
            <a:r>
              <a:rPr lang="en-US" sz="1200" b="1" dirty="0">
                <a:solidFill>
                  <a:schemeClr val="accent3"/>
                </a:solidFill>
              </a:rPr>
              <a:t>Santé</a:t>
            </a:r>
            <a:endParaRPr lang="en-US" sz="1200" dirty="0"/>
          </a:p>
        </p:txBody>
      </p:sp>
      <p:sp>
        <p:nvSpPr>
          <p:cNvPr id="30" name="txt-1406"/>
          <p:cNvSpPr txBox="1"/>
          <p:nvPr/>
        </p:nvSpPr>
        <p:spPr>
          <a:xfrm>
            <a:off x="7543800" y="2990088"/>
            <a:ext cx="3931920" cy="548640"/>
          </a:xfrm>
          <a:prstGeom prst="rect">
            <a:avLst/>
          </a:prstGeom>
          <a:noFill/>
          <a:ln/>
        </p:spPr>
        <p:txBody>
          <a:bodyPr wrap="square" lIns="0" tIns="0" rIns="0" bIns="0" rtlCol="0" anchor="t"/>
          <a:lstStyle/>
          <a:p>
            <a:pPr marL="0" indent="0">
              <a:buNone/>
            </a:pPr>
            <a:r>
              <a:rPr lang="en-US" sz="1300" dirty="0">
                <a:solidFill>
                  <a:schemeClr val="tx1"/>
                </a:solidFill>
              </a:rPr>
              <a:t>Patients et soignants sur le suivi du diabète</a:t>
            </a:r>
            <a:endParaRPr lang="en-US" sz="1300" dirty="0"/>
          </a:p>
        </p:txBody>
      </p:sp>
      <p:sp>
        <p:nvSpPr>
          <p:cNvPr id="31" name="card-1407"/>
          <p:cNvSpPr/>
          <p:nvPr/>
        </p:nvSpPr>
        <p:spPr>
          <a:xfrm>
            <a:off x="6675120" y="3739896"/>
            <a:ext cx="4937760" cy="960120"/>
          </a:xfrm>
          <a:prstGeom prst="roundRect">
            <a:avLst>
              <a:gd name="adj" fmla="val 7619"/>
            </a:avLst>
          </a:prstGeom>
          <a:solidFill>
            <a:schemeClr val="bg1"/>
          </a:solidFill>
          <a:ln w="6350">
            <a:solidFill>
              <a:schemeClr val="bg1"/>
            </a:solidFill>
            <a:prstDash val="solid"/>
          </a:ln>
          <a:effectLst>
            <a:outerShdw blurRad="101600" dist="25400" dir="5400000" algn="bl" rotWithShape="0">
              <a:srgbClr val="000000">
                <a:alpha val="10000"/>
              </a:srgbClr>
            </a:outerShdw>
          </a:effectLst>
        </p:spPr>
      </p:sp>
      <p:sp>
        <p:nvSpPr>
          <p:cNvPr id="32" name="circle-1408"/>
          <p:cNvSpPr/>
          <p:nvPr/>
        </p:nvSpPr>
        <p:spPr>
          <a:xfrm>
            <a:off x="6839712" y="3941064"/>
            <a:ext cx="548640" cy="548640"/>
          </a:xfrm>
          <a:prstGeom prst="ellipse">
            <a:avLst/>
          </a:prstGeom>
          <a:solidFill>
            <a:schemeClr val="accent2"/>
          </a:solidFill>
          <a:ln w="12700">
            <a:solidFill>
              <a:schemeClr val="accent2"/>
            </a:solidFill>
            <a:prstDash val="solid"/>
          </a:ln>
        </p:spPr>
      </p:sp>
      <p:pic>
        <p:nvPicPr>
          <p:cNvPr id="33" name="icon-1409" descr="preencoded.png"/>
          <p:cNvPicPr>
            <a:picLocks noChangeAspect="1"/>
          </p:cNvPicPr>
          <p:nvPr/>
        </p:nvPicPr>
        <p:blipFill>
          <a:blip r:embed="rId5"/>
          <a:stretch>
            <a:fillRect/>
          </a:stretch>
        </p:blipFill>
        <p:spPr>
          <a:xfrm>
            <a:off x="6976872" y="4078224"/>
            <a:ext cx="274320" cy="274320"/>
          </a:xfrm>
          <a:prstGeom prst="rect">
            <a:avLst/>
          </a:prstGeom>
        </p:spPr>
      </p:pic>
      <p:sp>
        <p:nvSpPr>
          <p:cNvPr id="34" name="txt-1410"/>
          <p:cNvSpPr txBox="1"/>
          <p:nvPr/>
        </p:nvSpPr>
        <p:spPr>
          <a:xfrm>
            <a:off x="7543800" y="3831336"/>
            <a:ext cx="3931920" cy="274320"/>
          </a:xfrm>
          <a:prstGeom prst="rect">
            <a:avLst/>
          </a:prstGeom>
          <a:noFill/>
          <a:ln/>
        </p:spPr>
        <p:txBody>
          <a:bodyPr wrap="square" lIns="0" tIns="0" rIns="0" bIns="0" rtlCol="0" anchor="t"/>
          <a:lstStyle/>
          <a:p>
            <a:pPr marL="0" indent="0">
              <a:buNone/>
            </a:pPr>
            <a:r>
              <a:rPr lang="en-US" sz="1200" b="1" dirty="0">
                <a:solidFill>
                  <a:schemeClr val="accent2"/>
                </a:solidFill>
              </a:rPr>
              <a:t>Sciences &amp; environnement</a:t>
            </a:r>
            <a:endParaRPr lang="en-US" sz="1200" dirty="0"/>
          </a:p>
        </p:txBody>
      </p:sp>
      <p:sp>
        <p:nvSpPr>
          <p:cNvPr id="35" name="txt-1411"/>
          <p:cNvSpPr txBox="1"/>
          <p:nvPr/>
        </p:nvSpPr>
        <p:spPr>
          <a:xfrm>
            <a:off x="7543800" y="4105656"/>
            <a:ext cx="3931920" cy="548640"/>
          </a:xfrm>
          <a:prstGeom prst="rect">
            <a:avLst/>
          </a:prstGeom>
          <a:noFill/>
          <a:ln/>
        </p:spPr>
        <p:txBody>
          <a:bodyPr wrap="square" lIns="0" tIns="0" rIns="0" bIns="0" rtlCol="0" anchor="t"/>
          <a:lstStyle/>
          <a:p>
            <a:pPr marL="0" indent="0">
              <a:buNone/>
            </a:pPr>
            <a:r>
              <a:rPr lang="en-US" sz="1300" dirty="0">
                <a:solidFill>
                  <a:schemeClr val="tx1"/>
                </a:solidFill>
              </a:rPr>
              <a:t>Agriculteurs sur l'usage des pesticides</a:t>
            </a:r>
            <a:endParaRPr lang="en-US" sz="1300" dirty="0"/>
          </a:p>
        </p:txBody>
      </p:sp>
      <p:sp>
        <p:nvSpPr>
          <p:cNvPr id="36" name="card-1412"/>
          <p:cNvSpPr/>
          <p:nvPr/>
        </p:nvSpPr>
        <p:spPr>
          <a:xfrm>
            <a:off x="548640" y="4956048"/>
            <a:ext cx="5760720" cy="1261872"/>
          </a:xfrm>
          <a:prstGeom prst="roundRect">
            <a:avLst>
              <a:gd name="adj" fmla="val 5797"/>
            </a:avLst>
          </a:prstGeom>
          <a:solidFill>
            <a:schemeClr val="bg1"/>
          </a:solidFill>
          <a:ln w="6350">
            <a:solidFill>
              <a:schemeClr val="bg1"/>
            </a:solidFill>
            <a:prstDash val="solid"/>
          </a:ln>
          <a:effectLst>
            <a:outerShdw blurRad="101600" dist="25400" dir="5400000" algn="bl" rotWithShape="0">
              <a:srgbClr val="000000">
                <a:alpha val="10000"/>
              </a:srgbClr>
            </a:outerShdw>
          </a:effectLst>
        </p:spPr>
      </p:sp>
      <p:sp>
        <p:nvSpPr>
          <p:cNvPr id="37" name="circle-1413"/>
          <p:cNvSpPr/>
          <p:nvPr/>
        </p:nvSpPr>
        <p:spPr>
          <a:xfrm>
            <a:off x="731520" y="5120640"/>
            <a:ext cx="457200" cy="457200"/>
          </a:xfrm>
          <a:prstGeom prst="ellipse">
            <a:avLst/>
          </a:prstGeom>
          <a:solidFill>
            <a:schemeClr val="accent1"/>
          </a:solidFill>
          <a:ln w="12700">
            <a:solidFill>
              <a:schemeClr val="accent1"/>
            </a:solidFill>
            <a:prstDash val="solid"/>
          </a:ln>
        </p:spPr>
      </p:sp>
      <p:pic>
        <p:nvPicPr>
          <p:cNvPr id="38" name="icon-1414" descr="preencoded.png"/>
          <p:cNvPicPr>
            <a:picLocks noChangeAspect="1"/>
          </p:cNvPicPr>
          <p:nvPr/>
        </p:nvPicPr>
        <p:blipFill>
          <a:blip r:embed="rId6"/>
          <a:stretch>
            <a:fillRect/>
          </a:stretch>
        </p:blipFill>
        <p:spPr>
          <a:xfrm>
            <a:off x="845820" y="5234940"/>
            <a:ext cx="228600" cy="228600"/>
          </a:xfrm>
          <a:prstGeom prst="rect">
            <a:avLst/>
          </a:prstGeom>
        </p:spPr>
      </p:pic>
      <p:sp>
        <p:nvSpPr>
          <p:cNvPr id="39" name="txt-1415"/>
          <p:cNvSpPr txBox="1"/>
          <p:nvPr/>
        </p:nvSpPr>
        <p:spPr>
          <a:xfrm>
            <a:off x="1325880" y="5074920"/>
            <a:ext cx="1828800" cy="320040"/>
          </a:xfrm>
          <a:prstGeom prst="rect">
            <a:avLst/>
          </a:prstGeom>
          <a:noFill/>
          <a:ln/>
        </p:spPr>
        <p:txBody>
          <a:bodyPr wrap="square" lIns="0" tIns="0" rIns="0" bIns="0" rtlCol="0" anchor="t"/>
          <a:lstStyle/>
          <a:p>
            <a:pPr marL="0" indent="0">
              <a:buNone/>
            </a:pPr>
            <a:r>
              <a:rPr lang="en-US" sz="1500" b="1" dirty="0">
                <a:solidFill>
                  <a:schemeClr val="accent1"/>
                </a:solidFill>
              </a:rPr>
              <a:t>Défi</a:t>
            </a:r>
            <a:endParaRPr lang="en-US" sz="1500" dirty="0"/>
          </a:p>
        </p:txBody>
      </p:sp>
      <p:sp>
        <p:nvSpPr>
          <p:cNvPr id="40" name="txt-1416"/>
          <p:cNvSpPr txBox="1"/>
          <p:nvPr/>
        </p:nvSpPr>
        <p:spPr>
          <a:xfrm>
            <a:off x="1325880" y="5394960"/>
            <a:ext cx="4846320" cy="777240"/>
          </a:xfrm>
          <a:prstGeom prst="rect">
            <a:avLst/>
          </a:prstGeom>
          <a:noFill/>
          <a:ln/>
        </p:spPr>
        <p:txBody>
          <a:bodyPr wrap="square" lIns="0" tIns="0" rIns="0" bIns="0" rtlCol="0" anchor="t"/>
          <a:lstStyle/>
          <a:p>
            <a:pPr marL="0" indent="0">
              <a:buNone/>
            </a:pPr>
            <a:r>
              <a:rPr lang="en-US" sz="1300" dirty="0">
                <a:solidFill>
                  <a:schemeClr val="tx1"/>
                </a:solidFill>
              </a:rPr>
              <a:t>Ajoutez votre grille de codage comme source, puis demandez à l'IA de l'appliquer à chaque entretien.</a:t>
            </a:r>
            <a:endParaRPr lang="en-US" sz="1300" dirty="0"/>
          </a:p>
        </p:txBody>
      </p:sp>
      <p:sp>
        <p:nvSpPr>
          <p:cNvPr id="41" name="card-1417"/>
          <p:cNvSpPr/>
          <p:nvPr/>
        </p:nvSpPr>
        <p:spPr>
          <a:xfrm>
            <a:off x="6675120" y="4956048"/>
            <a:ext cx="4937760" cy="1261872"/>
          </a:xfrm>
          <a:prstGeom prst="roundRect">
            <a:avLst>
              <a:gd name="adj" fmla="val 5797"/>
            </a:avLst>
          </a:prstGeom>
          <a:solidFill>
            <a:schemeClr val="tx2"/>
          </a:solidFill>
          <a:ln w="6350">
            <a:solidFill>
              <a:schemeClr val="tx2"/>
            </a:solidFill>
            <a:prstDash val="solid"/>
          </a:ln>
        </p:spPr>
      </p:sp>
      <p:sp>
        <p:nvSpPr>
          <p:cNvPr id="42" name="circle-1418"/>
          <p:cNvSpPr/>
          <p:nvPr/>
        </p:nvSpPr>
        <p:spPr>
          <a:xfrm>
            <a:off x="6858000" y="5120640"/>
            <a:ext cx="457200" cy="457200"/>
          </a:xfrm>
          <a:prstGeom prst="ellipse">
            <a:avLst/>
          </a:prstGeom>
          <a:solidFill>
            <a:schemeClr val="accent1"/>
          </a:solidFill>
          <a:ln w="12700">
            <a:solidFill>
              <a:schemeClr val="accent1"/>
            </a:solidFill>
            <a:prstDash val="solid"/>
          </a:ln>
        </p:spPr>
      </p:sp>
      <p:pic>
        <p:nvPicPr>
          <p:cNvPr id="43" name="icon-1419" descr="preencoded.png"/>
          <p:cNvPicPr>
            <a:picLocks noChangeAspect="1"/>
          </p:cNvPicPr>
          <p:nvPr/>
        </p:nvPicPr>
        <p:blipFill>
          <a:blip r:embed="rId7"/>
          <a:stretch>
            <a:fillRect/>
          </a:stretch>
        </p:blipFill>
        <p:spPr>
          <a:xfrm>
            <a:off x="6972300" y="5234940"/>
            <a:ext cx="228600" cy="228600"/>
          </a:xfrm>
          <a:prstGeom prst="rect">
            <a:avLst/>
          </a:prstGeom>
        </p:spPr>
      </p:pic>
      <p:sp>
        <p:nvSpPr>
          <p:cNvPr id="44" name="txt-1420"/>
          <p:cNvSpPr txBox="1"/>
          <p:nvPr/>
        </p:nvSpPr>
        <p:spPr>
          <a:xfrm>
            <a:off x="7452360" y="5074920"/>
            <a:ext cx="2743200" cy="320040"/>
          </a:xfrm>
          <a:prstGeom prst="rect">
            <a:avLst/>
          </a:prstGeom>
          <a:noFill/>
          <a:ln/>
        </p:spPr>
        <p:txBody>
          <a:bodyPr wrap="square" lIns="0" tIns="0" rIns="0" bIns="0" rtlCol="0" anchor="t"/>
          <a:lstStyle/>
          <a:p>
            <a:pPr marL="0" indent="0">
              <a:buNone/>
            </a:pPr>
            <a:r>
              <a:rPr lang="en-US" sz="1500" b="1" dirty="0">
                <a:solidFill>
                  <a:schemeClr val="accent1"/>
                </a:solidFill>
              </a:rPr>
              <a:t>À rendre</a:t>
            </a:r>
            <a:endParaRPr lang="en-US" sz="1500" dirty="0"/>
          </a:p>
        </p:txBody>
      </p:sp>
      <p:sp>
        <p:nvSpPr>
          <p:cNvPr id="45" name="txt-1421"/>
          <p:cNvSpPr txBox="1"/>
          <p:nvPr/>
        </p:nvSpPr>
        <p:spPr>
          <a:xfrm>
            <a:off x="7452360" y="5394960"/>
            <a:ext cx="4023360" cy="777240"/>
          </a:xfrm>
          <a:prstGeom prst="rect">
            <a:avLst/>
          </a:prstGeom>
          <a:noFill/>
          <a:ln/>
        </p:spPr>
        <p:txBody>
          <a:bodyPr wrap="square" lIns="0" tIns="0" rIns="0" bIns="0" rtlCol="0" anchor="t"/>
          <a:lstStyle/>
          <a:p>
            <a:pPr marL="0" indent="0">
              <a:buNone/>
            </a:pPr>
            <a:r>
              <a:rPr lang="en-US" sz="1300" dirty="0">
                <a:solidFill>
                  <a:schemeClr val="bg1"/>
                </a:solidFill>
              </a:rPr>
              <a:t>Fiche 3 : tableau « mes thèmes / thèmes IA » et 3 citations vérifiées</a:t>
            </a:r>
            <a:endParaRPr lang="en-US" sz="1300" dirty="0"/>
          </a:p>
        </p:txBody>
      </p:sp>
      <p:sp>
        <p:nvSpPr>
          <p:cNvPr id="46" name="Slide Number Placeholder 0"/>
          <p:cNvSpPr>
            <a:spLocks noGrp="1"/>
          </p:cNvSpPr>
          <p:nvPr>
            <p:ph type="sldNum" sz="quarter" idx="4294967295"/>
          </p:nvPr>
        </p:nvSpPr>
        <p:spPr>
          <a:xfrm>
            <a:off x="11064240" y="6400800"/>
            <a:ext cx="54864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C82"/>
                </a:solidFill>
                <a:latin typeface="Poppins"/>
                <a:ea typeface="Poppins"/>
                <a:cs typeface="Poppins"/>
              </a:defRPr>
            </a:lvl1pPr>
          </a:lstStyle>
          <a:p>
            <a:pPr algn="r"/>
            <a:fld id="{F7021451-1387-4CA6-816F-3879F97B5CBC}" type="slidenum">
              <a:rPr lang="en-US" b="0"/>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566928"/>
            <a:ext cx="11064240" cy="777240"/>
          </a:xfrm>
          <a:prstGeom prst="rect">
            <a:avLst/>
          </a:prstGeom>
          <a:noFill/>
          <a:ln/>
        </p:spPr>
        <p:txBody>
          <a:bodyPr wrap="square" lIns="0" tIns="0" rIns="0" bIns="0" rtlCol="0" anchor="ctr"/>
          <a:lstStyle/>
          <a:p>
            <a:pPr marL="0" indent="0" algn="l">
              <a:buNone/>
            </a:pPr>
            <a:r>
              <a:rPr lang="en-US" sz="2700" b="1" dirty="0">
                <a:solidFill>
                  <a:schemeClr val="tx2"/>
                </a:solidFill>
                <a:latin typeface="Poppins" pitchFamily="34" charset="0"/>
                <a:ea typeface="Poppins" pitchFamily="34" charset="-122"/>
                <a:cs typeface="Poppins" pitchFamily="34" charset="-120"/>
              </a:rPr>
              <a:t>Vidéos : le RAG et l'analyse qualitative</a:t>
            </a:r>
            <a:endParaRPr lang="en-US" sz="2700" dirty="0"/>
          </a:p>
        </p:txBody>
      </p:sp>
      <p:sp>
        <p:nvSpPr>
          <p:cNvPr id="3" name="Text 0"/>
          <p:cNvSpPr>
            <a:spLocks noGrp="1"/>
          </p:cNvSpPr>
          <p:nvPr>
            <p:ph type="body" idx="101" hasCustomPrompt="1"/>
          </p:nvPr>
        </p:nvSpPr>
        <p:spPr>
          <a:xfrm>
            <a:off x="548640" y="256032"/>
            <a:ext cx="8229600" cy="292608"/>
          </a:xfrm>
          <a:prstGeom prst="rect">
            <a:avLst/>
          </a:prstGeom>
          <a:noFill/>
          <a:ln/>
        </p:spPr>
        <p:txBody>
          <a:bodyPr wrap="square" lIns="0" tIns="0" rIns="0" bIns="0" rtlCol="0" anchor="ctr"/>
          <a:lstStyle/>
          <a:p>
            <a:pPr marL="0" indent="0">
              <a:buNone/>
            </a:pPr>
            <a:r>
              <a:rPr lang="en-US" sz="1100" b="1" dirty="0">
                <a:solidFill>
                  <a:schemeClr val="accent1"/>
                </a:solidFill>
                <a:latin typeface="Poppins" pitchFamily="34" charset="0"/>
                <a:ea typeface="Poppins" pitchFamily="34" charset="-122"/>
                <a:cs typeface="Poppins" pitchFamily="34" charset="-120"/>
              </a:rPr>
              <a:t>T3 · POUR ALLER PLUS LOIN</a:t>
            </a:r>
            <a:endParaRPr lang="en-US" sz="1100" dirty="0"/>
          </a:p>
        </p:txBody>
      </p:sp>
      <p:sp>
        <p:nvSpPr>
          <p:cNvPr id="4" name="card-1422"/>
          <p:cNvSpPr/>
          <p:nvPr/>
        </p:nvSpPr>
        <p:spPr>
          <a:xfrm>
            <a:off x="548640" y="1600200"/>
            <a:ext cx="5440680" cy="1298448"/>
          </a:xfrm>
          <a:prstGeom prst="roundRect">
            <a:avLst>
              <a:gd name="adj" fmla="val 5634"/>
            </a:avLst>
          </a:prstGeom>
          <a:solidFill>
            <a:schemeClr val="bg2"/>
          </a:solidFill>
          <a:ln w="6350">
            <a:solidFill>
              <a:schemeClr val="bg2"/>
            </a:solidFill>
            <a:prstDash val="solid"/>
          </a:ln>
        </p:spPr>
      </p:sp>
      <p:sp>
        <p:nvSpPr>
          <p:cNvPr id="5" name="play-1423"/>
          <p:cNvSpPr/>
          <p:nvPr/>
        </p:nvSpPr>
        <p:spPr>
          <a:xfrm>
            <a:off x="777240" y="1901952"/>
            <a:ext cx="685800" cy="685800"/>
          </a:xfrm>
          <a:prstGeom prst="ellipse">
            <a:avLst/>
          </a:prstGeom>
          <a:solidFill>
            <a:schemeClr val="accent3"/>
          </a:solidFill>
          <a:ln w="12700">
            <a:solidFill>
              <a:schemeClr val="accent3"/>
            </a:solidFill>
            <a:prstDash val="solid"/>
          </a:ln>
        </p:spPr>
      </p:sp>
      <p:sp>
        <p:nvSpPr>
          <p:cNvPr id="6" name="tri-1424"/>
          <p:cNvSpPr/>
          <p:nvPr/>
        </p:nvSpPr>
        <p:spPr>
          <a:xfrm rot="5400000">
            <a:off x="1024128" y="2075688"/>
            <a:ext cx="274320" cy="329184"/>
          </a:xfrm>
          <a:prstGeom prst="triangle">
            <a:avLst/>
          </a:prstGeom>
          <a:solidFill>
            <a:schemeClr val="bg1"/>
          </a:solidFill>
          <a:ln w="12700">
            <a:solidFill>
              <a:schemeClr val="bg1"/>
            </a:solidFill>
            <a:prstDash val="solid"/>
          </a:ln>
        </p:spPr>
      </p:sp>
      <p:sp>
        <p:nvSpPr>
          <p:cNvPr id="7" name="txt-1425"/>
          <p:cNvSpPr txBox="1"/>
          <p:nvPr/>
        </p:nvSpPr>
        <p:spPr>
          <a:xfrm>
            <a:off x="1645920" y="1709928"/>
            <a:ext cx="4206240" cy="566928"/>
          </a:xfrm>
          <a:prstGeom prst="rect">
            <a:avLst/>
          </a:prstGeom>
          <a:noFill/>
          <a:ln/>
        </p:spPr>
        <p:txBody>
          <a:bodyPr wrap="square" lIns="0" tIns="0" rIns="0" bIns="0" rtlCol="0" anchor="ctr"/>
          <a:lstStyle/>
          <a:p>
            <a:pPr marL="0" indent="0">
              <a:buNone/>
            </a:pPr>
            <a:r>
              <a:rPr lang="en-US" sz="1300" b="1" dirty="0">
                <a:solidFill>
                  <a:schemeClr val="tx2"/>
                </a:solidFill>
              </a:rPr>
              <a:t>RAG expliqué simplement : la technique derrière les IA qui marchent</a:t>
            </a:r>
            <a:endParaRPr lang="en-US" sz="1300" dirty="0"/>
          </a:p>
        </p:txBody>
      </p:sp>
      <p:sp>
        <p:nvSpPr>
          <p:cNvPr id="8" name="txt-1426"/>
          <p:cNvSpPr txBox="1"/>
          <p:nvPr/>
        </p:nvSpPr>
        <p:spPr>
          <a:xfrm>
            <a:off x="1645920" y="2276856"/>
            <a:ext cx="4206240" cy="256032"/>
          </a:xfrm>
          <a:prstGeom prst="rect">
            <a:avLst/>
          </a:prstGeom>
          <a:noFill/>
          <a:ln/>
        </p:spPr>
        <p:txBody>
          <a:bodyPr wrap="square" lIns="0" tIns="0" rIns="0" bIns="0" rtlCol="0" anchor="t"/>
          <a:lstStyle/>
          <a:p>
            <a:pPr marL="0" indent="0">
              <a:buNone/>
            </a:pPr>
            <a:r>
              <a:rPr lang="en-US" sz="1100" dirty="0">
                <a:solidFill>
                  <a:schemeClr val="accent5"/>
                </a:solidFill>
              </a:rPr>
              <a:t>Projets IA · 21 min</a:t>
            </a:r>
            <a:endParaRPr lang="en-US" sz="1100" dirty="0"/>
          </a:p>
        </p:txBody>
      </p:sp>
      <p:sp>
        <p:nvSpPr>
          <p:cNvPr id="9" name="txt-1427"/>
          <p:cNvSpPr txBox="1"/>
          <p:nvPr/>
        </p:nvSpPr>
        <p:spPr>
          <a:xfrm>
            <a:off x="1645920" y="2532888"/>
            <a:ext cx="4206240" cy="256032"/>
          </a:xfrm>
          <a:prstGeom prst="rect">
            <a:avLst/>
          </a:prstGeom>
          <a:noFill/>
          <a:ln/>
        </p:spPr>
        <p:txBody>
          <a:bodyPr wrap="square" lIns="0" tIns="0" rIns="0" bIns="0" rtlCol="0" anchor="t"/>
          <a:lstStyle/>
          <a:p>
            <a:pPr marL="0" indent="0">
              <a:buNone/>
            </a:pPr>
            <a:r>
              <a:rPr lang="en-US" sz="1100" b="1" u="sng" dirty="0">
                <a:solidFill>
                  <a:schemeClr val="accent6"/>
                </a:solidFill>
                <a:hlinkClick r:id="rId3" tooltip="RAG expliqué simplement : la technique derrière les IA qui marchent">
                  <a:extLst>
                    <a:ext uri="{A12FA001-AC4F-418D-AE19-62706E023703}">
                      <ahyp:hlinkClr xmlns:ahyp="http://schemas.microsoft.com/office/drawing/2018/hyperlinkcolor" val="tx"/>
                    </a:ext>
                  </a:extLst>
                </a:hlinkClick>
              </a:rPr>
              <a:t>youtu.be/5V3t7YXYjZc</a:t>
            </a:r>
            <a:endParaRPr lang="en-US" sz="1100" dirty="0"/>
          </a:p>
        </p:txBody>
      </p:sp>
      <p:sp>
        <p:nvSpPr>
          <p:cNvPr id="10" name="card-1428"/>
          <p:cNvSpPr/>
          <p:nvPr/>
        </p:nvSpPr>
        <p:spPr>
          <a:xfrm>
            <a:off x="6172200" y="1600200"/>
            <a:ext cx="5440680" cy="1298448"/>
          </a:xfrm>
          <a:prstGeom prst="roundRect">
            <a:avLst>
              <a:gd name="adj" fmla="val 5634"/>
            </a:avLst>
          </a:prstGeom>
          <a:solidFill>
            <a:schemeClr val="bg2"/>
          </a:solidFill>
          <a:ln w="6350">
            <a:solidFill>
              <a:schemeClr val="bg2"/>
            </a:solidFill>
            <a:prstDash val="solid"/>
          </a:ln>
        </p:spPr>
      </p:sp>
      <p:sp>
        <p:nvSpPr>
          <p:cNvPr id="11" name="play-1429"/>
          <p:cNvSpPr/>
          <p:nvPr/>
        </p:nvSpPr>
        <p:spPr>
          <a:xfrm>
            <a:off x="6400800" y="1901952"/>
            <a:ext cx="685800" cy="685800"/>
          </a:xfrm>
          <a:prstGeom prst="ellipse">
            <a:avLst/>
          </a:prstGeom>
          <a:solidFill>
            <a:schemeClr val="accent3"/>
          </a:solidFill>
          <a:ln w="12700">
            <a:solidFill>
              <a:schemeClr val="accent3"/>
            </a:solidFill>
            <a:prstDash val="solid"/>
          </a:ln>
        </p:spPr>
      </p:sp>
      <p:sp>
        <p:nvSpPr>
          <p:cNvPr id="12" name="tri-1430"/>
          <p:cNvSpPr/>
          <p:nvPr/>
        </p:nvSpPr>
        <p:spPr>
          <a:xfrm rot="5400000">
            <a:off x="6647688" y="2075688"/>
            <a:ext cx="274320" cy="329184"/>
          </a:xfrm>
          <a:prstGeom prst="triangle">
            <a:avLst/>
          </a:prstGeom>
          <a:solidFill>
            <a:schemeClr val="bg1"/>
          </a:solidFill>
          <a:ln w="12700">
            <a:solidFill>
              <a:schemeClr val="bg1"/>
            </a:solidFill>
            <a:prstDash val="solid"/>
          </a:ln>
        </p:spPr>
      </p:sp>
      <p:sp>
        <p:nvSpPr>
          <p:cNvPr id="13" name="txt-1431"/>
          <p:cNvSpPr txBox="1"/>
          <p:nvPr/>
        </p:nvSpPr>
        <p:spPr>
          <a:xfrm>
            <a:off x="7269480" y="1709928"/>
            <a:ext cx="4206240" cy="566928"/>
          </a:xfrm>
          <a:prstGeom prst="rect">
            <a:avLst/>
          </a:prstGeom>
          <a:noFill/>
          <a:ln/>
        </p:spPr>
        <p:txBody>
          <a:bodyPr wrap="square" lIns="0" tIns="0" rIns="0" bIns="0" rtlCol="0" anchor="ctr"/>
          <a:lstStyle/>
          <a:p>
            <a:pPr marL="0" indent="0">
              <a:buNone/>
            </a:pPr>
            <a:r>
              <a:rPr lang="en-US" sz="1300" b="1" dirty="0">
                <a:solidFill>
                  <a:schemeClr val="tx2"/>
                </a:solidFill>
              </a:rPr>
              <a:t>Le rôle de la génération augmentée de récupération (RAG) en IA</a:t>
            </a:r>
            <a:endParaRPr lang="en-US" sz="1300" dirty="0"/>
          </a:p>
        </p:txBody>
      </p:sp>
      <p:sp>
        <p:nvSpPr>
          <p:cNvPr id="14" name="txt-1432"/>
          <p:cNvSpPr txBox="1"/>
          <p:nvPr/>
        </p:nvSpPr>
        <p:spPr>
          <a:xfrm>
            <a:off x="7269480" y="2276856"/>
            <a:ext cx="4206240" cy="256032"/>
          </a:xfrm>
          <a:prstGeom prst="rect">
            <a:avLst/>
          </a:prstGeom>
          <a:noFill/>
          <a:ln/>
        </p:spPr>
        <p:txBody>
          <a:bodyPr wrap="square" lIns="0" tIns="0" rIns="0" bIns="0" rtlCol="0" anchor="t"/>
          <a:lstStyle/>
          <a:p>
            <a:pPr marL="0" indent="0">
              <a:buNone/>
            </a:pPr>
            <a:r>
              <a:rPr lang="en-US" sz="1100" dirty="0">
                <a:solidFill>
                  <a:schemeClr val="accent5"/>
                </a:solidFill>
              </a:rPr>
              <a:t>Louis-François Bouchard · 11 min</a:t>
            </a:r>
            <a:endParaRPr lang="en-US" sz="1100" dirty="0"/>
          </a:p>
        </p:txBody>
      </p:sp>
      <p:sp>
        <p:nvSpPr>
          <p:cNvPr id="15" name="txt-1433"/>
          <p:cNvSpPr txBox="1"/>
          <p:nvPr/>
        </p:nvSpPr>
        <p:spPr>
          <a:xfrm>
            <a:off x="7269480" y="2532888"/>
            <a:ext cx="4206240" cy="256032"/>
          </a:xfrm>
          <a:prstGeom prst="rect">
            <a:avLst/>
          </a:prstGeom>
          <a:noFill/>
          <a:ln/>
        </p:spPr>
        <p:txBody>
          <a:bodyPr wrap="square" lIns="0" tIns="0" rIns="0" bIns="0" rtlCol="0" anchor="t"/>
          <a:lstStyle/>
          <a:p>
            <a:pPr marL="0" indent="0">
              <a:buNone/>
            </a:pPr>
            <a:r>
              <a:rPr lang="en-US" sz="1100" b="1" u="sng" dirty="0">
                <a:solidFill>
                  <a:schemeClr val="accent6"/>
                </a:solidFill>
                <a:hlinkClick r:id="rId4" tooltip="Le rôle de la génération augmentée de récupération (RAG) en IA">
                  <a:extLst>
                    <a:ext uri="{A12FA001-AC4F-418D-AE19-62706E023703}">
                      <ahyp:hlinkClr xmlns:ahyp="http://schemas.microsoft.com/office/drawing/2018/hyperlinkcolor" val="tx"/>
                    </a:ext>
                  </a:extLst>
                </a:hlinkClick>
              </a:rPr>
              <a:t>youtu.be/EU_xYZ01k1E</a:t>
            </a:r>
            <a:endParaRPr lang="en-US" sz="1100" dirty="0"/>
          </a:p>
        </p:txBody>
      </p:sp>
      <p:sp>
        <p:nvSpPr>
          <p:cNvPr id="16" name="card-1434"/>
          <p:cNvSpPr/>
          <p:nvPr/>
        </p:nvSpPr>
        <p:spPr>
          <a:xfrm>
            <a:off x="548640" y="3081528"/>
            <a:ext cx="5440680" cy="1298448"/>
          </a:xfrm>
          <a:prstGeom prst="roundRect">
            <a:avLst>
              <a:gd name="adj" fmla="val 5634"/>
            </a:avLst>
          </a:prstGeom>
          <a:solidFill>
            <a:schemeClr val="bg2"/>
          </a:solidFill>
          <a:ln w="6350">
            <a:solidFill>
              <a:schemeClr val="bg2"/>
            </a:solidFill>
            <a:prstDash val="solid"/>
          </a:ln>
        </p:spPr>
      </p:sp>
      <p:sp>
        <p:nvSpPr>
          <p:cNvPr id="17" name="play-1435"/>
          <p:cNvSpPr/>
          <p:nvPr/>
        </p:nvSpPr>
        <p:spPr>
          <a:xfrm>
            <a:off x="777240" y="3383280"/>
            <a:ext cx="685800" cy="685800"/>
          </a:xfrm>
          <a:prstGeom prst="ellipse">
            <a:avLst/>
          </a:prstGeom>
          <a:solidFill>
            <a:schemeClr val="accent3"/>
          </a:solidFill>
          <a:ln w="12700">
            <a:solidFill>
              <a:schemeClr val="accent3"/>
            </a:solidFill>
            <a:prstDash val="solid"/>
          </a:ln>
        </p:spPr>
      </p:sp>
      <p:sp>
        <p:nvSpPr>
          <p:cNvPr id="18" name="tri-1436"/>
          <p:cNvSpPr/>
          <p:nvPr/>
        </p:nvSpPr>
        <p:spPr>
          <a:xfrm rot="5400000">
            <a:off x="1024128" y="3557016"/>
            <a:ext cx="274320" cy="329184"/>
          </a:xfrm>
          <a:prstGeom prst="triangle">
            <a:avLst/>
          </a:prstGeom>
          <a:solidFill>
            <a:schemeClr val="bg1"/>
          </a:solidFill>
          <a:ln w="12700">
            <a:solidFill>
              <a:schemeClr val="bg1"/>
            </a:solidFill>
            <a:prstDash val="solid"/>
          </a:ln>
        </p:spPr>
      </p:sp>
      <p:sp>
        <p:nvSpPr>
          <p:cNvPr id="19" name="txt-1437"/>
          <p:cNvSpPr txBox="1"/>
          <p:nvPr/>
        </p:nvSpPr>
        <p:spPr>
          <a:xfrm>
            <a:off x="1645920" y="3191256"/>
            <a:ext cx="4206240" cy="566928"/>
          </a:xfrm>
          <a:prstGeom prst="rect">
            <a:avLst/>
          </a:prstGeom>
          <a:noFill/>
          <a:ln/>
        </p:spPr>
        <p:txBody>
          <a:bodyPr wrap="square" lIns="0" tIns="0" rIns="0" bIns="0" rtlCol="0" anchor="ctr"/>
          <a:lstStyle/>
          <a:p>
            <a:pPr marL="0" indent="0">
              <a:buNone/>
            </a:pPr>
            <a:r>
              <a:rPr lang="en-US" sz="1300" b="1" dirty="0">
                <a:solidFill>
                  <a:schemeClr val="tx2"/>
                </a:solidFill>
              </a:rPr>
              <a:t>Analyse d'entretiens avec NotebookLM : un outil d'IA pour le codage</a:t>
            </a:r>
            <a:endParaRPr lang="en-US" sz="1300" dirty="0"/>
          </a:p>
        </p:txBody>
      </p:sp>
      <p:sp>
        <p:nvSpPr>
          <p:cNvPr id="20" name="txt-1438"/>
          <p:cNvSpPr txBox="1"/>
          <p:nvPr/>
        </p:nvSpPr>
        <p:spPr>
          <a:xfrm>
            <a:off x="1645920" y="3758184"/>
            <a:ext cx="4206240" cy="256032"/>
          </a:xfrm>
          <a:prstGeom prst="rect">
            <a:avLst/>
          </a:prstGeom>
          <a:noFill/>
          <a:ln/>
        </p:spPr>
        <p:txBody>
          <a:bodyPr wrap="square" lIns="0" tIns="0" rIns="0" bIns="0" rtlCol="0" anchor="t"/>
          <a:lstStyle/>
          <a:p>
            <a:pPr marL="0" indent="0">
              <a:buNone/>
            </a:pPr>
            <a:r>
              <a:rPr lang="en-US" sz="1100" dirty="0">
                <a:solidFill>
                  <a:schemeClr val="accent5"/>
                </a:solidFill>
              </a:rPr>
              <a:t>Ali Bezzaa Data Analytics · 13 min</a:t>
            </a:r>
            <a:endParaRPr lang="en-US" sz="1100" dirty="0"/>
          </a:p>
        </p:txBody>
      </p:sp>
      <p:sp>
        <p:nvSpPr>
          <p:cNvPr id="21" name="txt-1439"/>
          <p:cNvSpPr txBox="1"/>
          <p:nvPr/>
        </p:nvSpPr>
        <p:spPr>
          <a:xfrm>
            <a:off x="1645920" y="4014216"/>
            <a:ext cx="4206240" cy="256032"/>
          </a:xfrm>
          <a:prstGeom prst="rect">
            <a:avLst/>
          </a:prstGeom>
          <a:noFill/>
          <a:ln/>
        </p:spPr>
        <p:txBody>
          <a:bodyPr wrap="square" lIns="0" tIns="0" rIns="0" bIns="0" rtlCol="0" anchor="t"/>
          <a:lstStyle/>
          <a:p>
            <a:pPr marL="0" indent="0">
              <a:buNone/>
            </a:pPr>
            <a:r>
              <a:rPr lang="en-US" sz="1100" b="1" u="sng" dirty="0">
                <a:solidFill>
                  <a:schemeClr val="accent6"/>
                </a:solidFill>
                <a:hlinkClick r:id="rId5" tooltip="Analyse d'entretiens avec NotebookLM : un outil d'IA pour le codage">
                  <a:extLst>
                    <a:ext uri="{A12FA001-AC4F-418D-AE19-62706E023703}">
                      <ahyp:hlinkClr xmlns:ahyp="http://schemas.microsoft.com/office/drawing/2018/hyperlinkcolor" val="tx"/>
                    </a:ext>
                  </a:extLst>
                </a:hlinkClick>
              </a:rPr>
              <a:t>youtu.be/hp2i2qhbKM0</a:t>
            </a:r>
            <a:endParaRPr lang="en-US" sz="1100" dirty="0"/>
          </a:p>
        </p:txBody>
      </p:sp>
      <p:sp>
        <p:nvSpPr>
          <p:cNvPr id="22" name="card-1440"/>
          <p:cNvSpPr/>
          <p:nvPr/>
        </p:nvSpPr>
        <p:spPr>
          <a:xfrm>
            <a:off x="6172200" y="3081528"/>
            <a:ext cx="5440680" cy="1298448"/>
          </a:xfrm>
          <a:prstGeom prst="roundRect">
            <a:avLst>
              <a:gd name="adj" fmla="val 5634"/>
            </a:avLst>
          </a:prstGeom>
          <a:solidFill>
            <a:schemeClr val="bg2"/>
          </a:solidFill>
          <a:ln w="6350">
            <a:solidFill>
              <a:schemeClr val="bg2"/>
            </a:solidFill>
            <a:prstDash val="solid"/>
          </a:ln>
        </p:spPr>
      </p:sp>
      <p:sp>
        <p:nvSpPr>
          <p:cNvPr id="23" name="play-1441"/>
          <p:cNvSpPr/>
          <p:nvPr/>
        </p:nvSpPr>
        <p:spPr>
          <a:xfrm>
            <a:off x="6400800" y="3383280"/>
            <a:ext cx="685800" cy="685800"/>
          </a:xfrm>
          <a:prstGeom prst="ellipse">
            <a:avLst/>
          </a:prstGeom>
          <a:solidFill>
            <a:schemeClr val="accent3"/>
          </a:solidFill>
          <a:ln w="12700">
            <a:solidFill>
              <a:schemeClr val="accent3"/>
            </a:solidFill>
            <a:prstDash val="solid"/>
          </a:ln>
        </p:spPr>
      </p:sp>
      <p:sp>
        <p:nvSpPr>
          <p:cNvPr id="24" name="tri-1442"/>
          <p:cNvSpPr/>
          <p:nvPr/>
        </p:nvSpPr>
        <p:spPr>
          <a:xfrm rot="5400000">
            <a:off x="6647688" y="3557016"/>
            <a:ext cx="274320" cy="329184"/>
          </a:xfrm>
          <a:prstGeom prst="triangle">
            <a:avLst/>
          </a:prstGeom>
          <a:solidFill>
            <a:schemeClr val="bg1"/>
          </a:solidFill>
          <a:ln w="12700">
            <a:solidFill>
              <a:schemeClr val="bg1"/>
            </a:solidFill>
            <a:prstDash val="solid"/>
          </a:ln>
        </p:spPr>
      </p:sp>
      <p:sp>
        <p:nvSpPr>
          <p:cNvPr id="25" name="txt-1443"/>
          <p:cNvSpPr txBox="1"/>
          <p:nvPr/>
        </p:nvSpPr>
        <p:spPr>
          <a:xfrm>
            <a:off x="7269480" y="3191256"/>
            <a:ext cx="4206240" cy="566928"/>
          </a:xfrm>
          <a:prstGeom prst="rect">
            <a:avLst/>
          </a:prstGeom>
          <a:noFill/>
          <a:ln/>
        </p:spPr>
        <p:txBody>
          <a:bodyPr wrap="square" lIns="0" tIns="0" rIns="0" bIns="0" rtlCol="0" anchor="ctr"/>
          <a:lstStyle/>
          <a:p>
            <a:pPr marL="0" indent="0">
              <a:buNone/>
            </a:pPr>
            <a:r>
              <a:rPr lang="en-US" sz="1300" b="1" dirty="0">
                <a:solidFill>
                  <a:schemeClr val="tx2"/>
                </a:solidFill>
              </a:rPr>
              <a:t>Trame méthodologique pour analyser les données de vos entretiens</a:t>
            </a:r>
            <a:endParaRPr lang="en-US" sz="1300" dirty="0"/>
          </a:p>
        </p:txBody>
      </p:sp>
      <p:sp>
        <p:nvSpPr>
          <p:cNvPr id="26" name="txt-1444"/>
          <p:cNvSpPr txBox="1"/>
          <p:nvPr/>
        </p:nvSpPr>
        <p:spPr>
          <a:xfrm>
            <a:off x="7269480" y="3758184"/>
            <a:ext cx="4206240" cy="256032"/>
          </a:xfrm>
          <a:prstGeom prst="rect">
            <a:avLst/>
          </a:prstGeom>
          <a:noFill/>
          <a:ln/>
        </p:spPr>
        <p:txBody>
          <a:bodyPr wrap="square" lIns="0" tIns="0" rIns="0" bIns="0" rtlCol="0" anchor="t"/>
          <a:lstStyle/>
          <a:p>
            <a:pPr marL="0" indent="0">
              <a:buNone/>
            </a:pPr>
            <a:r>
              <a:rPr lang="en-US" sz="1100" dirty="0">
                <a:solidFill>
                  <a:schemeClr val="accent5"/>
                </a:solidFill>
              </a:rPr>
              <a:t>À la rescousse de ton mémoire ou de ta thèse · 11 min</a:t>
            </a:r>
            <a:endParaRPr lang="en-US" sz="1100" dirty="0"/>
          </a:p>
        </p:txBody>
      </p:sp>
      <p:sp>
        <p:nvSpPr>
          <p:cNvPr id="27" name="txt-1445"/>
          <p:cNvSpPr txBox="1"/>
          <p:nvPr/>
        </p:nvSpPr>
        <p:spPr>
          <a:xfrm>
            <a:off x="7269480" y="4014216"/>
            <a:ext cx="4206240" cy="256032"/>
          </a:xfrm>
          <a:prstGeom prst="rect">
            <a:avLst/>
          </a:prstGeom>
          <a:noFill/>
          <a:ln/>
        </p:spPr>
        <p:txBody>
          <a:bodyPr wrap="square" lIns="0" tIns="0" rIns="0" bIns="0" rtlCol="0" anchor="t"/>
          <a:lstStyle/>
          <a:p>
            <a:pPr marL="0" indent="0">
              <a:buNone/>
            </a:pPr>
            <a:r>
              <a:rPr lang="en-US" sz="1100" b="1" u="sng" dirty="0">
                <a:solidFill>
                  <a:schemeClr val="accent6"/>
                </a:solidFill>
                <a:hlinkClick r:id="rId6" tooltip="Trame méthodologique pour analyser les données de vos entretiens">
                  <a:extLst>
                    <a:ext uri="{A12FA001-AC4F-418D-AE19-62706E023703}">
                      <ahyp:hlinkClr xmlns:ahyp="http://schemas.microsoft.com/office/drawing/2018/hyperlinkcolor" val="tx"/>
                    </a:ext>
                  </a:extLst>
                </a:hlinkClick>
              </a:rPr>
              <a:t>youtu.be/8DZ9T5epwxc</a:t>
            </a:r>
            <a:endParaRPr lang="en-US" sz="1100" dirty="0"/>
          </a:p>
        </p:txBody>
      </p:sp>
      <p:sp>
        <p:nvSpPr>
          <p:cNvPr id="28" name="txt-1446"/>
          <p:cNvSpPr txBox="1"/>
          <p:nvPr/>
        </p:nvSpPr>
        <p:spPr>
          <a:xfrm>
            <a:off x="548640" y="6053328"/>
            <a:ext cx="11064240" cy="256032"/>
          </a:xfrm>
          <a:prstGeom prst="rect">
            <a:avLst/>
          </a:prstGeom>
          <a:noFill/>
          <a:ln/>
        </p:spPr>
        <p:txBody>
          <a:bodyPr wrap="square" lIns="0" tIns="0" rIns="0" bIns="0" rtlCol="0" anchor="t"/>
          <a:lstStyle/>
          <a:p>
            <a:pPr marL="0" indent="0">
              <a:buNone/>
            </a:pPr>
            <a:r>
              <a:rPr lang="en-US" sz="1000" i="1" dirty="0">
                <a:solidFill>
                  <a:schemeClr val="accent5"/>
                </a:solidFill>
              </a:rPr>
              <a:t>Vidéos en français vérifiées en octobre 2026. Liens cliquables en mode diaporama.</a:t>
            </a:r>
            <a:endParaRPr lang="en-US" sz="1000" dirty="0"/>
          </a:p>
        </p:txBody>
      </p:sp>
      <p:sp>
        <p:nvSpPr>
          <p:cNvPr id="29" name="Slide Number Placeholder 0"/>
          <p:cNvSpPr>
            <a:spLocks noGrp="1"/>
          </p:cNvSpPr>
          <p:nvPr>
            <p:ph type="sldNum" sz="quarter" idx="4294967295"/>
          </p:nvPr>
        </p:nvSpPr>
        <p:spPr>
          <a:xfrm>
            <a:off x="11064240" y="6400800"/>
            <a:ext cx="54864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C82"/>
                </a:solidFill>
                <a:latin typeface="Poppins"/>
                <a:ea typeface="Poppins"/>
                <a:cs typeface="Poppins"/>
              </a:defRPr>
            </a:lvl1pPr>
          </a:lstStyle>
          <a:p>
            <a:pPr algn="r"/>
            <a:fld id="{F7021451-1387-4CA6-816F-3879F97B5CBC}" type="slidenum">
              <a:rPr lang="en-US" b="0"/>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xt-1447"/>
          <p:cNvSpPr txBox="1"/>
          <p:nvPr/>
        </p:nvSpPr>
        <p:spPr>
          <a:xfrm>
            <a:off x="640080" y="2011680"/>
            <a:ext cx="2560320" cy="2011680"/>
          </a:xfrm>
          <a:prstGeom prst="rect">
            <a:avLst/>
          </a:prstGeom>
          <a:noFill/>
          <a:ln/>
        </p:spPr>
        <p:txBody>
          <a:bodyPr wrap="square" lIns="0" tIns="0" rIns="0" bIns="0" rtlCol="0" anchor="ctr"/>
          <a:lstStyle/>
          <a:p>
            <a:pPr marL="0" indent="0">
              <a:buNone/>
            </a:pPr>
            <a:r>
              <a:rPr lang="en-US" sz="9600" b="1" dirty="0">
                <a:solidFill>
                  <a:schemeClr val="accent1"/>
                </a:solidFill>
              </a:rPr>
              <a:t>T4</a:t>
            </a:r>
            <a:endParaRPr lang="en-US" sz="9600" dirty="0"/>
          </a:p>
        </p:txBody>
      </p:sp>
      <p:sp>
        <p:nvSpPr>
          <p:cNvPr id="3" name="txt-1448"/>
          <p:cNvSpPr txBox="1"/>
          <p:nvPr/>
        </p:nvSpPr>
        <p:spPr>
          <a:xfrm>
            <a:off x="3291840" y="1737360"/>
            <a:ext cx="8229600" cy="457200"/>
          </a:xfrm>
          <a:prstGeom prst="rect">
            <a:avLst/>
          </a:prstGeom>
          <a:noFill/>
          <a:ln/>
        </p:spPr>
        <p:txBody>
          <a:bodyPr wrap="square" lIns="0" tIns="0" rIns="0" bIns="0" rtlCol="0" anchor="t"/>
          <a:lstStyle/>
          <a:p>
            <a:pPr marL="0" indent="0">
              <a:buNone/>
            </a:pPr>
            <a:r>
              <a:rPr lang="en-US" sz="1600" b="1" dirty="0">
                <a:solidFill>
                  <a:schemeClr val="accent1"/>
                </a:solidFill>
              </a:rPr>
              <a:t>Capsule théorique · 15 min</a:t>
            </a:r>
            <a:endParaRPr lang="en-US" sz="1600" dirty="0"/>
          </a:p>
        </p:txBody>
      </p:sp>
      <p:sp>
        <p:nvSpPr>
          <p:cNvPr id="4" name="Text 0"/>
          <p:cNvSpPr>
            <a:spLocks noGrp="1"/>
          </p:cNvSpPr>
          <p:nvPr>
            <p:ph type="title" idx="100" hasCustomPrompt="1"/>
          </p:nvPr>
        </p:nvSpPr>
        <p:spPr>
          <a:xfrm>
            <a:off x="3291840" y="2286000"/>
            <a:ext cx="8321040" cy="1463040"/>
          </a:xfrm>
          <a:prstGeom prst="rect">
            <a:avLst/>
          </a:prstGeom>
          <a:noFill/>
          <a:ln/>
        </p:spPr>
        <p:txBody>
          <a:bodyPr wrap="square" lIns="0" tIns="0" rIns="0" bIns="0" rtlCol="0" anchor="ctr"/>
          <a:lstStyle/>
          <a:p>
            <a:pPr marL="0" indent="0" algn="l">
              <a:buNone/>
            </a:pPr>
            <a:r>
              <a:rPr lang="en-US" sz="3400" b="1" dirty="0">
                <a:solidFill>
                  <a:schemeClr val="bg1"/>
                </a:solidFill>
                <a:latin typeface="Poppins" pitchFamily="34" charset="0"/>
                <a:ea typeface="Poppins" pitchFamily="34" charset="-122"/>
                <a:cs typeface="Poppins" pitchFamily="34" charset="-120"/>
              </a:rPr>
              <a:t>Traduire avec l'IA</a:t>
            </a:r>
            <a:endParaRPr lang="en-US" sz="3400" dirty="0"/>
          </a:p>
        </p:txBody>
      </p:sp>
      <p:sp>
        <p:nvSpPr>
          <p:cNvPr id="5" name="txt-1449"/>
          <p:cNvSpPr txBox="1"/>
          <p:nvPr/>
        </p:nvSpPr>
        <p:spPr>
          <a:xfrm>
            <a:off x="3291840" y="3931920"/>
            <a:ext cx="8229600" cy="1828800"/>
          </a:xfrm>
          <a:prstGeom prst="rect">
            <a:avLst/>
          </a:prstGeom>
          <a:noFill/>
          <a:ln/>
        </p:spPr>
        <p:txBody>
          <a:bodyPr wrap="square" lIns="0" tIns="0" rIns="0" bIns="0" rtlCol="0" anchor="t"/>
          <a:lstStyle/>
          <a:p>
            <a:pPr marL="177800" indent="-177800">
              <a:spcAft>
                <a:spcPts val="600"/>
              </a:spcAft>
              <a:buSzPct val="100000"/>
              <a:buChar char="•"/>
            </a:pPr>
            <a:r>
              <a:rPr lang="en-US" sz="1600" dirty="0">
                <a:solidFill>
                  <a:schemeClr val="bg2"/>
                </a:solidFill>
              </a:rPr>
              <a:t>Traducteur automatique, IA générative ou humain ?</a:t>
            </a:r>
            <a:endParaRPr lang="en-US" sz="1600" dirty="0"/>
          </a:p>
          <a:p>
            <a:pPr marL="177800" indent="-177800">
              <a:spcAft>
                <a:spcPts val="600"/>
              </a:spcAft>
              <a:buSzPct val="100000"/>
              <a:buChar char="•"/>
            </a:pPr>
            <a:r>
              <a:rPr lang="en-US" sz="1600" dirty="0">
                <a:solidFill>
                  <a:schemeClr val="bg2"/>
                </a:solidFill>
              </a:rPr>
              <a:t>Les faux-amis du français scientifique</a:t>
            </a:r>
            <a:endParaRPr lang="en-US" sz="1600" dirty="0"/>
          </a:p>
          <a:p>
            <a:pPr marL="177800" indent="-177800">
              <a:spcAft>
                <a:spcPts val="600"/>
              </a:spcAft>
              <a:buSzPct val="100000"/>
              <a:buChar char="•"/>
            </a:pPr>
            <a:r>
              <a:rPr lang="en-US" sz="1600" dirty="0">
                <a:solidFill>
                  <a:schemeClr val="bg2"/>
                </a:solidFill>
              </a:rPr>
              <a:t>La post-édition en 4 étapes</a:t>
            </a:r>
            <a:endParaRPr lang="en-US" sz="16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566928"/>
            <a:ext cx="11064240" cy="777240"/>
          </a:xfrm>
          <a:prstGeom prst="rect">
            <a:avLst/>
          </a:prstGeom>
          <a:noFill/>
          <a:ln/>
        </p:spPr>
        <p:txBody>
          <a:bodyPr wrap="square" lIns="0" tIns="0" rIns="0" bIns="0" rtlCol="0" anchor="ctr"/>
          <a:lstStyle/>
          <a:p>
            <a:pPr marL="0" indent="0" algn="l">
              <a:buNone/>
            </a:pPr>
            <a:r>
              <a:rPr lang="en-US" sz="2700" b="1" dirty="0">
                <a:solidFill>
                  <a:schemeClr val="tx2"/>
                </a:solidFill>
                <a:latin typeface="Poppins" pitchFamily="34" charset="0"/>
                <a:ea typeface="Poppins" pitchFamily="34" charset="-122"/>
                <a:cs typeface="Poppins" pitchFamily="34" charset="-120"/>
              </a:rPr>
              <a:t>Trois façons de traduire</a:t>
            </a:r>
            <a:endParaRPr lang="en-US" sz="2700" dirty="0"/>
          </a:p>
        </p:txBody>
      </p:sp>
      <p:sp>
        <p:nvSpPr>
          <p:cNvPr id="3" name="Text 0"/>
          <p:cNvSpPr>
            <a:spLocks noGrp="1"/>
          </p:cNvSpPr>
          <p:nvPr>
            <p:ph type="body" idx="101" hasCustomPrompt="1"/>
          </p:nvPr>
        </p:nvSpPr>
        <p:spPr>
          <a:xfrm>
            <a:off x="548640" y="256032"/>
            <a:ext cx="8229600" cy="292608"/>
          </a:xfrm>
          <a:prstGeom prst="rect">
            <a:avLst/>
          </a:prstGeom>
          <a:noFill/>
          <a:ln/>
        </p:spPr>
        <p:txBody>
          <a:bodyPr wrap="square" lIns="0" tIns="0" rIns="0" bIns="0" rtlCol="0" anchor="ctr"/>
          <a:lstStyle/>
          <a:p>
            <a:pPr marL="0" indent="0">
              <a:buNone/>
            </a:pPr>
            <a:r>
              <a:rPr lang="en-US" sz="1100" b="1" dirty="0">
                <a:solidFill>
                  <a:schemeClr val="accent1"/>
                </a:solidFill>
                <a:latin typeface="Poppins" pitchFamily="34" charset="0"/>
                <a:ea typeface="Poppins" pitchFamily="34" charset="-122"/>
                <a:cs typeface="Poppins" pitchFamily="34" charset="-120"/>
              </a:rPr>
              <a:t>T4 · TRADUIRE</a:t>
            </a:r>
            <a:endParaRPr lang="en-US" sz="1100" dirty="0"/>
          </a:p>
        </p:txBody>
      </p:sp>
      <p:sp>
        <p:nvSpPr>
          <p:cNvPr id="4" name="card-1450"/>
          <p:cNvSpPr/>
          <p:nvPr/>
        </p:nvSpPr>
        <p:spPr>
          <a:xfrm>
            <a:off x="548640" y="1600200"/>
            <a:ext cx="3474720" cy="3474720"/>
          </a:xfrm>
          <a:prstGeom prst="roundRect">
            <a:avLst>
              <a:gd name="adj" fmla="val 2105"/>
            </a:avLst>
          </a:prstGeom>
          <a:solidFill>
            <a:schemeClr val="bg2"/>
          </a:solidFill>
          <a:ln w="6350">
            <a:solidFill>
              <a:schemeClr val="bg2"/>
            </a:solidFill>
            <a:prstDash val="solid"/>
          </a:ln>
        </p:spPr>
      </p:sp>
      <p:sp>
        <p:nvSpPr>
          <p:cNvPr id="5" name="circle-1451"/>
          <p:cNvSpPr/>
          <p:nvPr/>
        </p:nvSpPr>
        <p:spPr>
          <a:xfrm>
            <a:off x="822960" y="1828800"/>
            <a:ext cx="685800" cy="685800"/>
          </a:xfrm>
          <a:prstGeom prst="ellipse">
            <a:avLst/>
          </a:prstGeom>
          <a:solidFill>
            <a:schemeClr val="accent5"/>
          </a:solidFill>
          <a:ln w="12700">
            <a:solidFill>
              <a:schemeClr val="accent5"/>
            </a:solidFill>
            <a:prstDash val="solid"/>
          </a:ln>
        </p:spPr>
      </p:sp>
      <p:pic>
        <p:nvPicPr>
          <p:cNvPr id="6" name="icon-1452" descr="preencoded.png"/>
          <p:cNvPicPr>
            <a:picLocks noChangeAspect="1"/>
          </p:cNvPicPr>
          <p:nvPr/>
        </p:nvPicPr>
        <p:blipFill>
          <a:blip r:embed="rId3"/>
          <a:stretch>
            <a:fillRect/>
          </a:stretch>
        </p:blipFill>
        <p:spPr>
          <a:xfrm>
            <a:off x="994410" y="2000250"/>
            <a:ext cx="342900" cy="342900"/>
          </a:xfrm>
          <a:prstGeom prst="rect">
            <a:avLst/>
          </a:prstGeom>
        </p:spPr>
      </p:pic>
      <p:sp>
        <p:nvSpPr>
          <p:cNvPr id="7" name="txt-1453"/>
          <p:cNvSpPr txBox="1"/>
          <p:nvPr/>
        </p:nvSpPr>
        <p:spPr>
          <a:xfrm>
            <a:off x="1645920" y="1828800"/>
            <a:ext cx="2286000" cy="685800"/>
          </a:xfrm>
          <a:prstGeom prst="rect">
            <a:avLst/>
          </a:prstGeom>
          <a:noFill/>
          <a:ln/>
        </p:spPr>
        <p:txBody>
          <a:bodyPr wrap="square" lIns="0" tIns="0" rIns="0" bIns="0" rtlCol="0" anchor="ctr"/>
          <a:lstStyle/>
          <a:p>
            <a:pPr marL="0" indent="0">
              <a:buNone/>
            </a:pPr>
            <a:r>
              <a:rPr lang="en-US" sz="1500" b="1" dirty="0">
                <a:solidFill>
                  <a:schemeClr val="tx2"/>
                </a:solidFill>
              </a:rPr>
              <a:t>Traducteur automatique</a:t>
            </a:r>
            <a:endParaRPr lang="en-US" sz="1500" dirty="0"/>
          </a:p>
        </p:txBody>
      </p:sp>
      <p:sp>
        <p:nvSpPr>
          <p:cNvPr id="8" name="txt-1454"/>
          <p:cNvSpPr txBox="1"/>
          <p:nvPr/>
        </p:nvSpPr>
        <p:spPr>
          <a:xfrm>
            <a:off x="822960" y="2651760"/>
            <a:ext cx="2926080" cy="320040"/>
          </a:xfrm>
          <a:prstGeom prst="rect">
            <a:avLst/>
          </a:prstGeom>
          <a:noFill/>
          <a:ln/>
        </p:spPr>
        <p:txBody>
          <a:bodyPr wrap="square" lIns="0" tIns="0" rIns="0" bIns="0" rtlCol="0" anchor="t"/>
          <a:lstStyle/>
          <a:p>
            <a:pPr marL="0" indent="0">
              <a:buNone/>
            </a:pPr>
            <a:r>
              <a:rPr lang="en-US" sz="1200" dirty="0">
                <a:solidFill>
                  <a:schemeClr val="accent5"/>
                </a:solidFill>
              </a:rPr>
              <a:t>DeepL, Google Traduction</a:t>
            </a:r>
            <a:endParaRPr lang="en-US" sz="1200" dirty="0"/>
          </a:p>
        </p:txBody>
      </p:sp>
      <p:sp>
        <p:nvSpPr>
          <p:cNvPr id="9" name="txt-1455"/>
          <p:cNvSpPr txBox="1"/>
          <p:nvPr/>
        </p:nvSpPr>
        <p:spPr>
          <a:xfrm>
            <a:off x="822960" y="3063240"/>
            <a:ext cx="2926080" cy="914400"/>
          </a:xfrm>
          <a:prstGeom prst="rect">
            <a:avLst/>
          </a:prstGeom>
          <a:noFill/>
          <a:ln/>
        </p:spPr>
        <p:txBody>
          <a:bodyPr wrap="square" lIns="0" tIns="0" rIns="0" bIns="0" rtlCol="0" anchor="t"/>
          <a:lstStyle/>
          <a:p>
            <a:pPr marL="0" indent="0">
              <a:buNone/>
            </a:pPr>
            <a:r>
              <a:rPr lang="en-US" sz="1300" b="1" dirty="0">
                <a:solidFill>
                  <a:schemeClr val="accent2"/>
                </a:solidFill>
              </a:rPr>
              <a:t>+ </a:t>
            </a:r>
            <a:r>
              <a:rPr lang="en-US" sz="1300" dirty="0">
                <a:solidFill>
                  <a:schemeClr val="tx1"/>
                </a:solidFill>
              </a:rPr>
              <a:t>Rapide, fidèle phrase à phrase</a:t>
            </a:r>
            <a:endParaRPr lang="en-US" sz="1300" dirty="0"/>
          </a:p>
        </p:txBody>
      </p:sp>
      <p:sp>
        <p:nvSpPr>
          <p:cNvPr id="10" name="txt-1456"/>
          <p:cNvSpPr txBox="1"/>
          <p:nvPr/>
        </p:nvSpPr>
        <p:spPr>
          <a:xfrm>
            <a:off x="822960" y="4069080"/>
            <a:ext cx="2926080" cy="914400"/>
          </a:xfrm>
          <a:prstGeom prst="rect">
            <a:avLst/>
          </a:prstGeom>
          <a:noFill/>
          <a:ln/>
        </p:spPr>
        <p:txBody>
          <a:bodyPr wrap="square" lIns="0" tIns="0" rIns="0" bIns="0" rtlCol="0" anchor="t"/>
          <a:lstStyle/>
          <a:p>
            <a:pPr marL="0" indent="0">
              <a:buNone/>
            </a:pPr>
            <a:r>
              <a:rPr lang="en-US" sz="1300" b="1" dirty="0">
                <a:solidFill>
                  <a:schemeClr val="accent3"/>
                </a:solidFill>
              </a:rPr>
              <a:t>– </a:t>
            </a:r>
            <a:r>
              <a:rPr lang="en-US" sz="1300" dirty="0">
                <a:solidFill>
                  <a:schemeClr val="tx1"/>
                </a:solidFill>
              </a:rPr>
              <a:t>Peu de contrôle sur le style et la terminologie</a:t>
            </a:r>
            <a:endParaRPr lang="en-US" sz="1300" dirty="0"/>
          </a:p>
        </p:txBody>
      </p:sp>
      <p:sp>
        <p:nvSpPr>
          <p:cNvPr id="11" name="card-1457"/>
          <p:cNvSpPr/>
          <p:nvPr/>
        </p:nvSpPr>
        <p:spPr>
          <a:xfrm>
            <a:off x="4297680" y="1600200"/>
            <a:ext cx="3474720" cy="3474720"/>
          </a:xfrm>
          <a:prstGeom prst="roundRect">
            <a:avLst>
              <a:gd name="adj" fmla="val 2105"/>
            </a:avLst>
          </a:prstGeom>
          <a:solidFill>
            <a:schemeClr val="bg2"/>
          </a:solidFill>
          <a:ln w="6350">
            <a:solidFill>
              <a:schemeClr val="bg2"/>
            </a:solidFill>
            <a:prstDash val="solid"/>
          </a:ln>
        </p:spPr>
      </p:sp>
      <p:sp>
        <p:nvSpPr>
          <p:cNvPr id="12" name="circle-1458"/>
          <p:cNvSpPr/>
          <p:nvPr/>
        </p:nvSpPr>
        <p:spPr>
          <a:xfrm>
            <a:off x="4572000" y="1828800"/>
            <a:ext cx="685800" cy="685800"/>
          </a:xfrm>
          <a:prstGeom prst="ellipse">
            <a:avLst/>
          </a:prstGeom>
          <a:solidFill>
            <a:schemeClr val="accent6"/>
          </a:solidFill>
          <a:ln w="12700">
            <a:solidFill>
              <a:schemeClr val="accent6"/>
            </a:solidFill>
            <a:prstDash val="solid"/>
          </a:ln>
        </p:spPr>
      </p:sp>
      <p:pic>
        <p:nvPicPr>
          <p:cNvPr id="13" name="icon-1459" descr="preencoded.png"/>
          <p:cNvPicPr>
            <a:picLocks noChangeAspect="1"/>
          </p:cNvPicPr>
          <p:nvPr/>
        </p:nvPicPr>
        <p:blipFill>
          <a:blip r:embed="rId4"/>
          <a:stretch>
            <a:fillRect/>
          </a:stretch>
        </p:blipFill>
        <p:spPr>
          <a:xfrm>
            <a:off x="4743450" y="2000250"/>
            <a:ext cx="342900" cy="342900"/>
          </a:xfrm>
          <a:prstGeom prst="rect">
            <a:avLst/>
          </a:prstGeom>
        </p:spPr>
      </p:pic>
      <p:sp>
        <p:nvSpPr>
          <p:cNvPr id="14" name="txt-1460"/>
          <p:cNvSpPr txBox="1"/>
          <p:nvPr/>
        </p:nvSpPr>
        <p:spPr>
          <a:xfrm>
            <a:off x="5394960" y="1828800"/>
            <a:ext cx="2286000" cy="685800"/>
          </a:xfrm>
          <a:prstGeom prst="rect">
            <a:avLst/>
          </a:prstGeom>
          <a:noFill/>
          <a:ln/>
        </p:spPr>
        <p:txBody>
          <a:bodyPr wrap="square" lIns="0" tIns="0" rIns="0" bIns="0" rtlCol="0" anchor="ctr"/>
          <a:lstStyle/>
          <a:p>
            <a:pPr marL="0" indent="0">
              <a:buNone/>
            </a:pPr>
            <a:r>
              <a:rPr lang="en-US" sz="1500" b="1" dirty="0">
                <a:solidFill>
                  <a:schemeClr val="tx2"/>
                </a:solidFill>
              </a:rPr>
              <a:t>IA générative</a:t>
            </a:r>
            <a:endParaRPr lang="en-US" sz="1500" dirty="0"/>
          </a:p>
        </p:txBody>
      </p:sp>
      <p:sp>
        <p:nvSpPr>
          <p:cNvPr id="15" name="txt-1461"/>
          <p:cNvSpPr txBox="1"/>
          <p:nvPr/>
        </p:nvSpPr>
        <p:spPr>
          <a:xfrm>
            <a:off x="4572000" y="2651760"/>
            <a:ext cx="2926080" cy="320040"/>
          </a:xfrm>
          <a:prstGeom prst="rect">
            <a:avLst/>
          </a:prstGeom>
          <a:noFill/>
          <a:ln/>
        </p:spPr>
        <p:txBody>
          <a:bodyPr wrap="square" lIns="0" tIns="0" rIns="0" bIns="0" rtlCol="0" anchor="t"/>
          <a:lstStyle/>
          <a:p>
            <a:pPr marL="0" indent="0">
              <a:buNone/>
            </a:pPr>
            <a:r>
              <a:rPr lang="en-US" sz="1200" dirty="0">
                <a:solidFill>
                  <a:schemeClr val="accent5"/>
                </a:solidFill>
              </a:rPr>
              <a:t>Gemini, Claude, ChatGPT…</a:t>
            </a:r>
            <a:endParaRPr lang="en-US" sz="1200" dirty="0"/>
          </a:p>
        </p:txBody>
      </p:sp>
      <p:sp>
        <p:nvSpPr>
          <p:cNvPr id="16" name="txt-1462"/>
          <p:cNvSpPr txBox="1"/>
          <p:nvPr/>
        </p:nvSpPr>
        <p:spPr>
          <a:xfrm>
            <a:off x="4572000" y="3063240"/>
            <a:ext cx="2926080" cy="914400"/>
          </a:xfrm>
          <a:prstGeom prst="rect">
            <a:avLst/>
          </a:prstGeom>
          <a:noFill/>
          <a:ln/>
        </p:spPr>
        <p:txBody>
          <a:bodyPr wrap="square" lIns="0" tIns="0" rIns="0" bIns="0" rtlCol="0" anchor="t"/>
          <a:lstStyle/>
          <a:p>
            <a:pPr marL="0" indent="0">
              <a:buNone/>
            </a:pPr>
            <a:r>
              <a:rPr lang="en-US" sz="1300" b="1" dirty="0">
                <a:solidFill>
                  <a:schemeClr val="accent2"/>
                </a:solidFill>
              </a:rPr>
              <a:t>+ </a:t>
            </a:r>
            <a:r>
              <a:rPr lang="en-US" sz="1300" dirty="0">
                <a:solidFill>
                  <a:schemeClr val="tx1"/>
                </a:solidFill>
              </a:rPr>
              <a:t>Adapte le registre, suit un glossaire, explique ses choix</a:t>
            </a:r>
            <a:endParaRPr lang="en-US" sz="1300" dirty="0"/>
          </a:p>
        </p:txBody>
      </p:sp>
      <p:sp>
        <p:nvSpPr>
          <p:cNvPr id="17" name="txt-1463"/>
          <p:cNvSpPr txBox="1"/>
          <p:nvPr/>
        </p:nvSpPr>
        <p:spPr>
          <a:xfrm>
            <a:off x="4572000" y="4069080"/>
            <a:ext cx="2926080" cy="914400"/>
          </a:xfrm>
          <a:prstGeom prst="rect">
            <a:avLst/>
          </a:prstGeom>
          <a:noFill/>
          <a:ln/>
        </p:spPr>
        <p:txBody>
          <a:bodyPr wrap="square" lIns="0" tIns="0" rIns="0" bIns="0" rtlCol="0" anchor="t"/>
          <a:lstStyle/>
          <a:p>
            <a:pPr marL="0" indent="0">
              <a:buNone/>
            </a:pPr>
            <a:r>
              <a:rPr lang="en-US" sz="1300" b="1" dirty="0">
                <a:solidFill>
                  <a:schemeClr val="accent3"/>
                </a:solidFill>
              </a:rPr>
              <a:t>– </a:t>
            </a:r>
            <a:r>
              <a:rPr lang="en-US" sz="1300" dirty="0">
                <a:solidFill>
                  <a:schemeClr val="tx1"/>
                </a:solidFill>
              </a:rPr>
              <a:t>Peut « embellir » ou omettre un passage</a:t>
            </a:r>
            <a:endParaRPr lang="en-US" sz="1300" dirty="0"/>
          </a:p>
        </p:txBody>
      </p:sp>
      <p:sp>
        <p:nvSpPr>
          <p:cNvPr id="18" name="card-1464"/>
          <p:cNvSpPr/>
          <p:nvPr/>
        </p:nvSpPr>
        <p:spPr>
          <a:xfrm>
            <a:off x="8046720" y="1600200"/>
            <a:ext cx="3474720" cy="3474720"/>
          </a:xfrm>
          <a:prstGeom prst="roundRect">
            <a:avLst>
              <a:gd name="adj" fmla="val 2105"/>
            </a:avLst>
          </a:prstGeom>
          <a:solidFill>
            <a:schemeClr val="bg2"/>
          </a:solidFill>
          <a:ln w="6350">
            <a:solidFill>
              <a:schemeClr val="bg2"/>
            </a:solidFill>
            <a:prstDash val="solid"/>
          </a:ln>
        </p:spPr>
      </p:sp>
      <p:sp>
        <p:nvSpPr>
          <p:cNvPr id="19" name="circle-1465"/>
          <p:cNvSpPr/>
          <p:nvPr/>
        </p:nvSpPr>
        <p:spPr>
          <a:xfrm>
            <a:off x="8321040" y="1828800"/>
            <a:ext cx="685800" cy="685800"/>
          </a:xfrm>
          <a:prstGeom prst="ellipse">
            <a:avLst/>
          </a:prstGeom>
          <a:solidFill>
            <a:schemeClr val="tx2"/>
          </a:solidFill>
          <a:ln w="12700">
            <a:solidFill>
              <a:schemeClr val="tx2"/>
            </a:solidFill>
            <a:prstDash val="solid"/>
          </a:ln>
        </p:spPr>
      </p:sp>
      <p:pic>
        <p:nvPicPr>
          <p:cNvPr id="20" name="icon-1466" descr="preencoded.png"/>
          <p:cNvPicPr>
            <a:picLocks noChangeAspect="1"/>
          </p:cNvPicPr>
          <p:nvPr/>
        </p:nvPicPr>
        <p:blipFill>
          <a:blip r:embed="rId5"/>
          <a:stretch>
            <a:fillRect/>
          </a:stretch>
        </p:blipFill>
        <p:spPr>
          <a:xfrm>
            <a:off x="8492490" y="2000250"/>
            <a:ext cx="342900" cy="342900"/>
          </a:xfrm>
          <a:prstGeom prst="rect">
            <a:avLst/>
          </a:prstGeom>
        </p:spPr>
      </p:pic>
      <p:sp>
        <p:nvSpPr>
          <p:cNvPr id="21" name="txt-1467"/>
          <p:cNvSpPr txBox="1"/>
          <p:nvPr/>
        </p:nvSpPr>
        <p:spPr>
          <a:xfrm>
            <a:off x="9144000" y="1828800"/>
            <a:ext cx="2286000" cy="685800"/>
          </a:xfrm>
          <a:prstGeom prst="rect">
            <a:avLst/>
          </a:prstGeom>
          <a:noFill/>
          <a:ln/>
        </p:spPr>
        <p:txBody>
          <a:bodyPr wrap="square" lIns="0" tIns="0" rIns="0" bIns="0" rtlCol="0" anchor="ctr"/>
          <a:lstStyle/>
          <a:p>
            <a:pPr marL="0" indent="0">
              <a:buNone/>
            </a:pPr>
            <a:r>
              <a:rPr lang="en-US" sz="1500" b="1" dirty="0">
                <a:solidFill>
                  <a:schemeClr val="tx2"/>
                </a:solidFill>
              </a:rPr>
              <a:t>Relecteur humain</a:t>
            </a:r>
            <a:endParaRPr lang="en-US" sz="1500" dirty="0"/>
          </a:p>
        </p:txBody>
      </p:sp>
      <p:sp>
        <p:nvSpPr>
          <p:cNvPr id="22" name="txt-1468"/>
          <p:cNvSpPr txBox="1"/>
          <p:nvPr/>
        </p:nvSpPr>
        <p:spPr>
          <a:xfrm>
            <a:off x="8321040" y="2651760"/>
            <a:ext cx="2926080" cy="320040"/>
          </a:xfrm>
          <a:prstGeom prst="rect">
            <a:avLst/>
          </a:prstGeom>
          <a:noFill/>
          <a:ln/>
        </p:spPr>
        <p:txBody>
          <a:bodyPr wrap="square" lIns="0" tIns="0" rIns="0" bIns="0" rtlCol="0" anchor="t"/>
          <a:lstStyle/>
          <a:p>
            <a:pPr marL="0" indent="0">
              <a:buNone/>
            </a:pPr>
            <a:r>
              <a:rPr lang="en-US" sz="1200" dirty="0">
                <a:solidFill>
                  <a:schemeClr val="accent5"/>
                </a:solidFill>
              </a:rPr>
              <a:t>Traducteur, collègue anglophone</a:t>
            </a:r>
            <a:endParaRPr lang="en-US" sz="1200" dirty="0"/>
          </a:p>
        </p:txBody>
      </p:sp>
      <p:sp>
        <p:nvSpPr>
          <p:cNvPr id="23" name="txt-1469"/>
          <p:cNvSpPr txBox="1"/>
          <p:nvPr/>
        </p:nvSpPr>
        <p:spPr>
          <a:xfrm>
            <a:off x="8321040" y="3063240"/>
            <a:ext cx="2926080" cy="914400"/>
          </a:xfrm>
          <a:prstGeom prst="rect">
            <a:avLst/>
          </a:prstGeom>
          <a:noFill/>
          <a:ln/>
        </p:spPr>
        <p:txBody>
          <a:bodyPr wrap="square" lIns="0" tIns="0" rIns="0" bIns="0" rtlCol="0" anchor="t"/>
          <a:lstStyle/>
          <a:p>
            <a:pPr marL="0" indent="0">
              <a:buNone/>
            </a:pPr>
            <a:r>
              <a:rPr lang="en-US" sz="1300" b="1" dirty="0">
                <a:solidFill>
                  <a:schemeClr val="accent2"/>
                </a:solidFill>
              </a:rPr>
              <a:t>+ </a:t>
            </a:r>
            <a:r>
              <a:rPr lang="en-US" sz="1300" dirty="0">
                <a:solidFill>
                  <a:schemeClr val="tx1"/>
                </a:solidFill>
              </a:rPr>
              <a:t>Indispensable pour une publication à fort enjeu</a:t>
            </a:r>
            <a:endParaRPr lang="en-US" sz="1300" dirty="0"/>
          </a:p>
        </p:txBody>
      </p:sp>
      <p:sp>
        <p:nvSpPr>
          <p:cNvPr id="24" name="txt-1470"/>
          <p:cNvSpPr txBox="1"/>
          <p:nvPr/>
        </p:nvSpPr>
        <p:spPr>
          <a:xfrm>
            <a:off x="8321040" y="4069080"/>
            <a:ext cx="2926080" cy="914400"/>
          </a:xfrm>
          <a:prstGeom prst="rect">
            <a:avLst/>
          </a:prstGeom>
          <a:noFill/>
          <a:ln/>
        </p:spPr>
        <p:txBody>
          <a:bodyPr wrap="square" lIns="0" tIns="0" rIns="0" bIns="0" rtlCol="0" anchor="t"/>
          <a:lstStyle/>
          <a:p>
            <a:pPr marL="0" indent="0">
              <a:buNone/>
            </a:pPr>
            <a:r>
              <a:rPr lang="en-US" sz="1300" b="1" dirty="0">
                <a:solidFill>
                  <a:schemeClr val="accent3"/>
                </a:solidFill>
              </a:rPr>
              <a:t>– </a:t>
            </a:r>
            <a:r>
              <a:rPr lang="en-US" sz="1300" dirty="0">
                <a:solidFill>
                  <a:schemeClr val="tx1"/>
                </a:solidFill>
              </a:rPr>
              <a:t>Plus lent et plus coûteux</a:t>
            </a:r>
            <a:endParaRPr lang="en-US" sz="1300" dirty="0"/>
          </a:p>
        </p:txBody>
      </p:sp>
      <p:sp>
        <p:nvSpPr>
          <p:cNvPr id="25" name="card-1471"/>
          <p:cNvSpPr/>
          <p:nvPr/>
        </p:nvSpPr>
        <p:spPr>
          <a:xfrm>
            <a:off x="548640" y="5303520"/>
            <a:ext cx="11064240" cy="685800"/>
          </a:xfrm>
          <a:prstGeom prst="roundRect">
            <a:avLst>
              <a:gd name="adj" fmla="val 10667"/>
            </a:avLst>
          </a:prstGeom>
          <a:solidFill>
            <a:schemeClr val="accent1"/>
          </a:solidFill>
          <a:ln w="6350">
            <a:solidFill>
              <a:schemeClr val="accent1"/>
            </a:solidFill>
            <a:prstDash val="solid"/>
          </a:ln>
        </p:spPr>
      </p:sp>
      <p:sp>
        <p:nvSpPr>
          <p:cNvPr id="26" name="txt-1472"/>
          <p:cNvSpPr txBox="1"/>
          <p:nvPr/>
        </p:nvSpPr>
        <p:spPr>
          <a:xfrm>
            <a:off x="822960" y="5303520"/>
            <a:ext cx="10515600" cy="685800"/>
          </a:xfrm>
          <a:prstGeom prst="rect">
            <a:avLst/>
          </a:prstGeom>
          <a:noFill/>
          <a:ln/>
        </p:spPr>
        <p:txBody>
          <a:bodyPr wrap="square" lIns="0" tIns="0" rIns="0" bIns="0" rtlCol="0" anchor="ctr"/>
          <a:lstStyle/>
          <a:p>
            <a:pPr marL="0" indent="0">
              <a:buNone/>
            </a:pPr>
            <a:r>
              <a:rPr lang="en-US" sz="1500" b="1" dirty="0">
                <a:solidFill>
                  <a:schemeClr val="tx2"/>
                </a:solidFill>
              </a:rPr>
              <a:t>La bonne pratique : l'IA traduit, vous post-éditez, un humain relit si l'enjeu est élevé.</a:t>
            </a:r>
            <a:endParaRPr lang="en-US" sz="1500" dirty="0"/>
          </a:p>
        </p:txBody>
      </p:sp>
      <p:sp>
        <p:nvSpPr>
          <p:cNvPr id="27" name="Slide Number Placeholder 0"/>
          <p:cNvSpPr>
            <a:spLocks noGrp="1"/>
          </p:cNvSpPr>
          <p:nvPr>
            <p:ph type="sldNum" sz="quarter" idx="4294967295"/>
          </p:nvPr>
        </p:nvSpPr>
        <p:spPr>
          <a:xfrm>
            <a:off x="11064240" y="6400800"/>
            <a:ext cx="54864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C82"/>
                </a:solidFill>
                <a:latin typeface="Poppins"/>
                <a:ea typeface="Poppins"/>
                <a:cs typeface="Poppins"/>
              </a:defRPr>
            </a:lvl1pPr>
          </a:lstStyle>
          <a:p>
            <a:pPr algn="r"/>
            <a:fld id="{F7021451-1387-4CA6-816F-3879F97B5CBC}" type="slidenum">
              <a:rPr lang="en-US" b="0"/>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566928"/>
            <a:ext cx="11064240" cy="777240"/>
          </a:xfrm>
          <a:prstGeom prst="rect">
            <a:avLst/>
          </a:prstGeom>
          <a:noFill/>
          <a:ln/>
        </p:spPr>
        <p:txBody>
          <a:bodyPr wrap="square" lIns="0" tIns="0" rIns="0" bIns="0" rtlCol="0" anchor="ctr"/>
          <a:lstStyle/>
          <a:p>
            <a:pPr marL="0" indent="0" algn="l">
              <a:buNone/>
            </a:pPr>
            <a:r>
              <a:rPr lang="en-US" sz="2700" b="1" dirty="0">
                <a:solidFill>
                  <a:schemeClr val="tx2"/>
                </a:solidFill>
                <a:latin typeface="Poppins" pitchFamily="34" charset="0"/>
                <a:ea typeface="Poppins" pitchFamily="34" charset="-122"/>
                <a:cs typeface="Poppins" pitchFamily="34" charset="-120"/>
              </a:rPr>
              <a:t>Les faux-amis du français scientifique</a:t>
            </a:r>
            <a:endParaRPr lang="en-US" sz="2700" dirty="0"/>
          </a:p>
        </p:txBody>
      </p:sp>
      <p:sp>
        <p:nvSpPr>
          <p:cNvPr id="3" name="Text 0"/>
          <p:cNvSpPr>
            <a:spLocks noGrp="1"/>
          </p:cNvSpPr>
          <p:nvPr>
            <p:ph type="body" idx="101" hasCustomPrompt="1"/>
          </p:nvPr>
        </p:nvSpPr>
        <p:spPr>
          <a:xfrm>
            <a:off x="548640" y="256032"/>
            <a:ext cx="8229600" cy="292608"/>
          </a:xfrm>
          <a:prstGeom prst="rect">
            <a:avLst/>
          </a:prstGeom>
          <a:noFill/>
          <a:ln/>
        </p:spPr>
        <p:txBody>
          <a:bodyPr wrap="square" lIns="0" tIns="0" rIns="0" bIns="0" rtlCol="0" anchor="ctr"/>
          <a:lstStyle/>
          <a:p>
            <a:pPr marL="0" indent="0">
              <a:buNone/>
            </a:pPr>
            <a:r>
              <a:rPr lang="en-US" sz="1100" b="1" dirty="0">
                <a:solidFill>
                  <a:schemeClr val="accent1"/>
                </a:solidFill>
                <a:latin typeface="Poppins" pitchFamily="34" charset="0"/>
                <a:ea typeface="Poppins" pitchFamily="34" charset="-122"/>
                <a:cs typeface="Poppins" pitchFamily="34" charset="-120"/>
              </a:rPr>
              <a:t>T4 · TRADUIRE</a:t>
            </a:r>
            <a:endParaRPr lang="en-US" sz="1100" dirty="0"/>
          </a:p>
        </p:txBody>
      </p:sp>
      <p:graphicFrame>
        <p:nvGraphicFramePr>
          <p:cNvPr id="64" name="table-1473"/>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914400"/>
        </p:xfrm>
        <a:graphic>
          <a:graphicData uri="http://schemas.openxmlformats.org/drawingml/2006/table">
            <a:tbl>
              <a:tblPr/>
              <a:tblGrid>
                <a:gridCol w="329184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4663440">
                  <a:extLst>
                    <a:ext uri="{9D8B030D-6E8A-4147-A177-3AD203B41FA5}">
                      <a16:colId xmlns:a16="http://schemas.microsoft.com/office/drawing/2014/main" val="20002"/>
                    </a:ext>
                  </a:extLst>
                </a:gridCol>
              </a:tblGrid>
              <a:tr h="548640">
                <a:tc>
                  <a:txBody>
                    <a:bodyPr/>
                    <a:lstStyle/>
                    <a:p>
                      <a:pPr marL="0" indent="0">
                        <a:buNone/>
                      </a:pPr>
                      <a:r>
                        <a:rPr lang="en-US" sz="1400" b="1" dirty="0">
                          <a:solidFill>
                            <a:schemeClr val="bg1"/>
                          </a:solidFill>
                        </a:rPr>
                        <a:t>Français</a:t>
                      </a:r>
                      <a:endParaRPr lang="en-US" sz="1400" dirty="0"/>
                    </a:p>
                  </a:txBody>
                  <a:tcPr marL="137160" marR="137160" marT="54864" marB="54864" anchor="ctr">
                    <a:lnL w="0" cap="flat" cmpd="sng" algn="ctr">
                      <a:noFill/>
                    </a:lnL>
                    <a:lnR w="0" cap="flat" cmpd="sng" algn="ctr">
                      <a:noFill/>
                    </a:lnR>
                    <a:lnT w="0" cap="flat" cmpd="sng" algn="ctr">
                      <a:noFill/>
                    </a:lnT>
                    <a:lnB w="0" cap="flat" cmpd="sng" algn="ctr">
                      <a:noFill/>
                    </a:lnB>
                    <a:solidFill>
                      <a:schemeClr val="tx2"/>
                    </a:solidFill>
                  </a:tcPr>
                </a:tc>
                <a:tc>
                  <a:txBody>
                    <a:bodyPr/>
                    <a:lstStyle/>
                    <a:p>
                      <a:pPr marL="0" indent="0">
                        <a:buNone/>
                      </a:pPr>
                      <a:r>
                        <a:rPr lang="en-US" sz="1400" b="1" dirty="0">
                          <a:solidFill>
                            <a:schemeClr val="bg1"/>
                          </a:solidFill>
                        </a:rPr>
                        <a:t>Piège</a:t>
                      </a:r>
                      <a:endParaRPr lang="en-US" sz="1400" dirty="0"/>
                    </a:p>
                  </a:txBody>
                  <a:tcPr marL="137160" marR="137160" marT="54864" marB="54864" anchor="ctr">
                    <a:lnL w="0" cap="flat" cmpd="sng" algn="ctr">
                      <a:noFill/>
                    </a:lnL>
                    <a:lnR w="0" cap="flat" cmpd="sng" algn="ctr">
                      <a:noFill/>
                    </a:lnR>
                    <a:lnT w="0" cap="flat" cmpd="sng" algn="ctr">
                      <a:noFill/>
                    </a:lnT>
                    <a:lnB w="0" cap="flat" cmpd="sng" algn="ctr">
                      <a:noFill/>
                    </a:lnB>
                    <a:solidFill>
                      <a:schemeClr val="accent3"/>
                    </a:solidFill>
                  </a:tcPr>
                </a:tc>
                <a:tc>
                  <a:txBody>
                    <a:bodyPr/>
                    <a:lstStyle/>
                    <a:p>
                      <a:pPr marL="0" indent="0">
                        <a:buNone/>
                      </a:pPr>
                      <a:r>
                        <a:rPr lang="en-US" sz="1400" b="1" dirty="0">
                          <a:solidFill>
                            <a:schemeClr val="bg1"/>
                          </a:solidFill>
                        </a:rPr>
                        <a:t>Correct</a:t>
                      </a:r>
                      <a:endParaRPr lang="en-US" sz="1400" dirty="0"/>
                    </a:p>
                  </a:txBody>
                  <a:tcPr marL="137160" marR="137160" marT="54864" marB="54864" anchor="ctr">
                    <a:lnL w="0" cap="flat" cmpd="sng" algn="ctr">
                      <a:noFill/>
                    </a:lnL>
                    <a:lnR w="0" cap="flat" cmpd="sng" algn="ctr">
                      <a:noFill/>
                    </a:lnR>
                    <a:lnT w="0" cap="flat" cmpd="sng" algn="ctr">
                      <a:noFill/>
                    </a:lnT>
                    <a:lnB w="0" cap="flat" cmpd="sng" algn="ctr">
                      <a:noFill/>
                    </a:lnB>
                    <a:solidFill>
                      <a:schemeClr val="accent2"/>
                    </a:solidFill>
                  </a:tcPr>
                </a:tc>
                <a:extLst>
                  <a:ext uri="{0D108BD9-81ED-4DB2-BD59-A6C34878D82A}">
                    <a16:rowId xmlns:a16="http://schemas.microsoft.com/office/drawing/2014/main" val="10000"/>
                  </a:ext>
                </a:extLst>
              </a:tr>
              <a:tr h="548640">
                <a:tc>
                  <a:txBody>
                    <a:bodyPr/>
                    <a:lstStyle/>
                    <a:p>
                      <a:pPr marL="0" indent="0">
                        <a:buNone/>
                      </a:pPr>
                      <a:r>
                        <a:rPr lang="en-US" sz="1400" b="1" dirty="0">
                          <a:solidFill>
                            <a:schemeClr val="tx1"/>
                          </a:solidFill>
                        </a:rPr>
                        <a:t>éventuellement</a:t>
                      </a:r>
                      <a:endParaRPr lang="en-US" sz="1400" dirty="0"/>
                    </a:p>
                  </a:txBody>
                  <a:tcPr marL="137160" marR="137160" marT="54864" marB="54864" anchor="ctr">
                    <a:lnL w="0" cap="flat" cmpd="sng" algn="ctr">
                      <a:noFill/>
                    </a:lnL>
                    <a:lnR w="0" cap="flat" cmpd="sng" algn="ctr">
                      <a:noFill/>
                    </a:lnR>
                    <a:lnT w="0" cap="flat" cmpd="sng" algn="ctr">
                      <a:noFill/>
                    </a:lnT>
                    <a:lnB w="0" cap="flat" cmpd="sng" algn="ctr">
                      <a:noFill/>
                    </a:lnB>
                    <a:solidFill>
                      <a:schemeClr val="bg2"/>
                    </a:solidFill>
                  </a:tcPr>
                </a:tc>
                <a:tc>
                  <a:txBody>
                    <a:bodyPr/>
                    <a:lstStyle/>
                    <a:p>
                      <a:pPr marL="0" indent="0">
                        <a:buNone/>
                      </a:pPr>
                      <a:r>
                        <a:rPr lang="en-US" sz="1400" strike="sngStrike" dirty="0">
                          <a:solidFill>
                            <a:schemeClr val="accent3"/>
                          </a:solidFill>
                        </a:rPr>
                        <a:t>eventually</a:t>
                      </a:r>
                      <a:endParaRPr lang="en-US" sz="1400" dirty="0"/>
                    </a:p>
                  </a:txBody>
                  <a:tcPr marL="137160" marR="137160" marT="54864" marB="54864" anchor="ctr">
                    <a:lnL w="0" cap="flat" cmpd="sng" algn="ctr">
                      <a:noFill/>
                    </a:lnL>
                    <a:lnR w="0" cap="flat" cmpd="sng" algn="ctr">
                      <a:noFill/>
                    </a:lnR>
                    <a:lnT w="0" cap="flat" cmpd="sng" algn="ctr">
                      <a:noFill/>
                    </a:lnT>
                    <a:lnB w="0" cap="flat" cmpd="sng" algn="ctr">
                      <a:noFill/>
                    </a:lnB>
                    <a:solidFill>
                      <a:schemeClr val="bg2"/>
                    </a:solidFill>
                  </a:tcPr>
                </a:tc>
                <a:tc>
                  <a:txBody>
                    <a:bodyPr/>
                    <a:lstStyle/>
                    <a:p>
                      <a:pPr marL="0" indent="0">
                        <a:buNone/>
                      </a:pPr>
                      <a:r>
                        <a:rPr lang="en-US" sz="1400" dirty="0">
                          <a:solidFill>
                            <a:schemeClr val="tx1"/>
                          </a:solidFill>
                        </a:rPr>
                        <a:t>possibly, if necessary</a:t>
                      </a:r>
                      <a:endParaRPr lang="en-US" sz="1400" dirty="0"/>
                    </a:p>
                  </a:txBody>
                  <a:tcPr marL="137160" marR="137160" marT="54864" marB="54864" anchor="ctr">
                    <a:lnL w="0" cap="flat" cmpd="sng" algn="ctr">
                      <a:noFill/>
                    </a:lnL>
                    <a:lnR w="0" cap="flat" cmpd="sng" algn="ctr">
                      <a:noFill/>
                    </a:lnR>
                    <a:lnT w="0" cap="flat" cmpd="sng" algn="ctr">
                      <a:noFill/>
                    </a:lnT>
                    <a:lnB w="0" cap="flat" cmpd="sng" algn="ctr">
                      <a:noFill/>
                    </a:lnB>
                    <a:solidFill>
                      <a:schemeClr val="bg2"/>
                    </a:solidFill>
                  </a:tcPr>
                </a:tc>
                <a:extLst>
                  <a:ext uri="{0D108BD9-81ED-4DB2-BD59-A6C34878D82A}">
                    <a16:rowId xmlns:a16="http://schemas.microsoft.com/office/drawing/2014/main" val="10001"/>
                  </a:ext>
                </a:extLst>
              </a:tr>
              <a:tr h="548640">
                <a:tc>
                  <a:txBody>
                    <a:bodyPr/>
                    <a:lstStyle/>
                    <a:p>
                      <a:pPr marL="0" indent="0">
                        <a:buNone/>
                      </a:pPr>
                      <a:r>
                        <a:rPr lang="en-US" sz="1400" b="1" dirty="0">
                          <a:solidFill>
                            <a:schemeClr val="tx1"/>
                          </a:solidFill>
                        </a:rPr>
                        <a:t>actuellement</a:t>
                      </a:r>
                      <a:endParaRPr lang="en-US" sz="1400" dirty="0"/>
                    </a:p>
                  </a:txBody>
                  <a:tcPr marL="137160" marR="137160" marT="54864" marB="54864" anchor="ctr">
                    <a:lnL w="0" cap="flat" cmpd="sng" algn="ctr">
                      <a:noFill/>
                    </a:lnL>
                    <a:lnR w="0" cap="flat" cmpd="sng" algn="ctr">
                      <a:noFill/>
                    </a:lnR>
                    <a:lnT w="0" cap="flat" cmpd="sng" algn="ctr">
                      <a:noFill/>
                    </a:lnT>
                    <a:lnB w="0" cap="flat" cmpd="sng" algn="ctr">
                      <a:noFill/>
                    </a:lnB>
                    <a:solidFill>
                      <a:schemeClr val="bg1"/>
                    </a:solidFill>
                  </a:tcPr>
                </a:tc>
                <a:tc>
                  <a:txBody>
                    <a:bodyPr/>
                    <a:lstStyle/>
                    <a:p>
                      <a:pPr marL="0" indent="0">
                        <a:buNone/>
                      </a:pPr>
                      <a:r>
                        <a:rPr lang="en-US" sz="1400" strike="sngStrike" dirty="0">
                          <a:solidFill>
                            <a:schemeClr val="accent3"/>
                          </a:solidFill>
                        </a:rPr>
                        <a:t>actually</a:t>
                      </a:r>
                      <a:endParaRPr lang="en-US" sz="1400" dirty="0"/>
                    </a:p>
                  </a:txBody>
                  <a:tcPr marL="137160" marR="137160" marT="54864" marB="54864" anchor="ctr">
                    <a:lnL w="0" cap="flat" cmpd="sng" algn="ctr">
                      <a:noFill/>
                    </a:lnL>
                    <a:lnR w="0" cap="flat" cmpd="sng" algn="ctr">
                      <a:noFill/>
                    </a:lnR>
                    <a:lnT w="0" cap="flat" cmpd="sng" algn="ctr">
                      <a:noFill/>
                    </a:lnT>
                    <a:lnB w="0" cap="flat" cmpd="sng" algn="ctr">
                      <a:noFill/>
                    </a:lnB>
                    <a:solidFill>
                      <a:schemeClr val="bg1"/>
                    </a:solidFill>
                  </a:tcPr>
                </a:tc>
                <a:tc>
                  <a:txBody>
                    <a:bodyPr/>
                    <a:lstStyle/>
                    <a:p>
                      <a:pPr marL="0" indent="0">
                        <a:buNone/>
                      </a:pPr>
                      <a:r>
                        <a:rPr lang="en-US" sz="1400" dirty="0">
                          <a:solidFill>
                            <a:schemeClr val="tx1"/>
                          </a:solidFill>
                        </a:rPr>
                        <a:t>currently, at present</a:t>
                      </a:r>
                      <a:endParaRPr lang="en-US" sz="1400" dirty="0"/>
                    </a:p>
                  </a:txBody>
                  <a:tcPr marL="137160" marR="137160" marT="54864" marB="54864" anchor="ctr">
                    <a:lnL w="0" cap="flat" cmpd="sng" algn="ctr">
                      <a:noFill/>
                    </a:lnL>
                    <a:lnR w="0" cap="flat" cmpd="sng" algn="ctr">
                      <a:noFill/>
                    </a:lnR>
                    <a:lnT w="0" cap="flat" cmpd="sng" algn="ctr">
                      <a:noFill/>
                    </a:lnT>
                    <a:lnB w="0" cap="flat" cmpd="sng" algn="ctr">
                      <a:noFill/>
                    </a:lnB>
                    <a:solidFill>
                      <a:schemeClr val="bg1"/>
                    </a:solidFill>
                  </a:tcPr>
                </a:tc>
                <a:extLst>
                  <a:ext uri="{0D108BD9-81ED-4DB2-BD59-A6C34878D82A}">
                    <a16:rowId xmlns:a16="http://schemas.microsoft.com/office/drawing/2014/main" val="10002"/>
                  </a:ext>
                </a:extLst>
              </a:tr>
              <a:tr h="548640">
                <a:tc>
                  <a:txBody>
                    <a:bodyPr/>
                    <a:lstStyle/>
                    <a:p>
                      <a:pPr marL="0" indent="0">
                        <a:buNone/>
                      </a:pPr>
                      <a:r>
                        <a:rPr lang="en-US" sz="1400" b="1" dirty="0">
                          <a:solidFill>
                            <a:schemeClr val="tx1"/>
                          </a:solidFill>
                        </a:rPr>
                        <a:t>sensible</a:t>
                      </a:r>
                      <a:endParaRPr lang="en-US" sz="1400" dirty="0"/>
                    </a:p>
                  </a:txBody>
                  <a:tcPr marL="137160" marR="137160" marT="54864" marB="54864" anchor="ctr">
                    <a:lnL w="0" cap="flat" cmpd="sng" algn="ctr">
                      <a:noFill/>
                    </a:lnL>
                    <a:lnR w="0" cap="flat" cmpd="sng" algn="ctr">
                      <a:noFill/>
                    </a:lnR>
                    <a:lnT w="0" cap="flat" cmpd="sng" algn="ctr">
                      <a:noFill/>
                    </a:lnT>
                    <a:lnB w="0" cap="flat" cmpd="sng" algn="ctr">
                      <a:noFill/>
                    </a:lnB>
                    <a:solidFill>
                      <a:schemeClr val="bg2"/>
                    </a:solidFill>
                  </a:tcPr>
                </a:tc>
                <a:tc>
                  <a:txBody>
                    <a:bodyPr/>
                    <a:lstStyle/>
                    <a:p>
                      <a:pPr marL="0" indent="0">
                        <a:buNone/>
                      </a:pPr>
                      <a:r>
                        <a:rPr lang="en-US" sz="1400" strike="sngStrike" dirty="0">
                          <a:solidFill>
                            <a:schemeClr val="accent3"/>
                          </a:solidFill>
                        </a:rPr>
                        <a:t>sensible</a:t>
                      </a:r>
                      <a:endParaRPr lang="en-US" sz="1400" dirty="0"/>
                    </a:p>
                  </a:txBody>
                  <a:tcPr marL="137160" marR="137160" marT="54864" marB="54864" anchor="ctr">
                    <a:lnL w="0" cap="flat" cmpd="sng" algn="ctr">
                      <a:noFill/>
                    </a:lnL>
                    <a:lnR w="0" cap="flat" cmpd="sng" algn="ctr">
                      <a:noFill/>
                    </a:lnR>
                    <a:lnT w="0" cap="flat" cmpd="sng" algn="ctr">
                      <a:noFill/>
                    </a:lnT>
                    <a:lnB w="0" cap="flat" cmpd="sng" algn="ctr">
                      <a:noFill/>
                    </a:lnB>
                    <a:solidFill>
                      <a:schemeClr val="bg2"/>
                    </a:solidFill>
                  </a:tcPr>
                </a:tc>
                <a:tc>
                  <a:txBody>
                    <a:bodyPr/>
                    <a:lstStyle/>
                    <a:p>
                      <a:pPr marL="0" indent="0">
                        <a:buNone/>
                      </a:pPr>
                      <a:r>
                        <a:rPr lang="en-US" sz="1400" dirty="0">
                          <a:solidFill>
                            <a:schemeClr val="tx1"/>
                          </a:solidFill>
                        </a:rPr>
                        <a:t>sensitive</a:t>
                      </a:r>
                      <a:endParaRPr lang="en-US" sz="1400" dirty="0"/>
                    </a:p>
                  </a:txBody>
                  <a:tcPr marL="137160" marR="137160" marT="54864" marB="54864" anchor="ctr">
                    <a:lnL w="0" cap="flat" cmpd="sng" algn="ctr">
                      <a:noFill/>
                    </a:lnL>
                    <a:lnR w="0" cap="flat" cmpd="sng" algn="ctr">
                      <a:noFill/>
                    </a:lnR>
                    <a:lnT w="0" cap="flat" cmpd="sng" algn="ctr">
                      <a:noFill/>
                    </a:lnT>
                    <a:lnB w="0" cap="flat" cmpd="sng" algn="ctr">
                      <a:noFill/>
                    </a:lnB>
                    <a:solidFill>
                      <a:schemeClr val="bg2"/>
                    </a:solidFill>
                  </a:tcPr>
                </a:tc>
                <a:extLst>
                  <a:ext uri="{0D108BD9-81ED-4DB2-BD59-A6C34878D82A}">
                    <a16:rowId xmlns:a16="http://schemas.microsoft.com/office/drawing/2014/main" val="10003"/>
                  </a:ext>
                </a:extLst>
              </a:tr>
              <a:tr h="548640">
                <a:tc>
                  <a:txBody>
                    <a:bodyPr/>
                    <a:lstStyle/>
                    <a:p>
                      <a:pPr marL="0" indent="0">
                        <a:buNone/>
                      </a:pPr>
                      <a:r>
                        <a:rPr lang="en-US" sz="1400" b="1" dirty="0">
                          <a:solidFill>
                            <a:schemeClr val="tx1"/>
                          </a:solidFill>
                        </a:rPr>
                        <a:t>réaliser une étude</a:t>
                      </a:r>
                      <a:endParaRPr lang="en-US" sz="1400" dirty="0"/>
                    </a:p>
                  </a:txBody>
                  <a:tcPr marL="137160" marR="137160" marT="54864" marB="54864" anchor="ctr">
                    <a:lnL w="0" cap="flat" cmpd="sng" algn="ctr">
                      <a:noFill/>
                    </a:lnL>
                    <a:lnR w="0" cap="flat" cmpd="sng" algn="ctr">
                      <a:noFill/>
                    </a:lnR>
                    <a:lnT w="0" cap="flat" cmpd="sng" algn="ctr">
                      <a:noFill/>
                    </a:lnT>
                    <a:lnB w="0" cap="flat" cmpd="sng" algn="ctr">
                      <a:noFill/>
                    </a:lnB>
                    <a:solidFill>
                      <a:schemeClr val="bg1"/>
                    </a:solidFill>
                  </a:tcPr>
                </a:tc>
                <a:tc>
                  <a:txBody>
                    <a:bodyPr/>
                    <a:lstStyle/>
                    <a:p>
                      <a:pPr marL="0" indent="0">
                        <a:buNone/>
                      </a:pPr>
                      <a:r>
                        <a:rPr lang="en-US" sz="1400" strike="sngStrike" dirty="0">
                          <a:solidFill>
                            <a:schemeClr val="accent3"/>
                          </a:solidFill>
                        </a:rPr>
                        <a:t>realize a study</a:t>
                      </a:r>
                      <a:endParaRPr lang="en-US" sz="1400" dirty="0"/>
                    </a:p>
                  </a:txBody>
                  <a:tcPr marL="137160" marR="137160" marT="54864" marB="54864" anchor="ctr">
                    <a:lnL w="0" cap="flat" cmpd="sng" algn="ctr">
                      <a:noFill/>
                    </a:lnL>
                    <a:lnR w="0" cap="flat" cmpd="sng" algn="ctr">
                      <a:noFill/>
                    </a:lnR>
                    <a:lnT w="0" cap="flat" cmpd="sng" algn="ctr">
                      <a:noFill/>
                    </a:lnT>
                    <a:lnB w="0" cap="flat" cmpd="sng" algn="ctr">
                      <a:noFill/>
                    </a:lnB>
                    <a:solidFill>
                      <a:schemeClr val="bg1"/>
                    </a:solidFill>
                  </a:tcPr>
                </a:tc>
                <a:tc>
                  <a:txBody>
                    <a:bodyPr/>
                    <a:lstStyle/>
                    <a:p>
                      <a:pPr marL="0" indent="0">
                        <a:buNone/>
                      </a:pPr>
                      <a:r>
                        <a:rPr lang="en-US" sz="1400" dirty="0">
                          <a:solidFill>
                            <a:schemeClr val="tx1"/>
                          </a:solidFill>
                        </a:rPr>
                        <a:t>conduct a study</a:t>
                      </a:r>
                      <a:endParaRPr lang="en-US" sz="1400" dirty="0"/>
                    </a:p>
                  </a:txBody>
                  <a:tcPr marL="137160" marR="137160" marT="54864" marB="54864" anchor="ctr">
                    <a:lnL w="0" cap="flat" cmpd="sng" algn="ctr">
                      <a:noFill/>
                    </a:lnL>
                    <a:lnR w="0" cap="flat" cmpd="sng" algn="ctr">
                      <a:noFill/>
                    </a:lnR>
                    <a:lnT w="0" cap="flat" cmpd="sng" algn="ctr">
                      <a:noFill/>
                    </a:lnT>
                    <a:lnB w="0" cap="flat" cmpd="sng" algn="ctr">
                      <a:noFill/>
                    </a:lnB>
                    <a:solidFill>
                      <a:schemeClr val="bg1"/>
                    </a:solidFill>
                  </a:tcPr>
                </a:tc>
                <a:extLst>
                  <a:ext uri="{0D108BD9-81ED-4DB2-BD59-A6C34878D82A}">
                    <a16:rowId xmlns:a16="http://schemas.microsoft.com/office/drawing/2014/main" val="10004"/>
                  </a:ext>
                </a:extLst>
              </a:tr>
              <a:tr h="548640">
                <a:tc>
                  <a:txBody>
                    <a:bodyPr/>
                    <a:lstStyle/>
                    <a:p>
                      <a:pPr marL="0" indent="0">
                        <a:buNone/>
                      </a:pPr>
                      <a:r>
                        <a:rPr lang="en-US" sz="1400" b="1" dirty="0">
                          <a:solidFill>
                            <a:schemeClr val="tx1"/>
                          </a:solidFill>
                        </a:rPr>
                        <a:t>collège</a:t>
                      </a:r>
                      <a:endParaRPr lang="en-US" sz="1400" dirty="0"/>
                    </a:p>
                  </a:txBody>
                  <a:tcPr marL="137160" marR="137160" marT="54864" marB="54864" anchor="ctr">
                    <a:lnL w="0" cap="flat" cmpd="sng" algn="ctr">
                      <a:noFill/>
                    </a:lnL>
                    <a:lnR w="0" cap="flat" cmpd="sng" algn="ctr">
                      <a:noFill/>
                    </a:lnR>
                    <a:lnT w="0" cap="flat" cmpd="sng" algn="ctr">
                      <a:noFill/>
                    </a:lnT>
                    <a:lnB w="0" cap="flat" cmpd="sng" algn="ctr">
                      <a:noFill/>
                    </a:lnB>
                    <a:solidFill>
                      <a:schemeClr val="bg2"/>
                    </a:solidFill>
                  </a:tcPr>
                </a:tc>
                <a:tc>
                  <a:txBody>
                    <a:bodyPr/>
                    <a:lstStyle/>
                    <a:p>
                      <a:pPr marL="0" indent="0">
                        <a:buNone/>
                      </a:pPr>
                      <a:r>
                        <a:rPr lang="en-US" sz="1400" strike="sngStrike" dirty="0">
                          <a:solidFill>
                            <a:schemeClr val="accent3"/>
                          </a:solidFill>
                        </a:rPr>
                        <a:t>college</a:t>
                      </a:r>
                      <a:endParaRPr lang="en-US" sz="1400" dirty="0"/>
                    </a:p>
                  </a:txBody>
                  <a:tcPr marL="137160" marR="137160" marT="54864" marB="54864" anchor="ctr">
                    <a:lnL w="0" cap="flat" cmpd="sng" algn="ctr">
                      <a:noFill/>
                    </a:lnL>
                    <a:lnR w="0" cap="flat" cmpd="sng" algn="ctr">
                      <a:noFill/>
                    </a:lnR>
                    <a:lnT w="0" cap="flat" cmpd="sng" algn="ctr">
                      <a:noFill/>
                    </a:lnT>
                    <a:lnB w="0" cap="flat" cmpd="sng" algn="ctr">
                      <a:noFill/>
                    </a:lnB>
                    <a:solidFill>
                      <a:schemeClr val="bg2"/>
                    </a:solidFill>
                  </a:tcPr>
                </a:tc>
                <a:tc>
                  <a:txBody>
                    <a:bodyPr/>
                    <a:lstStyle/>
                    <a:p>
                      <a:pPr marL="0" indent="0">
                        <a:buNone/>
                      </a:pPr>
                      <a:r>
                        <a:rPr lang="en-US" sz="1400" dirty="0">
                          <a:solidFill>
                            <a:schemeClr val="tx1"/>
                          </a:solidFill>
                        </a:rPr>
                        <a:t>lower secondary school</a:t>
                      </a:r>
                      <a:endParaRPr lang="en-US" sz="1400" dirty="0"/>
                    </a:p>
                  </a:txBody>
                  <a:tcPr marL="137160" marR="137160" marT="54864" marB="54864" anchor="ctr">
                    <a:lnL w="0" cap="flat" cmpd="sng" algn="ctr">
                      <a:noFill/>
                    </a:lnL>
                    <a:lnR w="0" cap="flat" cmpd="sng" algn="ctr">
                      <a:noFill/>
                    </a:lnR>
                    <a:lnT w="0" cap="flat" cmpd="sng" algn="ctr">
                      <a:noFill/>
                    </a:lnT>
                    <a:lnB w="0" cap="flat" cmpd="sng" algn="ctr">
                      <a:noFill/>
                    </a:lnB>
                    <a:solidFill>
                      <a:schemeClr val="bg2"/>
                    </a:solidFill>
                  </a:tcPr>
                </a:tc>
                <a:extLst>
                  <a:ext uri="{0D108BD9-81ED-4DB2-BD59-A6C34878D82A}">
                    <a16:rowId xmlns:a16="http://schemas.microsoft.com/office/drawing/2014/main" val="10005"/>
                  </a:ext>
                </a:extLst>
              </a:tr>
              <a:tr h="548640">
                <a:tc>
                  <a:txBody>
                    <a:bodyPr/>
                    <a:lstStyle/>
                    <a:p>
                      <a:pPr marL="0" indent="0">
                        <a:buNone/>
                      </a:pPr>
                      <a:r>
                        <a:rPr lang="en-US" sz="1400" b="1" dirty="0">
                          <a:solidFill>
                            <a:schemeClr val="tx1"/>
                          </a:solidFill>
                        </a:rPr>
                        <a:t>des résultats importants</a:t>
                      </a:r>
                      <a:endParaRPr lang="en-US" sz="1400" dirty="0"/>
                    </a:p>
                  </a:txBody>
                  <a:tcPr marL="137160" marR="137160" marT="54864" marB="54864" anchor="ctr">
                    <a:lnL w="0" cap="flat" cmpd="sng" algn="ctr">
                      <a:noFill/>
                    </a:lnL>
                    <a:lnR w="0" cap="flat" cmpd="sng" algn="ctr">
                      <a:noFill/>
                    </a:lnR>
                    <a:lnT w="0" cap="flat" cmpd="sng" algn="ctr">
                      <a:noFill/>
                    </a:lnT>
                    <a:lnB w="0" cap="flat" cmpd="sng" algn="ctr">
                      <a:noFill/>
                    </a:lnB>
                    <a:solidFill>
                      <a:schemeClr val="bg1"/>
                    </a:solidFill>
                  </a:tcPr>
                </a:tc>
                <a:tc>
                  <a:txBody>
                    <a:bodyPr/>
                    <a:lstStyle/>
                    <a:p>
                      <a:pPr marL="0" indent="0">
                        <a:buNone/>
                      </a:pPr>
                      <a:r>
                        <a:rPr lang="en-US" sz="1400" strike="sngStrike" dirty="0">
                          <a:solidFill>
                            <a:schemeClr val="accent3"/>
                          </a:solidFill>
                        </a:rPr>
                        <a:t>important results</a:t>
                      </a:r>
                      <a:endParaRPr lang="en-US" sz="1400" dirty="0"/>
                    </a:p>
                  </a:txBody>
                  <a:tcPr marL="137160" marR="137160" marT="54864" marB="54864" anchor="ctr">
                    <a:lnL w="0" cap="flat" cmpd="sng" algn="ctr">
                      <a:noFill/>
                    </a:lnL>
                    <a:lnR w="0" cap="flat" cmpd="sng" algn="ctr">
                      <a:noFill/>
                    </a:lnR>
                    <a:lnT w="0" cap="flat" cmpd="sng" algn="ctr">
                      <a:noFill/>
                    </a:lnT>
                    <a:lnB w="0" cap="flat" cmpd="sng" algn="ctr">
                      <a:noFill/>
                    </a:lnB>
                    <a:solidFill>
                      <a:schemeClr val="bg1"/>
                    </a:solidFill>
                  </a:tcPr>
                </a:tc>
                <a:tc>
                  <a:txBody>
                    <a:bodyPr/>
                    <a:lstStyle/>
                    <a:p>
                      <a:pPr marL="0" indent="0">
                        <a:buNone/>
                      </a:pPr>
                      <a:r>
                        <a:rPr lang="en-US" sz="1400" dirty="0">
                          <a:solidFill>
                            <a:schemeClr val="tx1"/>
                          </a:solidFill>
                        </a:rPr>
                        <a:t>major results (significant = sens statistique)</a:t>
                      </a:r>
                      <a:endParaRPr lang="en-US" sz="1400" dirty="0"/>
                    </a:p>
                  </a:txBody>
                  <a:tcPr marL="137160" marR="137160" marT="54864" marB="54864" anchor="ctr">
                    <a:lnL w="0" cap="flat" cmpd="sng" algn="ctr">
                      <a:noFill/>
                    </a:lnL>
                    <a:lnR w="0" cap="flat" cmpd="sng" algn="ctr">
                      <a:noFill/>
                    </a:lnR>
                    <a:lnT w="0" cap="flat" cmpd="sng" algn="ctr">
                      <a:noFill/>
                    </a:lnT>
                    <a:lnB w="0" cap="flat" cmpd="sng" algn="ctr">
                      <a:noFill/>
                    </a:lnB>
                    <a:solidFill>
                      <a:schemeClr val="bg1"/>
                    </a:solidFill>
                  </a:tcPr>
                </a:tc>
                <a:extLst>
                  <a:ext uri="{0D108BD9-81ED-4DB2-BD59-A6C34878D82A}">
                    <a16:rowId xmlns:a16="http://schemas.microsoft.com/office/drawing/2014/main" val="10006"/>
                  </a:ext>
                </a:extLst>
              </a:tr>
            </a:tbl>
          </a:graphicData>
        </a:graphic>
      </p:graphicFrame>
      <p:sp>
        <p:nvSpPr>
          <p:cNvPr id="5" name="txt-1474"/>
          <p:cNvSpPr txBox="1"/>
          <p:nvPr/>
        </p:nvSpPr>
        <p:spPr>
          <a:xfrm>
            <a:off x="548640" y="5577840"/>
            <a:ext cx="11064240" cy="365760"/>
          </a:xfrm>
          <a:prstGeom prst="rect">
            <a:avLst/>
          </a:prstGeom>
          <a:noFill/>
          <a:ln/>
        </p:spPr>
        <p:txBody>
          <a:bodyPr wrap="square" lIns="0" tIns="0" rIns="0" bIns="0" rtlCol="0" anchor="t"/>
          <a:lstStyle/>
          <a:p>
            <a:pPr marL="0" indent="0">
              <a:buNone/>
            </a:pPr>
            <a:r>
              <a:rPr lang="en-US" sz="1400" i="1" dirty="0">
                <a:solidFill>
                  <a:schemeClr val="accent6"/>
                </a:solidFill>
              </a:rPr>
              <a:t>Astuce : demandez à l'IA de lister les faux-amis présents dans votre propre texte.</a:t>
            </a:r>
            <a:endParaRPr lang="en-US" sz="1400" dirty="0"/>
          </a:p>
        </p:txBody>
      </p:sp>
      <p:sp>
        <p:nvSpPr>
          <p:cNvPr id="25" name="Slide Number Placeholder 0"/>
          <p:cNvSpPr>
            <a:spLocks noGrp="1"/>
          </p:cNvSpPr>
          <p:nvPr>
            <p:ph type="sldNum" sz="quarter" idx="4294967295"/>
          </p:nvPr>
        </p:nvSpPr>
        <p:spPr>
          <a:xfrm>
            <a:off x="11064240" y="6400800"/>
            <a:ext cx="54864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C82"/>
                </a:solidFill>
                <a:latin typeface="Poppins"/>
                <a:ea typeface="Poppins"/>
                <a:cs typeface="Poppins"/>
              </a:defRPr>
            </a:lvl1pPr>
          </a:lstStyle>
          <a:p>
            <a:pPr algn="r"/>
            <a:fld id="{F7021451-1387-4CA6-816F-3879F97B5CBC}" type="slidenum">
              <a:rPr lang="en-US" b="0"/>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566928"/>
            <a:ext cx="11064240" cy="777240"/>
          </a:xfrm>
          <a:prstGeom prst="rect">
            <a:avLst/>
          </a:prstGeom>
          <a:noFill/>
          <a:ln/>
        </p:spPr>
        <p:txBody>
          <a:bodyPr wrap="square" lIns="0" tIns="0" rIns="0" bIns="0" rtlCol="0" anchor="ctr"/>
          <a:lstStyle/>
          <a:p>
            <a:pPr marL="0" indent="0" algn="l">
              <a:buNone/>
            </a:pPr>
            <a:r>
              <a:rPr lang="en-US" sz="2700" b="1" dirty="0">
                <a:solidFill>
                  <a:schemeClr val="tx2"/>
                </a:solidFill>
                <a:latin typeface="Poppins" pitchFamily="34" charset="0"/>
                <a:ea typeface="Poppins" pitchFamily="34" charset="-122"/>
                <a:cs typeface="Poppins" pitchFamily="34" charset="-120"/>
              </a:rPr>
              <a:t>La post-édition en 4 étapes</a:t>
            </a:r>
            <a:endParaRPr lang="en-US" sz="2700" dirty="0"/>
          </a:p>
        </p:txBody>
      </p:sp>
      <p:sp>
        <p:nvSpPr>
          <p:cNvPr id="3" name="Text 0"/>
          <p:cNvSpPr>
            <a:spLocks noGrp="1"/>
          </p:cNvSpPr>
          <p:nvPr>
            <p:ph type="body" idx="101" hasCustomPrompt="1"/>
          </p:nvPr>
        </p:nvSpPr>
        <p:spPr>
          <a:xfrm>
            <a:off x="548640" y="256032"/>
            <a:ext cx="8229600" cy="292608"/>
          </a:xfrm>
          <a:prstGeom prst="rect">
            <a:avLst/>
          </a:prstGeom>
          <a:noFill/>
          <a:ln/>
        </p:spPr>
        <p:txBody>
          <a:bodyPr wrap="square" lIns="0" tIns="0" rIns="0" bIns="0" rtlCol="0" anchor="ctr"/>
          <a:lstStyle/>
          <a:p>
            <a:pPr marL="0" indent="0">
              <a:buNone/>
            </a:pPr>
            <a:r>
              <a:rPr lang="en-US" sz="1100" b="1" dirty="0">
                <a:solidFill>
                  <a:schemeClr val="accent1"/>
                </a:solidFill>
                <a:latin typeface="Poppins" pitchFamily="34" charset="0"/>
                <a:ea typeface="Poppins" pitchFamily="34" charset="-122"/>
                <a:cs typeface="Poppins" pitchFamily="34" charset="-120"/>
              </a:rPr>
              <a:t>T4 · TRADUIRE</a:t>
            </a:r>
            <a:endParaRPr lang="en-US" sz="1100" dirty="0"/>
          </a:p>
        </p:txBody>
      </p:sp>
      <p:sp>
        <p:nvSpPr>
          <p:cNvPr id="4" name="card-1475"/>
          <p:cNvSpPr/>
          <p:nvPr/>
        </p:nvSpPr>
        <p:spPr>
          <a:xfrm>
            <a:off x="548640" y="1600200"/>
            <a:ext cx="2606040" cy="3749040"/>
          </a:xfrm>
          <a:prstGeom prst="roundRect">
            <a:avLst>
              <a:gd name="adj" fmla="val 2807"/>
            </a:avLst>
          </a:prstGeom>
          <a:solidFill>
            <a:schemeClr val="bg2"/>
          </a:solidFill>
          <a:ln w="6350">
            <a:solidFill>
              <a:schemeClr val="bg2"/>
            </a:solidFill>
            <a:prstDash val="solid"/>
          </a:ln>
        </p:spPr>
      </p:sp>
      <p:sp>
        <p:nvSpPr>
          <p:cNvPr id="5" name="num-1476"/>
          <p:cNvSpPr/>
          <p:nvPr/>
        </p:nvSpPr>
        <p:spPr>
          <a:xfrm>
            <a:off x="822960" y="1828800"/>
            <a:ext cx="548640" cy="548640"/>
          </a:xfrm>
          <a:prstGeom prst="ellipse">
            <a:avLst/>
          </a:prstGeom>
          <a:solidFill>
            <a:schemeClr val="accent1"/>
          </a:solidFill>
          <a:ln w="12700">
            <a:solidFill>
              <a:schemeClr val="accent1"/>
            </a:solidFill>
            <a:prstDash val="solid"/>
          </a:ln>
        </p:spPr>
      </p:sp>
      <p:sp>
        <p:nvSpPr>
          <p:cNvPr id="6" name="txt-1477"/>
          <p:cNvSpPr txBox="1"/>
          <p:nvPr/>
        </p:nvSpPr>
        <p:spPr>
          <a:xfrm>
            <a:off x="822960" y="1828800"/>
            <a:ext cx="548640" cy="548640"/>
          </a:xfrm>
          <a:prstGeom prst="rect">
            <a:avLst/>
          </a:prstGeom>
          <a:noFill/>
          <a:ln/>
        </p:spPr>
        <p:txBody>
          <a:bodyPr wrap="square" lIns="0" tIns="0" rIns="0" bIns="0" rtlCol="0" anchor="ctr"/>
          <a:lstStyle/>
          <a:p>
            <a:pPr marL="0" indent="0" algn="ctr">
              <a:buNone/>
            </a:pPr>
            <a:r>
              <a:rPr lang="en-US" sz="1800" b="1" dirty="0">
                <a:solidFill>
                  <a:schemeClr val="tx2"/>
                </a:solidFill>
              </a:rPr>
              <a:t>1</a:t>
            </a:r>
            <a:endParaRPr lang="en-US" sz="1800" dirty="0"/>
          </a:p>
        </p:txBody>
      </p:sp>
      <p:sp>
        <p:nvSpPr>
          <p:cNvPr id="7" name="circle-1478"/>
          <p:cNvSpPr/>
          <p:nvPr/>
        </p:nvSpPr>
        <p:spPr>
          <a:xfrm>
            <a:off x="2331720" y="1828800"/>
            <a:ext cx="548640" cy="548640"/>
          </a:xfrm>
          <a:prstGeom prst="ellipse">
            <a:avLst/>
          </a:prstGeom>
          <a:solidFill>
            <a:schemeClr val="accent6"/>
          </a:solidFill>
          <a:ln w="12700">
            <a:solidFill>
              <a:schemeClr val="accent6"/>
            </a:solidFill>
            <a:prstDash val="solid"/>
          </a:ln>
        </p:spPr>
      </p:sp>
      <p:pic>
        <p:nvPicPr>
          <p:cNvPr id="8" name="icon-1479" descr="preencoded.png"/>
          <p:cNvPicPr>
            <a:picLocks noChangeAspect="1"/>
          </p:cNvPicPr>
          <p:nvPr/>
        </p:nvPicPr>
        <p:blipFill>
          <a:blip r:embed="rId3"/>
          <a:stretch>
            <a:fillRect/>
          </a:stretch>
        </p:blipFill>
        <p:spPr>
          <a:xfrm>
            <a:off x="2468880" y="1965960"/>
            <a:ext cx="274320" cy="274320"/>
          </a:xfrm>
          <a:prstGeom prst="rect">
            <a:avLst/>
          </a:prstGeom>
        </p:spPr>
      </p:pic>
      <p:sp>
        <p:nvSpPr>
          <p:cNvPr id="9" name="txt-1480"/>
          <p:cNvSpPr txBox="1"/>
          <p:nvPr/>
        </p:nvSpPr>
        <p:spPr>
          <a:xfrm>
            <a:off x="822960" y="2651760"/>
            <a:ext cx="2148840" cy="457200"/>
          </a:xfrm>
          <a:prstGeom prst="rect">
            <a:avLst/>
          </a:prstGeom>
          <a:noFill/>
          <a:ln/>
        </p:spPr>
        <p:txBody>
          <a:bodyPr wrap="square" lIns="0" tIns="0" rIns="0" bIns="0" rtlCol="0" anchor="t"/>
          <a:lstStyle/>
          <a:p>
            <a:pPr marL="0" indent="0">
              <a:buNone/>
            </a:pPr>
            <a:r>
              <a:rPr lang="en-US" sz="1700" b="1" dirty="0">
                <a:solidFill>
                  <a:schemeClr val="tx2"/>
                </a:solidFill>
              </a:rPr>
              <a:t>Glossaire</a:t>
            </a:r>
            <a:endParaRPr lang="en-US" sz="1700" dirty="0"/>
          </a:p>
        </p:txBody>
      </p:sp>
      <p:sp>
        <p:nvSpPr>
          <p:cNvPr id="10" name="txt-1481"/>
          <p:cNvSpPr txBox="1"/>
          <p:nvPr/>
        </p:nvSpPr>
        <p:spPr>
          <a:xfrm>
            <a:off x="822960" y="3200400"/>
            <a:ext cx="2148840" cy="2011680"/>
          </a:xfrm>
          <a:prstGeom prst="rect">
            <a:avLst/>
          </a:prstGeom>
          <a:noFill/>
          <a:ln/>
        </p:spPr>
        <p:txBody>
          <a:bodyPr wrap="square" lIns="0" tIns="0" rIns="0" bIns="0" rtlCol="0" anchor="t"/>
          <a:lstStyle/>
          <a:p>
            <a:pPr marL="0" indent="0">
              <a:buNone/>
            </a:pPr>
            <a:r>
              <a:rPr lang="en-US" sz="1300" dirty="0">
                <a:solidFill>
                  <a:schemeClr val="tx1"/>
                </a:solidFill>
              </a:rPr>
              <a:t>10 à 15 termes clés, validés par vous</a:t>
            </a:r>
            <a:endParaRPr lang="en-US" sz="1300" dirty="0"/>
          </a:p>
        </p:txBody>
      </p:sp>
      <p:sp>
        <p:nvSpPr>
          <p:cNvPr id="11" name="card-1482"/>
          <p:cNvSpPr/>
          <p:nvPr/>
        </p:nvSpPr>
        <p:spPr>
          <a:xfrm>
            <a:off x="3364992" y="1600200"/>
            <a:ext cx="2606040" cy="3749040"/>
          </a:xfrm>
          <a:prstGeom prst="roundRect">
            <a:avLst>
              <a:gd name="adj" fmla="val 2807"/>
            </a:avLst>
          </a:prstGeom>
          <a:solidFill>
            <a:schemeClr val="bg2"/>
          </a:solidFill>
          <a:ln w="6350">
            <a:solidFill>
              <a:schemeClr val="bg2"/>
            </a:solidFill>
            <a:prstDash val="solid"/>
          </a:ln>
        </p:spPr>
      </p:sp>
      <p:sp>
        <p:nvSpPr>
          <p:cNvPr id="12" name="num-1483"/>
          <p:cNvSpPr/>
          <p:nvPr/>
        </p:nvSpPr>
        <p:spPr>
          <a:xfrm>
            <a:off x="3639312" y="1828800"/>
            <a:ext cx="548640" cy="548640"/>
          </a:xfrm>
          <a:prstGeom prst="ellipse">
            <a:avLst/>
          </a:prstGeom>
          <a:solidFill>
            <a:schemeClr val="accent1"/>
          </a:solidFill>
          <a:ln w="12700">
            <a:solidFill>
              <a:schemeClr val="accent1"/>
            </a:solidFill>
            <a:prstDash val="solid"/>
          </a:ln>
        </p:spPr>
      </p:sp>
      <p:sp>
        <p:nvSpPr>
          <p:cNvPr id="13" name="txt-1484"/>
          <p:cNvSpPr txBox="1"/>
          <p:nvPr/>
        </p:nvSpPr>
        <p:spPr>
          <a:xfrm>
            <a:off x="3639312" y="1828800"/>
            <a:ext cx="548640" cy="548640"/>
          </a:xfrm>
          <a:prstGeom prst="rect">
            <a:avLst/>
          </a:prstGeom>
          <a:noFill/>
          <a:ln/>
        </p:spPr>
        <p:txBody>
          <a:bodyPr wrap="square" lIns="0" tIns="0" rIns="0" bIns="0" rtlCol="0" anchor="ctr"/>
          <a:lstStyle/>
          <a:p>
            <a:pPr marL="0" indent="0" algn="ctr">
              <a:buNone/>
            </a:pPr>
            <a:r>
              <a:rPr lang="en-US" sz="1800" b="1" dirty="0">
                <a:solidFill>
                  <a:schemeClr val="tx2"/>
                </a:solidFill>
              </a:rPr>
              <a:t>2</a:t>
            </a:r>
            <a:endParaRPr lang="en-US" sz="1800" dirty="0"/>
          </a:p>
        </p:txBody>
      </p:sp>
      <p:sp>
        <p:nvSpPr>
          <p:cNvPr id="14" name="circle-1485"/>
          <p:cNvSpPr/>
          <p:nvPr/>
        </p:nvSpPr>
        <p:spPr>
          <a:xfrm>
            <a:off x="5148072" y="1828800"/>
            <a:ext cx="548640" cy="548640"/>
          </a:xfrm>
          <a:prstGeom prst="ellipse">
            <a:avLst/>
          </a:prstGeom>
          <a:solidFill>
            <a:schemeClr val="accent6"/>
          </a:solidFill>
          <a:ln w="12700">
            <a:solidFill>
              <a:schemeClr val="accent6"/>
            </a:solidFill>
            <a:prstDash val="solid"/>
          </a:ln>
        </p:spPr>
      </p:sp>
      <p:pic>
        <p:nvPicPr>
          <p:cNvPr id="15" name="icon-1486" descr="preencoded.png"/>
          <p:cNvPicPr>
            <a:picLocks noChangeAspect="1"/>
          </p:cNvPicPr>
          <p:nvPr/>
        </p:nvPicPr>
        <p:blipFill>
          <a:blip r:embed="rId4"/>
          <a:stretch>
            <a:fillRect/>
          </a:stretch>
        </p:blipFill>
        <p:spPr>
          <a:xfrm>
            <a:off x="5285232" y="1965960"/>
            <a:ext cx="274320" cy="274320"/>
          </a:xfrm>
          <a:prstGeom prst="rect">
            <a:avLst/>
          </a:prstGeom>
        </p:spPr>
      </p:pic>
      <p:sp>
        <p:nvSpPr>
          <p:cNvPr id="16" name="txt-1487"/>
          <p:cNvSpPr txBox="1"/>
          <p:nvPr/>
        </p:nvSpPr>
        <p:spPr>
          <a:xfrm>
            <a:off x="3639312" y="2651760"/>
            <a:ext cx="2148840" cy="457200"/>
          </a:xfrm>
          <a:prstGeom prst="rect">
            <a:avLst/>
          </a:prstGeom>
          <a:noFill/>
          <a:ln/>
        </p:spPr>
        <p:txBody>
          <a:bodyPr wrap="square" lIns="0" tIns="0" rIns="0" bIns="0" rtlCol="0" anchor="t"/>
          <a:lstStyle/>
          <a:p>
            <a:pPr marL="0" indent="0">
              <a:buNone/>
            </a:pPr>
            <a:r>
              <a:rPr lang="en-US" sz="1700" b="1" dirty="0">
                <a:solidFill>
                  <a:schemeClr val="tx2"/>
                </a:solidFill>
              </a:rPr>
              <a:t>Traduire</a:t>
            </a:r>
            <a:endParaRPr lang="en-US" sz="1700" dirty="0"/>
          </a:p>
        </p:txBody>
      </p:sp>
      <p:sp>
        <p:nvSpPr>
          <p:cNvPr id="17" name="txt-1488"/>
          <p:cNvSpPr txBox="1"/>
          <p:nvPr/>
        </p:nvSpPr>
        <p:spPr>
          <a:xfrm>
            <a:off x="3639312" y="3200400"/>
            <a:ext cx="2148840" cy="2011680"/>
          </a:xfrm>
          <a:prstGeom prst="rect">
            <a:avLst/>
          </a:prstGeom>
          <a:noFill/>
          <a:ln/>
        </p:spPr>
        <p:txBody>
          <a:bodyPr wrap="square" lIns="0" tIns="0" rIns="0" bIns="0" rtlCol="0" anchor="t"/>
          <a:lstStyle/>
          <a:p>
            <a:pPr marL="0" indent="0">
              <a:buNone/>
            </a:pPr>
            <a:r>
              <a:rPr lang="en-US" sz="1300" dirty="0">
                <a:solidFill>
                  <a:schemeClr val="tx1"/>
                </a:solidFill>
              </a:rPr>
              <a:t>Avec une consigne : glossaire, revue cible, registre académique</a:t>
            </a:r>
            <a:endParaRPr lang="en-US" sz="1300" dirty="0"/>
          </a:p>
        </p:txBody>
      </p:sp>
      <p:sp>
        <p:nvSpPr>
          <p:cNvPr id="18" name="card-1489"/>
          <p:cNvSpPr/>
          <p:nvPr/>
        </p:nvSpPr>
        <p:spPr>
          <a:xfrm>
            <a:off x="6181344" y="1600200"/>
            <a:ext cx="2606040" cy="3749040"/>
          </a:xfrm>
          <a:prstGeom prst="roundRect">
            <a:avLst>
              <a:gd name="adj" fmla="val 2807"/>
            </a:avLst>
          </a:prstGeom>
          <a:solidFill>
            <a:schemeClr val="bg2"/>
          </a:solidFill>
          <a:ln w="6350">
            <a:solidFill>
              <a:schemeClr val="bg2"/>
            </a:solidFill>
            <a:prstDash val="solid"/>
          </a:ln>
        </p:spPr>
      </p:sp>
      <p:sp>
        <p:nvSpPr>
          <p:cNvPr id="19" name="num-1490"/>
          <p:cNvSpPr/>
          <p:nvPr/>
        </p:nvSpPr>
        <p:spPr>
          <a:xfrm>
            <a:off x="6455664" y="1828800"/>
            <a:ext cx="548640" cy="548640"/>
          </a:xfrm>
          <a:prstGeom prst="ellipse">
            <a:avLst/>
          </a:prstGeom>
          <a:solidFill>
            <a:schemeClr val="accent1"/>
          </a:solidFill>
          <a:ln w="12700">
            <a:solidFill>
              <a:schemeClr val="accent1"/>
            </a:solidFill>
            <a:prstDash val="solid"/>
          </a:ln>
        </p:spPr>
      </p:sp>
      <p:sp>
        <p:nvSpPr>
          <p:cNvPr id="20" name="txt-1491"/>
          <p:cNvSpPr txBox="1"/>
          <p:nvPr/>
        </p:nvSpPr>
        <p:spPr>
          <a:xfrm>
            <a:off x="6455664" y="1828800"/>
            <a:ext cx="548640" cy="548640"/>
          </a:xfrm>
          <a:prstGeom prst="rect">
            <a:avLst/>
          </a:prstGeom>
          <a:noFill/>
          <a:ln/>
        </p:spPr>
        <p:txBody>
          <a:bodyPr wrap="square" lIns="0" tIns="0" rIns="0" bIns="0" rtlCol="0" anchor="ctr"/>
          <a:lstStyle/>
          <a:p>
            <a:pPr marL="0" indent="0" algn="ctr">
              <a:buNone/>
            </a:pPr>
            <a:r>
              <a:rPr lang="en-US" sz="1800" b="1" dirty="0">
                <a:solidFill>
                  <a:schemeClr val="tx2"/>
                </a:solidFill>
              </a:rPr>
              <a:t>3</a:t>
            </a:r>
            <a:endParaRPr lang="en-US" sz="1800" dirty="0"/>
          </a:p>
        </p:txBody>
      </p:sp>
      <p:sp>
        <p:nvSpPr>
          <p:cNvPr id="21" name="circle-1492"/>
          <p:cNvSpPr/>
          <p:nvPr/>
        </p:nvSpPr>
        <p:spPr>
          <a:xfrm>
            <a:off x="7964424" y="1828800"/>
            <a:ext cx="548640" cy="548640"/>
          </a:xfrm>
          <a:prstGeom prst="ellipse">
            <a:avLst/>
          </a:prstGeom>
          <a:solidFill>
            <a:schemeClr val="accent6"/>
          </a:solidFill>
          <a:ln w="12700">
            <a:solidFill>
              <a:schemeClr val="accent6"/>
            </a:solidFill>
            <a:prstDash val="solid"/>
          </a:ln>
        </p:spPr>
      </p:sp>
      <p:pic>
        <p:nvPicPr>
          <p:cNvPr id="22" name="icon-1493" descr="preencoded.png"/>
          <p:cNvPicPr>
            <a:picLocks noChangeAspect="1"/>
          </p:cNvPicPr>
          <p:nvPr/>
        </p:nvPicPr>
        <p:blipFill>
          <a:blip r:embed="rId5"/>
          <a:stretch>
            <a:fillRect/>
          </a:stretch>
        </p:blipFill>
        <p:spPr>
          <a:xfrm>
            <a:off x="8101584" y="1965960"/>
            <a:ext cx="274320" cy="274320"/>
          </a:xfrm>
          <a:prstGeom prst="rect">
            <a:avLst/>
          </a:prstGeom>
        </p:spPr>
      </p:pic>
      <p:sp>
        <p:nvSpPr>
          <p:cNvPr id="23" name="txt-1494"/>
          <p:cNvSpPr txBox="1"/>
          <p:nvPr/>
        </p:nvSpPr>
        <p:spPr>
          <a:xfrm>
            <a:off x="6455664" y="2651760"/>
            <a:ext cx="2148840" cy="457200"/>
          </a:xfrm>
          <a:prstGeom prst="rect">
            <a:avLst/>
          </a:prstGeom>
          <a:noFill/>
          <a:ln/>
        </p:spPr>
        <p:txBody>
          <a:bodyPr wrap="square" lIns="0" tIns="0" rIns="0" bIns="0" rtlCol="0" anchor="t"/>
          <a:lstStyle/>
          <a:p>
            <a:pPr marL="0" indent="0">
              <a:buNone/>
            </a:pPr>
            <a:r>
              <a:rPr lang="en-US" sz="1700" b="1" dirty="0">
                <a:solidFill>
                  <a:schemeClr val="tx2"/>
                </a:solidFill>
              </a:rPr>
              <a:t>Rétro-traduire</a:t>
            </a:r>
            <a:endParaRPr lang="en-US" sz="1700" dirty="0"/>
          </a:p>
        </p:txBody>
      </p:sp>
      <p:sp>
        <p:nvSpPr>
          <p:cNvPr id="24" name="txt-1495"/>
          <p:cNvSpPr txBox="1"/>
          <p:nvPr/>
        </p:nvSpPr>
        <p:spPr>
          <a:xfrm>
            <a:off x="6455664" y="3200400"/>
            <a:ext cx="2148840" cy="2011680"/>
          </a:xfrm>
          <a:prstGeom prst="rect">
            <a:avLst/>
          </a:prstGeom>
          <a:noFill/>
          <a:ln/>
        </p:spPr>
        <p:txBody>
          <a:bodyPr wrap="square" lIns="0" tIns="0" rIns="0" bIns="0" rtlCol="0" anchor="t"/>
          <a:lstStyle/>
          <a:p>
            <a:pPr marL="0" indent="0">
              <a:buNone/>
            </a:pPr>
            <a:r>
              <a:rPr lang="en-US" sz="1300" dirty="0">
                <a:solidFill>
                  <a:schemeClr val="tx1"/>
                </a:solidFill>
              </a:rPr>
              <a:t>Retour au français dans une nouvelle conversation, pour repérer les contresens</a:t>
            </a:r>
            <a:endParaRPr lang="en-US" sz="1300" dirty="0"/>
          </a:p>
        </p:txBody>
      </p:sp>
      <p:sp>
        <p:nvSpPr>
          <p:cNvPr id="25" name="card-1496"/>
          <p:cNvSpPr/>
          <p:nvPr/>
        </p:nvSpPr>
        <p:spPr>
          <a:xfrm>
            <a:off x="8997696" y="1600200"/>
            <a:ext cx="2606040" cy="3749040"/>
          </a:xfrm>
          <a:prstGeom prst="roundRect">
            <a:avLst>
              <a:gd name="adj" fmla="val 2807"/>
            </a:avLst>
          </a:prstGeom>
          <a:solidFill>
            <a:schemeClr val="bg2"/>
          </a:solidFill>
          <a:ln w="6350">
            <a:solidFill>
              <a:schemeClr val="bg2"/>
            </a:solidFill>
            <a:prstDash val="solid"/>
          </a:ln>
        </p:spPr>
      </p:sp>
      <p:sp>
        <p:nvSpPr>
          <p:cNvPr id="26" name="num-1497"/>
          <p:cNvSpPr/>
          <p:nvPr/>
        </p:nvSpPr>
        <p:spPr>
          <a:xfrm>
            <a:off x="9272016" y="1828800"/>
            <a:ext cx="548640" cy="548640"/>
          </a:xfrm>
          <a:prstGeom prst="ellipse">
            <a:avLst/>
          </a:prstGeom>
          <a:solidFill>
            <a:schemeClr val="accent1"/>
          </a:solidFill>
          <a:ln w="12700">
            <a:solidFill>
              <a:schemeClr val="accent1"/>
            </a:solidFill>
            <a:prstDash val="solid"/>
          </a:ln>
        </p:spPr>
      </p:sp>
      <p:sp>
        <p:nvSpPr>
          <p:cNvPr id="27" name="txt-1498"/>
          <p:cNvSpPr txBox="1"/>
          <p:nvPr/>
        </p:nvSpPr>
        <p:spPr>
          <a:xfrm>
            <a:off x="9272016" y="1828800"/>
            <a:ext cx="548640" cy="548640"/>
          </a:xfrm>
          <a:prstGeom prst="rect">
            <a:avLst/>
          </a:prstGeom>
          <a:noFill/>
          <a:ln/>
        </p:spPr>
        <p:txBody>
          <a:bodyPr wrap="square" lIns="0" tIns="0" rIns="0" bIns="0" rtlCol="0" anchor="ctr"/>
          <a:lstStyle/>
          <a:p>
            <a:pPr marL="0" indent="0" algn="ctr">
              <a:buNone/>
            </a:pPr>
            <a:r>
              <a:rPr lang="en-US" sz="1800" b="1" dirty="0">
                <a:solidFill>
                  <a:schemeClr val="tx2"/>
                </a:solidFill>
              </a:rPr>
              <a:t>4</a:t>
            </a:r>
            <a:endParaRPr lang="en-US" sz="1800" dirty="0"/>
          </a:p>
        </p:txBody>
      </p:sp>
      <p:sp>
        <p:nvSpPr>
          <p:cNvPr id="28" name="circle-1499"/>
          <p:cNvSpPr/>
          <p:nvPr/>
        </p:nvSpPr>
        <p:spPr>
          <a:xfrm>
            <a:off x="10780776" y="1828800"/>
            <a:ext cx="548640" cy="548640"/>
          </a:xfrm>
          <a:prstGeom prst="ellipse">
            <a:avLst/>
          </a:prstGeom>
          <a:solidFill>
            <a:schemeClr val="accent6"/>
          </a:solidFill>
          <a:ln w="12700">
            <a:solidFill>
              <a:schemeClr val="accent6"/>
            </a:solidFill>
            <a:prstDash val="solid"/>
          </a:ln>
        </p:spPr>
      </p:sp>
      <p:pic>
        <p:nvPicPr>
          <p:cNvPr id="29" name="icon-1500" descr="preencoded.png"/>
          <p:cNvPicPr>
            <a:picLocks noChangeAspect="1"/>
          </p:cNvPicPr>
          <p:nvPr/>
        </p:nvPicPr>
        <p:blipFill>
          <a:blip r:embed="rId6"/>
          <a:stretch>
            <a:fillRect/>
          </a:stretch>
        </p:blipFill>
        <p:spPr>
          <a:xfrm>
            <a:off x="10917936" y="1965960"/>
            <a:ext cx="274320" cy="274320"/>
          </a:xfrm>
          <a:prstGeom prst="rect">
            <a:avLst/>
          </a:prstGeom>
        </p:spPr>
      </p:pic>
      <p:sp>
        <p:nvSpPr>
          <p:cNvPr id="30" name="txt-1501"/>
          <p:cNvSpPr txBox="1"/>
          <p:nvPr/>
        </p:nvSpPr>
        <p:spPr>
          <a:xfrm>
            <a:off x="9272016" y="2651760"/>
            <a:ext cx="2148840" cy="457200"/>
          </a:xfrm>
          <a:prstGeom prst="rect">
            <a:avLst/>
          </a:prstGeom>
          <a:noFill/>
          <a:ln/>
        </p:spPr>
        <p:txBody>
          <a:bodyPr wrap="square" lIns="0" tIns="0" rIns="0" bIns="0" rtlCol="0" anchor="t"/>
          <a:lstStyle/>
          <a:p>
            <a:pPr marL="0" indent="0">
              <a:buNone/>
            </a:pPr>
            <a:r>
              <a:rPr lang="en-US" sz="1700" b="1" dirty="0">
                <a:solidFill>
                  <a:schemeClr val="tx2"/>
                </a:solidFill>
              </a:rPr>
              <a:t>Relire</a:t>
            </a:r>
            <a:endParaRPr lang="en-US" sz="1700" dirty="0"/>
          </a:p>
        </p:txBody>
      </p:sp>
      <p:sp>
        <p:nvSpPr>
          <p:cNvPr id="31" name="txt-1502"/>
          <p:cNvSpPr txBox="1"/>
          <p:nvPr/>
        </p:nvSpPr>
        <p:spPr>
          <a:xfrm>
            <a:off x="9272016" y="3200400"/>
            <a:ext cx="2148840" cy="2011680"/>
          </a:xfrm>
          <a:prstGeom prst="rect">
            <a:avLst/>
          </a:prstGeom>
          <a:noFill/>
          <a:ln/>
        </p:spPr>
        <p:txBody>
          <a:bodyPr wrap="square" lIns="0" tIns="0" rIns="0" bIns="0" rtlCol="0" anchor="t"/>
          <a:lstStyle/>
          <a:p>
            <a:pPr marL="0" indent="0">
              <a:buNone/>
            </a:pPr>
            <a:r>
              <a:rPr lang="en-US" sz="1300" dirty="0">
                <a:solidFill>
                  <a:schemeClr val="tx1"/>
                </a:solidFill>
              </a:rPr>
              <a:t>Termes, chiffres, noms propres, sens de chaque phrase</a:t>
            </a:r>
            <a:endParaRPr lang="en-US" sz="1300" dirty="0"/>
          </a:p>
        </p:txBody>
      </p:sp>
      <p:sp>
        <p:nvSpPr>
          <p:cNvPr id="32" name="Slide Number Placeholder 0"/>
          <p:cNvSpPr>
            <a:spLocks noGrp="1"/>
          </p:cNvSpPr>
          <p:nvPr>
            <p:ph type="sldNum" sz="quarter" idx="4294967295"/>
          </p:nvPr>
        </p:nvSpPr>
        <p:spPr>
          <a:xfrm>
            <a:off x="11064240" y="6400800"/>
            <a:ext cx="54864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C82"/>
                </a:solidFill>
                <a:latin typeface="Poppins"/>
                <a:ea typeface="Poppins"/>
                <a:cs typeface="Poppins"/>
              </a:defRPr>
            </a:lvl1pPr>
          </a:lstStyle>
          <a:p>
            <a:pPr algn="r"/>
            <a:fld id="{F7021451-1387-4CA6-816F-3879F97B5CBC}" type="slidenum">
              <a:rPr lang="en-US" b="0"/>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566928"/>
            <a:ext cx="11064240" cy="777240"/>
          </a:xfrm>
          <a:prstGeom prst="rect">
            <a:avLst/>
          </a:prstGeom>
          <a:noFill/>
          <a:ln/>
        </p:spPr>
        <p:txBody>
          <a:bodyPr wrap="square" lIns="0" tIns="0" rIns="0" bIns="0" rtlCol="0" anchor="ctr"/>
          <a:lstStyle/>
          <a:p>
            <a:pPr marL="0" indent="0" algn="l">
              <a:buNone/>
            </a:pPr>
            <a:r>
              <a:rPr lang="en-US" sz="2700" b="1" dirty="0">
                <a:solidFill>
                  <a:schemeClr val="tx2"/>
                </a:solidFill>
                <a:latin typeface="Poppins" pitchFamily="34" charset="0"/>
                <a:ea typeface="Poppins" pitchFamily="34" charset="-122"/>
                <a:cs typeface="Poppins" pitchFamily="34" charset="-120"/>
              </a:rPr>
              <a:t>Lab 4 · Traduction FR → EN</a:t>
            </a:r>
            <a:endParaRPr lang="en-US" sz="2700" dirty="0"/>
          </a:p>
        </p:txBody>
      </p:sp>
      <p:sp>
        <p:nvSpPr>
          <p:cNvPr id="3" name="Text 0"/>
          <p:cNvSpPr>
            <a:spLocks noGrp="1"/>
          </p:cNvSpPr>
          <p:nvPr>
            <p:ph type="body" idx="101" hasCustomPrompt="1"/>
          </p:nvPr>
        </p:nvSpPr>
        <p:spPr>
          <a:xfrm>
            <a:off x="548640" y="256032"/>
            <a:ext cx="8229600" cy="292608"/>
          </a:xfrm>
          <a:prstGeom prst="rect">
            <a:avLst/>
          </a:prstGeom>
          <a:noFill/>
          <a:ln/>
        </p:spPr>
        <p:txBody>
          <a:bodyPr wrap="square" lIns="0" tIns="0" rIns="0" bIns="0" rtlCol="0" anchor="ctr"/>
          <a:lstStyle/>
          <a:p>
            <a:pPr marL="0" indent="0">
              <a:buNone/>
            </a:pPr>
            <a:r>
              <a:rPr lang="en-US" sz="1100" b="1" dirty="0">
                <a:solidFill>
                  <a:schemeClr val="accent1"/>
                </a:solidFill>
                <a:latin typeface="Poppins" pitchFamily="34" charset="0"/>
                <a:ea typeface="Poppins" pitchFamily="34" charset="-122"/>
                <a:cs typeface="Poppins" pitchFamily="34" charset="-120"/>
              </a:rPr>
              <a:t>LAB 4 · 35 MIN</a:t>
            </a:r>
            <a:endParaRPr lang="en-US" sz="1100" dirty="0"/>
          </a:p>
        </p:txBody>
      </p:sp>
      <p:sp>
        <p:nvSpPr>
          <p:cNvPr id="4" name="card-1503"/>
          <p:cNvSpPr/>
          <p:nvPr/>
        </p:nvSpPr>
        <p:spPr>
          <a:xfrm>
            <a:off x="10195560" y="640080"/>
            <a:ext cx="1417320" cy="502920"/>
          </a:xfrm>
          <a:prstGeom prst="roundRect">
            <a:avLst>
              <a:gd name="adj" fmla="val 14545"/>
            </a:avLst>
          </a:prstGeom>
          <a:solidFill>
            <a:schemeClr val="accent1"/>
          </a:solidFill>
          <a:ln w="6350">
            <a:solidFill>
              <a:schemeClr val="accent1"/>
            </a:solidFill>
            <a:prstDash val="solid"/>
          </a:ln>
        </p:spPr>
      </p:sp>
      <p:sp>
        <p:nvSpPr>
          <p:cNvPr id="5" name="txt-1504"/>
          <p:cNvSpPr txBox="1"/>
          <p:nvPr/>
        </p:nvSpPr>
        <p:spPr>
          <a:xfrm>
            <a:off x="10195560" y="640080"/>
            <a:ext cx="1417320" cy="502920"/>
          </a:xfrm>
          <a:prstGeom prst="rect">
            <a:avLst/>
          </a:prstGeom>
          <a:noFill/>
          <a:ln/>
        </p:spPr>
        <p:txBody>
          <a:bodyPr wrap="square" lIns="0" tIns="0" rIns="0" bIns="0" rtlCol="0" anchor="ctr"/>
          <a:lstStyle/>
          <a:p>
            <a:pPr marL="0" indent="0" algn="ctr">
              <a:buNone/>
            </a:pPr>
            <a:r>
              <a:rPr lang="en-US" sz="1600" b="1" dirty="0">
                <a:solidFill>
                  <a:schemeClr val="tx2"/>
                </a:solidFill>
              </a:rPr>
              <a:t>35 min</a:t>
            </a:r>
            <a:endParaRPr lang="en-US" sz="1600" dirty="0"/>
          </a:p>
        </p:txBody>
      </p:sp>
      <p:sp>
        <p:nvSpPr>
          <p:cNvPr id="6" name="num-1505"/>
          <p:cNvSpPr/>
          <p:nvPr/>
        </p:nvSpPr>
        <p:spPr>
          <a:xfrm>
            <a:off x="548640" y="1572768"/>
            <a:ext cx="420624" cy="420624"/>
          </a:xfrm>
          <a:prstGeom prst="ellipse">
            <a:avLst/>
          </a:prstGeom>
          <a:solidFill>
            <a:schemeClr val="tx2"/>
          </a:solidFill>
          <a:ln w="12700">
            <a:solidFill>
              <a:schemeClr val="tx2"/>
            </a:solidFill>
            <a:prstDash val="solid"/>
          </a:ln>
        </p:spPr>
      </p:sp>
      <p:sp>
        <p:nvSpPr>
          <p:cNvPr id="7" name="txt-1506"/>
          <p:cNvSpPr txBox="1"/>
          <p:nvPr/>
        </p:nvSpPr>
        <p:spPr>
          <a:xfrm>
            <a:off x="548640" y="1572768"/>
            <a:ext cx="420624" cy="420624"/>
          </a:xfrm>
          <a:prstGeom prst="rect">
            <a:avLst/>
          </a:prstGeom>
          <a:no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8" name="txt-1507"/>
          <p:cNvSpPr txBox="1"/>
          <p:nvPr/>
        </p:nvSpPr>
        <p:spPr>
          <a:xfrm>
            <a:off x="1115568" y="1481328"/>
            <a:ext cx="5212080" cy="603504"/>
          </a:xfrm>
          <a:prstGeom prst="rect">
            <a:avLst/>
          </a:prstGeom>
          <a:noFill/>
          <a:ln/>
        </p:spPr>
        <p:txBody>
          <a:bodyPr wrap="square" lIns="0" tIns="0" rIns="0" bIns="0" rtlCol="0" anchor="ctr"/>
          <a:lstStyle/>
          <a:p>
            <a:pPr marL="0" indent="0">
              <a:buNone/>
            </a:pPr>
            <a:r>
              <a:rPr lang="en-US" sz="1400" dirty="0">
                <a:solidFill>
                  <a:schemeClr val="tx1"/>
                </a:solidFill>
              </a:rPr>
              <a:t>Reprenez votre résumé corrigé du Lab 1</a:t>
            </a:r>
            <a:endParaRPr lang="en-US" sz="1400" dirty="0"/>
          </a:p>
        </p:txBody>
      </p:sp>
      <p:sp>
        <p:nvSpPr>
          <p:cNvPr id="9" name="num-1508"/>
          <p:cNvSpPr/>
          <p:nvPr/>
        </p:nvSpPr>
        <p:spPr>
          <a:xfrm>
            <a:off x="548640" y="2212848"/>
            <a:ext cx="420624" cy="420624"/>
          </a:xfrm>
          <a:prstGeom prst="ellipse">
            <a:avLst/>
          </a:prstGeom>
          <a:solidFill>
            <a:schemeClr val="tx2"/>
          </a:solidFill>
          <a:ln w="12700">
            <a:solidFill>
              <a:schemeClr val="tx2"/>
            </a:solidFill>
            <a:prstDash val="solid"/>
          </a:ln>
        </p:spPr>
      </p:sp>
      <p:sp>
        <p:nvSpPr>
          <p:cNvPr id="10" name="txt-1509"/>
          <p:cNvSpPr txBox="1"/>
          <p:nvPr/>
        </p:nvSpPr>
        <p:spPr>
          <a:xfrm>
            <a:off x="548640" y="2212848"/>
            <a:ext cx="420624" cy="420624"/>
          </a:xfrm>
          <a:prstGeom prst="rect">
            <a:avLst/>
          </a:prstGeom>
          <a:no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11" name="txt-1510"/>
          <p:cNvSpPr txBox="1"/>
          <p:nvPr/>
        </p:nvSpPr>
        <p:spPr>
          <a:xfrm>
            <a:off x="1115568" y="2121408"/>
            <a:ext cx="5212080" cy="603504"/>
          </a:xfrm>
          <a:prstGeom prst="rect">
            <a:avLst/>
          </a:prstGeom>
          <a:noFill/>
          <a:ln/>
        </p:spPr>
        <p:txBody>
          <a:bodyPr wrap="square" lIns="0" tIns="0" rIns="0" bIns="0" rtlCol="0" anchor="ctr"/>
          <a:lstStyle/>
          <a:p>
            <a:pPr marL="0" indent="0">
              <a:buNone/>
            </a:pPr>
            <a:r>
              <a:rPr lang="en-US" sz="1400" dirty="0">
                <a:solidFill>
                  <a:schemeClr val="tx1"/>
                </a:solidFill>
              </a:rPr>
              <a:t>Demandez un glossaire FR-EN de 10 termes clés, puis validez-le</a:t>
            </a:r>
            <a:endParaRPr lang="en-US" sz="1400" dirty="0"/>
          </a:p>
        </p:txBody>
      </p:sp>
      <p:sp>
        <p:nvSpPr>
          <p:cNvPr id="12" name="num-1511"/>
          <p:cNvSpPr/>
          <p:nvPr/>
        </p:nvSpPr>
        <p:spPr>
          <a:xfrm>
            <a:off x="548640" y="2852928"/>
            <a:ext cx="420624" cy="420624"/>
          </a:xfrm>
          <a:prstGeom prst="ellipse">
            <a:avLst/>
          </a:prstGeom>
          <a:solidFill>
            <a:schemeClr val="tx2"/>
          </a:solidFill>
          <a:ln w="12700">
            <a:solidFill>
              <a:schemeClr val="tx2"/>
            </a:solidFill>
            <a:prstDash val="solid"/>
          </a:ln>
        </p:spPr>
      </p:sp>
      <p:sp>
        <p:nvSpPr>
          <p:cNvPr id="13" name="txt-1512"/>
          <p:cNvSpPr txBox="1"/>
          <p:nvPr/>
        </p:nvSpPr>
        <p:spPr>
          <a:xfrm>
            <a:off x="548640" y="2852928"/>
            <a:ext cx="420624" cy="420624"/>
          </a:xfrm>
          <a:prstGeom prst="rect">
            <a:avLst/>
          </a:prstGeom>
          <a:no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14" name="txt-1513"/>
          <p:cNvSpPr txBox="1"/>
          <p:nvPr/>
        </p:nvSpPr>
        <p:spPr>
          <a:xfrm>
            <a:off x="1115568" y="2761488"/>
            <a:ext cx="5212080" cy="603504"/>
          </a:xfrm>
          <a:prstGeom prst="rect">
            <a:avLst/>
          </a:prstGeom>
          <a:noFill/>
          <a:ln/>
        </p:spPr>
        <p:txBody>
          <a:bodyPr wrap="square" lIns="0" tIns="0" rIns="0" bIns="0" rtlCol="0" anchor="ctr"/>
          <a:lstStyle/>
          <a:p>
            <a:pPr marL="0" indent="0">
              <a:buNone/>
            </a:pPr>
            <a:r>
              <a:rPr lang="en-US" sz="1400" dirty="0">
                <a:solidFill>
                  <a:schemeClr val="tx1"/>
                </a:solidFill>
              </a:rPr>
              <a:t>Traduisez avec le prompt modèle (glossaire + registre académique)</a:t>
            </a:r>
            <a:endParaRPr lang="en-US" sz="1400" dirty="0"/>
          </a:p>
        </p:txBody>
      </p:sp>
      <p:sp>
        <p:nvSpPr>
          <p:cNvPr id="15" name="num-1514"/>
          <p:cNvSpPr/>
          <p:nvPr/>
        </p:nvSpPr>
        <p:spPr>
          <a:xfrm>
            <a:off x="548640" y="3493008"/>
            <a:ext cx="420624" cy="420624"/>
          </a:xfrm>
          <a:prstGeom prst="ellipse">
            <a:avLst/>
          </a:prstGeom>
          <a:solidFill>
            <a:schemeClr val="tx2"/>
          </a:solidFill>
          <a:ln w="12700">
            <a:solidFill>
              <a:schemeClr val="tx2"/>
            </a:solidFill>
            <a:prstDash val="solid"/>
          </a:ln>
        </p:spPr>
      </p:sp>
      <p:sp>
        <p:nvSpPr>
          <p:cNvPr id="16" name="txt-1515"/>
          <p:cNvSpPr txBox="1"/>
          <p:nvPr/>
        </p:nvSpPr>
        <p:spPr>
          <a:xfrm>
            <a:off x="548640" y="3493008"/>
            <a:ext cx="420624" cy="420624"/>
          </a:xfrm>
          <a:prstGeom prst="rect">
            <a:avLst/>
          </a:prstGeom>
          <a:noFill/>
          <a:ln/>
        </p:spPr>
        <p:txBody>
          <a:bodyPr wrap="square" lIns="0" tIns="0" rIns="0" bIns="0" rtlCol="0" anchor="ctr"/>
          <a:lstStyle/>
          <a:p>
            <a:pPr marL="0" indent="0" algn="ctr">
              <a:buNone/>
            </a:pPr>
            <a:r>
              <a:rPr lang="en-US" sz="1400" b="1" dirty="0">
                <a:solidFill>
                  <a:schemeClr val="bg1"/>
                </a:solidFill>
              </a:rPr>
              <a:t>4</a:t>
            </a:r>
            <a:endParaRPr lang="en-US" sz="1400" dirty="0"/>
          </a:p>
        </p:txBody>
      </p:sp>
      <p:sp>
        <p:nvSpPr>
          <p:cNvPr id="17" name="txt-1516"/>
          <p:cNvSpPr txBox="1"/>
          <p:nvPr/>
        </p:nvSpPr>
        <p:spPr>
          <a:xfrm>
            <a:off x="1115568" y="3401568"/>
            <a:ext cx="5212080" cy="603504"/>
          </a:xfrm>
          <a:prstGeom prst="rect">
            <a:avLst/>
          </a:prstGeom>
          <a:noFill/>
          <a:ln/>
        </p:spPr>
        <p:txBody>
          <a:bodyPr wrap="square" lIns="0" tIns="0" rIns="0" bIns="0" rtlCol="0" anchor="ctr"/>
          <a:lstStyle/>
          <a:p>
            <a:pPr marL="0" indent="0">
              <a:buNone/>
            </a:pPr>
            <a:r>
              <a:rPr lang="en-US" sz="1400" dirty="0">
                <a:solidFill>
                  <a:schemeClr val="tx1"/>
                </a:solidFill>
              </a:rPr>
              <a:t>Rétro-traduisez dans une nouvelle conversation et comparez</a:t>
            </a:r>
            <a:endParaRPr lang="en-US" sz="1400" dirty="0"/>
          </a:p>
        </p:txBody>
      </p:sp>
      <p:sp>
        <p:nvSpPr>
          <p:cNvPr id="18" name="num-1517"/>
          <p:cNvSpPr/>
          <p:nvPr/>
        </p:nvSpPr>
        <p:spPr>
          <a:xfrm>
            <a:off x="548640" y="4133088"/>
            <a:ext cx="420624" cy="420624"/>
          </a:xfrm>
          <a:prstGeom prst="ellipse">
            <a:avLst/>
          </a:prstGeom>
          <a:solidFill>
            <a:schemeClr val="tx2"/>
          </a:solidFill>
          <a:ln w="12700">
            <a:solidFill>
              <a:schemeClr val="tx2"/>
            </a:solidFill>
            <a:prstDash val="solid"/>
          </a:ln>
        </p:spPr>
      </p:sp>
      <p:sp>
        <p:nvSpPr>
          <p:cNvPr id="19" name="txt-1518"/>
          <p:cNvSpPr txBox="1"/>
          <p:nvPr/>
        </p:nvSpPr>
        <p:spPr>
          <a:xfrm>
            <a:off x="548640" y="4133088"/>
            <a:ext cx="420624" cy="420624"/>
          </a:xfrm>
          <a:prstGeom prst="rect">
            <a:avLst/>
          </a:prstGeom>
          <a:noFill/>
          <a:ln/>
        </p:spPr>
        <p:txBody>
          <a:bodyPr wrap="square" lIns="0" tIns="0" rIns="0" bIns="0" rtlCol="0" anchor="ctr"/>
          <a:lstStyle/>
          <a:p>
            <a:pPr marL="0" indent="0" algn="ctr">
              <a:buNone/>
            </a:pPr>
            <a:r>
              <a:rPr lang="en-US" sz="1400" b="1" dirty="0">
                <a:solidFill>
                  <a:schemeClr val="bg1"/>
                </a:solidFill>
              </a:rPr>
              <a:t>5</a:t>
            </a:r>
            <a:endParaRPr lang="en-US" sz="1400" dirty="0"/>
          </a:p>
        </p:txBody>
      </p:sp>
      <p:sp>
        <p:nvSpPr>
          <p:cNvPr id="20" name="txt-1519"/>
          <p:cNvSpPr txBox="1"/>
          <p:nvPr/>
        </p:nvSpPr>
        <p:spPr>
          <a:xfrm>
            <a:off x="1115568" y="4041648"/>
            <a:ext cx="5212080" cy="603504"/>
          </a:xfrm>
          <a:prstGeom prst="rect">
            <a:avLst/>
          </a:prstGeom>
          <a:noFill/>
          <a:ln/>
        </p:spPr>
        <p:txBody>
          <a:bodyPr wrap="square" lIns="0" tIns="0" rIns="0" bIns="0" rtlCol="0" anchor="ctr"/>
          <a:lstStyle/>
          <a:p>
            <a:pPr marL="0" indent="0">
              <a:buNone/>
            </a:pPr>
            <a:r>
              <a:rPr lang="en-US" sz="1400" dirty="0">
                <a:solidFill>
                  <a:schemeClr val="tx1"/>
                </a:solidFill>
              </a:rPr>
              <a:t>Corrigez les écarts repérés</a:t>
            </a:r>
            <a:endParaRPr lang="en-US" sz="1400" dirty="0"/>
          </a:p>
        </p:txBody>
      </p:sp>
      <p:sp>
        <p:nvSpPr>
          <p:cNvPr id="21" name="card-1520"/>
          <p:cNvSpPr/>
          <p:nvPr/>
        </p:nvSpPr>
        <p:spPr>
          <a:xfrm>
            <a:off x="6675120" y="1508760"/>
            <a:ext cx="4937760" cy="3200400"/>
          </a:xfrm>
          <a:prstGeom prst="roundRect">
            <a:avLst>
              <a:gd name="adj" fmla="val 2286"/>
            </a:avLst>
          </a:prstGeom>
          <a:solidFill>
            <a:schemeClr val="bg1"/>
          </a:solidFill>
          <a:ln w="6350">
            <a:solidFill>
              <a:schemeClr val="bg1"/>
            </a:solidFill>
            <a:prstDash val="solid"/>
          </a:ln>
          <a:effectLst>
            <a:outerShdw blurRad="101600" dist="25400" dir="5400000" algn="bl" rotWithShape="0">
              <a:srgbClr val="000000">
                <a:alpha val="10000"/>
              </a:srgbClr>
            </a:outerShdw>
          </a:effectLst>
        </p:spPr>
      </p:sp>
      <p:sp>
        <p:nvSpPr>
          <p:cNvPr id="22" name="txt-1521"/>
          <p:cNvSpPr txBox="1"/>
          <p:nvPr/>
        </p:nvSpPr>
        <p:spPr>
          <a:xfrm>
            <a:off x="6903720" y="1691640"/>
            <a:ext cx="4480560" cy="320040"/>
          </a:xfrm>
          <a:prstGeom prst="rect">
            <a:avLst/>
          </a:prstGeom>
          <a:noFill/>
          <a:ln/>
        </p:spPr>
        <p:txBody>
          <a:bodyPr wrap="square" lIns="0" tIns="0" rIns="0" bIns="0" rtlCol="0" anchor="t"/>
          <a:lstStyle/>
          <a:p>
            <a:pPr marL="0" indent="0">
              <a:buNone/>
            </a:pPr>
            <a:r>
              <a:rPr lang="en-US" sz="1200" b="1" dirty="0">
                <a:solidFill>
                  <a:schemeClr val="accent6"/>
                </a:solidFill>
              </a:rPr>
              <a:t>Prompt modèle</a:t>
            </a:r>
            <a:endParaRPr lang="en-US" sz="1200" dirty="0"/>
          </a:p>
        </p:txBody>
      </p:sp>
      <p:sp>
        <p:nvSpPr>
          <p:cNvPr id="23" name="txt-1522"/>
          <p:cNvSpPr txBox="1"/>
          <p:nvPr/>
        </p:nvSpPr>
        <p:spPr>
          <a:xfrm>
            <a:off x="6903720" y="2057400"/>
            <a:ext cx="4480560" cy="2468880"/>
          </a:xfrm>
          <a:prstGeom prst="rect">
            <a:avLst/>
          </a:prstGeom>
          <a:noFill/>
          <a:ln/>
        </p:spPr>
        <p:txBody>
          <a:bodyPr wrap="square" lIns="0" tIns="0" rIns="0" bIns="0" rtlCol="0" anchor="t"/>
          <a:lstStyle/>
          <a:p>
            <a:pPr marL="0" indent="0">
              <a:buNone/>
            </a:pPr>
            <a:r>
              <a:rPr lang="en-US" sz="1300" dirty="0">
                <a:solidFill>
                  <a:schemeClr val="tx1"/>
                </a:solidFill>
                <a:latin typeface="Consolas" pitchFamily="34" charset="0"/>
                <a:ea typeface="Consolas" pitchFamily="34" charset="-122"/>
                <a:cs typeface="Consolas" pitchFamily="34" charset="-120"/>
              </a:rPr>
              <a:t>« Tu es traducteur scientifique spécialisé en [discipline]. Traduis ce résumé en anglais académique pour la revue [nom]. Utilise obligatoirement ce glossaire : [...]. Signale les phrases ambiguës au lieu de les deviner. »</a:t>
            </a:r>
            <a:endParaRPr lang="en-US" sz="1300" dirty="0"/>
          </a:p>
        </p:txBody>
      </p:sp>
      <p:sp>
        <p:nvSpPr>
          <p:cNvPr id="24" name="card-1523"/>
          <p:cNvSpPr/>
          <p:nvPr/>
        </p:nvSpPr>
        <p:spPr>
          <a:xfrm>
            <a:off x="548640" y="4956048"/>
            <a:ext cx="5760720" cy="1261872"/>
          </a:xfrm>
          <a:prstGeom prst="roundRect">
            <a:avLst>
              <a:gd name="adj" fmla="val 5797"/>
            </a:avLst>
          </a:prstGeom>
          <a:solidFill>
            <a:schemeClr val="bg1"/>
          </a:solidFill>
          <a:ln w="6350">
            <a:solidFill>
              <a:schemeClr val="bg1"/>
            </a:solidFill>
            <a:prstDash val="solid"/>
          </a:ln>
          <a:effectLst>
            <a:outerShdw blurRad="101600" dist="25400" dir="5400000" algn="bl" rotWithShape="0">
              <a:srgbClr val="000000">
                <a:alpha val="10000"/>
              </a:srgbClr>
            </a:outerShdw>
          </a:effectLst>
        </p:spPr>
      </p:sp>
      <p:sp>
        <p:nvSpPr>
          <p:cNvPr id="25" name="circle-1524"/>
          <p:cNvSpPr/>
          <p:nvPr/>
        </p:nvSpPr>
        <p:spPr>
          <a:xfrm>
            <a:off x="731520" y="5120640"/>
            <a:ext cx="457200" cy="457200"/>
          </a:xfrm>
          <a:prstGeom prst="ellipse">
            <a:avLst/>
          </a:prstGeom>
          <a:solidFill>
            <a:schemeClr val="accent1"/>
          </a:solidFill>
          <a:ln w="12700">
            <a:solidFill>
              <a:schemeClr val="accent1"/>
            </a:solidFill>
            <a:prstDash val="solid"/>
          </a:ln>
        </p:spPr>
      </p:sp>
      <p:pic>
        <p:nvPicPr>
          <p:cNvPr id="26" name="icon-1525" descr="preencoded.png"/>
          <p:cNvPicPr>
            <a:picLocks noChangeAspect="1"/>
          </p:cNvPicPr>
          <p:nvPr/>
        </p:nvPicPr>
        <p:blipFill>
          <a:blip r:embed="rId3"/>
          <a:stretch>
            <a:fillRect/>
          </a:stretch>
        </p:blipFill>
        <p:spPr>
          <a:xfrm>
            <a:off x="845820" y="5234940"/>
            <a:ext cx="228600" cy="228600"/>
          </a:xfrm>
          <a:prstGeom prst="rect">
            <a:avLst/>
          </a:prstGeom>
        </p:spPr>
      </p:pic>
      <p:sp>
        <p:nvSpPr>
          <p:cNvPr id="27" name="txt-1526"/>
          <p:cNvSpPr txBox="1"/>
          <p:nvPr/>
        </p:nvSpPr>
        <p:spPr>
          <a:xfrm>
            <a:off x="1325880" y="5074920"/>
            <a:ext cx="1828800" cy="320040"/>
          </a:xfrm>
          <a:prstGeom prst="rect">
            <a:avLst/>
          </a:prstGeom>
          <a:noFill/>
          <a:ln/>
        </p:spPr>
        <p:txBody>
          <a:bodyPr wrap="square" lIns="0" tIns="0" rIns="0" bIns="0" rtlCol="0" anchor="t"/>
          <a:lstStyle/>
          <a:p>
            <a:pPr marL="0" indent="0">
              <a:buNone/>
            </a:pPr>
            <a:r>
              <a:rPr lang="en-US" sz="1500" b="1" dirty="0">
                <a:solidFill>
                  <a:schemeClr val="accent1"/>
                </a:solidFill>
              </a:rPr>
              <a:t>Défi</a:t>
            </a:r>
            <a:endParaRPr lang="en-US" sz="1500" dirty="0"/>
          </a:p>
        </p:txBody>
      </p:sp>
      <p:sp>
        <p:nvSpPr>
          <p:cNvPr id="28" name="txt-1527"/>
          <p:cNvSpPr txBox="1"/>
          <p:nvPr/>
        </p:nvSpPr>
        <p:spPr>
          <a:xfrm>
            <a:off x="1325880" y="5394960"/>
            <a:ext cx="4846320" cy="777240"/>
          </a:xfrm>
          <a:prstGeom prst="rect">
            <a:avLst/>
          </a:prstGeom>
          <a:noFill/>
          <a:ln/>
        </p:spPr>
        <p:txBody>
          <a:bodyPr wrap="square" lIns="0" tIns="0" rIns="0" bIns="0" rtlCol="0" anchor="t"/>
          <a:lstStyle/>
          <a:p>
            <a:pPr marL="0" indent="0">
              <a:buNone/>
            </a:pPr>
            <a:r>
              <a:rPr lang="en-US" sz="1300" dirty="0">
                <a:solidFill>
                  <a:schemeClr val="tx1"/>
                </a:solidFill>
              </a:rPr>
              <a:t>Adaptez l'abstract aux consignes d'une revue ciblée (longueur, mots-clés) et rédigez la lettre de soumission.</a:t>
            </a:r>
            <a:endParaRPr lang="en-US" sz="1300" dirty="0"/>
          </a:p>
        </p:txBody>
      </p:sp>
      <p:sp>
        <p:nvSpPr>
          <p:cNvPr id="29" name="card-1528"/>
          <p:cNvSpPr/>
          <p:nvPr/>
        </p:nvSpPr>
        <p:spPr>
          <a:xfrm>
            <a:off x="6675120" y="4956048"/>
            <a:ext cx="4937760" cy="1261872"/>
          </a:xfrm>
          <a:prstGeom prst="roundRect">
            <a:avLst>
              <a:gd name="adj" fmla="val 5797"/>
            </a:avLst>
          </a:prstGeom>
          <a:solidFill>
            <a:schemeClr val="tx2"/>
          </a:solidFill>
          <a:ln w="6350">
            <a:solidFill>
              <a:schemeClr val="tx2"/>
            </a:solidFill>
            <a:prstDash val="solid"/>
          </a:ln>
        </p:spPr>
      </p:sp>
      <p:sp>
        <p:nvSpPr>
          <p:cNvPr id="30" name="circle-1529"/>
          <p:cNvSpPr/>
          <p:nvPr/>
        </p:nvSpPr>
        <p:spPr>
          <a:xfrm>
            <a:off x="6858000" y="5120640"/>
            <a:ext cx="457200" cy="457200"/>
          </a:xfrm>
          <a:prstGeom prst="ellipse">
            <a:avLst/>
          </a:prstGeom>
          <a:solidFill>
            <a:schemeClr val="accent1"/>
          </a:solidFill>
          <a:ln w="12700">
            <a:solidFill>
              <a:schemeClr val="accent1"/>
            </a:solidFill>
            <a:prstDash val="solid"/>
          </a:ln>
        </p:spPr>
      </p:sp>
      <p:pic>
        <p:nvPicPr>
          <p:cNvPr id="31" name="icon-1530" descr="preencoded.png"/>
          <p:cNvPicPr>
            <a:picLocks noChangeAspect="1"/>
          </p:cNvPicPr>
          <p:nvPr/>
        </p:nvPicPr>
        <p:blipFill>
          <a:blip r:embed="rId4"/>
          <a:stretch>
            <a:fillRect/>
          </a:stretch>
        </p:blipFill>
        <p:spPr>
          <a:xfrm>
            <a:off x="6972300" y="5234940"/>
            <a:ext cx="228600" cy="228600"/>
          </a:xfrm>
          <a:prstGeom prst="rect">
            <a:avLst/>
          </a:prstGeom>
        </p:spPr>
      </p:pic>
      <p:sp>
        <p:nvSpPr>
          <p:cNvPr id="32" name="txt-1531"/>
          <p:cNvSpPr txBox="1"/>
          <p:nvPr/>
        </p:nvSpPr>
        <p:spPr>
          <a:xfrm>
            <a:off x="7452360" y="5074920"/>
            <a:ext cx="2743200" cy="320040"/>
          </a:xfrm>
          <a:prstGeom prst="rect">
            <a:avLst/>
          </a:prstGeom>
          <a:noFill/>
          <a:ln/>
        </p:spPr>
        <p:txBody>
          <a:bodyPr wrap="square" lIns="0" tIns="0" rIns="0" bIns="0" rtlCol="0" anchor="t"/>
          <a:lstStyle/>
          <a:p>
            <a:pPr marL="0" indent="0">
              <a:buNone/>
            </a:pPr>
            <a:r>
              <a:rPr lang="en-US" sz="1500" b="1" dirty="0">
                <a:solidFill>
                  <a:schemeClr val="accent1"/>
                </a:solidFill>
              </a:rPr>
              <a:t>À rendre</a:t>
            </a:r>
            <a:endParaRPr lang="en-US" sz="1500" dirty="0"/>
          </a:p>
        </p:txBody>
      </p:sp>
      <p:sp>
        <p:nvSpPr>
          <p:cNvPr id="33" name="txt-1532"/>
          <p:cNvSpPr txBox="1"/>
          <p:nvPr/>
        </p:nvSpPr>
        <p:spPr>
          <a:xfrm>
            <a:off x="7452360" y="5394960"/>
            <a:ext cx="4023360" cy="777240"/>
          </a:xfrm>
          <a:prstGeom prst="rect">
            <a:avLst/>
          </a:prstGeom>
          <a:noFill/>
          <a:ln/>
        </p:spPr>
        <p:txBody>
          <a:bodyPr wrap="square" lIns="0" tIns="0" rIns="0" bIns="0" rtlCol="0" anchor="t"/>
          <a:lstStyle/>
          <a:p>
            <a:pPr marL="0" indent="0">
              <a:buNone/>
            </a:pPr>
            <a:r>
              <a:rPr lang="en-US" sz="1300" dirty="0">
                <a:solidFill>
                  <a:schemeClr val="bg1"/>
                </a:solidFill>
              </a:rPr>
              <a:t>Fiche 4 : glossaire, abstract final et liste des écarts corrigés</a:t>
            </a:r>
            <a:endParaRPr lang="en-US" sz="1300" dirty="0"/>
          </a:p>
        </p:txBody>
      </p:sp>
      <p:sp>
        <p:nvSpPr>
          <p:cNvPr id="34" name="Slide Number Placeholder 0"/>
          <p:cNvSpPr>
            <a:spLocks noGrp="1"/>
          </p:cNvSpPr>
          <p:nvPr>
            <p:ph type="sldNum" sz="quarter" idx="4294967295"/>
          </p:nvPr>
        </p:nvSpPr>
        <p:spPr>
          <a:xfrm>
            <a:off x="11064240" y="6400800"/>
            <a:ext cx="54864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C82"/>
                </a:solidFill>
                <a:latin typeface="Poppins"/>
                <a:ea typeface="Poppins"/>
                <a:cs typeface="Poppins"/>
              </a:defRPr>
            </a:lvl1pPr>
          </a:lstStyle>
          <a:p>
            <a:pPr algn="r"/>
            <a:fld id="{F7021451-1387-4CA6-816F-3879F97B5CBC}" type="slidenum">
              <a:rPr lang="en-US" b="0"/>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xt-1533"/>
          <p:cNvSpPr txBox="1"/>
          <p:nvPr/>
        </p:nvSpPr>
        <p:spPr>
          <a:xfrm>
            <a:off x="640080" y="2011680"/>
            <a:ext cx="2560320" cy="2011680"/>
          </a:xfrm>
          <a:prstGeom prst="rect">
            <a:avLst/>
          </a:prstGeom>
          <a:noFill/>
          <a:ln/>
        </p:spPr>
        <p:txBody>
          <a:bodyPr wrap="square" lIns="0" tIns="0" rIns="0" bIns="0" rtlCol="0" anchor="ctr"/>
          <a:lstStyle/>
          <a:p>
            <a:pPr marL="0" indent="0">
              <a:buNone/>
            </a:pPr>
            <a:r>
              <a:rPr lang="en-US" sz="9600" b="1" dirty="0">
                <a:solidFill>
                  <a:schemeClr val="accent1"/>
                </a:solidFill>
              </a:rPr>
              <a:t>T5</a:t>
            </a:r>
            <a:endParaRPr lang="en-US" sz="9600" dirty="0"/>
          </a:p>
        </p:txBody>
      </p:sp>
      <p:sp>
        <p:nvSpPr>
          <p:cNvPr id="3" name="txt-1534"/>
          <p:cNvSpPr txBox="1"/>
          <p:nvPr/>
        </p:nvSpPr>
        <p:spPr>
          <a:xfrm>
            <a:off x="3291840" y="1737360"/>
            <a:ext cx="8229600" cy="457200"/>
          </a:xfrm>
          <a:prstGeom prst="rect">
            <a:avLst/>
          </a:prstGeom>
          <a:noFill/>
          <a:ln/>
        </p:spPr>
        <p:txBody>
          <a:bodyPr wrap="square" lIns="0" tIns="0" rIns="0" bIns="0" rtlCol="0" anchor="t"/>
          <a:lstStyle/>
          <a:p>
            <a:pPr marL="0" indent="0">
              <a:buNone/>
            </a:pPr>
            <a:r>
              <a:rPr lang="en-US" sz="1600" b="1" dirty="0">
                <a:solidFill>
                  <a:schemeClr val="accent1"/>
                </a:solidFill>
              </a:rPr>
              <a:t>Capsule théorique · 20 min</a:t>
            </a:r>
            <a:endParaRPr lang="en-US" sz="1600" dirty="0"/>
          </a:p>
        </p:txBody>
      </p:sp>
      <p:sp>
        <p:nvSpPr>
          <p:cNvPr id="4" name="Text 0"/>
          <p:cNvSpPr>
            <a:spLocks noGrp="1"/>
          </p:cNvSpPr>
          <p:nvPr>
            <p:ph type="title" idx="100" hasCustomPrompt="1"/>
          </p:nvPr>
        </p:nvSpPr>
        <p:spPr>
          <a:xfrm>
            <a:off x="3291840" y="2286000"/>
            <a:ext cx="8321040" cy="1463040"/>
          </a:xfrm>
          <a:prstGeom prst="rect">
            <a:avLst/>
          </a:prstGeom>
          <a:noFill/>
          <a:ln/>
        </p:spPr>
        <p:txBody>
          <a:bodyPr wrap="square" lIns="0" tIns="0" rIns="0" bIns="0" rtlCol="0" anchor="ctr"/>
          <a:lstStyle/>
          <a:p>
            <a:pPr marL="0" indent="0" algn="l">
              <a:buNone/>
            </a:pPr>
            <a:r>
              <a:rPr lang="en-US" sz="3400" b="1" dirty="0">
                <a:solidFill>
                  <a:schemeClr val="bg1"/>
                </a:solidFill>
                <a:latin typeface="Poppins" pitchFamily="34" charset="0"/>
                <a:ea typeface="Poppins" pitchFamily="34" charset="-122"/>
                <a:cs typeface="Poppins" pitchFamily="34" charset="-120"/>
              </a:rPr>
              <a:t>L'IA agentique : de la réponse à l'action</a:t>
            </a:r>
            <a:endParaRPr lang="en-US" sz="3400" dirty="0"/>
          </a:p>
        </p:txBody>
      </p:sp>
      <p:sp>
        <p:nvSpPr>
          <p:cNvPr id="5" name="txt-1535"/>
          <p:cNvSpPr txBox="1"/>
          <p:nvPr/>
        </p:nvSpPr>
        <p:spPr>
          <a:xfrm>
            <a:off x="3291840" y="3931920"/>
            <a:ext cx="8229600" cy="1828800"/>
          </a:xfrm>
          <a:prstGeom prst="rect">
            <a:avLst/>
          </a:prstGeom>
          <a:noFill/>
          <a:ln/>
        </p:spPr>
        <p:txBody>
          <a:bodyPr wrap="square" lIns="0" tIns="0" rIns="0" bIns="0" rtlCol="0" anchor="t"/>
          <a:lstStyle/>
          <a:p>
            <a:pPr marL="177800" indent="-177800">
              <a:spcAft>
                <a:spcPts val="600"/>
              </a:spcAft>
              <a:buSzPct val="100000"/>
              <a:buChar char="•"/>
            </a:pPr>
            <a:r>
              <a:rPr lang="en-US" sz="1600" dirty="0">
                <a:solidFill>
                  <a:schemeClr val="bg2"/>
                </a:solidFill>
              </a:rPr>
              <a:t>Ce qu'est un agent, et son « user flow »</a:t>
            </a:r>
            <a:endParaRPr lang="en-US" sz="1600" dirty="0"/>
          </a:p>
          <a:p>
            <a:pPr marL="177800" indent="-177800">
              <a:spcAft>
                <a:spcPts val="600"/>
              </a:spcAft>
              <a:buSzPct val="100000"/>
              <a:buChar char="•"/>
            </a:pPr>
            <a:r>
              <a:rPr lang="en-US" sz="1600" dirty="0">
                <a:solidFill>
                  <a:schemeClr val="bg2"/>
                </a:solidFill>
              </a:rPr>
              <a:t>Les agents déjà accessibles aux chercheures</a:t>
            </a:r>
            <a:endParaRPr lang="en-US" sz="1600" dirty="0"/>
          </a:p>
          <a:p>
            <a:pPr marL="177800" indent="-177800">
              <a:spcAft>
                <a:spcPts val="600"/>
              </a:spcAft>
              <a:buSzPct val="100000"/>
              <a:buChar char="•"/>
            </a:pPr>
            <a:r>
              <a:rPr lang="en-US" sz="1600" dirty="0">
                <a:solidFill>
                  <a:schemeClr val="bg2"/>
                </a:solidFill>
              </a:rPr>
              <a:t>Autonomie, risques et garde-fous</a:t>
            </a:r>
            <a:endParaRPr lang="en-US" sz="16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566928"/>
            <a:ext cx="11064240" cy="777240"/>
          </a:xfrm>
          <a:prstGeom prst="rect">
            <a:avLst/>
          </a:prstGeom>
          <a:noFill/>
          <a:ln/>
        </p:spPr>
        <p:txBody>
          <a:bodyPr wrap="square" lIns="0" tIns="0" rIns="0" bIns="0" rtlCol="0" anchor="ctr"/>
          <a:lstStyle/>
          <a:p>
            <a:pPr marL="0" indent="0" algn="l">
              <a:buNone/>
            </a:pPr>
            <a:r>
              <a:rPr lang="en-US" sz="2700" b="1" dirty="0">
                <a:solidFill>
                  <a:schemeClr val="tx2"/>
                </a:solidFill>
                <a:latin typeface="Poppins" pitchFamily="34" charset="0"/>
                <a:ea typeface="Poppins" pitchFamily="34" charset="-122"/>
                <a:cs typeface="Poppins" pitchFamily="34" charset="-120"/>
              </a:rPr>
              <a:t>Qu'est-ce qu'un agent IA ?</a:t>
            </a:r>
            <a:endParaRPr lang="en-US" sz="2700" dirty="0"/>
          </a:p>
        </p:txBody>
      </p:sp>
      <p:sp>
        <p:nvSpPr>
          <p:cNvPr id="3" name="Text 0"/>
          <p:cNvSpPr>
            <a:spLocks noGrp="1"/>
          </p:cNvSpPr>
          <p:nvPr>
            <p:ph type="body" idx="101" hasCustomPrompt="1"/>
          </p:nvPr>
        </p:nvSpPr>
        <p:spPr>
          <a:xfrm>
            <a:off x="548640" y="256032"/>
            <a:ext cx="8229600" cy="292608"/>
          </a:xfrm>
          <a:prstGeom prst="rect">
            <a:avLst/>
          </a:prstGeom>
          <a:noFill/>
          <a:ln/>
        </p:spPr>
        <p:txBody>
          <a:bodyPr wrap="square" lIns="0" tIns="0" rIns="0" bIns="0" rtlCol="0" anchor="ctr"/>
          <a:lstStyle/>
          <a:p>
            <a:pPr marL="0" indent="0">
              <a:buNone/>
            </a:pPr>
            <a:r>
              <a:rPr lang="en-US" sz="1100" b="1" dirty="0">
                <a:solidFill>
                  <a:schemeClr val="accent1"/>
                </a:solidFill>
                <a:latin typeface="Poppins" pitchFamily="34" charset="0"/>
                <a:ea typeface="Poppins" pitchFamily="34" charset="-122"/>
                <a:cs typeface="Poppins" pitchFamily="34" charset="-120"/>
              </a:rPr>
              <a:t>T5 · IA AGENTIQUE</a:t>
            </a:r>
            <a:endParaRPr lang="en-US" sz="1100" dirty="0"/>
          </a:p>
        </p:txBody>
      </p:sp>
      <p:sp>
        <p:nvSpPr>
          <p:cNvPr id="4" name="card-1536"/>
          <p:cNvSpPr/>
          <p:nvPr/>
        </p:nvSpPr>
        <p:spPr>
          <a:xfrm>
            <a:off x="548640" y="1554480"/>
            <a:ext cx="11064240" cy="1600200"/>
          </a:xfrm>
          <a:prstGeom prst="roundRect">
            <a:avLst>
              <a:gd name="adj" fmla="val 4571"/>
            </a:avLst>
          </a:prstGeom>
          <a:solidFill>
            <a:schemeClr val="tx2"/>
          </a:solidFill>
          <a:ln w="6350">
            <a:solidFill>
              <a:schemeClr val="tx2"/>
            </a:solidFill>
            <a:prstDash val="solid"/>
          </a:ln>
        </p:spPr>
      </p:sp>
      <p:sp>
        <p:nvSpPr>
          <p:cNvPr id="5" name="txt-1537"/>
          <p:cNvSpPr txBox="1"/>
          <p:nvPr/>
        </p:nvSpPr>
        <p:spPr>
          <a:xfrm>
            <a:off x="822960" y="1691640"/>
            <a:ext cx="2743200" cy="320040"/>
          </a:xfrm>
          <a:prstGeom prst="rect">
            <a:avLst/>
          </a:prstGeom>
          <a:noFill/>
          <a:ln/>
        </p:spPr>
        <p:txBody>
          <a:bodyPr wrap="square" lIns="0" tIns="0" rIns="0" bIns="0" rtlCol="0" anchor="t"/>
          <a:lstStyle/>
          <a:p>
            <a:pPr marL="0" indent="0">
              <a:buNone/>
            </a:pPr>
            <a:r>
              <a:rPr lang="en-US" sz="1400" b="1" dirty="0">
                <a:solidFill>
                  <a:schemeClr val="accent1"/>
                </a:solidFill>
              </a:rPr>
              <a:t>Définition</a:t>
            </a:r>
            <a:endParaRPr lang="en-US" sz="1400" dirty="0"/>
          </a:p>
        </p:txBody>
      </p:sp>
      <p:sp>
        <p:nvSpPr>
          <p:cNvPr id="6" name="txt-1538"/>
          <p:cNvSpPr txBox="1"/>
          <p:nvPr/>
        </p:nvSpPr>
        <p:spPr>
          <a:xfrm>
            <a:off x="822960" y="2011680"/>
            <a:ext cx="10515600" cy="1097280"/>
          </a:xfrm>
          <a:prstGeom prst="rect">
            <a:avLst/>
          </a:prstGeom>
          <a:noFill/>
          <a:ln/>
        </p:spPr>
        <p:txBody>
          <a:bodyPr wrap="square" lIns="0" tIns="0" rIns="0" bIns="0" rtlCol="0" anchor="t"/>
          <a:lstStyle/>
          <a:p>
            <a:pPr marL="0" indent="0">
              <a:buNone/>
            </a:pPr>
            <a:r>
              <a:rPr lang="en-US" sz="1500" dirty="0">
                <a:solidFill>
                  <a:schemeClr val="bg1"/>
                </a:solidFill>
              </a:rPr>
              <a:t>Un agent IA est un système qui reçoit un objectif, le découpe en étapes, utilise des outils (recherche web, lecture de fichiers, exécution de code, navigateur), observe les résultats et ajuste son plan jusqu'à atteindre l'objectif, avec plus ou moins d'autonomie.</a:t>
            </a:r>
            <a:endParaRPr lang="en-US" sz="1500" dirty="0"/>
          </a:p>
        </p:txBody>
      </p:sp>
      <p:sp>
        <p:nvSpPr>
          <p:cNvPr id="7" name="card-1539"/>
          <p:cNvSpPr/>
          <p:nvPr/>
        </p:nvSpPr>
        <p:spPr>
          <a:xfrm>
            <a:off x="548640" y="3383280"/>
            <a:ext cx="2606040" cy="2560320"/>
          </a:xfrm>
          <a:prstGeom prst="roundRect">
            <a:avLst>
              <a:gd name="adj" fmla="val 2857"/>
            </a:avLst>
          </a:prstGeom>
          <a:solidFill>
            <a:schemeClr val="bg2"/>
          </a:solidFill>
          <a:ln w="6350">
            <a:solidFill>
              <a:schemeClr val="bg2"/>
            </a:solidFill>
            <a:prstDash val="solid"/>
          </a:ln>
        </p:spPr>
      </p:sp>
      <p:sp>
        <p:nvSpPr>
          <p:cNvPr id="8" name="circle-1540"/>
          <p:cNvSpPr/>
          <p:nvPr/>
        </p:nvSpPr>
        <p:spPr>
          <a:xfrm>
            <a:off x="822960" y="3611880"/>
            <a:ext cx="685800" cy="685800"/>
          </a:xfrm>
          <a:prstGeom prst="ellipse">
            <a:avLst/>
          </a:prstGeom>
          <a:solidFill>
            <a:schemeClr val="accent6"/>
          </a:solidFill>
          <a:ln w="12700">
            <a:solidFill>
              <a:schemeClr val="accent6"/>
            </a:solidFill>
            <a:prstDash val="solid"/>
          </a:ln>
        </p:spPr>
      </p:sp>
      <p:pic>
        <p:nvPicPr>
          <p:cNvPr id="9" name="icon-1541" descr="preencoded.png"/>
          <p:cNvPicPr>
            <a:picLocks noChangeAspect="1"/>
          </p:cNvPicPr>
          <p:nvPr/>
        </p:nvPicPr>
        <p:blipFill>
          <a:blip r:embed="rId3"/>
          <a:stretch>
            <a:fillRect/>
          </a:stretch>
        </p:blipFill>
        <p:spPr>
          <a:xfrm>
            <a:off x="994410" y="3783330"/>
            <a:ext cx="342900" cy="342900"/>
          </a:xfrm>
          <a:prstGeom prst="rect">
            <a:avLst/>
          </a:prstGeom>
        </p:spPr>
      </p:pic>
      <p:sp>
        <p:nvSpPr>
          <p:cNvPr id="10" name="txt-1542"/>
          <p:cNvSpPr txBox="1"/>
          <p:nvPr/>
        </p:nvSpPr>
        <p:spPr>
          <a:xfrm>
            <a:off x="822960" y="4434840"/>
            <a:ext cx="2148840" cy="411480"/>
          </a:xfrm>
          <a:prstGeom prst="rect">
            <a:avLst/>
          </a:prstGeom>
          <a:noFill/>
          <a:ln/>
        </p:spPr>
        <p:txBody>
          <a:bodyPr wrap="square" lIns="0" tIns="0" rIns="0" bIns="0" rtlCol="0" anchor="t"/>
          <a:lstStyle/>
          <a:p>
            <a:pPr marL="0" indent="0">
              <a:buNone/>
            </a:pPr>
            <a:r>
              <a:rPr lang="en-US" sz="1600" b="1" dirty="0">
                <a:solidFill>
                  <a:schemeClr val="tx2"/>
                </a:solidFill>
              </a:rPr>
              <a:t>Un objectif</a:t>
            </a:r>
            <a:endParaRPr lang="en-US" sz="1600" dirty="0"/>
          </a:p>
        </p:txBody>
      </p:sp>
      <p:sp>
        <p:nvSpPr>
          <p:cNvPr id="11" name="txt-1543"/>
          <p:cNvSpPr txBox="1"/>
          <p:nvPr/>
        </p:nvSpPr>
        <p:spPr>
          <a:xfrm>
            <a:off x="822960" y="4846320"/>
            <a:ext cx="2148840" cy="1005840"/>
          </a:xfrm>
          <a:prstGeom prst="rect">
            <a:avLst/>
          </a:prstGeom>
          <a:noFill/>
          <a:ln/>
        </p:spPr>
        <p:txBody>
          <a:bodyPr wrap="square" lIns="0" tIns="0" rIns="0" bIns="0" rtlCol="0" anchor="t"/>
          <a:lstStyle/>
          <a:p>
            <a:pPr marL="0" indent="0">
              <a:buNone/>
            </a:pPr>
            <a:r>
              <a:rPr lang="en-US" sz="1200" dirty="0">
                <a:solidFill>
                  <a:schemeClr val="tx1"/>
                </a:solidFill>
              </a:rPr>
              <a:t>« Fais l'état de l'art sur… », pas seulement une question</a:t>
            </a:r>
            <a:endParaRPr lang="en-US" sz="1200" dirty="0"/>
          </a:p>
        </p:txBody>
      </p:sp>
      <p:sp>
        <p:nvSpPr>
          <p:cNvPr id="12" name="card-1544"/>
          <p:cNvSpPr/>
          <p:nvPr/>
        </p:nvSpPr>
        <p:spPr>
          <a:xfrm>
            <a:off x="3364992" y="3383280"/>
            <a:ext cx="2606040" cy="2560320"/>
          </a:xfrm>
          <a:prstGeom prst="roundRect">
            <a:avLst>
              <a:gd name="adj" fmla="val 2857"/>
            </a:avLst>
          </a:prstGeom>
          <a:solidFill>
            <a:schemeClr val="bg2"/>
          </a:solidFill>
          <a:ln w="6350">
            <a:solidFill>
              <a:schemeClr val="bg2"/>
            </a:solidFill>
            <a:prstDash val="solid"/>
          </a:ln>
        </p:spPr>
      </p:sp>
      <p:sp>
        <p:nvSpPr>
          <p:cNvPr id="13" name="circle-1545"/>
          <p:cNvSpPr/>
          <p:nvPr/>
        </p:nvSpPr>
        <p:spPr>
          <a:xfrm>
            <a:off x="3639312" y="3611880"/>
            <a:ext cx="685800" cy="685800"/>
          </a:xfrm>
          <a:prstGeom prst="ellipse">
            <a:avLst/>
          </a:prstGeom>
          <a:solidFill>
            <a:schemeClr val="accent6"/>
          </a:solidFill>
          <a:ln w="12700">
            <a:solidFill>
              <a:schemeClr val="accent6"/>
            </a:solidFill>
            <a:prstDash val="solid"/>
          </a:ln>
        </p:spPr>
      </p:sp>
      <p:pic>
        <p:nvPicPr>
          <p:cNvPr id="14" name="icon-1546" descr="preencoded.png"/>
          <p:cNvPicPr>
            <a:picLocks noChangeAspect="1"/>
          </p:cNvPicPr>
          <p:nvPr/>
        </p:nvPicPr>
        <p:blipFill>
          <a:blip r:embed="rId4"/>
          <a:stretch>
            <a:fillRect/>
          </a:stretch>
        </p:blipFill>
        <p:spPr>
          <a:xfrm>
            <a:off x="3810762" y="3783330"/>
            <a:ext cx="342900" cy="342900"/>
          </a:xfrm>
          <a:prstGeom prst="rect">
            <a:avLst/>
          </a:prstGeom>
        </p:spPr>
      </p:pic>
      <p:sp>
        <p:nvSpPr>
          <p:cNvPr id="15" name="txt-1547"/>
          <p:cNvSpPr txBox="1"/>
          <p:nvPr/>
        </p:nvSpPr>
        <p:spPr>
          <a:xfrm>
            <a:off x="3639312" y="4434840"/>
            <a:ext cx="2148840" cy="411480"/>
          </a:xfrm>
          <a:prstGeom prst="rect">
            <a:avLst/>
          </a:prstGeom>
          <a:noFill/>
          <a:ln/>
        </p:spPr>
        <p:txBody>
          <a:bodyPr wrap="square" lIns="0" tIns="0" rIns="0" bIns="0" rtlCol="0" anchor="t"/>
          <a:lstStyle/>
          <a:p>
            <a:pPr marL="0" indent="0">
              <a:buNone/>
            </a:pPr>
            <a:r>
              <a:rPr lang="en-US" sz="1600" b="1" dirty="0">
                <a:solidFill>
                  <a:schemeClr val="tx2"/>
                </a:solidFill>
              </a:rPr>
              <a:t>Un plan</a:t>
            </a:r>
            <a:endParaRPr lang="en-US" sz="1600" dirty="0"/>
          </a:p>
        </p:txBody>
      </p:sp>
      <p:sp>
        <p:nvSpPr>
          <p:cNvPr id="16" name="txt-1548"/>
          <p:cNvSpPr txBox="1"/>
          <p:nvPr/>
        </p:nvSpPr>
        <p:spPr>
          <a:xfrm>
            <a:off x="3639312" y="4846320"/>
            <a:ext cx="2148840" cy="1005840"/>
          </a:xfrm>
          <a:prstGeom prst="rect">
            <a:avLst/>
          </a:prstGeom>
          <a:noFill/>
          <a:ln/>
        </p:spPr>
        <p:txBody>
          <a:bodyPr wrap="square" lIns="0" tIns="0" rIns="0" bIns="0" rtlCol="0" anchor="t"/>
          <a:lstStyle/>
          <a:p>
            <a:pPr marL="0" indent="0">
              <a:buNone/>
            </a:pPr>
            <a:r>
              <a:rPr lang="en-US" sz="1200" dirty="0">
                <a:solidFill>
                  <a:schemeClr val="tx1"/>
                </a:solidFill>
              </a:rPr>
              <a:t>Il découpe lui-même le travail en étapes</a:t>
            </a:r>
            <a:endParaRPr lang="en-US" sz="1200" dirty="0"/>
          </a:p>
        </p:txBody>
      </p:sp>
      <p:sp>
        <p:nvSpPr>
          <p:cNvPr id="17" name="card-1549"/>
          <p:cNvSpPr/>
          <p:nvPr/>
        </p:nvSpPr>
        <p:spPr>
          <a:xfrm>
            <a:off x="6181344" y="3383280"/>
            <a:ext cx="2606040" cy="2560320"/>
          </a:xfrm>
          <a:prstGeom prst="roundRect">
            <a:avLst>
              <a:gd name="adj" fmla="val 2857"/>
            </a:avLst>
          </a:prstGeom>
          <a:solidFill>
            <a:schemeClr val="bg2"/>
          </a:solidFill>
          <a:ln w="6350">
            <a:solidFill>
              <a:schemeClr val="bg2"/>
            </a:solidFill>
            <a:prstDash val="solid"/>
          </a:ln>
        </p:spPr>
      </p:sp>
      <p:sp>
        <p:nvSpPr>
          <p:cNvPr id="18" name="circle-1550"/>
          <p:cNvSpPr/>
          <p:nvPr/>
        </p:nvSpPr>
        <p:spPr>
          <a:xfrm>
            <a:off x="6455664" y="3611880"/>
            <a:ext cx="685800" cy="685800"/>
          </a:xfrm>
          <a:prstGeom prst="ellipse">
            <a:avLst/>
          </a:prstGeom>
          <a:solidFill>
            <a:schemeClr val="accent6"/>
          </a:solidFill>
          <a:ln w="12700">
            <a:solidFill>
              <a:schemeClr val="accent6"/>
            </a:solidFill>
            <a:prstDash val="solid"/>
          </a:ln>
        </p:spPr>
      </p:sp>
      <p:pic>
        <p:nvPicPr>
          <p:cNvPr id="19" name="icon-1551" descr="preencoded.png"/>
          <p:cNvPicPr>
            <a:picLocks noChangeAspect="1"/>
          </p:cNvPicPr>
          <p:nvPr/>
        </p:nvPicPr>
        <p:blipFill>
          <a:blip r:embed="rId5"/>
          <a:stretch>
            <a:fillRect/>
          </a:stretch>
        </p:blipFill>
        <p:spPr>
          <a:xfrm>
            <a:off x="6627114" y="3783330"/>
            <a:ext cx="342900" cy="342900"/>
          </a:xfrm>
          <a:prstGeom prst="rect">
            <a:avLst/>
          </a:prstGeom>
        </p:spPr>
      </p:pic>
      <p:sp>
        <p:nvSpPr>
          <p:cNvPr id="20" name="txt-1552"/>
          <p:cNvSpPr txBox="1"/>
          <p:nvPr/>
        </p:nvSpPr>
        <p:spPr>
          <a:xfrm>
            <a:off x="6455664" y="4434840"/>
            <a:ext cx="2148840" cy="411480"/>
          </a:xfrm>
          <a:prstGeom prst="rect">
            <a:avLst/>
          </a:prstGeom>
          <a:noFill/>
          <a:ln/>
        </p:spPr>
        <p:txBody>
          <a:bodyPr wrap="square" lIns="0" tIns="0" rIns="0" bIns="0" rtlCol="0" anchor="t"/>
          <a:lstStyle/>
          <a:p>
            <a:pPr marL="0" indent="0">
              <a:buNone/>
            </a:pPr>
            <a:r>
              <a:rPr lang="en-US" sz="1600" b="1" dirty="0">
                <a:solidFill>
                  <a:schemeClr val="tx2"/>
                </a:solidFill>
              </a:rPr>
              <a:t>Des outils</a:t>
            </a:r>
            <a:endParaRPr lang="en-US" sz="1600" dirty="0"/>
          </a:p>
        </p:txBody>
      </p:sp>
      <p:sp>
        <p:nvSpPr>
          <p:cNvPr id="21" name="txt-1553"/>
          <p:cNvSpPr txBox="1"/>
          <p:nvPr/>
        </p:nvSpPr>
        <p:spPr>
          <a:xfrm>
            <a:off x="6455664" y="4846320"/>
            <a:ext cx="2148840" cy="1005840"/>
          </a:xfrm>
          <a:prstGeom prst="rect">
            <a:avLst/>
          </a:prstGeom>
          <a:noFill/>
          <a:ln/>
        </p:spPr>
        <p:txBody>
          <a:bodyPr wrap="square" lIns="0" tIns="0" rIns="0" bIns="0" rtlCol="0" anchor="t"/>
          <a:lstStyle/>
          <a:p>
            <a:pPr marL="0" indent="0">
              <a:buNone/>
            </a:pPr>
            <a:r>
              <a:rPr lang="en-US" sz="1200" dirty="0">
                <a:solidFill>
                  <a:schemeClr val="tx1"/>
                </a:solidFill>
              </a:rPr>
              <a:t>Recherche web, lecture de PDF, code, navigateur</a:t>
            </a:r>
            <a:endParaRPr lang="en-US" sz="1200" dirty="0"/>
          </a:p>
        </p:txBody>
      </p:sp>
      <p:sp>
        <p:nvSpPr>
          <p:cNvPr id="22" name="card-1554"/>
          <p:cNvSpPr/>
          <p:nvPr/>
        </p:nvSpPr>
        <p:spPr>
          <a:xfrm>
            <a:off x="8997696" y="3383280"/>
            <a:ext cx="2606040" cy="2560320"/>
          </a:xfrm>
          <a:prstGeom prst="roundRect">
            <a:avLst>
              <a:gd name="adj" fmla="val 2857"/>
            </a:avLst>
          </a:prstGeom>
          <a:solidFill>
            <a:schemeClr val="bg2"/>
          </a:solidFill>
          <a:ln w="6350">
            <a:solidFill>
              <a:schemeClr val="bg2"/>
            </a:solidFill>
            <a:prstDash val="solid"/>
          </a:ln>
        </p:spPr>
      </p:sp>
      <p:sp>
        <p:nvSpPr>
          <p:cNvPr id="23" name="circle-1555"/>
          <p:cNvSpPr/>
          <p:nvPr/>
        </p:nvSpPr>
        <p:spPr>
          <a:xfrm>
            <a:off x="9272016" y="3611880"/>
            <a:ext cx="685800" cy="685800"/>
          </a:xfrm>
          <a:prstGeom prst="ellipse">
            <a:avLst/>
          </a:prstGeom>
          <a:solidFill>
            <a:schemeClr val="accent6"/>
          </a:solidFill>
          <a:ln w="12700">
            <a:solidFill>
              <a:schemeClr val="accent6"/>
            </a:solidFill>
            <a:prstDash val="solid"/>
          </a:ln>
        </p:spPr>
      </p:sp>
      <p:pic>
        <p:nvPicPr>
          <p:cNvPr id="24" name="icon-1556" descr="preencoded.png"/>
          <p:cNvPicPr>
            <a:picLocks noChangeAspect="1"/>
          </p:cNvPicPr>
          <p:nvPr/>
        </p:nvPicPr>
        <p:blipFill>
          <a:blip r:embed="rId6"/>
          <a:stretch>
            <a:fillRect/>
          </a:stretch>
        </p:blipFill>
        <p:spPr>
          <a:xfrm>
            <a:off x="9443466" y="3783330"/>
            <a:ext cx="342900" cy="342900"/>
          </a:xfrm>
          <a:prstGeom prst="rect">
            <a:avLst/>
          </a:prstGeom>
        </p:spPr>
      </p:pic>
      <p:sp>
        <p:nvSpPr>
          <p:cNvPr id="25" name="txt-1557"/>
          <p:cNvSpPr txBox="1"/>
          <p:nvPr/>
        </p:nvSpPr>
        <p:spPr>
          <a:xfrm>
            <a:off x="9272016" y="4434840"/>
            <a:ext cx="2148840" cy="411480"/>
          </a:xfrm>
          <a:prstGeom prst="rect">
            <a:avLst/>
          </a:prstGeom>
          <a:noFill/>
          <a:ln/>
        </p:spPr>
        <p:txBody>
          <a:bodyPr wrap="square" lIns="0" tIns="0" rIns="0" bIns="0" rtlCol="0" anchor="t"/>
          <a:lstStyle/>
          <a:p>
            <a:pPr marL="0" indent="0">
              <a:buNone/>
            </a:pPr>
            <a:r>
              <a:rPr lang="en-US" sz="1600" b="1" dirty="0">
                <a:solidFill>
                  <a:schemeClr val="tx2"/>
                </a:solidFill>
              </a:rPr>
              <a:t>Une boucle</a:t>
            </a:r>
            <a:endParaRPr lang="en-US" sz="1600" dirty="0"/>
          </a:p>
        </p:txBody>
      </p:sp>
      <p:sp>
        <p:nvSpPr>
          <p:cNvPr id="26" name="txt-1558"/>
          <p:cNvSpPr txBox="1"/>
          <p:nvPr/>
        </p:nvSpPr>
        <p:spPr>
          <a:xfrm>
            <a:off x="9272016" y="4846320"/>
            <a:ext cx="2148840" cy="1005840"/>
          </a:xfrm>
          <a:prstGeom prst="rect">
            <a:avLst/>
          </a:prstGeom>
          <a:noFill/>
          <a:ln/>
        </p:spPr>
        <p:txBody>
          <a:bodyPr wrap="square" lIns="0" tIns="0" rIns="0" bIns="0" rtlCol="0" anchor="t"/>
          <a:lstStyle/>
          <a:p>
            <a:pPr marL="0" indent="0">
              <a:buNone/>
            </a:pPr>
            <a:r>
              <a:rPr lang="en-US" sz="1200" dirty="0">
                <a:solidFill>
                  <a:schemeClr val="tx1"/>
                </a:solidFill>
              </a:rPr>
              <a:t>Il observe le résultat de chaque action et s'ajuste</a:t>
            </a:r>
            <a:endParaRPr lang="en-US" sz="1200" dirty="0"/>
          </a:p>
        </p:txBody>
      </p:sp>
      <p:sp>
        <p:nvSpPr>
          <p:cNvPr id="27" name="Slide Number Placeholder 0"/>
          <p:cNvSpPr>
            <a:spLocks noGrp="1"/>
          </p:cNvSpPr>
          <p:nvPr>
            <p:ph type="sldNum" sz="quarter" idx="4294967295"/>
          </p:nvPr>
        </p:nvSpPr>
        <p:spPr>
          <a:xfrm>
            <a:off x="11064240" y="6400800"/>
            <a:ext cx="54864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C82"/>
                </a:solidFill>
                <a:latin typeface="Poppins"/>
                <a:ea typeface="Poppins"/>
                <a:cs typeface="Poppins"/>
              </a:defRPr>
            </a:lvl1pPr>
          </a:lstStyle>
          <a:p>
            <a:pPr algn="r"/>
            <a:fld id="{F7021451-1387-4CA6-816F-3879F97B5CBC}" type="slidenum">
              <a:rPr lang="en-US" b="0"/>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566928"/>
            <a:ext cx="11064240" cy="777240"/>
          </a:xfrm>
          <a:prstGeom prst="rect">
            <a:avLst/>
          </a:prstGeom>
          <a:noFill/>
          <a:ln/>
        </p:spPr>
        <p:txBody>
          <a:bodyPr wrap="square" lIns="0" tIns="0" rIns="0" bIns="0" rtlCol="0" anchor="ctr"/>
          <a:lstStyle/>
          <a:p>
            <a:pPr marL="0" indent="0" algn="l">
              <a:buNone/>
            </a:pPr>
            <a:r>
              <a:rPr lang="en-US" sz="2700" b="1" dirty="0">
                <a:solidFill>
                  <a:schemeClr val="tx2"/>
                </a:solidFill>
                <a:latin typeface="Poppins" pitchFamily="34" charset="0"/>
                <a:ea typeface="Poppins" pitchFamily="34" charset="-122"/>
                <a:cs typeface="Poppins" pitchFamily="34" charset="-120"/>
              </a:rPr>
              <a:t>Le user flow agentique : une boucle, pas une réponse</a:t>
            </a:r>
            <a:endParaRPr lang="en-US" sz="2700" dirty="0"/>
          </a:p>
        </p:txBody>
      </p:sp>
      <p:sp>
        <p:nvSpPr>
          <p:cNvPr id="3" name="Text 0"/>
          <p:cNvSpPr>
            <a:spLocks noGrp="1"/>
          </p:cNvSpPr>
          <p:nvPr>
            <p:ph type="body" idx="101" hasCustomPrompt="1"/>
          </p:nvPr>
        </p:nvSpPr>
        <p:spPr>
          <a:xfrm>
            <a:off x="548640" y="256032"/>
            <a:ext cx="8229600" cy="292608"/>
          </a:xfrm>
          <a:prstGeom prst="rect">
            <a:avLst/>
          </a:prstGeom>
          <a:noFill/>
          <a:ln/>
        </p:spPr>
        <p:txBody>
          <a:bodyPr wrap="square" lIns="0" tIns="0" rIns="0" bIns="0" rtlCol="0" anchor="ctr"/>
          <a:lstStyle/>
          <a:p>
            <a:pPr marL="0" indent="0">
              <a:buNone/>
            </a:pPr>
            <a:r>
              <a:rPr lang="en-US" sz="1100" b="1" dirty="0">
                <a:solidFill>
                  <a:schemeClr val="accent1"/>
                </a:solidFill>
                <a:latin typeface="Poppins" pitchFamily="34" charset="0"/>
                <a:ea typeface="Poppins" pitchFamily="34" charset="-122"/>
                <a:cs typeface="Poppins" pitchFamily="34" charset="-120"/>
              </a:rPr>
              <a:t>T5 · IA AGENTIQUE</a:t>
            </a:r>
            <a:endParaRPr lang="en-US" sz="1100" dirty="0"/>
          </a:p>
        </p:txBody>
      </p:sp>
      <p:sp>
        <p:nvSpPr>
          <p:cNvPr id="4" name="card-1559"/>
          <p:cNvSpPr/>
          <p:nvPr/>
        </p:nvSpPr>
        <p:spPr>
          <a:xfrm>
            <a:off x="548640" y="2011680"/>
            <a:ext cx="1737360" cy="1737360"/>
          </a:xfrm>
          <a:prstGeom prst="roundRect">
            <a:avLst>
              <a:gd name="adj" fmla="val 4211"/>
            </a:avLst>
          </a:prstGeom>
          <a:solidFill>
            <a:schemeClr val="accent1"/>
          </a:solidFill>
          <a:ln w="6350">
            <a:solidFill>
              <a:schemeClr val="accent1"/>
            </a:solidFill>
            <a:prstDash val="solid"/>
          </a:ln>
        </p:spPr>
      </p:sp>
      <p:sp>
        <p:nvSpPr>
          <p:cNvPr id="5" name="txt-1560"/>
          <p:cNvSpPr txBox="1"/>
          <p:nvPr/>
        </p:nvSpPr>
        <p:spPr>
          <a:xfrm>
            <a:off x="548640" y="2011680"/>
            <a:ext cx="1737360" cy="1737360"/>
          </a:xfrm>
          <a:prstGeom prst="rect">
            <a:avLst/>
          </a:prstGeom>
          <a:noFill/>
          <a:ln/>
        </p:spPr>
        <p:txBody>
          <a:bodyPr wrap="square" lIns="0" tIns="0" rIns="0" bIns="0" rtlCol="0" anchor="ctr"/>
          <a:lstStyle/>
          <a:p>
            <a:pPr marL="0" indent="0" algn="ctr">
              <a:buNone/>
            </a:pPr>
            <a:r>
              <a:rPr lang="en-US" sz="1300" b="1" dirty="0">
                <a:solidFill>
                  <a:schemeClr val="tx2"/>
                </a:solidFill>
              </a:rPr>
              <a:t>Votre objectif</a:t>
            </a:r>
            <a:endParaRPr lang="en-US" sz="1300" dirty="0"/>
          </a:p>
          <a:p>
            <a:pPr marL="0" indent="0" algn="ctr">
              <a:buNone/>
            </a:pPr>
            <a:r>
              <a:rPr lang="en-US" sz="1100" dirty="0">
                <a:solidFill>
                  <a:schemeClr val="tx2"/>
                </a:solidFill>
              </a:rPr>
              <a:t>formulé par vous</a:t>
            </a:r>
            <a:endParaRPr lang="en-US" sz="1300" dirty="0"/>
          </a:p>
        </p:txBody>
      </p:sp>
      <p:sp>
        <p:nvSpPr>
          <p:cNvPr id="6" name="arrow-1561"/>
          <p:cNvSpPr/>
          <p:nvPr/>
        </p:nvSpPr>
        <p:spPr>
          <a:xfrm>
            <a:off x="2331720" y="2880360"/>
            <a:ext cx="365760" cy="0"/>
          </a:xfrm>
          <a:prstGeom prst="line">
            <a:avLst/>
          </a:prstGeom>
          <a:noFill/>
          <a:ln w="22225">
            <a:solidFill>
              <a:srgbClr val="6B7C82"/>
            </a:solidFill>
            <a:prstDash val="solid"/>
            <a:tailEnd type="triangle"/>
          </a:ln>
        </p:spPr>
      </p:sp>
      <p:sp>
        <p:nvSpPr>
          <p:cNvPr id="7" name="card-1562"/>
          <p:cNvSpPr/>
          <p:nvPr/>
        </p:nvSpPr>
        <p:spPr>
          <a:xfrm>
            <a:off x="2743200" y="1600200"/>
            <a:ext cx="5989320" cy="2926080"/>
          </a:xfrm>
          <a:prstGeom prst="roundRect">
            <a:avLst>
              <a:gd name="adj" fmla="val 2500"/>
            </a:avLst>
          </a:prstGeom>
          <a:solidFill>
            <a:schemeClr val="bg2"/>
          </a:solidFill>
          <a:ln w="6350">
            <a:solidFill>
              <a:schemeClr val="bg2"/>
            </a:solidFill>
            <a:prstDash val="solid"/>
          </a:ln>
        </p:spPr>
      </p:sp>
      <p:sp>
        <p:nvSpPr>
          <p:cNvPr id="8" name="txt-1563"/>
          <p:cNvSpPr txBox="1"/>
          <p:nvPr/>
        </p:nvSpPr>
        <p:spPr>
          <a:xfrm>
            <a:off x="2926080" y="1691640"/>
            <a:ext cx="5669280" cy="292608"/>
          </a:xfrm>
          <a:prstGeom prst="rect">
            <a:avLst/>
          </a:prstGeom>
          <a:noFill/>
          <a:ln/>
        </p:spPr>
        <p:txBody>
          <a:bodyPr wrap="square" lIns="0" tIns="0" rIns="0" bIns="0" rtlCol="0" anchor="t"/>
          <a:lstStyle/>
          <a:p>
            <a:pPr marL="0" indent="0">
              <a:buNone/>
            </a:pPr>
            <a:r>
              <a:rPr lang="en-US" sz="1200" b="1" dirty="0">
                <a:solidFill>
                  <a:schemeClr val="accent6"/>
                </a:solidFill>
              </a:rPr>
              <a:t>La boucle de l'agent (répétée plusieurs fois)</a:t>
            </a:r>
            <a:endParaRPr lang="en-US" sz="1200" dirty="0"/>
          </a:p>
        </p:txBody>
      </p:sp>
      <p:sp>
        <p:nvSpPr>
          <p:cNvPr id="9" name="circle-1564"/>
          <p:cNvSpPr/>
          <p:nvPr/>
        </p:nvSpPr>
        <p:spPr>
          <a:xfrm>
            <a:off x="3200400" y="2194560"/>
            <a:ext cx="731520" cy="731520"/>
          </a:xfrm>
          <a:prstGeom prst="ellipse">
            <a:avLst/>
          </a:prstGeom>
          <a:solidFill>
            <a:schemeClr val="accent6"/>
          </a:solidFill>
          <a:ln w="12700">
            <a:solidFill>
              <a:schemeClr val="accent6"/>
            </a:solidFill>
            <a:prstDash val="solid"/>
          </a:ln>
        </p:spPr>
      </p:sp>
      <p:pic>
        <p:nvPicPr>
          <p:cNvPr id="10" name="icon-1565" descr="preencoded.png"/>
          <p:cNvPicPr>
            <a:picLocks noChangeAspect="1"/>
          </p:cNvPicPr>
          <p:nvPr/>
        </p:nvPicPr>
        <p:blipFill>
          <a:blip r:embed="rId3"/>
          <a:stretch>
            <a:fillRect/>
          </a:stretch>
        </p:blipFill>
        <p:spPr>
          <a:xfrm>
            <a:off x="3383280" y="2377440"/>
            <a:ext cx="365760" cy="365760"/>
          </a:xfrm>
          <a:prstGeom prst="rect">
            <a:avLst/>
          </a:prstGeom>
        </p:spPr>
      </p:pic>
      <p:sp>
        <p:nvSpPr>
          <p:cNvPr id="11" name="txt-1566"/>
          <p:cNvSpPr txBox="1"/>
          <p:nvPr/>
        </p:nvSpPr>
        <p:spPr>
          <a:xfrm>
            <a:off x="2971800" y="3017520"/>
            <a:ext cx="1188720" cy="365760"/>
          </a:xfrm>
          <a:prstGeom prst="rect">
            <a:avLst/>
          </a:prstGeom>
          <a:noFill/>
          <a:ln/>
        </p:spPr>
        <p:txBody>
          <a:bodyPr wrap="square" lIns="0" tIns="0" rIns="0" bIns="0" rtlCol="0" anchor="t"/>
          <a:lstStyle/>
          <a:p>
            <a:pPr marL="0" indent="0" algn="ctr">
              <a:buNone/>
            </a:pPr>
            <a:r>
              <a:rPr lang="en-US" sz="1300" b="1" dirty="0">
                <a:solidFill>
                  <a:schemeClr val="tx2"/>
                </a:solidFill>
              </a:rPr>
              <a:t>Planifier</a:t>
            </a:r>
            <a:endParaRPr lang="en-US" sz="1300" dirty="0"/>
          </a:p>
        </p:txBody>
      </p:sp>
      <p:sp>
        <p:nvSpPr>
          <p:cNvPr id="12" name="arrow-1567"/>
          <p:cNvSpPr/>
          <p:nvPr/>
        </p:nvSpPr>
        <p:spPr>
          <a:xfrm>
            <a:off x="3995928" y="2560320"/>
            <a:ext cx="384048" cy="0"/>
          </a:xfrm>
          <a:prstGeom prst="line">
            <a:avLst/>
          </a:prstGeom>
          <a:noFill/>
          <a:ln w="22225">
            <a:solidFill>
              <a:srgbClr val="6B7C82"/>
            </a:solidFill>
            <a:prstDash val="solid"/>
            <a:tailEnd type="triangle"/>
          </a:ln>
        </p:spPr>
      </p:sp>
      <p:sp>
        <p:nvSpPr>
          <p:cNvPr id="13" name="circle-1568"/>
          <p:cNvSpPr/>
          <p:nvPr/>
        </p:nvSpPr>
        <p:spPr>
          <a:xfrm>
            <a:off x="4663440" y="2194560"/>
            <a:ext cx="731520" cy="731520"/>
          </a:xfrm>
          <a:prstGeom prst="ellipse">
            <a:avLst/>
          </a:prstGeom>
          <a:solidFill>
            <a:schemeClr val="accent6"/>
          </a:solidFill>
          <a:ln w="12700">
            <a:solidFill>
              <a:schemeClr val="accent6"/>
            </a:solidFill>
            <a:prstDash val="solid"/>
          </a:ln>
        </p:spPr>
      </p:sp>
      <p:pic>
        <p:nvPicPr>
          <p:cNvPr id="14" name="icon-1569" descr="preencoded.png"/>
          <p:cNvPicPr>
            <a:picLocks noChangeAspect="1"/>
          </p:cNvPicPr>
          <p:nvPr/>
        </p:nvPicPr>
        <p:blipFill>
          <a:blip r:embed="rId4"/>
          <a:stretch>
            <a:fillRect/>
          </a:stretch>
        </p:blipFill>
        <p:spPr>
          <a:xfrm>
            <a:off x="4846320" y="2377440"/>
            <a:ext cx="365760" cy="365760"/>
          </a:xfrm>
          <a:prstGeom prst="rect">
            <a:avLst/>
          </a:prstGeom>
        </p:spPr>
      </p:pic>
      <p:sp>
        <p:nvSpPr>
          <p:cNvPr id="15" name="txt-1570"/>
          <p:cNvSpPr txBox="1"/>
          <p:nvPr/>
        </p:nvSpPr>
        <p:spPr>
          <a:xfrm>
            <a:off x="4434840" y="3017520"/>
            <a:ext cx="1188720" cy="365760"/>
          </a:xfrm>
          <a:prstGeom prst="rect">
            <a:avLst/>
          </a:prstGeom>
          <a:noFill/>
          <a:ln/>
        </p:spPr>
        <p:txBody>
          <a:bodyPr wrap="square" lIns="0" tIns="0" rIns="0" bIns="0" rtlCol="0" anchor="t"/>
          <a:lstStyle/>
          <a:p>
            <a:pPr marL="0" indent="0" algn="ctr">
              <a:buNone/>
            </a:pPr>
            <a:r>
              <a:rPr lang="en-US" sz="1300" b="1" dirty="0">
                <a:solidFill>
                  <a:schemeClr val="tx2"/>
                </a:solidFill>
              </a:rPr>
              <a:t>Agir</a:t>
            </a:r>
            <a:endParaRPr lang="en-US" sz="1300" dirty="0"/>
          </a:p>
        </p:txBody>
      </p:sp>
      <p:sp>
        <p:nvSpPr>
          <p:cNvPr id="16" name="arrow-1571"/>
          <p:cNvSpPr/>
          <p:nvPr/>
        </p:nvSpPr>
        <p:spPr>
          <a:xfrm>
            <a:off x="5458968" y="2560320"/>
            <a:ext cx="384048" cy="0"/>
          </a:xfrm>
          <a:prstGeom prst="line">
            <a:avLst/>
          </a:prstGeom>
          <a:noFill/>
          <a:ln w="22225">
            <a:solidFill>
              <a:srgbClr val="6B7C82"/>
            </a:solidFill>
            <a:prstDash val="solid"/>
            <a:tailEnd type="triangle"/>
          </a:ln>
        </p:spPr>
      </p:sp>
      <p:sp>
        <p:nvSpPr>
          <p:cNvPr id="17" name="circle-1572"/>
          <p:cNvSpPr/>
          <p:nvPr/>
        </p:nvSpPr>
        <p:spPr>
          <a:xfrm>
            <a:off x="6126480" y="2194560"/>
            <a:ext cx="731520" cy="731520"/>
          </a:xfrm>
          <a:prstGeom prst="ellipse">
            <a:avLst/>
          </a:prstGeom>
          <a:solidFill>
            <a:schemeClr val="accent6"/>
          </a:solidFill>
          <a:ln w="12700">
            <a:solidFill>
              <a:schemeClr val="accent6"/>
            </a:solidFill>
            <a:prstDash val="solid"/>
          </a:ln>
        </p:spPr>
      </p:sp>
      <p:pic>
        <p:nvPicPr>
          <p:cNvPr id="18" name="icon-1573" descr="preencoded.png"/>
          <p:cNvPicPr>
            <a:picLocks noChangeAspect="1"/>
          </p:cNvPicPr>
          <p:nvPr/>
        </p:nvPicPr>
        <p:blipFill>
          <a:blip r:embed="rId5"/>
          <a:stretch>
            <a:fillRect/>
          </a:stretch>
        </p:blipFill>
        <p:spPr>
          <a:xfrm>
            <a:off x="6309360" y="2377440"/>
            <a:ext cx="365760" cy="365760"/>
          </a:xfrm>
          <a:prstGeom prst="rect">
            <a:avLst/>
          </a:prstGeom>
        </p:spPr>
      </p:pic>
      <p:sp>
        <p:nvSpPr>
          <p:cNvPr id="19" name="txt-1574"/>
          <p:cNvSpPr txBox="1"/>
          <p:nvPr/>
        </p:nvSpPr>
        <p:spPr>
          <a:xfrm>
            <a:off x="5897880" y="3017520"/>
            <a:ext cx="1188720" cy="365760"/>
          </a:xfrm>
          <a:prstGeom prst="rect">
            <a:avLst/>
          </a:prstGeom>
          <a:noFill/>
          <a:ln/>
        </p:spPr>
        <p:txBody>
          <a:bodyPr wrap="square" lIns="0" tIns="0" rIns="0" bIns="0" rtlCol="0" anchor="t"/>
          <a:lstStyle/>
          <a:p>
            <a:pPr marL="0" indent="0" algn="ctr">
              <a:buNone/>
            </a:pPr>
            <a:r>
              <a:rPr lang="en-US" sz="1300" b="1" dirty="0">
                <a:solidFill>
                  <a:schemeClr val="tx2"/>
                </a:solidFill>
              </a:rPr>
              <a:t>Observer</a:t>
            </a:r>
            <a:endParaRPr lang="en-US" sz="1300" dirty="0"/>
          </a:p>
        </p:txBody>
      </p:sp>
      <p:sp>
        <p:nvSpPr>
          <p:cNvPr id="20" name="arrow-1575"/>
          <p:cNvSpPr/>
          <p:nvPr/>
        </p:nvSpPr>
        <p:spPr>
          <a:xfrm>
            <a:off x="6922008" y="2560320"/>
            <a:ext cx="384048" cy="0"/>
          </a:xfrm>
          <a:prstGeom prst="line">
            <a:avLst/>
          </a:prstGeom>
          <a:noFill/>
          <a:ln w="22225">
            <a:solidFill>
              <a:srgbClr val="6B7C82"/>
            </a:solidFill>
            <a:prstDash val="solid"/>
            <a:tailEnd type="triangle"/>
          </a:ln>
        </p:spPr>
      </p:sp>
      <p:sp>
        <p:nvSpPr>
          <p:cNvPr id="21" name="circle-1576"/>
          <p:cNvSpPr/>
          <p:nvPr/>
        </p:nvSpPr>
        <p:spPr>
          <a:xfrm>
            <a:off x="7589520" y="2194560"/>
            <a:ext cx="731520" cy="731520"/>
          </a:xfrm>
          <a:prstGeom prst="ellipse">
            <a:avLst/>
          </a:prstGeom>
          <a:solidFill>
            <a:schemeClr val="accent6"/>
          </a:solidFill>
          <a:ln w="12700">
            <a:solidFill>
              <a:schemeClr val="accent6"/>
            </a:solidFill>
            <a:prstDash val="solid"/>
          </a:ln>
        </p:spPr>
      </p:sp>
      <p:pic>
        <p:nvPicPr>
          <p:cNvPr id="22" name="icon-1577" descr="preencoded.png"/>
          <p:cNvPicPr>
            <a:picLocks noChangeAspect="1"/>
          </p:cNvPicPr>
          <p:nvPr/>
        </p:nvPicPr>
        <p:blipFill>
          <a:blip r:embed="rId6"/>
          <a:stretch>
            <a:fillRect/>
          </a:stretch>
        </p:blipFill>
        <p:spPr>
          <a:xfrm>
            <a:off x="7772400" y="2377440"/>
            <a:ext cx="365760" cy="365760"/>
          </a:xfrm>
          <a:prstGeom prst="rect">
            <a:avLst/>
          </a:prstGeom>
        </p:spPr>
      </p:pic>
      <p:sp>
        <p:nvSpPr>
          <p:cNvPr id="23" name="txt-1578"/>
          <p:cNvSpPr txBox="1"/>
          <p:nvPr/>
        </p:nvSpPr>
        <p:spPr>
          <a:xfrm>
            <a:off x="7360920" y="3017520"/>
            <a:ext cx="1188720" cy="365760"/>
          </a:xfrm>
          <a:prstGeom prst="rect">
            <a:avLst/>
          </a:prstGeom>
          <a:noFill/>
          <a:ln/>
        </p:spPr>
        <p:txBody>
          <a:bodyPr wrap="square" lIns="0" tIns="0" rIns="0" bIns="0" rtlCol="0" anchor="t"/>
          <a:lstStyle/>
          <a:p>
            <a:pPr marL="0" indent="0" algn="ctr">
              <a:buNone/>
            </a:pPr>
            <a:r>
              <a:rPr lang="en-US" sz="1300" b="1" dirty="0">
                <a:solidFill>
                  <a:schemeClr val="tx2"/>
                </a:solidFill>
              </a:rPr>
              <a:t>Ajuster</a:t>
            </a:r>
            <a:endParaRPr lang="en-US" sz="1300" dirty="0"/>
          </a:p>
        </p:txBody>
      </p:sp>
      <p:sp>
        <p:nvSpPr>
          <p:cNvPr id="24" name="loopback-1579"/>
          <p:cNvSpPr/>
          <p:nvPr/>
        </p:nvSpPr>
        <p:spPr>
          <a:xfrm>
            <a:off x="3429000" y="3840480"/>
            <a:ext cx="4389120" cy="0"/>
          </a:xfrm>
          <a:prstGeom prst="line">
            <a:avLst/>
          </a:prstGeom>
          <a:noFill/>
          <a:ln w="22225">
            <a:solidFill>
              <a:srgbClr val="0E8C8C"/>
            </a:solidFill>
            <a:prstDash val="dash"/>
            <a:headEnd type="triangle"/>
          </a:ln>
        </p:spPr>
      </p:sp>
      <p:sp>
        <p:nvSpPr>
          <p:cNvPr id="25" name="txt-1580"/>
          <p:cNvSpPr txBox="1"/>
          <p:nvPr/>
        </p:nvSpPr>
        <p:spPr>
          <a:xfrm>
            <a:off x="3657600" y="3931920"/>
            <a:ext cx="3931920" cy="274320"/>
          </a:xfrm>
          <a:prstGeom prst="rect">
            <a:avLst/>
          </a:prstGeom>
          <a:noFill/>
          <a:ln/>
        </p:spPr>
        <p:txBody>
          <a:bodyPr wrap="square" lIns="0" tIns="0" rIns="0" bIns="0" rtlCol="0" anchor="t"/>
          <a:lstStyle/>
          <a:p>
            <a:pPr marL="0" indent="0" algn="ctr">
              <a:buNone/>
            </a:pPr>
            <a:r>
              <a:rPr lang="en-US" sz="1100" i="1" dirty="0">
                <a:solidFill>
                  <a:schemeClr val="accent6"/>
                </a:solidFill>
              </a:rPr>
              <a:t>tant que l'objectif n'est pas atteint</a:t>
            </a:r>
            <a:endParaRPr lang="en-US" sz="1100" dirty="0"/>
          </a:p>
        </p:txBody>
      </p:sp>
      <p:sp>
        <p:nvSpPr>
          <p:cNvPr id="26" name="arrow-1581"/>
          <p:cNvSpPr/>
          <p:nvPr/>
        </p:nvSpPr>
        <p:spPr>
          <a:xfrm>
            <a:off x="8778240" y="2880360"/>
            <a:ext cx="365760" cy="0"/>
          </a:xfrm>
          <a:prstGeom prst="line">
            <a:avLst/>
          </a:prstGeom>
          <a:noFill/>
          <a:ln w="22225">
            <a:solidFill>
              <a:srgbClr val="6B7C82"/>
            </a:solidFill>
            <a:prstDash val="solid"/>
            <a:tailEnd type="triangle"/>
          </a:ln>
        </p:spPr>
      </p:sp>
      <p:sp>
        <p:nvSpPr>
          <p:cNvPr id="27" name="card-1582"/>
          <p:cNvSpPr/>
          <p:nvPr/>
        </p:nvSpPr>
        <p:spPr>
          <a:xfrm>
            <a:off x="9189720" y="1600200"/>
            <a:ext cx="2423160" cy="1325880"/>
          </a:xfrm>
          <a:prstGeom prst="roundRect">
            <a:avLst>
              <a:gd name="adj" fmla="val 5517"/>
            </a:avLst>
          </a:prstGeom>
          <a:solidFill>
            <a:schemeClr val="tx2"/>
          </a:solidFill>
          <a:ln w="6350">
            <a:solidFill>
              <a:schemeClr val="tx2"/>
            </a:solidFill>
            <a:prstDash val="solid"/>
          </a:ln>
        </p:spPr>
      </p:sp>
      <p:sp>
        <p:nvSpPr>
          <p:cNvPr id="28" name="txt-1583"/>
          <p:cNvSpPr txBox="1"/>
          <p:nvPr/>
        </p:nvSpPr>
        <p:spPr>
          <a:xfrm>
            <a:off x="9326880" y="1645920"/>
            <a:ext cx="2194560" cy="1234440"/>
          </a:xfrm>
          <a:prstGeom prst="rect">
            <a:avLst/>
          </a:prstGeom>
          <a:noFill/>
          <a:ln/>
        </p:spPr>
        <p:txBody>
          <a:bodyPr wrap="square" lIns="0" tIns="0" rIns="0" bIns="0" rtlCol="0" anchor="ctr"/>
          <a:lstStyle/>
          <a:p>
            <a:pPr marL="0" indent="0">
              <a:buNone/>
            </a:pPr>
            <a:r>
              <a:rPr lang="en-US" sz="1300" b="1" dirty="0">
                <a:solidFill>
                  <a:schemeClr val="accent1"/>
                </a:solidFill>
              </a:rPr>
              <a:t>Livrable</a:t>
            </a:r>
            <a:endParaRPr lang="en-US" sz="1300" dirty="0"/>
          </a:p>
          <a:p>
            <a:pPr marL="0" indent="0">
              <a:buNone/>
            </a:pPr>
            <a:r>
              <a:rPr lang="en-US" sz="1300" dirty="0">
                <a:solidFill>
                  <a:schemeClr val="bg1"/>
                </a:solidFill>
              </a:rPr>
              <a:t>Rapport, tableau, brouillon…</a:t>
            </a:r>
            <a:endParaRPr lang="en-US" sz="1300" dirty="0"/>
          </a:p>
        </p:txBody>
      </p:sp>
      <p:sp>
        <p:nvSpPr>
          <p:cNvPr id="29" name="card-1584"/>
          <p:cNvSpPr/>
          <p:nvPr/>
        </p:nvSpPr>
        <p:spPr>
          <a:xfrm>
            <a:off x="9189720" y="3200400"/>
            <a:ext cx="2423160" cy="1325880"/>
          </a:xfrm>
          <a:prstGeom prst="roundRect">
            <a:avLst>
              <a:gd name="adj" fmla="val 5517"/>
            </a:avLst>
          </a:prstGeom>
          <a:solidFill>
            <a:schemeClr val="accent2"/>
          </a:solidFill>
          <a:ln w="6350">
            <a:solidFill>
              <a:schemeClr val="accent2"/>
            </a:solidFill>
            <a:prstDash val="solid"/>
          </a:ln>
        </p:spPr>
      </p:sp>
      <p:sp>
        <p:nvSpPr>
          <p:cNvPr id="30" name="txt-1585"/>
          <p:cNvSpPr txBox="1"/>
          <p:nvPr/>
        </p:nvSpPr>
        <p:spPr>
          <a:xfrm>
            <a:off x="9326880" y="3246120"/>
            <a:ext cx="2194560" cy="1234440"/>
          </a:xfrm>
          <a:prstGeom prst="rect">
            <a:avLst/>
          </a:prstGeom>
          <a:noFill/>
          <a:ln/>
        </p:spPr>
        <p:txBody>
          <a:bodyPr wrap="square" lIns="0" tIns="0" rIns="0" bIns="0" rtlCol="0" anchor="ctr"/>
          <a:lstStyle/>
          <a:p>
            <a:pPr marL="0" indent="0">
              <a:buNone/>
            </a:pPr>
            <a:r>
              <a:rPr lang="en-US" sz="1300" b="1" dirty="0">
                <a:solidFill>
                  <a:schemeClr val="bg1"/>
                </a:solidFill>
              </a:rPr>
              <a:t>Vous validez</a:t>
            </a:r>
            <a:endParaRPr lang="en-US" sz="1300" dirty="0"/>
          </a:p>
          <a:p>
            <a:pPr marL="0" indent="0">
              <a:buNone/>
            </a:pPr>
            <a:r>
              <a:rPr lang="en-US" sz="1300" dirty="0">
                <a:solidFill>
                  <a:schemeClr val="bg1"/>
                </a:solidFill>
              </a:rPr>
              <a:t>Sources, étapes, conclusions</a:t>
            </a:r>
            <a:endParaRPr lang="en-US" sz="1300" dirty="0"/>
          </a:p>
        </p:txBody>
      </p:sp>
      <p:sp>
        <p:nvSpPr>
          <p:cNvPr id="31" name="card-1586"/>
          <p:cNvSpPr/>
          <p:nvPr/>
        </p:nvSpPr>
        <p:spPr>
          <a:xfrm>
            <a:off x="548640" y="4800600"/>
            <a:ext cx="11064240" cy="1143000"/>
          </a:xfrm>
          <a:prstGeom prst="roundRect">
            <a:avLst>
              <a:gd name="adj" fmla="val 6400"/>
            </a:avLst>
          </a:prstGeom>
          <a:solidFill>
            <a:schemeClr val="bg1"/>
          </a:solidFill>
          <a:ln w="12700">
            <a:solidFill>
              <a:srgbClr val="6B7C82"/>
            </a:solidFill>
            <a:prstDash val="solid"/>
          </a:ln>
        </p:spPr>
      </p:sp>
      <p:sp>
        <p:nvSpPr>
          <p:cNvPr id="32" name="txt-1587"/>
          <p:cNvSpPr txBox="1"/>
          <p:nvPr/>
        </p:nvSpPr>
        <p:spPr>
          <a:xfrm>
            <a:off x="777240" y="4846320"/>
            <a:ext cx="10607040" cy="1051560"/>
          </a:xfrm>
          <a:prstGeom prst="rect">
            <a:avLst/>
          </a:prstGeom>
          <a:noFill/>
          <a:ln/>
        </p:spPr>
        <p:txBody>
          <a:bodyPr wrap="square" lIns="0" tIns="0" rIns="0" bIns="0" rtlCol="0" anchor="ctr"/>
          <a:lstStyle/>
          <a:p>
            <a:pPr marL="0" indent="0">
              <a:buNone/>
            </a:pPr>
            <a:r>
              <a:rPr lang="en-US" sz="1200" b="1" dirty="0">
                <a:solidFill>
                  <a:schemeClr val="tx2"/>
                </a:solidFill>
              </a:rPr>
              <a:t>Exemple : </a:t>
            </a:r>
            <a:r>
              <a:rPr lang="en-US" sz="1200" dirty="0">
                <a:solidFill>
                  <a:schemeClr val="tx1"/>
                </a:solidFill>
              </a:rPr>
              <a:t>« Fais un état de l'art sur l'observance du traitement antidiabétique en Afrique de l'Ouest. » L'agent lance des dizaines de recherches, ouvre et lit des pages, écarte celles qui sont hors sujet, puis rédige un rapport avec ses liens. Vous ne voyez souvent que le résultat : d'où l'importance de demander le journal des étapes.</a:t>
            </a:r>
            <a:endParaRPr lang="en-US" sz="1200" dirty="0"/>
          </a:p>
        </p:txBody>
      </p:sp>
      <p:sp>
        <p:nvSpPr>
          <p:cNvPr id="33" name="Slide Number Placeholder 0"/>
          <p:cNvSpPr>
            <a:spLocks noGrp="1"/>
          </p:cNvSpPr>
          <p:nvPr>
            <p:ph type="sldNum" sz="quarter" idx="4294967295"/>
          </p:nvPr>
        </p:nvSpPr>
        <p:spPr>
          <a:xfrm>
            <a:off x="11064240" y="6400800"/>
            <a:ext cx="54864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C82"/>
                </a:solidFill>
                <a:latin typeface="Poppins"/>
                <a:ea typeface="Poppins"/>
                <a:cs typeface="Poppins"/>
              </a:defRPr>
            </a:lvl1pPr>
          </a:lstStyle>
          <a:p>
            <a:pPr algn="r"/>
            <a:fld id="{F7021451-1387-4CA6-816F-3879F97B5CBC}" type="slidenum">
              <a:rPr lang="en-US" b="0"/>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566928"/>
            <a:ext cx="11064240" cy="777240"/>
          </a:xfrm>
          <a:prstGeom prst="rect">
            <a:avLst/>
          </a:prstGeom>
          <a:noFill/>
          <a:ln/>
        </p:spPr>
        <p:txBody>
          <a:bodyPr wrap="square" lIns="0" tIns="0" rIns="0" bIns="0" rtlCol="0" anchor="ctr"/>
          <a:lstStyle/>
          <a:p>
            <a:pPr marL="0" indent="0" algn="l">
              <a:buNone/>
            </a:pPr>
            <a:r>
              <a:rPr lang="en-US" sz="2700" b="1" dirty="0">
                <a:solidFill>
                  <a:schemeClr val="tx2"/>
                </a:solidFill>
                <a:latin typeface="Poppins" pitchFamily="34" charset="0"/>
                <a:ea typeface="Poppins" pitchFamily="34" charset="-122"/>
                <a:cs typeface="Poppins" pitchFamily="34" charset="-120"/>
              </a:rPr>
              <a:t>Assistant ou agent ?</a:t>
            </a:r>
            <a:endParaRPr lang="en-US" sz="2700" dirty="0"/>
          </a:p>
        </p:txBody>
      </p:sp>
      <p:sp>
        <p:nvSpPr>
          <p:cNvPr id="3" name="Text 0"/>
          <p:cNvSpPr>
            <a:spLocks noGrp="1"/>
          </p:cNvSpPr>
          <p:nvPr>
            <p:ph type="body" idx="101" hasCustomPrompt="1"/>
          </p:nvPr>
        </p:nvSpPr>
        <p:spPr>
          <a:xfrm>
            <a:off x="548640" y="256032"/>
            <a:ext cx="8229600" cy="292608"/>
          </a:xfrm>
          <a:prstGeom prst="rect">
            <a:avLst/>
          </a:prstGeom>
          <a:noFill/>
          <a:ln/>
        </p:spPr>
        <p:txBody>
          <a:bodyPr wrap="square" lIns="0" tIns="0" rIns="0" bIns="0" rtlCol="0" anchor="ctr"/>
          <a:lstStyle/>
          <a:p>
            <a:pPr marL="0" indent="0">
              <a:buNone/>
            </a:pPr>
            <a:r>
              <a:rPr lang="en-US" sz="1100" b="1" dirty="0">
                <a:solidFill>
                  <a:schemeClr val="accent1"/>
                </a:solidFill>
                <a:latin typeface="Poppins" pitchFamily="34" charset="0"/>
                <a:ea typeface="Poppins" pitchFamily="34" charset="-122"/>
                <a:cs typeface="Poppins" pitchFamily="34" charset="-120"/>
              </a:rPr>
              <a:t>T5 · IA AGENTIQUE</a:t>
            </a:r>
            <a:endParaRPr lang="en-US" sz="1100" dirty="0"/>
          </a:p>
        </p:txBody>
      </p:sp>
      <p:sp>
        <p:nvSpPr>
          <p:cNvPr id="4" name="card-1588"/>
          <p:cNvSpPr/>
          <p:nvPr/>
        </p:nvSpPr>
        <p:spPr>
          <a:xfrm>
            <a:off x="548640" y="1600200"/>
            <a:ext cx="5394960" cy="1280160"/>
          </a:xfrm>
          <a:prstGeom prst="roundRect">
            <a:avLst>
              <a:gd name="adj" fmla="val 5714"/>
            </a:avLst>
          </a:prstGeom>
          <a:solidFill>
            <a:schemeClr val="bg2"/>
          </a:solidFill>
          <a:ln w="6350">
            <a:solidFill>
              <a:schemeClr val="bg2"/>
            </a:solidFill>
            <a:prstDash val="solid"/>
          </a:ln>
        </p:spPr>
      </p:sp>
      <p:sp>
        <p:nvSpPr>
          <p:cNvPr id="5" name="txt-1589"/>
          <p:cNvSpPr txBox="1"/>
          <p:nvPr/>
        </p:nvSpPr>
        <p:spPr>
          <a:xfrm>
            <a:off x="822960" y="1600200"/>
            <a:ext cx="4937760" cy="1280160"/>
          </a:xfrm>
          <a:prstGeom prst="rect">
            <a:avLst/>
          </a:prstGeom>
          <a:noFill/>
          <a:ln/>
        </p:spPr>
        <p:txBody>
          <a:bodyPr wrap="square" lIns="0" tIns="0" rIns="0" bIns="0" rtlCol="0" anchor="ctr"/>
          <a:lstStyle/>
          <a:p>
            <a:pPr marL="0" indent="0">
              <a:buNone/>
            </a:pPr>
            <a:r>
              <a:rPr lang="en-US" sz="1500" b="1" dirty="0">
                <a:solidFill>
                  <a:schemeClr val="tx2"/>
                </a:solidFill>
              </a:rPr>
              <a:t>Assistant : </a:t>
            </a:r>
            <a:r>
              <a:rPr lang="en-US" sz="1500" dirty="0">
                <a:solidFill>
                  <a:schemeClr val="tx1"/>
                </a:solidFill>
              </a:rPr>
              <a:t>une question, une réponse. Vous pilotez chaque étape.</a:t>
            </a:r>
            <a:endParaRPr lang="en-US" sz="1500" dirty="0"/>
          </a:p>
        </p:txBody>
      </p:sp>
      <p:sp>
        <p:nvSpPr>
          <p:cNvPr id="6" name="card-1590"/>
          <p:cNvSpPr/>
          <p:nvPr/>
        </p:nvSpPr>
        <p:spPr>
          <a:xfrm>
            <a:off x="6217920" y="1600200"/>
            <a:ext cx="5394960" cy="1280160"/>
          </a:xfrm>
          <a:prstGeom prst="roundRect">
            <a:avLst>
              <a:gd name="adj" fmla="val 5714"/>
            </a:avLst>
          </a:prstGeom>
          <a:solidFill>
            <a:schemeClr val="tx2"/>
          </a:solidFill>
          <a:ln w="6350">
            <a:solidFill>
              <a:schemeClr val="tx2"/>
            </a:solidFill>
            <a:prstDash val="solid"/>
          </a:ln>
        </p:spPr>
      </p:sp>
      <p:sp>
        <p:nvSpPr>
          <p:cNvPr id="7" name="txt-1591"/>
          <p:cNvSpPr txBox="1"/>
          <p:nvPr/>
        </p:nvSpPr>
        <p:spPr>
          <a:xfrm>
            <a:off x="6492240" y="1600200"/>
            <a:ext cx="4937760" cy="1280160"/>
          </a:xfrm>
          <a:prstGeom prst="rect">
            <a:avLst/>
          </a:prstGeom>
          <a:noFill/>
          <a:ln/>
        </p:spPr>
        <p:txBody>
          <a:bodyPr wrap="square" lIns="0" tIns="0" rIns="0" bIns="0" rtlCol="0" anchor="ctr"/>
          <a:lstStyle/>
          <a:p>
            <a:pPr marL="0" indent="0">
              <a:buNone/>
            </a:pPr>
            <a:r>
              <a:rPr lang="en-US" sz="1500" b="1" dirty="0">
                <a:solidFill>
                  <a:schemeClr val="accent1"/>
                </a:solidFill>
              </a:rPr>
              <a:t>Agent : </a:t>
            </a:r>
            <a:r>
              <a:rPr lang="en-US" sz="1500" dirty="0">
                <a:solidFill>
                  <a:schemeClr val="bg1"/>
                </a:solidFill>
              </a:rPr>
              <a:t>un objectif, plusieurs étapes, des outils. Il avance seul, vous validez.</a:t>
            </a:r>
            <a:endParaRPr lang="en-US" sz="1500" dirty="0"/>
          </a:p>
        </p:txBody>
      </p:sp>
      <p:sp>
        <p:nvSpPr>
          <p:cNvPr id="8" name="circle-1592"/>
          <p:cNvSpPr/>
          <p:nvPr/>
        </p:nvSpPr>
        <p:spPr>
          <a:xfrm>
            <a:off x="1143000" y="3154680"/>
            <a:ext cx="822960" cy="822960"/>
          </a:xfrm>
          <a:prstGeom prst="ellipse">
            <a:avLst/>
          </a:prstGeom>
          <a:solidFill>
            <a:schemeClr val="accent6"/>
          </a:solidFill>
          <a:ln w="12700">
            <a:solidFill>
              <a:schemeClr val="accent6"/>
            </a:solidFill>
            <a:prstDash val="solid"/>
          </a:ln>
        </p:spPr>
      </p:sp>
      <p:pic>
        <p:nvPicPr>
          <p:cNvPr id="9" name="icon-1593" descr="preencoded.png"/>
          <p:cNvPicPr>
            <a:picLocks noChangeAspect="1"/>
          </p:cNvPicPr>
          <p:nvPr/>
        </p:nvPicPr>
        <p:blipFill>
          <a:blip r:embed="rId3"/>
          <a:stretch>
            <a:fillRect/>
          </a:stretch>
        </p:blipFill>
        <p:spPr>
          <a:xfrm>
            <a:off x="1348740" y="3360420"/>
            <a:ext cx="411480" cy="411480"/>
          </a:xfrm>
          <a:prstGeom prst="rect">
            <a:avLst/>
          </a:prstGeom>
        </p:spPr>
      </p:pic>
      <p:sp>
        <p:nvSpPr>
          <p:cNvPr id="10" name="txt-1594"/>
          <p:cNvSpPr txBox="1"/>
          <p:nvPr/>
        </p:nvSpPr>
        <p:spPr>
          <a:xfrm>
            <a:off x="822960" y="4069080"/>
            <a:ext cx="1463040" cy="411480"/>
          </a:xfrm>
          <a:prstGeom prst="rect">
            <a:avLst/>
          </a:prstGeom>
          <a:noFill/>
          <a:ln/>
        </p:spPr>
        <p:txBody>
          <a:bodyPr wrap="square" lIns="0" tIns="0" rIns="0" bIns="0" rtlCol="0" anchor="t"/>
          <a:lstStyle/>
          <a:p>
            <a:pPr marL="0" indent="0" algn="ctr">
              <a:buNone/>
            </a:pPr>
            <a:r>
              <a:rPr lang="en-US" sz="1400" b="1" dirty="0">
                <a:solidFill>
                  <a:schemeClr val="tx2"/>
                </a:solidFill>
              </a:rPr>
              <a:t>Chercher</a:t>
            </a:r>
            <a:endParaRPr lang="en-US" sz="1400" dirty="0"/>
          </a:p>
        </p:txBody>
      </p:sp>
      <p:sp>
        <p:nvSpPr>
          <p:cNvPr id="11" name="arrow-1595"/>
          <p:cNvSpPr/>
          <p:nvPr/>
        </p:nvSpPr>
        <p:spPr>
          <a:xfrm>
            <a:off x="2103120" y="3566160"/>
            <a:ext cx="822960" cy="0"/>
          </a:xfrm>
          <a:prstGeom prst="line">
            <a:avLst/>
          </a:prstGeom>
          <a:noFill/>
          <a:ln w="22225">
            <a:solidFill>
              <a:srgbClr val="6B7C82"/>
            </a:solidFill>
            <a:prstDash val="solid"/>
            <a:tailEnd type="triangle"/>
          </a:ln>
        </p:spPr>
      </p:sp>
      <p:sp>
        <p:nvSpPr>
          <p:cNvPr id="12" name="circle-1596"/>
          <p:cNvSpPr/>
          <p:nvPr/>
        </p:nvSpPr>
        <p:spPr>
          <a:xfrm>
            <a:off x="3383280" y="3154680"/>
            <a:ext cx="822960" cy="822960"/>
          </a:xfrm>
          <a:prstGeom prst="ellipse">
            <a:avLst/>
          </a:prstGeom>
          <a:solidFill>
            <a:schemeClr val="accent6"/>
          </a:solidFill>
          <a:ln w="12700">
            <a:solidFill>
              <a:schemeClr val="accent6"/>
            </a:solidFill>
            <a:prstDash val="solid"/>
          </a:ln>
        </p:spPr>
      </p:sp>
      <p:pic>
        <p:nvPicPr>
          <p:cNvPr id="13" name="icon-1597" descr="preencoded.png"/>
          <p:cNvPicPr>
            <a:picLocks noChangeAspect="1"/>
          </p:cNvPicPr>
          <p:nvPr/>
        </p:nvPicPr>
        <p:blipFill>
          <a:blip r:embed="rId4"/>
          <a:stretch>
            <a:fillRect/>
          </a:stretch>
        </p:blipFill>
        <p:spPr>
          <a:xfrm>
            <a:off x="3589020" y="3360420"/>
            <a:ext cx="411480" cy="411480"/>
          </a:xfrm>
          <a:prstGeom prst="rect">
            <a:avLst/>
          </a:prstGeom>
        </p:spPr>
      </p:pic>
      <p:sp>
        <p:nvSpPr>
          <p:cNvPr id="14" name="txt-1598"/>
          <p:cNvSpPr txBox="1"/>
          <p:nvPr/>
        </p:nvSpPr>
        <p:spPr>
          <a:xfrm>
            <a:off x="3063240" y="4069080"/>
            <a:ext cx="1463040" cy="411480"/>
          </a:xfrm>
          <a:prstGeom prst="rect">
            <a:avLst/>
          </a:prstGeom>
          <a:noFill/>
          <a:ln/>
        </p:spPr>
        <p:txBody>
          <a:bodyPr wrap="square" lIns="0" tIns="0" rIns="0" bIns="0" rtlCol="0" anchor="t"/>
          <a:lstStyle/>
          <a:p>
            <a:pPr marL="0" indent="0" algn="ctr">
              <a:buNone/>
            </a:pPr>
            <a:r>
              <a:rPr lang="en-US" sz="1400" b="1" dirty="0">
                <a:solidFill>
                  <a:schemeClr val="tx2"/>
                </a:solidFill>
              </a:rPr>
              <a:t>Lire</a:t>
            </a:r>
            <a:endParaRPr lang="en-US" sz="1400" dirty="0"/>
          </a:p>
        </p:txBody>
      </p:sp>
      <p:sp>
        <p:nvSpPr>
          <p:cNvPr id="15" name="arrow-1599"/>
          <p:cNvSpPr/>
          <p:nvPr/>
        </p:nvSpPr>
        <p:spPr>
          <a:xfrm>
            <a:off x="4343400" y="3566160"/>
            <a:ext cx="822960" cy="0"/>
          </a:xfrm>
          <a:prstGeom prst="line">
            <a:avLst/>
          </a:prstGeom>
          <a:noFill/>
          <a:ln w="22225">
            <a:solidFill>
              <a:srgbClr val="6B7C82"/>
            </a:solidFill>
            <a:prstDash val="solid"/>
            <a:tailEnd type="triangle"/>
          </a:ln>
        </p:spPr>
      </p:sp>
      <p:sp>
        <p:nvSpPr>
          <p:cNvPr id="16" name="circle-1600"/>
          <p:cNvSpPr/>
          <p:nvPr/>
        </p:nvSpPr>
        <p:spPr>
          <a:xfrm>
            <a:off x="5623560" y="3154680"/>
            <a:ext cx="822960" cy="822960"/>
          </a:xfrm>
          <a:prstGeom prst="ellipse">
            <a:avLst/>
          </a:prstGeom>
          <a:solidFill>
            <a:schemeClr val="accent6"/>
          </a:solidFill>
          <a:ln w="12700">
            <a:solidFill>
              <a:schemeClr val="accent6"/>
            </a:solidFill>
            <a:prstDash val="solid"/>
          </a:ln>
        </p:spPr>
      </p:sp>
      <p:pic>
        <p:nvPicPr>
          <p:cNvPr id="17" name="icon-1601" descr="preencoded.png"/>
          <p:cNvPicPr>
            <a:picLocks noChangeAspect="1"/>
          </p:cNvPicPr>
          <p:nvPr/>
        </p:nvPicPr>
        <p:blipFill>
          <a:blip r:embed="rId5"/>
          <a:stretch>
            <a:fillRect/>
          </a:stretch>
        </p:blipFill>
        <p:spPr>
          <a:xfrm>
            <a:off x="5829300" y="3360420"/>
            <a:ext cx="411480" cy="411480"/>
          </a:xfrm>
          <a:prstGeom prst="rect">
            <a:avLst/>
          </a:prstGeom>
        </p:spPr>
      </p:pic>
      <p:sp>
        <p:nvSpPr>
          <p:cNvPr id="18" name="txt-1602"/>
          <p:cNvSpPr txBox="1"/>
          <p:nvPr/>
        </p:nvSpPr>
        <p:spPr>
          <a:xfrm>
            <a:off x="5303520" y="4069080"/>
            <a:ext cx="1463040" cy="411480"/>
          </a:xfrm>
          <a:prstGeom prst="rect">
            <a:avLst/>
          </a:prstGeom>
          <a:noFill/>
          <a:ln/>
        </p:spPr>
        <p:txBody>
          <a:bodyPr wrap="square" lIns="0" tIns="0" rIns="0" bIns="0" rtlCol="0" anchor="t"/>
          <a:lstStyle/>
          <a:p>
            <a:pPr marL="0" indent="0" algn="ctr">
              <a:buNone/>
            </a:pPr>
            <a:r>
              <a:rPr lang="en-US" sz="1400" b="1" dirty="0">
                <a:solidFill>
                  <a:schemeClr val="tx2"/>
                </a:solidFill>
              </a:rPr>
              <a:t>Synthétiser</a:t>
            </a:r>
            <a:endParaRPr lang="en-US" sz="1400" dirty="0"/>
          </a:p>
        </p:txBody>
      </p:sp>
      <p:sp>
        <p:nvSpPr>
          <p:cNvPr id="19" name="arrow-1603"/>
          <p:cNvSpPr/>
          <p:nvPr/>
        </p:nvSpPr>
        <p:spPr>
          <a:xfrm>
            <a:off x="6583680" y="3566160"/>
            <a:ext cx="822960" cy="0"/>
          </a:xfrm>
          <a:prstGeom prst="line">
            <a:avLst/>
          </a:prstGeom>
          <a:noFill/>
          <a:ln w="22225">
            <a:solidFill>
              <a:srgbClr val="6B7C82"/>
            </a:solidFill>
            <a:prstDash val="solid"/>
            <a:tailEnd type="triangle"/>
          </a:ln>
        </p:spPr>
      </p:sp>
      <p:sp>
        <p:nvSpPr>
          <p:cNvPr id="20" name="circle-1604"/>
          <p:cNvSpPr/>
          <p:nvPr/>
        </p:nvSpPr>
        <p:spPr>
          <a:xfrm>
            <a:off x="7863840" y="3154680"/>
            <a:ext cx="822960" cy="822960"/>
          </a:xfrm>
          <a:prstGeom prst="ellipse">
            <a:avLst/>
          </a:prstGeom>
          <a:solidFill>
            <a:schemeClr val="accent6"/>
          </a:solidFill>
          <a:ln w="12700">
            <a:solidFill>
              <a:schemeClr val="accent6"/>
            </a:solidFill>
            <a:prstDash val="solid"/>
          </a:ln>
        </p:spPr>
      </p:sp>
      <p:pic>
        <p:nvPicPr>
          <p:cNvPr id="21" name="icon-1605" descr="preencoded.png"/>
          <p:cNvPicPr>
            <a:picLocks noChangeAspect="1"/>
          </p:cNvPicPr>
          <p:nvPr/>
        </p:nvPicPr>
        <p:blipFill>
          <a:blip r:embed="rId6"/>
          <a:stretch>
            <a:fillRect/>
          </a:stretch>
        </p:blipFill>
        <p:spPr>
          <a:xfrm>
            <a:off x="8069580" y="3360420"/>
            <a:ext cx="411480" cy="411480"/>
          </a:xfrm>
          <a:prstGeom prst="rect">
            <a:avLst/>
          </a:prstGeom>
        </p:spPr>
      </p:pic>
      <p:sp>
        <p:nvSpPr>
          <p:cNvPr id="22" name="txt-1606"/>
          <p:cNvSpPr txBox="1"/>
          <p:nvPr/>
        </p:nvSpPr>
        <p:spPr>
          <a:xfrm>
            <a:off x="7543800" y="4069080"/>
            <a:ext cx="1463040" cy="411480"/>
          </a:xfrm>
          <a:prstGeom prst="rect">
            <a:avLst/>
          </a:prstGeom>
          <a:noFill/>
          <a:ln/>
        </p:spPr>
        <p:txBody>
          <a:bodyPr wrap="square" lIns="0" tIns="0" rIns="0" bIns="0" rtlCol="0" anchor="t"/>
          <a:lstStyle/>
          <a:p>
            <a:pPr marL="0" indent="0" algn="ctr">
              <a:buNone/>
            </a:pPr>
            <a:r>
              <a:rPr lang="en-US" sz="1400" b="1" dirty="0">
                <a:solidFill>
                  <a:schemeClr val="tx2"/>
                </a:solidFill>
              </a:rPr>
              <a:t>Rédiger</a:t>
            </a:r>
            <a:endParaRPr lang="en-US" sz="1400" dirty="0"/>
          </a:p>
        </p:txBody>
      </p:sp>
      <p:sp>
        <p:nvSpPr>
          <p:cNvPr id="23" name="arrow-1607"/>
          <p:cNvSpPr/>
          <p:nvPr/>
        </p:nvSpPr>
        <p:spPr>
          <a:xfrm>
            <a:off x="8823960" y="3566160"/>
            <a:ext cx="822960" cy="0"/>
          </a:xfrm>
          <a:prstGeom prst="line">
            <a:avLst/>
          </a:prstGeom>
          <a:noFill/>
          <a:ln w="22225">
            <a:solidFill>
              <a:srgbClr val="6B7C82"/>
            </a:solidFill>
            <a:prstDash val="solid"/>
            <a:tailEnd type="triangle"/>
          </a:ln>
        </p:spPr>
      </p:sp>
      <p:sp>
        <p:nvSpPr>
          <p:cNvPr id="24" name="circle-1608"/>
          <p:cNvSpPr/>
          <p:nvPr/>
        </p:nvSpPr>
        <p:spPr>
          <a:xfrm>
            <a:off x="10104120" y="3154680"/>
            <a:ext cx="822960" cy="822960"/>
          </a:xfrm>
          <a:prstGeom prst="ellipse">
            <a:avLst/>
          </a:prstGeom>
          <a:solidFill>
            <a:schemeClr val="accent2"/>
          </a:solidFill>
          <a:ln w="12700">
            <a:solidFill>
              <a:schemeClr val="accent2"/>
            </a:solidFill>
            <a:prstDash val="solid"/>
          </a:ln>
        </p:spPr>
      </p:sp>
      <p:pic>
        <p:nvPicPr>
          <p:cNvPr id="25" name="icon-1609" descr="preencoded.png"/>
          <p:cNvPicPr>
            <a:picLocks noChangeAspect="1"/>
          </p:cNvPicPr>
          <p:nvPr/>
        </p:nvPicPr>
        <p:blipFill>
          <a:blip r:embed="rId7"/>
          <a:stretch>
            <a:fillRect/>
          </a:stretch>
        </p:blipFill>
        <p:spPr>
          <a:xfrm>
            <a:off x="10309860" y="3360420"/>
            <a:ext cx="411480" cy="411480"/>
          </a:xfrm>
          <a:prstGeom prst="rect">
            <a:avLst/>
          </a:prstGeom>
        </p:spPr>
      </p:pic>
      <p:sp>
        <p:nvSpPr>
          <p:cNvPr id="26" name="txt-1610"/>
          <p:cNvSpPr txBox="1"/>
          <p:nvPr/>
        </p:nvSpPr>
        <p:spPr>
          <a:xfrm>
            <a:off x="9784080" y="4069080"/>
            <a:ext cx="1463040" cy="411480"/>
          </a:xfrm>
          <a:prstGeom prst="rect">
            <a:avLst/>
          </a:prstGeom>
          <a:noFill/>
          <a:ln/>
        </p:spPr>
        <p:txBody>
          <a:bodyPr wrap="square" lIns="0" tIns="0" rIns="0" bIns="0" rtlCol="0" anchor="t"/>
          <a:lstStyle/>
          <a:p>
            <a:pPr marL="0" indent="0" algn="ctr">
              <a:buNone/>
            </a:pPr>
            <a:r>
              <a:rPr lang="en-US" sz="1400" b="1" dirty="0">
                <a:solidFill>
                  <a:schemeClr val="tx2"/>
                </a:solidFill>
              </a:rPr>
              <a:t>Vérifier</a:t>
            </a:r>
            <a:endParaRPr lang="en-US" sz="1400" dirty="0"/>
          </a:p>
        </p:txBody>
      </p:sp>
      <p:sp>
        <p:nvSpPr>
          <p:cNvPr id="27" name="card-1611"/>
          <p:cNvSpPr/>
          <p:nvPr/>
        </p:nvSpPr>
        <p:spPr>
          <a:xfrm>
            <a:off x="548640" y="4846320"/>
            <a:ext cx="11064240" cy="1051560"/>
          </a:xfrm>
          <a:prstGeom prst="roundRect">
            <a:avLst>
              <a:gd name="adj" fmla="val 6957"/>
            </a:avLst>
          </a:prstGeom>
          <a:solidFill>
            <a:schemeClr val="accent1"/>
          </a:solidFill>
          <a:ln w="6350">
            <a:solidFill>
              <a:schemeClr val="accent1"/>
            </a:solidFill>
            <a:prstDash val="solid"/>
          </a:ln>
        </p:spPr>
      </p:sp>
      <p:sp>
        <p:nvSpPr>
          <p:cNvPr id="28" name="txt-1612"/>
          <p:cNvSpPr txBox="1"/>
          <p:nvPr/>
        </p:nvSpPr>
        <p:spPr>
          <a:xfrm>
            <a:off x="822960" y="4846320"/>
            <a:ext cx="10515600" cy="1051560"/>
          </a:xfrm>
          <a:prstGeom prst="rect">
            <a:avLst/>
          </a:prstGeom>
          <a:noFill/>
          <a:ln/>
        </p:spPr>
        <p:txBody>
          <a:bodyPr wrap="square" lIns="0" tIns="0" rIns="0" bIns="0" rtlCol="0" anchor="ctr"/>
          <a:lstStyle/>
          <a:p>
            <a:pPr marL="0" indent="0">
              <a:buNone/>
            </a:pPr>
            <a:r>
              <a:rPr lang="en-US" sz="1500" b="1" dirty="0">
                <a:solidFill>
                  <a:schemeClr val="tx2"/>
                </a:solidFill>
              </a:rPr>
              <a:t>Démo : un agent en production (applye.io)</a:t>
            </a:r>
            <a:endParaRPr lang="en-US" sz="1500" dirty="0"/>
          </a:p>
          <a:p>
            <a:pPr marL="0" indent="0">
              <a:buNone/>
            </a:pPr>
            <a:r>
              <a:rPr lang="en-US" sz="1300" dirty="0">
                <a:solidFill>
                  <a:schemeClr val="tx2"/>
                </a:solidFill>
              </a:rPr>
              <a:t>Ce qu'il fait étape par étape, et où l'humain intervient.</a:t>
            </a:r>
            <a:endParaRPr lang="en-US" sz="1500" dirty="0"/>
          </a:p>
        </p:txBody>
      </p:sp>
      <p:sp>
        <p:nvSpPr>
          <p:cNvPr id="29" name="Slide Number Placeholder 0"/>
          <p:cNvSpPr>
            <a:spLocks noGrp="1"/>
          </p:cNvSpPr>
          <p:nvPr>
            <p:ph type="sldNum" sz="quarter" idx="4294967295"/>
          </p:nvPr>
        </p:nvSpPr>
        <p:spPr>
          <a:xfrm>
            <a:off x="11064240" y="6400800"/>
            <a:ext cx="54864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C82"/>
                </a:solidFill>
                <a:latin typeface="Poppins"/>
                <a:ea typeface="Poppins"/>
                <a:cs typeface="Poppins"/>
              </a:defRPr>
            </a:lvl1pPr>
          </a:lstStyle>
          <a:p>
            <a:pPr algn="r"/>
            <a:fld id="{F7021451-1387-4CA6-816F-3879F97B5CBC}" type="slidenum">
              <a:rPr lang="en-US" b="0"/>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566928"/>
            <a:ext cx="11064240" cy="777240"/>
          </a:xfrm>
          <a:prstGeom prst="rect">
            <a:avLst/>
          </a:prstGeom>
          <a:noFill/>
          <a:ln/>
        </p:spPr>
        <p:txBody>
          <a:bodyPr wrap="square" lIns="0" tIns="0" rIns="0" bIns="0" rtlCol="0" anchor="ctr"/>
          <a:lstStyle/>
          <a:p>
            <a:pPr marL="0" indent="0" algn="l">
              <a:buNone/>
            </a:pPr>
            <a:r>
              <a:rPr lang="en-US" sz="2700" b="1" dirty="0">
                <a:solidFill>
                  <a:schemeClr val="tx2"/>
                </a:solidFill>
                <a:latin typeface="Poppins" pitchFamily="34" charset="0"/>
                <a:ea typeface="Poppins" pitchFamily="34" charset="-122"/>
                <a:cs typeface="Poppins" pitchFamily="34" charset="-120"/>
              </a:rPr>
              <a:t>Les agents déjà à votre portée</a:t>
            </a:r>
            <a:endParaRPr lang="en-US" sz="2700" dirty="0"/>
          </a:p>
        </p:txBody>
      </p:sp>
      <p:sp>
        <p:nvSpPr>
          <p:cNvPr id="3" name="Text 0"/>
          <p:cNvSpPr>
            <a:spLocks noGrp="1"/>
          </p:cNvSpPr>
          <p:nvPr>
            <p:ph type="body" idx="101" hasCustomPrompt="1"/>
          </p:nvPr>
        </p:nvSpPr>
        <p:spPr>
          <a:xfrm>
            <a:off x="548640" y="256032"/>
            <a:ext cx="8229600" cy="292608"/>
          </a:xfrm>
          <a:prstGeom prst="rect">
            <a:avLst/>
          </a:prstGeom>
          <a:noFill/>
          <a:ln/>
        </p:spPr>
        <p:txBody>
          <a:bodyPr wrap="square" lIns="0" tIns="0" rIns="0" bIns="0" rtlCol="0" anchor="ctr"/>
          <a:lstStyle/>
          <a:p>
            <a:pPr marL="0" indent="0">
              <a:buNone/>
            </a:pPr>
            <a:r>
              <a:rPr lang="en-US" sz="1100" b="1" dirty="0">
                <a:solidFill>
                  <a:schemeClr val="accent1"/>
                </a:solidFill>
                <a:latin typeface="Poppins" pitchFamily="34" charset="0"/>
                <a:ea typeface="Poppins" pitchFamily="34" charset="-122"/>
                <a:cs typeface="Poppins" pitchFamily="34" charset="-120"/>
              </a:rPr>
              <a:t>T5 · IA AGENTIQUE</a:t>
            </a:r>
            <a:endParaRPr lang="en-US" sz="1100" dirty="0"/>
          </a:p>
        </p:txBody>
      </p:sp>
      <p:sp>
        <p:nvSpPr>
          <p:cNvPr id="4" name="card-1613"/>
          <p:cNvSpPr/>
          <p:nvPr/>
        </p:nvSpPr>
        <p:spPr>
          <a:xfrm>
            <a:off x="548640" y="1554480"/>
            <a:ext cx="5440680" cy="2057400"/>
          </a:xfrm>
          <a:prstGeom prst="roundRect">
            <a:avLst>
              <a:gd name="adj" fmla="val 3556"/>
            </a:avLst>
          </a:prstGeom>
          <a:solidFill>
            <a:schemeClr val="bg2"/>
          </a:solidFill>
          <a:ln w="6350">
            <a:solidFill>
              <a:schemeClr val="bg2"/>
            </a:solidFill>
            <a:prstDash val="solid"/>
          </a:ln>
        </p:spPr>
      </p:sp>
      <p:sp>
        <p:nvSpPr>
          <p:cNvPr id="5" name="circle-1614"/>
          <p:cNvSpPr/>
          <p:nvPr/>
        </p:nvSpPr>
        <p:spPr>
          <a:xfrm>
            <a:off x="777240" y="1783080"/>
            <a:ext cx="685800" cy="685800"/>
          </a:xfrm>
          <a:prstGeom prst="ellipse">
            <a:avLst/>
          </a:prstGeom>
          <a:solidFill>
            <a:schemeClr val="accent6"/>
          </a:solidFill>
          <a:ln w="12700">
            <a:solidFill>
              <a:schemeClr val="accent6"/>
            </a:solidFill>
            <a:prstDash val="solid"/>
          </a:ln>
        </p:spPr>
      </p:sp>
      <p:pic>
        <p:nvPicPr>
          <p:cNvPr id="6" name="icon-1615" descr="preencoded.png"/>
          <p:cNvPicPr>
            <a:picLocks noChangeAspect="1"/>
          </p:cNvPicPr>
          <p:nvPr/>
        </p:nvPicPr>
        <p:blipFill>
          <a:blip r:embed="rId3"/>
          <a:stretch>
            <a:fillRect/>
          </a:stretch>
        </p:blipFill>
        <p:spPr>
          <a:xfrm>
            <a:off x="948690" y="1954530"/>
            <a:ext cx="342900" cy="342900"/>
          </a:xfrm>
          <a:prstGeom prst="rect">
            <a:avLst/>
          </a:prstGeom>
        </p:spPr>
      </p:pic>
      <p:sp>
        <p:nvSpPr>
          <p:cNvPr id="7" name="txt-1616"/>
          <p:cNvSpPr txBox="1"/>
          <p:nvPr/>
        </p:nvSpPr>
        <p:spPr>
          <a:xfrm>
            <a:off x="1645920" y="1737360"/>
            <a:ext cx="4160520" cy="548640"/>
          </a:xfrm>
          <a:prstGeom prst="rect">
            <a:avLst/>
          </a:prstGeom>
          <a:noFill/>
          <a:ln/>
        </p:spPr>
        <p:txBody>
          <a:bodyPr wrap="square" lIns="0" tIns="0" rIns="0" bIns="0" rtlCol="0" anchor="ctr"/>
          <a:lstStyle/>
          <a:p>
            <a:pPr marL="0" indent="0">
              <a:buNone/>
            </a:pPr>
            <a:r>
              <a:rPr lang="en-US" sz="1500" b="1" dirty="0">
                <a:solidFill>
                  <a:schemeClr val="tx2"/>
                </a:solidFill>
              </a:rPr>
              <a:t>Recherche approfondie</a:t>
            </a:r>
            <a:endParaRPr lang="en-US" sz="1500" dirty="0"/>
          </a:p>
        </p:txBody>
      </p:sp>
      <p:sp>
        <p:nvSpPr>
          <p:cNvPr id="8" name="txt-1617"/>
          <p:cNvSpPr txBox="1"/>
          <p:nvPr/>
        </p:nvSpPr>
        <p:spPr>
          <a:xfrm>
            <a:off x="1645920" y="2331720"/>
            <a:ext cx="4160520" cy="777240"/>
          </a:xfrm>
          <a:prstGeom prst="rect">
            <a:avLst/>
          </a:prstGeom>
          <a:noFill/>
          <a:ln/>
        </p:spPr>
        <p:txBody>
          <a:bodyPr wrap="square" lIns="0" tIns="0" rIns="0" bIns="0" rtlCol="0" anchor="t"/>
          <a:lstStyle/>
          <a:p>
            <a:pPr marL="0" indent="0">
              <a:buNone/>
            </a:pPr>
            <a:r>
              <a:rPr lang="en-US" sz="1200" dirty="0">
                <a:solidFill>
                  <a:schemeClr val="tx1"/>
                </a:solidFill>
              </a:rPr>
              <a:t>Gemini Deep Research (gratuit, limité), ChatGPT deep research, Claude Research, Grok DeepSearch</a:t>
            </a:r>
            <a:endParaRPr lang="en-US" sz="1200" dirty="0"/>
          </a:p>
        </p:txBody>
      </p:sp>
      <p:sp>
        <p:nvSpPr>
          <p:cNvPr id="9" name="txt-1618"/>
          <p:cNvSpPr txBox="1"/>
          <p:nvPr/>
        </p:nvSpPr>
        <p:spPr>
          <a:xfrm>
            <a:off x="1645920" y="3127248"/>
            <a:ext cx="4160520" cy="365760"/>
          </a:xfrm>
          <a:prstGeom prst="rect">
            <a:avLst/>
          </a:prstGeom>
          <a:noFill/>
          <a:ln/>
        </p:spPr>
        <p:txBody>
          <a:bodyPr wrap="square" lIns="0" tIns="0" rIns="0" bIns="0" rtlCol="0" anchor="t"/>
          <a:lstStyle/>
          <a:p>
            <a:pPr marL="0" indent="0">
              <a:buNone/>
            </a:pPr>
            <a:r>
              <a:rPr lang="en-US" sz="1200" b="1" dirty="0">
                <a:solidFill>
                  <a:schemeClr val="accent6"/>
                </a:solidFill>
              </a:rPr>
              <a:t>Usage : </a:t>
            </a:r>
            <a:r>
              <a:rPr lang="en-US" sz="1200" dirty="0">
                <a:solidFill>
                  <a:schemeClr val="accent6"/>
                </a:solidFill>
              </a:rPr>
              <a:t>Rapport web sourcé en quelques minutes</a:t>
            </a:r>
            <a:endParaRPr lang="en-US" sz="1200" dirty="0"/>
          </a:p>
        </p:txBody>
      </p:sp>
      <p:sp>
        <p:nvSpPr>
          <p:cNvPr id="10" name="card-1619"/>
          <p:cNvSpPr/>
          <p:nvPr/>
        </p:nvSpPr>
        <p:spPr>
          <a:xfrm>
            <a:off x="6172200" y="1554480"/>
            <a:ext cx="5440680" cy="2057400"/>
          </a:xfrm>
          <a:prstGeom prst="roundRect">
            <a:avLst>
              <a:gd name="adj" fmla="val 3556"/>
            </a:avLst>
          </a:prstGeom>
          <a:solidFill>
            <a:schemeClr val="bg2"/>
          </a:solidFill>
          <a:ln w="6350">
            <a:solidFill>
              <a:schemeClr val="bg2"/>
            </a:solidFill>
            <a:prstDash val="solid"/>
          </a:ln>
        </p:spPr>
      </p:sp>
      <p:sp>
        <p:nvSpPr>
          <p:cNvPr id="11" name="circle-1620"/>
          <p:cNvSpPr/>
          <p:nvPr/>
        </p:nvSpPr>
        <p:spPr>
          <a:xfrm>
            <a:off x="6400800" y="1783080"/>
            <a:ext cx="685800" cy="685800"/>
          </a:xfrm>
          <a:prstGeom prst="ellipse">
            <a:avLst/>
          </a:prstGeom>
          <a:solidFill>
            <a:schemeClr val="accent6"/>
          </a:solidFill>
          <a:ln w="12700">
            <a:solidFill>
              <a:schemeClr val="accent6"/>
            </a:solidFill>
            <a:prstDash val="solid"/>
          </a:ln>
        </p:spPr>
      </p:sp>
      <p:pic>
        <p:nvPicPr>
          <p:cNvPr id="12" name="icon-1621" descr="preencoded.png"/>
          <p:cNvPicPr>
            <a:picLocks noChangeAspect="1"/>
          </p:cNvPicPr>
          <p:nvPr/>
        </p:nvPicPr>
        <p:blipFill>
          <a:blip r:embed="rId4"/>
          <a:stretch>
            <a:fillRect/>
          </a:stretch>
        </p:blipFill>
        <p:spPr>
          <a:xfrm>
            <a:off x="6572250" y="1954530"/>
            <a:ext cx="342900" cy="342900"/>
          </a:xfrm>
          <a:prstGeom prst="rect">
            <a:avLst/>
          </a:prstGeom>
        </p:spPr>
      </p:pic>
      <p:sp>
        <p:nvSpPr>
          <p:cNvPr id="13" name="txt-1622"/>
          <p:cNvSpPr txBox="1"/>
          <p:nvPr/>
        </p:nvSpPr>
        <p:spPr>
          <a:xfrm>
            <a:off x="7269480" y="1737360"/>
            <a:ext cx="4160520" cy="548640"/>
          </a:xfrm>
          <a:prstGeom prst="rect">
            <a:avLst/>
          </a:prstGeom>
          <a:noFill/>
          <a:ln/>
        </p:spPr>
        <p:txBody>
          <a:bodyPr wrap="square" lIns="0" tIns="0" rIns="0" bIns="0" rtlCol="0" anchor="ctr"/>
          <a:lstStyle/>
          <a:p>
            <a:pPr marL="0" indent="0">
              <a:buNone/>
            </a:pPr>
            <a:r>
              <a:rPr lang="en-US" sz="1500" b="1" dirty="0">
                <a:solidFill>
                  <a:schemeClr val="tx2"/>
                </a:solidFill>
              </a:rPr>
              <a:t>Recherche de sources dans Gemini Notebook</a:t>
            </a:r>
            <a:endParaRPr lang="en-US" sz="1500" dirty="0"/>
          </a:p>
        </p:txBody>
      </p:sp>
      <p:sp>
        <p:nvSpPr>
          <p:cNvPr id="14" name="txt-1623"/>
          <p:cNvSpPr txBox="1"/>
          <p:nvPr/>
        </p:nvSpPr>
        <p:spPr>
          <a:xfrm>
            <a:off x="7269480" y="2331720"/>
            <a:ext cx="4160520" cy="777240"/>
          </a:xfrm>
          <a:prstGeom prst="rect">
            <a:avLst/>
          </a:prstGeom>
          <a:noFill/>
          <a:ln/>
        </p:spPr>
        <p:txBody>
          <a:bodyPr wrap="square" lIns="0" tIns="0" rIns="0" bIns="0" rtlCol="0" anchor="t"/>
          <a:lstStyle/>
          <a:p>
            <a:pPr marL="0" indent="0">
              <a:buNone/>
            </a:pPr>
            <a:r>
              <a:rPr lang="en-US" sz="1200" dirty="0">
                <a:solidFill>
                  <a:schemeClr val="tx1"/>
                </a:solidFill>
              </a:rPr>
              <a:t>L'agent trouve des sources web et les ajoute à votre carnet</a:t>
            </a:r>
            <a:endParaRPr lang="en-US" sz="1200" dirty="0"/>
          </a:p>
        </p:txBody>
      </p:sp>
      <p:sp>
        <p:nvSpPr>
          <p:cNvPr id="15" name="txt-1624"/>
          <p:cNvSpPr txBox="1"/>
          <p:nvPr/>
        </p:nvSpPr>
        <p:spPr>
          <a:xfrm>
            <a:off x="7269480" y="3127248"/>
            <a:ext cx="4160520" cy="365760"/>
          </a:xfrm>
          <a:prstGeom prst="rect">
            <a:avLst/>
          </a:prstGeom>
          <a:noFill/>
          <a:ln/>
        </p:spPr>
        <p:txBody>
          <a:bodyPr wrap="square" lIns="0" tIns="0" rIns="0" bIns="0" rtlCol="0" anchor="t"/>
          <a:lstStyle/>
          <a:p>
            <a:pPr marL="0" indent="0">
              <a:buNone/>
            </a:pPr>
            <a:r>
              <a:rPr lang="en-US" sz="1200" b="1" dirty="0">
                <a:solidFill>
                  <a:schemeClr val="accent6"/>
                </a:solidFill>
              </a:rPr>
              <a:t>Usage : </a:t>
            </a:r>
            <a:r>
              <a:rPr lang="en-US" sz="1200" dirty="0">
                <a:solidFill>
                  <a:schemeClr val="accent6"/>
                </a:solidFill>
              </a:rPr>
              <a:t>Enrichir un corpus avant de l'interroger</a:t>
            </a:r>
            <a:endParaRPr lang="en-US" sz="1200" dirty="0"/>
          </a:p>
        </p:txBody>
      </p:sp>
      <p:sp>
        <p:nvSpPr>
          <p:cNvPr id="16" name="card-1625"/>
          <p:cNvSpPr/>
          <p:nvPr/>
        </p:nvSpPr>
        <p:spPr>
          <a:xfrm>
            <a:off x="548640" y="3794760"/>
            <a:ext cx="5440680" cy="2057400"/>
          </a:xfrm>
          <a:prstGeom prst="roundRect">
            <a:avLst>
              <a:gd name="adj" fmla="val 3556"/>
            </a:avLst>
          </a:prstGeom>
          <a:solidFill>
            <a:schemeClr val="bg2"/>
          </a:solidFill>
          <a:ln w="6350">
            <a:solidFill>
              <a:schemeClr val="bg2"/>
            </a:solidFill>
            <a:prstDash val="solid"/>
          </a:ln>
        </p:spPr>
      </p:sp>
      <p:sp>
        <p:nvSpPr>
          <p:cNvPr id="17" name="circle-1626"/>
          <p:cNvSpPr/>
          <p:nvPr/>
        </p:nvSpPr>
        <p:spPr>
          <a:xfrm>
            <a:off x="777240" y="4023360"/>
            <a:ext cx="685800" cy="685800"/>
          </a:xfrm>
          <a:prstGeom prst="ellipse">
            <a:avLst/>
          </a:prstGeom>
          <a:solidFill>
            <a:schemeClr val="accent6"/>
          </a:solidFill>
          <a:ln w="12700">
            <a:solidFill>
              <a:schemeClr val="accent6"/>
            </a:solidFill>
            <a:prstDash val="solid"/>
          </a:ln>
        </p:spPr>
      </p:sp>
      <p:pic>
        <p:nvPicPr>
          <p:cNvPr id="18" name="icon-1627" descr="preencoded.png"/>
          <p:cNvPicPr>
            <a:picLocks noChangeAspect="1"/>
          </p:cNvPicPr>
          <p:nvPr/>
        </p:nvPicPr>
        <p:blipFill>
          <a:blip r:embed="rId5"/>
          <a:stretch>
            <a:fillRect/>
          </a:stretch>
        </p:blipFill>
        <p:spPr>
          <a:xfrm>
            <a:off x="948690" y="4194810"/>
            <a:ext cx="342900" cy="342900"/>
          </a:xfrm>
          <a:prstGeom prst="rect">
            <a:avLst/>
          </a:prstGeom>
        </p:spPr>
      </p:pic>
      <p:sp>
        <p:nvSpPr>
          <p:cNvPr id="19" name="txt-1628"/>
          <p:cNvSpPr txBox="1"/>
          <p:nvPr/>
        </p:nvSpPr>
        <p:spPr>
          <a:xfrm>
            <a:off x="1645920" y="3977640"/>
            <a:ext cx="4160520" cy="548640"/>
          </a:xfrm>
          <a:prstGeom prst="rect">
            <a:avLst/>
          </a:prstGeom>
          <a:noFill/>
          <a:ln/>
        </p:spPr>
        <p:txBody>
          <a:bodyPr wrap="square" lIns="0" tIns="0" rIns="0" bIns="0" rtlCol="0" anchor="ctr"/>
          <a:lstStyle/>
          <a:p>
            <a:pPr marL="0" indent="0">
              <a:buNone/>
            </a:pPr>
            <a:r>
              <a:rPr lang="en-US" sz="1500" b="1" dirty="0">
                <a:solidFill>
                  <a:schemeClr val="tx2"/>
                </a:solidFill>
              </a:rPr>
              <a:t>Modes « agent » et navigateur</a:t>
            </a:r>
            <a:endParaRPr lang="en-US" sz="1500" dirty="0"/>
          </a:p>
        </p:txBody>
      </p:sp>
      <p:sp>
        <p:nvSpPr>
          <p:cNvPr id="20" name="txt-1629"/>
          <p:cNvSpPr txBox="1"/>
          <p:nvPr/>
        </p:nvSpPr>
        <p:spPr>
          <a:xfrm>
            <a:off x="1645920" y="4572000"/>
            <a:ext cx="4160520" cy="777240"/>
          </a:xfrm>
          <a:prstGeom prst="rect">
            <a:avLst/>
          </a:prstGeom>
          <a:noFill/>
          <a:ln/>
        </p:spPr>
        <p:txBody>
          <a:bodyPr wrap="square" lIns="0" tIns="0" rIns="0" bIns="0" rtlCol="0" anchor="t"/>
          <a:lstStyle/>
          <a:p>
            <a:pPr marL="0" indent="0">
              <a:buNone/>
            </a:pPr>
            <a:r>
              <a:rPr lang="en-US" sz="1200" dirty="0">
                <a:solidFill>
                  <a:schemeClr val="tx1"/>
                </a:solidFill>
              </a:rPr>
              <a:t>L'IA navigue, clique et remplit des formulaires à votre place (surtout dans les offres payantes)</a:t>
            </a:r>
            <a:endParaRPr lang="en-US" sz="1200" dirty="0"/>
          </a:p>
        </p:txBody>
      </p:sp>
      <p:sp>
        <p:nvSpPr>
          <p:cNvPr id="21" name="txt-1630"/>
          <p:cNvSpPr txBox="1"/>
          <p:nvPr/>
        </p:nvSpPr>
        <p:spPr>
          <a:xfrm>
            <a:off x="1645920" y="5367528"/>
            <a:ext cx="4160520" cy="365760"/>
          </a:xfrm>
          <a:prstGeom prst="rect">
            <a:avLst/>
          </a:prstGeom>
          <a:noFill/>
          <a:ln/>
        </p:spPr>
        <p:txBody>
          <a:bodyPr wrap="square" lIns="0" tIns="0" rIns="0" bIns="0" rtlCol="0" anchor="t"/>
          <a:lstStyle/>
          <a:p>
            <a:pPr marL="0" indent="0">
              <a:buNone/>
            </a:pPr>
            <a:r>
              <a:rPr lang="en-US" sz="1200" b="1" dirty="0">
                <a:solidFill>
                  <a:schemeClr val="accent6"/>
                </a:solidFill>
              </a:rPr>
              <a:t>Usage : </a:t>
            </a:r>
            <a:r>
              <a:rPr lang="en-US" sz="1200" dirty="0">
                <a:solidFill>
                  <a:schemeClr val="accent6"/>
                </a:solidFill>
              </a:rPr>
              <a:t>Tâches répétitives en ligne</a:t>
            </a:r>
            <a:endParaRPr lang="en-US" sz="1200" dirty="0"/>
          </a:p>
        </p:txBody>
      </p:sp>
      <p:sp>
        <p:nvSpPr>
          <p:cNvPr id="22" name="card-1631"/>
          <p:cNvSpPr/>
          <p:nvPr/>
        </p:nvSpPr>
        <p:spPr>
          <a:xfrm>
            <a:off x="6172200" y="3794760"/>
            <a:ext cx="5440680" cy="2057400"/>
          </a:xfrm>
          <a:prstGeom prst="roundRect">
            <a:avLst>
              <a:gd name="adj" fmla="val 3556"/>
            </a:avLst>
          </a:prstGeom>
          <a:solidFill>
            <a:schemeClr val="bg2"/>
          </a:solidFill>
          <a:ln w="6350">
            <a:solidFill>
              <a:schemeClr val="bg2"/>
            </a:solidFill>
            <a:prstDash val="solid"/>
          </a:ln>
        </p:spPr>
      </p:sp>
      <p:sp>
        <p:nvSpPr>
          <p:cNvPr id="23" name="circle-1632"/>
          <p:cNvSpPr/>
          <p:nvPr/>
        </p:nvSpPr>
        <p:spPr>
          <a:xfrm>
            <a:off x="6400800" y="4023360"/>
            <a:ext cx="685800" cy="685800"/>
          </a:xfrm>
          <a:prstGeom prst="ellipse">
            <a:avLst/>
          </a:prstGeom>
          <a:solidFill>
            <a:schemeClr val="accent6"/>
          </a:solidFill>
          <a:ln w="12700">
            <a:solidFill>
              <a:schemeClr val="accent6"/>
            </a:solidFill>
            <a:prstDash val="solid"/>
          </a:ln>
        </p:spPr>
      </p:sp>
      <p:pic>
        <p:nvPicPr>
          <p:cNvPr id="24" name="icon-1633" descr="preencoded.png"/>
          <p:cNvPicPr>
            <a:picLocks noChangeAspect="1"/>
          </p:cNvPicPr>
          <p:nvPr/>
        </p:nvPicPr>
        <p:blipFill>
          <a:blip r:embed="rId6"/>
          <a:stretch>
            <a:fillRect/>
          </a:stretch>
        </p:blipFill>
        <p:spPr>
          <a:xfrm>
            <a:off x="6572250" y="4194810"/>
            <a:ext cx="342900" cy="342900"/>
          </a:xfrm>
          <a:prstGeom prst="rect">
            <a:avLst/>
          </a:prstGeom>
        </p:spPr>
      </p:pic>
      <p:sp>
        <p:nvSpPr>
          <p:cNvPr id="25" name="txt-1634"/>
          <p:cNvSpPr txBox="1"/>
          <p:nvPr/>
        </p:nvSpPr>
        <p:spPr>
          <a:xfrm>
            <a:off x="7269480" y="3977640"/>
            <a:ext cx="4160520" cy="548640"/>
          </a:xfrm>
          <a:prstGeom prst="rect">
            <a:avLst/>
          </a:prstGeom>
          <a:noFill/>
          <a:ln/>
        </p:spPr>
        <p:txBody>
          <a:bodyPr wrap="square" lIns="0" tIns="0" rIns="0" bIns="0" rtlCol="0" anchor="ctr"/>
          <a:lstStyle/>
          <a:p>
            <a:pPr marL="0" indent="0">
              <a:buNone/>
            </a:pPr>
            <a:r>
              <a:rPr lang="en-US" sz="1500" b="1" dirty="0">
                <a:solidFill>
                  <a:schemeClr val="tx2"/>
                </a:solidFill>
              </a:rPr>
              <a:t>Analyse de données</a:t>
            </a:r>
            <a:endParaRPr lang="en-US" sz="1500" dirty="0"/>
          </a:p>
        </p:txBody>
      </p:sp>
      <p:sp>
        <p:nvSpPr>
          <p:cNvPr id="26" name="txt-1635"/>
          <p:cNvSpPr txBox="1"/>
          <p:nvPr/>
        </p:nvSpPr>
        <p:spPr>
          <a:xfrm>
            <a:off x="7269480" y="4572000"/>
            <a:ext cx="4160520" cy="777240"/>
          </a:xfrm>
          <a:prstGeom prst="rect">
            <a:avLst/>
          </a:prstGeom>
          <a:noFill/>
          <a:ln/>
        </p:spPr>
        <p:txBody>
          <a:bodyPr wrap="square" lIns="0" tIns="0" rIns="0" bIns="0" rtlCol="0" anchor="t"/>
          <a:lstStyle/>
          <a:p>
            <a:pPr marL="0" indent="0">
              <a:buNone/>
            </a:pPr>
            <a:r>
              <a:rPr lang="en-US" sz="1200" dirty="0">
                <a:solidFill>
                  <a:schemeClr val="tx1"/>
                </a:solidFill>
              </a:rPr>
              <a:t>L'IA écrit et exécute du code sur vos tableaux (par exemple dans Gemini Notebook, offres payantes)</a:t>
            </a:r>
            <a:endParaRPr lang="en-US" sz="1200" dirty="0"/>
          </a:p>
        </p:txBody>
      </p:sp>
      <p:sp>
        <p:nvSpPr>
          <p:cNvPr id="27" name="txt-1636"/>
          <p:cNvSpPr txBox="1"/>
          <p:nvPr/>
        </p:nvSpPr>
        <p:spPr>
          <a:xfrm>
            <a:off x="7269480" y="5367528"/>
            <a:ext cx="4160520" cy="365760"/>
          </a:xfrm>
          <a:prstGeom prst="rect">
            <a:avLst/>
          </a:prstGeom>
          <a:noFill/>
          <a:ln/>
        </p:spPr>
        <p:txBody>
          <a:bodyPr wrap="square" lIns="0" tIns="0" rIns="0" bIns="0" rtlCol="0" anchor="t"/>
          <a:lstStyle/>
          <a:p>
            <a:pPr marL="0" indent="0">
              <a:buNone/>
            </a:pPr>
            <a:r>
              <a:rPr lang="en-US" sz="1200" b="1" dirty="0">
                <a:solidFill>
                  <a:schemeClr val="accent6"/>
                </a:solidFill>
              </a:rPr>
              <a:t>Usage : </a:t>
            </a:r>
            <a:r>
              <a:rPr lang="en-US" sz="1200" dirty="0">
                <a:solidFill>
                  <a:schemeClr val="accent6"/>
                </a:solidFill>
              </a:rPr>
              <a:t>Statistiques descriptives, graphiques</a:t>
            </a:r>
            <a:endParaRPr lang="en-US" sz="1200" dirty="0"/>
          </a:p>
        </p:txBody>
      </p:sp>
      <p:sp>
        <p:nvSpPr>
          <p:cNvPr id="28" name="txt-1637"/>
          <p:cNvSpPr txBox="1"/>
          <p:nvPr/>
        </p:nvSpPr>
        <p:spPr>
          <a:xfrm>
            <a:off x="548640" y="6053328"/>
            <a:ext cx="11064240" cy="256032"/>
          </a:xfrm>
          <a:prstGeom prst="rect">
            <a:avLst/>
          </a:prstGeom>
          <a:noFill/>
          <a:ln/>
        </p:spPr>
        <p:txBody>
          <a:bodyPr wrap="square" lIns="0" tIns="0" rIns="0" bIns="0" rtlCol="0" anchor="t"/>
          <a:lstStyle/>
          <a:p>
            <a:pPr marL="0" indent="0">
              <a:buNone/>
            </a:pPr>
            <a:r>
              <a:rPr lang="en-US" sz="1000" i="1" dirty="0">
                <a:solidFill>
                  <a:schemeClr val="accent5"/>
                </a:solidFill>
              </a:rPr>
              <a:t>Disponibilités vérifiées en octobre 2026 : elles changent vite.</a:t>
            </a:r>
            <a:endParaRPr lang="en-US" sz="1000" dirty="0"/>
          </a:p>
        </p:txBody>
      </p:sp>
      <p:sp>
        <p:nvSpPr>
          <p:cNvPr id="29" name="Slide Number Placeholder 0"/>
          <p:cNvSpPr>
            <a:spLocks noGrp="1"/>
          </p:cNvSpPr>
          <p:nvPr>
            <p:ph type="sldNum" sz="quarter" idx="4294967295"/>
          </p:nvPr>
        </p:nvSpPr>
        <p:spPr>
          <a:xfrm>
            <a:off x="11064240" y="6400800"/>
            <a:ext cx="54864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C82"/>
                </a:solidFill>
                <a:latin typeface="Poppins"/>
                <a:ea typeface="Poppins"/>
                <a:cs typeface="Poppins"/>
              </a:defRPr>
            </a:lvl1pPr>
          </a:lstStyle>
          <a:p>
            <a:pPr algn="r"/>
            <a:fld id="{F7021451-1387-4CA6-816F-3879F97B5CBC}" type="slidenum">
              <a:rPr lang="en-US" b="0"/>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566928"/>
            <a:ext cx="11064240" cy="777240"/>
          </a:xfrm>
          <a:prstGeom prst="rect">
            <a:avLst/>
          </a:prstGeom>
          <a:noFill/>
          <a:ln/>
        </p:spPr>
        <p:txBody>
          <a:bodyPr wrap="square" lIns="0" tIns="0" rIns="0" bIns="0" rtlCol="0" anchor="ctr"/>
          <a:lstStyle/>
          <a:p>
            <a:pPr marL="0" indent="0" algn="l">
              <a:buNone/>
            </a:pPr>
            <a:r>
              <a:rPr lang="en-US" sz="2700" b="1" dirty="0">
                <a:solidFill>
                  <a:schemeClr val="tx2"/>
                </a:solidFill>
                <a:latin typeface="Poppins" pitchFamily="34" charset="0"/>
                <a:ea typeface="Poppins" pitchFamily="34" charset="-122"/>
                <a:cs typeface="Poppins" pitchFamily="34" charset="-120"/>
              </a:rPr>
              <a:t>Quatre niveaux d'autonomie</a:t>
            </a:r>
            <a:endParaRPr lang="en-US" sz="2700" dirty="0"/>
          </a:p>
        </p:txBody>
      </p:sp>
      <p:sp>
        <p:nvSpPr>
          <p:cNvPr id="3" name="Text 0"/>
          <p:cNvSpPr>
            <a:spLocks noGrp="1"/>
          </p:cNvSpPr>
          <p:nvPr>
            <p:ph type="body" idx="101" hasCustomPrompt="1"/>
          </p:nvPr>
        </p:nvSpPr>
        <p:spPr>
          <a:xfrm>
            <a:off x="548640" y="256032"/>
            <a:ext cx="8229600" cy="292608"/>
          </a:xfrm>
          <a:prstGeom prst="rect">
            <a:avLst/>
          </a:prstGeom>
          <a:noFill/>
          <a:ln/>
        </p:spPr>
        <p:txBody>
          <a:bodyPr wrap="square" lIns="0" tIns="0" rIns="0" bIns="0" rtlCol="0" anchor="ctr"/>
          <a:lstStyle/>
          <a:p>
            <a:pPr marL="0" indent="0">
              <a:buNone/>
            </a:pPr>
            <a:r>
              <a:rPr lang="en-US" sz="1100" b="1" dirty="0">
                <a:solidFill>
                  <a:schemeClr val="accent1"/>
                </a:solidFill>
                <a:latin typeface="Poppins" pitchFamily="34" charset="0"/>
                <a:ea typeface="Poppins" pitchFamily="34" charset="-122"/>
                <a:cs typeface="Poppins" pitchFamily="34" charset="-120"/>
              </a:rPr>
              <a:t>T5 · IA AGENTIQUE</a:t>
            </a:r>
            <a:endParaRPr lang="en-US" sz="1100" dirty="0"/>
          </a:p>
        </p:txBody>
      </p:sp>
      <p:sp>
        <p:nvSpPr>
          <p:cNvPr id="4" name="card-1638"/>
          <p:cNvSpPr/>
          <p:nvPr/>
        </p:nvSpPr>
        <p:spPr>
          <a:xfrm>
            <a:off x="548640" y="4069080"/>
            <a:ext cx="2606040" cy="1463040"/>
          </a:xfrm>
          <a:prstGeom prst="roundRect">
            <a:avLst>
              <a:gd name="adj" fmla="val 5000"/>
            </a:avLst>
          </a:prstGeom>
          <a:solidFill>
            <a:schemeClr val="accent5"/>
          </a:solidFill>
          <a:ln w="6350">
            <a:solidFill>
              <a:schemeClr val="accent5"/>
            </a:solidFill>
            <a:prstDash val="solid"/>
          </a:ln>
        </p:spPr>
      </p:sp>
      <p:sp>
        <p:nvSpPr>
          <p:cNvPr id="5" name="num-1639"/>
          <p:cNvSpPr/>
          <p:nvPr/>
        </p:nvSpPr>
        <p:spPr>
          <a:xfrm>
            <a:off x="731520" y="4251960"/>
            <a:ext cx="457200" cy="457200"/>
          </a:xfrm>
          <a:prstGeom prst="ellipse">
            <a:avLst/>
          </a:prstGeom>
          <a:solidFill>
            <a:schemeClr val="bg1"/>
          </a:solidFill>
          <a:ln w="12700">
            <a:solidFill>
              <a:schemeClr val="bg1"/>
            </a:solidFill>
            <a:prstDash val="solid"/>
          </a:ln>
        </p:spPr>
      </p:sp>
      <p:sp>
        <p:nvSpPr>
          <p:cNvPr id="6" name="txt-1640"/>
          <p:cNvSpPr txBox="1"/>
          <p:nvPr/>
        </p:nvSpPr>
        <p:spPr>
          <a:xfrm>
            <a:off x="731520" y="4251960"/>
            <a:ext cx="457200" cy="457200"/>
          </a:xfrm>
          <a:prstGeom prst="rect">
            <a:avLst/>
          </a:prstGeom>
          <a:noFill/>
          <a:ln/>
        </p:spPr>
        <p:txBody>
          <a:bodyPr wrap="square" lIns="0" tIns="0" rIns="0" bIns="0" rtlCol="0" anchor="ctr"/>
          <a:lstStyle/>
          <a:p>
            <a:pPr marL="0" indent="0" algn="ctr">
              <a:buNone/>
            </a:pPr>
            <a:r>
              <a:rPr lang="en-US" sz="1500" b="1" dirty="0">
                <a:solidFill>
                  <a:schemeClr val="accent5"/>
                </a:solidFill>
              </a:rPr>
              <a:t>1</a:t>
            </a:r>
            <a:endParaRPr lang="en-US" sz="1500" dirty="0"/>
          </a:p>
        </p:txBody>
      </p:sp>
      <p:sp>
        <p:nvSpPr>
          <p:cNvPr id="7" name="txt-1641"/>
          <p:cNvSpPr txBox="1"/>
          <p:nvPr/>
        </p:nvSpPr>
        <p:spPr>
          <a:xfrm>
            <a:off x="731520" y="4800600"/>
            <a:ext cx="2240280" cy="365760"/>
          </a:xfrm>
          <a:prstGeom prst="rect">
            <a:avLst/>
          </a:prstGeom>
          <a:noFill/>
          <a:ln/>
        </p:spPr>
        <p:txBody>
          <a:bodyPr wrap="square" lIns="0" tIns="0" rIns="0" bIns="0" rtlCol="0" anchor="t"/>
          <a:lstStyle/>
          <a:p>
            <a:pPr marL="0" indent="0">
              <a:buNone/>
            </a:pPr>
            <a:r>
              <a:rPr lang="en-US" sz="1500" b="1" dirty="0">
                <a:solidFill>
                  <a:schemeClr val="bg1"/>
                </a:solidFill>
              </a:rPr>
              <a:t>Conversation</a:t>
            </a:r>
            <a:endParaRPr lang="en-US" sz="1500" dirty="0"/>
          </a:p>
        </p:txBody>
      </p:sp>
      <p:sp>
        <p:nvSpPr>
          <p:cNvPr id="8" name="txt-1642"/>
          <p:cNvSpPr txBox="1"/>
          <p:nvPr/>
        </p:nvSpPr>
        <p:spPr>
          <a:xfrm>
            <a:off x="731520" y="5166360"/>
            <a:ext cx="2240280" cy="320040"/>
          </a:xfrm>
          <a:prstGeom prst="rect">
            <a:avLst/>
          </a:prstGeom>
          <a:noFill/>
          <a:ln/>
        </p:spPr>
        <p:txBody>
          <a:bodyPr wrap="square" lIns="0" tIns="0" rIns="0" bIns="0" rtlCol="0" anchor="t"/>
          <a:lstStyle/>
          <a:p>
            <a:pPr marL="0" indent="0">
              <a:buNone/>
            </a:pPr>
            <a:r>
              <a:rPr lang="en-US" sz="1200" dirty="0">
                <a:solidFill>
                  <a:schemeClr val="bg1"/>
                </a:solidFill>
              </a:rPr>
              <a:t>Vous décidez de tout ; l'IA répond.</a:t>
            </a:r>
            <a:endParaRPr lang="en-US" sz="1200" dirty="0"/>
          </a:p>
        </p:txBody>
      </p:sp>
      <p:sp>
        <p:nvSpPr>
          <p:cNvPr id="9" name="card-1643"/>
          <p:cNvSpPr/>
          <p:nvPr/>
        </p:nvSpPr>
        <p:spPr>
          <a:xfrm>
            <a:off x="3364992" y="3383280"/>
            <a:ext cx="2606040" cy="2148840"/>
          </a:xfrm>
          <a:prstGeom prst="roundRect">
            <a:avLst>
              <a:gd name="adj" fmla="val 3404"/>
            </a:avLst>
          </a:prstGeom>
          <a:solidFill>
            <a:schemeClr val="accent6"/>
          </a:solidFill>
          <a:ln w="6350">
            <a:solidFill>
              <a:schemeClr val="accent6"/>
            </a:solidFill>
            <a:prstDash val="solid"/>
          </a:ln>
        </p:spPr>
      </p:sp>
      <p:sp>
        <p:nvSpPr>
          <p:cNvPr id="10" name="num-1644"/>
          <p:cNvSpPr/>
          <p:nvPr/>
        </p:nvSpPr>
        <p:spPr>
          <a:xfrm>
            <a:off x="3547872" y="3566160"/>
            <a:ext cx="457200" cy="457200"/>
          </a:xfrm>
          <a:prstGeom prst="ellipse">
            <a:avLst/>
          </a:prstGeom>
          <a:solidFill>
            <a:schemeClr val="bg1"/>
          </a:solidFill>
          <a:ln w="12700">
            <a:solidFill>
              <a:schemeClr val="bg1"/>
            </a:solidFill>
            <a:prstDash val="solid"/>
          </a:ln>
        </p:spPr>
      </p:sp>
      <p:sp>
        <p:nvSpPr>
          <p:cNvPr id="11" name="txt-1645"/>
          <p:cNvSpPr txBox="1"/>
          <p:nvPr/>
        </p:nvSpPr>
        <p:spPr>
          <a:xfrm>
            <a:off x="3547872" y="3566160"/>
            <a:ext cx="457200" cy="457200"/>
          </a:xfrm>
          <a:prstGeom prst="rect">
            <a:avLst/>
          </a:prstGeom>
          <a:noFill/>
          <a:ln/>
        </p:spPr>
        <p:txBody>
          <a:bodyPr wrap="square" lIns="0" tIns="0" rIns="0" bIns="0" rtlCol="0" anchor="ctr"/>
          <a:lstStyle/>
          <a:p>
            <a:pPr marL="0" indent="0" algn="ctr">
              <a:buNone/>
            </a:pPr>
            <a:r>
              <a:rPr lang="en-US" sz="1500" b="1" dirty="0">
                <a:solidFill>
                  <a:schemeClr val="accent6"/>
                </a:solidFill>
              </a:rPr>
              <a:t>2</a:t>
            </a:r>
            <a:endParaRPr lang="en-US" sz="1500" dirty="0"/>
          </a:p>
        </p:txBody>
      </p:sp>
      <p:sp>
        <p:nvSpPr>
          <p:cNvPr id="12" name="txt-1646"/>
          <p:cNvSpPr txBox="1"/>
          <p:nvPr/>
        </p:nvSpPr>
        <p:spPr>
          <a:xfrm>
            <a:off x="3547872" y="4114800"/>
            <a:ext cx="2240280" cy="365760"/>
          </a:xfrm>
          <a:prstGeom prst="rect">
            <a:avLst/>
          </a:prstGeom>
          <a:noFill/>
          <a:ln/>
        </p:spPr>
        <p:txBody>
          <a:bodyPr wrap="square" lIns="0" tIns="0" rIns="0" bIns="0" rtlCol="0" anchor="t"/>
          <a:lstStyle/>
          <a:p>
            <a:pPr marL="0" indent="0">
              <a:buNone/>
            </a:pPr>
            <a:r>
              <a:rPr lang="en-US" sz="1500" b="1" dirty="0">
                <a:solidFill>
                  <a:schemeClr val="bg1"/>
                </a:solidFill>
              </a:rPr>
              <a:t>Assistant outillé</a:t>
            </a:r>
            <a:endParaRPr lang="en-US" sz="1500" dirty="0"/>
          </a:p>
        </p:txBody>
      </p:sp>
      <p:sp>
        <p:nvSpPr>
          <p:cNvPr id="13" name="txt-1647"/>
          <p:cNvSpPr txBox="1"/>
          <p:nvPr/>
        </p:nvSpPr>
        <p:spPr>
          <a:xfrm>
            <a:off x="3547872" y="4480560"/>
            <a:ext cx="2240280" cy="1005840"/>
          </a:xfrm>
          <a:prstGeom prst="rect">
            <a:avLst/>
          </a:prstGeom>
          <a:noFill/>
          <a:ln/>
        </p:spPr>
        <p:txBody>
          <a:bodyPr wrap="square" lIns="0" tIns="0" rIns="0" bIns="0" rtlCol="0" anchor="t"/>
          <a:lstStyle/>
          <a:p>
            <a:pPr marL="0" indent="0">
              <a:buNone/>
            </a:pPr>
            <a:r>
              <a:rPr lang="en-US" sz="1200" dirty="0">
                <a:solidFill>
                  <a:schemeClr val="bg1"/>
                </a:solidFill>
              </a:rPr>
              <a:t>L'IA cherche sur le web ou dans vos documents ; vous lisez.</a:t>
            </a:r>
            <a:endParaRPr lang="en-US" sz="1200" dirty="0"/>
          </a:p>
        </p:txBody>
      </p:sp>
      <p:sp>
        <p:nvSpPr>
          <p:cNvPr id="14" name="card-1648"/>
          <p:cNvSpPr/>
          <p:nvPr/>
        </p:nvSpPr>
        <p:spPr>
          <a:xfrm>
            <a:off x="6181344" y="2697480"/>
            <a:ext cx="2606040" cy="2834640"/>
          </a:xfrm>
          <a:prstGeom prst="roundRect">
            <a:avLst>
              <a:gd name="adj" fmla="val 2807"/>
            </a:avLst>
          </a:prstGeom>
          <a:solidFill>
            <a:schemeClr val="accent2"/>
          </a:solidFill>
          <a:ln w="6350">
            <a:solidFill>
              <a:schemeClr val="accent2"/>
            </a:solidFill>
            <a:prstDash val="solid"/>
          </a:ln>
        </p:spPr>
      </p:sp>
      <p:sp>
        <p:nvSpPr>
          <p:cNvPr id="15" name="num-1649"/>
          <p:cNvSpPr/>
          <p:nvPr/>
        </p:nvSpPr>
        <p:spPr>
          <a:xfrm>
            <a:off x="6364224" y="2880360"/>
            <a:ext cx="457200" cy="457200"/>
          </a:xfrm>
          <a:prstGeom prst="ellipse">
            <a:avLst/>
          </a:prstGeom>
          <a:solidFill>
            <a:schemeClr val="bg1"/>
          </a:solidFill>
          <a:ln w="12700">
            <a:solidFill>
              <a:schemeClr val="bg1"/>
            </a:solidFill>
            <a:prstDash val="solid"/>
          </a:ln>
        </p:spPr>
      </p:sp>
      <p:sp>
        <p:nvSpPr>
          <p:cNvPr id="16" name="txt-1650"/>
          <p:cNvSpPr txBox="1"/>
          <p:nvPr/>
        </p:nvSpPr>
        <p:spPr>
          <a:xfrm>
            <a:off x="6364224" y="2880360"/>
            <a:ext cx="457200" cy="457200"/>
          </a:xfrm>
          <a:prstGeom prst="rect">
            <a:avLst/>
          </a:prstGeom>
          <a:noFill/>
          <a:ln/>
        </p:spPr>
        <p:txBody>
          <a:bodyPr wrap="square" lIns="0" tIns="0" rIns="0" bIns="0" rtlCol="0" anchor="ctr"/>
          <a:lstStyle/>
          <a:p>
            <a:pPr marL="0" indent="0" algn="ctr">
              <a:buNone/>
            </a:pPr>
            <a:r>
              <a:rPr lang="en-US" sz="1500" b="1" dirty="0">
                <a:solidFill>
                  <a:schemeClr val="accent2"/>
                </a:solidFill>
              </a:rPr>
              <a:t>3</a:t>
            </a:r>
            <a:endParaRPr lang="en-US" sz="1500" dirty="0"/>
          </a:p>
        </p:txBody>
      </p:sp>
      <p:sp>
        <p:nvSpPr>
          <p:cNvPr id="17" name="txt-1651"/>
          <p:cNvSpPr txBox="1"/>
          <p:nvPr/>
        </p:nvSpPr>
        <p:spPr>
          <a:xfrm>
            <a:off x="6364224" y="3429000"/>
            <a:ext cx="2240280" cy="365760"/>
          </a:xfrm>
          <a:prstGeom prst="rect">
            <a:avLst/>
          </a:prstGeom>
          <a:noFill/>
          <a:ln/>
        </p:spPr>
        <p:txBody>
          <a:bodyPr wrap="square" lIns="0" tIns="0" rIns="0" bIns="0" rtlCol="0" anchor="t"/>
          <a:lstStyle/>
          <a:p>
            <a:pPr marL="0" indent="0">
              <a:buNone/>
            </a:pPr>
            <a:r>
              <a:rPr lang="en-US" sz="1500" b="1" dirty="0">
                <a:solidFill>
                  <a:schemeClr val="bg1"/>
                </a:solidFill>
              </a:rPr>
              <a:t>Agent supervisé</a:t>
            </a:r>
            <a:endParaRPr lang="en-US" sz="1500" dirty="0"/>
          </a:p>
        </p:txBody>
      </p:sp>
      <p:sp>
        <p:nvSpPr>
          <p:cNvPr id="18" name="txt-1652"/>
          <p:cNvSpPr txBox="1"/>
          <p:nvPr/>
        </p:nvSpPr>
        <p:spPr>
          <a:xfrm>
            <a:off x="6364224" y="3794760"/>
            <a:ext cx="2240280" cy="1691640"/>
          </a:xfrm>
          <a:prstGeom prst="rect">
            <a:avLst/>
          </a:prstGeom>
          <a:noFill/>
          <a:ln/>
        </p:spPr>
        <p:txBody>
          <a:bodyPr wrap="square" lIns="0" tIns="0" rIns="0" bIns="0" rtlCol="0" anchor="t"/>
          <a:lstStyle/>
          <a:p>
            <a:pPr marL="0" indent="0">
              <a:buNone/>
            </a:pPr>
            <a:r>
              <a:rPr lang="en-US" sz="1200" dirty="0">
                <a:solidFill>
                  <a:schemeClr val="bg1"/>
                </a:solidFill>
              </a:rPr>
              <a:t>L'IA exécute un plan que vous avez validé ; vous contrôlez le résultat.</a:t>
            </a:r>
            <a:endParaRPr lang="en-US" sz="1200" dirty="0"/>
          </a:p>
        </p:txBody>
      </p:sp>
      <p:sp>
        <p:nvSpPr>
          <p:cNvPr id="19" name="card-1653"/>
          <p:cNvSpPr/>
          <p:nvPr/>
        </p:nvSpPr>
        <p:spPr>
          <a:xfrm>
            <a:off x="8997696" y="2011680"/>
            <a:ext cx="2606040" cy="3520440"/>
          </a:xfrm>
          <a:prstGeom prst="roundRect">
            <a:avLst>
              <a:gd name="adj" fmla="val 2807"/>
            </a:avLst>
          </a:prstGeom>
          <a:solidFill>
            <a:schemeClr val="accent3"/>
          </a:solidFill>
          <a:ln w="6350">
            <a:solidFill>
              <a:schemeClr val="accent3"/>
            </a:solidFill>
            <a:prstDash val="solid"/>
          </a:ln>
        </p:spPr>
      </p:sp>
      <p:sp>
        <p:nvSpPr>
          <p:cNvPr id="20" name="num-1654"/>
          <p:cNvSpPr/>
          <p:nvPr/>
        </p:nvSpPr>
        <p:spPr>
          <a:xfrm>
            <a:off x="9180576" y="2194560"/>
            <a:ext cx="457200" cy="457200"/>
          </a:xfrm>
          <a:prstGeom prst="ellipse">
            <a:avLst/>
          </a:prstGeom>
          <a:solidFill>
            <a:schemeClr val="bg1"/>
          </a:solidFill>
          <a:ln w="12700">
            <a:solidFill>
              <a:schemeClr val="bg1"/>
            </a:solidFill>
            <a:prstDash val="solid"/>
          </a:ln>
        </p:spPr>
      </p:sp>
      <p:sp>
        <p:nvSpPr>
          <p:cNvPr id="21" name="txt-1655"/>
          <p:cNvSpPr txBox="1"/>
          <p:nvPr/>
        </p:nvSpPr>
        <p:spPr>
          <a:xfrm>
            <a:off x="9180576" y="2194560"/>
            <a:ext cx="457200" cy="457200"/>
          </a:xfrm>
          <a:prstGeom prst="rect">
            <a:avLst/>
          </a:prstGeom>
          <a:noFill/>
          <a:ln/>
        </p:spPr>
        <p:txBody>
          <a:bodyPr wrap="square" lIns="0" tIns="0" rIns="0" bIns="0" rtlCol="0" anchor="ctr"/>
          <a:lstStyle/>
          <a:p>
            <a:pPr marL="0" indent="0" algn="ctr">
              <a:buNone/>
            </a:pPr>
            <a:r>
              <a:rPr lang="en-US" sz="1500" b="1" dirty="0">
                <a:solidFill>
                  <a:schemeClr val="accent3"/>
                </a:solidFill>
              </a:rPr>
              <a:t>4</a:t>
            </a:r>
            <a:endParaRPr lang="en-US" sz="1500" dirty="0"/>
          </a:p>
        </p:txBody>
      </p:sp>
      <p:sp>
        <p:nvSpPr>
          <p:cNvPr id="22" name="txt-1656"/>
          <p:cNvSpPr txBox="1"/>
          <p:nvPr/>
        </p:nvSpPr>
        <p:spPr>
          <a:xfrm>
            <a:off x="9180576" y="2743200"/>
            <a:ext cx="2240280" cy="365760"/>
          </a:xfrm>
          <a:prstGeom prst="rect">
            <a:avLst/>
          </a:prstGeom>
          <a:noFill/>
          <a:ln/>
        </p:spPr>
        <p:txBody>
          <a:bodyPr wrap="square" lIns="0" tIns="0" rIns="0" bIns="0" rtlCol="0" anchor="t"/>
          <a:lstStyle/>
          <a:p>
            <a:pPr marL="0" indent="0">
              <a:buNone/>
            </a:pPr>
            <a:r>
              <a:rPr lang="en-US" sz="1500" b="1" dirty="0">
                <a:solidFill>
                  <a:schemeClr val="bg1"/>
                </a:solidFill>
              </a:rPr>
              <a:t>Agent autonome</a:t>
            </a:r>
            <a:endParaRPr lang="en-US" sz="1500" dirty="0"/>
          </a:p>
        </p:txBody>
      </p:sp>
      <p:sp>
        <p:nvSpPr>
          <p:cNvPr id="23" name="txt-1657"/>
          <p:cNvSpPr txBox="1"/>
          <p:nvPr/>
        </p:nvSpPr>
        <p:spPr>
          <a:xfrm>
            <a:off x="9180576" y="3108960"/>
            <a:ext cx="2240280" cy="2377440"/>
          </a:xfrm>
          <a:prstGeom prst="rect">
            <a:avLst/>
          </a:prstGeom>
          <a:noFill/>
          <a:ln/>
        </p:spPr>
        <p:txBody>
          <a:bodyPr wrap="square" lIns="0" tIns="0" rIns="0" bIns="0" rtlCol="0" anchor="t"/>
          <a:lstStyle/>
          <a:p>
            <a:pPr marL="0" indent="0">
              <a:buNone/>
            </a:pPr>
            <a:r>
              <a:rPr lang="en-US" sz="1200" dirty="0">
                <a:solidFill>
                  <a:schemeClr val="bg1"/>
                </a:solidFill>
              </a:rPr>
              <a:t>L'IA agit seule, sans validation. À éviter en recherche.</a:t>
            </a:r>
            <a:endParaRPr lang="en-US" sz="1200" dirty="0"/>
          </a:p>
        </p:txBody>
      </p:sp>
      <p:sp>
        <p:nvSpPr>
          <p:cNvPr id="24" name="card-1658"/>
          <p:cNvSpPr/>
          <p:nvPr/>
        </p:nvSpPr>
        <p:spPr>
          <a:xfrm>
            <a:off x="6181344" y="5623560"/>
            <a:ext cx="2606040" cy="329184"/>
          </a:xfrm>
          <a:prstGeom prst="roundRect">
            <a:avLst>
              <a:gd name="adj" fmla="val 22222"/>
            </a:avLst>
          </a:prstGeom>
          <a:solidFill>
            <a:schemeClr val="tx2"/>
          </a:solidFill>
          <a:ln w="6350">
            <a:solidFill>
              <a:schemeClr val="tx2"/>
            </a:solidFill>
            <a:prstDash val="solid"/>
          </a:ln>
        </p:spPr>
      </p:sp>
      <p:sp>
        <p:nvSpPr>
          <p:cNvPr id="25" name="txt-1659"/>
          <p:cNvSpPr txBox="1"/>
          <p:nvPr/>
        </p:nvSpPr>
        <p:spPr>
          <a:xfrm>
            <a:off x="6181344" y="5623560"/>
            <a:ext cx="2606040" cy="329184"/>
          </a:xfrm>
          <a:prstGeom prst="rect">
            <a:avLst/>
          </a:prstGeom>
          <a:noFill/>
          <a:ln/>
        </p:spPr>
        <p:txBody>
          <a:bodyPr wrap="square" lIns="0" tIns="0" rIns="0" bIns="0" rtlCol="0" anchor="ctr"/>
          <a:lstStyle/>
          <a:p>
            <a:pPr marL="0" indent="0" algn="ctr">
              <a:buNone/>
            </a:pPr>
            <a:r>
              <a:rPr lang="en-US" sz="1100" b="1" dirty="0">
                <a:solidFill>
                  <a:schemeClr val="bg1"/>
                </a:solidFill>
              </a:rPr>
              <a:t>Recommandé pour la recherche</a:t>
            </a:r>
            <a:endParaRPr lang="en-US" sz="1100" dirty="0"/>
          </a:p>
        </p:txBody>
      </p:sp>
      <p:sp>
        <p:nvSpPr>
          <p:cNvPr id="26" name="Slide Number Placeholder 0"/>
          <p:cNvSpPr>
            <a:spLocks noGrp="1"/>
          </p:cNvSpPr>
          <p:nvPr>
            <p:ph type="sldNum" sz="quarter" idx="4294967295"/>
          </p:nvPr>
        </p:nvSpPr>
        <p:spPr>
          <a:xfrm>
            <a:off x="11064240" y="6400800"/>
            <a:ext cx="54864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C82"/>
                </a:solidFill>
                <a:latin typeface="Poppins"/>
                <a:ea typeface="Poppins"/>
                <a:cs typeface="Poppins"/>
              </a:defRPr>
            </a:lvl1pPr>
          </a:lstStyle>
          <a:p>
            <a:pPr algn="r"/>
            <a:fld id="{F7021451-1387-4CA6-816F-3879F97B5CBC}" type="slidenum">
              <a:rPr lang="en-US" b="0"/>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566928"/>
            <a:ext cx="11064240" cy="777240"/>
          </a:xfrm>
          <a:prstGeom prst="rect">
            <a:avLst/>
          </a:prstGeom>
          <a:noFill/>
          <a:ln/>
        </p:spPr>
        <p:txBody>
          <a:bodyPr wrap="square" lIns="0" tIns="0" rIns="0" bIns="0" rtlCol="0" anchor="ctr"/>
          <a:lstStyle/>
          <a:p>
            <a:pPr marL="0" indent="0" algn="l">
              <a:buNone/>
            </a:pPr>
            <a:r>
              <a:rPr lang="en-US" sz="2700" b="1" dirty="0">
                <a:solidFill>
                  <a:schemeClr val="tx2"/>
                </a:solidFill>
                <a:latin typeface="Poppins" pitchFamily="34" charset="0"/>
                <a:ea typeface="Poppins" pitchFamily="34" charset="-122"/>
                <a:cs typeface="Poppins" pitchFamily="34" charset="-120"/>
              </a:rPr>
              <a:t>Risques et garde-fous</a:t>
            </a:r>
            <a:endParaRPr lang="en-US" sz="2700" dirty="0"/>
          </a:p>
        </p:txBody>
      </p:sp>
      <p:sp>
        <p:nvSpPr>
          <p:cNvPr id="3" name="Text 0"/>
          <p:cNvSpPr>
            <a:spLocks noGrp="1"/>
          </p:cNvSpPr>
          <p:nvPr>
            <p:ph type="body" idx="101" hasCustomPrompt="1"/>
          </p:nvPr>
        </p:nvSpPr>
        <p:spPr>
          <a:xfrm>
            <a:off x="548640" y="256032"/>
            <a:ext cx="8229600" cy="292608"/>
          </a:xfrm>
          <a:prstGeom prst="rect">
            <a:avLst/>
          </a:prstGeom>
          <a:noFill/>
          <a:ln/>
        </p:spPr>
        <p:txBody>
          <a:bodyPr wrap="square" lIns="0" tIns="0" rIns="0" bIns="0" rtlCol="0" anchor="ctr"/>
          <a:lstStyle/>
          <a:p>
            <a:pPr marL="0" indent="0">
              <a:buNone/>
            </a:pPr>
            <a:r>
              <a:rPr lang="en-US" sz="1100" b="1" dirty="0">
                <a:solidFill>
                  <a:schemeClr val="accent1"/>
                </a:solidFill>
                <a:latin typeface="Poppins" pitchFamily="34" charset="0"/>
                <a:ea typeface="Poppins" pitchFamily="34" charset="-122"/>
                <a:cs typeface="Poppins" pitchFamily="34" charset="-120"/>
              </a:rPr>
              <a:t>T5 · IA AGENTIQUE</a:t>
            </a:r>
            <a:endParaRPr lang="en-US" sz="1100" dirty="0"/>
          </a:p>
        </p:txBody>
      </p:sp>
      <p:sp>
        <p:nvSpPr>
          <p:cNvPr id="4" name="card-1660"/>
          <p:cNvSpPr/>
          <p:nvPr/>
        </p:nvSpPr>
        <p:spPr>
          <a:xfrm>
            <a:off x="548640" y="1554480"/>
            <a:ext cx="5394960" cy="4389120"/>
          </a:xfrm>
          <a:prstGeom prst="roundRect">
            <a:avLst>
              <a:gd name="adj" fmla="val 1667"/>
            </a:avLst>
          </a:prstGeom>
          <a:solidFill>
            <a:schemeClr val="bg2"/>
          </a:solidFill>
          <a:ln w="6350">
            <a:solidFill>
              <a:schemeClr val="bg2"/>
            </a:solidFill>
            <a:prstDash val="solid"/>
          </a:ln>
        </p:spPr>
      </p:sp>
      <p:sp>
        <p:nvSpPr>
          <p:cNvPr id="5" name="txt-1661"/>
          <p:cNvSpPr txBox="1"/>
          <p:nvPr/>
        </p:nvSpPr>
        <p:spPr>
          <a:xfrm>
            <a:off x="822960" y="1719072"/>
            <a:ext cx="4937760" cy="411480"/>
          </a:xfrm>
          <a:prstGeom prst="rect">
            <a:avLst/>
          </a:prstGeom>
          <a:noFill/>
          <a:ln/>
        </p:spPr>
        <p:txBody>
          <a:bodyPr wrap="square" lIns="0" tIns="0" rIns="0" bIns="0" rtlCol="0" anchor="t"/>
          <a:lstStyle/>
          <a:p>
            <a:pPr marL="0" indent="0">
              <a:buNone/>
            </a:pPr>
            <a:r>
              <a:rPr lang="en-US" sz="1600" b="1" dirty="0">
                <a:solidFill>
                  <a:schemeClr val="accent3"/>
                </a:solidFill>
              </a:rPr>
              <a:t>Risques</a:t>
            </a:r>
            <a:endParaRPr lang="en-US" sz="1600" dirty="0"/>
          </a:p>
        </p:txBody>
      </p:sp>
      <p:sp>
        <p:nvSpPr>
          <p:cNvPr id="6" name="circle-1662"/>
          <p:cNvSpPr/>
          <p:nvPr/>
        </p:nvSpPr>
        <p:spPr>
          <a:xfrm>
            <a:off x="822960" y="2286000"/>
            <a:ext cx="502920" cy="502920"/>
          </a:xfrm>
          <a:prstGeom prst="ellipse">
            <a:avLst/>
          </a:prstGeom>
          <a:solidFill>
            <a:schemeClr val="accent3"/>
          </a:solidFill>
          <a:ln w="12700">
            <a:solidFill>
              <a:schemeClr val="accent3"/>
            </a:solidFill>
            <a:prstDash val="solid"/>
          </a:ln>
        </p:spPr>
      </p:sp>
      <p:pic>
        <p:nvPicPr>
          <p:cNvPr id="7" name="icon-1663" descr="preencoded.png"/>
          <p:cNvPicPr>
            <a:picLocks noChangeAspect="1"/>
          </p:cNvPicPr>
          <p:nvPr/>
        </p:nvPicPr>
        <p:blipFill>
          <a:blip r:embed="rId3"/>
          <a:stretch>
            <a:fillRect/>
          </a:stretch>
        </p:blipFill>
        <p:spPr>
          <a:xfrm>
            <a:off x="948690" y="2411730"/>
            <a:ext cx="251460" cy="251460"/>
          </a:xfrm>
          <a:prstGeom prst="rect">
            <a:avLst/>
          </a:prstGeom>
        </p:spPr>
      </p:pic>
      <p:sp>
        <p:nvSpPr>
          <p:cNvPr id="8" name="txt-1664"/>
          <p:cNvSpPr txBox="1"/>
          <p:nvPr/>
        </p:nvSpPr>
        <p:spPr>
          <a:xfrm>
            <a:off x="1508760" y="2194560"/>
            <a:ext cx="4297680" cy="685800"/>
          </a:xfrm>
          <a:prstGeom prst="rect">
            <a:avLst/>
          </a:prstGeom>
          <a:noFill/>
          <a:ln/>
        </p:spPr>
        <p:txBody>
          <a:bodyPr wrap="square" lIns="0" tIns="0" rIns="0" bIns="0" rtlCol="0" anchor="ctr"/>
          <a:lstStyle/>
          <a:p>
            <a:pPr marL="0" indent="0">
              <a:buNone/>
            </a:pPr>
            <a:r>
              <a:rPr lang="en-US" sz="1300" dirty="0">
                <a:solidFill>
                  <a:schemeClr val="tx1"/>
                </a:solidFill>
              </a:rPr>
              <a:t>Erreurs en cascade : une mauvaise étape fausse toute la suite</a:t>
            </a:r>
            <a:endParaRPr lang="en-US" sz="1300" dirty="0"/>
          </a:p>
        </p:txBody>
      </p:sp>
      <p:sp>
        <p:nvSpPr>
          <p:cNvPr id="9" name="circle-1665"/>
          <p:cNvSpPr/>
          <p:nvPr/>
        </p:nvSpPr>
        <p:spPr>
          <a:xfrm>
            <a:off x="822960" y="3154680"/>
            <a:ext cx="502920" cy="502920"/>
          </a:xfrm>
          <a:prstGeom prst="ellipse">
            <a:avLst/>
          </a:prstGeom>
          <a:solidFill>
            <a:schemeClr val="accent3"/>
          </a:solidFill>
          <a:ln w="12700">
            <a:solidFill>
              <a:schemeClr val="accent3"/>
            </a:solidFill>
            <a:prstDash val="solid"/>
          </a:ln>
        </p:spPr>
      </p:sp>
      <p:pic>
        <p:nvPicPr>
          <p:cNvPr id="10" name="icon-1666" descr="preencoded.png"/>
          <p:cNvPicPr>
            <a:picLocks noChangeAspect="1"/>
          </p:cNvPicPr>
          <p:nvPr/>
        </p:nvPicPr>
        <p:blipFill>
          <a:blip r:embed="rId3"/>
          <a:stretch>
            <a:fillRect/>
          </a:stretch>
        </p:blipFill>
        <p:spPr>
          <a:xfrm>
            <a:off x="948690" y="3280410"/>
            <a:ext cx="251460" cy="251460"/>
          </a:xfrm>
          <a:prstGeom prst="rect">
            <a:avLst/>
          </a:prstGeom>
        </p:spPr>
      </p:pic>
      <p:sp>
        <p:nvSpPr>
          <p:cNvPr id="11" name="txt-1667"/>
          <p:cNvSpPr txBox="1"/>
          <p:nvPr/>
        </p:nvSpPr>
        <p:spPr>
          <a:xfrm>
            <a:off x="1508760" y="3063240"/>
            <a:ext cx="4297680" cy="685800"/>
          </a:xfrm>
          <a:prstGeom prst="rect">
            <a:avLst/>
          </a:prstGeom>
          <a:noFill/>
          <a:ln/>
        </p:spPr>
        <p:txBody>
          <a:bodyPr wrap="square" lIns="0" tIns="0" rIns="0" bIns="0" rtlCol="0" anchor="ctr"/>
          <a:lstStyle/>
          <a:p>
            <a:pPr marL="0" indent="0">
              <a:buNone/>
            </a:pPr>
            <a:r>
              <a:rPr lang="en-US" sz="1300" dirty="0">
                <a:solidFill>
                  <a:schemeClr val="tx1"/>
                </a:solidFill>
              </a:rPr>
              <a:t>Sources de faible qualité choisies sans que vous le voyiez</a:t>
            </a:r>
            <a:endParaRPr lang="en-US" sz="1300" dirty="0"/>
          </a:p>
        </p:txBody>
      </p:sp>
      <p:sp>
        <p:nvSpPr>
          <p:cNvPr id="12" name="circle-1668"/>
          <p:cNvSpPr/>
          <p:nvPr/>
        </p:nvSpPr>
        <p:spPr>
          <a:xfrm>
            <a:off x="822960" y="4023360"/>
            <a:ext cx="502920" cy="502920"/>
          </a:xfrm>
          <a:prstGeom prst="ellipse">
            <a:avLst/>
          </a:prstGeom>
          <a:solidFill>
            <a:schemeClr val="accent3"/>
          </a:solidFill>
          <a:ln w="12700">
            <a:solidFill>
              <a:schemeClr val="accent3"/>
            </a:solidFill>
            <a:prstDash val="solid"/>
          </a:ln>
        </p:spPr>
      </p:sp>
      <p:pic>
        <p:nvPicPr>
          <p:cNvPr id="13" name="icon-1669" descr="preencoded.png"/>
          <p:cNvPicPr>
            <a:picLocks noChangeAspect="1"/>
          </p:cNvPicPr>
          <p:nvPr/>
        </p:nvPicPr>
        <p:blipFill>
          <a:blip r:embed="rId3"/>
          <a:stretch>
            <a:fillRect/>
          </a:stretch>
        </p:blipFill>
        <p:spPr>
          <a:xfrm>
            <a:off x="948690" y="4149090"/>
            <a:ext cx="251460" cy="251460"/>
          </a:xfrm>
          <a:prstGeom prst="rect">
            <a:avLst/>
          </a:prstGeom>
        </p:spPr>
      </p:pic>
      <p:sp>
        <p:nvSpPr>
          <p:cNvPr id="14" name="txt-1670"/>
          <p:cNvSpPr txBox="1"/>
          <p:nvPr/>
        </p:nvSpPr>
        <p:spPr>
          <a:xfrm>
            <a:off x="1508760" y="3931920"/>
            <a:ext cx="4297680" cy="685800"/>
          </a:xfrm>
          <a:prstGeom prst="rect">
            <a:avLst/>
          </a:prstGeom>
          <a:noFill/>
          <a:ln/>
        </p:spPr>
        <p:txBody>
          <a:bodyPr wrap="square" lIns="0" tIns="0" rIns="0" bIns="0" rtlCol="0" anchor="ctr"/>
          <a:lstStyle/>
          <a:p>
            <a:pPr marL="0" indent="0">
              <a:buNone/>
            </a:pPr>
            <a:r>
              <a:rPr lang="en-US" sz="1300" dirty="0">
                <a:solidFill>
                  <a:schemeClr val="tx1"/>
                </a:solidFill>
              </a:rPr>
              <a:t>Actions non voulues : envoi, achat, suppression</a:t>
            </a:r>
            <a:endParaRPr lang="en-US" sz="1300" dirty="0"/>
          </a:p>
        </p:txBody>
      </p:sp>
      <p:sp>
        <p:nvSpPr>
          <p:cNvPr id="15" name="circle-1671"/>
          <p:cNvSpPr/>
          <p:nvPr/>
        </p:nvSpPr>
        <p:spPr>
          <a:xfrm>
            <a:off x="822960" y="4892040"/>
            <a:ext cx="502920" cy="502920"/>
          </a:xfrm>
          <a:prstGeom prst="ellipse">
            <a:avLst/>
          </a:prstGeom>
          <a:solidFill>
            <a:schemeClr val="accent3"/>
          </a:solidFill>
          <a:ln w="12700">
            <a:solidFill>
              <a:schemeClr val="accent3"/>
            </a:solidFill>
            <a:prstDash val="solid"/>
          </a:ln>
        </p:spPr>
      </p:sp>
      <p:pic>
        <p:nvPicPr>
          <p:cNvPr id="16" name="icon-1672" descr="preencoded.png"/>
          <p:cNvPicPr>
            <a:picLocks noChangeAspect="1"/>
          </p:cNvPicPr>
          <p:nvPr/>
        </p:nvPicPr>
        <p:blipFill>
          <a:blip r:embed="rId3"/>
          <a:stretch>
            <a:fillRect/>
          </a:stretch>
        </p:blipFill>
        <p:spPr>
          <a:xfrm>
            <a:off x="948690" y="5017770"/>
            <a:ext cx="251460" cy="251460"/>
          </a:xfrm>
          <a:prstGeom prst="rect">
            <a:avLst/>
          </a:prstGeom>
        </p:spPr>
      </p:pic>
      <p:sp>
        <p:nvSpPr>
          <p:cNvPr id="17" name="txt-1673"/>
          <p:cNvSpPr txBox="1"/>
          <p:nvPr/>
        </p:nvSpPr>
        <p:spPr>
          <a:xfrm>
            <a:off x="1508760" y="4800600"/>
            <a:ext cx="4297680" cy="685800"/>
          </a:xfrm>
          <a:prstGeom prst="rect">
            <a:avLst/>
          </a:prstGeom>
          <a:noFill/>
          <a:ln/>
        </p:spPr>
        <p:txBody>
          <a:bodyPr wrap="square" lIns="0" tIns="0" rIns="0" bIns="0" rtlCol="0" anchor="ctr"/>
          <a:lstStyle/>
          <a:p>
            <a:pPr marL="0" indent="0">
              <a:buNone/>
            </a:pPr>
            <a:r>
              <a:rPr lang="en-US" sz="1300" dirty="0">
                <a:solidFill>
                  <a:schemeClr val="tx1"/>
                </a:solidFill>
              </a:rPr>
              <a:t>Fuite de données confiées à l'agent</a:t>
            </a:r>
            <a:endParaRPr lang="en-US" sz="1300" dirty="0"/>
          </a:p>
        </p:txBody>
      </p:sp>
      <p:sp>
        <p:nvSpPr>
          <p:cNvPr id="18" name="card-1674"/>
          <p:cNvSpPr/>
          <p:nvPr/>
        </p:nvSpPr>
        <p:spPr>
          <a:xfrm>
            <a:off x="6217920" y="1554480"/>
            <a:ext cx="5394960" cy="4389120"/>
          </a:xfrm>
          <a:prstGeom prst="roundRect">
            <a:avLst>
              <a:gd name="adj" fmla="val 1667"/>
            </a:avLst>
          </a:prstGeom>
          <a:solidFill>
            <a:schemeClr val="bg2"/>
          </a:solidFill>
          <a:ln w="6350">
            <a:solidFill>
              <a:schemeClr val="bg2"/>
            </a:solidFill>
            <a:prstDash val="solid"/>
          </a:ln>
        </p:spPr>
      </p:sp>
      <p:sp>
        <p:nvSpPr>
          <p:cNvPr id="19" name="txt-1675"/>
          <p:cNvSpPr txBox="1"/>
          <p:nvPr/>
        </p:nvSpPr>
        <p:spPr>
          <a:xfrm>
            <a:off x="6492240" y="1719072"/>
            <a:ext cx="4937760" cy="411480"/>
          </a:xfrm>
          <a:prstGeom prst="rect">
            <a:avLst/>
          </a:prstGeom>
          <a:noFill/>
          <a:ln/>
        </p:spPr>
        <p:txBody>
          <a:bodyPr wrap="square" lIns="0" tIns="0" rIns="0" bIns="0" rtlCol="0" anchor="t"/>
          <a:lstStyle/>
          <a:p>
            <a:pPr marL="0" indent="0">
              <a:buNone/>
            </a:pPr>
            <a:r>
              <a:rPr lang="en-US" sz="1600" b="1" dirty="0">
                <a:solidFill>
                  <a:schemeClr val="accent2"/>
                </a:solidFill>
              </a:rPr>
              <a:t>Garde-fous</a:t>
            </a:r>
            <a:endParaRPr lang="en-US" sz="1600" dirty="0"/>
          </a:p>
        </p:txBody>
      </p:sp>
      <p:sp>
        <p:nvSpPr>
          <p:cNvPr id="20" name="circle-1676"/>
          <p:cNvSpPr/>
          <p:nvPr/>
        </p:nvSpPr>
        <p:spPr>
          <a:xfrm>
            <a:off x="6492240" y="2286000"/>
            <a:ext cx="502920" cy="502920"/>
          </a:xfrm>
          <a:prstGeom prst="ellipse">
            <a:avLst/>
          </a:prstGeom>
          <a:solidFill>
            <a:schemeClr val="accent2"/>
          </a:solidFill>
          <a:ln w="12700">
            <a:solidFill>
              <a:schemeClr val="accent2"/>
            </a:solidFill>
            <a:prstDash val="solid"/>
          </a:ln>
        </p:spPr>
      </p:sp>
      <p:pic>
        <p:nvPicPr>
          <p:cNvPr id="21" name="icon-1677" descr="preencoded.png"/>
          <p:cNvPicPr>
            <a:picLocks noChangeAspect="1"/>
          </p:cNvPicPr>
          <p:nvPr/>
        </p:nvPicPr>
        <p:blipFill>
          <a:blip r:embed="rId4"/>
          <a:stretch>
            <a:fillRect/>
          </a:stretch>
        </p:blipFill>
        <p:spPr>
          <a:xfrm>
            <a:off x="6617970" y="2411730"/>
            <a:ext cx="251460" cy="251460"/>
          </a:xfrm>
          <a:prstGeom prst="rect">
            <a:avLst/>
          </a:prstGeom>
        </p:spPr>
      </p:pic>
      <p:sp>
        <p:nvSpPr>
          <p:cNvPr id="22" name="txt-1678"/>
          <p:cNvSpPr txBox="1"/>
          <p:nvPr/>
        </p:nvSpPr>
        <p:spPr>
          <a:xfrm>
            <a:off x="7178040" y="2194560"/>
            <a:ext cx="4297680" cy="685800"/>
          </a:xfrm>
          <a:prstGeom prst="rect">
            <a:avLst/>
          </a:prstGeom>
          <a:noFill/>
          <a:ln/>
        </p:spPr>
        <p:txBody>
          <a:bodyPr wrap="square" lIns="0" tIns="0" rIns="0" bIns="0" rtlCol="0" anchor="ctr"/>
          <a:lstStyle/>
          <a:p>
            <a:pPr marL="0" indent="0">
              <a:buNone/>
            </a:pPr>
            <a:r>
              <a:rPr lang="en-US" sz="1300" dirty="0">
                <a:solidFill>
                  <a:schemeClr val="tx1"/>
                </a:solidFill>
              </a:rPr>
              <a:t>Valider le plan avant de lancer l'agent</a:t>
            </a:r>
            <a:endParaRPr lang="en-US" sz="1300" dirty="0"/>
          </a:p>
        </p:txBody>
      </p:sp>
      <p:sp>
        <p:nvSpPr>
          <p:cNvPr id="23" name="circle-1679"/>
          <p:cNvSpPr/>
          <p:nvPr/>
        </p:nvSpPr>
        <p:spPr>
          <a:xfrm>
            <a:off x="6492240" y="3154680"/>
            <a:ext cx="502920" cy="502920"/>
          </a:xfrm>
          <a:prstGeom prst="ellipse">
            <a:avLst/>
          </a:prstGeom>
          <a:solidFill>
            <a:schemeClr val="accent2"/>
          </a:solidFill>
          <a:ln w="12700">
            <a:solidFill>
              <a:schemeClr val="accent2"/>
            </a:solidFill>
            <a:prstDash val="solid"/>
          </a:ln>
        </p:spPr>
      </p:sp>
      <p:pic>
        <p:nvPicPr>
          <p:cNvPr id="24" name="icon-1680" descr="preencoded.png"/>
          <p:cNvPicPr>
            <a:picLocks noChangeAspect="1"/>
          </p:cNvPicPr>
          <p:nvPr/>
        </p:nvPicPr>
        <p:blipFill>
          <a:blip r:embed="rId4"/>
          <a:stretch>
            <a:fillRect/>
          </a:stretch>
        </p:blipFill>
        <p:spPr>
          <a:xfrm>
            <a:off x="6617970" y="3280410"/>
            <a:ext cx="251460" cy="251460"/>
          </a:xfrm>
          <a:prstGeom prst="rect">
            <a:avLst/>
          </a:prstGeom>
        </p:spPr>
      </p:pic>
      <p:sp>
        <p:nvSpPr>
          <p:cNvPr id="25" name="txt-1681"/>
          <p:cNvSpPr txBox="1"/>
          <p:nvPr/>
        </p:nvSpPr>
        <p:spPr>
          <a:xfrm>
            <a:off x="7178040" y="3063240"/>
            <a:ext cx="4297680" cy="685800"/>
          </a:xfrm>
          <a:prstGeom prst="rect">
            <a:avLst/>
          </a:prstGeom>
          <a:noFill/>
          <a:ln/>
        </p:spPr>
        <p:txBody>
          <a:bodyPr wrap="square" lIns="0" tIns="0" rIns="0" bIns="0" rtlCol="0" anchor="ctr"/>
          <a:lstStyle/>
          <a:p>
            <a:pPr marL="0" indent="0">
              <a:buNone/>
            </a:pPr>
            <a:r>
              <a:rPr lang="en-US" sz="1300" dirty="0">
                <a:solidFill>
                  <a:schemeClr val="tx1"/>
                </a:solidFill>
              </a:rPr>
              <a:t>Exiger le journal des étapes et la liste des sources</a:t>
            </a:r>
            <a:endParaRPr lang="en-US" sz="1300" dirty="0"/>
          </a:p>
        </p:txBody>
      </p:sp>
      <p:sp>
        <p:nvSpPr>
          <p:cNvPr id="26" name="circle-1682"/>
          <p:cNvSpPr/>
          <p:nvPr/>
        </p:nvSpPr>
        <p:spPr>
          <a:xfrm>
            <a:off x="6492240" y="4023360"/>
            <a:ext cx="502920" cy="502920"/>
          </a:xfrm>
          <a:prstGeom prst="ellipse">
            <a:avLst/>
          </a:prstGeom>
          <a:solidFill>
            <a:schemeClr val="accent2"/>
          </a:solidFill>
          <a:ln w="12700">
            <a:solidFill>
              <a:schemeClr val="accent2"/>
            </a:solidFill>
            <a:prstDash val="solid"/>
          </a:ln>
        </p:spPr>
      </p:sp>
      <p:pic>
        <p:nvPicPr>
          <p:cNvPr id="27" name="icon-1683" descr="preencoded.png"/>
          <p:cNvPicPr>
            <a:picLocks noChangeAspect="1"/>
          </p:cNvPicPr>
          <p:nvPr/>
        </p:nvPicPr>
        <p:blipFill>
          <a:blip r:embed="rId4"/>
          <a:stretch>
            <a:fillRect/>
          </a:stretch>
        </p:blipFill>
        <p:spPr>
          <a:xfrm>
            <a:off x="6617970" y="4149090"/>
            <a:ext cx="251460" cy="251460"/>
          </a:xfrm>
          <a:prstGeom prst="rect">
            <a:avLst/>
          </a:prstGeom>
        </p:spPr>
      </p:pic>
      <p:sp>
        <p:nvSpPr>
          <p:cNvPr id="28" name="txt-1684"/>
          <p:cNvSpPr txBox="1"/>
          <p:nvPr/>
        </p:nvSpPr>
        <p:spPr>
          <a:xfrm>
            <a:off x="7178040" y="3931920"/>
            <a:ext cx="4297680" cy="685800"/>
          </a:xfrm>
          <a:prstGeom prst="rect">
            <a:avLst/>
          </a:prstGeom>
          <a:noFill/>
          <a:ln/>
        </p:spPr>
        <p:txBody>
          <a:bodyPr wrap="square" lIns="0" tIns="0" rIns="0" bIns="0" rtlCol="0" anchor="ctr"/>
          <a:lstStyle/>
          <a:p>
            <a:pPr marL="0" indent="0">
              <a:buNone/>
            </a:pPr>
            <a:r>
              <a:rPr lang="en-US" sz="1300" dirty="0">
                <a:solidFill>
                  <a:schemeClr val="tx1"/>
                </a:solidFill>
              </a:rPr>
              <a:t>Donner le minimum d'accès : ni identifiants, ni données sensibles</a:t>
            </a:r>
            <a:endParaRPr lang="en-US" sz="1300" dirty="0"/>
          </a:p>
        </p:txBody>
      </p:sp>
      <p:sp>
        <p:nvSpPr>
          <p:cNvPr id="29" name="circle-1685"/>
          <p:cNvSpPr/>
          <p:nvPr/>
        </p:nvSpPr>
        <p:spPr>
          <a:xfrm>
            <a:off x="6492240" y="4892040"/>
            <a:ext cx="502920" cy="502920"/>
          </a:xfrm>
          <a:prstGeom prst="ellipse">
            <a:avLst/>
          </a:prstGeom>
          <a:solidFill>
            <a:schemeClr val="accent2"/>
          </a:solidFill>
          <a:ln w="12700">
            <a:solidFill>
              <a:schemeClr val="accent2"/>
            </a:solidFill>
            <a:prstDash val="solid"/>
          </a:ln>
        </p:spPr>
      </p:sp>
      <p:pic>
        <p:nvPicPr>
          <p:cNvPr id="30" name="icon-1686" descr="preencoded.png"/>
          <p:cNvPicPr>
            <a:picLocks noChangeAspect="1"/>
          </p:cNvPicPr>
          <p:nvPr/>
        </p:nvPicPr>
        <p:blipFill>
          <a:blip r:embed="rId4"/>
          <a:stretch>
            <a:fillRect/>
          </a:stretch>
        </p:blipFill>
        <p:spPr>
          <a:xfrm>
            <a:off x="6617970" y="5017770"/>
            <a:ext cx="251460" cy="251460"/>
          </a:xfrm>
          <a:prstGeom prst="rect">
            <a:avLst/>
          </a:prstGeom>
        </p:spPr>
      </p:pic>
      <p:sp>
        <p:nvSpPr>
          <p:cNvPr id="31" name="txt-1687"/>
          <p:cNvSpPr txBox="1"/>
          <p:nvPr/>
        </p:nvSpPr>
        <p:spPr>
          <a:xfrm>
            <a:off x="7178040" y="4800600"/>
            <a:ext cx="4297680" cy="685800"/>
          </a:xfrm>
          <a:prstGeom prst="rect">
            <a:avLst/>
          </a:prstGeom>
          <a:noFill/>
          <a:ln/>
        </p:spPr>
        <p:txBody>
          <a:bodyPr wrap="square" lIns="0" tIns="0" rIns="0" bIns="0" rtlCol="0" anchor="ctr"/>
          <a:lstStyle/>
          <a:p>
            <a:pPr marL="0" indent="0">
              <a:buNone/>
            </a:pPr>
            <a:r>
              <a:rPr lang="en-US" sz="1300" dirty="0">
                <a:solidFill>
                  <a:schemeClr val="tx1"/>
                </a:solidFill>
              </a:rPr>
              <a:t>Relire le livrable comme le travail d'un étudiant</a:t>
            </a:r>
            <a:endParaRPr lang="en-US" sz="1300" dirty="0"/>
          </a:p>
        </p:txBody>
      </p:sp>
      <p:sp>
        <p:nvSpPr>
          <p:cNvPr id="32" name="Slide Number Placeholder 0"/>
          <p:cNvSpPr>
            <a:spLocks noGrp="1"/>
          </p:cNvSpPr>
          <p:nvPr>
            <p:ph type="sldNum" sz="quarter" idx="4294967295"/>
          </p:nvPr>
        </p:nvSpPr>
        <p:spPr>
          <a:xfrm>
            <a:off x="11064240" y="6400800"/>
            <a:ext cx="54864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C82"/>
                </a:solidFill>
                <a:latin typeface="Poppins"/>
                <a:ea typeface="Poppins"/>
                <a:cs typeface="Poppins"/>
              </a:defRPr>
            </a:lvl1pPr>
          </a:lstStyle>
          <a:p>
            <a:pPr algn="r"/>
            <a:fld id="{F7021451-1387-4CA6-816F-3879F97B5CBC}" type="slidenum">
              <a:rPr lang="en-US" b="0"/>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566928"/>
            <a:ext cx="11064240" cy="777240"/>
          </a:xfrm>
          <a:prstGeom prst="rect">
            <a:avLst/>
          </a:prstGeom>
          <a:noFill/>
          <a:ln/>
        </p:spPr>
        <p:txBody>
          <a:bodyPr wrap="square" lIns="0" tIns="0" rIns="0" bIns="0" rtlCol="0" anchor="ctr"/>
          <a:lstStyle/>
          <a:p>
            <a:pPr marL="0" indent="0" algn="l">
              <a:buNone/>
            </a:pPr>
            <a:r>
              <a:rPr lang="en-US" sz="2700" b="1" dirty="0">
                <a:solidFill>
                  <a:schemeClr val="tx2"/>
                </a:solidFill>
                <a:latin typeface="Poppins" pitchFamily="34" charset="0"/>
                <a:ea typeface="Poppins" pitchFamily="34" charset="-122"/>
                <a:cs typeface="Poppins" pitchFamily="34" charset="-120"/>
              </a:rPr>
              <a:t>Un assistant personnalisé : 3 ingrédients</a:t>
            </a:r>
            <a:endParaRPr lang="en-US" sz="2700" dirty="0"/>
          </a:p>
        </p:txBody>
      </p:sp>
      <p:sp>
        <p:nvSpPr>
          <p:cNvPr id="3" name="Text 0"/>
          <p:cNvSpPr>
            <a:spLocks noGrp="1"/>
          </p:cNvSpPr>
          <p:nvPr>
            <p:ph type="body" idx="101" hasCustomPrompt="1"/>
          </p:nvPr>
        </p:nvSpPr>
        <p:spPr>
          <a:xfrm>
            <a:off x="548640" y="256032"/>
            <a:ext cx="8229600" cy="292608"/>
          </a:xfrm>
          <a:prstGeom prst="rect">
            <a:avLst/>
          </a:prstGeom>
          <a:noFill/>
          <a:ln/>
        </p:spPr>
        <p:txBody>
          <a:bodyPr wrap="square" lIns="0" tIns="0" rIns="0" bIns="0" rtlCol="0" anchor="ctr"/>
          <a:lstStyle/>
          <a:p>
            <a:pPr marL="0" indent="0">
              <a:buNone/>
            </a:pPr>
            <a:r>
              <a:rPr lang="en-US" sz="1100" b="1" dirty="0">
                <a:solidFill>
                  <a:schemeClr val="accent1"/>
                </a:solidFill>
                <a:latin typeface="Poppins" pitchFamily="34" charset="0"/>
                <a:ea typeface="Poppins" pitchFamily="34" charset="-122"/>
                <a:cs typeface="Poppins" pitchFamily="34" charset="-120"/>
              </a:rPr>
              <a:t>T5 · IA AGENTIQUE</a:t>
            </a:r>
            <a:endParaRPr lang="en-US" sz="1100" dirty="0"/>
          </a:p>
        </p:txBody>
      </p:sp>
      <p:sp>
        <p:nvSpPr>
          <p:cNvPr id="4" name="circle-1688"/>
          <p:cNvSpPr/>
          <p:nvPr/>
        </p:nvSpPr>
        <p:spPr>
          <a:xfrm>
            <a:off x="548640" y="1600200"/>
            <a:ext cx="777240" cy="777240"/>
          </a:xfrm>
          <a:prstGeom prst="ellipse">
            <a:avLst/>
          </a:prstGeom>
          <a:solidFill>
            <a:schemeClr val="accent6"/>
          </a:solidFill>
          <a:ln w="12700">
            <a:solidFill>
              <a:schemeClr val="accent6"/>
            </a:solidFill>
            <a:prstDash val="solid"/>
          </a:ln>
        </p:spPr>
      </p:sp>
      <p:pic>
        <p:nvPicPr>
          <p:cNvPr id="5" name="icon-1689" descr="preencoded.png"/>
          <p:cNvPicPr>
            <a:picLocks noChangeAspect="1"/>
          </p:cNvPicPr>
          <p:nvPr/>
        </p:nvPicPr>
        <p:blipFill>
          <a:blip r:embed="rId3"/>
          <a:stretch>
            <a:fillRect/>
          </a:stretch>
        </p:blipFill>
        <p:spPr>
          <a:xfrm>
            <a:off x="742950" y="1794510"/>
            <a:ext cx="388620" cy="388620"/>
          </a:xfrm>
          <a:prstGeom prst="rect">
            <a:avLst/>
          </a:prstGeom>
        </p:spPr>
      </p:pic>
      <p:sp>
        <p:nvSpPr>
          <p:cNvPr id="6" name="txt-1690"/>
          <p:cNvSpPr txBox="1"/>
          <p:nvPr/>
        </p:nvSpPr>
        <p:spPr>
          <a:xfrm>
            <a:off x="1508760" y="1554480"/>
            <a:ext cx="4663440" cy="914400"/>
          </a:xfrm>
          <a:prstGeom prst="rect">
            <a:avLst/>
          </a:prstGeom>
          <a:noFill/>
          <a:ln/>
        </p:spPr>
        <p:txBody>
          <a:bodyPr wrap="square" lIns="0" tIns="0" rIns="0" bIns="0" rtlCol="0" anchor="t"/>
          <a:lstStyle/>
          <a:p>
            <a:pPr marL="0" indent="0">
              <a:buNone/>
            </a:pPr>
            <a:r>
              <a:rPr lang="en-US" sz="1600" b="1" dirty="0">
                <a:solidFill>
                  <a:schemeClr val="tx2"/>
                </a:solidFill>
              </a:rPr>
              <a:t>Des instructions permanentes</a:t>
            </a:r>
            <a:endParaRPr lang="en-US" sz="1600" dirty="0"/>
          </a:p>
          <a:p>
            <a:pPr marL="0" indent="0">
              <a:buNone/>
            </a:pPr>
            <a:r>
              <a:rPr lang="en-US" sz="1300" dirty="0">
                <a:solidFill>
                  <a:schemeClr val="tx1"/>
                </a:solidFill>
              </a:rPr>
              <a:t>Qui il est, pour qui il travaille, comment il répond</a:t>
            </a:r>
            <a:endParaRPr lang="en-US" sz="1600" dirty="0"/>
          </a:p>
        </p:txBody>
      </p:sp>
      <p:sp>
        <p:nvSpPr>
          <p:cNvPr id="7" name="circle-1691"/>
          <p:cNvSpPr/>
          <p:nvPr/>
        </p:nvSpPr>
        <p:spPr>
          <a:xfrm>
            <a:off x="548640" y="2697480"/>
            <a:ext cx="777240" cy="777240"/>
          </a:xfrm>
          <a:prstGeom prst="ellipse">
            <a:avLst/>
          </a:prstGeom>
          <a:solidFill>
            <a:schemeClr val="accent6"/>
          </a:solidFill>
          <a:ln w="12700">
            <a:solidFill>
              <a:schemeClr val="accent6"/>
            </a:solidFill>
            <a:prstDash val="solid"/>
          </a:ln>
        </p:spPr>
      </p:sp>
      <p:pic>
        <p:nvPicPr>
          <p:cNvPr id="8" name="icon-1692" descr="preencoded.png"/>
          <p:cNvPicPr>
            <a:picLocks noChangeAspect="1"/>
          </p:cNvPicPr>
          <p:nvPr/>
        </p:nvPicPr>
        <p:blipFill>
          <a:blip r:embed="rId4"/>
          <a:stretch>
            <a:fillRect/>
          </a:stretch>
        </p:blipFill>
        <p:spPr>
          <a:xfrm>
            <a:off x="742950" y="2891790"/>
            <a:ext cx="388620" cy="388620"/>
          </a:xfrm>
          <a:prstGeom prst="rect">
            <a:avLst/>
          </a:prstGeom>
        </p:spPr>
      </p:pic>
      <p:sp>
        <p:nvSpPr>
          <p:cNvPr id="9" name="txt-1693"/>
          <p:cNvSpPr txBox="1"/>
          <p:nvPr/>
        </p:nvSpPr>
        <p:spPr>
          <a:xfrm>
            <a:off x="1508760" y="2651760"/>
            <a:ext cx="4663440" cy="914400"/>
          </a:xfrm>
          <a:prstGeom prst="rect">
            <a:avLst/>
          </a:prstGeom>
          <a:noFill/>
          <a:ln/>
        </p:spPr>
        <p:txBody>
          <a:bodyPr wrap="square" lIns="0" tIns="0" rIns="0" bIns="0" rtlCol="0" anchor="t"/>
          <a:lstStyle/>
          <a:p>
            <a:pPr marL="0" indent="0">
              <a:buNone/>
            </a:pPr>
            <a:r>
              <a:rPr lang="en-US" sz="1600" b="1" dirty="0">
                <a:solidFill>
                  <a:schemeClr val="tx2"/>
                </a:solidFill>
              </a:rPr>
              <a:t>Des documents de référence</a:t>
            </a:r>
            <a:endParaRPr lang="en-US" sz="1600" dirty="0"/>
          </a:p>
          <a:p>
            <a:pPr marL="0" indent="0">
              <a:buNone/>
            </a:pPr>
            <a:r>
              <a:rPr lang="en-US" sz="1300" dirty="0">
                <a:solidFill>
                  <a:schemeClr val="tx1"/>
                </a:solidFill>
              </a:rPr>
              <a:t>Votre plan de thèse, les consignes de l'école doctorale ou de la revue, votre glossaire</a:t>
            </a:r>
            <a:endParaRPr lang="en-US" sz="1600" dirty="0"/>
          </a:p>
        </p:txBody>
      </p:sp>
      <p:sp>
        <p:nvSpPr>
          <p:cNvPr id="10" name="circle-1694"/>
          <p:cNvSpPr/>
          <p:nvPr/>
        </p:nvSpPr>
        <p:spPr>
          <a:xfrm>
            <a:off x="548640" y="3794760"/>
            <a:ext cx="777240" cy="777240"/>
          </a:xfrm>
          <a:prstGeom prst="ellipse">
            <a:avLst/>
          </a:prstGeom>
          <a:solidFill>
            <a:schemeClr val="accent6"/>
          </a:solidFill>
          <a:ln w="12700">
            <a:solidFill>
              <a:schemeClr val="accent6"/>
            </a:solidFill>
            <a:prstDash val="solid"/>
          </a:ln>
        </p:spPr>
      </p:sp>
      <p:pic>
        <p:nvPicPr>
          <p:cNvPr id="11" name="icon-1695" descr="preencoded.png"/>
          <p:cNvPicPr>
            <a:picLocks noChangeAspect="1"/>
          </p:cNvPicPr>
          <p:nvPr/>
        </p:nvPicPr>
        <p:blipFill>
          <a:blip r:embed="rId5"/>
          <a:stretch>
            <a:fillRect/>
          </a:stretch>
        </p:blipFill>
        <p:spPr>
          <a:xfrm>
            <a:off x="742950" y="3989070"/>
            <a:ext cx="388620" cy="388620"/>
          </a:xfrm>
          <a:prstGeom prst="rect">
            <a:avLst/>
          </a:prstGeom>
        </p:spPr>
      </p:pic>
      <p:sp>
        <p:nvSpPr>
          <p:cNvPr id="12" name="txt-1696"/>
          <p:cNvSpPr txBox="1"/>
          <p:nvPr/>
        </p:nvSpPr>
        <p:spPr>
          <a:xfrm>
            <a:off x="1508760" y="3749040"/>
            <a:ext cx="4663440" cy="914400"/>
          </a:xfrm>
          <a:prstGeom prst="rect">
            <a:avLst/>
          </a:prstGeom>
          <a:noFill/>
          <a:ln/>
        </p:spPr>
        <p:txBody>
          <a:bodyPr wrap="square" lIns="0" tIns="0" rIns="0" bIns="0" rtlCol="0" anchor="t"/>
          <a:lstStyle/>
          <a:p>
            <a:pPr marL="0" indent="0">
              <a:buNone/>
            </a:pPr>
            <a:r>
              <a:rPr lang="en-US" sz="1600" b="1" dirty="0">
                <a:solidFill>
                  <a:schemeClr val="tx2"/>
                </a:solidFill>
              </a:rPr>
              <a:t>Votre style</a:t>
            </a:r>
            <a:endParaRPr lang="en-US" sz="1600" dirty="0"/>
          </a:p>
          <a:p>
            <a:pPr marL="0" indent="0">
              <a:buNone/>
            </a:pPr>
            <a:r>
              <a:rPr lang="en-US" sz="1300" dirty="0">
                <a:solidFill>
                  <a:schemeClr val="tx1"/>
                </a:solidFill>
              </a:rPr>
              <a:t>Des exemples de textes que vous appréciez</a:t>
            </a:r>
            <a:endParaRPr lang="en-US" sz="1600" dirty="0"/>
          </a:p>
        </p:txBody>
      </p:sp>
      <p:sp>
        <p:nvSpPr>
          <p:cNvPr id="13" name="txt-1697"/>
          <p:cNvSpPr txBox="1"/>
          <p:nvPr/>
        </p:nvSpPr>
        <p:spPr>
          <a:xfrm>
            <a:off x="548640" y="4937760"/>
            <a:ext cx="2743200" cy="320040"/>
          </a:xfrm>
          <a:prstGeom prst="rect">
            <a:avLst/>
          </a:prstGeom>
          <a:noFill/>
          <a:ln/>
        </p:spPr>
        <p:txBody>
          <a:bodyPr wrap="square" lIns="0" tIns="0" rIns="0" bIns="0" rtlCol="0" anchor="t"/>
          <a:lstStyle/>
          <a:p>
            <a:pPr marL="0" indent="0">
              <a:buNone/>
            </a:pPr>
            <a:r>
              <a:rPr lang="en-US" sz="1300" b="1" dirty="0">
                <a:solidFill>
                  <a:schemeClr val="tx2"/>
                </a:solidFill>
              </a:rPr>
              <a:t>Où le créer</a:t>
            </a:r>
            <a:endParaRPr lang="en-US" sz="1300" dirty="0"/>
          </a:p>
        </p:txBody>
      </p:sp>
      <p:sp>
        <p:nvSpPr>
          <p:cNvPr id="14" name="card-1698"/>
          <p:cNvSpPr/>
          <p:nvPr/>
        </p:nvSpPr>
        <p:spPr>
          <a:xfrm>
            <a:off x="548640" y="5349240"/>
            <a:ext cx="1828800" cy="411480"/>
          </a:xfrm>
          <a:prstGeom prst="roundRect">
            <a:avLst>
              <a:gd name="adj" fmla="val 17778"/>
            </a:avLst>
          </a:prstGeom>
          <a:solidFill>
            <a:schemeClr val="accent4"/>
          </a:solidFill>
          <a:ln w="6350">
            <a:solidFill>
              <a:schemeClr val="accent4"/>
            </a:solidFill>
            <a:prstDash val="solid"/>
          </a:ln>
        </p:spPr>
      </p:sp>
      <p:sp>
        <p:nvSpPr>
          <p:cNvPr id="15" name="txt-1699"/>
          <p:cNvSpPr txBox="1"/>
          <p:nvPr/>
        </p:nvSpPr>
        <p:spPr>
          <a:xfrm>
            <a:off x="548640" y="5349240"/>
            <a:ext cx="1828800" cy="411480"/>
          </a:xfrm>
          <a:prstGeom prst="rect">
            <a:avLst/>
          </a:prstGeom>
          <a:noFill/>
          <a:ln/>
        </p:spPr>
        <p:txBody>
          <a:bodyPr wrap="square" lIns="0" tIns="0" rIns="0" bIns="0" rtlCol="0" anchor="ctr"/>
          <a:lstStyle/>
          <a:p>
            <a:pPr marL="0" indent="0" algn="ctr">
              <a:buNone/>
            </a:pPr>
            <a:r>
              <a:rPr lang="en-US" sz="1200" b="1" dirty="0">
                <a:solidFill>
                  <a:schemeClr val="bg1"/>
                </a:solidFill>
              </a:rPr>
              <a:t>Gemini → Gem</a:t>
            </a:r>
            <a:endParaRPr lang="en-US" sz="1200" dirty="0"/>
          </a:p>
        </p:txBody>
      </p:sp>
      <p:sp>
        <p:nvSpPr>
          <p:cNvPr id="16" name="card-1700"/>
          <p:cNvSpPr/>
          <p:nvPr/>
        </p:nvSpPr>
        <p:spPr>
          <a:xfrm>
            <a:off x="2514600" y="5349240"/>
            <a:ext cx="1828800" cy="411480"/>
          </a:xfrm>
          <a:prstGeom prst="roundRect">
            <a:avLst>
              <a:gd name="adj" fmla="val 17778"/>
            </a:avLst>
          </a:prstGeom>
          <a:solidFill>
            <a:schemeClr val="accent3"/>
          </a:solidFill>
          <a:ln w="6350">
            <a:solidFill>
              <a:schemeClr val="accent3"/>
            </a:solidFill>
            <a:prstDash val="solid"/>
          </a:ln>
        </p:spPr>
      </p:sp>
      <p:sp>
        <p:nvSpPr>
          <p:cNvPr id="17" name="txt-1701"/>
          <p:cNvSpPr txBox="1"/>
          <p:nvPr/>
        </p:nvSpPr>
        <p:spPr>
          <a:xfrm>
            <a:off x="2514600" y="5349240"/>
            <a:ext cx="1828800" cy="411480"/>
          </a:xfrm>
          <a:prstGeom prst="rect">
            <a:avLst/>
          </a:prstGeom>
          <a:noFill/>
          <a:ln/>
        </p:spPr>
        <p:txBody>
          <a:bodyPr wrap="square" lIns="0" tIns="0" rIns="0" bIns="0" rtlCol="0" anchor="ctr"/>
          <a:lstStyle/>
          <a:p>
            <a:pPr marL="0" indent="0" algn="ctr">
              <a:buNone/>
            </a:pPr>
            <a:r>
              <a:rPr lang="en-US" sz="1200" b="1" dirty="0">
                <a:solidFill>
                  <a:schemeClr val="bg1"/>
                </a:solidFill>
              </a:rPr>
              <a:t>Claude → Projet</a:t>
            </a:r>
            <a:endParaRPr lang="en-US" sz="1200" dirty="0"/>
          </a:p>
        </p:txBody>
      </p:sp>
      <p:sp>
        <p:nvSpPr>
          <p:cNvPr id="18" name="card-1702"/>
          <p:cNvSpPr/>
          <p:nvPr/>
        </p:nvSpPr>
        <p:spPr>
          <a:xfrm>
            <a:off x="4480560" y="5349240"/>
            <a:ext cx="1828800" cy="411480"/>
          </a:xfrm>
          <a:prstGeom prst="roundRect">
            <a:avLst>
              <a:gd name="adj" fmla="val 17778"/>
            </a:avLst>
          </a:prstGeom>
          <a:solidFill>
            <a:schemeClr val="accent2"/>
          </a:solidFill>
          <a:ln w="6350">
            <a:solidFill>
              <a:schemeClr val="accent2"/>
            </a:solidFill>
            <a:prstDash val="solid"/>
          </a:ln>
        </p:spPr>
      </p:sp>
      <p:sp>
        <p:nvSpPr>
          <p:cNvPr id="19" name="txt-1703"/>
          <p:cNvSpPr txBox="1"/>
          <p:nvPr/>
        </p:nvSpPr>
        <p:spPr>
          <a:xfrm>
            <a:off x="4480560" y="5349240"/>
            <a:ext cx="1828800" cy="411480"/>
          </a:xfrm>
          <a:prstGeom prst="rect">
            <a:avLst/>
          </a:prstGeom>
          <a:noFill/>
          <a:ln/>
        </p:spPr>
        <p:txBody>
          <a:bodyPr wrap="square" lIns="0" tIns="0" rIns="0" bIns="0" rtlCol="0" anchor="ctr"/>
          <a:lstStyle/>
          <a:p>
            <a:pPr marL="0" indent="0" algn="ctr">
              <a:buNone/>
            </a:pPr>
            <a:r>
              <a:rPr lang="en-US" sz="1200" b="1" dirty="0">
                <a:solidFill>
                  <a:schemeClr val="bg1"/>
                </a:solidFill>
              </a:rPr>
              <a:t>ChatGPT → GPT</a:t>
            </a:r>
            <a:endParaRPr lang="en-US" sz="1200" dirty="0"/>
          </a:p>
        </p:txBody>
      </p:sp>
      <p:sp>
        <p:nvSpPr>
          <p:cNvPr id="20" name="card-1704"/>
          <p:cNvSpPr/>
          <p:nvPr/>
        </p:nvSpPr>
        <p:spPr>
          <a:xfrm>
            <a:off x="6492240" y="1600200"/>
            <a:ext cx="5120640" cy="4343400"/>
          </a:xfrm>
          <a:prstGeom prst="roundRect">
            <a:avLst>
              <a:gd name="adj" fmla="val 1684"/>
            </a:avLst>
          </a:prstGeom>
          <a:solidFill>
            <a:schemeClr val="bg1"/>
          </a:solidFill>
          <a:ln w="6350">
            <a:solidFill>
              <a:schemeClr val="bg1"/>
            </a:solidFill>
            <a:prstDash val="solid"/>
          </a:ln>
          <a:effectLst>
            <a:outerShdw blurRad="101600" dist="25400" dir="5400000" algn="bl" rotWithShape="0">
              <a:srgbClr val="000000">
                <a:alpha val="10000"/>
              </a:srgbClr>
            </a:outerShdw>
          </a:effectLst>
        </p:spPr>
      </p:sp>
      <p:sp>
        <p:nvSpPr>
          <p:cNvPr id="21" name="txt-1705"/>
          <p:cNvSpPr txBox="1"/>
          <p:nvPr/>
        </p:nvSpPr>
        <p:spPr>
          <a:xfrm>
            <a:off x="6720840" y="1783080"/>
            <a:ext cx="4663440" cy="320040"/>
          </a:xfrm>
          <a:prstGeom prst="rect">
            <a:avLst/>
          </a:prstGeom>
          <a:noFill/>
          <a:ln/>
        </p:spPr>
        <p:txBody>
          <a:bodyPr wrap="square" lIns="0" tIns="0" rIns="0" bIns="0" rtlCol="0" anchor="t"/>
          <a:lstStyle/>
          <a:p>
            <a:pPr marL="0" indent="0">
              <a:buNone/>
            </a:pPr>
            <a:r>
              <a:rPr lang="en-US" sz="1200" b="1" dirty="0">
                <a:solidFill>
                  <a:schemeClr val="accent6"/>
                </a:solidFill>
              </a:rPr>
              <a:t>Exemple d'instructions</a:t>
            </a:r>
            <a:endParaRPr lang="en-US" sz="1200" dirty="0"/>
          </a:p>
        </p:txBody>
      </p:sp>
      <p:sp>
        <p:nvSpPr>
          <p:cNvPr id="22" name="txt-1706"/>
          <p:cNvSpPr txBox="1"/>
          <p:nvPr/>
        </p:nvSpPr>
        <p:spPr>
          <a:xfrm>
            <a:off x="6720840" y="2148840"/>
            <a:ext cx="4663440" cy="3611880"/>
          </a:xfrm>
          <a:prstGeom prst="rect">
            <a:avLst/>
          </a:prstGeom>
          <a:noFill/>
          <a:ln/>
        </p:spPr>
        <p:txBody>
          <a:bodyPr wrap="square" lIns="0" tIns="0" rIns="0" bIns="0" rtlCol="0" anchor="t"/>
          <a:lstStyle/>
          <a:p>
            <a:pPr marL="0" indent="0">
              <a:buNone/>
            </a:pPr>
            <a:r>
              <a:rPr lang="en-US" sz="1300" dirty="0">
                <a:solidFill>
                  <a:schemeClr val="tx1"/>
                </a:solidFill>
                <a:latin typeface="Consolas" pitchFamily="34" charset="0"/>
                <a:ea typeface="Consolas" pitchFamily="34" charset="-122"/>
                <a:cs typeface="Consolas" pitchFamily="34" charset="-120"/>
              </a:rPr>
              <a:t>Tu es l'assistant de thèse d'une doctorante en sociologie de l'éducation. Tu réponds en français académique. Tu signales toujours quand tu n'es pas sûr. Tu n'inventes jamais de référence : tu écris « à vérifier ». Tu proposes au plus 3 options.</a:t>
            </a:r>
            <a:endParaRPr lang="en-US" sz="1300" dirty="0"/>
          </a:p>
        </p:txBody>
      </p:sp>
      <p:sp>
        <p:nvSpPr>
          <p:cNvPr id="25" name="Slide Number Placeholder 0"/>
          <p:cNvSpPr>
            <a:spLocks noGrp="1"/>
          </p:cNvSpPr>
          <p:nvPr>
            <p:ph type="sldNum" sz="quarter" idx="4294967295"/>
          </p:nvPr>
        </p:nvSpPr>
        <p:spPr>
          <a:xfrm>
            <a:off x="11064240" y="6400800"/>
            <a:ext cx="54864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C82"/>
                </a:solidFill>
                <a:latin typeface="Poppins"/>
                <a:ea typeface="Poppins"/>
                <a:cs typeface="Poppins"/>
              </a:defRPr>
            </a:lvl1pPr>
          </a:lstStyle>
          <a:p>
            <a:pPr algn="r"/>
            <a:fld id="{F7021451-1387-4CA6-816F-3879F97B5CBC}" type="slidenum">
              <a:rPr lang="en-US" b="0"/>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566928"/>
            <a:ext cx="11064240" cy="777240"/>
          </a:xfrm>
          <a:prstGeom prst="rect">
            <a:avLst/>
          </a:prstGeom>
          <a:noFill/>
          <a:ln/>
        </p:spPr>
        <p:txBody>
          <a:bodyPr wrap="square" lIns="0" tIns="0" rIns="0" bIns="0" rtlCol="0" anchor="ctr"/>
          <a:lstStyle/>
          <a:p>
            <a:pPr marL="0" indent="0" algn="l">
              <a:buNone/>
            </a:pPr>
            <a:r>
              <a:rPr lang="en-US" sz="2700" b="1" dirty="0">
                <a:solidFill>
                  <a:schemeClr val="tx2"/>
                </a:solidFill>
                <a:latin typeface="Poppins" pitchFamily="34" charset="0"/>
                <a:ea typeface="Poppins" pitchFamily="34" charset="-122"/>
                <a:cs typeface="Poppins" pitchFamily="34" charset="-120"/>
              </a:rPr>
              <a:t>Lab 5 · Assistant ou agent : à vous de piloter</a:t>
            </a:r>
            <a:endParaRPr lang="en-US" sz="2700" dirty="0"/>
          </a:p>
        </p:txBody>
      </p:sp>
      <p:sp>
        <p:nvSpPr>
          <p:cNvPr id="3" name="Text 0"/>
          <p:cNvSpPr>
            <a:spLocks noGrp="1"/>
          </p:cNvSpPr>
          <p:nvPr>
            <p:ph type="body" idx="101" hasCustomPrompt="1"/>
          </p:nvPr>
        </p:nvSpPr>
        <p:spPr>
          <a:xfrm>
            <a:off x="548640" y="256032"/>
            <a:ext cx="8229600" cy="292608"/>
          </a:xfrm>
          <a:prstGeom prst="rect">
            <a:avLst/>
          </a:prstGeom>
          <a:noFill/>
          <a:ln/>
        </p:spPr>
        <p:txBody>
          <a:bodyPr wrap="square" lIns="0" tIns="0" rIns="0" bIns="0" rtlCol="0" anchor="ctr"/>
          <a:lstStyle/>
          <a:p>
            <a:pPr marL="0" indent="0">
              <a:buNone/>
            </a:pPr>
            <a:r>
              <a:rPr lang="en-US" sz="1100" b="1" dirty="0">
                <a:solidFill>
                  <a:schemeClr val="accent1"/>
                </a:solidFill>
                <a:latin typeface="Poppins" pitchFamily="34" charset="0"/>
                <a:ea typeface="Poppins" pitchFamily="34" charset="-122"/>
                <a:cs typeface="Poppins" pitchFamily="34" charset="-120"/>
              </a:rPr>
              <a:t>LAB 5 · 35 MIN</a:t>
            </a:r>
            <a:endParaRPr lang="en-US" sz="1100" dirty="0"/>
          </a:p>
        </p:txBody>
      </p:sp>
      <p:sp>
        <p:nvSpPr>
          <p:cNvPr id="4" name="card-1707"/>
          <p:cNvSpPr/>
          <p:nvPr/>
        </p:nvSpPr>
        <p:spPr>
          <a:xfrm>
            <a:off x="10195560" y="640080"/>
            <a:ext cx="1417320" cy="502920"/>
          </a:xfrm>
          <a:prstGeom prst="roundRect">
            <a:avLst>
              <a:gd name="adj" fmla="val 14545"/>
            </a:avLst>
          </a:prstGeom>
          <a:solidFill>
            <a:schemeClr val="accent1"/>
          </a:solidFill>
          <a:ln w="6350">
            <a:solidFill>
              <a:schemeClr val="accent1"/>
            </a:solidFill>
            <a:prstDash val="solid"/>
          </a:ln>
        </p:spPr>
      </p:sp>
      <p:sp>
        <p:nvSpPr>
          <p:cNvPr id="5" name="txt-1708"/>
          <p:cNvSpPr txBox="1"/>
          <p:nvPr/>
        </p:nvSpPr>
        <p:spPr>
          <a:xfrm>
            <a:off x="10195560" y="640080"/>
            <a:ext cx="1417320" cy="502920"/>
          </a:xfrm>
          <a:prstGeom prst="rect">
            <a:avLst/>
          </a:prstGeom>
          <a:noFill/>
          <a:ln/>
        </p:spPr>
        <p:txBody>
          <a:bodyPr wrap="square" lIns="0" tIns="0" rIns="0" bIns="0" rtlCol="0" anchor="ctr"/>
          <a:lstStyle/>
          <a:p>
            <a:pPr marL="0" indent="0" algn="ctr">
              <a:buNone/>
            </a:pPr>
            <a:r>
              <a:rPr lang="en-US" sz="1600" b="1" dirty="0">
                <a:solidFill>
                  <a:schemeClr val="tx2"/>
                </a:solidFill>
              </a:rPr>
              <a:t>35 min</a:t>
            </a:r>
            <a:endParaRPr lang="en-US" sz="1600" dirty="0"/>
          </a:p>
        </p:txBody>
      </p:sp>
      <p:sp>
        <p:nvSpPr>
          <p:cNvPr id="6" name="num-1709"/>
          <p:cNvSpPr/>
          <p:nvPr/>
        </p:nvSpPr>
        <p:spPr>
          <a:xfrm>
            <a:off x="548640" y="1572768"/>
            <a:ext cx="420624" cy="420624"/>
          </a:xfrm>
          <a:prstGeom prst="ellipse">
            <a:avLst/>
          </a:prstGeom>
          <a:solidFill>
            <a:schemeClr val="tx2"/>
          </a:solidFill>
          <a:ln w="12700">
            <a:solidFill>
              <a:schemeClr val="tx2"/>
            </a:solidFill>
            <a:prstDash val="solid"/>
          </a:ln>
        </p:spPr>
      </p:sp>
      <p:sp>
        <p:nvSpPr>
          <p:cNvPr id="7" name="txt-1710"/>
          <p:cNvSpPr txBox="1"/>
          <p:nvPr/>
        </p:nvSpPr>
        <p:spPr>
          <a:xfrm>
            <a:off x="548640" y="1572768"/>
            <a:ext cx="420624" cy="420624"/>
          </a:xfrm>
          <a:prstGeom prst="rect">
            <a:avLst/>
          </a:prstGeom>
          <a:no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8" name="txt-1711"/>
          <p:cNvSpPr txBox="1"/>
          <p:nvPr/>
        </p:nvSpPr>
        <p:spPr>
          <a:xfrm>
            <a:off x="1115568" y="1481328"/>
            <a:ext cx="5212080" cy="603504"/>
          </a:xfrm>
          <a:prstGeom prst="rect">
            <a:avLst/>
          </a:prstGeom>
          <a:noFill/>
          <a:ln/>
        </p:spPr>
        <p:txBody>
          <a:bodyPr wrap="square" lIns="0" tIns="0" rIns="0" bIns="0" rtlCol="0" anchor="ctr"/>
          <a:lstStyle/>
          <a:p>
            <a:pPr marL="0" indent="0">
              <a:buNone/>
            </a:pPr>
            <a:r>
              <a:rPr lang="en-US" sz="1400" dirty="0">
                <a:solidFill>
                  <a:schemeClr val="tx1"/>
                </a:solidFill>
              </a:rPr>
              <a:t>Option A : créez votre assistant de thèse (Gem, Projet ou GPT) avec le modèle ci-contre</a:t>
            </a:r>
            <a:endParaRPr lang="en-US" sz="1400" dirty="0"/>
          </a:p>
        </p:txBody>
      </p:sp>
      <p:sp>
        <p:nvSpPr>
          <p:cNvPr id="9" name="num-1712"/>
          <p:cNvSpPr/>
          <p:nvPr/>
        </p:nvSpPr>
        <p:spPr>
          <a:xfrm>
            <a:off x="548640" y="2212848"/>
            <a:ext cx="420624" cy="420624"/>
          </a:xfrm>
          <a:prstGeom prst="ellipse">
            <a:avLst/>
          </a:prstGeom>
          <a:solidFill>
            <a:schemeClr val="tx2"/>
          </a:solidFill>
          <a:ln w="12700">
            <a:solidFill>
              <a:schemeClr val="tx2"/>
            </a:solidFill>
            <a:prstDash val="solid"/>
          </a:ln>
        </p:spPr>
      </p:sp>
      <p:sp>
        <p:nvSpPr>
          <p:cNvPr id="10" name="txt-1713"/>
          <p:cNvSpPr txBox="1"/>
          <p:nvPr/>
        </p:nvSpPr>
        <p:spPr>
          <a:xfrm>
            <a:off x="548640" y="2212848"/>
            <a:ext cx="420624" cy="420624"/>
          </a:xfrm>
          <a:prstGeom prst="rect">
            <a:avLst/>
          </a:prstGeom>
          <a:no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11" name="txt-1714"/>
          <p:cNvSpPr txBox="1"/>
          <p:nvPr/>
        </p:nvSpPr>
        <p:spPr>
          <a:xfrm>
            <a:off x="1115568" y="2121408"/>
            <a:ext cx="5212080" cy="603504"/>
          </a:xfrm>
          <a:prstGeom prst="rect">
            <a:avLst/>
          </a:prstGeom>
          <a:noFill/>
          <a:ln/>
        </p:spPr>
        <p:txBody>
          <a:bodyPr wrap="square" lIns="0" tIns="0" rIns="0" bIns="0" rtlCol="0" anchor="ctr"/>
          <a:lstStyle/>
          <a:p>
            <a:pPr marL="0" indent="0">
              <a:buNone/>
            </a:pPr>
            <a:r>
              <a:rPr lang="en-US" sz="1400" dirty="0">
                <a:solidFill>
                  <a:schemeClr val="tx1"/>
                </a:solidFill>
              </a:rPr>
              <a:t>Option A : testez-le sur une vraie tâche de votre recherche</a:t>
            </a:r>
            <a:endParaRPr lang="en-US" sz="1400" dirty="0"/>
          </a:p>
        </p:txBody>
      </p:sp>
      <p:sp>
        <p:nvSpPr>
          <p:cNvPr id="12" name="num-1715"/>
          <p:cNvSpPr/>
          <p:nvPr/>
        </p:nvSpPr>
        <p:spPr>
          <a:xfrm>
            <a:off x="548640" y="2852928"/>
            <a:ext cx="420624" cy="420624"/>
          </a:xfrm>
          <a:prstGeom prst="ellipse">
            <a:avLst/>
          </a:prstGeom>
          <a:solidFill>
            <a:schemeClr val="tx2"/>
          </a:solidFill>
          <a:ln w="12700">
            <a:solidFill>
              <a:schemeClr val="tx2"/>
            </a:solidFill>
            <a:prstDash val="solid"/>
          </a:ln>
        </p:spPr>
      </p:sp>
      <p:sp>
        <p:nvSpPr>
          <p:cNvPr id="13" name="txt-1716"/>
          <p:cNvSpPr txBox="1"/>
          <p:nvPr/>
        </p:nvSpPr>
        <p:spPr>
          <a:xfrm>
            <a:off x="548640" y="2852928"/>
            <a:ext cx="420624" cy="420624"/>
          </a:xfrm>
          <a:prstGeom prst="rect">
            <a:avLst/>
          </a:prstGeom>
          <a:no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14" name="txt-1717"/>
          <p:cNvSpPr txBox="1"/>
          <p:nvPr/>
        </p:nvSpPr>
        <p:spPr>
          <a:xfrm>
            <a:off x="1115568" y="2761488"/>
            <a:ext cx="5212080" cy="603504"/>
          </a:xfrm>
          <a:prstGeom prst="rect">
            <a:avLst/>
          </a:prstGeom>
          <a:noFill/>
          <a:ln/>
        </p:spPr>
        <p:txBody>
          <a:bodyPr wrap="square" lIns="0" tIns="0" rIns="0" bIns="0" rtlCol="0" anchor="ctr"/>
          <a:lstStyle/>
          <a:p>
            <a:pPr marL="0" indent="0">
              <a:buNone/>
            </a:pPr>
            <a:r>
              <a:rPr lang="en-US" sz="1400" dirty="0">
                <a:solidFill>
                  <a:schemeClr val="tx1"/>
                </a:solidFill>
              </a:rPr>
              <a:t>Option B : lancez un Deep Research (Gemini) sur votre sujet de recherche</a:t>
            </a:r>
            <a:endParaRPr lang="en-US" sz="1400" dirty="0"/>
          </a:p>
        </p:txBody>
      </p:sp>
      <p:sp>
        <p:nvSpPr>
          <p:cNvPr id="15" name="num-1718"/>
          <p:cNvSpPr/>
          <p:nvPr/>
        </p:nvSpPr>
        <p:spPr>
          <a:xfrm>
            <a:off x="548640" y="3493008"/>
            <a:ext cx="420624" cy="420624"/>
          </a:xfrm>
          <a:prstGeom prst="ellipse">
            <a:avLst/>
          </a:prstGeom>
          <a:solidFill>
            <a:schemeClr val="tx2"/>
          </a:solidFill>
          <a:ln w="12700">
            <a:solidFill>
              <a:schemeClr val="tx2"/>
            </a:solidFill>
            <a:prstDash val="solid"/>
          </a:ln>
        </p:spPr>
      </p:sp>
      <p:sp>
        <p:nvSpPr>
          <p:cNvPr id="16" name="txt-1719"/>
          <p:cNvSpPr txBox="1"/>
          <p:nvPr/>
        </p:nvSpPr>
        <p:spPr>
          <a:xfrm>
            <a:off x="548640" y="3493008"/>
            <a:ext cx="420624" cy="420624"/>
          </a:xfrm>
          <a:prstGeom prst="rect">
            <a:avLst/>
          </a:prstGeom>
          <a:noFill/>
          <a:ln/>
        </p:spPr>
        <p:txBody>
          <a:bodyPr wrap="square" lIns="0" tIns="0" rIns="0" bIns="0" rtlCol="0" anchor="ctr"/>
          <a:lstStyle/>
          <a:p>
            <a:pPr marL="0" indent="0" algn="ctr">
              <a:buNone/>
            </a:pPr>
            <a:r>
              <a:rPr lang="en-US" sz="1400" b="1" dirty="0">
                <a:solidFill>
                  <a:schemeClr val="bg1"/>
                </a:solidFill>
              </a:rPr>
              <a:t>4</a:t>
            </a:r>
            <a:endParaRPr lang="en-US" sz="1400" dirty="0"/>
          </a:p>
        </p:txBody>
      </p:sp>
      <p:sp>
        <p:nvSpPr>
          <p:cNvPr id="17" name="txt-1720"/>
          <p:cNvSpPr txBox="1"/>
          <p:nvPr/>
        </p:nvSpPr>
        <p:spPr>
          <a:xfrm>
            <a:off x="1115568" y="3401568"/>
            <a:ext cx="5212080" cy="603504"/>
          </a:xfrm>
          <a:prstGeom prst="rect">
            <a:avLst/>
          </a:prstGeom>
          <a:noFill/>
          <a:ln/>
        </p:spPr>
        <p:txBody>
          <a:bodyPr wrap="square" lIns="0" tIns="0" rIns="0" bIns="0" rtlCol="0" anchor="ctr"/>
          <a:lstStyle/>
          <a:p>
            <a:pPr marL="0" indent="0">
              <a:buNone/>
            </a:pPr>
            <a:r>
              <a:rPr lang="en-US" sz="1400" dirty="0">
                <a:solidFill>
                  <a:schemeClr val="tx1"/>
                </a:solidFill>
              </a:rPr>
              <a:t>Option B : lisez le plan proposé et corrigez-le avant de lancer</a:t>
            </a:r>
            <a:endParaRPr lang="en-US" sz="1400" dirty="0"/>
          </a:p>
        </p:txBody>
      </p:sp>
      <p:sp>
        <p:nvSpPr>
          <p:cNvPr id="18" name="num-1721"/>
          <p:cNvSpPr/>
          <p:nvPr/>
        </p:nvSpPr>
        <p:spPr>
          <a:xfrm>
            <a:off x="548640" y="4133088"/>
            <a:ext cx="420624" cy="420624"/>
          </a:xfrm>
          <a:prstGeom prst="ellipse">
            <a:avLst/>
          </a:prstGeom>
          <a:solidFill>
            <a:schemeClr val="tx2"/>
          </a:solidFill>
          <a:ln w="12700">
            <a:solidFill>
              <a:schemeClr val="tx2"/>
            </a:solidFill>
            <a:prstDash val="solid"/>
          </a:ln>
        </p:spPr>
      </p:sp>
      <p:sp>
        <p:nvSpPr>
          <p:cNvPr id="19" name="txt-1722"/>
          <p:cNvSpPr txBox="1"/>
          <p:nvPr/>
        </p:nvSpPr>
        <p:spPr>
          <a:xfrm>
            <a:off x="548640" y="4133088"/>
            <a:ext cx="420624" cy="420624"/>
          </a:xfrm>
          <a:prstGeom prst="rect">
            <a:avLst/>
          </a:prstGeom>
          <a:noFill/>
          <a:ln/>
        </p:spPr>
        <p:txBody>
          <a:bodyPr wrap="square" lIns="0" tIns="0" rIns="0" bIns="0" rtlCol="0" anchor="ctr"/>
          <a:lstStyle/>
          <a:p>
            <a:pPr marL="0" indent="0" algn="ctr">
              <a:buNone/>
            </a:pPr>
            <a:r>
              <a:rPr lang="en-US" sz="1400" b="1" dirty="0">
                <a:solidFill>
                  <a:schemeClr val="bg1"/>
                </a:solidFill>
              </a:rPr>
              <a:t>5</a:t>
            </a:r>
            <a:endParaRPr lang="en-US" sz="1400" dirty="0"/>
          </a:p>
        </p:txBody>
      </p:sp>
      <p:sp>
        <p:nvSpPr>
          <p:cNvPr id="20" name="txt-1723"/>
          <p:cNvSpPr txBox="1"/>
          <p:nvPr/>
        </p:nvSpPr>
        <p:spPr>
          <a:xfrm>
            <a:off x="1115568" y="4041648"/>
            <a:ext cx="5212080" cy="603504"/>
          </a:xfrm>
          <a:prstGeom prst="rect">
            <a:avLst/>
          </a:prstGeom>
          <a:noFill/>
          <a:ln/>
        </p:spPr>
        <p:txBody>
          <a:bodyPr wrap="square" lIns="0" tIns="0" rIns="0" bIns="0" rtlCol="0" anchor="ctr"/>
          <a:lstStyle/>
          <a:p>
            <a:pPr marL="0" indent="0">
              <a:buNone/>
            </a:pPr>
            <a:r>
              <a:rPr lang="en-US" sz="1400" dirty="0">
                <a:solidFill>
                  <a:schemeClr val="tx1"/>
                </a:solidFill>
              </a:rPr>
              <a:t>Option B : auditez 5 sources du rapport (existent-elles ? disent-elles cela ?)</a:t>
            </a:r>
            <a:endParaRPr lang="en-US" sz="1400" dirty="0"/>
          </a:p>
        </p:txBody>
      </p:sp>
      <p:sp>
        <p:nvSpPr>
          <p:cNvPr id="21" name="card-1724"/>
          <p:cNvSpPr/>
          <p:nvPr/>
        </p:nvSpPr>
        <p:spPr>
          <a:xfrm>
            <a:off x="6675120" y="1508760"/>
            <a:ext cx="4937760" cy="3200400"/>
          </a:xfrm>
          <a:prstGeom prst="roundRect">
            <a:avLst>
              <a:gd name="adj" fmla="val 2286"/>
            </a:avLst>
          </a:prstGeom>
          <a:solidFill>
            <a:schemeClr val="bg1"/>
          </a:solidFill>
          <a:ln w="6350">
            <a:solidFill>
              <a:schemeClr val="bg1"/>
            </a:solidFill>
            <a:prstDash val="solid"/>
          </a:ln>
          <a:effectLst>
            <a:outerShdw blurRad="101600" dist="25400" dir="5400000" algn="bl" rotWithShape="0">
              <a:srgbClr val="000000">
                <a:alpha val="10000"/>
              </a:srgbClr>
            </a:outerShdw>
          </a:effectLst>
        </p:spPr>
      </p:sp>
      <p:sp>
        <p:nvSpPr>
          <p:cNvPr id="22" name="txt-1725"/>
          <p:cNvSpPr txBox="1"/>
          <p:nvPr/>
        </p:nvSpPr>
        <p:spPr>
          <a:xfrm>
            <a:off x="6903720" y="1691640"/>
            <a:ext cx="4480560" cy="320040"/>
          </a:xfrm>
          <a:prstGeom prst="rect">
            <a:avLst/>
          </a:prstGeom>
          <a:noFill/>
          <a:ln/>
        </p:spPr>
        <p:txBody>
          <a:bodyPr wrap="square" lIns="0" tIns="0" rIns="0" bIns="0" rtlCol="0" anchor="t"/>
          <a:lstStyle/>
          <a:p>
            <a:pPr marL="0" indent="0">
              <a:buNone/>
            </a:pPr>
            <a:r>
              <a:rPr lang="en-US" sz="1200" b="1" dirty="0">
                <a:solidFill>
                  <a:schemeClr val="accent6"/>
                </a:solidFill>
              </a:rPr>
              <a:t>Modèle d'instructions (option A)</a:t>
            </a:r>
            <a:endParaRPr lang="en-US" sz="1200" dirty="0"/>
          </a:p>
        </p:txBody>
      </p:sp>
      <p:sp>
        <p:nvSpPr>
          <p:cNvPr id="23" name="txt-1726"/>
          <p:cNvSpPr txBox="1"/>
          <p:nvPr/>
        </p:nvSpPr>
        <p:spPr>
          <a:xfrm>
            <a:off x="6903720" y="2057400"/>
            <a:ext cx="4480560" cy="2468880"/>
          </a:xfrm>
          <a:prstGeom prst="rect">
            <a:avLst/>
          </a:prstGeom>
          <a:noFill/>
          <a:ln/>
        </p:spPr>
        <p:txBody>
          <a:bodyPr wrap="square" lIns="0" tIns="0" rIns="0" bIns="0" rtlCol="0" anchor="t"/>
          <a:lstStyle/>
          <a:p>
            <a:pPr marL="0" indent="0">
              <a:buNone/>
            </a:pPr>
            <a:r>
              <a:rPr lang="en-US" sz="1300" dirty="0">
                <a:solidFill>
                  <a:schemeClr val="tx1"/>
                </a:solidFill>
                <a:latin typeface="Consolas" pitchFamily="34" charset="0"/>
                <a:ea typeface="Consolas" pitchFamily="34" charset="-122"/>
                <a:cs typeface="Consolas" pitchFamily="34" charset="-120"/>
              </a:rPr>
              <a:t>Rôle : tu es l'assistant de thèse d'une doctorante en [discipline].</a:t>
            </a:r>
            <a:endParaRPr lang="en-US" sz="1300" dirty="0"/>
          </a:p>
          <a:p>
            <a:pPr marL="0" indent="0">
              <a:buNone/>
            </a:pPr>
            <a:r>
              <a:rPr lang="en-US" sz="1300" dirty="0">
                <a:solidFill>
                  <a:schemeClr val="tx1"/>
                </a:solidFill>
                <a:latin typeface="Consolas" pitchFamily="34" charset="0"/>
                <a:ea typeface="Consolas" pitchFamily="34" charset="-122"/>
                <a:cs typeface="Consolas" pitchFamily="34" charset="-120"/>
              </a:rPr>
              <a:t>Mission : [ce que tu attends].</a:t>
            </a:r>
            <a:endParaRPr lang="en-US" sz="1300" dirty="0"/>
          </a:p>
          <a:p>
            <a:pPr marL="0" indent="0">
              <a:buNone/>
            </a:pPr>
            <a:r>
              <a:rPr lang="en-US" sz="1300" dirty="0">
                <a:solidFill>
                  <a:schemeClr val="tx1"/>
                </a:solidFill>
                <a:latin typeface="Consolas" pitchFamily="34" charset="0"/>
                <a:ea typeface="Consolas" pitchFamily="34" charset="-122"/>
                <a:cs typeface="Consolas" pitchFamily="34" charset="-120"/>
              </a:rPr>
              <a:t>Documents : plan de thèse, consignes de l'école doctorale.</a:t>
            </a:r>
            <a:endParaRPr lang="en-US" sz="1300" dirty="0"/>
          </a:p>
          <a:p>
            <a:pPr marL="0" indent="0">
              <a:buNone/>
            </a:pPr>
            <a:r>
              <a:rPr lang="en-US" sz="1300" dirty="0">
                <a:solidFill>
                  <a:schemeClr val="tx1"/>
                </a:solidFill>
                <a:latin typeface="Consolas" pitchFamily="34" charset="0"/>
                <a:ea typeface="Consolas" pitchFamily="34" charset="-122"/>
                <a:cs typeface="Consolas" pitchFamily="34" charset="-120"/>
              </a:rPr>
              <a:t>Règles : n'invente aucune référence ; signale tes incertitudes.</a:t>
            </a:r>
            <a:endParaRPr lang="en-US" sz="1300" dirty="0"/>
          </a:p>
          <a:p>
            <a:pPr marL="0" indent="0">
              <a:buNone/>
            </a:pPr>
            <a:r>
              <a:rPr lang="en-US" sz="1300" dirty="0">
                <a:solidFill>
                  <a:schemeClr val="tx1"/>
                </a:solidFill>
                <a:latin typeface="Consolas" pitchFamily="34" charset="0"/>
                <a:ea typeface="Consolas" pitchFamily="34" charset="-122"/>
                <a:cs typeface="Consolas" pitchFamily="34" charset="-120"/>
              </a:rPr>
              <a:t>Format : [longueur, langue, ton].</a:t>
            </a:r>
            <a:endParaRPr lang="en-US" sz="1300" dirty="0"/>
          </a:p>
        </p:txBody>
      </p:sp>
      <p:sp>
        <p:nvSpPr>
          <p:cNvPr id="24" name="card-1727"/>
          <p:cNvSpPr/>
          <p:nvPr/>
        </p:nvSpPr>
        <p:spPr>
          <a:xfrm>
            <a:off x="548640" y="4956048"/>
            <a:ext cx="5760720" cy="1261872"/>
          </a:xfrm>
          <a:prstGeom prst="roundRect">
            <a:avLst>
              <a:gd name="adj" fmla="val 5797"/>
            </a:avLst>
          </a:prstGeom>
          <a:solidFill>
            <a:schemeClr val="bg1"/>
          </a:solidFill>
          <a:ln w="6350">
            <a:solidFill>
              <a:schemeClr val="bg1"/>
            </a:solidFill>
            <a:prstDash val="solid"/>
          </a:ln>
          <a:effectLst>
            <a:outerShdw blurRad="101600" dist="25400" dir="5400000" algn="bl" rotWithShape="0">
              <a:srgbClr val="000000">
                <a:alpha val="10000"/>
              </a:srgbClr>
            </a:outerShdw>
          </a:effectLst>
        </p:spPr>
      </p:sp>
      <p:sp>
        <p:nvSpPr>
          <p:cNvPr id="25" name="circle-1728"/>
          <p:cNvSpPr/>
          <p:nvPr/>
        </p:nvSpPr>
        <p:spPr>
          <a:xfrm>
            <a:off x="731520" y="5120640"/>
            <a:ext cx="457200" cy="457200"/>
          </a:xfrm>
          <a:prstGeom prst="ellipse">
            <a:avLst/>
          </a:prstGeom>
          <a:solidFill>
            <a:schemeClr val="accent1"/>
          </a:solidFill>
          <a:ln w="12700">
            <a:solidFill>
              <a:schemeClr val="accent1"/>
            </a:solidFill>
            <a:prstDash val="solid"/>
          </a:ln>
        </p:spPr>
      </p:sp>
      <p:pic>
        <p:nvPicPr>
          <p:cNvPr id="26" name="icon-1729" descr="preencoded.png"/>
          <p:cNvPicPr>
            <a:picLocks noChangeAspect="1"/>
          </p:cNvPicPr>
          <p:nvPr/>
        </p:nvPicPr>
        <p:blipFill>
          <a:blip r:embed="rId3"/>
          <a:stretch>
            <a:fillRect/>
          </a:stretch>
        </p:blipFill>
        <p:spPr>
          <a:xfrm>
            <a:off x="845820" y="5234940"/>
            <a:ext cx="228600" cy="228600"/>
          </a:xfrm>
          <a:prstGeom prst="rect">
            <a:avLst/>
          </a:prstGeom>
        </p:spPr>
      </p:pic>
      <p:sp>
        <p:nvSpPr>
          <p:cNvPr id="27" name="txt-1730"/>
          <p:cNvSpPr txBox="1"/>
          <p:nvPr/>
        </p:nvSpPr>
        <p:spPr>
          <a:xfrm>
            <a:off x="1325880" y="5074920"/>
            <a:ext cx="1828800" cy="320040"/>
          </a:xfrm>
          <a:prstGeom prst="rect">
            <a:avLst/>
          </a:prstGeom>
          <a:noFill/>
          <a:ln/>
        </p:spPr>
        <p:txBody>
          <a:bodyPr wrap="square" lIns="0" tIns="0" rIns="0" bIns="0" rtlCol="0" anchor="t"/>
          <a:lstStyle/>
          <a:p>
            <a:pPr marL="0" indent="0">
              <a:buNone/>
            </a:pPr>
            <a:r>
              <a:rPr lang="en-US" sz="1500" b="1" dirty="0">
                <a:solidFill>
                  <a:schemeClr val="accent1"/>
                </a:solidFill>
              </a:rPr>
              <a:t>Défi</a:t>
            </a:r>
            <a:endParaRPr lang="en-US" sz="1500" dirty="0"/>
          </a:p>
        </p:txBody>
      </p:sp>
      <p:sp>
        <p:nvSpPr>
          <p:cNvPr id="28" name="txt-1731"/>
          <p:cNvSpPr txBox="1"/>
          <p:nvPr/>
        </p:nvSpPr>
        <p:spPr>
          <a:xfrm>
            <a:off x="1325880" y="5394960"/>
            <a:ext cx="4846320" cy="777240"/>
          </a:xfrm>
          <a:prstGeom prst="rect">
            <a:avLst/>
          </a:prstGeom>
          <a:noFill/>
          <a:ln/>
        </p:spPr>
        <p:txBody>
          <a:bodyPr wrap="square" lIns="0" tIns="0" rIns="0" bIns="0" rtlCol="0" anchor="t"/>
          <a:lstStyle/>
          <a:p>
            <a:pPr marL="0" indent="0">
              <a:buNone/>
            </a:pPr>
            <a:r>
              <a:rPr lang="en-US" sz="1300" dirty="0">
                <a:solidFill>
                  <a:schemeClr val="tx1"/>
                </a:solidFill>
              </a:rPr>
              <a:t>Faites les deux : donnez à votre assistant le rapport de l'agent et demandez-lui une critique de ses sources.</a:t>
            </a:r>
            <a:endParaRPr lang="en-US" sz="1300" dirty="0"/>
          </a:p>
        </p:txBody>
      </p:sp>
      <p:sp>
        <p:nvSpPr>
          <p:cNvPr id="29" name="card-1732"/>
          <p:cNvSpPr/>
          <p:nvPr/>
        </p:nvSpPr>
        <p:spPr>
          <a:xfrm>
            <a:off x="6675120" y="4956048"/>
            <a:ext cx="4937760" cy="1261872"/>
          </a:xfrm>
          <a:prstGeom prst="roundRect">
            <a:avLst>
              <a:gd name="adj" fmla="val 5797"/>
            </a:avLst>
          </a:prstGeom>
          <a:solidFill>
            <a:schemeClr val="tx2"/>
          </a:solidFill>
          <a:ln w="6350">
            <a:solidFill>
              <a:schemeClr val="tx2"/>
            </a:solidFill>
            <a:prstDash val="solid"/>
          </a:ln>
        </p:spPr>
      </p:sp>
      <p:sp>
        <p:nvSpPr>
          <p:cNvPr id="30" name="circle-1733"/>
          <p:cNvSpPr/>
          <p:nvPr/>
        </p:nvSpPr>
        <p:spPr>
          <a:xfrm>
            <a:off x="6858000" y="5120640"/>
            <a:ext cx="457200" cy="457200"/>
          </a:xfrm>
          <a:prstGeom prst="ellipse">
            <a:avLst/>
          </a:prstGeom>
          <a:solidFill>
            <a:schemeClr val="accent1"/>
          </a:solidFill>
          <a:ln w="12700">
            <a:solidFill>
              <a:schemeClr val="accent1"/>
            </a:solidFill>
            <a:prstDash val="solid"/>
          </a:ln>
        </p:spPr>
      </p:sp>
      <p:pic>
        <p:nvPicPr>
          <p:cNvPr id="31" name="icon-1734" descr="preencoded.png"/>
          <p:cNvPicPr>
            <a:picLocks noChangeAspect="1"/>
          </p:cNvPicPr>
          <p:nvPr/>
        </p:nvPicPr>
        <p:blipFill>
          <a:blip r:embed="rId4"/>
          <a:stretch>
            <a:fillRect/>
          </a:stretch>
        </p:blipFill>
        <p:spPr>
          <a:xfrm>
            <a:off x="6972300" y="5234940"/>
            <a:ext cx="228600" cy="228600"/>
          </a:xfrm>
          <a:prstGeom prst="rect">
            <a:avLst/>
          </a:prstGeom>
        </p:spPr>
      </p:pic>
      <p:sp>
        <p:nvSpPr>
          <p:cNvPr id="32" name="txt-1735"/>
          <p:cNvSpPr txBox="1"/>
          <p:nvPr/>
        </p:nvSpPr>
        <p:spPr>
          <a:xfrm>
            <a:off x="7452360" y="5074920"/>
            <a:ext cx="2743200" cy="320040"/>
          </a:xfrm>
          <a:prstGeom prst="rect">
            <a:avLst/>
          </a:prstGeom>
          <a:noFill/>
          <a:ln/>
        </p:spPr>
        <p:txBody>
          <a:bodyPr wrap="square" lIns="0" tIns="0" rIns="0" bIns="0" rtlCol="0" anchor="t"/>
          <a:lstStyle/>
          <a:p>
            <a:pPr marL="0" indent="0">
              <a:buNone/>
            </a:pPr>
            <a:r>
              <a:rPr lang="en-US" sz="1500" b="1" dirty="0">
                <a:solidFill>
                  <a:schemeClr val="accent1"/>
                </a:solidFill>
              </a:rPr>
              <a:t>À rendre</a:t>
            </a:r>
            <a:endParaRPr lang="en-US" sz="1500" dirty="0"/>
          </a:p>
        </p:txBody>
      </p:sp>
      <p:sp>
        <p:nvSpPr>
          <p:cNvPr id="33" name="txt-1736"/>
          <p:cNvSpPr txBox="1"/>
          <p:nvPr/>
        </p:nvSpPr>
        <p:spPr>
          <a:xfrm>
            <a:off x="7452360" y="5394960"/>
            <a:ext cx="4023360" cy="777240"/>
          </a:xfrm>
          <a:prstGeom prst="rect">
            <a:avLst/>
          </a:prstGeom>
          <a:noFill/>
          <a:ln/>
        </p:spPr>
        <p:txBody>
          <a:bodyPr wrap="square" lIns="0" tIns="0" rIns="0" bIns="0" rtlCol="0" anchor="t"/>
          <a:lstStyle/>
          <a:p>
            <a:pPr marL="0" indent="0">
              <a:buNone/>
            </a:pPr>
            <a:r>
              <a:rPr lang="en-US" sz="1300" dirty="0">
                <a:solidFill>
                  <a:schemeClr val="bg1"/>
                </a:solidFill>
              </a:rPr>
              <a:t>Fiche 5 : votre option, votre charte d'usage de l'IA pour la thèse et la trame du J5</a:t>
            </a:r>
            <a:endParaRPr lang="en-US" sz="1300" dirty="0"/>
          </a:p>
        </p:txBody>
      </p:sp>
      <p:sp>
        <p:nvSpPr>
          <p:cNvPr id="34" name="Slide Number Placeholder 0"/>
          <p:cNvSpPr>
            <a:spLocks noGrp="1"/>
          </p:cNvSpPr>
          <p:nvPr>
            <p:ph type="sldNum" sz="quarter" idx="4294967295"/>
          </p:nvPr>
        </p:nvSpPr>
        <p:spPr>
          <a:xfrm>
            <a:off x="11064240" y="6400800"/>
            <a:ext cx="54864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C82"/>
                </a:solidFill>
                <a:latin typeface="Poppins"/>
                <a:ea typeface="Poppins"/>
                <a:cs typeface="Poppins"/>
              </a:defRPr>
            </a:lvl1pPr>
          </a:lstStyle>
          <a:p>
            <a:pPr algn="r"/>
            <a:fld id="{F7021451-1387-4CA6-816F-3879F97B5CBC}" type="slidenum">
              <a:rPr lang="en-US" b="0"/>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566928"/>
            <a:ext cx="11064240" cy="777240"/>
          </a:xfrm>
          <a:prstGeom prst="rect">
            <a:avLst/>
          </a:prstGeom>
          <a:noFill/>
          <a:ln/>
        </p:spPr>
        <p:txBody>
          <a:bodyPr wrap="square" lIns="0" tIns="0" rIns="0" bIns="0" rtlCol="0" anchor="ctr"/>
          <a:lstStyle/>
          <a:p>
            <a:pPr marL="0" indent="0" algn="l">
              <a:buNone/>
            </a:pPr>
            <a:r>
              <a:rPr lang="en-US" sz="2700" b="1" dirty="0">
                <a:solidFill>
                  <a:schemeClr val="tx2"/>
                </a:solidFill>
                <a:latin typeface="Poppins" pitchFamily="34" charset="0"/>
                <a:ea typeface="Poppins" pitchFamily="34" charset="-122"/>
                <a:cs typeface="Poppins" pitchFamily="34" charset="-120"/>
              </a:rPr>
              <a:t>Vidéos : comprendre les agents IA</a:t>
            </a:r>
            <a:endParaRPr lang="en-US" sz="2700" dirty="0"/>
          </a:p>
        </p:txBody>
      </p:sp>
      <p:sp>
        <p:nvSpPr>
          <p:cNvPr id="3" name="Text 0"/>
          <p:cNvSpPr>
            <a:spLocks noGrp="1"/>
          </p:cNvSpPr>
          <p:nvPr>
            <p:ph type="body" idx="101" hasCustomPrompt="1"/>
          </p:nvPr>
        </p:nvSpPr>
        <p:spPr>
          <a:xfrm>
            <a:off x="548640" y="256032"/>
            <a:ext cx="8229600" cy="292608"/>
          </a:xfrm>
          <a:prstGeom prst="rect">
            <a:avLst/>
          </a:prstGeom>
          <a:noFill/>
          <a:ln/>
        </p:spPr>
        <p:txBody>
          <a:bodyPr wrap="square" lIns="0" tIns="0" rIns="0" bIns="0" rtlCol="0" anchor="ctr"/>
          <a:lstStyle/>
          <a:p>
            <a:pPr marL="0" indent="0">
              <a:buNone/>
            </a:pPr>
            <a:r>
              <a:rPr lang="en-US" sz="1100" b="1" dirty="0">
                <a:solidFill>
                  <a:schemeClr val="accent1"/>
                </a:solidFill>
                <a:latin typeface="Poppins" pitchFamily="34" charset="0"/>
                <a:ea typeface="Poppins" pitchFamily="34" charset="-122"/>
                <a:cs typeface="Poppins" pitchFamily="34" charset="-120"/>
              </a:rPr>
              <a:t>T5 · POUR ALLER PLUS LOIN</a:t>
            </a:r>
            <a:endParaRPr lang="en-US" sz="1100" dirty="0"/>
          </a:p>
        </p:txBody>
      </p:sp>
      <p:sp>
        <p:nvSpPr>
          <p:cNvPr id="4" name="card-1737"/>
          <p:cNvSpPr/>
          <p:nvPr/>
        </p:nvSpPr>
        <p:spPr>
          <a:xfrm>
            <a:off x="548640" y="1600200"/>
            <a:ext cx="5440680" cy="1298448"/>
          </a:xfrm>
          <a:prstGeom prst="roundRect">
            <a:avLst>
              <a:gd name="adj" fmla="val 5634"/>
            </a:avLst>
          </a:prstGeom>
          <a:solidFill>
            <a:schemeClr val="bg2"/>
          </a:solidFill>
          <a:ln w="6350">
            <a:solidFill>
              <a:schemeClr val="bg2"/>
            </a:solidFill>
            <a:prstDash val="solid"/>
          </a:ln>
        </p:spPr>
      </p:sp>
      <p:sp>
        <p:nvSpPr>
          <p:cNvPr id="5" name="play-1738"/>
          <p:cNvSpPr/>
          <p:nvPr/>
        </p:nvSpPr>
        <p:spPr>
          <a:xfrm>
            <a:off x="777240" y="1901952"/>
            <a:ext cx="685800" cy="685800"/>
          </a:xfrm>
          <a:prstGeom prst="ellipse">
            <a:avLst/>
          </a:prstGeom>
          <a:solidFill>
            <a:schemeClr val="accent3"/>
          </a:solidFill>
          <a:ln w="12700">
            <a:solidFill>
              <a:schemeClr val="accent3"/>
            </a:solidFill>
            <a:prstDash val="solid"/>
          </a:ln>
        </p:spPr>
      </p:sp>
      <p:sp>
        <p:nvSpPr>
          <p:cNvPr id="6" name="tri-1739"/>
          <p:cNvSpPr/>
          <p:nvPr/>
        </p:nvSpPr>
        <p:spPr>
          <a:xfrm rot="5400000">
            <a:off x="1024128" y="2075688"/>
            <a:ext cx="274320" cy="329184"/>
          </a:xfrm>
          <a:prstGeom prst="triangle">
            <a:avLst/>
          </a:prstGeom>
          <a:solidFill>
            <a:schemeClr val="bg1"/>
          </a:solidFill>
          <a:ln w="12700">
            <a:solidFill>
              <a:schemeClr val="bg1"/>
            </a:solidFill>
            <a:prstDash val="solid"/>
          </a:ln>
        </p:spPr>
      </p:sp>
      <p:sp>
        <p:nvSpPr>
          <p:cNvPr id="7" name="txt-1740"/>
          <p:cNvSpPr txBox="1"/>
          <p:nvPr/>
        </p:nvSpPr>
        <p:spPr>
          <a:xfrm>
            <a:off x="1645920" y="1709928"/>
            <a:ext cx="4206240" cy="566928"/>
          </a:xfrm>
          <a:prstGeom prst="rect">
            <a:avLst/>
          </a:prstGeom>
          <a:noFill/>
          <a:ln/>
        </p:spPr>
        <p:txBody>
          <a:bodyPr wrap="square" lIns="0" tIns="0" rIns="0" bIns="0" rtlCol="0" anchor="ctr"/>
          <a:lstStyle/>
          <a:p>
            <a:pPr marL="0" indent="0">
              <a:buNone/>
            </a:pPr>
            <a:r>
              <a:rPr lang="en-US" sz="1300" b="1" dirty="0">
                <a:solidFill>
                  <a:schemeClr val="tx2"/>
                </a:solidFill>
              </a:rPr>
              <a:t>Comprendre les agents IA en 10 minutes</a:t>
            </a:r>
            <a:endParaRPr lang="en-US" sz="1300" dirty="0"/>
          </a:p>
        </p:txBody>
      </p:sp>
      <p:sp>
        <p:nvSpPr>
          <p:cNvPr id="8" name="txt-1741"/>
          <p:cNvSpPr txBox="1"/>
          <p:nvPr/>
        </p:nvSpPr>
        <p:spPr>
          <a:xfrm>
            <a:off x="1645920" y="2276856"/>
            <a:ext cx="4206240" cy="256032"/>
          </a:xfrm>
          <a:prstGeom prst="rect">
            <a:avLst/>
          </a:prstGeom>
          <a:noFill/>
          <a:ln/>
        </p:spPr>
        <p:txBody>
          <a:bodyPr wrap="square" lIns="0" tIns="0" rIns="0" bIns="0" rtlCol="0" anchor="t"/>
          <a:lstStyle/>
          <a:p>
            <a:pPr marL="0" indent="0">
              <a:buNone/>
            </a:pPr>
            <a:r>
              <a:rPr lang="en-US" sz="1100" dirty="0">
                <a:solidFill>
                  <a:schemeClr val="accent5"/>
                </a:solidFill>
              </a:rPr>
              <a:t>theyo · 10 min</a:t>
            </a:r>
            <a:endParaRPr lang="en-US" sz="1100" dirty="0"/>
          </a:p>
        </p:txBody>
      </p:sp>
      <p:sp>
        <p:nvSpPr>
          <p:cNvPr id="9" name="txt-1742"/>
          <p:cNvSpPr txBox="1"/>
          <p:nvPr/>
        </p:nvSpPr>
        <p:spPr>
          <a:xfrm>
            <a:off x="1645920" y="2532888"/>
            <a:ext cx="4206240" cy="256032"/>
          </a:xfrm>
          <a:prstGeom prst="rect">
            <a:avLst/>
          </a:prstGeom>
          <a:noFill/>
          <a:ln/>
        </p:spPr>
        <p:txBody>
          <a:bodyPr wrap="square" lIns="0" tIns="0" rIns="0" bIns="0" rtlCol="0" anchor="t"/>
          <a:lstStyle/>
          <a:p>
            <a:pPr marL="0" indent="0">
              <a:buNone/>
            </a:pPr>
            <a:r>
              <a:rPr lang="en-US" sz="1100" b="1" u="sng" dirty="0">
                <a:solidFill>
                  <a:schemeClr val="accent6"/>
                </a:solidFill>
                <a:hlinkClick r:id="rId3" tooltip="Comprendre les agents IA en 10 minutes">
                  <a:extLst>
                    <a:ext uri="{A12FA001-AC4F-418D-AE19-62706E023703}">
                      <ahyp:hlinkClr xmlns:ahyp="http://schemas.microsoft.com/office/drawing/2018/hyperlinkcolor" val="tx"/>
                    </a:ext>
                  </a:extLst>
                </a:hlinkClick>
              </a:rPr>
              <a:t>youtu.be/1auRbtW3b3s</a:t>
            </a:r>
            <a:endParaRPr lang="en-US" sz="1100" dirty="0"/>
          </a:p>
        </p:txBody>
      </p:sp>
      <p:sp>
        <p:nvSpPr>
          <p:cNvPr id="10" name="card-1743"/>
          <p:cNvSpPr/>
          <p:nvPr/>
        </p:nvSpPr>
        <p:spPr>
          <a:xfrm>
            <a:off x="6172200" y="1600200"/>
            <a:ext cx="5440680" cy="1298448"/>
          </a:xfrm>
          <a:prstGeom prst="roundRect">
            <a:avLst>
              <a:gd name="adj" fmla="val 5634"/>
            </a:avLst>
          </a:prstGeom>
          <a:solidFill>
            <a:schemeClr val="bg2"/>
          </a:solidFill>
          <a:ln w="6350">
            <a:solidFill>
              <a:schemeClr val="bg2"/>
            </a:solidFill>
            <a:prstDash val="solid"/>
          </a:ln>
        </p:spPr>
      </p:sp>
      <p:sp>
        <p:nvSpPr>
          <p:cNvPr id="11" name="play-1744"/>
          <p:cNvSpPr/>
          <p:nvPr/>
        </p:nvSpPr>
        <p:spPr>
          <a:xfrm>
            <a:off x="6400800" y="1901952"/>
            <a:ext cx="685800" cy="685800"/>
          </a:xfrm>
          <a:prstGeom prst="ellipse">
            <a:avLst/>
          </a:prstGeom>
          <a:solidFill>
            <a:schemeClr val="accent3"/>
          </a:solidFill>
          <a:ln w="12700">
            <a:solidFill>
              <a:schemeClr val="accent3"/>
            </a:solidFill>
            <a:prstDash val="solid"/>
          </a:ln>
        </p:spPr>
      </p:sp>
      <p:sp>
        <p:nvSpPr>
          <p:cNvPr id="12" name="tri-1745"/>
          <p:cNvSpPr/>
          <p:nvPr/>
        </p:nvSpPr>
        <p:spPr>
          <a:xfrm rot="5400000">
            <a:off x="6647688" y="2075688"/>
            <a:ext cx="274320" cy="329184"/>
          </a:xfrm>
          <a:prstGeom prst="triangle">
            <a:avLst/>
          </a:prstGeom>
          <a:solidFill>
            <a:schemeClr val="bg1"/>
          </a:solidFill>
          <a:ln w="12700">
            <a:solidFill>
              <a:schemeClr val="bg1"/>
            </a:solidFill>
            <a:prstDash val="solid"/>
          </a:ln>
        </p:spPr>
      </p:sp>
      <p:sp>
        <p:nvSpPr>
          <p:cNvPr id="13" name="txt-1746"/>
          <p:cNvSpPr txBox="1"/>
          <p:nvPr/>
        </p:nvSpPr>
        <p:spPr>
          <a:xfrm>
            <a:off x="7269480" y="1709928"/>
            <a:ext cx="4206240" cy="566928"/>
          </a:xfrm>
          <a:prstGeom prst="rect">
            <a:avLst/>
          </a:prstGeom>
          <a:noFill/>
          <a:ln/>
        </p:spPr>
        <p:txBody>
          <a:bodyPr wrap="square" lIns="0" tIns="0" rIns="0" bIns="0" rtlCol="0" anchor="ctr"/>
          <a:lstStyle/>
          <a:p>
            <a:pPr marL="0" indent="0">
              <a:buNone/>
            </a:pPr>
            <a:r>
              <a:rPr lang="en-US" sz="1300" b="1" dirty="0">
                <a:solidFill>
                  <a:schemeClr val="tx2"/>
                </a:solidFill>
              </a:rPr>
              <a:t>Agents IA : fonctionnement, pouvoirs et risques</a:t>
            </a:r>
            <a:endParaRPr lang="en-US" sz="1300" dirty="0"/>
          </a:p>
        </p:txBody>
      </p:sp>
      <p:sp>
        <p:nvSpPr>
          <p:cNvPr id="14" name="txt-1747"/>
          <p:cNvSpPr txBox="1"/>
          <p:nvPr/>
        </p:nvSpPr>
        <p:spPr>
          <a:xfrm>
            <a:off x="7269480" y="2276856"/>
            <a:ext cx="4206240" cy="256032"/>
          </a:xfrm>
          <a:prstGeom prst="rect">
            <a:avLst/>
          </a:prstGeom>
          <a:noFill/>
          <a:ln/>
        </p:spPr>
        <p:txBody>
          <a:bodyPr wrap="square" lIns="0" tIns="0" rIns="0" bIns="0" rtlCol="0" anchor="t"/>
          <a:lstStyle/>
          <a:p>
            <a:pPr marL="0" indent="0">
              <a:buNone/>
            </a:pPr>
            <a:r>
              <a:rPr lang="en-US" sz="1100" dirty="0">
                <a:solidFill>
                  <a:schemeClr val="accent5"/>
                </a:solidFill>
              </a:rPr>
              <a:t>Seniors et Informatique · 15 min</a:t>
            </a:r>
            <a:endParaRPr lang="en-US" sz="1100" dirty="0"/>
          </a:p>
        </p:txBody>
      </p:sp>
      <p:sp>
        <p:nvSpPr>
          <p:cNvPr id="15" name="txt-1748"/>
          <p:cNvSpPr txBox="1"/>
          <p:nvPr/>
        </p:nvSpPr>
        <p:spPr>
          <a:xfrm>
            <a:off x="7269480" y="2532888"/>
            <a:ext cx="4206240" cy="256032"/>
          </a:xfrm>
          <a:prstGeom prst="rect">
            <a:avLst/>
          </a:prstGeom>
          <a:noFill/>
          <a:ln/>
        </p:spPr>
        <p:txBody>
          <a:bodyPr wrap="square" lIns="0" tIns="0" rIns="0" bIns="0" rtlCol="0" anchor="t"/>
          <a:lstStyle/>
          <a:p>
            <a:pPr marL="0" indent="0">
              <a:buNone/>
            </a:pPr>
            <a:r>
              <a:rPr lang="en-US" sz="1100" b="1" u="sng" dirty="0">
                <a:solidFill>
                  <a:schemeClr val="accent6"/>
                </a:solidFill>
                <a:hlinkClick r:id="rId4" tooltip="Agents IA : fonctionnement, pouvoirs et risques">
                  <a:extLst>
                    <a:ext uri="{A12FA001-AC4F-418D-AE19-62706E023703}">
                      <ahyp:hlinkClr xmlns:ahyp="http://schemas.microsoft.com/office/drawing/2018/hyperlinkcolor" val="tx"/>
                    </a:ext>
                  </a:extLst>
                </a:hlinkClick>
              </a:rPr>
              <a:t>youtu.be/IGEfN3qHDsg</a:t>
            </a:r>
            <a:endParaRPr lang="en-US" sz="1100" dirty="0"/>
          </a:p>
        </p:txBody>
      </p:sp>
      <p:sp>
        <p:nvSpPr>
          <p:cNvPr id="16" name="card-1749"/>
          <p:cNvSpPr/>
          <p:nvPr/>
        </p:nvSpPr>
        <p:spPr>
          <a:xfrm>
            <a:off x="548640" y="3081528"/>
            <a:ext cx="5440680" cy="1298448"/>
          </a:xfrm>
          <a:prstGeom prst="roundRect">
            <a:avLst>
              <a:gd name="adj" fmla="val 5634"/>
            </a:avLst>
          </a:prstGeom>
          <a:solidFill>
            <a:schemeClr val="bg2"/>
          </a:solidFill>
          <a:ln w="6350">
            <a:solidFill>
              <a:schemeClr val="bg2"/>
            </a:solidFill>
            <a:prstDash val="solid"/>
          </a:ln>
        </p:spPr>
      </p:sp>
      <p:sp>
        <p:nvSpPr>
          <p:cNvPr id="17" name="play-1750"/>
          <p:cNvSpPr/>
          <p:nvPr/>
        </p:nvSpPr>
        <p:spPr>
          <a:xfrm>
            <a:off x="777240" y="3383280"/>
            <a:ext cx="685800" cy="685800"/>
          </a:xfrm>
          <a:prstGeom prst="ellipse">
            <a:avLst/>
          </a:prstGeom>
          <a:solidFill>
            <a:schemeClr val="accent3"/>
          </a:solidFill>
          <a:ln w="12700">
            <a:solidFill>
              <a:schemeClr val="accent3"/>
            </a:solidFill>
            <a:prstDash val="solid"/>
          </a:ln>
        </p:spPr>
      </p:sp>
      <p:sp>
        <p:nvSpPr>
          <p:cNvPr id="18" name="tri-1751"/>
          <p:cNvSpPr/>
          <p:nvPr/>
        </p:nvSpPr>
        <p:spPr>
          <a:xfrm rot="5400000">
            <a:off x="1024128" y="3557016"/>
            <a:ext cx="274320" cy="329184"/>
          </a:xfrm>
          <a:prstGeom prst="triangle">
            <a:avLst/>
          </a:prstGeom>
          <a:solidFill>
            <a:schemeClr val="bg1"/>
          </a:solidFill>
          <a:ln w="12700">
            <a:solidFill>
              <a:schemeClr val="bg1"/>
            </a:solidFill>
            <a:prstDash val="solid"/>
          </a:ln>
        </p:spPr>
      </p:sp>
      <p:sp>
        <p:nvSpPr>
          <p:cNvPr id="19" name="txt-1752"/>
          <p:cNvSpPr txBox="1"/>
          <p:nvPr/>
        </p:nvSpPr>
        <p:spPr>
          <a:xfrm>
            <a:off x="1645920" y="3191256"/>
            <a:ext cx="4206240" cy="566928"/>
          </a:xfrm>
          <a:prstGeom prst="rect">
            <a:avLst/>
          </a:prstGeom>
          <a:noFill/>
          <a:ln/>
        </p:spPr>
        <p:txBody>
          <a:bodyPr wrap="square" lIns="0" tIns="0" rIns="0" bIns="0" rtlCol="0" anchor="ctr"/>
          <a:lstStyle/>
          <a:p>
            <a:pPr marL="0" indent="0">
              <a:buNone/>
            </a:pPr>
            <a:r>
              <a:rPr lang="en-US" sz="1300" b="1" dirty="0">
                <a:solidFill>
                  <a:schemeClr val="tx2"/>
                </a:solidFill>
              </a:rPr>
              <a:t>LLM, RAG et IA agentique : comprendre l'évolution de l'IA</a:t>
            </a:r>
            <a:endParaRPr lang="en-US" sz="1300" dirty="0"/>
          </a:p>
        </p:txBody>
      </p:sp>
      <p:sp>
        <p:nvSpPr>
          <p:cNvPr id="20" name="txt-1753"/>
          <p:cNvSpPr txBox="1"/>
          <p:nvPr/>
        </p:nvSpPr>
        <p:spPr>
          <a:xfrm>
            <a:off x="1645920" y="3758184"/>
            <a:ext cx="4206240" cy="256032"/>
          </a:xfrm>
          <a:prstGeom prst="rect">
            <a:avLst/>
          </a:prstGeom>
          <a:noFill/>
          <a:ln/>
        </p:spPr>
        <p:txBody>
          <a:bodyPr wrap="square" lIns="0" tIns="0" rIns="0" bIns="0" rtlCol="0" anchor="t"/>
          <a:lstStyle/>
          <a:p>
            <a:pPr marL="0" indent="0">
              <a:buNone/>
            </a:pPr>
            <a:r>
              <a:rPr lang="en-US" sz="1100" dirty="0">
                <a:solidFill>
                  <a:schemeClr val="accent5"/>
                </a:solidFill>
              </a:rPr>
              <a:t>Cookie connecté · 9 min</a:t>
            </a:r>
            <a:endParaRPr lang="en-US" sz="1100" dirty="0"/>
          </a:p>
        </p:txBody>
      </p:sp>
      <p:sp>
        <p:nvSpPr>
          <p:cNvPr id="21" name="txt-1754"/>
          <p:cNvSpPr txBox="1"/>
          <p:nvPr/>
        </p:nvSpPr>
        <p:spPr>
          <a:xfrm>
            <a:off x="1645920" y="4014216"/>
            <a:ext cx="4206240" cy="256032"/>
          </a:xfrm>
          <a:prstGeom prst="rect">
            <a:avLst/>
          </a:prstGeom>
          <a:noFill/>
          <a:ln/>
        </p:spPr>
        <p:txBody>
          <a:bodyPr wrap="square" lIns="0" tIns="0" rIns="0" bIns="0" rtlCol="0" anchor="t"/>
          <a:lstStyle/>
          <a:p>
            <a:pPr marL="0" indent="0">
              <a:buNone/>
            </a:pPr>
            <a:r>
              <a:rPr lang="en-US" sz="1100" b="1" u="sng" dirty="0">
                <a:solidFill>
                  <a:schemeClr val="accent6"/>
                </a:solidFill>
                <a:hlinkClick r:id="rId5" tooltip="LLM, RAG et IA agentique : comprendre l'évolution de l'IA">
                  <a:extLst>
                    <a:ext uri="{A12FA001-AC4F-418D-AE19-62706E023703}">
                      <ahyp:hlinkClr xmlns:ahyp="http://schemas.microsoft.com/office/drawing/2018/hyperlinkcolor" val="tx"/>
                    </a:ext>
                  </a:extLst>
                </a:hlinkClick>
              </a:rPr>
              <a:t>youtu.be/kISRpDfbS4Y</a:t>
            </a:r>
            <a:endParaRPr lang="en-US" sz="1100" dirty="0"/>
          </a:p>
        </p:txBody>
      </p:sp>
      <p:sp>
        <p:nvSpPr>
          <p:cNvPr id="22" name="card-1755"/>
          <p:cNvSpPr/>
          <p:nvPr/>
        </p:nvSpPr>
        <p:spPr>
          <a:xfrm>
            <a:off x="6172200" y="3081528"/>
            <a:ext cx="5440680" cy="1298448"/>
          </a:xfrm>
          <a:prstGeom prst="roundRect">
            <a:avLst>
              <a:gd name="adj" fmla="val 5634"/>
            </a:avLst>
          </a:prstGeom>
          <a:solidFill>
            <a:schemeClr val="bg2"/>
          </a:solidFill>
          <a:ln w="6350">
            <a:solidFill>
              <a:schemeClr val="bg2"/>
            </a:solidFill>
            <a:prstDash val="solid"/>
          </a:ln>
        </p:spPr>
      </p:sp>
      <p:sp>
        <p:nvSpPr>
          <p:cNvPr id="23" name="play-1756"/>
          <p:cNvSpPr/>
          <p:nvPr/>
        </p:nvSpPr>
        <p:spPr>
          <a:xfrm>
            <a:off x="6400800" y="3383280"/>
            <a:ext cx="685800" cy="685800"/>
          </a:xfrm>
          <a:prstGeom prst="ellipse">
            <a:avLst/>
          </a:prstGeom>
          <a:solidFill>
            <a:schemeClr val="accent3"/>
          </a:solidFill>
          <a:ln w="12700">
            <a:solidFill>
              <a:schemeClr val="accent3"/>
            </a:solidFill>
            <a:prstDash val="solid"/>
          </a:ln>
        </p:spPr>
      </p:sp>
      <p:sp>
        <p:nvSpPr>
          <p:cNvPr id="24" name="tri-1757"/>
          <p:cNvSpPr/>
          <p:nvPr/>
        </p:nvSpPr>
        <p:spPr>
          <a:xfrm rot="5400000">
            <a:off x="6647688" y="3557016"/>
            <a:ext cx="274320" cy="329184"/>
          </a:xfrm>
          <a:prstGeom prst="triangle">
            <a:avLst/>
          </a:prstGeom>
          <a:solidFill>
            <a:schemeClr val="bg1"/>
          </a:solidFill>
          <a:ln w="12700">
            <a:solidFill>
              <a:schemeClr val="bg1"/>
            </a:solidFill>
            <a:prstDash val="solid"/>
          </a:ln>
        </p:spPr>
      </p:sp>
      <p:sp>
        <p:nvSpPr>
          <p:cNvPr id="25" name="txt-1758"/>
          <p:cNvSpPr txBox="1"/>
          <p:nvPr/>
        </p:nvSpPr>
        <p:spPr>
          <a:xfrm>
            <a:off x="7269480" y="3191256"/>
            <a:ext cx="4206240" cy="566928"/>
          </a:xfrm>
          <a:prstGeom prst="rect">
            <a:avLst/>
          </a:prstGeom>
          <a:noFill/>
          <a:ln/>
        </p:spPr>
        <p:txBody>
          <a:bodyPr wrap="square" lIns="0" tIns="0" rIns="0" bIns="0" rtlCol="0" anchor="ctr"/>
          <a:lstStyle/>
          <a:p>
            <a:pPr marL="0" indent="0">
              <a:buNone/>
            </a:pPr>
            <a:r>
              <a:rPr lang="en-US" sz="1300" b="1" dirty="0">
                <a:solidFill>
                  <a:schemeClr val="tx2"/>
                </a:solidFill>
              </a:rPr>
              <a:t>Créer des Gems sur Gemini en moins de 5 minutes</a:t>
            </a:r>
            <a:endParaRPr lang="en-US" sz="1300" dirty="0"/>
          </a:p>
        </p:txBody>
      </p:sp>
      <p:sp>
        <p:nvSpPr>
          <p:cNvPr id="26" name="txt-1759"/>
          <p:cNvSpPr txBox="1"/>
          <p:nvPr/>
        </p:nvSpPr>
        <p:spPr>
          <a:xfrm>
            <a:off x="7269480" y="3758184"/>
            <a:ext cx="4206240" cy="256032"/>
          </a:xfrm>
          <a:prstGeom prst="rect">
            <a:avLst/>
          </a:prstGeom>
          <a:noFill/>
          <a:ln/>
        </p:spPr>
        <p:txBody>
          <a:bodyPr wrap="square" lIns="0" tIns="0" rIns="0" bIns="0" rtlCol="0" anchor="t"/>
          <a:lstStyle/>
          <a:p>
            <a:pPr marL="0" indent="0">
              <a:buNone/>
            </a:pPr>
            <a:r>
              <a:rPr lang="en-US" sz="1100" dirty="0">
                <a:solidFill>
                  <a:schemeClr val="accent5"/>
                </a:solidFill>
              </a:rPr>
              <a:t>Emilie Mazoué · 5 min</a:t>
            </a:r>
            <a:endParaRPr lang="en-US" sz="1100" dirty="0"/>
          </a:p>
        </p:txBody>
      </p:sp>
      <p:sp>
        <p:nvSpPr>
          <p:cNvPr id="27" name="txt-1760"/>
          <p:cNvSpPr txBox="1"/>
          <p:nvPr/>
        </p:nvSpPr>
        <p:spPr>
          <a:xfrm>
            <a:off x="7269480" y="4014216"/>
            <a:ext cx="4206240" cy="256032"/>
          </a:xfrm>
          <a:prstGeom prst="rect">
            <a:avLst/>
          </a:prstGeom>
          <a:noFill/>
          <a:ln/>
        </p:spPr>
        <p:txBody>
          <a:bodyPr wrap="square" lIns="0" tIns="0" rIns="0" bIns="0" rtlCol="0" anchor="t"/>
          <a:lstStyle/>
          <a:p>
            <a:pPr marL="0" indent="0">
              <a:buNone/>
            </a:pPr>
            <a:r>
              <a:rPr lang="en-US" sz="1100" b="1" u="sng" dirty="0">
                <a:solidFill>
                  <a:schemeClr val="accent6"/>
                </a:solidFill>
                <a:hlinkClick r:id="rId6" tooltip="Créer des Gems sur Gemini en moins de 5 minutes">
                  <a:extLst>
                    <a:ext uri="{A12FA001-AC4F-418D-AE19-62706E023703}">
                      <ahyp:hlinkClr xmlns:ahyp="http://schemas.microsoft.com/office/drawing/2018/hyperlinkcolor" val="tx"/>
                    </a:ext>
                  </a:extLst>
                </a:hlinkClick>
              </a:rPr>
              <a:t>youtu.be/vD8KtxFKlEE</a:t>
            </a:r>
            <a:endParaRPr lang="en-US" sz="1100" dirty="0"/>
          </a:p>
        </p:txBody>
      </p:sp>
      <p:sp>
        <p:nvSpPr>
          <p:cNvPr id="28" name="txt-1761"/>
          <p:cNvSpPr txBox="1"/>
          <p:nvPr/>
        </p:nvSpPr>
        <p:spPr>
          <a:xfrm>
            <a:off x="548640" y="6053328"/>
            <a:ext cx="11064240" cy="256032"/>
          </a:xfrm>
          <a:prstGeom prst="rect">
            <a:avLst/>
          </a:prstGeom>
          <a:noFill/>
          <a:ln/>
        </p:spPr>
        <p:txBody>
          <a:bodyPr wrap="square" lIns="0" tIns="0" rIns="0" bIns="0" rtlCol="0" anchor="t"/>
          <a:lstStyle/>
          <a:p>
            <a:pPr marL="0" indent="0">
              <a:buNone/>
            </a:pPr>
            <a:r>
              <a:rPr lang="en-US" sz="1000" i="1" dirty="0">
                <a:solidFill>
                  <a:schemeClr val="accent5"/>
                </a:solidFill>
              </a:rPr>
              <a:t>Vidéos en français vérifiées en octobre 2026. Liens cliquables en mode diaporama.</a:t>
            </a:r>
            <a:endParaRPr lang="en-US" sz="1000" dirty="0"/>
          </a:p>
        </p:txBody>
      </p:sp>
      <p:sp>
        <p:nvSpPr>
          <p:cNvPr id="29" name="Slide Number Placeholder 0"/>
          <p:cNvSpPr>
            <a:spLocks noGrp="1"/>
          </p:cNvSpPr>
          <p:nvPr>
            <p:ph type="sldNum" sz="quarter" idx="4294967295"/>
          </p:nvPr>
        </p:nvSpPr>
        <p:spPr>
          <a:xfrm>
            <a:off x="11064240" y="6400800"/>
            <a:ext cx="54864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C82"/>
                </a:solidFill>
                <a:latin typeface="Poppins"/>
                <a:ea typeface="Poppins"/>
                <a:cs typeface="Poppins"/>
              </a:defRPr>
            </a:lvl1pPr>
          </a:lstStyle>
          <a:p>
            <a:pPr algn="r"/>
            <a:fld id="{F7021451-1387-4CA6-816F-3879F97B5CBC}" type="slidenum">
              <a:rPr lang="en-US" b="0"/>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566928"/>
            <a:ext cx="11064240" cy="777240"/>
          </a:xfrm>
          <a:prstGeom prst="rect">
            <a:avLst/>
          </a:prstGeom>
          <a:noFill/>
          <a:ln/>
        </p:spPr>
        <p:txBody>
          <a:bodyPr wrap="square" lIns="0" tIns="0" rIns="0" bIns="0" rtlCol="0" anchor="ctr"/>
          <a:lstStyle/>
          <a:p>
            <a:pPr marL="0" indent="0" algn="l">
              <a:buNone/>
            </a:pPr>
            <a:r>
              <a:rPr lang="en-US" sz="2700" b="1" dirty="0">
                <a:solidFill>
                  <a:schemeClr val="tx2"/>
                </a:solidFill>
                <a:latin typeface="Poppins" pitchFamily="34" charset="0"/>
                <a:ea typeface="Poppins" pitchFamily="34" charset="-122"/>
                <a:cs typeface="Poppins" pitchFamily="34" charset="-120"/>
              </a:rPr>
              <a:t>5 réflexes à garder</a:t>
            </a:r>
            <a:endParaRPr lang="en-US" sz="2700" dirty="0"/>
          </a:p>
        </p:txBody>
      </p:sp>
      <p:sp>
        <p:nvSpPr>
          <p:cNvPr id="3" name="Text 0"/>
          <p:cNvSpPr>
            <a:spLocks noGrp="1"/>
          </p:cNvSpPr>
          <p:nvPr>
            <p:ph type="body" idx="101" hasCustomPrompt="1"/>
          </p:nvPr>
        </p:nvSpPr>
        <p:spPr>
          <a:xfrm>
            <a:off x="548640" y="256032"/>
            <a:ext cx="8229600" cy="292608"/>
          </a:xfrm>
          <a:prstGeom prst="rect">
            <a:avLst/>
          </a:prstGeom>
          <a:noFill/>
          <a:ln/>
        </p:spPr>
        <p:txBody>
          <a:bodyPr wrap="square" lIns="0" tIns="0" rIns="0" bIns="0" rtlCol="0" anchor="ctr"/>
          <a:lstStyle/>
          <a:p>
            <a:pPr marL="0" indent="0">
              <a:buNone/>
            </a:pPr>
            <a:r>
              <a:rPr lang="en-US" sz="1100" b="1" dirty="0">
                <a:solidFill>
                  <a:schemeClr val="accent1"/>
                </a:solidFill>
                <a:latin typeface="Poppins" pitchFamily="34" charset="0"/>
                <a:ea typeface="Poppins" pitchFamily="34" charset="-122"/>
                <a:cs typeface="Poppins" pitchFamily="34" charset="-120"/>
              </a:rPr>
              <a:t>CLÔTURE</a:t>
            </a:r>
            <a:endParaRPr lang="en-US" sz="1100" dirty="0"/>
          </a:p>
        </p:txBody>
      </p:sp>
      <p:sp>
        <p:nvSpPr>
          <p:cNvPr id="4" name="num-1762"/>
          <p:cNvSpPr/>
          <p:nvPr/>
        </p:nvSpPr>
        <p:spPr>
          <a:xfrm>
            <a:off x="548640" y="1600200"/>
            <a:ext cx="640080" cy="640080"/>
          </a:xfrm>
          <a:prstGeom prst="ellipse">
            <a:avLst/>
          </a:prstGeom>
          <a:solidFill>
            <a:schemeClr val="tx2"/>
          </a:solidFill>
          <a:ln w="12700">
            <a:solidFill>
              <a:schemeClr val="tx2"/>
            </a:solidFill>
            <a:prstDash val="solid"/>
          </a:ln>
        </p:spPr>
      </p:sp>
      <p:sp>
        <p:nvSpPr>
          <p:cNvPr id="5" name="txt-1763"/>
          <p:cNvSpPr txBox="1"/>
          <p:nvPr/>
        </p:nvSpPr>
        <p:spPr>
          <a:xfrm>
            <a:off x="548640" y="1600200"/>
            <a:ext cx="640080" cy="640080"/>
          </a:xfrm>
          <a:prstGeom prst="rect">
            <a:avLst/>
          </a:prstGeom>
          <a:noFill/>
          <a:ln/>
        </p:spPr>
        <p:txBody>
          <a:bodyPr wrap="square" lIns="0" tIns="0" rIns="0" bIns="0" rtlCol="0" anchor="ctr"/>
          <a:lstStyle/>
          <a:p>
            <a:pPr marL="0" indent="0" algn="ctr">
              <a:buNone/>
            </a:pPr>
            <a:r>
              <a:rPr lang="en-US" sz="2100" b="1" dirty="0">
                <a:solidFill>
                  <a:schemeClr val="bg1"/>
                </a:solidFill>
              </a:rPr>
              <a:t>1</a:t>
            </a:r>
            <a:endParaRPr lang="en-US" sz="2100" dirty="0"/>
          </a:p>
        </p:txBody>
      </p:sp>
      <p:sp>
        <p:nvSpPr>
          <p:cNvPr id="6" name="txt-1764"/>
          <p:cNvSpPr txBox="1"/>
          <p:nvPr/>
        </p:nvSpPr>
        <p:spPr>
          <a:xfrm>
            <a:off x="1417320" y="1600200"/>
            <a:ext cx="6035040" cy="640080"/>
          </a:xfrm>
          <a:prstGeom prst="rect">
            <a:avLst/>
          </a:prstGeom>
          <a:noFill/>
          <a:ln/>
        </p:spPr>
        <p:txBody>
          <a:bodyPr wrap="square" lIns="0" tIns="0" rIns="0" bIns="0" rtlCol="0" anchor="ctr"/>
          <a:lstStyle/>
          <a:p>
            <a:pPr marL="0" indent="0">
              <a:buNone/>
            </a:pPr>
            <a:r>
              <a:rPr lang="en-US" sz="1700" b="1" dirty="0">
                <a:solidFill>
                  <a:schemeClr val="tx2"/>
                </a:solidFill>
              </a:rPr>
              <a:t>Donner du contexte : R-C-T-F + règles</a:t>
            </a:r>
            <a:endParaRPr lang="en-US" sz="1700" dirty="0"/>
          </a:p>
        </p:txBody>
      </p:sp>
      <p:sp>
        <p:nvSpPr>
          <p:cNvPr id="7" name="num-1765"/>
          <p:cNvSpPr/>
          <p:nvPr/>
        </p:nvSpPr>
        <p:spPr>
          <a:xfrm>
            <a:off x="548640" y="2468880"/>
            <a:ext cx="640080" cy="640080"/>
          </a:xfrm>
          <a:prstGeom prst="ellipse">
            <a:avLst/>
          </a:prstGeom>
          <a:solidFill>
            <a:schemeClr val="accent6"/>
          </a:solidFill>
          <a:ln w="12700">
            <a:solidFill>
              <a:schemeClr val="accent6"/>
            </a:solidFill>
            <a:prstDash val="solid"/>
          </a:ln>
        </p:spPr>
      </p:sp>
      <p:sp>
        <p:nvSpPr>
          <p:cNvPr id="8" name="txt-1766"/>
          <p:cNvSpPr txBox="1"/>
          <p:nvPr/>
        </p:nvSpPr>
        <p:spPr>
          <a:xfrm>
            <a:off x="548640" y="2468880"/>
            <a:ext cx="640080" cy="640080"/>
          </a:xfrm>
          <a:prstGeom prst="rect">
            <a:avLst/>
          </a:prstGeom>
          <a:noFill/>
          <a:ln/>
        </p:spPr>
        <p:txBody>
          <a:bodyPr wrap="square" lIns="0" tIns="0" rIns="0" bIns="0" rtlCol="0" anchor="ctr"/>
          <a:lstStyle/>
          <a:p>
            <a:pPr marL="0" indent="0" algn="ctr">
              <a:buNone/>
            </a:pPr>
            <a:r>
              <a:rPr lang="en-US" sz="2100" b="1" dirty="0">
                <a:solidFill>
                  <a:schemeClr val="bg1"/>
                </a:solidFill>
              </a:rPr>
              <a:t>2</a:t>
            </a:r>
            <a:endParaRPr lang="en-US" sz="2100" dirty="0"/>
          </a:p>
        </p:txBody>
      </p:sp>
      <p:sp>
        <p:nvSpPr>
          <p:cNvPr id="9" name="txt-1767"/>
          <p:cNvSpPr txBox="1"/>
          <p:nvPr/>
        </p:nvSpPr>
        <p:spPr>
          <a:xfrm>
            <a:off x="1417320" y="2468880"/>
            <a:ext cx="6035040" cy="640080"/>
          </a:xfrm>
          <a:prstGeom prst="rect">
            <a:avLst/>
          </a:prstGeom>
          <a:noFill/>
          <a:ln/>
        </p:spPr>
        <p:txBody>
          <a:bodyPr wrap="square" lIns="0" tIns="0" rIns="0" bIns="0" rtlCol="0" anchor="ctr"/>
          <a:lstStyle/>
          <a:p>
            <a:pPr marL="0" indent="0">
              <a:buNone/>
            </a:pPr>
            <a:r>
              <a:rPr lang="en-US" sz="1700" b="1" dirty="0">
                <a:solidFill>
                  <a:schemeClr val="tx2"/>
                </a:solidFill>
              </a:rPr>
              <a:t>Vérifier chaque référence dans un moteur académique</a:t>
            </a:r>
            <a:endParaRPr lang="en-US" sz="1700" dirty="0"/>
          </a:p>
        </p:txBody>
      </p:sp>
      <p:sp>
        <p:nvSpPr>
          <p:cNvPr id="10" name="num-1768"/>
          <p:cNvSpPr/>
          <p:nvPr/>
        </p:nvSpPr>
        <p:spPr>
          <a:xfrm>
            <a:off x="548640" y="3337560"/>
            <a:ext cx="640080" cy="640080"/>
          </a:xfrm>
          <a:prstGeom prst="ellipse">
            <a:avLst/>
          </a:prstGeom>
          <a:solidFill>
            <a:schemeClr val="tx2"/>
          </a:solidFill>
          <a:ln w="12700">
            <a:solidFill>
              <a:schemeClr val="tx2"/>
            </a:solidFill>
            <a:prstDash val="solid"/>
          </a:ln>
        </p:spPr>
      </p:sp>
      <p:sp>
        <p:nvSpPr>
          <p:cNvPr id="11" name="txt-1769"/>
          <p:cNvSpPr txBox="1"/>
          <p:nvPr/>
        </p:nvSpPr>
        <p:spPr>
          <a:xfrm>
            <a:off x="548640" y="3337560"/>
            <a:ext cx="640080" cy="640080"/>
          </a:xfrm>
          <a:prstGeom prst="rect">
            <a:avLst/>
          </a:prstGeom>
          <a:noFill/>
          <a:ln/>
        </p:spPr>
        <p:txBody>
          <a:bodyPr wrap="square" lIns="0" tIns="0" rIns="0" bIns="0" rtlCol="0" anchor="ctr"/>
          <a:lstStyle/>
          <a:p>
            <a:pPr marL="0" indent="0" algn="ctr">
              <a:buNone/>
            </a:pPr>
            <a:r>
              <a:rPr lang="en-US" sz="2100" b="1" dirty="0">
                <a:solidFill>
                  <a:schemeClr val="bg1"/>
                </a:solidFill>
              </a:rPr>
              <a:t>3</a:t>
            </a:r>
            <a:endParaRPr lang="en-US" sz="2100" dirty="0"/>
          </a:p>
        </p:txBody>
      </p:sp>
      <p:sp>
        <p:nvSpPr>
          <p:cNvPr id="12" name="txt-1770"/>
          <p:cNvSpPr txBox="1"/>
          <p:nvPr/>
        </p:nvSpPr>
        <p:spPr>
          <a:xfrm>
            <a:off x="1417320" y="3337560"/>
            <a:ext cx="6035040" cy="640080"/>
          </a:xfrm>
          <a:prstGeom prst="rect">
            <a:avLst/>
          </a:prstGeom>
          <a:noFill/>
          <a:ln/>
        </p:spPr>
        <p:txBody>
          <a:bodyPr wrap="square" lIns="0" tIns="0" rIns="0" bIns="0" rtlCol="0" anchor="ctr"/>
          <a:lstStyle/>
          <a:p>
            <a:pPr marL="0" indent="0">
              <a:buNone/>
            </a:pPr>
            <a:r>
              <a:rPr lang="en-US" sz="1700" b="1" dirty="0">
                <a:solidFill>
                  <a:schemeClr val="tx2"/>
                </a:solidFill>
              </a:rPr>
              <a:t>Travailler sur ses sources avec un RAG, et exiger des citations</a:t>
            </a:r>
            <a:endParaRPr lang="en-US" sz="1700" dirty="0"/>
          </a:p>
        </p:txBody>
      </p:sp>
      <p:sp>
        <p:nvSpPr>
          <p:cNvPr id="13" name="num-1771"/>
          <p:cNvSpPr/>
          <p:nvPr/>
        </p:nvSpPr>
        <p:spPr>
          <a:xfrm>
            <a:off x="548640" y="4206240"/>
            <a:ext cx="640080" cy="640080"/>
          </a:xfrm>
          <a:prstGeom prst="ellipse">
            <a:avLst/>
          </a:prstGeom>
          <a:solidFill>
            <a:schemeClr val="accent6"/>
          </a:solidFill>
          <a:ln w="12700">
            <a:solidFill>
              <a:schemeClr val="accent6"/>
            </a:solidFill>
            <a:prstDash val="solid"/>
          </a:ln>
        </p:spPr>
      </p:sp>
      <p:sp>
        <p:nvSpPr>
          <p:cNvPr id="14" name="txt-1772"/>
          <p:cNvSpPr txBox="1"/>
          <p:nvPr/>
        </p:nvSpPr>
        <p:spPr>
          <a:xfrm>
            <a:off x="548640" y="4206240"/>
            <a:ext cx="640080" cy="640080"/>
          </a:xfrm>
          <a:prstGeom prst="rect">
            <a:avLst/>
          </a:prstGeom>
          <a:noFill/>
          <a:ln/>
        </p:spPr>
        <p:txBody>
          <a:bodyPr wrap="square" lIns="0" tIns="0" rIns="0" bIns="0" rtlCol="0" anchor="ctr"/>
          <a:lstStyle/>
          <a:p>
            <a:pPr marL="0" indent="0" algn="ctr">
              <a:buNone/>
            </a:pPr>
            <a:r>
              <a:rPr lang="en-US" sz="2100" b="1" dirty="0">
                <a:solidFill>
                  <a:schemeClr val="bg1"/>
                </a:solidFill>
              </a:rPr>
              <a:t>4</a:t>
            </a:r>
            <a:endParaRPr lang="en-US" sz="2100" dirty="0"/>
          </a:p>
        </p:txBody>
      </p:sp>
      <p:sp>
        <p:nvSpPr>
          <p:cNvPr id="15" name="txt-1773"/>
          <p:cNvSpPr txBox="1"/>
          <p:nvPr/>
        </p:nvSpPr>
        <p:spPr>
          <a:xfrm>
            <a:off x="1417320" y="4206240"/>
            <a:ext cx="6035040" cy="640080"/>
          </a:xfrm>
          <a:prstGeom prst="rect">
            <a:avLst/>
          </a:prstGeom>
          <a:noFill/>
          <a:ln/>
        </p:spPr>
        <p:txBody>
          <a:bodyPr wrap="square" lIns="0" tIns="0" rIns="0" bIns="0" rtlCol="0" anchor="ctr"/>
          <a:lstStyle/>
          <a:p>
            <a:pPr marL="0" indent="0">
              <a:buNone/>
            </a:pPr>
            <a:r>
              <a:rPr lang="en-US" sz="1700" b="1" dirty="0">
                <a:solidFill>
                  <a:schemeClr val="tx2"/>
                </a:solidFill>
              </a:rPr>
              <a:t>Garder la main sur les agents : valider le plan, auditer les sources</a:t>
            </a:r>
            <a:endParaRPr lang="en-US" sz="1700" dirty="0"/>
          </a:p>
        </p:txBody>
      </p:sp>
      <p:sp>
        <p:nvSpPr>
          <p:cNvPr id="16" name="num-1774"/>
          <p:cNvSpPr/>
          <p:nvPr/>
        </p:nvSpPr>
        <p:spPr>
          <a:xfrm>
            <a:off x="548640" y="5074920"/>
            <a:ext cx="640080" cy="640080"/>
          </a:xfrm>
          <a:prstGeom prst="ellipse">
            <a:avLst/>
          </a:prstGeom>
          <a:solidFill>
            <a:schemeClr val="tx2"/>
          </a:solidFill>
          <a:ln w="12700">
            <a:solidFill>
              <a:schemeClr val="tx2"/>
            </a:solidFill>
            <a:prstDash val="solid"/>
          </a:ln>
        </p:spPr>
      </p:sp>
      <p:sp>
        <p:nvSpPr>
          <p:cNvPr id="17" name="txt-1775"/>
          <p:cNvSpPr txBox="1"/>
          <p:nvPr/>
        </p:nvSpPr>
        <p:spPr>
          <a:xfrm>
            <a:off x="548640" y="5074920"/>
            <a:ext cx="640080" cy="640080"/>
          </a:xfrm>
          <a:prstGeom prst="rect">
            <a:avLst/>
          </a:prstGeom>
          <a:noFill/>
          <a:ln/>
        </p:spPr>
        <p:txBody>
          <a:bodyPr wrap="square" lIns="0" tIns="0" rIns="0" bIns="0" rtlCol="0" anchor="ctr"/>
          <a:lstStyle/>
          <a:p>
            <a:pPr marL="0" indent="0" algn="ctr">
              <a:buNone/>
            </a:pPr>
            <a:r>
              <a:rPr lang="en-US" sz="2100" b="1" dirty="0">
                <a:solidFill>
                  <a:schemeClr val="bg1"/>
                </a:solidFill>
              </a:rPr>
              <a:t>5</a:t>
            </a:r>
            <a:endParaRPr lang="en-US" sz="2100" dirty="0"/>
          </a:p>
        </p:txBody>
      </p:sp>
      <p:sp>
        <p:nvSpPr>
          <p:cNvPr id="18" name="txt-1776"/>
          <p:cNvSpPr txBox="1"/>
          <p:nvPr/>
        </p:nvSpPr>
        <p:spPr>
          <a:xfrm>
            <a:off x="1417320" y="5074920"/>
            <a:ext cx="6035040" cy="640080"/>
          </a:xfrm>
          <a:prstGeom prst="rect">
            <a:avLst/>
          </a:prstGeom>
          <a:noFill/>
          <a:ln/>
        </p:spPr>
        <p:txBody>
          <a:bodyPr wrap="square" lIns="0" tIns="0" rIns="0" bIns="0" rtlCol="0" anchor="ctr"/>
          <a:lstStyle/>
          <a:p>
            <a:pPr marL="0" indent="0">
              <a:buNone/>
            </a:pPr>
            <a:r>
              <a:rPr lang="en-US" sz="1700" b="1" dirty="0">
                <a:solidFill>
                  <a:schemeClr val="tx2"/>
                </a:solidFill>
              </a:rPr>
              <a:t>Ne jamais charger de données sensibles</a:t>
            </a:r>
            <a:endParaRPr lang="en-US" sz="1700" dirty="0"/>
          </a:p>
        </p:txBody>
      </p:sp>
      <p:sp>
        <p:nvSpPr>
          <p:cNvPr id="19" name="card-1777"/>
          <p:cNvSpPr/>
          <p:nvPr/>
        </p:nvSpPr>
        <p:spPr>
          <a:xfrm>
            <a:off x="7772400" y="1600200"/>
            <a:ext cx="3840480" cy="4114800"/>
          </a:xfrm>
          <a:prstGeom prst="roundRect">
            <a:avLst>
              <a:gd name="adj" fmla="val 1905"/>
            </a:avLst>
          </a:prstGeom>
          <a:solidFill>
            <a:schemeClr val="tx2"/>
          </a:solidFill>
          <a:ln w="6350">
            <a:solidFill>
              <a:schemeClr val="tx2"/>
            </a:solidFill>
            <a:prstDash val="solid"/>
          </a:ln>
        </p:spPr>
      </p:sp>
      <p:sp>
        <p:nvSpPr>
          <p:cNvPr id="20" name="circle-1778"/>
          <p:cNvSpPr/>
          <p:nvPr/>
        </p:nvSpPr>
        <p:spPr>
          <a:xfrm>
            <a:off x="9144000" y="1920240"/>
            <a:ext cx="1097280" cy="1097280"/>
          </a:xfrm>
          <a:prstGeom prst="ellipse">
            <a:avLst/>
          </a:prstGeom>
          <a:solidFill>
            <a:schemeClr val="accent1"/>
          </a:solidFill>
          <a:ln w="12700">
            <a:solidFill>
              <a:schemeClr val="accent1"/>
            </a:solidFill>
            <a:prstDash val="solid"/>
          </a:ln>
        </p:spPr>
      </p:sp>
      <p:pic>
        <p:nvPicPr>
          <p:cNvPr id="21" name="icon-1779" descr="preencoded.png"/>
          <p:cNvPicPr>
            <a:picLocks noChangeAspect="1"/>
          </p:cNvPicPr>
          <p:nvPr/>
        </p:nvPicPr>
        <p:blipFill>
          <a:blip r:embed="rId3"/>
          <a:stretch>
            <a:fillRect/>
          </a:stretch>
        </p:blipFill>
        <p:spPr>
          <a:xfrm>
            <a:off x="9418320" y="2194560"/>
            <a:ext cx="548640" cy="548640"/>
          </a:xfrm>
          <a:prstGeom prst="rect">
            <a:avLst/>
          </a:prstGeom>
        </p:spPr>
      </p:pic>
      <p:sp>
        <p:nvSpPr>
          <p:cNvPr id="22" name="txt-1780"/>
          <p:cNvSpPr txBox="1"/>
          <p:nvPr/>
        </p:nvSpPr>
        <p:spPr>
          <a:xfrm>
            <a:off x="8046720" y="3291840"/>
            <a:ext cx="3291840" cy="1463040"/>
          </a:xfrm>
          <a:prstGeom prst="rect">
            <a:avLst/>
          </a:prstGeom>
          <a:noFill/>
          <a:ln/>
        </p:spPr>
        <p:txBody>
          <a:bodyPr wrap="square" lIns="0" tIns="0" rIns="0" bIns="0" rtlCol="0" anchor="ctr"/>
          <a:lstStyle/>
          <a:p>
            <a:pPr marL="0" indent="0" algn="ctr">
              <a:buNone/>
            </a:pPr>
            <a:r>
              <a:rPr lang="en-US" sz="2200" b="1" dirty="0">
                <a:solidFill>
                  <a:schemeClr val="bg1"/>
                </a:solidFill>
              </a:rPr>
              <a:t>L'IA propose, vous vérifiez.</a:t>
            </a:r>
            <a:endParaRPr lang="en-US" sz="2200" dirty="0"/>
          </a:p>
        </p:txBody>
      </p:sp>
      <p:sp>
        <p:nvSpPr>
          <p:cNvPr id="25" name="Slide Number Placeholder 0"/>
          <p:cNvSpPr>
            <a:spLocks noGrp="1"/>
          </p:cNvSpPr>
          <p:nvPr>
            <p:ph type="sldNum" sz="quarter" idx="4294967295"/>
          </p:nvPr>
        </p:nvSpPr>
        <p:spPr>
          <a:xfrm>
            <a:off x="11064240" y="6400800"/>
            <a:ext cx="54864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C82"/>
                </a:solidFill>
                <a:latin typeface="Poppins"/>
                <a:ea typeface="Poppins"/>
                <a:cs typeface="Poppins"/>
              </a:defRPr>
            </a:lvl1pPr>
          </a:lstStyle>
          <a:p>
            <a:pPr algn="r"/>
            <a:fld id="{F7021451-1387-4CA6-816F-3879F97B5CBC}" type="slidenum">
              <a:rPr lang="en-US" b="0"/>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566928"/>
            <a:ext cx="11064240" cy="777240"/>
          </a:xfrm>
          <a:prstGeom prst="rect">
            <a:avLst/>
          </a:prstGeom>
          <a:noFill/>
          <a:ln/>
        </p:spPr>
        <p:txBody>
          <a:bodyPr wrap="square" lIns="0" tIns="0" rIns="0" bIns="0" rtlCol="0" anchor="ctr"/>
          <a:lstStyle/>
          <a:p>
            <a:pPr marL="0" indent="0" algn="l">
              <a:buNone/>
            </a:pPr>
            <a:r>
              <a:rPr lang="en-US" sz="2700" b="1" dirty="0">
                <a:solidFill>
                  <a:schemeClr val="tx2"/>
                </a:solidFill>
                <a:latin typeface="Poppins" pitchFamily="34" charset="0"/>
                <a:ea typeface="Poppins" pitchFamily="34" charset="-122"/>
                <a:cs typeface="Poppins" pitchFamily="34" charset="-120"/>
              </a:rPr>
              <a:t>Pour le J5 : présentez votre cas d'usage</a:t>
            </a:r>
            <a:endParaRPr lang="en-US" sz="2700" dirty="0"/>
          </a:p>
        </p:txBody>
      </p:sp>
      <p:sp>
        <p:nvSpPr>
          <p:cNvPr id="3" name="Text 0"/>
          <p:cNvSpPr>
            <a:spLocks noGrp="1"/>
          </p:cNvSpPr>
          <p:nvPr>
            <p:ph type="body" idx="101" hasCustomPrompt="1"/>
          </p:nvPr>
        </p:nvSpPr>
        <p:spPr>
          <a:xfrm>
            <a:off x="548640" y="256032"/>
            <a:ext cx="8229600" cy="292608"/>
          </a:xfrm>
          <a:prstGeom prst="rect">
            <a:avLst/>
          </a:prstGeom>
          <a:noFill/>
          <a:ln/>
        </p:spPr>
        <p:txBody>
          <a:bodyPr wrap="square" lIns="0" tIns="0" rIns="0" bIns="0" rtlCol="0" anchor="ctr"/>
          <a:lstStyle/>
          <a:p>
            <a:pPr marL="0" indent="0">
              <a:buNone/>
            </a:pPr>
            <a:r>
              <a:rPr lang="en-US" sz="1100" b="1" dirty="0">
                <a:solidFill>
                  <a:schemeClr val="accent1"/>
                </a:solidFill>
                <a:latin typeface="Poppins" pitchFamily="34" charset="0"/>
                <a:ea typeface="Poppins" pitchFamily="34" charset="-122"/>
                <a:cs typeface="Poppins" pitchFamily="34" charset="-120"/>
              </a:rPr>
              <a:t>CLÔTURE</a:t>
            </a:r>
            <a:endParaRPr lang="en-US" sz="1100" dirty="0"/>
          </a:p>
        </p:txBody>
      </p:sp>
      <p:sp>
        <p:nvSpPr>
          <p:cNvPr id="4" name="card-1781"/>
          <p:cNvSpPr/>
          <p:nvPr/>
        </p:nvSpPr>
        <p:spPr>
          <a:xfrm>
            <a:off x="548640" y="1600200"/>
            <a:ext cx="3520440" cy="1600200"/>
          </a:xfrm>
          <a:prstGeom prst="roundRect">
            <a:avLst>
              <a:gd name="adj" fmla="val 4571"/>
            </a:avLst>
          </a:prstGeom>
          <a:solidFill>
            <a:schemeClr val="bg2"/>
          </a:solidFill>
          <a:ln w="6350">
            <a:solidFill>
              <a:schemeClr val="bg2"/>
            </a:solidFill>
            <a:prstDash val="solid"/>
          </a:ln>
        </p:spPr>
      </p:sp>
      <p:sp>
        <p:nvSpPr>
          <p:cNvPr id="5" name="circle-1782"/>
          <p:cNvSpPr/>
          <p:nvPr/>
        </p:nvSpPr>
        <p:spPr>
          <a:xfrm>
            <a:off x="777240" y="1874520"/>
            <a:ext cx="640080" cy="640080"/>
          </a:xfrm>
          <a:prstGeom prst="ellipse">
            <a:avLst/>
          </a:prstGeom>
          <a:solidFill>
            <a:schemeClr val="accent6"/>
          </a:solidFill>
          <a:ln w="12700">
            <a:solidFill>
              <a:schemeClr val="accent6"/>
            </a:solidFill>
            <a:prstDash val="solid"/>
          </a:ln>
        </p:spPr>
      </p:sp>
      <p:pic>
        <p:nvPicPr>
          <p:cNvPr id="6" name="icon-1783" descr="preencoded.png"/>
          <p:cNvPicPr>
            <a:picLocks noChangeAspect="1"/>
          </p:cNvPicPr>
          <p:nvPr/>
        </p:nvPicPr>
        <p:blipFill>
          <a:blip r:embed="rId3"/>
          <a:stretch>
            <a:fillRect/>
          </a:stretch>
        </p:blipFill>
        <p:spPr>
          <a:xfrm>
            <a:off x="937260" y="2034540"/>
            <a:ext cx="320040" cy="320040"/>
          </a:xfrm>
          <a:prstGeom prst="rect">
            <a:avLst/>
          </a:prstGeom>
        </p:spPr>
      </p:pic>
      <p:sp>
        <p:nvSpPr>
          <p:cNvPr id="7" name="txt-1784"/>
          <p:cNvSpPr txBox="1"/>
          <p:nvPr/>
        </p:nvSpPr>
        <p:spPr>
          <a:xfrm>
            <a:off x="1600200" y="1828800"/>
            <a:ext cx="2331720" cy="457200"/>
          </a:xfrm>
          <a:prstGeom prst="rect">
            <a:avLst/>
          </a:prstGeom>
          <a:noFill/>
          <a:ln/>
        </p:spPr>
        <p:txBody>
          <a:bodyPr wrap="square" lIns="0" tIns="0" rIns="0" bIns="0" rtlCol="0" anchor="t"/>
          <a:lstStyle/>
          <a:p>
            <a:pPr marL="0" indent="0">
              <a:buNone/>
            </a:pPr>
            <a:r>
              <a:rPr lang="en-US" sz="1500" b="1" dirty="0">
                <a:solidFill>
                  <a:schemeClr val="tx2"/>
                </a:solidFill>
              </a:rPr>
              <a:t>Le problème</a:t>
            </a:r>
            <a:endParaRPr lang="en-US" sz="1500" dirty="0"/>
          </a:p>
        </p:txBody>
      </p:sp>
      <p:sp>
        <p:nvSpPr>
          <p:cNvPr id="8" name="txt-1785"/>
          <p:cNvSpPr txBox="1"/>
          <p:nvPr/>
        </p:nvSpPr>
        <p:spPr>
          <a:xfrm>
            <a:off x="1600200" y="2313432"/>
            <a:ext cx="2331720" cy="777240"/>
          </a:xfrm>
          <a:prstGeom prst="rect">
            <a:avLst/>
          </a:prstGeom>
          <a:noFill/>
          <a:ln/>
        </p:spPr>
        <p:txBody>
          <a:bodyPr wrap="square" lIns="0" tIns="0" rIns="0" bIns="0" rtlCol="0" anchor="t"/>
          <a:lstStyle/>
          <a:p>
            <a:pPr marL="0" indent="0">
              <a:buNone/>
            </a:pPr>
            <a:r>
              <a:rPr lang="en-US" sz="1300" dirty="0">
                <a:solidFill>
                  <a:schemeClr val="tx1"/>
                </a:solidFill>
              </a:rPr>
              <a:t>Quelle tâche de votre recherche ?</a:t>
            </a:r>
            <a:endParaRPr lang="en-US" sz="1300" dirty="0"/>
          </a:p>
        </p:txBody>
      </p:sp>
      <p:sp>
        <p:nvSpPr>
          <p:cNvPr id="9" name="card-1786"/>
          <p:cNvSpPr/>
          <p:nvPr/>
        </p:nvSpPr>
        <p:spPr>
          <a:xfrm>
            <a:off x="4297680" y="1600200"/>
            <a:ext cx="3520440" cy="1600200"/>
          </a:xfrm>
          <a:prstGeom prst="roundRect">
            <a:avLst>
              <a:gd name="adj" fmla="val 4571"/>
            </a:avLst>
          </a:prstGeom>
          <a:solidFill>
            <a:schemeClr val="bg2"/>
          </a:solidFill>
          <a:ln w="6350">
            <a:solidFill>
              <a:schemeClr val="bg2"/>
            </a:solidFill>
            <a:prstDash val="solid"/>
          </a:ln>
        </p:spPr>
      </p:sp>
      <p:sp>
        <p:nvSpPr>
          <p:cNvPr id="10" name="circle-1787"/>
          <p:cNvSpPr/>
          <p:nvPr/>
        </p:nvSpPr>
        <p:spPr>
          <a:xfrm>
            <a:off x="4526280" y="1874520"/>
            <a:ext cx="640080" cy="640080"/>
          </a:xfrm>
          <a:prstGeom prst="ellipse">
            <a:avLst/>
          </a:prstGeom>
          <a:solidFill>
            <a:schemeClr val="accent6"/>
          </a:solidFill>
          <a:ln w="12700">
            <a:solidFill>
              <a:schemeClr val="accent6"/>
            </a:solidFill>
            <a:prstDash val="solid"/>
          </a:ln>
        </p:spPr>
      </p:sp>
      <p:pic>
        <p:nvPicPr>
          <p:cNvPr id="11" name="icon-1788" descr="preencoded.png"/>
          <p:cNvPicPr>
            <a:picLocks noChangeAspect="1"/>
          </p:cNvPicPr>
          <p:nvPr/>
        </p:nvPicPr>
        <p:blipFill>
          <a:blip r:embed="rId4"/>
          <a:stretch>
            <a:fillRect/>
          </a:stretch>
        </p:blipFill>
        <p:spPr>
          <a:xfrm>
            <a:off x="4686300" y="2034540"/>
            <a:ext cx="320040" cy="320040"/>
          </a:xfrm>
          <a:prstGeom prst="rect">
            <a:avLst/>
          </a:prstGeom>
        </p:spPr>
      </p:pic>
      <p:sp>
        <p:nvSpPr>
          <p:cNvPr id="12" name="txt-1789"/>
          <p:cNvSpPr txBox="1"/>
          <p:nvPr/>
        </p:nvSpPr>
        <p:spPr>
          <a:xfrm>
            <a:off x="5349240" y="1828800"/>
            <a:ext cx="2331720" cy="457200"/>
          </a:xfrm>
          <a:prstGeom prst="rect">
            <a:avLst/>
          </a:prstGeom>
          <a:noFill/>
          <a:ln/>
        </p:spPr>
        <p:txBody>
          <a:bodyPr wrap="square" lIns="0" tIns="0" rIns="0" bIns="0" rtlCol="0" anchor="t"/>
          <a:lstStyle/>
          <a:p>
            <a:pPr marL="0" indent="0">
              <a:buNone/>
            </a:pPr>
            <a:r>
              <a:rPr lang="en-US" sz="1500" b="1" dirty="0">
                <a:solidFill>
                  <a:schemeClr val="tx2"/>
                </a:solidFill>
              </a:rPr>
              <a:t>L'outil</a:t>
            </a:r>
            <a:endParaRPr lang="en-US" sz="1500" dirty="0"/>
          </a:p>
        </p:txBody>
      </p:sp>
      <p:sp>
        <p:nvSpPr>
          <p:cNvPr id="13" name="txt-1790"/>
          <p:cNvSpPr txBox="1"/>
          <p:nvPr/>
        </p:nvSpPr>
        <p:spPr>
          <a:xfrm>
            <a:off x="5349240" y="2313432"/>
            <a:ext cx="2331720" cy="777240"/>
          </a:xfrm>
          <a:prstGeom prst="rect">
            <a:avLst/>
          </a:prstGeom>
          <a:noFill/>
          <a:ln/>
        </p:spPr>
        <p:txBody>
          <a:bodyPr wrap="square" lIns="0" tIns="0" rIns="0" bIns="0" rtlCol="0" anchor="t"/>
          <a:lstStyle/>
          <a:p>
            <a:pPr marL="0" indent="0">
              <a:buNone/>
            </a:pPr>
            <a:r>
              <a:rPr lang="en-US" sz="1300" dirty="0">
                <a:solidFill>
                  <a:schemeClr val="tx1"/>
                </a:solidFill>
              </a:rPr>
              <a:t>Lequel, et pourquoi ?</a:t>
            </a:r>
            <a:endParaRPr lang="en-US" sz="1300" dirty="0"/>
          </a:p>
        </p:txBody>
      </p:sp>
      <p:sp>
        <p:nvSpPr>
          <p:cNvPr id="14" name="card-1791"/>
          <p:cNvSpPr/>
          <p:nvPr/>
        </p:nvSpPr>
        <p:spPr>
          <a:xfrm>
            <a:off x="8046720" y="1600200"/>
            <a:ext cx="3520440" cy="1600200"/>
          </a:xfrm>
          <a:prstGeom prst="roundRect">
            <a:avLst>
              <a:gd name="adj" fmla="val 4571"/>
            </a:avLst>
          </a:prstGeom>
          <a:solidFill>
            <a:schemeClr val="bg2"/>
          </a:solidFill>
          <a:ln w="6350">
            <a:solidFill>
              <a:schemeClr val="bg2"/>
            </a:solidFill>
            <a:prstDash val="solid"/>
          </a:ln>
        </p:spPr>
      </p:sp>
      <p:sp>
        <p:nvSpPr>
          <p:cNvPr id="15" name="circle-1792"/>
          <p:cNvSpPr/>
          <p:nvPr/>
        </p:nvSpPr>
        <p:spPr>
          <a:xfrm>
            <a:off x="8275320" y="1874520"/>
            <a:ext cx="640080" cy="640080"/>
          </a:xfrm>
          <a:prstGeom prst="ellipse">
            <a:avLst/>
          </a:prstGeom>
          <a:solidFill>
            <a:schemeClr val="accent6"/>
          </a:solidFill>
          <a:ln w="12700">
            <a:solidFill>
              <a:schemeClr val="accent6"/>
            </a:solidFill>
            <a:prstDash val="solid"/>
          </a:ln>
        </p:spPr>
      </p:sp>
      <p:pic>
        <p:nvPicPr>
          <p:cNvPr id="16" name="icon-1793" descr="preencoded.png"/>
          <p:cNvPicPr>
            <a:picLocks noChangeAspect="1"/>
          </p:cNvPicPr>
          <p:nvPr/>
        </p:nvPicPr>
        <p:blipFill>
          <a:blip r:embed="rId5"/>
          <a:stretch>
            <a:fillRect/>
          </a:stretch>
        </p:blipFill>
        <p:spPr>
          <a:xfrm>
            <a:off x="8435340" y="2034540"/>
            <a:ext cx="320040" cy="320040"/>
          </a:xfrm>
          <a:prstGeom prst="rect">
            <a:avLst/>
          </a:prstGeom>
        </p:spPr>
      </p:pic>
      <p:sp>
        <p:nvSpPr>
          <p:cNvPr id="17" name="txt-1794"/>
          <p:cNvSpPr txBox="1"/>
          <p:nvPr/>
        </p:nvSpPr>
        <p:spPr>
          <a:xfrm>
            <a:off x="9098280" y="1828800"/>
            <a:ext cx="2331720" cy="457200"/>
          </a:xfrm>
          <a:prstGeom prst="rect">
            <a:avLst/>
          </a:prstGeom>
          <a:noFill/>
          <a:ln/>
        </p:spPr>
        <p:txBody>
          <a:bodyPr wrap="square" lIns="0" tIns="0" rIns="0" bIns="0" rtlCol="0" anchor="t"/>
          <a:lstStyle/>
          <a:p>
            <a:pPr marL="0" indent="0">
              <a:buNone/>
            </a:pPr>
            <a:r>
              <a:rPr lang="en-US" sz="1500" b="1" dirty="0">
                <a:solidFill>
                  <a:schemeClr val="tx2"/>
                </a:solidFill>
              </a:rPr>
              <a:t>Le prompt ou l'assistant</a:t>
            </a:r>
            <a:endParaRPr lang="en-US" sz="1500" dirty="0"/>
          </a:p>
        </p:txBody>
      </p:sp>
      <p:sp>
        <p:nvSpPr>
          <p:cNvPr id="18" name="txt-1795"/>
          <p:cNvSpPr txBox="1"/>
          <p:nvPr/>
        </p:nvSpPr>
        <p:spPr>
          <a:xfrm>
            <a:off x="9098280" y="2313432"/>
            <a:ext cx="2331720" cy="777240"/>
          </a:xfrm>
          <a:prstGeom prst="rect">
            <a:avLst/>
          </a:prstGeom>
          <a:noFill/>
          <a:ln/>
        </p:spPr>
        <p:txBody>
          <a:bodyPr wrap="square" lIns="0" tIns="0" rIns="0" bIns="0" rtlCol="0" anchor="t"/>
          <a:lstStyle/>
          <a:p>
            <a:pPr marL="0" indent="0">
              <a:buNone/>
            </a:pPr>
            <a:r>
              <a:rPr lang="en-US" sz="1300" dirty="0">
                <a:solidFill>
                  <a:schemeClr val="tx1"/>
                </a:solidFill>
              </a:rPr>
              <a:t>Ce que vous lui avez demandé</a:t>
            </a:r>
            <a:endParaRPr lang="en-US" sz="1300" dirty="0"/>
          </a:p>
        </p:txBody>
      </p:sp>
      <p:sp>
        <p:nvSpPr>
          <p:cNvPr id="19" name="card-1796"/>
          <p:cNvSpPr/>
          <p:nvPr/>
        </p:nvSpPr>
        <p:spPr>
          <a:xfrm>
            <a:off x="548640" y="3429000"/>
            <a:ext cx="3520440" cy="1600200"/>
          </a:xfrm>
          <a:prstGeom prst="roundRect">
            <a:avLst>
              <a:gd name="adj" fmla="val 4571"/>
            </a:avLst>
          </a:prstGeom>
          <a:solidFill>
            <a:schemeClr val="bg2"/>
          </a:solidFill>
          <a:ln w="6350">
            <a:solidFill>
              <a:schemeClr val="bg2"/>
            </a:solidFill>
            <a:prstDash val="solid"/>
          </a:ln>
        </p:spPr>
      </p:sp>
      <p:sp>
        <p:nvSpPr>
          <p:cNvPr id="20" name="circle-1797"/>
          <p:cNvSpPr/>
          <p:nvPr/>
        </p:nvSpPr>
        <p:spPr>
          <a:xfrm>
            <a:off x="777240" y="3703320"/>
            <a:ext cx="640080" cy="640080"/>
          </a:xfrm>
          <a:prstGeom prst="ellipse">
            <a:avLst/>
          </a:prstGeom>
          <a:solidFill>
            <a:schemeClr val="accent6"/>
          </a:solidFill>
          <a:ln w="12700">
            <a:solidFill>
              <a:schemeClr val="accent6"/>
            </a:solidFill>
            <a:prstDash val="solid"/>
          </a:ln>
        </p:spPr>
      </p:sp>
      <p:pic>
        <p:nvPicPr>
          <p:cNvPr id="21" name="icon-1798" descr="preencoded.png"/>
          <p:cNvPicPr>
            <a:picLocks noChangeAspect="1"/>
          </p:cNvPicPr>
          <p:nvPr/>
        </p:nvPicPr>
        <p:blipFill>
          <a:blip r:embed="rId6"/>
          <a:stretch>
            <a:fillRect/>
          </a:stretch>
        </p:blipFill>
        <p:spPr>
          <a:xfrm>
            <a:off x="937260" y="3863340"/>
            <a:ext cx="320040" cy="320040"/>
          </a:xfrm>
          <a:prstGeom prst="rect">
            <a:avLst/>
          </a:prstGeom>
        </p:spPr>
      </p:pic>
      <p:sp>
        <p:nvSpPr>
          <p:cNvPr id="22" name="txt-1799"/>
          <p:cNvSpPr txBox="1"/>
          <p:nvPr/>
        </p:nvSpPr>
        <p:spPr>
          <a:xfrm>
            <a:off x="1600200" y="3657600"/>
            <a:ext cx="2331720" cy="457200"/>
          </a:xfrm>
          <a:prstGeom prst="rect">
            <a:avLst/>
          </a:prstGeom>
          <a:noFill/>
          <a:ln/>
        </p:spPr>
        <p:txBody>
          <a:bodyPr wrap="square" lIns="0" tIns="0" rIns="0" bIns="0" rtlCol="0" anchor="t"/>
          <a:lstStyle/>
          <a:p>
            <a:pPr marL="0" indent="0">
              <a:buNone/>
            </a:pPr>
            <a:r>
              <a:rPr lang="en-US" sz="1500" b="1" dirty="0">
                <a:solidFill>
                  <a:schemeClr val="tx2"/>
                </a:solidFill>
              </a:rPr>
              <a:t>Le résultat</a:t>
            </a:r>
            <a:endParaRPr lang="en-US" sz="1500" dirty="0"/>
          </a:p>
        </p:txBody>
      </p:sp>
      <p:sp>
        <p:nvSpPr>
          <p:cNvPr id="23" name="txt-1800"/>
          <p:cNvSpPr txBox="1"/>
          <p:nvPr/>
        </p:nvSpPr>
        <p:spPr>
          <a:xfrm>
            <a:off x="1600200" y="4142232"/>
            <a:ext cx="2331720" cy="777240"/>
          </a:xfrm>
          <a:prstGeom prst="rect">
            <a:avLst/>
          </a:prstGeom>
          <a:noFill/>
          <a:ln/>
        </p:spPr>
        <p:txBody>
          <a:bodyPr wrap="square" lIns="0" tIns="0" rIns="0" bIns="0" rtlCol="0" anchor="t"/>
          <a:lstStyle/>
          <a:p>
            <a:pPr marL="0" indent="0">
              <a:buNone/>
            </a:pPr>
            <a:r>
              <a:rPr lang="en-US" sz="1300" dirty="0">
                <a:solidFill>
                  <a:schemeClr val="tx1"/>
                </a:solidFill>
              </a:rPr>
              <a:t>Ce que vous avez obtenu</a:t>
            </a:r>
            <a:endParaRPr lang="en-US" sz="1300" dirty="0"/>
          </a:p>
        </p:txBody>
      </p:sp>
      <p:sp>
        <p:nvSpPr>
          <p:cNvPr id="24" name="card-1801"/>
          <p:cNvSpPr/>
          <p:nvPr/>
        </p:nvSpPr>
        <p:spPr>
          <a:xfrm>
            <a:off x="4297680" y="3429000"/>
            <a:ext cx="3520440" cy="1600200"/>
          </a:xfrm>
          <a:prstGeom prst="roundRect">
            <a:avLst>
              <a:gd name="adj" fmla="val 4571"/>
            </a:avLst>
          </a:prstGeom>
          <a:solidFill>
            <a:schemeClr val="bg2"/>
          </a:solidFill>
          <a:ln w="6350">
            <a:solidFill>
              <a:schemeClr val="bg2"/>
            </a:solidFill>
            <a:prstDash val="solid"/>
          </a:ln>
        </p:spPr>
      </p:sp>
      <p:sp>
        <p:nvSpPr>
          <p:cNvPr id="25" name="circle-1802"/>
          <p:cNvSpPr/>
          <p:nvPr/>
        </p:nvSpPr>
        <p:spPr>
          <a:xfrm>
            <a:off x="4526280" y="3703320"/>
            <a:ext cx="640080" cy="640080"/>
          </a:xfrm>
          <a:prstGeom prst="ellipse">
            <a:avLst/>
          </a:prstGeom>
          <a:solidFill>
            <a:schemeClr val="accent2"/>
          </a:solidFill>
          <a:ln w="12700">
            <a:solidFill>
              <a:schemeClr val="accent2"/>
            </a:solidFill>
            <a:prstDash val="solid"/>
          </a:ln>
        </p:spPr>
      </p:sp>
      <p:pic>
        <p:nvPicPr>
          <p:cNvPr id="26" name="icon-1803" descr="preencoded.png"/>
          <p:cNvPicPr>
            <a:picLocks noChangeAspect="1"/>
          </p:cNvPicPr>
          <p:nvPr/>
        </p:nvPicPr>
        <p:blipFill>
          <a:blip r:embed="rId7"/>
          <a:stretch>
            <a:fillRect/>
          </a:stretch>
        </p:blipFill>
        <p:spPr>
          <a:xfrm>
            <a:off x="4686300" y="3863340"/>
            <a:ext cx="320040" cy="320040"/>
          </a:xfrm>
          <a:prstGeom prst="rect">
            <a:avLst/>
          </a:prstGeom>
        </p:spPr>
      </p:pic>
      <p:sp>
        <p:nvSpPr>
          <p:cNvPr id="27" name="txt-1804"/>
          <p:cNvSpPr txBox="1"/>
          <p:nvPr/>
        </p:nvSpPr>
        <p:spPr>
          <a:xfrm>
            <a:off x="5349240" y="3657600"/>
            <a:ext cx="2331720" cy="457200"/>
          </a:xfrm>
          <a:prstGeom prst="rect">
            <a:avLst/>
          </a:prstGeom>
          <a:noFill/>
          <a:ln/>
        </p:spPr>
        <p:txBody>
          <a:bodyPr wrap="square" lIns="0" tIns="0" rIns="0" bIns="0" rtlCol="0" anchor="t"/>
          <a:lstStyle/>
          <a:p>
            <a:pPr marL="0" indent="0">
              <a:buNone/>
            </a:pPr>
            <a:r>
              <a:rPr lang="en-US" sz="1500" b="1" dirty="0">
                <a:solidFill>
                  <a:schemeClr val="tx2"/>
                </a:solidFill>
              </a:rPr>
              <a:t>La vérification</a:t>
            </a:r>
            <a:endParaRPr lang="en-US" sz="1500" dirty="0"/>
          </a:p>
        </p:txBody>
      </p:sp>
      <p:sp>
        <p:nvSpPr>
          <p:cNvPr id="28" name="txt-1805"/>
          <p:cNvSpPr txBox="1"/>
          <p:nvPr/>
        </p:nvSpPr>
        <p:spPr>
          <a:xfrm>
            <a:off x="5349240" y="4142232"/>
            <a:ext cx="2331720" cy="777240"/>
          </a:xfrm>
          <a:prstGeom prst="rect">
            <a:avLst/>
          </a:prstGeom>
          <a:noFill/>
          <a:ln/>
        </p:spPr>
        <p:txBody>
          <a:bodyPr wrap="square" lIns="0" tIns="0" rIns="0" bIns="0" rtlCol="0" anchor="t"/>
          <a:lstStyle/>
          <a:p>
            <a:pPr marL="0" indent="0">
              <a:buNone/>
            </a:pPr>
            <a:r>
              <a:rPr lang="en-US" sz="1300" dirty="0">
                <a:solidFill>
                  <a:schemeClr val="tx1"/>
                </a:solidFill>
              </a:rPr>
              <a:t>Ce que vous avez contrôlé et corrigé</a:t>
            </a:r>
            <a:endParaRPr lang="en-US" sz="1300" dirty="0"/>
          </a:p>
        </p:txBody>
      </p:sp>
      <p:sp>
        <p:nvSpPr>
          <p:cNvPr id="29" name="card-1806"/>
          <p:cNvSpPr/>
          <p:nvPr/>
        </p:nvSpPr>
        <p:spPr>
          <a:xfrm>
            <a:off x="8046720" y="3429000"/>
            <a:ext cx="3520440" cy="1600200"/>
          </a:xfrm>
          <a:prstGeom prst="roundRect">
            <a:avLst>
              <a:gd name="adj" fmla="val 4571"/>
            </a:avLst>
          </a:prstGeom>
          <a:solidFill>
            <a:schemeClr val="bg2"/>
          </a:solidFill>
          <a:ln w="6350">
            <a:solidFill>
              <a:schemeClr val="bg2"/>
            </a:solidFill>
            <a:prstDash val="solid"/>
          </a:ln>
        </p:spPr>
      </p:sp>
      <p:sp>
        <p:nvSpPr>
          <p:cNvPr id="30" name="circle-1807"/>
          <p:cNvSpPr/>
          <p:nvPr/>
        </p:nvSpPr>
        <p:spPr>
          <a:xfrm>
            <a:off x="8275320" y="3703320"/>
            <a:ext cx="640080" cy="640080"/>
          </a:xfrm>
          <a:prstGeom prst="ellipse">
            <a:avLst/>
          </a:prstGeom>
          <a:solidFill>
            <a:schemeClr val="accent6"/>
          </a:solidFill>
          <a:ln w="12700">
            <a:solidFill>
              <a:schemeClr val="accent6"/>
            </a:solidFill>
            <a:prstDash val="solid"/>
          </a:ln>
        </p:spPr>
      </p:sp>
      <p:pic>
        <p:nvPicPr>
          <p:cNvPr id="31" name="icon-1808" descr="preencoded.png"/>
          <p:cNvPicPr>
            <a:picLocks noChangeAspect="1"/>
          </p:cNvPicPr>
          <p:nvPr/>
        </p:nvPicPr>
        <p:blipFill>
          <a:blip r:embed="rId8"/>
          <a:stretch>
            <a:fillRect/>
          </a:stretch>
        </p:blipFill>
        <p:spPr>
          <a:xfrm>
            <a:off x="8435340" y="3863340"/>
            <a:ext cx="320040" cy="320040"/>
          </a:xfrm>
          <a:prstGeom prst="rect">
            <a:avLst/>
          </a:prstGeom>
        </p:spPr>
      </p:pic>
      <p:sp>
        <p:nvSpPr>
          <p:cNvPr id="32" name="txt-1809"/>
          <p:cNvSpPr txBox="1"/>
          <p:nvPr/>
        </p:nvSpPr>
        <p:spPr>
          <a:xfrm>
            <a:off x="9098280" y="3657600"/>
            <a:ext cx="2331720" cy="457200"/>
          </a:xfrm>
          <a:prstGeom prst="rect">
            <a:avLst/>
          </a:prstGeom>
          <a:noFill/>
          <a:ln/>
        </p:spPr>
        <p:txBody>
          <a:bodyPr wrap="square" lIns="0" tIns="0" rIns="0" bIns="0" rtlCol="0" anchor="t"/>
          <a:lstStyle/>
          <a:p>
            <a:pPr marL="0" indent="0">
              <a:buNone/>
            </a:pPr>
            <a:r>
              <a:rPr lang="en-US" sz="1500" b="1" dirty="0">
                <a:solidFill>
                  <a:schemeClr val="tx2"/>
                </a:solidFill>
              </a:rPr>
              <a:t>Limites et suite</a:t>
            </a:r>
            <a:endParaRPr lang="en-US" sz="1500" dirty="0"/>
          </a:p>
        </p:txBody>
      </p:sp>
      <p:sp>
        <p:nvSpPr>
          <p:cNvPr id="33" name="txt-1810"/>
          <p:cNvSpPr txBox="1"/>
          <p:nvPr/>
        </p:nvSpPr>
        <p:spPr>
          <a:xfrm>
            <a:off x="9098280" y="4142232"/>
            <a:ext cx="2331720" cy="777240"/>
          </a:xfrm>
          <a:prstGeom prst="rect">
            <a:avLst/>
          </a:prstGeom>
          <a:noFill/>
          <a:ln/>
        </p:spPr>
        <p:txBody>
          <a:bodyPr wrap="square" lIns="0" tIns="0" rIns="0" bIns="0" rtlCol="0" anchor="t"/>
          <a:lstStyle/>
          <a:p>
            <a:pPr marL="0" indent="0">
              <a:buNone/>
            </a:pPr>
            <a:r>
              <a:rPr lang="en-US" sz="1300" dirty="0">
                <a:solidFill>
                  <a:schemeClr val="tx1"/>
                </a:solidFill>
              </a:rPr>
              <a:t>Ce que vous ferez ensuite</a:t>
            </a:r>
            <a:endParaRPr lang="en-US" sz="1300" dirty="0"/>
          </a:p>
        </p:txBody>
      </p:sp>
      <p:sp>
        <p:nvSpPr>
          <p:cNvPr id="34" name="card-1811"/>
          <p:cNvSpPr/>
          <p:nvPr/>
        </p:nvSpPr>
        <p:spPr>
          <a:xfrm>
            <a:off x="548640" y="5349240"/>
            <a:ext cx="11064240" cy="640080"/>
          </a:xfrm>
          <a:prstGeom prst="roundRect">
            <a:avLst>
              <a:gd name="adj" fmla="val 11429"/>
            </a:avLst>
          </a:prstGeom>
          <a:solidFill>
            <a:schemeClr val="accent1"/>
          </a:solidFill>
          <a:ln w="6350">
            <a:solidFill>
              <a:schemeClr val="accent1"/>
            </a:solidFill>
            <a:prstDash val="solid"/>
          </a:ln>
        </p:spPr>
      </p:sp>
      <p:sp>
        <p:nvSpPr>
          <p:cNvPr id="35" name="txt-1812"/>
          <p:cNvSpPr txBox="1"/>
          <p:nvPr/>
        </p:nvSpPr>
        <p:spPr>
          <a:xfrm>
            <a:off x="822960" y="5349240"/>
            <a:ext cx="10515600" cy="640080"/>
          </a:xfrm>
          <a:prstGeom prst="rect">
            <a:avLst/>
          </a:prstGeom>
          <a:noFill/>
          <a:ln/>
        </p:spPr>
        <p:txBody>
          <a:bodyPr wrap="square" lIns="0" tIns="0" rIns="0" bIns="0" rtlCol="0" anchor="ctr"/>
          <a:lstStyle/>
          <a:p>
            <a:pPr marL="0" indent="0">
              <a:buNone/>
            </a:pPr>
            <a:r>
              <a:rPr lang="en-US" sz="1500" b="1" dirty="0">
                <a:solidFill>
                  <a:schemeClr val="tx2"/>
                </a:solidFill>
              </a:rPr>
              <a:t>5 minutes par participante · Appuyez-vous sur votre Fiche 5</a:t>
            </a:r>
            <a:endParaRPr lang="en-US" sz="1500" dirty="0"/>
          </a:p>
        </p:txBody>
      </p:sp>
      <p:sp>
        <p:nvSpPr>
          <p:cNvPr id="36" name="Slide Number Placeholder 0"/>
          <p:cNvSpPr>
            <a:spLocks noGrp="1"/>
          </p:cNvSpPr>
          <p:nvPr>
            <p:ph type="sldNum" sz="quarter" idx="4294967295"/>
          </p:nvPr>
        </p:nvSpPr>
        <p:spPr>
          <a:xfrm>
            <a:off x="11064240" y="6400800"/>
            <a:ext cx="54864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C82"/>
                </a:solidFill>
                <a:latin typeface="Poppins"/>
                <a:ea typeface="Poppins"/>
                <a:cs typeface="Poppins"/>
              </a:defRPr>
            </a:lvl1pPr>
          </a:lstStyle>
          <a:p>
            <a:pPr algn="r"/>
            <a:fld id="{F7021451-1387-4CA6-816F-3879F97B5CBC}" type="slidenum">
              <a:rPr lang="en-US" b="0"/>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566928"/>
            <a:ext cx="11064240" cy="777240"/>
          </a:xfrm>
          <a:prstGeom prst="rect">
            <a:avLst/>
          </a:prstGeom>
          <a:noFill/>
          <a:ln/>
        </p:spPr>
        <p:txBody>
          <a:bodyPr wrap="square" lIns="0" tIns="0" rIns="0" bIns="0" rtlCol="0" anchor="ctr"/>
          <a:lstStyle/>
          <a:p>
            <a:pPr marL="0" indent="0" algn="l">
              <a:buNone/>
            </a:pPr>
            <a:r>
              <a:rPr lang="en-US" sz="2700" b="1" dirty="0">
                <a:solidFill>
                  <a:schemeClr val="tx2"/>
                </a:solidFill>
                <a:latin typeface="Poppins" pitchFamily="34" charset="0"/>
                <a:ea typeface="Poppins" pitchFamily="34" charset="-122"/>
                <a:cs typeface="Poppins" pitchFamily="34" charset="-120"/>
              </a:rPr>
              <a:t>Vos liens utiles</a:t>
            </a:r>
            <a:endParaRPr lang="en-US" sz="2700" dirty="0"/>
          </a:p>
        </p:txBody>
      </p:sp>
      <p:sp>
        <p:nvSpPr>
          <p:cNvPr id="3" name="Text 0"/>
          <p:cNvSpPr>
            <a:spLocks noGrp="1"/>
          </p:cNvSpPr>
          <p:nvPr>
            <p:ph type="body" idx="101" hasCustomPrompt="1"/>
          </p:nvPr>
        </p:nvSpPr>
        <p:spPr>
          <a:xfrm>
            <a:off x="548640" y="256032"/>
            <a:ext cx="8229600" cy="292608"/>
          </a:xfrm>
          <a:prstGeom prst="rect">
            <a:avLst/>
          </a:prstGeom>
          <a:noFill/>
          <a:ln/>
        </p:spPr>
        <p:txBody>
          <a:bodyPr wrap="square" lIns="0" tIns="0" rIns="0" bIns="0" rtlCol="0" anchor="ctr"/>
          <a:lstStyle/>
          <a:p>
            <a:pPr marL="0" indent="0">
              <a:buNone/>
            </a:pPr>
            <a:r>
              <a:rPr lang="en-US" sz="1100" b="1" dirty="0">
                <a:solidFill>
                  <a:schemeClr val="accent1"/>
                </a:solidFill>
                <a:latin typeface="Poppins" pitchFamily="34" charset="0"/>
                <a:ea typeface="Poppins" pitchFamily="34" charset="-122"/>
                <a:cs typeface="Poppins" pitchFamily="34" charset="-120"/>
              </a:rPr>
              <a:t>CLÔTURE</a:t>
            </a:r>
            <a:endParaRPr lang="en-US" sz="1100" dirty="0"/>
          </a:p>
        </p:txBody>
      </p:sp>
      <p:sp>
        <p:nvSpPr>
          <p:cNvPr id="4" name="card-1813"/>
          <p:cNvSpPr/>
          <p:nvPr/>
        </p:nvSpPr>
        <p:spPr>
          <a:xfrm>
            <a:off x="548640" y="1554480"/>
            <a:ext cx="3520440" cy="4434840"/>
          </a:xfrm>
          <a:prstGeom prst="roundRect">
            <a:avLst>
              <a:gd name="adj" fmla="val 2078"/>
            </a:avLst>
          </a:prstGeom>
          <a:solidFill>
            <a:schemeClr val="bg2"/>
          </a:solidFill>
          <a:ln w="6350">
            <a:solidFill>
              <a:schemeClr val="bg2"/>
            </a:solidFill>
            <a:prstDash val="solid"/>
          </a:ln>
        </p:spPr>
      </p:sp>
      <p:sp>
        <p:nvSpPr>
          <p:cNvPr id="5" name="txt-1814"/>
          <p:cNvSpPr txBox="1"/>
          <p:nvPr/>
        </p:nvSpPr>
        <p:spPr>
          <a:xfrm>
            <a:off x="822960" y="1719072"/>
            <a:ext cx="3017520" cy="384048"/>
          </a:xfrm>
          <a:prstGeom prst="rect">
            <a:avLst/>
          </a:prstGeom>
          <a:noFill/>
          <a:ln/>
        </p:spPr>
        <p:txBody>
          <a:bodyPr wrap="square" lIns="0" tIns="0" rIns="0" bIns="0" rtlCol="0" anchor="t"/>
          <a:lstStyle/>
          <a:p>
            <a:pPr marL="0" indent="0">
              <a:buNone/>
            </a:pPr>
            <a:r>
              <a:rPr lang="en-US" sz="1600" b="1" dirty="0">
                <a:solidFill>
                  <a:schemeClr val="accent6"/>
                </a:solidFill>
              </a:rPr>
              <a:t>Assistants IA</a:t>
            </a:r>
            <a:endParaRPr lang="en-US" sz="1600" dirty="0"/>
          </a:p>
        </p:txBody>
      </p:sp>
      <p:sp>
        <p:nvSpPr>
          <p:cNvPr id="6" name="txt-1815"/>
          <p:cNvSpPr txBox="1"/>
          <p:nvPr/>
        </p:nvSpPr>
        <p:spPr>
          <a:xfrm>
            <a:off x="822960" y="2240280"/>
            <a:ext cx="3017520" cy="658368"/>
          </a:xfrm>
          <a:prstGeom prst="rect">
            <a:avLst/>
          </a:prstGeom>
          <a:noFill/>
          <a:ln/>
        </p:spPr>
        <p:txBody>
          <a:bodyPr wrap="square" lIns="0" tIns="0" rIns="0" bIns="0" rtlCol="0" anchor="t"/>
          <a:lstStyle/>
          <a:p>
            <a:pPr marL="0" indent="0">
              <a:buNone/>
            </a:pPr>
            <a:r>
              <a:rPr lang="en-US" sz="1300" b="1" dirty="0">
                <a:solidFill>
                  <a:schemeClr val="tx2"/>
                </a:solidFill>
              </a:rPr>
              <a:t>Gemini Notebook</a:t>
            </a:r>
            <a:endParaRPr lang="en-US" sz="1300" dirty="0"/>
          </a:p>
          <a:p>
            <a:pPr marL="0" indent="0">
              <a:buNone/>
            </a:pPr>
            <a:r>
              <a:rPr lang="en-US" sz="1300" dirty="0">
                <a:solidFill>
                  <a:schemeClr val="accent6"/>
                </a:solidFill>
              </a:rPr>
              <a:t>notebook.google.com</a:t>
            </a:r>
            <a:endParaRPr lang="en-US" sz="1300" dirty="0"/>
          </a:p>
        </p:txBody>
      </p:sp>
      <p:sp>
        <p:nvSpPr>
          <p:cNvPr id="7" name="txt-1816"/>
          <p:cNvSpPr txBox="1"/>
          <p:nvPr/>
        </p:nvSpPr>
        <p:spPr>
          <a:xfrm>
            <a:off x="822960" y="2971800"/>
            <a:ext cx="3017520" cy="658368"/>
          </a:xfrm>
          <a:prstGeom prst="rect">
            <a:avLst/>
          </a:prstGeom>
          <a:noFill/>
          <a:ln/>
        </p:spPr>
        <p:txBody>
          <a:bodyPr wrap="square" lIns="0" tIns="0" rIns="0" bIns="0" rtlCol="0" anchor="t"/>
          <a:lstStyle/>
          <a:p>
            <a:pPr marL="0" indent="0">
              <a:buNone/>
            </a:pPr>
            <a:r>
              <a:rPr lang="en-US" sz="1300" b="1" dirty="0">
                <a:solidFill>
                  <a:schemeClr val="tx2"/>
                </a:solidFill>
              </a:rPr>
              <a:t>Gemini</a:t>
            </a:r>
            <a:endParaRPr lang="en-US" sz="1300" dirty="0"/>
          </a:p>
          <a:p>
            <a:pPr marL="0" indent="0">
              <a:buNone/>
            </a:pPr>
            <a:r>
              <a:rPr lang="en-US" sz="1300" dirty="0">
                <a:solidFill>
                  <a:schemeClr val="accent6"/>
                </a:solidFill>
              </a:rPr>
              <a:t>gemini.google.com</a:t>
            </a:r>
            <a:endParaRPr lang="en-US" sz="1300" dirty="0"/>
          </a:p>
        </p:txBody>
      </p:sp>
      <p:sp>
        <p:nvSpPr>
          <p:cNvPr id="8" name="txt-1817"/>
          <p:cNvSpPr txBox="1"/>
          <p:nvPr/>
        </p:nvSpPr>
        <p:spPr>
          <a:xfrm>
            <a:off x="822960" y="3703320"/>
            <a:ext cx="3017520" cy="658368"/>
          </a:xfrm>
          <a:prstGeom prst="rect">
            <a:avLst/>
          </a:prstGeom>
          <a:noFill/>
          <a:ln/>
        </p:spPr>
        <p:txBody>
          <a:bodyPr wrap="square" lIns="0" tIns="0" rIns="0" bIns="0" rtlCol="0" anchor="t"/>
          <a:lstStyle/>
          <a:p>
            <a:pPr marL="0" indent="0">
              <a:buNone/>
            </a:pPr>
            <a:r>
              <a:rPr lang="en-US" sz="1300" b="1" dirty="0">
                <a:solidFill>
                  <a:schemeClr val="tx2"/>
                </a:solidFill>
              </a:rPr>
              <a:t>Claude</a:t>
            </a:r>
            <a:endParaRPr lang="en-US" sz="1300" dirty="0"/>
          </a:p>
          <a:p>
            <a:pPr marL="0" indent="0">
              <a:buNone/>
            </a:pPr>
            <a:r>
              <a:rPr lang="en-US" sz="1300" dirty="0">
                <a:solidFill>
                  <a:schemeClr val="accent6"/>
                </a:solidFill>
              </a:rPr>
              <a:t>claude.ai</a:t>
            </a:r>
            <a:endParaRPr lang="en-US" sz="1300" dirty="0"/>
          </a:p>
        </p:txBody>
      </p:sp>
      <p:sp>
        <p:nvSpPr>
          <p:cNvPr id="9" name="txt-1818"/>
          <p:cNvSpPr txBox="1"/>
          <p:nvPr/>
        </p:nvSpPr>
        <p:spPr>
          <a:xfrm>
            <a:off x="822960" y="4434840"/>
            <a:ext cx="3017520" cy="658368"/>
          </a:xfrm>
          <a:prstGeom prst="rect">
            <a:avLst/>
          </a:prstGeom>
          <a:noFill/>
          <a:ln/>
        </p:spPr>
        <p:txBody>
          <a:bodyPr wrap="square" lIns="0" tIns="0" rIns="0" bIns="0" rtlCol="0" anchor="t"/>
          <a:lstStyle/>
          <a:p>
            <a:pPr marL="0" indent="0">
              <a:buNone/>
            </a:pPr>
            <a:r>
              <a:rPr lang="en-US" sz="1300" b="1" dirty="0">
                <a:solidFill>
                  <a:schemeClr val="tx2"/>
                </a:solidFill>
              </a:rPr>
              <a:t>Grok</a:t>
            </a:r>
            <a:endParaRPr lang="en-US" sz="1300" dirty="0"/>
          </a:p>
          <a:p>
            <a:pPr marL="0" indent="0">
              <a:buNone/>
            </a:pPr>
            <a:r>
              <a:rPr lang="en-US" sz="1300" dirty="0">
                <a:solidFill>
                  <a:schemeClr val="accent6"/>
                </a:solidFill>
              </a:rPr>
              <a:t>grok.com</a:t>
            </a:r>
            <a:endParaRPr lang="en-US" sz="1300" dirty="0"/>
          </a:p>
        </p:txBody>
      </p:sp>
      <p:sp>
        <p:nvSpPr>
          <p:cNvPr id="10" name="txt-1819"/>
          <p:cNvSpPr txBox="1"/>
          <p:nvPr/>
        </p:nvSpPr>
        <p:spPr>
          <a:xfrm>
            <a:off x="822960" y="5166360"/>
            <a:ext cx="3017520" cy="658368"/>
          </a:xfrm>
          <a:prstGeom prst="rect">
            <a:avLst/>
          </a:prstGeom>
          <a:noFill/>
          <a:ln/>
        </p:spPr>
        <p:txBody>
          <a:bodyPr wrap="square" lIns="0" tIns="0" rIns="0" bIns="0" rtlCol="0" anchor="t"/>
          <a:lstStyle/>
          <a:p>
            <a:pPr marL="0" indent="0">
              <a:buNone/>
            </a:pPr>
            <a:r>
              <a:rPr lang="en-US" sz="1300" b="1" dirty="0">
                <a:solidFill>
                  <a:schemeClr val="tx2"/>
                </a:solidFill>
              </a:rPr>
              <a:t>ChatGPT</a:t>
            </a:r>
            <a:endParaRPr lang="en-US" sz="1300" dirty="0"/>
          </a:p>
          <a:p>
            <a:pPr marL="0" indent="0">
              <a:buNone/>
            </a:pPr>
            <a:r>
              <a:rPr lang="en-US" sz="1300" dirty="0">
                <a:solidFill>
                  <a:schemeClr val="accent6"/>
                </a:solidFill>
              </a:rPr>
              <a:t>chatgpt.com</a:t>
            </a:r>
            <a:endParaRPr lang="en-US" sz="1300" dirty="0"/>
          </a:p>
        </p:txBody>
      </p:sp>
      <p:sp>
        <p:nvSpPr>
          <p:cNvPr id="11" name="card-1820"/>
          <p:cNvSpPr/>
          <p:nvPr/>
        </p:nvSpPr>
        <p:spPr>
          <a:xfrm>
            <a:off x="4297680" y="1554480"/>
            <a:ext cx="3520440" cy="4434840"/>
          </a:xfrm>
          <a:prstGeom prst="roundRect">
            <a:avLst>
              <a:gd name="adj" fmla="val 2078"/>
            </a:avLst>
          </a:prstGeom>
          <a:solidFill>
            <a:schemeClr val="bg2"/>
          </a:solidFill>
          <a:ln w="6350">
            <a:solidFill>
              <a:schemeClr val="bg2"/>
            </a:solidFill>
            <a:prstDash val="solid"/>
          </a:ln>
        </p:spPr>
      </p:sp>
      <p:sp>
        <p:nvSpPr>
          <p:cNvPr id="12" name="txt-1821"/>
          <p:cNvSpPr txBox="1"/>
          <p:nvPr/>
        </p:nvSpPr>
        <p:spPr>
          <a:xfrm>
            <a:off x="4572000" y="1719072"/>
            <a:ext cx="3017520" cy="384048"/>
          </a:xfrm>
          <a:prstGeom prst="rect">
            <a:avLst/>
          </a:prstGeom>
          <a:noFill/>
          <a:ln/>
        </p:spPr>
        <p:txBody>
          <a:bodyPr wrap="square" lIns="0" tIns="0" rIns="0" bIns="0" rtlCol="0" anchor="t"/>
          <a:lstStyle/>
          <a:p>
            <a:pPr marL="0" indent="0">
              <a:buNone/>
            </a:pPr>
            <a:r>
              <a:rPr lang="en-US" sz="1600" b="1" dirty="0">
                <a:solidFill>
                  <a:schemeClr val="accent4"/>
                </a:solidFill>
              </a:rPr>
              <a:t>Recherche scientifique</a:t>
            </a:r>
            <a:endParaRPr lang="en-US" sz="1600" dirty="0"/>
          </a:p>
        </p:txBody>
      </p:sp>
      <p:sp>
        <p:nvSpPr>
          <p:cNvPr id="13" name="txt-1822"/>
          <p:cNvSpPr txBox="1"/>
          <p:nvPr/>
        </p:nvSpPr>
        <p:spPr>
          <a:xfrm>
            <a:off x="4572000" y="2240280"/>
            <a:ext cx="3017520" cy="658368"/>
          </a:xfrm>
          <a:prstGeom prst="rect">
            <a:avLst/>
          </a:prstGeom>
          <a:noFill/>
          <a:ln/>
        </p:spPr>
        <p:txBody>
          <a:bodyPr wrap="square" lIns="0" tIns="0" rIns="0" bIns="0" rtlCol="0" anchor="t"/>
          <a:lstStyle/>
          <a:p>
            <a:pPr marL="0" indent="0">
              <a:buNone/>
            </a:pPr>
            <a:r>
              <a:rPr lang="en-US" sz="1300" b="1" dirty="0">
                <a:solidFill>
                  <a:schemeClr val="tx2"/>
                </a:solidFill>
              </a:rPr>
              <a:t>Semantic Scholar</a:t>
            </a:r>
            <a:endParaRPr lang="en-US" sz="1300" dirty="0"/>
          </a:p>
          <a:p>
            <a:pPr marL="0" indent="0">
              <a:buNone/>
            </a:pPr>
            <a:r>
              <a:rPr lang="en-US" sz="1300" dirty="0">
                <a:solidFill>
                  <a:schemeClr val="accent4"/>
                </a:solidFill>
              </a:rPr>
              <a:t>semanticscholar.org</a:t>
            </a:r>
            <a:endParaRPr lang="en-US" sz="1300" dirty="0"/>
          </a:p>
        </p:txBody>
      </p:sp>
      <p:sp>
        <p:nvSpPr>
          <p:cNvPr id="14" name="txt-1823"/>
          <p:cNvSpPr txBox="1"/>
          <p:nvPr/>
        </p:nvSpPr>
        <p:spPr>
          <a:xfrm>
            <a:off x="4572000" y="2971800"/>
            <a:ext cx="3017520" cy="658368"/>
          </a:xfrm>
          <a:prstGeom prst="rect">
            <a:avLst/>
          </a:prstGeom>
          <a:noFill/>
          <a:ln/>
        </p:spPr>
        <p:txBody>
          <a:bodyPr wrap="square" lIns="0" tIns="0" rIns="0" bIns="0" rtlCol="0" anchor="t"/>
          <a:lstStyle/>
          <a:p>
            <a:pPr marL="0" indent="0">
              <a:buNone/>
            </a:pPr>
            <a:r>
              <a:rPr lang="en-US" sz="1300" b="1" dirty="0">
                <a:solidFill>
                  <a:schemeClr val="tx2"/>
                </a:solidFill>
              </a:rPr>
              <a:t>Consensus</a:t>
            </a:r>
            <a:endParaRPr lang="en-US" sz="1300" dirty="0"/>
          </a:p>
          <a:p>
            <a:pPr marL="0" indent="0">
              <a:buNone/>
            </a:pPr>
            <a:r>
              <a:rPr lang="en-US" sz="1300" dirty="0">
                <a:solidFill>
                  <a:schemeClr val="accent4"/>
                </a:solidFill>
              </a:rPr>
              <a:t>consensus.app</a:t>
            </a:r>
            <a:endParaRPr lang="en-US" sz="1300" dirty="0"/>
          </a:p>
        </p:txBody>
      </p:sp>
      <p:sp>
        <p:nvSpPr>
          <p:cNvPr id="15" name="txt-1824"/>
          <p:cNvSpPr txBox="1"/>
          <p:nvPr/>
        </p:nvSpPr>
        <p:spPr>
          <a:xfrm>
            <a:off x="4572000" y="3703320"/>
            <a:ext cx="3017520" cy="658368"/>
          </a:xfrm>
          <a:prstGeom prst="rect">
            <a:avLst/>
          </a:prstGeom>
          <a:noFill/>
          <a:ln/>
        </p:spPr>
        <p:txBody>
          <a:bodyPr wrap="square" lIns="0" tIns="0" rIns="0" bIns="0" rtlCol="0" anchor="t"/>
          <a:lstStyle/>
          <a:p>
            <a:pPr marL="0" indent="0">
              <a:buNone/>
            </a:pPr>
            <a:r>
              <a:rPr lang="en-US" sz="1300" b="1" dirty="0">
                <a:solidFill>
                  <a:schemeClr val="tx2"/>
                </a:solidFill>
              </a:rPr>
              <a:t>Elicit</a:t>
            </a:r>
            <a:endParaRPr lang="en-US" sz="1300" dirty="0"/>
          </a:p>
          <a:p>
            <a:pPr marL="0" indent="0">
              <a:buNone/>
            </a:pPr>
            <a:r>
              <a:rPr lang="en-US" sz="1300" dirty="0">
                <a:solidFill>
                  <a:schemeClr val="accent4"/>
                </a:solidFill>
              </a:rPr>
              <a:t>elicit.com</a:t>
            </a:r>
            <a:endParaRPr lang="en-US" sz="1300" dirty="0"/>
          </a:p>
        </p:txBody>
      </p:sp>
      <p:sp>
        <p:nvSpPr>
          <p:cNvPr id="16" name="txt-1825"/>
          <p:cNvSpPr txBox="1"/>
          <p:nvPr/>
        </p:nvSpPr>
        <p:spPr>
          <a:xfrm>
            <a:off x="4572000" y="4434840"/>
            <a:ext cx="3017520" cy="658368"/>
          </a:xfrm>
          <a:prstGeom prst="rect">
            <a:avLst/>
          </a:prstGeom>
          <a:noFill/>
          <a:ln/>
        </p:spPr>
        <p:txBody>
          <a:bodyPr wrap="square" lIns="0" tIns="0" rIns="0" bIns="0" rtlCol="0" anchor="t"/>
          <a:lstStyle/>
          <a:p>
            <a:pPr marL="0" indent="0">
              <a:buNone/>
            </a:pPr>
            <a:r>
              <a:rPr lang="en-US" sz="1300" b="1" dirty="0">
                <a:solidFill>
                  <a:schemeClr val="tx2"/>
                </a:solidFill>
              </a:rPr>
              <a:t>ResearchRabbit</a:t>
            </a:r>
            <a:endParaRPr lang="en-US" sz="1300" dirty="0"/>
          </a:p>
          <a:p>
            <a:pPr marL="0" indent="0">
              <a:buNone/>
            </a:pPr>
            <a:r>
              <a:rPr lang="en-US" sz="1300" dirty="0">
                <a:solidFill>
                  <a:schemeClr val="accent4"/>
                </a:solidFill>
              </a:rPr>
              <a:t>researchrabbit.ai</a:t>
            </a:r>
            <a:endParaRPr lang="en-US" sz="1300" dirty="0"/>
          </a:p>
        </p:txBody>
      </p:sp>
      <p:sp>
        <p:nvSpPr>
          <p:cNvPr id="17" name="txt-1826"/>
          <p:cNvSpPr txBox="1"/>
          <p:nvPr/>
        </p:nvSpPr>
        <p:spPr>
          <a:xfrm>
            <a:off x="4572000" y="5166360"/>
            <a:ext cx="3017520" cy="658368"/>
          </a:xfrm>
          <a:prstGeom prst="rect">
            <a:avLst/>
          </a:prstGeom>
          <a:noFill/>
          <a:ln/>
        </p:spPr>
        <p:txBody>
          <a:bodyPr wrap="square" lIns="0" tIns="0" rIns="0" bIns="0" rtlCol="0" anchor="t"/>
          <a:lstStyle/>
          <a:p>
            <a:pPr marL="0" indent="0">
              <a:buNone/>
            </a:pPr>
            <a:r>
              <a:rPr lang="en-US" sz="1300" b="1" dirty="0">
                <a:solidFill>
                  <a:schemeClr val="tx2"/>
                </a:solidFill>
              </a:rPr>
              <a:t>Connected Papers</a:t>
            </a:r>
            <a:endParaRPr lang="en-US" sz="1300" dirty="0"/>
          </a:p>
          <a:p>
            <a:pPr marL="0" indent="0">
              <a:buNone/>
            </a:pPr>
            <a:r>
              <a:rPr lang="en-US" sz="1300" dirty="0">
                <a:solidFill>
                  <a:schemeClr val="accent4"/>
                </a:solidFill>
              </a:rPr>
              <a:t>connectedpapers.com</a:t>
            </a:r>
            <a:endParaRPr lang="en-US" sz="1300" dirty="0"/>
          </a:p>
        </p:txBody>
      </p:sp>
      <p:sp>
        <p:nvSpPr>
          <p:cNvPr id="18" name="card-1827"/>
          <p:cNvSpPr/>
          <p:nvPr/>
        </p:nvSpPr>
        <p:spPr>
          <a:xfrm>
            <a:off x="8046720" y="1554480"/>
            <a:ext cx="3520440" cy="4434840"/>
          </a:xfrm>
          <a:prstGeom prst="roundRect">
            <a:avLst>
              <a:gd name="adj" fmla="val 2078"/>
            </a:avLst>
          </a:prstGeom>
          <a:solidFill>
            <a:schemeClr val="bg2"/>
          </a:solidFill>
          <a:ln w="6350">
            <a:solidFill>
              <a:schemeClr val="bg2"/>
            </a:solidFill>
            <a:prstDash val="solid"/>
          </a:ln>
        </p:spPr>
      </p:sp>
      <p:sp>
        <p:nvSpPr>
          <p:cNvPr id="19" name="txt-1828"/>
          <p:cNvSpPr txBox="1"/>
          <p:nvPr/>
        </p:nvSpPr>
        <p:spPr>
          <a:xfrm>
            <a:off x="8321040" y="1719072"/>
            <a:ext cx="3017520" cy="384048"/>
          </a:xfrm>
          <a:prstGeom prst="rect">
            <a:avLst/>
          </a:prstGeom>
          <a:noFill/>
          <a:ln/>
        </p:spPr>
        <p:txBody>
          <a:bodyPr wrap="square" lIns="0" tIns="0" rIns="0" bIns="0" rtlCol="0" anchor="t"/>
          <a:lstStyle/>
          <a:p>
            <a:pPr marL="0" indent="0">
              <a:buNone/>
            </a:pPr>
            <a:r>
              <a:rPr lang="en-US" sz="1600" b="1" dirty="0">
                <a:solidFill>
                  <a:schemeClr val="accent2"/>
                </a:solidFill>
              </a:rPr>
              <a:t>Lire et vérifier</a:t>
            </a:r>
            <a:endParaRPr lang="en-US" sz="1600" dirty="0"/>
          </a:p>
        </p:txBody>
      </p:sp>
      <p:sp>
        <p:nvSpPr>
          <p:cNvPr id="20" name="txt-1829"/>
          <p:cNvSpPr txBox="1"/>
          <p:nvPr/>
        </p:nvSpPr>
        <p:spPr>
          <a:xfrm>
            <a:off x="8321040" y="2240280"/>
            <a:ext cx="3017520" cy="658368"/>
          </a:xfrm>
          <a:prstGeom prst="rect">
            <a:avLst/>
          </a:prstGeom>
          <a:noFill/>
          <a:ln/>
        </p:spPr>
        <p:txBody>
          <a:bodyPr wrap="square" lIns="0" tIns="0" rIns="0" bIns="0" rtlCol="0" anchor="t"/>
          <a:lstStyle/>
          <a:p>
            <a:pPr marL="0" indent="0">
              <a:buNone/>
            </a:pPr>
            <a:r>
              <a:rPr lang="en-US" sz="1300" b="1" dirty="0">
                <a:solidFill>
                  <a:schemeClr val="tx2"/>
                </a:solidFill>
              </a:rPr>
              <a:t>SciSpace</a:t>
            </a:r>
            <a:endParaRPr lang="en-US" sz="1300" dirty="0"/>
          </a:p>
          <a:p>
            <a:pPr marL="0" indent="0">
              <a:buNone/>
            </a:pPr>
            <a:r>
              <a:rPr lang="en-US" sz="1300" dirty="0">
                <a:solidFill>
                  <a:schemeClr val="accent2"/>
                </a:solidFill>
              </a:rPr>
              <a:t>scispace.com</a:t>
            </a:r>
            <a:endParaRPr lang="en-US" sz="1300" dirty="0"/>
          </a:p>
        </p:txBody>
      </p:sp>
      <p:sp>
        <p:nvSpPr>
          <p:cNvPr id="21" name="txt-1830"/>
          <p:cNvSpPr txBox="1"/>
          <p:nvPr/>
        </p:nvSpPr>
        <p:spPr>
          <a:xfrm>
            <a:off x="8321040" y="2971800"/>
            <a:ext cx="3017520" cy="658368"/>
          </a:xfrm>
          <a:prstGeom prst="rect">
            <a:avLst/>
          </a:prstGeom>
          <a:noFill/>
          <a:ln/>
        </p:spPr>
        <p:txBody>
          <a:bodyPr wrap="square" lIns="0" tIns="0" rIns="0" bIns="0" rtlCol="0" anchor="t"/>
          <a:lstStyle/>
          <a:p>
            <a:pPr marL="0" indent="0">
              <a:buNone/>
            </a:pPr>
            <a:r>
              <a:rPr lang="en-US" sz="1300" b="1" dirty="0">
                <a:solidFill>
                  <a:schemeClr val="tx2"/>
                </a:solidFill>
              </a:rPr>
              <a:t>Google Scholar</a:t>
            </a:r>
            <a:endParaRPr lang="en-US" sz="1300" dirty="0"/>
          </a:p>
          <a:p>
            <a:pPr marL="0" indent="0">
              <a:buNone/>
            </a:pPr>
            <a:r>
              <a:rPr lang="en-US" sz="1300" dirty="0">
                <a:solidFill>
                  <a:schemeClr val="accent2"/>
                </a:solidFill>
              </a:rPr>
              <a:t>scholar.google.com</a:t>
            </a:r>
            <a:endParaRPr lang="en-US" sz="1300" dirty="0"/>
          </a:p>
        </p:txBody>
      </p:sp>
      <p:sp>
        <p:nvSpPr>
          <p:cNvPr id="22" name="txt-1831"/>
          <p:cNvSpPr txBox="1"/>
          <p:nvPr/>
        </p:nvSpPr>
        <p:spPr>
          <a:xfrm>
            <a:off x="8321040" y="3703320"/>
            <a:ext cx="3017520" cy="658368"/>
          </a:xfrm>
          <a:prstGeom prst="rect">
            <a:avLst/>
          </a:prstGeom>
          <a:noFill/>
          <a:ln/>
        </p:spPr>
        <p:txBody>
          <a:bodyPr wrap="square" lIns="0" tIns="0" rIns="0" bIns="0" rtlCol="0" anchor="t"/>
          <a:lstStyle/>
          <a:p>
            <a:pPr marL="0" indent="0">
              <a:buNone/>
            </a:pPr>
            <a:r>
              <a:rPr lang="en-US" sz="1300" b="1" dirty="0">
                <a:solidFill>
                  <a:schemeClr val="tx2"/>
                </a:solidFill>
              </a:rPr>
              <a:t>Scite</a:t>
            </a:r>
            <a:endParaRPr lang="en-US" sz="1300" dirty="0"/>
          </a:p>
          <a:p>
            <a:pPr marL="0" indent="0">
              <a:buNone/>
            </a:pPr>
            <a:r>
              <a:rPr lang="en-US" sz="1300" dirty="0">
                <a:solidFill>
                  <a:schemeClr val="accent2"/>
                </a:solidFill>
              </a:rPr>
              <a:t>scite.ai</a:t>
            </a:r>
            <a:endParaRPr lang="en-US" sz="1300" dirty="0"/>
          </a:p>
        </p:txBody>
      </p:sp>
      <p:sp>
        <p:nvSpPr>
          <p:cNvPr id="23" name="txt-1832"/>
          <p:cNvSpPr txBox="1"/>
          <p:nvPr/>
        </p:nvSpPr>
        <p:spPr>
          <a:xfrm>
            <a:off x="8321040" y="4434840"/>
            <a:ext cx="3017520" cy="658368"/>
          </a:xfrm>
          <a:prstGeom prst="rect">
            <a:avLst/>
          </a:prstGeom>
          <a:noFill/>
          <a:ln/>
        </p:spPr>
        <p:txBody>
          <a:bodyPr wrap="square" lIns="0" tIns="0" rIns="0" bIns="0" rtlCol="0" anchor="t"/>
          <a:lstStyle/>
          <a:p>
            <a:pPr marL="0" indent="0">
              <a:buNone/>
            </a:pPr>
            <a:r>
              <a:rPr lang="en-US" sz="1300" b="1" dirty="0">
                <a:solidFill>
                  <a:schemeClr val="tx2"/>
                </a:solidFill>
              </a:rPr>
              <a:t>Retraction Watch</a:t>
            </a:r>
            <a:endParaRPr lang="en-US" sz="1300" dirty="0"/>
          </a:p>
          <a:p>
            <a:pPr marL="0" indent="0">
              <a:buNone/>
            </a:pPr>
            <a:r>
              <a:rPr lang="en-US" sz="1300" dirty="0">
                <a:solidFill>
                  <a:schemeClr val="accent2"/>
                </a:solidFill>
              </a:rPr>
              <a:t>retractiondatabase.org</a:t>
            </a:r>
            <a:endParaRPr lang="en-US" sz="1300" dirty="0"/>
          </a:p>
        </p:txBody>
      </p:sp>
      <p:sp>
        <p:nvSpPr>
          <p:cNvPr id="24" name="txt-1833"/>
          <p:cNvSpPr txBox="1"/>
          <p:nvPr/>
        </p:nvSpPr>
        <p:spPr>
          <a:xfrm>
            <a:off x="8321040" y="5166360"/>
            <a:ext cx="3017520" cy="658368"/>
          </a:xfrm>
          <a:prstGeom prst="rect">
            <a:avLst/>
          </a:prstGeom>
          <a:noFill/>
          <a:ln/>
        </p:spPr>
        <p:txBody>
          <a:bodyPr wrap="square" lIns="0" tIns="0" rIns="0" bIns="0" rtlCol="0" anchor="t"/>
          <a:lstStyle/>
          <a:p>
            <a:pPr marL="0" indent="0">
              <a:buNone/>
            </a:pPr>
            <a:r>
              <a:rPr lang="en-US" sz="1300" b="1" dirty="0">
                <a:solidFill>
                  <a:schemeClr val="tx2"/>
                </a:solidFill>
              </a:rPr>
              <a:t>PubPeer</a:t>
            </a:r>
            <a:endParaRPr lang="en-US" sz="1300" dirty="0"/>
          </a:p>
          <a:p>
            <a:pPr marL="0" indent="0">
              <a:buNone/>
            </a:pPr>
            <a:r>
              <a:rPr lang="en-US" sz="1300" dirty="0">
                <a:solidFill>
                  <a:schemeClr val="accent2"/>
                </a:solidFill>
              </a:rPr>
              <a:t>pubpeer.com</a:t>
            </a:r>
            <a:endParaRPr lang="en-US" sz="1300" dirty="0"/>
          </a:p>
        </p:txBody>
      </p:sp>
      <p:sp>
        <p:nvSpPr>
          <p:cNvPr id="25" name="Slide Number Placeholder 0"/>
          <p:cNvSpPr>
            <a:spLocks noGrp="1"/>
          </p:cNvSpPr>
          <p:nvPr>
            <p:ph type="sldNum" sz="quarter" idx="4294967295"/>
          </p:nvPr>
        </p:nvSpPr>
        <p:spPr>
          <a:xfrm>
            <a:off x="11064240" y="6400800"/>
            <a:ext cx="54864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C82"/>
                </a:solidFill>
                <a:latin typeface="Poppins"/>
                <a:ea typeface="Poppins"/>
                <a:cs typeface="Poppins"/>
              </a:defRPr>
            </a:lvl1pPr>
          </a:lstStyle>
          <a:p>
            <a:pPr algn="r"/>
            <a:fld id="{F7021451-1387-4CA6-816F-3879F97B5CBC}" type="slidenum">
              <a:rPr lang="en-US" b="0"/>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2011680"/>
            <a:ext cx="10698480" cy="1737360"/>
          </a:xfrm>
          <a:prstGeom prst="rect">
            <a:avLst/>
          </a:prstGeom>
          <a:noFill/>
          <a:ln/>
        </p:spPr>
        <p:txBody>
          <a:bodyPr wrap="square" lIns="0" tIns="0" rIns="0" bIns="0" rtlCol="0" anchor="b"/>
          <a:lstStyle/>
          <a:p>
            <a:pPr marL="0" indent="0" algn="l">
              <a:buNone/>
            </a:pPr>
            <a:r>
              <a:rPr lang="en-US" sz="4000" b="1" dirty="0">
                <a:solidFill>
                  <a:schemeClr val="bg1"/>
                </a:solidFill>
                <a:latin typeface="Poppins" pitchFamily="34" charset="0"/>
                <a:ea typeface="Poppins" pitchFamily="34" charset="-122"/>
                <a:cs typeface="Poppins" pitchFamily="34" charset="-120"/>
              </a:rPr>
              <a:t>Merci !</a:t>
            </a:r>
            <a:endParaRPr lang="en-US" sz="4000" dirty="0"/>
          </a:p>
        </p:txBody>
      </p:sp>
      <p:sp>
        <p:nvSpPr>
          <p:cNvPr id="3" name="txt-1834"/>
          <p:cNvSpPr txBox="1"/>
          <p:nvPr/>
        </p:nvSpPr>
        <p:spPr>
          <a:xfrm>
            <a:off x="731520" y="3931920"/>
            <a:ext cx="10698480" cy="548640"/>
          </a:xfrm>
          <a:prstGeom prst="rect">
            <a:avLst/>
          </a:prstGeom>
          <a:noFill/>
          <a:ln/>
        </p:spPr>
        <p:txBody>
          <a:bodyPr wrap="square" lIns="0" tIns="0" rIns="0" bIns="0" rtlCol="0" anchor="t"/>
          <a:lstStyle/>
          <a:p>
            <a:pPr marL="0" indent="0">
              <a:buNone/>
            </a:pPr>
            <a:r>
              <a:rPr lang="en-US" sz="2000" dirty="0">
                <a:solidFill>
                  <a:schemeClr val="bg2"/>
                </a:solidFill>
              </a:rPr>
              <a:t>Questions, retours, idées : c'est le moment.</a:t>
            </a:r>
            <a:endParaRPr lang="en-US" sz="2000" dirty="0"/>
          </a:p>
        </p:txBody>
      </p:sp>
      <p:sp>
        <p:nvSpPr>
          <p:cNvPr id="4" name="txt-1835"/>
          <p:cNvSpPr txBox="1"/>
          <p:nvPr/>
        </p:nvSpPr>
        <p:spPr>
          <a:xfrm>
            <a:off x="731520" y="5394960"/>
            <a:ext cx="9144000" cy="457200"/>
          </a:xfrm>
          <a:prstGeom prst="rect">
            <a:avLst/>
          </a:prstGeom>
          <a:noFill/>
          <a:ln/>
        </p:spPr>
        <p:txBody>
          <a:bodyPr wrap="square" lIns="0" tIns="0" rIns="0" bIns="0" rtlCol="0" anchor="t"/>
          <a:lstStyle/>
          <a:p>
            <a:pPr marL="0" indent="0">
              <a:buNone/>
            </a:pPr>
            <a:r>
              <a:rPr lang="en-US" sz="1400" dirty="0">
                <a:solidFill>
                  <a:schemeClr val="bg2"/>
                </a:solidFill>
              </a:rPr>
              <a:t>Ditoma KEGDIGOMA · Module M4-nonIT · IA générative appliquée à la recherche</a:t>
            </a:r>
            <a:endParaRPr lang="en-US" sz="1400" dirty="0"/>
          </a:p>
        </p:txBody>
      </p:sp>
      <p:sp>
        <p:nvSpPr>
          <p:cNvPr id="5" name="circle-1836"/>
          <p:cNvSpPr/>
          <p:nvPr/>
        </p:nvSpPr>
        <p:spPr>
          <a:xfrm>
            <a:off x="10332720" y="4937760"/>
            <a:ext cx="1097280" cy="1097280"/>
          </a:xfrm>
          <a:prstGeom prst="ellipse">
            <a:avLst/>
          </a:prstGeom>
          <a:solidFill>
            <a:schemeClr val="accent1"/>
          </a:solidFill>
          <a:ln w="12700">
            <a:solidFill>
              <a:schemeClr val="accent1"/>
            </a:solidFill>
            <a:prstDash val="solid"/>
          </a:ln>
        </p:spPr>
      </p:sp>
      <p:pic>
        <p:nvPicPr>
          <p:cNvPr id="6" name="icon-1837" descr="preencoded.png"/>
          <p:cNvPicPr>
            <a:picLocks noChangeAspect="1"/>
          </p:cNvPicPr>
          <p:nvPr/>
        </p:nvPicPr>
        <p:blipFill>
          <a:blip r:embed="rId3"/>
          <a:stretch>
            <a:fillRect/>
          </a:stretch>
        </p:blipFill>
        <p:spPr>
          <a:xfrm>
            <a:off x="10607040" y="5212080"/>
            <a:ext cx="548640" cy="548640"/>
          </a:xfrm>
          <a:prstGeom prst="rect">
            <a:avLst/>
          </a:prstGeom>
        </p:spPr>
      </p:pic>
    </p:spTree>
  </p:cSld>
  <p:clrMapOvr>
    <a:masterClrMapping/>
  </p:clrMapOvr>
</p:sld>
</file>

<file path=ppt/theme/theme1.xml><?xml version="1.0" encoding="utf-8"?>
<a:theme xmlns:a="http://schemas.openxmlformats.org/drawingml/2006/main" name="M4 IA generative">
  <a:themeElements>
    <a:clrScheme name="M4 IA generative">
      <a:dk1>
        <a:srgbClr val="1A2B32"/>
      </a:dk1>
      <a:lt1>
        <a:srgbClr val="FFFFFF"/>
      </a:lt1>
      <a:dk2>
        <a:srgbClr val="0B3C49"/>
      </a:dk2>
      <a:lt2>
        <a:srgbClr val="EAF3F2"/>
      </a:lt2>
      <a:accent1>
        <a:srgbClr val="E0A526"/>
      </a:accent1>
      <a:accent2>
        <a:srgbClr val="1F7A5C"/>
      </a:accent2>
      <a:accent3>
        <a:srgbClr val="C8553D"/>
      </a:accent3>
      <a:accent4>
        <a:srgbClr val="2F6690"/>
      </a:accent4>
      <a:accent5>
        <a:srgbClr val="6B7C82"/>
      </a:accent5>
      <a:accent6>
        <a:srgbClr val="0E8C8C"/>
      </a:accent6>
      <a:hlink>
        <a:srgbClr val="2F6690"/>
      </a:hlink>
      <a:folHlink>
        <a:srgbClr val="6B7C82"/>
      </a:folHlink>
    </a:clrScheme>
    <a:fontScheme name="M4 IA generative">
      <a:majorFont>
        <a:latin typeface="Poppi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oppi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12162</Words>
  <Application>Microsoft Office PowerPoint</Application>
  <PresentationFormat>Grand écran</PresentationFormat>
  <Paragraphs>1530</Paragraphs>
  <Slides>79</Slides>
  <Notes>79</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79</vt:i4>
      </vt:variant>
    </vt:vector>
  </HeadingPairs>
  <TitlesOfParts>
    <vt:vector size="83" baseType="lpstr">
      <vt:lpstr>Arial</vt:lpstr>
      <vt:lpstr>Poppins</vt:lpstr>
      <vt:lpstr>Consolas</vt:lpstr>
      <vt:lpstr>M4 IA generative</vt:lpstr>
      <vt:lpstr>IA générative appliquée à la recherche</vt:lpstr>
      <vt:lpstr>Ce que vous saurez faire à 17h</vt:lpstr>
      <vt:lpstr>Le déroulé complet de la journée</vt:lpstr>
      <vt:lpstr>Notre fil rouge pour la journée</vt:lpstr>
      <vt:lpstr>Comment « pense » une IA générative</vt:lpstr>
      <vt:lpstr>Qu'est-ce que l'IA générative ?</vt:lpstr>
      <vt:lpstr>Ce qui se passe quand vous posez une question</vt:lpstr>
      <vt:lpstr>Elle prédit le mot suivant, encore et encore</vt:lpstr>
      <vt:lpstr>Pourquoi elle invente avec assurance</vt:lpstr>
      <vt:lpstr>Cité pour un article qu'il n'a jamais écrit</vt:lpstr>
      <vt:lpstr>Sa mémoire : une page de travail, pas un disque dur</vt:lpstr>
      <vt:lpstr>Vos données : ce qu'on ne met jamais dans une IA</vt:lpstr>
      <vt:lpstr>Vidéos : comprendre l'IA générative</vt:lpstr>
      <vt:lpstr>Votre boîte à outils : 4 assistants à connaître</vt:lpstr>
      <vt:lpstr>Quatre outils, quatre « super-pouvoirs »</vt:lpstr>
      <vt:lpstr>Gemini Notebook : votre RAG personnel</vt:lpstr>
      <vt:lpstr>Gemini : l'assistant connecté à Google</vt:lpstr>
      <vt:lpstr>Claude : le lecteur et rédacteur attentif</vt:lpstr>
      <vt:lpstr>Grok : l'actualité en temps réel</vt:lpstr>
      <vt:lpstr>Quel outil pour quelle tâche de recherche ?</vt:lpstr>
      <vt:lpstr>Vidéos : prendre en main les outils</vt:lpstr>
      <vt:lpstr>Lab 0 · Prise en main et piège</vt:lpstr>
      <vt:lpstr>Trouver son sujet de recherche : sources et gaps</vt:lpstr>
      <vt:lpstr>Chatbot ou moteur académique : deux logiques différentes</vt:lpstr>
      <vt:lpstr>La boîte à outils de la chercheure</vt:lpstr>
      <vt:lpstr>Les « recherches approfondies » des assistants</vt:lpstr>
      <vt:lpstr>Vérifier une référence en 3 gestes</vt:lpstr>
      <vt:lpstr>Trouver un sujet de recherche en 5 étapes, avec l'IA</vt:lpstr>
      <vt:lpstr>Un bon sujet comble un « gap » : six types à chercher</vt:lpstr>
      <vt:lpstr>Repérer un gap avec l'IA : 4 étapes</vt:lpstr>
      <vt:lpstr>Trois prompts pour faire émerger un gap</vt:lpstr>
      <vt:lpstr>Repérer un article généré par l'IA ou une revue prédatrice</vt:lpstr>
      <vt:lpstr>Ne pas produire soi-même un « article IA »</vt:lpstr>
      <vt:lpstr>Vidéos : les outils de recherche assistée par IA</vt:lpstr>
      <vt:lpstr>Lab R · Trouver son sujet : du domaine au gap</vt:lpstr>
      <vt:lpstr>L'art de bien demander</vt:lpstr>
      <vt:lpstr>Un prompt, c'est une consigne à une assistante brillante… qui ne vous connaît pas</vt:lpstr>
      <vt:lpstr>La méthode R-C-T-F</vt:lpstr>
      <vt:lpstr>Avant / après : la même demande</vt:lpstr>
      <vt:lpstr>Le même modèle, dans votre discipline</vt:lpstr>
      <vt:lpstr>Trois astuces qui changent tout</vt:lpstr>
      <vt:lpstr>L'IA, votre thèse et l'intégrité scientifique</vt:lpstr>
      <vt:lpstr>Vidéos : bien rédiger un prompt</vt:lpstr>
      <vt:lpstr>Lab 1 · Rédaction scientifique</vt:lpstr>
      <vt:lpstr>Discuter avec ses documents : le RAG</vt:lpstr>
      <vt:lpstr>Le RAG : définition</vt:lpstr>
      <vt:lpstr>Comment fonctionne un RAG</vt:lpstr>
      <vt:lpstr>Sans RAG ou avec RAG : la différence</vt:lpstr>
      <vt:lpstr>Gemini Notebook : un RAG prêt à l'emploi</vt:lpstr>
      <vt:lpstr>Construire son RAG en 6 étapes</vt:lpstr>
      <vt:lpstr>La qualité du RAG dépend de la qualité des sources</vt:lpstr>
      <vt:lpstr>Six questions qui exploitent vraiment un RAG</vt:lpstr>
      <vt:lpstr>Au-delà du chat : le Studio au service de la chercheure</vt:lpstr>
      <vt:lpstr>Les limites à garder en tête</vt:lpstr>
      <vt:lpstr>Pas de PDF ? Le pack commun : 12 articles</vt:lpstr>
      <vt:lpstr>Lab 2 · Un RAG sur votre bibliographie</vt:lpstr>
      <vt:lpstr>Le codage thématique : où l'IA peut aider</vt:lpstr>
      <vt:lpstr>L'IA propose, la chercheure dispose</vt:lpstr>
      <vt:lpstr>Lab 3 · Analyse qualitative</vt:lpstr>
      <vt:lpstr>Vidéos : le RAG et l'analyse qualitative</vt:lpstr>
      <vt:lpstr>Traduire avec l'IA</vt:lpstr>
      <vt:lpstr>Trois façons de traduire</vt:lpstr>
      <vt:lpstr>Les faux-amis du français scientifique</vt:lpstr>
      <vt:lpstr>La post-édition en 4 étapes</vt:lpstr>
      <vt:lpstr>Lab 4 · Traduction FR → EN</vt:lpstr>
      <vt:lpstr>L'IA agentique : de la réponse à l'action</vt:lpstr>
      <vt:lpstr>Qu'est-ce qu'un agent IA ?</vt:lpstr>
      <vt:lpstr>Le user flow agentique : une boucle, pas une réponse</vt:lpstr>
      <vt:lpstr>Assistant ou agent ?</vt:lpstr>
      <vt:lpstr>Les agents déjà à votre portée</vt:lpstr>
      <vt:lpstr>Quatre niveaux d'autonomie</vt:lpstr>
      <vt:lpstr>Risques et garde-fous</vt:lpstr>
      <vt:lpstr>Un assistant personnalisé : 3 ingrédients</vt:lpstr>
      <vt:lpstr>Lab 5 · Assistant ou agent : à vous de piloter</vt:lpstr>
      <vt:lpstr>Vidéos : comprendre les agents IA</vt:lpstr>
      <vt:lpstr>5 réflexes à garder</vt:lpstr>
      <vt:lpstr>Pour le J5 : présentez votre cas d'usage</vt:lpstr>
      <vt:lpstr>Vos liens utiles</vt:lpstr>
      <vt:lpstr>Merci !</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M4-nonIT – IA générative appliquée à la recherche</dc:title>
  <dc:subject>PptxGenJS Presentation</dc:subject>
  <dc:creator>Ditoma KEGDIGOMA</dc:creator>
  <cp:lastModifiedBy>Ditoma KEGDIGOMA</cp:lastModifiedBy>
  <cp:revision>2</cp:revision>
  <dcterms:created xsi:type="dcterms:W3CDTF">2026-10-26T09:22:00Z</dcterms:created>
  <dcterms:modified xsi:type="dcterms:W3CDTF">2026-10-26T09:22:03Z</dcterms:modified>
</cp:coreProperties>
</file>