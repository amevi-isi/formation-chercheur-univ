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28cb62f3-5d23-67a6-f23c-f895b37360d7}">
          <p14:sldIdLst>
            <p14:sldId id="256"/>
            <p14:sldId id="257"/>
          </p14:sldIdLst>
        </p14:section>
        <p14:section name="Ouverture" id="{032004f5-3d61-5f2a-50f4-04f27f60e7a7}">
          <p14:sldIdLst/>
        </p14:section>
        <p14:section name="Introduction" id="{bba7af9e-b3ae-7bbb-28cf-e2e56b80f7d7}">
          <p14:sldIdLst>
            <p14:sldId id="258"/>
          </p14:sldIdLst>
        </p14:section>
        <p14:section name="Principe" id="{fc542bab-8751-d152-51d5-ed386ba6f029}">
          <p14:sldIdLst>
            <p14:sldId id="259"/>
            <p14:sldId id="260"/>
            <p14:sldId id="261"/>
          </p14:sldIdLst>
        </p14:section>
        <p14:section name="Préparer" id="{7ea97607-a51d-0ce2-3115-3b4714d3305a}">
          <p14:sldIdLst>
            <p14:sldId id="262"/>
            <p14:sldId id="263"/>
          </p14:sldIdLst>
        </p14:section>
        <p14:section name="Chercher" id="{0d19f460-d479-8b7e-3594-afb3c1a4dca2}">
          <p14:sldIdLst>
            <p14:sldId id="264"/>
            <p14:sldId id="265"/>
          </p14:sldIdLst>
        </p14:section>
        <p14:section name="Répondre" id="{863d7e5c-da46-c60c-1386-f24c49513a78}">
          <p14:sldIdLst>
            <p14:sldId id="266"/>
            <p14:sldId id="267"/>
          </p14:sldIdLst>
        </p14:section>
        <p14:section name="Choix" id="{22d741c7-3afb-071f-9d28-e5bf092b4da9}">
          <p14:sldIdLst>
            <p14:sldId id="268"/>
          </p14:sldIdLst>
        </p14:section>
        <p14:section name="Usages" id="{23933508-5cff-9b6c-0282-9c62e7428c13}">
          <p14:sldIdLst>
            <p14:sldId id="269"/>
          </p14:sldIdLst>
        </p14:section>
        <p14:section name="Limites" id="{c428e9b4-6e21-b06a-7278-8122f569c7e2}">
          <p14:sldIdLst>
            <p14:sldId id="270"/>
          </p14:sldIdLst>
        </p14:section>
        <p14:section name="Qualité" id="{dc74b829-3461-2fa6-ec0b-f1d09e5d412b}">
          <p14:sldIdLst>
            <p14:sldId id="271"/>
          </p14:sldIdLst>
        </p14:section>
        <p14:section name="Responsabilité" id="{96991661-a92b-402d-685c-bbf8a1245f54}">
          <p14:sldIdLst>
            <p14:sldId id="272"/>
          </p14:sldIdLst>
        </p14:section>
        <p14:section name="Atelier" id="{633ff6e4-cc5f-69df-8d98-395c4298cb3b}">
          <p14:sldIdLst>
            <p14:sldId id="273"/>
            <p14:sldId id="274"/>
          </p14:sldIdLst>
        </p14:section>
        <p14:section name="Conclusion" id="{670f9b6d-d941-c956-c6bc-b93afc9f9759}">
          <p14:sldIdLst>
            <p14:sldId id="275"/>
          </p14:sldIdLst>
        </p14:section>
        <p14:section name="Quiz de sortie" id="{f498f5e6-da42-ce51-3b74-87a3c18342f6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Annexes" id="{6c214eb5-9781-7b0d-dee9-9c4672dc4d40}">
          <p14:sldIdLst>
            <p14:sldId id="283"/>
          </p14:sldIdLst>
        </p14:section>
        <p14:section name="Clôture" id="{4dad5821-116c-e627-88af-6ec48f1acc00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Aucun prérequis technique. Tous les documents utilisés sont fictifs. Insister sur la qualité de la base documentaire : le meilleur assistant ne vaut pas mieux que ce qu’on lui donne à lire.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Imprimer le livret et les fiches. Annoncer qu’une question n’a pas de réponse dans les fiches.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5 · RAG  ·  Version non-IT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5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RAG : répondre à partir de nos documents, avec des sources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non-IT : sans code, sans mathématiques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Comprendre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Pourquoi un assistant invente, et comment on le fait s’appuyer sur vos documents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PuzzlePiece" descr="Fa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Pratiquer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Atelier « La bibliothécaire » : découper, chercher, répondre avec sources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66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Vérifier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Quiz de sortie de 10 questions, corrigé en commun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expliquer le principe du RAG avec l’image du bibliothécaire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décrire les étapes : préparer les documents, chercher, répondre avec sources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repérer les limites : documents périmés, mauvais passage, droits d’accès.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 assistant sûr de lui, mais pas toujours juste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ommentDots" descr="FaCommentD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Répond toujours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Même quand il ne sait pas, il produit une réponse bien rédigée.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ook" descr="Fa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Ignore vos documents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Vos règlements, vos guides, vos tarifs ne font pas partie de ce qu’il a appris.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lock" descr="Fa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Ignore l’actualité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Ce qu’il sait s’arrête à une date. Vos procédures changent chaque mois.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ExclamationTriangle" descr="FaExclamationTriang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Peut inventer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On parle d’hallucination : un détail faux, dit avec aplomb.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pour qu’un assistant réponde juste sur VOS sujets, il faut lui donner à lire vos documents au bon moment.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RAG : un bibliothécaire qui cite ses livres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face à une question, le bibliothécaire ne répond pas de tête. Il va chercher les bons livres, lit les passages utiles, puis rédige sa réponse en indiquant où il l’a trouvée.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Chercher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Retrouver dans vos documents les passages qui concernent la question.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Pen" descr="Fa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Répondre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Rédiger la réponse à partir de ces passages, avec les références.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RAG signifie « génération augmentée par la recherche » : chercher d’abord, rédiger ensuite.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Sans RAG, avec RAG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Question fictive : « Jusqu’à quel âge la consultation de vaccination est-elle gratuite ? »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Sans RAG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Réponse plausible, sans source. Peut être fausse pour votre centre.</a:t>
            </a:r>
            <a:endParaRPr lang="en-US" sz="1450" dirty="0"/>
          </a:p>
        </p:txBody>
      </p:sp>
      <p:sp>
        <p:nvSpPr>
          <p:cNvPr id="8" name="Carte"/>
          <p:cNvSpPr/>
          <p:nvPr/>
        </p:nvSpPr>
        <p:spPr>
          <a:xfrm>
            <a:off x="5029200" y="2788920"/>
            <a:ext cx="2130552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27889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Chercher dans le guide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63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3063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Carte"/>
          <p:cNvSpPr/>
          <p:nvPr/>
        </p:nvSpPr>
        <p:spPr>
          <a:xfrm>
            <a:off x="7434072" y="224028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Avec RAG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62672" y="2788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Réponse appuyée sur le passage du guide, avec son titre et sa date.</a:t>
            </a:r>
            <a:endParaRPr lang="en-US" sz="145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la différence n’est pas le style de la réponse, c’est sa preuve.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parcours d’une question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Trois étapes lorsqu’une personne pose une question.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25547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QuestionCircle" descr="FaQuestion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Question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Posée en langage naturel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510942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2830982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37814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2606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2422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Recherche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2940710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retrouve les passages utiles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793285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5113325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5820156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aFileAlt" descr="FaF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26060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04765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Passages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223053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meilleurs extraits sont gardés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075627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7395667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8102498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Pen" descr="Fa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8" y="26060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87107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Rédaction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7505395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réponse s’appuie sur eux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357970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9" name="Carte"/>
          <p:cNvSpPr/>
          <p:nvPr/>
        </p:nvSpPr>
        <p:spPr>
          <a:xfrm>
            <a:off x="967801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1038484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ône FaBookmark" descr="FaBookmar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001" y="26060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945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Sources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978773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Titre, page, date indiqués</a:t>
            </a:r>
            <a:endParaRPr lang="en-US" sz="1300" dirty="0"/>
          </a:p>
        </p:txBody>
      </p:sp>
      <p:sp>
        <p:nvSpPr>
          <p:cNvPr id="34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avant tout cela, il a fallu préparer les documents : c’est l’étape la plus importante.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Première partie : préparer les documents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54480"/>
            <a:ext cx="11091672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Un assistant ne lit pas un livre entier : on le découpe en passages bien identifiés.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long document est découpé en morceaux de la taille d’un paragraphe, avec leur titre et leur source.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Chaque morceau est rangé dans un « index », comme les fiches d’un catalogue de bibliothèque.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Plus les documents sont propres, à jour et bien structurés, meilleures sont les réponses.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Bien découper un document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ut" descr="Fa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Ni trop long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morceau qui mélange cinq sujets est difficile à retrouver juste.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ompress" descr="FaCompr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Ni trop court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Une phrase isolée perd son contexte : « cela » ne veut plus rien dire.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LayerGroup" descr="Fa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Respecter la structure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Couper aux titres et aux paragraphes, pas au milieu d’une phrase.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ne" descr="FaCl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Se recouvrir un peu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Répéter une ou deux phrases entre morceaux pour ne rien perdre aux frontières.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Tag" descr="FaTa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Étiqueter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Titre, service, date, version : utiles pour filtrer et pour citer.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TrashAlt" descr="FaTrash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Nettoyer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Supprimer en-têtes répétés, doublons, versions périmées.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Chercher par le sens, pas seulement par les mots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chercher « bébé fiévreux » doit aussi faire trouver « nourrisson avec température élevée », même si les mots diffèrent.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Font" descr="FaFo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Recherche par mots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Retrouve les textes qui contiennent les mêmes mots. Précise, mais aveugle aux reformulations.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ompass" descr="FaCom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Recherche par sens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Retrouve les textes qui parlent de la même chose (vu au module 2). Souple, parfois approximative.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les meilleurs systèmes combinent les deux : le sens pour comprendre, les mots exacts pour les sigles et les noms.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Quand la recherche se trompe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QuestionCircle" descr="FaQuestion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Mauvais passage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texte proche par le thème, mais qui ne répond pas à la question.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an" descr="FaB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Rien de pertinent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La base ne contient pas la réponse : le système doit le reconnaître.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History" descr="Fa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Document périmé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ancien règlement est retrouvé à la place du nouveau.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Language" descr="FaLangu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Langue et formulation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Une question en langue locale ou avec des fautes peut échouer.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une mauvaise recherche produit une réponse fausse, même bien rédigée : c’est le premier point à contrôler.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Deuxième partie : répondre avec des sources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54480"/>
            <a:ext cx="11091672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Une bonne réponse reste dans les documents, et dit où elle les a trouvés.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 demande à l’assistant de répondre uniquement à partir des passages fournis.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Chaque affirmation renvoie à un document : titre, page ou section, date.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S’il ne trouve rien de pertinent, il répond « je n’ai pas trouvé cette information » et propose un contact.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Une bonne réponse, une mauvaise réponse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Répondre à partir des passages et citer le document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Compléter avec des informations « de mémoire » non vérifiées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 « je n’ai pas trouvé » quand c’est le cas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Inventer une réponse plausible pour ne pas décevoir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Signaler la date et la version du document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Mélanger un ancien et un nouveau règlement sans le dire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Orienter vers une personne pour les cas sensibles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Trancher seul sur une question de santé ou de droits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RAG, consignes ou réentraînement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graphicFrame>
        <p:nvGraphicFramePr>
          <p:cNvPr id="14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  <a:gridCol w="432511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Besoin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Solution adaptée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Pourquoi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Répondre sur des documents qui changent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RAG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 met à jour les documents, pas le modèle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Obtenir un ton ou un format précis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Consignes, puis réglage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comportement se façonne (module 3)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Citer ses sources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RAG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Les passages retrouvés sont la preuve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Question générale, sans document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Assistant seul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 besoin de base documentaire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Décision engageant des droits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Humain décideur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L’outil aide, la personne décide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 RAG est souvent le premier choix pour un assistant d’entreprise ou de service public : simple, à jour et vérifiable.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Des usages possibles pour un service public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Heartbeat" descr="FaHeartbe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Santé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Retrouver une procédure ou un protocole dans les guides du centre.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FileSignature" descr="FaFileSigna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Administration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Répondre aux questions sur les démarches et les pièces à fournir.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GraduationCap" descr="FaGraduationC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Formation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Interroger les supports et manuels d’un programme.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BalanceScale" descr="FaBalanceSc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Juridique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Retrouver un article dans un règlement ou une circulaire.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dans tous les cas, l’assistant aide à retrouver : la personne valide.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Les limites à connaître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FileAlt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La base fait la réponse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Documents manquants, périmés ou contradictoires : réponses du même niveau.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Le passage peut manquer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Si la recherche ne trouve pas le bon extrait, la réponse sera fausse.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Pen" descr="Fa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La rédaction peut dévier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Même avec les bons passages, le modèle peut mal les résumer.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Language" descr="FaLangu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Langues locales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La recherche et la rédaction sont plus fragiles en éwé, kabyè ou mina.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UserLock" descr="FaUser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Droits d’accès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Chacun ne doit voir que ce qu’il a le droit de lire.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Bug" descr="FaBu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Consignes cachées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document piégé peut tenter de détourner l’assistant.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Comment savoir si le système est bon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stOl" descr="FaList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Des questions test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Des vraies questions d’usagers, avec la bonne réponse connue.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Bon passage trouvé ?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Première vérification : la recherche, avant la rédaction.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heckCircle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Réponse fidèle ?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Chaque affirmation doit se retrouver dans les documents.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Ban" descr="FaB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Sait-il dire non ?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Tester des questions auxquelles les documents ne répondent pas.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on évalue avec des cas réels, régulièrement, et on lit les erreurs avec des experts du métier.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Documents internes : les règles à respecter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Décider qui peut lire quels documents avant de les indexer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Mélanger tous les documents dans une seule base sans droits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Retirer ou masquer les données personnelles inutiles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Indexer des dossiers de patients « pour voir »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Héberger les documents sur une infrastructure maîtrisée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Envoyer des documents sensibles à un service gratuit en ligne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Garder une personne responsable des réponses importantes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Laisser l’assistant décider seul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L’atelier : « La bibliothécaire »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ATELIER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Vous jouez le rôle de la machine. Les documents sont ceux d’un centre de santé fictif.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05740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éro 1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4028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Découper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Transformer un guide en fiches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4297680" y="205740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48056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éro 2"/>
          <p:cNvSpPr txBox="1"/>
          <p:nvPr/>
        </p:nvSpPr>
        <p:spPr>
          <a:xfrm>
            <a:off x="44805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24028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Chercher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83464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Trouver la bonne fiche pour chaque question</a:t>
            </a:r>
            <a:endParaRPr lang="en-US" sz="1350" dirty="0"/>
          </a:p>
        </p:txBody>
      </p:sp>
      <p:sp>
        <p:nvSpPr>
          <p:cNvPr id="15" name="Carte"/>
          <p:cNvSpPr/>
          <p:nvPr/>
        </p:nvSpPr>
        <p:spPr>
          <a:xfrm>
            <a:off x="8046720" y="205740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822960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3"/>
          <p:cNvSpPr txBox="1"/>
          <p:nvPr/>
        </p:nvSpPr>
        <p:spPr>
          <a:xfrm>
            <a:off x="82296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224028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Répondre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83464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Rédiger avec sources, ou dire « non trouvé »</a:t>
            </a:r>
            <a:endParaRPr lang="en-US" sz="1350" dirty="0"/>
          </a:p>
        </p:txBody>
      </p:sp>
      <p:sp>
        <p:nvSpPr>
          <p:cNvPr id="20" name="À retenir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3212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371600" y="5303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travail en groupe : un rapporteur par atelier. Le livret contient le matériel et les consignes.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Consigne de l’atelier 2 : chercher la bonne fiche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ATELIER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Pastille"/>
          <p:cNvSpPr/>
          <p:nvPr/>
        </p:nvSpPr>
        <p:spPr>
          <a:xfrm>
            <a:off x="247345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FaBook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612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Lisez la question, puis parcourez les titres des fiches.</a:t>
            </a:r>
            <a:endParaRPr lang="en-US" sz="1450" dirty="0"/>
          </a:p>
        </p:txBody>
      </p:sp>
      <p:sp>
        <p:nvSpPr>
          <p:cNvPr id="11" name="Carte"/>
          <p:cNvSpPr/>
          <p:nvPr/>
        </p:nvSpPr>
        <p:spPr>
          <a:xfrm>
            <a:off x="336042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4330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uméro 2"/>
          <p:cNvSpPr txBox="1"/>
          <p:nvPr/>
        </p:nvSpPr>
        <p:spPr>
          <a:xfrm>
            <a:off x="35433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Pastille"/>
          <p:cNvSpPr/>
          <p:nvPr/>
        </p:nvSpPr>
        <p:spPr>
          <a:xfrm>
            <a:off x="528523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4330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Choisir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4330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Retenez la fiche qui répond le mieux : une seule, ou aucune.</a:t>
            </a:r>
            <a:endParaRPr lang="en-US" sz="1450" dirty="0"/>
          </a:p>
        </p:txBody>
      </p:sp>
      <p:sp>
        <p:nvSpPr>
          <p:cNvPr id="18" name="Carte"/>
          <p:cNvSpPr/>
          <p:nvPr/>
        </p:nvSpPr>
        <p:spPr>
          <a:xfrm>
            <a:off x="617220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"/>
          <p:cNvSpPr/>
          <p:nvPr/>
        </p:nvSpPr>
        <p:spPr>
          <a:xfrm>
            <a:off x="635508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éro 3"/>
          <p:cNvSpPr txBox="1"/>
          <p:nvPr/>
        </p:nvSpPr>
        <p:spPr>
          <a:xfrm>
            <a:off x="6355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Pastille"/>
          <p:cNvSpPr/>
          <p:nvPr/>
        </p:nvSpPr>
        <p:spPr>
          <a:xfrm>
            <a:off x="809701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ône FaPen" descr="Fa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172" y="17373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5508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Justifier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35508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Soulignez dans la fiche les mots qui vous ont convaincu.</a:t>
            </a:r>
            <a:endParaRPr lang="en-US" sz="1450" dirty="0"/>
          </a:p>
        </p:txBody>
      </p:sp>
      <p:sp>
        <p:nvSpPr>
          <p:cNvPr id="25" name="Carte"/>
          <p:cNvSpPr/>
          <p:nvPr/>
        </p:nvSpPr>
        <p:spPr>
          <a:xfrm>
            <a:off x="898398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916686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Numéro 4"/>
          <p:cNvSpPr txBox="1"/>
          <p:nvPr/>
        </p:nvSpPr>
        <p:spPr>
          <a:xfrm>
            <a:off x="91668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Pastille"/>
          <p:cNvSpPr/>
          <p:nvPr/>
        </p:nvSpPr>
        <p:spPr>
          <a:xfrm>
            <a:off x="1090879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cône FaUsers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17373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6686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Comparer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16686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Comparez avec un autre groupe : y a-t-il des fiches qui se ressemblent ?</a:t>
            </a:r>
            <a:endParaRPr lang="en-US" sz="1450" dirty="0"/>
          </a:p>
        </p:txBody>
      </p:sp>
      <p:sp>
        <p:nvSpPr>
          <p:cNvPr id="32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rapporteur par groupe : présentez la question qui vous a posé le plus de difficultés.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Chercher puis répondre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Le RAG consulte avant de rédiger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ookmark" descr="FaBook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Toujours des sources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Titre, section, date de chaque information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Ban" descr="FaB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Savoir dire non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Pas de réponse inventée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FileAlt" descr="FaFil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 base fait la qualité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Documents propres, à jour, structurés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UserLock" descr="FaUser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Droits et confidentialité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Chacun ne lit que ce qui lui est permis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" descr="Fa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Une personne décide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Relecture humaine des cas sensibles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signifie « RAG »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Reconnaître automatiquement des graphiques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Générer une réponse en s’appuyant sur des documents retrouvés au préalable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Réentraîner entièrement un modèle de langue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Répertorier et archiver des gros fichiers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analogie décrit le mieux un système RAG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élève qui récite par cœur tout ce qu’il a appris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traducteur qui change la langue d’un texte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 coffre-fort qui protège des documents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 bibliothécaire qui va chercher les bons livres, puis rédige sa réponse en les citant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ne pas simplement coller tous nos documents dans la question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Parce que les documents sont secrets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Parce que le modèle refuse les fichiers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 modèle ne peut lire qu’une quantité limitée de texte à la fois, et trop de texte noie l’information utile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Parce que cela coûte moins cher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découpe-t-on les documents en morceaux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Pour retrouver précisément le passage qui répond à la question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Pour réduire la taille des fichiers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Pour les rendre illisibles par des tiers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Pour changer leur langue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morceau coupe une phrase en plein milieu : « Les enfants de moins de 5 ans… ». Quel est le risque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Aucun risque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 passage perd son sens et peut mal répondre à la question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 document devient confidentiel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modèle change de langue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signifie « citer ses sources » dans un système RAG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Mettre le nom de la machine en bas de page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Copier toute la base de documents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Indiquer de quel document et de quel passage vient chaque information de la réponse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Traduire les documents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question posée n’est traitée dans aucun document. Que doit répondre un bon système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Une réponse plausible, pour ne pas décevoir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La réponse la plus longue possible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Une réponse tirée au hasard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Qu’il n’a pas trouvé l’information dans les documents, plutôt qu’inventer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Deux documents se contredisent : l’un date de 2019, l’autre de 2025. Que faire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Garder les deux sans rien indiquer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Laisser le modèle choisir au hasard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Maintenir les documents à jour et indiquer la date et la version de chaque source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Supprimer le plus récent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RAG peut-il se tromper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Oui : mauvais passage retrouvé, document périmé ou erreur de rédaction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Non, jamais, puisqu’il cite des sources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Seulement s’il est en panne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Seulement en anglais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Avant de mettre des documents internes dans un système RAG, que faut-il décider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Rien, tous les documents peuvent être mélangés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La couleur de l’interface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 nombre de mots par page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Qui a le droit de lire quoi, et où les documents sont hébergés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Générer une réponse en s’appuyant sur des documents retrouvés au préalable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RAG = génération augmentée par la recherche : on cherche d’abord dans vos documents, puis on rédige à partir de ce qu’on a trouvé.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Un bibliothécaire qui va chercher les bons livres, puis rédige sa réponse en les citant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modèle ne répond pas de mémoire : il consulte vos documents, ce qui réduit les inventions.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Le modèle ne peut lire qu’une quantité limitée de texte à la fois, et trop de texte noie l’information utile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sélectionne les quelques passages utiles : c’est le rôle de la recherche.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Pour retrouver précisément le passage qui répond à la question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morceau trop long mélange plusieurs sujets ; un morceau trop court perd le contexte.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Le passage perd son sens et peut mal répondre à la question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découpe aux limites naturelles (paragraphes, titres) et on garde un chevauchement pour ne pas perdre le contexte.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Indiquer de quel document et de quel passage vient chaque information de la réponse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sources permettent de vérifier la réponse, ce qui est essentiel pour un usage sérieux.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Qu’il n’a pas trouvé l’information dans les documents, plutôt qu’inventer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Savoir dire « je ne sais pas » est une qualité : c’est ce qui rend l’outil digne de confiance.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Maintenir les documents à jour et indiquer la date et la version de chaque source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RAG n’est aussi bon que sa base documentaire : la mise à jour et la traçabilité sont à organiser.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Oui : mauvais passage retrouvé, document périmé ou erreur de rédaction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sources aident à vérifier, mais ne dispensent pas de contrôler les réponses importantes.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Qui a le droit de lire quoi, et où les documents sont hébergés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RAG ne doit pas faire apparaître à quelqu’un un document auquel il n’a pas droit : confidentialité, droits d’accès et hébergement comptent.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Génération augmentée par la recherche : chercher dans des documents avant de répondre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Hallucination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Réponse fausse présentée avec assurance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Index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Catalogue des morceaux de documents, prêt à être interrogé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Morceau (chunk)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Passage découpé dans un document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Source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Document et passage dont provient une information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Recherche sémantique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Recherche par le sens plutôt que par les mots exacts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Base documentaire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Ensemble des documents que l’assistant peut consulter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Périmé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Document qui n’est plus à jour ou plus en vigueur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Droits d’accès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Règles qui définissent qui peut lire quoi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Prochain module : Pipelines de données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Collecter, nettoyer et préparer les données pour l’IA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· RAG (non-IT)</dc:title>
  <dc:subject>PptxGenJS Presentation</dc:subject>
  <dc:creator>Togo AI Lab</dc:creator>
  <cp:lastModifiedBy>Togo AI Lab</cp:lastModifiedBy>
  <cp:revision>1</cp:revision>
  <dcterms:created xsi:type="dcterms:W3CDTF">2026-10-19T20:43:26Z</dcterms:created>
  <dcterms:modified xsi:type="dcterms:W3CDTF">2026-10-19T20:43:26Z</dcterms:modified>
</cp:coreProperties>
</file>