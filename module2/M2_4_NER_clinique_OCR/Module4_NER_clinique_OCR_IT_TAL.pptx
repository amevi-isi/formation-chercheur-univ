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0228f1fb-0d87-3561-b93f-cd38013c0a93}">
          <p14:sldIdLst>
            <p14:sldId id="256"/>
            <p14:sldId id="257"/>
          </p14:sldIdLst>
        </p14:section>
        <p14:section name="Ouverture" id="{c3d8155d-c5ce-8b6f-f333-c32cbe174ddc}">
          <p14:sldIdLst/>
        </p14:section>
        <p14:section name="Introduction" id="{72e5f659-a8d3-6c2e-a65e-814cda9cef1d}">
          <p14:sldIdLst>
            <p14:sldId id="258"/>
          </p14:sldIdLst>
        </p14:section>
        <p14:section name="Format" id="{496df105-4a05-cbb5-0939-2caefe32af51}">
          <p14:sldIdLst>
            <p14:sldId id="259"/>
          </p14:sldIdLst>
        </p14:section>
        <p14:section name="Approches" id="{9c5ef1f1-3fe7-9464-44ff-a255d1520012}">
          <p14:sldIdLst>
            <p14:sldId id="260"/>
          </p14:sldIdLst>
        </p14:section>
        <p14:section name="Règles" id="{f6ae147a-5e94-6c85-2655-dee8b7575b4c}">
          <p14:sldIdLst>
            <p14:sldId id="261"/>
          </p14:sldIdLst>
        </p14:section>
        <p14:section name="Contexte" id="{134d1758-138f-7332-86c3-23045eb4302c}">
          <p14:sldIdLst>
            <p14:sldId id="262"/>
          </p14:sldIdLst>
        </p14:section>
        <p14:section name="Modèle appris" id="{7b5e1357-1d21-dec2-8ab4-faa8d4acf3b9}">
          <p14:sldIdLst>
            <p14:sldId id="263"/>
          </p14:sldIdLst>
        </p14:section>
        <p14:section name="Transformers" id="{e5d21c76-c140-0fde-54e7-e400a4d7d1b5}">
          <p14:sldIdLst>
            <p14:sldId id="264"/>
          </p14:sldIdLst>
        </p14:section>
        <p14:section name="Ressources" id="{075a8d2b-3a0f-1cab-f204-8e322f6cc163}">
          <p14:sldIdLst>
            <p14:sldId id="265"/>
          </p14:sldIdLst>
        </p14:section>
        <p14:section name="Évaluation" id="{9d4faed4-85a2-5920-3b13-74c70c15441c}">
          <p14:sldIdLst>
            <p14:sldId id="266"/>
            <p14:sldId id="267"/>
            <p14:sldId id="268"/>
          </p14:sldIdLst>
        </p14:section>
        <p14:section name="OCR" id="{aa1eccf9-24b3-9bf1-08bb-e157789a4d67}">
          <p14:sldIdLst>
            <p14:sldId id="269"/>
            <p14:sldId id="270"/>
            <p14:sldId id="271"/>
            <p14:sldId id="272"/>
            <p14:sldId id="273"/>
          </p14:sldIdLst>
        </p14:section>
        <p14:section name="Fiabilité" id="{1b4a41bb-a4ed-374d-659d-5b05f8e03690}">
          <p14:sldIdLst>
            <p14:sldId id="274"/>
          </p14:sldIdLst>
        </p14:section>
        <p14:section name="Responsabilité" id="{3e38b23a-e265-43fd-1c53-9e4a051da89c}">
          <p14:sldIdLst>
            <p14:sldId id="275"/>
          </p14:sldIdLst>
        </p14:section>
        <p14:section name="TP notebook" id="{bd62ca67-1b14-00da-08b7-cf92f2c54bdd}">
          <p14:sldIdLst>
            <p14:sldId id="276"/>
            <p14:sldId id="277"/>
          </p14:sldIdLst>
        </p14:section>
        <p14:section name="Conclusion" id="{77445ba3-4d9a-7677-14cc-8c919057790d}">
          <p14:sldIdLst>
            <p14:sldId id="278"/>
          </p14:sldIdLst>
        </p14:section>
        <p14:section name="Quiz de sortie" id="{c6458113-cafc-6cc3-c1db-b5130523ac0d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Annexes" id="{ee2027fe-031c-602e-8bf0-db37ac93cf6b}">
          <p14:sldIdLst>
            <p14:sldId id="286"/>
          </p14:sldIdLst>
        </p14:section>
        <p14:section name="Clôture" id="{362b792d-773f-2271-5361-84f1b20c506c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IT à l’aise avec Python, scikit-learn et les bases des modules précédents. Aucune formule. Toutes les données sont fictives ; rappeler le cadre légal avant tout usage de dossiers réels.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TP complète exactement ce motif ; ne pas donner la solution 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TP installe Tesseract et la langue fra au démarrage ; compter une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eb70312-33b9-5800-bcbf-7d42fc26875c/scratchpad/ppt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83464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Togo AI Lab  ·  Formation IA  ·  Module 4 · NER clinique et OCR  ·  Version 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840" y="6327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RÉPUBLIQUE TOGOLAISE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Ministère de l’Efficacité du Service Public et de la Transformation Numérique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TOGO AI LAB  ·  FORMATION IA  ·  MODULE 4 SUR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NER clinique et OCR : extraire des données de dossiers médicaux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Version IT : règles, étiqueteurs, Tesseract, TP notebook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Projet #TOGO AI Lab  · 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Au programme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PROGRAMME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ghtbulb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Concepts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Entités cliniques, format BIO, approches, métriques, OCR, propagation des erreurs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ode" descr="Fa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945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TP notebook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Extraire des entités de comptes rendus fictifs, puis lire des scans avec Tesseract, sur Google Colab</a:t>
            </a:r>
            <a:endParaRPr lang="en-US" sz="1450" dirty="0"/>
          </a:p>
        </p:txBody>
      </p:sp>
      <p:sp>
        <p:nvSpPr>
          <p:cNvPr id="16" name="Carte"/>
          <p:cNvSpPr/>
          <p:nvPr/>
        </p:nvSpPr>
        <p:spPr>
          <a:xfrm>
            <a:off x="804672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945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669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Bonnes pratiques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Négation, évaluation par entité, validation des chiffres, données de santé</a:t>
            </a:r>
            <a:endParaRPr lang="en-US" sz="1450" dirty="0"/>
          </a:p>
        </p:txBody>
      </p:sp>
      <p:sp>
        <p:nvSpPr>
          <p:cNvPr id="22" name="Carte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la fin du module, vous saurez :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choisir une approche d’extraction adaptée (règles, modèle appris, Transformer)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évaluer un système de NER par entité et traiter la négation et l’incertitude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construire une chaîne OCR vers extraction et en mesurer les erreurs.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Que veut-on extraire d’un dossier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Stethoscope" descr="FaStethosc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Problèmes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Maladies, symptômes, diagnostics, avec leur statut (présent, nié, incertain).</a:t>
            </a:r>
            <a:endParaRPr lang="en-US" sz="12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Pills" descr="FaPi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Médicaments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Noms de médicaments et molécules, parfois en abrégé.</a:t>
            </a:r>
            <a:endParaRPr lang="en-US" sz="12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alculator" descr="FaCalcula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Doses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Quantité, fréquence, durée : les valeurs les plus critiques.</a:t>
            </a:r>
            <a:endParaRPr lang="en-US" sz="1250" dirty="0"/>
          </a:p>
        </p:txBody>
      </p:sp>
      <p:sp>
        <p:nvSpPr>
          <p:cNvPr id="19" name="Carte"/>
          <p:cNvSpPr/>
          <p:nvPr/>
        </p:nvSpPr>
        <p:spPr>
          <a:xfrm>
            <a:off x="548640" y="3401568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358444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Vial" descr="FaVi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71017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2062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Examens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45720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Analyses, mesures, imagerie, et leurs résultats.</a:t>
            </a:r>
            <a:endParaRPr lang="en-US" sz="1250" dirty="0"/>
          </a:p>
        </p:txBody>
      </p:sp>
      <p:sp>
        <p:nvSpPr>
          <p:cNvPr id="24" name="Carte"/>
          <p:cNvSpPr/>
          <p:nvPr/>
        </p:nvSpPr>
        <p:spPr>
          <a:xfrm>
            <a:off x="4297680" y="3401568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3584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alendarAlt" descr="FaCalendar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371017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2062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Dates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45720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Consultation, durée des symptômes, rendez-vous.</a:t>
            </a:r>
            <a:endParaRPr lang="en-US" sz="1250" dirty="0"/>
          </a:p>
        </p:txBody>
      </p:sp>
      <p:sp>
        <p:nvSpPr>
          <p:cNvPr id="29" name="Carte"/>
          <p:cNvSpPr/>
          <p:nvPr/>
        </p:nvSpPr>
        <p:spPr>
          <a:xfrm>
            <a:off x="8046720" y="3401568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358444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hield" descr="FaUser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3710178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2062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Identité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45720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Noms, numéros : à repérer pour les anonymiser.</a:t>
            </a:r>
            <a:endParaRPr lang="en-US" sz="1250" dirty="0"/>
          </a:p>
        </p:txBody>
      </p:sp>
      <p:sp>
        <p:nvSpPr>
          <p:cNvPr id="3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6" descr="À reteni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la NER (reconnaissance d’entités nommées) transforme un texte libre en champs exploitables, mais le contexte compte autant que le mot.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Annoter : le format BIO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graphicFrame>
        <p:nvGraphicFramePr>
          <p:cNvPr id="5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291840"/>
                <a:gridCol w="48737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Étiquette BIO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Lecture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goutte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B-EXAMEN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Début d’une entité de type EXAMEN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épaisse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I-EXAMEN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Suite de la même entité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positive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Hors entité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artésunate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B-MEDICAMENT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Début d’un médicament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500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B-DOSE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Début d’une dose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mg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I-DOSE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Suite de la dose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paludisme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B-PROBLEME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seul mot : B suffit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une entité est un intervalle de texte plus une étiquette. L’évaluation compare des intervalles, pas seulement des mots.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Cinq façons d’extraire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st" descr="Fa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Règles et regex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Transparentes, rapides, bonnes pour doses et dates. Ne généralisent pas.</a:t>
            </a:r>
            <a:endParaRPr lang="en-US" sz="12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ook" descr="Fa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Dictionnaires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Listes de termes (ontologies). Dépendent de la couverture de la liste.</a:t>
            </a:r>
            <a:endParaRPr lang="en-US" sz="12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ogs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Modèle appris classique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Indices de forme et de contexte. Demande des exemples annotés.</a:t>
            </a:r>
            <a:endParaRPr lang="en-US" sz="1250" dirty="0"/>
          </a:p>
        </p:txBody>
      </p:sp>
      <p:sp>
        <p:nvSpPr>
          <p:cNvPr id="19" name="Carte"/>
          <p:cNvSpPr/>
          <p:nvPr/>
        </p:nvSpPr>
        <p:spPr>
          <a:xfrm>
            <a:off x="548640" y="3401568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358444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Robot" descr="FaRob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71017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2062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Transformer spécialisé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45720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Le plus robuste sur textes variés. Données et calcul requis.</a:t>
            </a:r>
            <a:endParaRPr lang="en-US" sz="1250" dirty="0"/>
          </a:p>
        </p:txBody>
      </p:sp>
      <p:sp>
        <p:nvSpPr>
          <p:cNvPr id="24" name="Carte"/>
          <p:cNvSpPr/>
          <p:nvPr/>
        </p:nvSpPr>
        <p:spPr>
          <a:xfrm>
            <a:off x="4297680" y="3401568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3584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ommentDots" descr="FaCommentDo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371017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2062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LLM avec consignes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45720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Démarrage rapide. Sorties à valider, coûts et confidentialité à maîtriser.</a:t>
            </a:r>
            <a:endParaRPr lang="en-US" sz="1250" dirty="0"/>
          </a:p>
        </p:txBody>
      </p:sp>
      <p:sp>
        <p:nvSpPr>
          <p:cNvPr id="29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5" descr="À reten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commencez par une base simple (règles) : elle fixe le niveau à battre et révèle les vrais problèmes de données.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Doses et dates avec des expressions régulières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RE_DOSE = (r"\d+ (?:mg|g|ml|fois par jour)"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r"|pendant \d+ (?:jours|semaines)"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r"|un comprimé par jour")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RE_DATE = r"\d{2}/\d{2}/\d{4}|dans \d+ semaines"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 = "Zinc 20 mg pendant 10 jours. Revoir le 04/06/2026."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 in re.finditer(RE_DOSE, texte):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print("DOSE", m.group(), m.start(), m.end())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 in re.finditer(RE_DATE, texte):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print("DATE", m.group())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À retenir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finditer</a:t>
            </a:r>
            <a:r>
              <a:rPr lang="en-US" sz="1400" dirty="0">
                <a:solidFill>
                  <a:schemeClr val="tx1"/>
                </a:solidFill>
              </a:rPr>
              <a:t> donne le texte et les </a:t>
            </a:r>
            <a:r>
              <a:rPr lang="en-US" sz="1400" b="1" dirty="0">
                <a:solidFill>
                  <a:schemeClr val="tx1"/>
                </a:solidFill>
              </a:rPr>
              <a:t>positions</a:t>
            </a:r>
            <a:r>
              <a:rPr lang="en-US" sz="1400" dirty="0">
                <a:solidFill>
                  <a:schemeClr val="tx1"/>
                </a:solidFill>
              </a:rPr>
              <a:t> : indispensables pour évaluer.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regex excellent sur les </a:t>
            </a:r>
            <a:r>
              <a:rPr lang="en-US" sz="1400" b="1" dirty="0">
                <a:solidFill>
                  <a:schemeClr val="tx1"/>
                </a:solidFill>
              </a:rPr>
              <a:t>formats réguliers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Prévoir les variantes : « 3x/j », « trois fois par jour ».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Résoudre les </a:t>
            </a:r>
            <a:r>
              <a:rPr lang="en-US" sz="1400" b="1" dirty="0">
                <a:solidFill>
                  <a:schemeClr val="tx1"/>
                </a:solidFill>
              </a:rPr>
              <a:t>chevauchements</a:t>
            </a:r>
            <a:r>
              <a:rPr lang="en-US" sz="1400" dirty="0">
                <a:solidFill>
                  <a:schemeClr val="tx1"/>
                </a:solidFill>
              </a:rPr>
              <a:t> : garder l’entité la plus longue.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Négation, incertitude, antécédent familial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DECLENCHEURS = 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"nie":       ["pas de", "sans", "absence de"],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"incertain": ["suspicion de", "probable"],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"famille":   ["antécédent familial de"],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statut(texte, debut):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 = texte[phrase_debut(texte, debut):debut].lower()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nom, mots in DECLENCHEURS.items():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any(m in ctx for m in mots):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nom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"present"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Inspiré de </a:t>
            </a:r>
            <a:r>
              <a:rPr lang="en-US" sz="1400" b="1" dirty="0">
                <a:solidFill>
                  <a:schemeClr val="tx1"/>
                </a:solidFill>
              </a:rPr>
              <a:t>NegEx</a:t>
            </a:r>
            <a:r>
              <a:rPr lang="en-US" sz="1400" dirty="0">
                <a:solidFill>
                  <a:schemeClr val="tx1"/>
                </a:solidFill>
              </a:rPr>
              <a:t> : déclencheurs avant l’entité, dans la même phrase.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Limites : « fièvre écartée », « n’a jamais eu de… », portée de la négation.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Signaler</a:t>
            </a:r>
            <a:r>
              <a:rPr lang="en-US" sz="1400" dirty="0">
                <a:solidFill>
                  <a:schemeClr val="tx1"/>
                </a:solidFill>
              </a:rPr>
              <a:t> l’incertitude plutôt que la deviner.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Mesurer le statut </a:t>
            </a:r>
            <a:r>
              <a:rPr lang="en-US" sz="1400" b="1" dirty="0">
                <a:solidFill>
                  <a:schemeClr val="tx1"/>
                </a:solidFill>
              </a:rPr>
              <a:t>séparément</a:t>
            </a:r>
            <a:r>
              <a:rPr lang="en-US" sz="1400" dirty="0">
                <a:solidFill>
                  <a:schemeClr val="tx1"/>
                </a:solidFill>
              </a:rPr>
              <a:t> de la détection.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 étiqueteur appris avec scikit-learn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indices(toks, i):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toks[i][0]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"mot": w.lower(), "suf3": w[-3:].lower(),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"chiffre": w.isdigit(), "majuscule": w[:1].isupper(),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"prec": toks[i-1][0].lower() if i else "&lt;debut&gt;",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"suiv": (toks[i+1][0].lower()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if i &lt; len(toks)-1 else "&lt;fin&gt;"),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 = DictVectorizer()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LogisticRegression(max_iter=300)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clf.fit(vec.fit_transform(X_train), y_train)  # étiquettes BIO</a:t>
            </a:r>
            <a:endParaRPr lang="en-US" sz="120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mot = un </a:t>
            </a:r>
            <a:r>
              <a:rPr lang="en-US" sz="1400" b="1" dirty="0">
                <a:solidFill>
                  <a:schemeClr val="tx1"/>
                </a:solidFill>
              </a:rPr>
              <a:t>dictionnaire d’indices</a:t>
            </a:r>
            <a:r>
              <a:rPr lang="en-US" sz="1400" dirty="0">
                <a:solidFill>
                  <a:schemeClr val="tx1"/>
                </a:solidFill>
              </a:rPr>
              <a:t> : forme, suffixe, voisins.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classeur simple suffit pour une base de comparaison.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Reconstruire les </a:t>
            </a:r>
            <a:r>
              <a:rPr lang="en-US" sz="1400" b="1" dirty="0">
                <a:solidFill>
                  <a:schemeClr val="tx1"/>
                </a:solidFill>
              </a:rPr>
              <a:t>entités</a:t>
            </a:r>
            <a:r>
              <a:rPr lang="en-US" sz="1400" dirty="0">
                <a:solidFill>
                  <a:schemeClr val="tx1"/>
                </a:solidFill>
              </a:rPr>
              <a:t> à partir des étiquettes BIO.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Il généralise </a:t>
            </a:r>
            <a:r>
              <a:rPr lang="en-US" sz="1400" b="1" dirty="0">
                <a:solidFill>
                  <a:schemeClr val="tx1"/>
                </a:solidFill>
              </a:rPr>
              <a:t>à la forme</a:t>
            </a:r>
            <a:r>
              <a:rPr lang="en-US" sz="1400" dirty="0">
                <a:solidFill>
                  <a:schemeClr val="tx1"/>
                </a:solidFill>
              </a:rPr>
              <a:t>, pas au sens : d’où les Transformers.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NER avec un modèle Transformer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pipeline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 = pipeline(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"token-classification",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model="Jean-Baptiste/camembert-ner",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aggregation_strategy="simple")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 in ner("Dr Koffi Mensah, hôpital de Sokodé."):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print(e["entity_group"], e["word"], round(e["score"], 2))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Modèle généraliste : PER, LOC, ORG.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Pour du clinique : fine-tuner (module 3).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aggregation_strategy</a:t>
            </a:r>
            <a:r>
              <a:rPr lang="en-US" sz="1400" dirty="0">
                <a:solidFill>
                  <a:schemeClr val="tx1"/>
                </a:solidFill>
              </a:rPr>
              <a:t> regroupe les sous-mots en entités.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NER généraliste </a:t>
            </a:r>
            <a:r>
              <a:rPr lang="en-US" sz="1400" b="1" dirty="0">
                <a:solidFill>
                  <a:schemeClr val="tx1"/>
                </a:solidFill>
              </a:rPr>
              <a:t>ne connaît pas</a:t>
            </a:r>
            <a:r>
              <a:rPr lang="en-US" sz="1400" dirty="0">
                <a:solidFill>
                  <a:schemeClr val="tx1"/>
                </a:solidFill>
              </a:rPr>
              <a:t> les entités cliniques.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Pour le clinique : </a:t>
            </a:r>
            <a:r>
              <a:rPr lang="en-US" sz="1400" b="1" dirty="0">
                <a:solidFill>
                  <a:schemeClr val="tx1"/>
                </a:solidFill>
              </a:rPr>
              <a:t>fine-tuner</a:t>
            </a:r>
            <a:r>
              <a:rPr lang="en-US" sz="1400" dirty="0">
                <a:solidFill>
                  <a:schemeClr val="tx1"/>
                </a:solidFill>
              </a:rPr>
              <a:t> sur des textes annotés.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score donne une </a:t>
            </a:r>
            <a:r>
              <a:rPr lang="en-US" sz="1400" b="1" dirty="0">
                <a:solidFill>
                  <a:schemeClr val="tx1"/>
                </a:solidFill>
              </a:rPr>
              <a:t>confiance</a:t>
            </a:r>
            <a:r>
              <a:rPr lang="en-US" sz="1400" dirty="0">
                <a:solidFill>
                  <a:schemeClr val="tx1"/>
                </a:solidFill>
              </a:rPr>
              <a:t> exploitable pour la relecture.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Ressources pour le français médical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graphicFrame>
        <p:nvGraphicFramePr>
          <p:cNvPr id="11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450799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Ressource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Nature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Point d’attention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DrBERT, CamemBERT-bio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Modèles de langue pré-entraînés sur textes biomédicaux français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Vérifier la licence et les données d’origine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QUAERO médical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Corpus annoté d’entités médicales en français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Vérifier les conditions d’usage avant réutilisation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E3C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Corpus clinique multilingue annoté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Vérifier la licence ; étiquettes différentes des vôtres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Vos propres annotations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Comptes rendus de votre contexte (Togo)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Seul vrai miroir de vos données ; cadre légal indispensable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les noms et licences évoluent : vérifiez la source officielle avant tout usage. Peu de ressources existent pour les contextes d’Afrique de l’Ouest.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Évaluer par entité, pas par mot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lipboardCheck" descr="Fa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Ce que l’on compte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Vrai positif</a:t>
            </a:r>
            <a:r>
              <a:rPr lang="en-US" sz="1450" dirty="0">
                <a:solidFill>
                  <a:schemeClr val="tx1"/>
                </a:solidFill>
              </a:rPr>
              <a:t> : bornes </a:t>
            </a:r>
            <a:r>
              <a:rPr lang="en-US" sz="1450" b="1" dirty="0">
                <a:solidFill>
                  <a:schemeClr val="tx1"/>
                </a:solidFill>
              </a:rPr>
              <a:t>et</a:t>
            </a:r>
            <a:r>
              <a:rPr lang="en-US" sz="1450" dirty="0">
                <a:solidFill>
                  <a:schemeClr val="tx1"/>
                </a:solidFill>
              </a:rPr>
              <a:t> étiquette exactes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Faux positif</a:t>
            </a:r>
            <a:r>
              <a:rPr lang="en-US" sz="1450" dirty="0">
                <a:solidFill>
                  <a:schemeClr val="tx1"/>
                </a:solidFill>
              </a:rPr>
              <a:t> : entité prédite non attendue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Faux négatif</a:t>
            </a:r>
            <a:r>
              <a:rPr lang="en-US" sz="1450" dirty="0">
                <a:solidFill>
                  <a:schemeClr val="tx1"/>
                </a:solidFill>
              </a:rPr>
              <a:t> : entité attendue manquée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Précision</a:t>
            </a:r>
            <a:r>
              <a:rPr lang="en-US" sz="1450" dirty="0">
                <a:solidFill>
                  <a:schemeClr val="tx1"/>
                </a:solidFill>
              </a:rPr>
              <a:t>, </a:t>
            </a:r>
            <a:r>
              <a:rPr lang="en-US" sz="1450" b="1" dirty="0">
                <a:solidFill>
                  <a:schemeClr val="tx1"/>
                </a:solidFill>
              </a:rPr>
              <a:t>rappel</a:t>
            </a:r>
            <a:r>
              <a:rPr lang="en-US" sz="1450" dirty="0">
                <a:solidFill>
                  <a:schemeClr val="tx1"/>
                </a:solidFill>
              </a:rPr>
              <a:t>, </a:t>
            </a:r>
            <a:r>
              <a:rPr lang="en-US" sz="1450" b="1" dirty="0">
                <a:solidFill>
                  <a:schemeClr val="tx1"/>
                </a:solidFill>
              </a:rPr>
              <a:t>F1</a:t>
            </a:r>
            <a:r>
              <a:rPr lang="en-US" sz="1450" dirty="0">
                <a:solidFill>
                  <a:schemeClr val="tx1"/>
                </a:solidFill>
              </a:rPr>
              <a:t> par type d’entité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6245352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ug" descr="FaB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Pièges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La précision </a:t>
            </a:r>
            <a:r>
              <a:rPr lang="en-US" sz="1450" b="1" dirty="0">
                <a:solidFill>
                  <a:schemeClr val="tx1"/>
                </a:solidFill>
              </a:rPr>
              <a:t>par mot</a:t>
            </a:r>
            <a:r>
              <a:rPr lang="en-US" sz="1450" dirty="0">
                <a:solidFill>
                  <a:schemeClr val="tx1"/>
                </a:solidFill>
              </a:rPr>
              <a:t> est gonflée par les mots « O »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Évaluation </a:t>
            </a:r>
            <a:r>
              <a:rPr lang="en-US" sz="1450" b="1" dirty="0">
                <a:solidFill>
                  <a:schemeClr val="tx1"/>
                </a:solidFill>
              </a:rPr>
              <a:t>souple</a:t>
            </a:r>
            <a:r>
              <a:rPr lang="en-US" sz="1450" dirty="0">
                <a:solidFill>
                  <a:schemeClr val="tx1"/>
                </a:solidFill>
              </a:rPr>
              <a:t> (chevauchement) ou </a:t>
            </a:r>
            <a:r>
              <a:rPr lang="en-US" sz="1450" b="1" dirty="0">
                <a:solidFill>
                  <a:schemeClr val="tx1"/>
                </a:solidFill>
              </a:rPr>
              <a:t>stricte</a:t>
            </a:r>
            <a:r>
              <a:rPr lang="en-US" sz="1450" dirty="0">
                <a:solidFill>
                  <a:schemeClr val="tx1"/>
                </a:solidFill>
              </a:rPr>
              <a:t> : l’annoncer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Séparer train et test </a:t>
            </a:r>
            <a:r>
              <a:rPr lang="en-US" sz="1450" b="1" dirty="0">
                <a:solidFill>
                  <a:schemeClr val="tx1"/>
                </a:solidFill>
              </a:rPr>
              <a:t>par patient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Lire les erreurs : </a:t>
            </a:r>
            <a:r>
              <a:rPr lang="en-US" sz="1450" b="1" dirty="0">
                <a:solidFill>
                  <a:schemeClr val="tx1"/>
                </a:solidFill>
              </a:rPr>
              <a:t>négations</a:t>
            </a:r>
            <a:r>
              <a:rPr lang="en-US" sz="1450" dirty="0">
                <a:solidFill>
                  <a:schemeClr val="tx1"/>
                </a:solidFill>
              </a:rPr>
              <a:t> et </a:t>
            </a:r>
            <a:r>
              <a:rPr lang="en-US" sz="1450" b="1" dirty="0">
                <a:solidFill>
                  <a:schemeClr val="tx1"/>
                </a:solidFill>
              </a:rPr>
              <a:t>chiffres</a:t>
            </a:r>
            <a:r>
              <a:rPr lang="en-US" sz="1450" dirty="0">
                <a:solidFill>
                  <a:schemeClr val="tx1"/>
                </a:solidFill>
              </a:rPr>
              <a:t> d’abord</a:t>
            </a:r>
            <a:endParaRPr lang="en-US" sz="1450" dirty="0"/>
          </a:p>
        </p:txBody>
      </p:sp>
      <p:sp>
        <p:nvSpPr>
          <p:cNvPr id="1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pour des données de santé, le rappel sur les doses et les problèmes compte plus que la moyenne globale.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 F1 strict par entité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score(docs, extracteur):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vp = fp = fn = 0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texte, ents in docs: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vrai = {(d, f, l) for d, f, l, s in ents}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pred = {(d, f, l) for d, f, l in extracteur(texte)}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vp += len(vrai &amp; pred)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fp += len(pred - vrai)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fn += len(vrai - pred)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vp / (vp + fp)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vp / (vp + fn)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p, r, 2 * p * r / (p + r)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entités sont des </a:t>
            </a:r>
            <a:r>
              <a:rPr lang="en-US" sz="1400" b="1" dirty="0">
                <a:solidFill>
                  <a:schemeClr val="tx1"/>
                </a:solidFill>
              </a:rPr>
              <a:t>ensembles</a:t>
            </a:r>
            <a:r>
              <a:rPr lang="en-US" sz="1400" dirty="0">
                <a:solidFill>
                  <a:schemeClr val="tx1"/>
                </a:solidFill>
              </a:rPr>
              <a:t> de (début, fin, type).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Une </a:t>
            </a:r>
            <a:r>
              <a:rPr lang="en-US" sz="1400" b="1" dirty="0">
                <a:solidFill>
                  <a:schemeClr val="tx1"/>
                </a:solidFill>
              </a:rPr>
              <a:t>erreur de bornes</a:t>
            </a:r>
            <a:r>
              <a:rPr lang="en-US" sz="1400" dirty="0">
                <a:solidFill>
                  <a:schemeClr val="tx1"/>
                </a:solidFill>
              </a:rPr>
              <a:t> compte comme manque </a:t>
            </a:r>
            <a:r>
              <a:rPr lang="en-US" sz="1400" b="1" dirty="0">
                <a:solidFill>
                  <a:schemeClr val="tx1"/>
                </a:solidFill>
              </a:rPr>
              <a:t>et</a:t>
            </a:r>
            <a:r>
              <a:rPr lang="en-US" sz="1400" dirty="0">
                <a:solidFill>
                  <a:schemeClr val="tx1"/>
                </a:solidFill>
              </a:rPr>
              <a:t> fausse alerte.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Rapporter les scores </a:t>
            </a:r>
            <a:r>
              <a:rPr lang="en-US" sz="1400" b="1" dirty="0">
                <a:solidFill>
                  <a:schemeClr val="tx1"/>
                </a:solidFill>
              </a:rPr>
              <a:t>par type</a:t>
            </a:r>
            <a:r>
              <a:rPr lang="en-US" sz="1400" dirty="0">
                <a:solidFill>
                  <a:schemeClr val="tx1"/>
                </a:solidFill>
              </a:rPr>
              <a:t> : les doses diffèrent des problèmes.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Comparer avec le </a:t>
            </a:r>
            <a:r>
              <a:rPr lang="en-US" sz="1400" b="1" dirty="0">
                <a:solidFill>
                  <a:schemeClr val="tx1"/>
                </a:solidFill>
              </a:rPr>
              <a:t>jeu écrit autrement</a:t>
            </a:r>
            <a:r>
              <a:rPr lang="en-US" sz="1400" dirty="0">
                <a:solidFill>
                  <a:schemeClr val="tx1"/>
                </a:solidFill>
              </a:rPr>
              <a:t> : il mesure la généralisation.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Pièges de l’annotation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ook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Guide d’annotation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Définitions et exemples par étiquette. Sans guide, deux annotateurs divergent.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alanceScale" descr="FaBalance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Accord entre annotateurs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À mesurer : il borne la qualité maximale atteignable.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UserMd" descr="FaUserM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Experts du métier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clinicien tranche les cas limites, pas le modèle.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one" descr="FaCl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Fuites patient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Plusieurs comptes rendus du même patient des deux côtés gonflent les scores.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Font" descr="FaFo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Sous-mots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Transformers découpent les mots : aligner les étiquettes sur les bons jetons.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Language" descr="FaLangu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Abréviations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Locales, variables : prévoir un lexique et des exemples.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La chaîne OCR vers extraction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Chaque étape peut ajouter des erreurs qui se propagent à la suivante.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011680"/>
            <a:ext cx="2093976" cy="315468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éro 1"/>
          <p:cNvSpPr txBox="1"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Pastille"/>
          <p:cNvSpPr/>
          <p:nvPr/>
        </p:nvSpPr>
        <p:spPr>
          <a:xfrm>
            <a:off x="1911096" y="2148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ône FaCamera" descr="Fa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256" y="22860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83464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Acquisition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611880"/>
            <a:ext cx="1728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Scan ou photo</a:t>
            </a:r>
            <a:endParaRPr lang="en-US" sz="1450" dirty="0"/>
          </a:p>
        </p:txBody>
      </p:sp>
      <p:sp>
        <p:nvSpPr>
          <p:cNvPr id="12" name="Carte"/>
          <p:cNvSpPr/>
          <p:nvPr/>
        </p:nvSpPr>
        <p:spPr>
          <a:xfrm>
            <a:off x="2798064" y="2011680"/>
            <a:ext cx="2093976" cy="315468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2980944" y="21945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uméro 2"/>
          <p:cNvSpPr txBox="1"/>
          <p:nvPr/>
        </p:nvSpPr>
        <p:spPr>
          <a:xfrm>
            <a:off x="2980944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tille"/>
          <p:cNvSpPr/>
          <p:nvPr/>
        </p:nvSpPr>
        <p:spPr>
          <a:xfrm>
            <a:off x="4160520" y="21488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ône FaMagic" descr="FaMag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2860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980944" y="283464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Prétraitement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2980944" y="3611880"/>
            <a:ext cx="1728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Redressement, contraste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047488" y="2011680"/>
            <a:ext cx="2093976" cy="315468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5230368" y="2194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éro 3"/>
          <p:cNvSpPr txBox="1"/>
          <p:nvPr/>
        </p:nvSpPr>
        <p:spPr>
          <a:xfrm>
            <a:off x="5230368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Pastille"/>
          <p:cNvSpPr/>
          <p:nvPr/>
        </p:nvSpPr>
        <p:spPr>
          <a:xfrm>
            <a:off x="6409944" y="2148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ône FaEye" descr="Fa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28600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230368" y="283464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OCR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5230368" y="3611880"/>
            <a:ext cx="1728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Image vers texte</a:t>
            </a:r>
            <a:endParaRPr lang="en-US" sz="1450" dirty="0"/>
          </a:p>
        </p:txBody>
      </p:sp>
      <p:sp>
        <p:nvSpPr>
          <p:cNvPr id="26" name="Carte"/>
          <p:cNvSpPr/>
          <p:nvPr/>
        </p:nvSpPr>
        <p:spPr>
          <a:xfrm>
            <a:off x="7296912" y="2011680"/>
            <a:ext cx="2093976" cy="315468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Pastille"/>
          <p:cNvSpPr/>
          <p:nvPr/>
        </p:nvSpPr>
        <p:spPr>
          <a:xfrm>
            <a:off x="7479792" y="21945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Numéro 4"/>
          <p:cNvSpPr txBox="1"/>
          <p:nvPr/>
        </p:nvSpPr>
        <p:spPr>
          <a:xfrm>
            <a:off x="7479792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Pastille"/>
          <p:cNvSpPr/>
          <p:nvPr/>
        </p:nvSpPr>
        <p:spPr>
          <a:xfrm>
            <a:off x="8659368" y="21488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cône FaSearch" descr="Fa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228600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479792" y="283464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Extraction</a:t>
            </a:r>
            <a:endParaRPr lang="en-US" sz="1700" dirty="0"/>
          </a:p>
        </p:txBody>
      </p:sp>
      <p:sp>
        <p:nvSpPr>
          <p:cNvPr id="32" name="Text 26"/>
          <p:cNvSpPr txBox="1"/>
          <p:nvPr/>
        </p:nvSpPr>
        <p:spPr>
          <a:xfrm>
            <a:off x="7479792" y="3611880"/>
            <a:ext cx="1728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NER et règles</a:t>
            </a:r>
            <a:endParaRPr lang="en-US" sz="1450" dirty="0"/>
          </a:p>
        </p:txBody>
      </p:sp>
      <p:sp>
        <p:nvSpPr>
          <p:cNvPr id="33" name="Carte"/>
          <p:cNvSpPr/>
          <p:nvPr/>
        </p:nvSpPr>
        <p:spPr>
          <a:xfrm>
            <a:off x="9546336" y="2011680"/>
            <a:ext cx="2093976" cy="3154680"/>
          </a:xfrm>
          <a:prstGeom prst="roundRect">
            <a:avLst>
              <a:gd name="adj" fmla="val 34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Pastille"/>
          <p:cNvSpPr/>
          <p:nvPr/>
        </p:nvSpPr>
        <p:spPr>
          <a:xfrm>
            <a:off x="9729216" y="2194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Numéro 5"/>
          <p:cNvSpPr txBox="1"/>
          <p:nvPr/>
        </p:nvSpPr>
        <p:spPr>
          <a:xfrm>
            <a:off x="9729216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Pastille"/>
          <p:cNvSpPr/>
          <p:nvPr/>
        </p:nvSpPr>
        <p:spPr>
          <a:xfrm>
            <a:off x="10908792" y="2148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cône FaUserCheck" descr="FaUser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5952" y="2286000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729216" y="2834640"/>
            <a:ext cx="1728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Validation</a:t>
            </a:r>
            <a:endParaRPr lang="en-US" sz="1700" dirty="0"/>
          </a:p>
        </p:txBody>
      </p:sp>
      <p:sp>
        <p:nvSpPr>
          <p:cNvPr id="39" name="Text 32"/>
          <p:cNvSpPr txBox="1"/>
          <p:nvPr/>
        </p:nvSpPr>
        <p:spPr>
          <a:xfrm>
            <a:off x="9729216" y="3611880"/>
            <a:ext cx="1728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Relecture humaine</a:t>
            </a:r>
            <a:endParaRPr lang="en-US" sz="1450" dirty="0"/>
          </a:p>
        </p:txBody>
      </p:sp>
      <p:sp>
        <p:nvSpPr>
          <p:cNvPr id="40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5" descr="À reten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mesurez la qualité à chaque maillon : une bonne NER ne rattrape pas un mauvais scan.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Lire une image avec pytesseract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pytesseract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 import Image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Colab : !apt-get install tesseract-ocr tesseract-ocr-fra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Image.open("compte_rendu.png")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 = pytesseract.image_to_string(img, lang="fra")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Confiance par mot, pour cibler la relecture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pytesseract.image_to_data(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img, lang="fra", output_type=pytesseract.Output.DICT)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douteux = [m for m, c in zip(d["text"], d["conf"])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if m.strip() and float(c) &lt; 70]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Tesseract a besoin de ses </a:t>
            </a:r>
            <a:r>
              <a:rPr lang="en-US" sz="1400" b="1" dirty="0">
                <a:solidFill>
                  <a:schemeClr val="tx1"/>
                </a:solidFill>
              </a:rPr>
              <a:t>données de langue</a:t>
            </a:r>
            <a:r>
              <a:rPr lang="en-US" sz="1400" dirty="0">
                <a:solidFill>
                  <a:schemeClr val="tx1"/>
                </a:solidFill>
              </a:rPr>
              <a:t> (fra).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image_to_data</a:t>
            </a:r>
            <a:r>
              <a:rPr lang="en-US" sz="1400" dirty="0">
                <a:solidFill>
                  <a:schemeClr val="tx1"/>
                </a:solidFill>
              </a:rPr>
              <a:t> donne texte, position et </a:t>
            </a:r>
            <a:r>
              <a:rPr lang="en-US" sz="1400" b="1" dirty="0">
                <a:solidFill>
                  <a:schemeClr val="tx1"/>
                </a:solidFill>
              </a:rPr>
              <a:t>confiance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mots à faible confiance partent en </a:t>
            </a:r>
            <a:r>
              <a:rPr lang="en-US" sz="1400" b="1" dirty="0">
                <a:solidFill>
                  <a:schemeClr val="tx1"/>
                </a:solidFill>
              </a:rPr>
              <a:t>relecture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 seuils de confiance se </a:t>
            </a:r>
            <a:r>
              <a:rPr lang="en-US" sz="1400" b="1" dirty="0">
                <a:solidFill>
                  <a:schemeClr val="tx1"/>
                </a:solidFill>
              </a:rPr>
              <a:t>calibrent</a:t>
            </a:r>
            <a:r>
              <a:rPr lang="en-US" sz="1400" dirty="0">
                <a:solidFill>
                  <a:schemeClr val="tx1"/>
                </a:solidFill>
              </a:rPr>
              <a:t> sur vos scans.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Prétraiter l’image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 import Image, ImageOps, ImageFilter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pretraiter(img, seuil=150, facteur=2):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 = ImageOps.autocontrast(img.convert("L"))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 = img.resize((img.width * facteur,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img.height * facteur),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Image.LANCZOS)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 = img.filter(ImageFilter.MedianFilter(3))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img.point(lambda p: 255 if p &gt; seuil else 0)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Comparer le CER avant et après, sur plusieurs seuils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Contraste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b="1" dirty="0">
                <a:solidFill>
                  <a:schemeClr val="tx1"/>
                </a:solidFill>
              </a:rPr>
              <a:t>agrandissement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b="1" dirty="0">
                <a:solidFill>
                  <a:schemeClr val="tx1"/>
                </a:solidFill>
              </a:rPr>
              <a:t>débruitage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b="1" dirty="0">
                <a:solidFill>
                  <a:schemeClr val="tx1"/>
                </a:solidFill>
              </a:rPr>
              <a:t>binarisation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Redresser les pages </a:t>
            </a:r>
            <a:r>
              <a:rPr lang="en-US" sz="1400" b="1" dirty="0">
                <a:solidFill>
                  <a:schemeClr val="tx1"/>
                </a:solidFill>
              </a:rPr>
              <a:t>inclinées</a:t>
            </a:r>
            <a:r>
              <a:rPr lang="en-US" sz="1400" dirty="0">
                <a:solidFill>
                  <a:schemeClr val="tx1"/>
                </a:solidFill>
              </a:rPr>
              <a:t> (deskew).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Trop de traitement détruit les </a:t>
            </a:r>
            <a:r>
              <a:rPr lang="en-US" sz="1400" b="1" dirty="0">
                <a:solidFill>
                  <a:schemeClr val="tx1"/>
                </a:solidFill>
              </a:rPr>
              <a:t>traits fins</a:t>
            </a:r>
            <a:r>
              <a:rPr lang="en-US" sz="1400" dirty="0">
                <a:solidFill>
                  <a:schemeClr val="tx1"/>
                </a:solidFill>
              </a:rPr>
              <a:t> : accents, virgules.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Toujours </a:t>
            </a:r>
            <a:r>
              <a:rPr lang="en-US" sz="1400" b="1" dirty="0">
                <a:solidFill>
                  <a:schemeClr val="tx1"/>
                </a:solidFill>
              </a:rPr>
              <a:t>mesurer</a:t>
            </a:r>
            <a:r>
              <a:rPr lang="en-US" sz="1400" dirty="0">
                <a:solidFill>
                  <a:schemeClr val="tx1"/>
                </a:solidFill>
              </a:rPr>
              <a:t> : l’effet dépend du scan.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Choisir un moteur d’OCR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graphicFrame>
        <p:nvGraphicFramePr>
          <p:cNvPr id="18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336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Moteur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Atouts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Limites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Tesseract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Libre, local, léger, nombreuses langues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Sensible à la qualité d’image, mise en page limitée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EasyOCR, PaddleOCR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Modèles neuronaux, bonne détection de zones de texte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Plus lourds, vérifier les langues et licences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TrOCR et modèles de vision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Meilleurs sur manuscrit et lignes isolées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GPU, étape de détection de lignes à ajouter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Services cloud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Qualité élevée, tableaux et formulaires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Confidentialité : un dossier médical ne doit pas quitter votre cadre sans protection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comparez les moteurs sur un échantillon représentatif de VOS documents, avec le CER et l’effet sur l’extraction.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Les types d’erreurs d’OCR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Font" descr="FaFo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Confusions de forme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 et 0, l et 1, rn et m, S et 5.</a:t>
            </a:r>
            <a:endParaRPr lang="en-US" sz="12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Adjust" descr="FaAdju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Accents perdus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Souvent sans gravité, mais cassent les dictionnaires.</a:t>
            </a:r>
            <a:endParaRPr lang="en-US" sz="12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ut" descr="FaCu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Espaces et coupures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Mots collés ou séparés : tokenisation perturbée.</a:t>
            </a:r>
            <a:endParaRPr lang="en-US" sz="1250" dirty="0"/>
          </a:p>
        </p:txBody>
      </p:sp>
      <p:sp>
        <p:nvSpPr>
          <p:cNvPr id="19" name="Carte"/>
          <p:cNvSpPr/>
          <p:nvPr/>
        </p:nvSpPr>
        <p:spPr>
          <a:xfrm>
            <a:off x="548640" y="3401568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358444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Table" descr="Fa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710178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2062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Tableaux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45720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Lignes et colonnes mélangées : lire la structure avant le texte.</a:t>
            </a:r>
            <a:endParaRPr lang="en-US" sz="1250" dirty="0"/>
          </a:p>
        </p:txBody>
      </p:sp>
      <p:sp>
        <p:nvSpPr>
          <p:cNvPr id="24" name="Carte"/>
          <p:cNvSpPr/>
          <p:nvPr/>
        </p:nvSpPr>
        <p:spPr>
          <a:xfrm>
            <a:off x="4297680" y="3401568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35844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Pen" descr="FaP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371017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2062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Manuscrit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45720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Beaucoup plus difficile : prévoir saisie ou relecture.</a:t>
            </a:r>
            <a:endParaRPr lang="en-US" sz="1250" dirty="0"/>
          </a:p>
        </p:txBody>
      </p:sp>
      <p:sp>
        <p:nvSpPr>
          <p:cNvPr id="29" name="Carte"/>
          <p:cNvSpPr/>
          <p:nvPr/>
        </p:nvSpPr>
        <p:spPr>
          <a:xfrm>
            <a:off x="8046720" y="3401568"/>
            <a:ext cx="359359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358444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Calculator" descr="FaCalculat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3710178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2062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Chiffres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45720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Une erreur change une dose : validation de format obligatoire.</a:t>
            </a:r>
            <a:endParaRPr lang="en-US" sz="1250" dirty="0"/>
          </a:p>
        </p:txBody>
      </p:sp>
      <p:sp>
        <p:nvSpPr>
          <p:cNvPr id="3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6" descr="À reteni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mesurez le CER (taux d’erreur de caractères), mais aussi la perte d’entités après extraction.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Rendre la chaîne fiable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heckCircle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Contrôles automatiques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Format</a:t>
            </a:r>
            <a:r>
              <a:rPr lang="en-US" sz="1450" dirty="0">
                <a:solidFill>
                  <a:schemeClr val="tx1"/>
                </a:solidFill>
              </a:rPr>
              <a:t> : une dose = nombre + unité plausible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Plages</a:t>
            </a:r>
            <a:r>
              <a:rPr lang="en-US" sz="1450" dirty="0">
                <a:solidFill>
                  <a:schemeClr val="tx1"/>
                </a:solidFill>
              </a:rPr>
              <a:t> de valeurs (tension, âge, poids)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Cohérence</a:t>
            </a:r>
            <a:r>
              <a:rPr lang="en-US" sz="1450" dirty="0">
                <a:solidFill>
                  <a:schemeClr val="tx1"/>
                </a:solidFill>
              </a:rPr>
              <a:t> entre champs (dates dans l’ordre)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Confiance</a:t>
            </a:r>
            <a:r>
              <a:rPr lang="en-US" sz="1450" dirty="0">
                <a:solidFill>
                  <a:schemeClr val="tx1"/>
                </a:solidFill>
              </a:rPr>
              <a:t> OCR et NER sous un seuil : relecture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6245352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UserCheck" descr="FaUse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Contrôles humains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Relecture des </a:t>
            </a:r>
            <a:r>
              <a:rPr lang="en-US" sz="1450" b="1" dirty="0">
                <a:solidFill>
                  <a:schemeClr val="tx1"/>
                </a:solidFill>
              </a:rPr>
              <a:t>chiffres</a:t>
            </a:r>
            <a:r>
              <a:rPr lang="en-US" sz="1450" dirty="0">
                <a:solidFill>
                  <a:schemeClr val="tx1"/>
                </a:solidFill>
              </a:rPr>
              <a:t> par une seconde personne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Échantillon </a:t>
            </a:r>
            <a:r>
              <a:rPr lang="en-US" sz="1450" b="1" dirty="0">
                <a:solidFill>
                  <a:schemeClr val="tx1"/>
                </a:solidFill>
              </a:rPr>
              <a:t>audité</a:t>
            </a:r>
            <a:r>
              <a:rPr lang="en-US" sz="1450" dirty="0">
                <a:solidFill>
                  <a:schemeClr val="tx1"/>
                </a:solidFill>
              </a:rPr>
              <a:t> régulièrement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Traçabilité : texte source, version, correction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Retour des corrections vers l’</a:t>
            </a:r>
            <a:r>
              <a:rPr lang="en-US" sz="1450" b="1" dirty="0">
                <a:solidFill>
                  <a:schemeClr val="tx1"/>
                </a:solidFill>
              </a:rPr>
              <a:t>entraînement</a:t>
            </a:r>
            <a:endParaRPr lang="en-US" sz="1450" dirty="0"/>
          </a:p>
        </p:txBody>
      </p:sp>
      <p:sp>
        <p:nvSpPr>
          <p:cNvPr id="1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visez un système qui sait dire « je ne suis pas sûr » : c’est le seul que l’on peut utiliser en santé.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Données de santé : ce qui est permis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Obtenir autorisation et cadre légal avant tout traitement de dossiers réels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Utiliser des dossiers réels « pour tester » sans accord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Anonymiser avant annotation et avant tout envoi hors de votre infrastructure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Envoyer des scans à un service gratuit en ligne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Héberger sur une infrastructure sécurisée, avec journalisation des accès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Garder les fichiers dans des dossiers partagés non contrôlés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Garder un humain responsable de la décision finale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Décider d’un traitement à partir d’une sortie automatique non relue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TP : du compte rendu à la donnée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Google Colab, sans GPU. Comptes rendus fictifs ; images de documents fabriquées puis dégradées.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éro 1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Règles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Doses, dates et dictionnaire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336042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354330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éro 2"/>
          <p:cNvSpPr txBox="1"/>
          <p:nvPr/>
        </p:nvSpPr>
        <p:spPr>
          <a:xfrm>
            <a:off x="35433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3766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Évaluer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4330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Précision, rappel, F1 stricts</a:t>
            </a:r>
            <a:endParaRPr lang="en-US" sz="1350" dirty="0"/>
          </a:p>
        </p:txBody>
      </p:sp>
      <p:sp>
        <p:nvSpPr>
          <p:cNvPr id="15" name="Carte"/>
          <p:cNvSpPr/>
          <p:nvPr/>
        </p:nvSpPr>
        <p:spPr>
          <a:xfrm>
            <a:off x="617220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635508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3"/>
          <p:cNvSpPr txBox="1"/>
          <p:nvPr/>
        </p:nvSpPr>
        <p:spPr>
          <a:xfrm>
            <a:off x="6355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Négation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Déclencheurs et statuts</a:t>
            </a:r>
            <a:endParaRPr lang="en-US" sz="1350" dirty="0"/>
          </a:p>
        </p:txBody>
      </p:sp>
      <p:sp>
        <p:nvSpPr>
          <p:cNvPr id="20" name="Carte"/>
          <p:cNvSpPr/>
          <p:nvPr/>
        </p:nvSpPr>
        <p:spPr>
          <a:xfrm>
            <a:off x="898398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916686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91668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6122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Étiqueteur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6686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BIO et indices de contexte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54864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Numéro 5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Justesse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Par mot contre par entité</a:t>
            </a:r>
            <a:endParaRPr lang="en-US" sz="1350" dirty="0"/>
          </a:p>
        </p:txBody>
      </p:sp>
      <p:sp>
        <p:nvSpPr>
          <p:cNvPr id="30" name="Carte"/>
          <p:cNvSpPr/>
          <p:nvPr/>
        </p:nvSpPr>
        <p:spPr>
          <a:xfrm>
            <a:off x="336042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Pastille"/>
          <p:cNvSpPr/>
          <p:nvPr/>
        </p:nvSpPr>
        <p:spPr>
          <a:xfrm>
            <a:off x="3543300" y="3886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Numéro 6"/>
          <p:cNvSpPr txBox="1"/>
          <p:nvPr/>
        </p:nvSpPr>
        <p:spPr>
          <a:xfrm>
            <a:off x="35433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13766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CER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54330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Mesurer l’OCR</a:t>
            </a:r>
            <a:endParaRPr lang="en-US" sz="1350" dirty="0"/>
          </a:p>
        </p:txBody>
      </p:sp>
      <p:sp>
        <p:nvSpPr>
          <p:cNvPr id="35" name="Carte"/>
          <p:cNvSpPr/>
          <p:nvPr/>
        </p:nvSpPr>
        <p:spPr>
          <a:xfrm>
            <a:off x="617220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Pastille"/>
          <p:cNvSpPr/>
          <p:nvPr/>
        </p:nvSpPr>
        <p:spPr>
          <a:xfrm>
            <a:off x="635508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Numéro 7"/>
          <p:cNvSpPr txBox="1"/>
          <p:nvPr/>
        </p:nvSpPr>
        <p:spPr>
          <a:xfrm>
            <a:off x="6355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Prétraiter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Seuil de binarisation</a:t>
            </a:r>
            <a:endParaRPr lang="en-US" sz="1350" dirty="0"/>
          </a:p>
        </p:txBody>
      </p:sp>
      <p:sp>
        <p:nvSpPr>
          <p:cNvPr id="40" name="À retenir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32120"/>
            <a:ext cx="365760" cy="365760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371600" y="5303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travail en binôme recommandé. Les cellules « À vous » contiennent des ____ à remplacer ; le formateur dispose d’une version corrigée.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Démarrer le TP sur Google Colab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Pastille"/>
          <p:cNvSpPr/>
          <p:nvPr/>
        </p:nvSpPr>
        <p:spPr>
          <a:xfrm>
            <a:off x="548640" y="14996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éro 1"/>
          <p:cNvSpPr txBox="1"/>
          <p:nvPr/>
        </p:nvSpPr>
        <p:spPr>
          <a:xfrm>
            <a:off x="548640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Ouvrir le notebook fourni par le formateur (ou importer le fichier .ipynb).</a:t>
            </a:r>
            <a:endParaRPr lang="en-US" sz="1500" dirty="0"/>
          </a:p>
        </p:txBody>
      </p:sp>
      <p:sp>
        <p:nvSpPr>
          <p:cNvPr id="7" name="Pastille"/>
          <p:cNvSpPr/>
          <p:nvPr/>
        </p:nvSpPr>
        <p:spPr>
          <a:xfrm>
            <a:off x="548640" y="24140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éro 2"/>
          <p:cNvSpPr txBox="1"/>
          <p:nvPr/>
        </p:nvSpPr>
        <p:spPr>
          <a:xfrm>
            <a:off x="54864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77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Pas de GPU nécessaire : l’exécution standard suffit.</a:t>
            </a:r>
            <a:endParaRPr lang="en-US" sz="1500" dirty="0"/>
          </a:p>
        </p:txBody>
      </p:sp>
      <p:sp>
        <p:nvSpPr>
          <p:cNvPr id="10" name="Pastille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éro 3"/>
          <p:cNvSpPr txBox="1"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91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Exécuter chaque cellule avec Maj + Entrée, </a:t>
            </a:r>
            <a:r>
              <a:rPr lang="en-US" sz="1500" b="1" dirty="0">
                <a:solidFill>
                  <a:schemeClr val="tx1"/>
                </a:solidFill>
              </a:rPr>
              <a:t>dans l’ordre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Pastille"/>
          <p:cNvSpPr/>
          <p:nvPr/>
        </p:nvSpPr>
        <p:spPr>
          <a:xfrm>
            <a:off x="548640" y="42428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4"/>
          <p:cNvSpPr txBox="1"/>
          <p:nvPr/>
        </p:nvSpPr>
        <p:spPr>
          <a:xfrm>
            <a:off x="54864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06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Remplacer les ____ des cellules « À vous », puis exécuter.</a:t>
            </a:r>
            <a:endParaRPr lang="en-US" sz="1500" dirty="0"/>
          </a:p>
        </p:txBody>
      </p:sp>
      <p:sp>
        <p:nvSpPr>
          <p:cNvPr id="16" name="Pastille"/>
          <p:cNvSpPr/>
          <p:nvPr/>
        </p:nvSpPr>
        <p:spPr>
          <a:xfrm>
            <a:off x="548640" y="51572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5"/>
          <p:cNvSpPr txBox="1"/>
          <p:nvPr/>
        </p:nvSpPr>
        <p:spPr>
          <a:xfrm>
            <a:off x="54864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1206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 Tesseract n’est pas trouvé : relancer la première cellule.</a:t>
            </a:r>
            <a:endParaRPr lang="en-US" sz="1500" dirty="0"/>
          </a:p>
        </p:txBody>
      </p:sp>
      <p:sp>
        <p:nvSpPr>
          <p:cNvPr id="19" name="Carte"/>
          <p:cNvSpPr/>
          <p:nvPr/>
        </p:nvSpPr>
        <p:spPr>
          <a:xfrm>
            <a:off x="7315200" y="1463040"/>
            <a:ext cx="4325112" cy="4480560"/>
          </a:xfrm>
          <a:prstGeom prst="roundRect">
            <a:avLst>
              <a:gd name="adj" fmla="val 16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543800" y="16916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oud" descr="Fa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390" y="1840230"/>
            <a:ext cx="297180" cy="2971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32104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À savoir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251460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compte Google est nécessaire.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première cellule installe Tesseract et la langue française.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scores varient légèrement selon les versions.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Toutes les données sont fictives.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Six idées à retenir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st" descr="Fa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Règles d’abord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Une base simple fixe le niveau à battre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5262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alanceScale" descr="FaBalance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Évaluer par entité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Bornes exactes, séparation par patient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75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Stethoscope" descr="FaStethosc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 contexte change le sens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Négation, incertitude, famille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4864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alculator" descr="FaCalcula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490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Chiffres = risque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Valider le format, relire à deux</a:t>
            </a:r>
            <a:endParaRPr lang="en-US" sz="1450" dirty="0"/>
          </a:p>
        </p:txBody>
      </p:sp>
      <p:sp>
        <p:nvSpPr>
          <p:cNvPr id="24" name="Carte"/>
          <p:cNvSpPr/>
          <p:nvPr/>
        </p:nvSpPr>
        <p:spPr>
          <a:xfrm>
            <a:off x="429768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52628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Eye" descr="FaEy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490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Mesurer chaque maillon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CER, puis perte d’entités</a:t>
            </a:r>
            <a:endParaRPr lang="en-US" sz="1450" dirty="0"/>
          </a:p>
        </p:txBody>
      </p:sp>
      <p:sp>
        <p:nvSpPr>
          <p:cNvPr id="29" name="Carte"/>
          <p:cNvSpPr/>
          <p:nvPr/>
        </p:nvSpPr>
        <p:spPr>
          <a:xfrm>
            <a:off x="804672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7532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hield" descr="FaUser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490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Cadre et sécurité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Autorisation, anonymisation, hébergement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1 à 2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Dans le format BIO, que signifient B, I et O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B = début d’entité, I = intérieur de l’entité, O = hors entité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B = bon, I = incorrect, O = oubli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B = base, I = index, O = ordre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B = binaire, I = entier, O = objet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signifie une évaluation NER « stricte » au niveau de l’entité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On compte chaque token séparément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Une entité n’est correcte que si ses limites et son type sont exacts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On ignore le type de l’entité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On ne compte que les entités trouvées en premier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3 à 4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est la force principale d’une approche à base de règles et de dictionnaires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Elle généralise à tous les styles d’écriture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Elle comprend le contexte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Précision élevée sur les formats réguliers (doses, dates), sans données d’entraînement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Elle n’a jamais besoin de maintenance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À quoi sert la détection de négation (type NegEx)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À supprimer les mots négatifs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À traduire les phrases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À corriger les accents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À savoir si un problème repéré est affirmé, nié ou incertain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5 à 6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5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séparer les données par patient et non par phrase pour évaluer un NER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Pour réduire le nombre de phrases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Parce que la loi l’impose toujours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Pour éviter qu’un même patient apparaisse en entraînement et en test (fuite de données)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Pour accélérer le calcul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6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Avec un modèle Transformer, pourquoi faut-il « réaligner » les prédictions NER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Les étiquettes sont prédites sur des sous-mots, alors qu’on veut des entités sur le texte d’origine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Parce que le modèle ne prédit que la première lettre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Parce que les étiquettes sont chiffrées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Parce que le texte est converti en images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7 à 8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7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étape améliore souvent l’OCR avant la reconnaissance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Traduire l’image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Compresser fortement le fichier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Ajouter du bruit à l’image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prétraitement : niveaux de gris, redressement, binarisation, résolution suffisante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8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mesure le taux d’erreur de caractères (CER)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Le nombre de pages lues par minute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La distance d’édition entre le texte reconnu et la référence, rapportée à la longueur de la référence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La taille de l’image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nombre de mots du dictionnaire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9 à 10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Une erreur OCR change « 500 » en « 5OO ». Quelle protection mettre en place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Aucune : le NER corrigera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Supprimer toutes les doses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Augmenter la taille de police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Validation par règles (formats de dose), seuils de confiance et relecture humaine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1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Avant d’utiliser un service OCR cloud sur des dossiers de santé, que faut-il vérifier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Rien, tant que le service est gratuit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Uniquement la vitesse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 cadre légal, l’hébergement des données et la possibilité de pseudonymiser en amont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Uniquement le prix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(1/2)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B = début d’entité, I = intérieur de l’entité, O = hors entité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étiquettes « B-DOSE I-DOSE O » permettent de représenter des entités de plusieurs mots.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Une entité n’est correcte que si ses limites et son type sont exacts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« 500 » prédit au lieu de « 500 mg » est une erreur en évaluation stricte.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Précision élevée sur les formats réguliers (doses, dates), sans données d’entraînement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Elle échoue vite sur les variantes : d’où la complémentarité avec des modèles appris.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À savoir si un problème repéré est affirmé, nié ou incertain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Sans elle, « pas de fièvre » serait traité comme « fièvre ».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5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Pour éviter qu’un même patient apparaisse en entraînement et en test (fuite de données)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phrases d’un même dossier se ressemblent : la note serait gonflée.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(2/2)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6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Les étiquettes sont prédites sur des sous-mots, alors qu’on veut des entités sur le texte d’origine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agrège les sous-mots (aggregation_strategy ou word_ids) pour reconstruire les entités.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7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Le prétraitement : niveaux de gris, redressement, binarisation, résolution suffisante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Une image propre et bien contrastée réduit les erreurs de lecture.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8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La distance d’édition entre le texte reconnu et la référence, rapportée à la longueur de la référence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Plus le CER est bas, meilleur est l’OCR. On mesure sur des documents représentatifs.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9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Validation par règles (formats de dose), seuils de confiance et relecture humaine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erreurs se propagent de l’OCR vers l’extraction : on contrôle à chaque étape.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10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Le cadre légal, l’hébergement des données et la possibilité de pseudonymiser en amont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Une solution locale (Tesseract, modèles hébergés chez vous) évite l’envoi de données sensibles à l’extérieur.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Glossaire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ANNEXE  ·  GLOSSAIRE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Reconnaissance d’entités nommées : repérer et typer des éléments d’un texte</a:t>
            </a:r>
            <a:endParaRPr lang="en-US" sz="1350" dirty="0"/>
          </a:p>
        </p:txBody>
      </p:sp>
      <p:sp>
        <p:nvSpPr>
          <p:cNvPr id="7" name="Carte"/>
          <p:cNvSpPr/>
          <p:nvPr/>
        </p:nvSpPr>
        <p:spPr>
          <a:xfrm>
            <a:off x="429768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Format d’étiquettes : début, suite, hors entité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Négation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Absence d’un élément signalée dans le texte (« pas de fièvre »)</a:t>
            </a:r>
            <a:endParaRPr lang="en-US" sz="1350" dirty="0"/>
          </a:p>
        </p:txBody>
      </p:sp>
      <p:sp>
        <p:nvSpPr>
          <p:cNvPr id="13" name="Carte"/>
          <p:cNvSpPr/>
          <p:nvPr/>
        </p:nvSpPr>
        <p:spPr>
          <a:xfrm>
            <a:off x="54864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Compromis entre précision et rappel</a:t>
            </a:r>
            <a:endParaRPr lang="en-US" sz="1350" dirty="0"/>
          </a:p>
        </p:txBody>
      </p:sp>
      <p:sp>
        <p:nvSpPr>
          <p:cNvPr id="16" name="Carte"/>
          <p:cNvSpPr/>
          <p:nvPr/>
        </p:nvSpPr>
        <p:spPr>
          <a:xfrm>
            <a:off x="429768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OCR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Reconnaissance optique de caractères : image vers texte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Taux d’erreur de caractères d’un OCR</a:t>
            </a:r>
            <a:endParaRPr lang="en-US" sz="1350" dirty="0"/>
          </a:p>
        </p:txBody>
      </p:sp>
      <p:sp>
        <p:nvSpPr>
          <p:cNvPr id="22" name="Carte"/>
          <p:cNvSpPr/>
          <p:nvPr/>
        </p:nvSpPr>
        <p:spPr>
          <a:xfrm>
            <a:off x="54864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Binarisation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Passage d’une image en noir et blanc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429768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Anonymisation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Retrait des éléments qui identifient une personne</a:t>
            </a:r>
            <a:endParaRPr lang="en-US" sz="1350" dirty="0"/>
          </a:p>
        </p:txBody>
      </p:sp>
      <p:sp>
        <p:nvSpPr>
          <p:cNvPr id="28" name="Carte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Guide d’annotation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Document qui définit les étiquettes et les cas limites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et à bientôt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Prochain module : RAG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Répondre à partir de nos documents, avec des sources  ·  Projet #TOGO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">
  <a:themeElements>
    <a:clrScheme name="TAL">
      <a:dk1>
        <a:srgbClr val="1B2B27"/>
      </a:dk1>
      <a:lt1>
        <a:srgbClr val="FFFFFF"/>
      </a:lt1>
      <a:dk2>
        <a:srgbClr val="0B4A38"/>
      </a:dk2>
      <a:lt2>
        <a:srgbClr val="E8F3EE"/>
      </a:lt2>
      <a:accent1>
        <a:srgbClr val="006A4E"/>
      </a:accent1>
      <a:accent2>
        <a:srgbClr val="2F6386"/>
      </a:accent2>
      <a:accent3>
        <a:srgbClr val="FFCF11"/>
      </a:accent3>
      <a:accent4>
        <a:srgbClr val="C9211E"/>
      </a:accent4>
      <a:accent5>
        <a:srgbClr val="DCEBE5"/>
      </a:accent5>
      <a:accent6>
        <a:srgbClr val="5B6B66"/>
      </a:accent6>
      <a:hlink>
        <a:srgbClr val="2F6386"/>
      </a:hlink>
      <a:folHlink>
        <a:srgbClr val="5B6B66"/>
      </a:folHlink>
    </a:clrScheme>
    <a:fontScheme name="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Togo 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· NER clinique et OCR (IT)</dc:title>
  <dc:subject>PptxGenJS Presentation</dc:subject>
  <dc:creator>Togo AI Lab</dc:creator>
  <cp:lastModifiedBy>Togo AI Lab</cp:lastModifiedBy>
  <cp:revision>1</cp:revision>
  <dcterms:created xsi:type="dcterms:W3CDTF">2026-10-19T20:43:25Z</dcterms:created>
  <dcterms:modified xsi:type="dcterms:W3CDTF">2026-10-19T20:43:25Z</dcterms:modified>
</cp:coreProperties>
</file>