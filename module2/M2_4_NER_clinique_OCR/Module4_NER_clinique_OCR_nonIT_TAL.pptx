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fd9b933f-3777-2401-d8a4-c63f13fadcbb}">
          <p14:sldIdLst>
            <p14:sldId id="256"/>
            <p14:sldId id="257"/>
          </p14:sldIdLst>
        </p14:section>
        <p14:section name="Ouverture" id="{a35bbd9b-6ba4-d3ac-bf88-7acdc3c9bf5a}">
          <p14:sldIdLst/>
        </p14:section>
        <p14:section name="Introduction" id="{e1caf07f-a5fd-21ca-4e84-c59e26d35150}">
          <p14:sldIdLst>
            <p14:sldId id="258"/>
          </p14:sldIdLst>
        </p14:section>
        <p14:section name="NER" id="{835c9c4f-c48b-6e38-df6b-a3b6eb5672e8}">
          <p14:sldIdLst>
            <p14:sldId id="259"/>
            <p14:sldId id="260"/>
            <p14:sldId id="261"/>
            <p14:sldId id="262"/>
          </p14:sldIdLst>
        </p14:section>
        <p14:section name="Pièges" id="{75c44643-c1bb-d372-aa68-ab6c314cb4bf}">
          <p14:sldIdLst>
            <p14:sldId id="263"/>
            <p14:sldId id="264"/>
          </p14:sldIdLst>
        </p14:section>
        <p14:section name="Annotation" id="{674c49b6-c703-40e2-0cc6-5706e69dc590}">
          <p14:sldIdLst>
            <p14:sldId id="265"/>
            <p14:sldId id="266"/>
          </p14:sldIdLst>
        </p14:section>
        <p14:section name="OCR" id="{680b2b47-b90e-e3cd-e83f-ff75bb2385b2}">
          <p14:sldIdLst>
            <p14:sldId id="267"/>
            <p14:sldId id="268"/>
            <p14:sldId id="269"/>
            <p14:sldId id="270"/>
            <p14:sldId id="271"/>
          </p14:sldIdLst>
        </p14:section>
        <p14:section name="Vérification" id="{883f891a-c07e-110a-c4ce-fc98b90a9041}">
          <p14:sldIdLst>
            <p14:sldId id="272"/>
            <p14:sldId id="273"/>
          </p14:sldIdLst>
        </p14:section>
        <p14:section name="Responsabilité" id="{cce09a29-50b6-2ca5-a837-e9f56bffb191}">
          <p14:sldIdLst>
            <p14:sldId id="274"/>
          </p14:sldIdLst>
        </p14:section>
        <p14:section name="Atelier" id="{321bc4fc-bf13-3b23-eaee-a5d55248f753}">
          <p14:sldIdLst>
            <p14:sldId id="275"/>
            <p14:sldId id="276"/>
          </p14:sldIdLst>
        </p14:section>
        <p14:section name="Conclusion" id="{30f31462-9f17-a664-6311-09f601670591}">
          <p14:sldIdLst>
            <p14:sldId id="277"/>
          </p14:sldIdLst>
        </p14:section>
        <p14:section name="Quiz de sortie" id="{458d98f1-ad0c-d53c-0f14-1c8ad67ce7b5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Annexes" id="{f9055d18-374f-8cc6-fa86-6bbf723a2a86}">
          <p14:sldIdLst>
            <p14:sldId id="285"/>
          </p14:sldIdLst>
        </p14:section>
        <p14:section name="Clôture" id="{5ef61781-1f7e-b19e-37f1-b7be6bea1c0a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Tous les dossiers utilisés sont fictifs. Rappeler d’emblée que les données de santé exigent un cadre strict : on s’exerce sur des exemples inventés.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aux participants d’autres étiquettes utiles dans leur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Illustrer chaque piège avec un exemple tiré du terrain des participants.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4 · NER clinique et OCR  ·  Version non-IT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4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NER clinique et OCR : extraire l’information des dossiers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non-IT : sans code, sans mathématiques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Comprendre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Repérer les informations dans un texte médical, lire un document scanné, connaître les pièges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PuzzlePiece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Pratiquer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Atelier « Du dossier papier aux données » : surligner, corriger une lecture, remplir une fiche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Vérifier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Quiz de sortie de 10 questions,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expliquer ce qu’est la reconnaissance d’entités et l’OCR, avec des exemples de dossiers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repérer les pièges : négation, incertitude, abréviations, erreurs de lecture des chiffres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décrire les précautions pour les données de santé et la place de la relecture humaine.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Des informations précieuses, cachées dans du texte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Question au groupe : combien de temps faudrait-il pour trouver tous les cas de paludisme de l’année dans des milliers de dossiers papier ?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Comptes rendus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Consultations, hospitalisations : tout est écrit en phrases libres.</a:t>
            </a:r>
            <a:endParaRPr lang="en-US" sz="1400" dirty="0"/>
          </a:p>
        </p:txBody>
      </p:sp>
      <p:sp>
        <p:nvSpPr>
          <p:cNvPr id="10" name="Carte"/>
          <p:cNvSpPr/>
          <p:nvPr/>
        </p:nvSpPr>
        <p:spPr>
          <a:xfrm>
            <a:off x="3360420" y="224028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Book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330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Registres papier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43300" y="341071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Cahiers et fiches remplis à la main dans les centres de santé.</a:t>
            </a:r>
            <a:endParaRPr lang="en-US" sz="1400" dirty="0"/>
          </a:p>
        </p:txBody>
      </p:sp>
      <p:sp>
        <p:nvSpPr>
          <p:cNvPr id="15" name="Carte"/>
          <p:cNvSpPr/>
          <p:nvPr/>
        </p:nvSpPr>
        <p:spPr>
          <a:xfrm>
            <a:off x="6172200" y="224028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Ordonnances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41071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Médicaments, doses et durées de traitement.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8983980" y="224028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ône FaFlask" descr="FaFl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25488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6686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Résultats d’examens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166860" y="341071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Analyses de laboratoire, radiographies, comptes rendus.</a:t>
            </a:r>
            <a:endParaRPr lang="en-US" sz="1400" dirty="0"/>
          </a:p>
        </p:txBody>
      </p:sp>
      <p:sp>
        <p:nvSpPr>
          <p:cNvPr id="2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ce module montre comment une machine peut lire des documents et en extraire les informations utiles, sous contrôle humain.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NER : un surligneur intelligent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un documentaliste qui surligne chaque type d’information d’une couleur différente (maladies en rouge, médicaments en vert, dates en bleu).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Le texte brut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suite de phrases. La machine ne sait pas ce qui est important : tout se ressemble.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Le texte surligné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Chaque information importante est repérée et reçoit une étiquette : problème, médicament, dose, date.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NER signifie « reconnaissance d’entités nommées » : repérer dans un texte les éléments qui ont un sens précis, et les étiqueter.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exemple de dossier fictif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Compte rendu fictif. Le NER repère chaque information et la range dans la bonne case.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42062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 texte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« Le 12/03/2026, consultation pour fièvre. Goutte épaisse positive. Paracétamol 500 mg. »</a:t>
            </a:r>
            <a:endParaRPr lang="en-US" sz="1450" dirty="0"/>
          </a:p>
        </p:txBody>
      </p:sp>
      <p:sp>
        <p:nvSpPr>
          <p:cNvPr id="8" name="Carte"/>
          <p:cNvSpPr/>
          <p:nvPr/>
        </p:nvSpPr>
        <p:spPr>
          <a:xfrm>
            <a:off x="5029200" y="2880360"/>
            <a:ext cx="2130552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880360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Repérer et étiqueter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1546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31546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Carte"/>
          <p:cNvSpPr/>
          <p:nvPr/>
        </p:nvSpPr>
        <p:spPr>
          <a:xfrm>
            <a:off x="7434072" y="2240280"/>
            <a:ext cx="4206240" cy="2468880"/>
          </a:xfrm>
          <a:prstGeom prst="roundRect">
            <a:avLst>
              <a:gd name="adj" fmla="val 296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2672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Les informations trouvées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62672" y="27889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DATE : 12/03/2026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PROBLÈME : fièvre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EXAMEN : goutte épaisse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MÉDICAMENT : paracétamol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DOSE : 500 mg</a:t>
            </a:r>
            <a:endParaRPr lang="en-US" sz="145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dossier devient un tableau : on peut alors compter, chercher, suivre une épidémie.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étiquettes d’un dossier clinique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ExclamationTriangle" descr="FaExclamationTriang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Problème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Maladie ou symptôme : fièvre, paludisme, diabète.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ipboardCheck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Médicament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 du médicament prescrit : paracétamol, amlodipine.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alanceScale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Dose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Quantité à prendre : 500 mg, 1 comprimé par jour.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Flask" descr="FaFl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Examen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Analyse ou imagerie : goutte épaisse, radiographie.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lock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 a eu lieu la consultation ou l’examen.</a:t>
            </a:r>
            <a:endParaRPr lang="en-US" sz="140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Personne et lieu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Noms, numéros, adresses : à protéger, donc à repérer pour les cacher.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À quoi sert le NER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Rechercher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Retrouver en quelques secondes tous les dossiers qui mentionnent un médicament.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hartBar" descr="FaChart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Surveiller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Compter les cas pour suivre une maladie dans le temps.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UserShield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Anonymiser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Repérer automatiquement les noms et numéros pour les masquer.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Remplir des fiches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Pré-remplir un registre à partir des comptes rendus.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dans tous les cas, c’est une aide à la décision : une personne valide avant toute action.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Pourquoi c’est plus difficile qu’il n’y paraît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Times" descr="FaTi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 négation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Pas de fièvre » : le mot « fièvre » est là, mais le patient n’en a pas.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QuestionCircle" descr="FaQuestion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L’incertitude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Suspicion de paludisme » : ce n’est pas encore un diagnostic.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Users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qui s’applique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Antécédent familial de diabète » : la maladie est celle d’un parent.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SpellCheck" descr="FaSpell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Abréviations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HTA, SRO, CPN : chaque service a ses abréviations.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Language" descr="FaLangu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Langues mélangées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Français et langues locales dans un même dossier.</a:t>
            </a:r>
            <a:endParaRPr lang="en-US" sz="140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Bug" descr="FaBu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Fautes et ratures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Écriture rapide, abréviations personnelles, notes dans les marges.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La négation : un petit mot change tout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Phrase : « Pas de fièvre, pas de toux. Douleur au ventre depuis hier. » Combien de problèmes le patient a-t-il ?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Times" descr="FaTi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Lecture naïve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machine repère trois mots : fièvre, toux, douleur. Elle conclut que le patient a trois problèmes.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heck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Lecture attentive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Seule la douleur au ventre est présente. Les deux autres sont explicitement niés.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bon système sait détecter les négations et les incertitudes, sinon ses statistiques sont fausses.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Apprendre à la machine : annoter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Analogie : on forme un stagiaire en lui montrant des dossiers déjà surlignés par un expert. Il apprend à reconnaître les mêmes éléments.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Users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Des annotateurs humains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 professionnels surlignent des centaines de comptes rendus en suivant un guide commun.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gs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Un modèle qui apprend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machine voit les exemples surlignés et apprend à repérer elle-même les éléments dans de nouveaux dossiers.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la qualité de l’annotation détermine la qualité du modèle : mieux vaut peu d’exemples excellents que beaucoup d’exemples confus.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bon guide d’annotation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Définitions claires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qui compte comme « problème », « médicament », « dose ».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heck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Exemples et contraires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qu’il faut surligner, et ce qu’il ne faut pas surligner.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QuestionCircle" descr="FaQuestion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Cas limites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faire pour une négation, une abréviation, une dose partielle ?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74320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Users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Relecture croisée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Deux personnes annotent, on compare, on discute les désaccords.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désaccord entre annotateurs n’est pas un échec : c’est le signal qu’une règle est à préciser.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Deuxième partie : lire un document scanné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54480"/>
            <a:ext cx="11091672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L’OCR transforme l’image d’un texte en texte que la machine peut lire.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Sans OCR, un document scanné n’est qu’une photo : on ne peut ni y chercher un mot, ni en extraire une information.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L’OCR fonctionne comme un dactylographe qui recopie la page lettre après lettre.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Résultat : un texte, souvent très bon sur de l’imprimé, plus fragile sur de l’écriture manuscrite.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parcours d’un document scanné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qualité de chaque étape conditionne la suivante : une mauvaise photo donne un mauvais texte.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Document papier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Ordonnance, registre, compte rendu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Mobile" descr="FaMob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Photo ou scan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À plat, bien éclairé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Broom" descr="FaBro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Préparer l’image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Redresser, contraster, nettoyer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Eye" descr="Fa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Lire (OCR)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Reconnaître les lettres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FileAlt" descr="FaFile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Texte obtenu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Utilisable… et à vérifier</a:t>
            </a:r>
            <a:endParaRPr lang="en-US" sz="125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la meilleure amélioration de l’OCR commence avant la machine : une bonne photo.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qui rend une image difficile à lire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ug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Mauvaise lumière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Ombres, reflets, flash : les lettres disparaissent.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ortAmountDown" descr="FaSortAmount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Page penchée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photo de biais déforme les lignes.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ook" descr="Fa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Écriture manuscrite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personne écrit différemment : beaucoup d’erreurs.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Tampons et ratures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Ils se mélangent au texte.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PuzzlePiece" descr="FaPuzzlePie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Tableaux et colonnes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machine mélange les colonnes.</a:t>
            </a:r>
            <a:endParaRPr lang="en-US" sz="140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Eye" descr="FaEy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Faible résolution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Petites lettres floues ou pixelisées.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erreurs classiques de lecture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graphicFrame>
        <p:nvGraphicFramePr>
          <p:cNvPr id="16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5079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Ce que la machine lit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Ce qui était écrit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5OO mg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500 mg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 lettre O ressemble au chiffre zéro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Pa1udisme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Paludisme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 lettre l ressemble au chiffre 1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1 sernaine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 semaine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Les lettres r et n collées ressemblent à un m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Paracetamol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Paracétamol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Les accents sont souvent perdus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gouttee paisse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goutte épaisse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Les espaces sont mal reconnus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Tension 1l0/7O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Tension 110/70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Plusieurs confusions sur les chiffres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dans un dossier médical, une confusion sur un chiffre peut changer une dose : c’est l’erreur la plus dangereuse.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Bien photographier un document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Poser la feuille à plat, la photographier de face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Photographier de biais ou à la volée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Utiliser une lumière uniforme et naturelle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Utiliser le flash ou laisser des ombres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Cadrer toute la page, sans plis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Couper les marges ou plier la feuille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Vérifier que le texte est net avant de l’enregistrer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Envoyer des photos floues sans les contrôler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Un texte lu n’est jamais parfait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Dans un message courant, une faute de lecture est gênante. Dans un dossier médical, elle peut être dangereuse.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7724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571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Un texte courant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lettre mal reconnue reste compréhensible : « sernaine » se lit « semaine ».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6199632" y="2240280"/>
            <a:ext cx="5440680" cy="2926080"/>
          </a:xfrm>
          <a:prstGeom prst="roundRect">
            <a:avLst>
              <a:gd name="adj" fmla="val 25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6428232" y="24231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ExclamationTriangle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25717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05472" y="24231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Un dossier médical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320040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chiffre mal lu change une dose, une date, un résultat. Les chiffres doivent toujours être relus.</a:t>
            </a:r>
            <a:endParaRPr lang="en-US" sz="1500" dirty="0"/>
          </a:p>
        </p:txBody>
      </p:sp>
      <p:sp>
        <p:nvSpPr>
          <p:cNvPr id="1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règle d’or : l’humain vérifie les doses, les dates et les résultats avant toute utilisation.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 la photo aux données : la chaîne complète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chaîne complète combine l’OCR, le NER et la vérification.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Mobile" descr="Fa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Document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Scan ou photo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Eye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OCR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Texte brut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Search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NER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Informations repérées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Tableau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Fiche structurée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" descr="Fa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Vérification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Relecture humaine</a:t>
            </a:r>
            <a:endParaRPr lang="en-US" sz="125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plus l’enjeu est élevé, plus la relecture humaine doit être systématique.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Données de santé : les règles à respecter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Disposer d’un cadre légal et d’une autorisation avant tout traitement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Traiter des dossiers réels sans autorisation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Anonymiser avant tout partage ou envoi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Envoyer des documents identifiables vers un service en ligne public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Héberger les données sur un système sécurisé, avec traçabilité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Stocker des dossiers sur des téléphones ou clés personnelles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Garder une personne responsable de la validation finale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Laisser la machine décider seule d’un traitement ou d’une prise en charge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Place à l’atelier : « Du dossier papier aux données »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 groupes de 3 ou 4, avec des feutres de couleur et votre livret. Aucun ordinateur. Tous les dossiers sont fictifs.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Le surligneur : repérer les informations de comptes rendus fictifs avec des couleurs.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48056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Eye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2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Lire comme l’OCR : corriger des lectures erronées et classer les erreurs.</a:t>
            </a:r>
            <a:endParaRPr lang="en-US" sz="1450" dirty="0"/>
          </a:p>
        </p:txBody>
      </p:sp>
      <p:sp>
        <p:nvSpPr>
          <p:cNvPr id="15" name="Carte"/>
          <p:cNvSpPr/>
          <p:nvPr/>
        </p:nvSpPr>
        <p:spPr>
          <a:xfrm>
            <a:off x="8046720" y="2240280"/>
            <a:ext cx="359359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822960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04495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Atelier 3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410712"/>
            <a:ext cx="32278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Du texte à la fiche : remplir un tableau et repérer les négations.</a:t>
            </a:r>
            <a:endParaRPr lang="en-US" sz="1450" dirty="0"/>
          </a:p>
        </p:txBody>
      </p:sp>
      <p:sp>
        <p:nvSpPr>
          <p:cNvPr id="20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règle du jeu : vous êtes la machine, puis l’expert qui vérifie. Les chiffres sont toujours relus.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Consigne de l’atelier 1 : le surligneur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ATELIER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Pastille"/>
          <p:cNvSpPr/>
          <p:nvPr/>
        </p:nvSpPr>
        <p:spPr>
          <a:xfrm>
            <a:off x="247345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Lisez le compte rendu en entier avant de surligner.</a:t>
            </a:r>
            <a:endParaRPr lang="en-US" sz="1450" dirty="0"/>
          </a:p>
        </p:txBody>
      </p:sp>
      <p:sp>
        <p:nvSpPr>
          <p:cNvPr id="11" name="Carte"/>
          <p:cNvSpPr/>
          <p:nvPr/>
        </p:nvSpPr>
        <p:spPr>
          <a:xfrm>
            <a:off x="336042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4330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éro 2"/>
          <p:cNvSpPr txBox="1"/>
          <p:nvPr/>
        </p:nvSpPr>
        <p:spPr>
          <a:xfrm>
            <a:off x="35433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Pastille"/>
          <p:cNvSpPr/>
          <p:nvPr/>
        </p:nvSpPr>
        <p:spPr>
          <a:xfrm>
            <a:off x="528523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330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Surligner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4330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Une couleur par étiquette : problème, médicament, dose, examen, date.</a:t>
            </a:r>
            <a:endParaRPr lang="en-US" sz="1450" dirty="0"/>
          </a:p>
        </p:txBody>
      </p:sp>
      <p:sp>
        <p:nvSpPr>
          <p:cNvPr id="18" name="Carte"/>
          <p:cNvSpPr/>
          <p:nvPr/>
        </p:nvSpPr>
        <p:spPr>
          <a:xfrm>
            <a:off x="617220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"/>
          <p:cNvSpPr/>
          <p:nvPr/>
        </p:nvSpPr>
        <p:spPr>
          <a:xfrm>
            <a:off x="635508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6355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Pastille"/>
          <p:cNvSpPr/>
          <p:nvPr/>
        </p:nvSpPr>
        <p:spPr>
          <a:xfrm>
            <a:off x="8097012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172" y="1737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5508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Barrer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35508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Barrez les problèmes niés ou incertains, avec une note.</a:t>
            </a:r>
            <a:endParaRPr lang="en-US" sz="1450" dirty="0"/>
          </a:p>
        </p:txBody>
      </p:sp>
      <p:sp>
        <p:nvSpPr>
          <p:cNvPr id="25" name="Carte"/>
          <p:cNvSpPr/>
          <p:nvPr/>
        </p:nvSpPr>
        <p:spPr>
          <a:xfrm>
            <a:off x="8983980" y="1463040"/>
            <a:ext cx="2656332" cy="347472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9166860" y="16459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Numéro 4"/>
          <p:cNvSpPr txBox="1"/>
          <p:nvPr/>
        </p:nvSpPr>
        <p:spPr>
          <a:xfrm>
            <a:off x="91668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Pastille"/>
          <p:cNvSpPr/>
          <p:nvPr/>
        </p:nvSpPr>
        <p:spPr>
          <a:xfrm>
            <a:off x="1090879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cône FaUsers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17373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6860" y="2286000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Comparer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166860" y="3063240"/>
            <a:ext cx="22905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Comparez avec un autre groupe : sur quels points n’êtes-vous pas d’accord ?</a:t>
            </a:r>
            <a:endParaRPr lang="en-US" sz="1450" dirty="0"/>
          </a:p>
        </p:txBody>
      </p:sp>
      <p:sp>
        <p:nvSpPr>
          <p:cNvPr id="32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rapporteur par groupe : présentez le cas le plus difficile à trancher.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4  ·  NER CLINIQUE ET OCR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 NER, un surligneur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Repérer et étiqueter les informations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Négation et incertitude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 petit mot change tout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Users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Annoter avec méthode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 guide commun, une relecture croisée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Eye" descr="Fa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L’OCR lit des images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Mais jamais parfaitement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ExclamationTriangle" descr="FaExclamation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Relire les chiffres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Doses et dates toujours vérifiées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UserShield" descr="FaUser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Protéger les dossiers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Cadre légal, anonymisation, sécurité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fait la reconnaissance d’entités (NER)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Elle traduit le texte dans une autre langue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Elle corrige l’orthographe du dossier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Elle chiffre le texte pour le protéger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Elle repère et étiquette dans un texte les informations importantes : maladies, médicaments, dates…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Dans « paracétamol 500 mg », quelles étiquettes un NER clinique attribue-t-il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Problème pour les deux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Médicament pour « paracétamol », dose pour « 500 mg »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Date pour « 500 mg »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Aucune étiquette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« pas de fièvre » est-il un piège pour une machine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Parce que « fièvre » est un mot rare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Parce que la phrase est trop courte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Parce que la machine ne connaît pas les accents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système naïf repère « fièvre » et croit que le patient en a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Dans « antécédent familial de diabète (mère) », qui a le diabète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 patient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Les deux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mère du patient, pas le patient lui-même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Personne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À quoi sert un guide d’annotation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À ce que plusieurs personnes étiquettent les exemples de la même façon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À programmer la machine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À traduire les dossiers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À stocker les dossiers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fait l’OCR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traduit un document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transforme une image de texte (scan, photo) en texte numérique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résume un dossier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chiffre les données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qui dégrade le plus la lecture d’un document par l’OCR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papier de couleur blanche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texte imprimé en gras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Une photo de biais, mal éclairée ou floue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document de petite taille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L’OCR lit « 5OO mg » avec la lettre O au lieu du chiffre zéro. Pourquoi est-ce grave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Ce n’est pas grave, c’est joli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Cela ne change rien pour la machine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Cela rend le texte plus court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dose peut être mal comprise : les chiffres exigent une vérification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Après l’OCR et le NER d’un dossier, que faut-il faire des doses et des dates extraites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Les considérer comme exactes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Les supprimer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Les faire vérifier par une personne avant de les utiliser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Les traduire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Avant de traiter automatiquement des dossiers de santé, que faut-il prévoir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cadre légal, l’anonymisation et un hébergement sécurisé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Rien de particulier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envoi vers n’importe quel service en ligne gratuit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Une copie sur un téléphone personnel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Elle repère et étiquette dans un texte les informations importantes : maladies, médicaments, dates…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C’est un « surligneur intelligent » : chaque information repérée reçoit une étiquette (problème, médicament, dose, date).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Médicament pour « paracétamol », dose pour « 500 mg 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même phrase contient plusieurs types d’informations, chacun avec son étiquette.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 système naïf repère « fièvre » et croit que le patient en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négation change tout : le mot est présent, mais le problème est absent.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La mère du patient, pas le patient lui-même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Il faut identifier à qui s’applique l’information, pas seulement la repérer.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À ce que plusieurs personnes étiquettent les exemples de la même façon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Sans règles communes, deux annotateurs étiquettent différemment : le modèle apprend le désordre.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Il transforme une image de texte (scan, photo) en texte numérique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L’OCR « lit » une image comme un dactylographe qui recopierait la page.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Une photo de biais, mal éclairée ou floue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Une bonne photo (à plat, bien éclairée, nette) est la première condition d’un bon résultat.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Une dose peut être mal comprise : les chiffres exigent une vérification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Dans un dossier médical, une erreur sur un chiffre peut avoir des conséquences : on relit toujours les doses.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Les faire vérifier par une personne avant de les utiliser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machine aide, mais l’humain reste responsable des informations de santé.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Un cadre légal, l’anonymisation et un hébergement sécurisé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données de santé sont parmi les plus sensibles : leur protection est une condition préalable.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Reconnaissance d’entités : repérer et étiqueter les informations d’un texte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Entité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Information précise : maladie, médicament, dose, date, personne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Annotation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Surlignage d’exemples par des humains pour former un modèle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Guide d’annotation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Règles communes pour annoter de façon cohérente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Négation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Information niée : « pas de fièvre »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OCR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Lecture automatique de l’image d’un texte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Numérisation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Transformation d’un document papier en image numérique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Anonymisation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Retrait des éléments qui permettent d’identifier une personne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Relecture humaine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Vérification par une personne avant utilisation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RAG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Répondre à partir de nos documents, avec des sources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· NER clinique et OCR (non-IT)</dc:title>
  <dc:subject>PptxGenJS Presentation</dc:subject>
  <dc:creator>Togo AI Lab</dc:creator>
  <cp:lastModifiedBy>Togo AI Lab</cp:lastModifiedBy>
  <cp:revision>1</cp:revision>
  <dcterms:created xsi:type="dcterms:W3CDTF">2026-10-19T20:43:25Z</dcterms:created>
  <dcterms:modified xsi:type="dcterms:W3CDTF">2026-10-19T20:43:25Z</dcterms:modified>
</cp:coreProperties>
</file>