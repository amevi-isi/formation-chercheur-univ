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db580787-8336-422e-9ed7-2f90ef1f3edb}">
          <p14:sldIdLst>
            <p14:sldId id="256"/>
            <p14:sldId id="257"/>
          </p14:sldIdLst>
        </p14:section>
        <p14:section name="Ouverture" id="{632549f2-e915-d3ae-b51c-c8d642ba4b43}">
          <p14:sldIdLst/>
        </p14:section>
        <p14:section name="Introduction" id="{a436a16d-d3c6-e77b-f21b-c0eb2e2d41d8}">
          <p14:sldIdLst>
            <p14:sldId id="258"/>
            <p14:sldId id="259"/>
          </p14:sldIdLst>
        </p14:section>
        <p14:section name="Pipeline" id="{1508b3cf-0673-08e2-e09f-84cd020dc315}">
          <p14:sldIdLst>
            <p14:sldId id="260"/>
            <p14:sldId id="261"/>
            <p14:sldId id="262"/>
            <p14:sldId id="263"/>
          </p14:sldIdLst>
        </p14:section>
        <p14:section name="Représentation" id="{2bbcc13e-cdaa-2afa-64cf-6cb689046820}">
          <p14:sldIdLst>
            <p14:sldId id="264"/>
            <p14:sldId id="265"/>
          </p14:sldIdLst>
        </p14:section>
        <p14:section name="Modèle" id="{2b35c9f2-8f77-1704-f44b-0dbea0ae85c8}">
          <p14:sldIdLst>
            <p14:sldId id="266"/>
          </p14:sldIdLst>
        </p14:section>
        <p14:section name="Évaluation" id="{15e9cced-80b8-a26a-f090-b03d86716146}">
          <p14:sldIdLst>
            <p14:sldId id="267"/>
            <p14:sldId id="268"/>
            <p14:sldId id="269"/>
          </p14:sldIdLst>
        </p14:section>
        <p14:section name="Limites" id="{4dcad76c-064e-c8f1-9b3b-35a88845b9fe}">
          <p14:sldIdLst>
            <p14:sldId id="270"/>
            <p14:sldId id="271"/>
          </p14:sldIdLst>
        </p14:section>
        <p14:section name="Responsabilité" id="{7197807a-6618-a406-047f-f25e3e2d6c82}">
          <p14:sldIdLst>
            <p14:sldId id="272"/>
          </p14:sldIdLst>
        </p14:section>
        <p14:section name="TP notebook" id="{6a34d9c6-1c82-3e5d-e676-1170f4d3db62}">
          <p14:sldIdLst>
            <p14:sldId id="273"/>
            <p14:sldId id="274"/>
          </p14:sldIdLst>
        </p14:section>
        <p14:section name="Conclusion" id="{a67a54a6-7474-4c41-1be0-e0554cc9899b}">
          <p14:sldIdLst>
            <p14:sldId id="275"/>
          </p14:sldIdLst>
        </p14:section>
        <p14:section name="Quiz de sortie" id="{8c7c5ba2-86cc-77fb-c3e8-771364c3de94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Annexes" id="{c18e426f-d019-85f0-aa4f-d4c5e2f01d1f}">
          <p14:sldIdLst>
            <p14:sldId id="283"/>
          </p14:sldIdLst>
        </p14:section>
        <p14:section name="Clôture" id="{6a1a51b1-1cda-56df-0232-ec22e1d798f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IT : à l’aise avec Python et pandas. Aucune formule : on s’appuie sur l’intuition et sur le code. Vérifier avant la séance que chacun peut ouvrir Google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feuille de route des six modules. Insister sur le fait que les bases vues aujourd’hui reviennent dans chacun d’eux.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 rouge du module et du TP. Revenir sur cette slide à chaque étape.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la démonstration en direct dans un terminal. Demander aux participants de deviner le résultat de a == b avant de l’exécuter.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fuite de données : c’est l’erreur la plus fréquente chez les débutants et elle gonfle artificiellement les résultats.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7 du notebook. Préciser que les chiffres peuvent varier légèrement selon la version des bibliothèques.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détailler chaque outil : il s’agit de cartographier ce que les participants verront dans les prochains modules. Ajuster la ligne Airflow si votre équipe utilise un autre orchestrateur.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Distribuer le lien Colab. Vérifier que chacun peut exécuter la première cellule. Prévoir un temps de bilan et de discussion sur les phrases pièges.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1 · Fondamentaux du NLP  ·  Version 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1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Fondamentaux du NLP : du texte brut à la décision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IT : pipeline, représentations, évaluation, TP notebook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65176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Partie 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Concepts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Pipeline NLP, normalisation, tokenisation, représentations, classification, évaluation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ode" descr="Fa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0080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Partie 2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TP notebook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Un classifieur de messages d’usagers, de zéro, sur Google Colab (7 exercices)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14984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Partie 3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Quiz de sortie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10 questions, seuil de réussite de 8 sur 10, corrigé en commun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construire un pipeline NLP minimal : normalisation, tokenisation, vectorisation, classification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évaluer un modèle de texte honnêtement et lire précision, rappel et erreurs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expliquer les limites du sac de mots, qui motivent les embeddings du module 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NLP en production : des tâches, un même socle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Tous ces cas partent du même socle : transformer du texte en représentations que la machine sait manipuler. Ce module pose ce socle.</a:t>
            </a:r>
            <a:endParaRPr lang="en-US" sz="17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2093976" cy="301752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SortAmountDown" descr="FaSortAmount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548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449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Classification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10712"/>
            <a:ext cx="1728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Trier des messages, détecter le spam, analyser un sentiment. C’est l’objet de ce module.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2798064" y="2240280"/>
            <a:ext cx="2093976" cy="301752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2980944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674" y="2548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80944" y="30449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Extraction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80944" y="3410712"/>
            <a:ext cx="1728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Repérer des entités : noms, dates, maladies (module 4, NER clinique).</a:t>
            </a:r>
            <a:endParaRPr lang="en-US" sz="1350" dirty="0"/>
          </a:p>
        </p:txBody>
      </p:sp>
      <p:sp>
        <p:nvSpPr>
          <p:cNvPr id="15" name="Carte"/>
          <p:cNvSpPr/>
          <p:nvPr/>
        </p:nvSpPr>
        <p:spPr>
          <a:xfrm>
            <a:off x="5047488" y="2240280"/>
            <a:ext cx="2093976" cy="301752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5230368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FaLanguage" descr="FaLang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098" y="25488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30368" y="30449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Génération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30368" y="3410712"/>
            <a:ext cx="1728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Traduire, résumer, rédiger : modèles Transformers (modules 2 et 3).</a:t>
            </a:r>
            <a:endParaRPr lang="en-US" sz="1350" dirty="0"/>
          </a:p>
        </p:txBody>
      </p:sp>
      <p:sp>
        <p:nvSpPr>
          <p:cNvPr id="20" name="Carte"/>
          <p:cNvSpPr/>
          <p:nvPr/>
        </p:nvSpPr>
        <p:spPr>
          <a:xfrm>
            <a:off x="7296912" y="2240280"/>
            <a:ext cx="2093976" cy="301752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479792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ône FaCommentDots" descr="FaCommentDo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522" y="25488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79792" y="30449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Interrogation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479792" y="3410712"/>
            <a:ext cx="1728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Questions sur des documents : recherche augmentée, RAG (module 5).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9546336" y="2240280"/>
            <a:ext cx="2093976" cy="301752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9729216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ône FaDatabase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4946" y="25488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729216" y="30449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Pipelines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9729216" y="3410712"/>
            <a:ext cx="1728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Collecter, nettoyer, versionner les textes en continu (module 6).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Pourquoi le langage est difficile pour une machine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10896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QuestionCircle" descr="FaQuestion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Ambiguïté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avocat » : fruit ou métier. Sans contexte, un sac de mots ne distingue pas.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310896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pellCheck" descr="FaSpell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Variantes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Fautes, abréviations, accents omis, casse : un même mot prend plusieurs formes.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310896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ode" descr="Fa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Encodage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même lettre peut avoir plusieurs encodages Unicode : égalité de chaînes trompeuse.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310896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GlobeAfrica" descr="FaGlobeAfri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Langues peu dotées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Peu de corpus numérisés, graphies non stabilisées, lettres spéciales (ɖ, ɛ, ɔ, ŋ), peu d’outils prêts à l’emploi.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ces difficultés ne sont pas théoriques : elles expliquent la plupart des erreurs que nous allons observer dans le TP.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pipeline NLP minimal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Chaque étape transforme la sortie de la précédente. Une erreur en amont se propage jusqu’à la décision.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103120"/>
            <a:ext cx="1581912" cy="2926080"/>
          </a:xfrm>
          <a:prstGeom prst="roundRect">
            <a:avLst>
              <a:gd name="adj" fmla="val 46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065276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FileAlt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2423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971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Texte brut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429000"/>
            <a:ext cx="1362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Messages, documents, transcriptions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130552" y="3291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450592" y="2103120"/>
            <a:ext cx="1581912" cy="2926080"/>
          </a:xfrm>
          <a:prstGeom prst="roundRect">
            <a:avLst>
              <a:gd name="adj" fmla="val 46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2967228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Broom" descr="FaBro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88" y="24231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542032" y="2971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Normalisation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3429000"/>
            <a:ext cx="1362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Unicode, casse, ponctuation, bruit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032504" y="3291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4352544" y="2103120"/>
            <a:ext cx="1581912" cy="2926080"/>
          </a:xfrm>
          <a:prstGeom prst="roundRect">
            <a:avLst>
              <a:gd name="adj" fmla="val 46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486918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Cut" descr="FaCu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24231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443984" y="2971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Tokenisation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4462272" y="3429000"/>
            <a:ext cx="1362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Mots, sous-mots ou caractères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934456" y="3291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6254496" y="2103120"/>
            <a:ext cx="1581912" cy="2926080"/>
          </a:xfrm>
          <a:prstGeom prst="roundRect">
            <a:avLst>
              <a:gd name="adj" fmla="val 46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6771132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Calculator" descr="FaCalcula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292" y="242316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345936" y="2971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Vectorisation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6364224" y="3429000"/>
            <a:ext cx="1362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Sac de mots, TF-IDF, n-grammes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836408" y="3291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8156448" y="2103120"/>
            <a:ext cx="1581912" cy="2926080"/>
          </a:xfrm>
          <a:prstGeom prst="roundRect">
            <a:avLst>
              <a:gd name="adj" fmla="val 46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673084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Cogs" descr="FaCog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244" y="242316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247888" y="2971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Modèle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8266176" y="3429000"/>
            <a:ext cx="1362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Classifieur entraîné sur exemples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738360" y="3291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35" name="Carte"/>
          <p:cNvSpPr/>
          <p:nvPr/>
        </p:nvSpPr>
        <p:spPr>
          <a:xfrm>
            <a:off x="10058400" y="2103120"/>
            <a:ext cx="1581912" cy="2926080"/>
          </a:xfrm>
          <a:prstGeom prst="roundRect">
            <a:avLst>
              <a:gd name="adj" fmla="val 46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astille"/>
          <p:cNvSpPr/>
          <p:nvPr/>
        </p:nvSpPr>
        <p:spPr>
          <a:xfrm>
            <a:off x="10575036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Icône FaChartBar" descr="FaChartB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2196" y="2423160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149840" y="2971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Évaluation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10168128" y="3429000"/>
            <a:ext cx="1362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Précision, rappel, analyse des erreurs</a:t>
            </a:r>
            <a:endParaRPr lang="en-US" sz="1200" dirty="0"/>
          </a:p>
        </p:txBody>
      </p:sp>
      <p:sp>
        <p:nvSpPr>
          <p:cNvPr id="40" name="À retenir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6" descr="À reteni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509260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37160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dans le TP, vous écrirez chaque maillon. Dans les modules suivants, certains seront remplacés par des composants plus puissants (embeddings, Transformers), mais la structure reste la même.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Normalisation : un piège Unicode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"é"            # 1 caractère (U+00E9)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"e\u0301"      # « e » + accent combinant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b             # False  (alors qu'ils s'affichent pareil)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len(a), len(b)     # (1, 2)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unicodedata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= unicodedata.normalize("NFC", a)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 = unicodedata.normalize("NFC", b)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== nb           # True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 = unicodedata.normalize("NFC", texte).lower()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qu’il faut retenir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NFC compose les caractères : une seule représentation par lettre.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À appliquer </a:t>
            </a:r>
            <a:r>
              <a:rPr lang="en-US" sz="1450" b="1" dirty="0">
                <a:solidFill>
                  <a:schemeClr val="tx1"/>
                </a:solidFill>
              </a:rPr>
              <a:t>en premier</a:t>
            </a:r>
            <a:r>
              <a:rPr lang="en-US" sz="1450" dirty="0">
                <a:solidFill>
                  <a:schemeClr val="tx1"/>
                </a:solidFill>
              </a:rPr>
              <a:t>, avant minuscules, découpage ou comptage.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Indispensable pour les graphies avec lettres spéciales (ɖ, ɛ, ɔ, ŋ…) : un même mot peut sinon exister sous deux formes dans le vocabulaire.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Piège classique : deux « mêmes » mots qui ne se comparent pas.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Tokenisation : trois niveaux de découpage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phrase = "L'infirmière m'a demandé une ordonnance."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Aux espaces : simple, mais imparfait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phrase.split()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["L'infirmière", "m'a", ..., "ordonnance."]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Expression régulière : suites de lettres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re.findall(r"\w+", phrase)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["L", "infirmière", "m", "a", ..., "ordonnance"]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Sous-mots / caractères : robustes aux mots inconnus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TfidfVectorizer(analyzer="char_wb", ngram_range=(3, 5))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Choisir son découpage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Mots</a:t>
            </a:r>
            <a:r>
              <a:rPr lang="en-US" sz="1400" dirty="0">
                <a:solidFill>
                  <a:schemeClr val="tx1"/>
                </a:solidFill>
              </a:rPr>
              <a:t> : lisible, mais un mot inconnu ou fauté est perdu.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Sous-mots</a:t>
            </a:r>
            <a:r>
              <a:rPr lang="en-US" sz="1400" dirty="0">
                <a:solidFill>
                  <a:schemeClr val="tx1"/>
                </a:solidFill>
              </a:rPr>
              <a:t> (BPE, WordPiece) : utilisés par les Transformers, ils découpent les mots rares en morceaux connus. Ils reviennent au module 2.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Caractères / n-grammes</a:t>
            </a:r>
            <a:r>
              <a:rPr lang="en-US" sz="1400" dirty="0">
                <a:solidFill>
                  <a:schemeClr val="tx1"/>
                </a:solidFill>
              </a:rPr>
              <a:t> : très tolérants aux fautes et aux graphies variables.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choix dépend de la langue et du bruit des données.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Mots vides, lemmatisation, racinisation : en bref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ut" descr="Fa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qu’on fait souvent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Mots vides</a:t>
            </a:r>
            <a:r>
              <a:rPr lang="en-US" sz="1450" dirty="0">
                <a:solidFill>
                  <a:schemeClr val="tx1"/>
                </a:solidFill>
              </a:rPr>
              <a:t> (le, de, un…) : retirés pour alléger et se concentrer sur les mots porteurs de sens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Lemmatisation</a:t>
            </a:r>
            <a:r>
              <a:rPr lang="en-US" sz="1450" dirty="0">
                <a:solidFill>
                  <a:schemeClr val="tx1"/>
                </a:solidFill>
              </a:rPr>
              <a:t> : ramener « mangeons », « mangé » à « manger »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Racinisation</a:t>
            </a:r>
            <a:r>
              <a:rPr lang="en-US" sz="1450" dirty="0">
                <a:solidFill>
                  <a:schemeClr val="tx1"/>
                </a:solidFill>
              </a:rPr>
              <a:t> : couper les terminaisons, de façon plus brutale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Lightbulb" descr="Fa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qu’il faut garder en tête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Une liste de mots vides </a:t>
            </a:r>
            <a:r>
              <a:rPr lang="en-US" sz="1450" b="1" dirty="0">
                <a:solidFill>
                  <a:schemeClr val="tx1"/>
                </a:solidFill>
              </a:rPr>
              <a:t>dépend du corpus</a:t>
            </a:r>
            <a:r>
              <a:rPr lang="en-US" sz="1450" dirty="0">
                <a:solidFill>
                  <a:schemeClr val="tx1"/>
                </a:solidFill>
              </a:rPr>
              <a:t> : « enfant » est vide dans notre 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Pour les langues locales, les lemmatiseurs prêts à l’emploi n’existent souvent pas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Avec les modèles modernes (modules 2 et 3), ces étapes deviennent souvent inutiles : le modèle apprend lui-même</a:t>
            </a:r>
            <a:endParaRPr lang="en-US" sz="145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ces prétraitements sont des choix, pas des obligations : mesurez toujours leur effet sur votre jeu de test.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Sac de mots : du texte à une matrice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CountVectorizer(tokenizer=nettoyer,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lowercase=False, token_pattern=None)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cv.fit_transform(messages)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X.shape                  # (72, 221)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cv.get_feature_names_out()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['acte', 'fièvre', 'médecin', 'naissance', ...]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pd.DataFrame(X.toarray(),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columns=cv.get_feature_names_out())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Une </a:t>
            </a:r>
            <a:r>
              <a:rPr lang="en-US" sz="1450" b="1" dirty="0">
                <a:solidFill>
                  <a:schemeClr val="tx1"/>
                </a:solidFill>
              </a:rPr>
              <a:t>ligne</a:t>
            </a:r>
            <a:r>
              <a:rPr lang="en-US" sz="1450" dirty="0">
                <a:solidFill>
                  <a:schemeClr val="tx1"/>
                </a:solidFill>
              </a:rPr>
              <a:t> par document, une </a:t>
            </a:r>
            <a:r>
              <a:rPr lang="en-US" sz="1450" b="1" dirty="0">
                <a:solidFill>
                  <a:schemeClr val="tx1"/>
                </a:solidFill>
              </a:rPr>
              <a:t>colonne</a:t>
            </a:r>
            <a:r>
              <a:rPr lang="en-US" sz="1450" dirty="0">
                <a:solidFill>
                  <a:schemeClr val="tx1"/>
                </a:solidFill>
              </a:rPr>
              <a:t> par mot du vocabulaire.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Chaque case compte les occurrences : l’</a:t>
            </a:r>
            <a:r>
              <a:rPr lang="en-US" sz="1450" b="1" dirty="0">
                <a:solidFill>
                  <a:schemeClr val="tx1"/>
                </a:solidFill>
              </a:rPr>
              <a:t>ordre est perdu</a:t>
            </a:r>
            <a:r>
              <a:rPr lang="en-US" sz="1450" dirty="0">
                <a:solidFill>
                  <a:schemeClr val="tx1"/>
                </a:solidFill>
              </a:rPr>
              <a:t>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Matrice très creuse : scikit-learn utilise un format compressé.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Le vocabulaire est appris sur l’entraînement </a:t>
            </a:r>
            <a:r>
              <a:rPr lang="en-US" sz="1450" b="1" dirty="0">
                <a:solidFill>
                  <a:schemeClr val="tx1"/>
                </a:solidFill>
              </a:rPr>
              <a:t>uniquement</a:t>
            </a:r>
            <a:r>
              <a:rPr lang="en-US" sz="1450" dirty="0">
                <a:solidFill>
                  <a:schemeClr val="tx1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TF-IDF : valoriser les mots qui distinguent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 = TfidfVectorizer(tokenizer=nettoyer,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lowercase=False, token_pattern=None)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tfidf.fit_transform(df["message"])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 = tfidf.get_feature_names_out()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cat in ["sante", "etat_civil", "education"]: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lignes = (df["categorie"] == cat).values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poids = X[lignes].mean(axis=0).A1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 = poids.argsort()[::-1][:6]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print(cat, "→", ", ".join(vocab[top]))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Intuition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Idée</a:t>
            </a:r>
            <a:r>
              <a:rPr lang="en-US" sz="1400" dirty="0">
                <a:solidFill>
                  <a:schemeClr val="tx1"/>
                </a:solidFill>
              </a:rPr>
              <a:t> : un mot présent partout informe peu ; un mot ciblé informe beaucoup.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Deux ingrédients : fréquence </a:t>
            </a:r>
            <a:r>
              <a:rPr lang="en-US" sz="1400" b="1" dirty="0">
                <a:solidFill>
                  <a:schemeClr val="tx1"/>
                </a:solidFill>
              </a:rPr>
              <a:t>dans le document</a:t>
            </a:r>
            <a:r>
              <a:rPr lang="en-US" sz="1400" dirty="0">
                <a:solidFill>
                  <a:schemeClr val="tx1"/>
                </a:solidFill>
              </a:rPr>
              <a:t>, rareté </a:t>
            </a:r>
            <a:r>
              <a:rPr lang="en-US" sz="1400" b="1" dirty="0">
                <a:solidFill>
                  <a:schemeClr val="tx1"/>
                </a:solidFill>
              </a:rPr>
              <a:t>dans le corpus</a:t>
            </a:r>
            <a:r>
              <a:rPr lang="en-US" sz="1400" dirty="0">
                <a:solidFill>
                  <a:schemeClr val="tx1"/>
                </a:solidFill>
              </a:rPr>
              <a:t>. Pas besoin de formule pour s’en servir.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Résultat dans le TP : santé → santé → « santé, consultation, hôpital… » ; état civil → « acte, naissance, mairie… »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Lecture des mots en tête = premier contrôle de bon sens.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Classifier : entraîner, puis évaluer sur du neuf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df["message"], df["categorie"],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test_size=0.25, stratify=df["categorie"],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 = make_pipeline(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TfidfVectorizer(tokenizer=nettoyer, lowercase=False,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token_pattern=None),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LogisticRegression(max_iter=1000))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modele.fit(X_train, y_train)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accuracy_score(y_test, modele.predict(X_test))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Bonnes pratiques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Pipeline scikit-learn</a:t>
            </a:r>
            <a:r>
              <a:rPr lang="en-US" sz="1400" dirty="0">
                <a:solidFill>
                  <a:schemeClr val="tx1"/>
                </a:solidFill>
              </a:rPr>
              <a:t> : vectoriseur + modèle, appris ensemble.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stratify</a:t>
            </a:r>
            <a:r>
              <a:rPr lang="en-US" sz="1400" dirty="0">
                <a:solidFill>
                  <a:schemeClr val="tx1"/>
                </a:solidFill>
              </a:rPr>
              <a:t> : garde les proportions de catégories dans les deux jeux.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random_state</a:t>
            </a:r>
            <a:r>
              <a:rPr lang="en-US" sz="1400" dirty="0">
                <a:solidFill>
                  <a:schemeClr val="tx1"/>
                </a:solidFill>
              </a:rPr>
              <a:t> : reproductibilité, indispensable en formation et en production.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Ne jamais</a:t>
            </a:r>
            <a:r>
              <a:rPr lang="en-US" sz="1400" dirty="0">
                <a:solidFill>
                  <a:schemeClr val="tx1"/>
                </a:solidFill>
              </a:rPr>
              <a:t> ajuster le vectoriseur sur les données de test (fuite de données).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Évaluer : lire un rapport de classification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graphicFrame>
        <p:nvGraphicFramePr>
          <p:cNvPr id="13" name="Rappo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Catégorie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précision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rappel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support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education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1,00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1,00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etat_civil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0,86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1,00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sante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1,00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0,83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49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6"/>
                </a:solidFill>
              </a:rPr>
              <a:t>Résultats du TP sur 18 messages de test.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6537960" y="1463040"/>
            <a:ext cx="510235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astille"/>
          <p:cNvSpPr/>
          <p:nvPr/>
        </p:nvSpPr>
        <p:spPr>
          <a:xfrm>
            <a:off x="6720840" y="176479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Bell" descr="FaB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9430" y="1913382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9808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Précision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19202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Quand le modèle annonce « santé », a-t-il raison ? Évite les fausses alertes.</a:t>
            </a:r>
            <a:endParaRPr lang="en-US" sz="1300" dirty="0"/>
          </a:p>
        </p:txBody>
      </p:sp>
      <p:sp>
        <p:nvSpPr>
          <p:cNvPr id="11" name="Carte"/>
          <p:cNvSpPr/>
          <p:nvPr/>
        </p:nvSpPr>
        <p:spPr>
          <a:xfrm>
            <a:off x="6537960" y="2761488"/>
            <a:ext cx="5102352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6720840" y="30632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Eye" descr="Fa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430" y="321183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2852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Rappel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0" y="321868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Sur tous les vrais messages « santé », combien en retrouve-t-il ? Évite les oublis.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6537960" y="4059936"/>
            <a:ext cx="510235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720840" y="4361688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artBar" descr="FaChartB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430" y="4510278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98080" y="4151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Taux de bonnes réponses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498080" y="451713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Part globale de messages bien classés. Trompeur si les catégories sont déséquilibrées.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42062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Avec 18 exemples de test, un seul message de plus ou de moins change les chiffres de plusieurs points : méfiez-vous des écarts fins.</a:t>
            </a:r>
            <a:endParaRPr lang="en-US" sz="1450" dirty="0"/>
          </a:p>
        </p:txBody>
      </p:sp>
      <p:sp>
        <p:nvSpPr>
          <p:cNvPr id="22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mage 3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on lit toujours les erreurs, pas seulement la note : les messages mal classés disent quoi améliorer (données, catégories ou modèle).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Trois pièges classiques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ug" descr="Fa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Fuite de données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Ajuster vocabulaire, TF-IDF ou seuils sur le jeu de test : la note devient mensongère.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alanceScale" descr="Fa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Classes déséquilibrées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95 % de « spam » : un modèle qui répond toujours « spam » a 95 % de bonnes réponses. Regardez précision et rappel par classe.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Eye" descr="Fa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Surapprentissage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99 % à l’entraînement, 70 % au test : le modèle a mémorisé au lieu de généraliser.</a:t>
            </a:r>
            <a:endParaRPr lang="en-US" sz="1450" dirty="0"/>
          </a:p>
        </p:txBody>
      </p:sp>
      <p:sp>
        <p:nvSpPr>
          <p:cNvPr id="19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avec peu de données, validez par plusieurs découpages (validation croisée) plutôt que par un seul test.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Robustesse : mots entiers ou morceaux de lettres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modele_morceaux = make_pipeline(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TfidfVectorizer(analyzer="char_wb",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ngram_range=(3, 5)),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LogisticRegression(max_iter=1000))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Résultats du TP (moyenne sur 30 essais d'abîmage)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    propre   abîmé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Mots entiers          0,94     0,67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Morceaux de lettres   0,83     0,79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que montre le TP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Texte propre : les mots entiers sont aussi bons, voire meilleurs.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Texte abîmé (fautes, accents manquants) : les mots entiers chutent nettement, les morceaux de lettres restent exploitables.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C’est la raison d’être des </a:t>
            </a:r>
            <a:r>
              <a:rPr lang="en-US" sz="1400" b="1" dirty="0">
                <a:solidFill>
                  <a:schemeClr val="tx1"/>
                </a:solidFill>
              </a:rPr>
              <a:t>sous-mots</a:t>
            </a:r>
            <a:r>
              <a:rPr lang="en-US" sz="1400" dirty="0">
                <a:solidFill>
                  <a:schemeClr val="tx1"/>
                </a:solidFill>
              </a:rPr>
              <a:t> des Transformers.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Pour les langues peu dotées et les saisies bruitées, ce choix compte beaucoup.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limites du sac de mots : pourquoi aller plus loin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ortAmountDown" descr="FaSortAmount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Ordre perdu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le chien mord l’homme » et « l’homme mord le chien » donnent le même sac.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QuestionCircle" descr="FaQuestion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Sens absent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docteur » et « médecin » sont deux colonnes sans lien. Un synonyme jamais vu est invisible.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Database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Besoin d’exemples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faut beaucoup de messages étiquetés pour couvrir le vocabulaire.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Language" descr="FaLangu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Une langue à la fois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Chaque langue demande son nettoyage et son vocabulaire.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module 2 : les embeddings représentent le sens et le contexte, et les Transformers lisent la phrase entière.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outils que vous allez rencontrer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graphicFrame>
        <p:nvGraphicFramePr>
          <p:cNvPr id="17" name="Outil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669280"/>
                <a:gridCol w="2496312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Outil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Où on le retrouve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1"/>
                          </a:solidFill>
                        </a:rPr>
                        <a:t>scikit-learn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Vectorisation, modèles classiques, évaluation. Utilisé dans ce TP.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Module 1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1"/>
                          </a:solidFill>
                        </a:rPr>
                        <a:t>pandas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Manipuler les corpus et les résultats.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Tous les modules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1"/>
                          </a:solidFill>
                        </a:rPr>
                        <a:t>spaCy / NLTK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Tokenisation, lemmatisation, étiquetage, en plusieurs langues.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Modules 1 et 4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1"/>
                          </a:solidFill>
                        </a:rPr>
                        <a:t>Hugging Face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Modèles pré-entraînés, tokenizers, entraînement et partage.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Modules 2 et 3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1"/>
                          </a:solidFill>
                        </a:rPr>
                        <a:t>Tesseract / OCR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Extraire le texte d’images et de documents numérisés.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Module 4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1"/>
                          </a:solidFill>
                        </a:rPr>
                        <a:t>Airflow / outils de pipelines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Automatiser la collecte, le nettoyage et la mise à jour des données.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Module 6</a:t>
                      </a:r>
                      <a:endParaRPr lang="en-US" sz="14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Données et responsabilité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Pseudonymiser ou anonymiser avant tout traitement de messages réels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Envoyer des textes d’usagers vers une API externe sans cadre ni protection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Journaliser les versions des données et des modèles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Réentraîner sans garder trace du jeu de données utilisé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Évaluer par catégorie et par type de texte (propre, abîmé, langues locales)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contenter d’une seule note globale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Prévoir une sortie « incertain » et une relecture humaine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Automatiser des décisions engageant les droits des usagers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TP : un classifieur de messages d’usagers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Google Colab, aucune installation. 72 messages fictifs, trois catégories : santé, état civil, éducation.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57400"/>
            <a:ext cx="265176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éro 1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Explorer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Afficher des messages par catégorie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3355848" y="2057400"/>
            <a:ext cx="2651760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3538728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éro 2"/>
          <p:cNvSpPr txBox="1"/>
          <p:nvPr/>
        </p:nvSpPr>
        <p:spPr>
          <a:xfrm>
            <a:off x="353872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33088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Découper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Compter les tokens d’un message</a:t>
            </a:r>
            <a:endParaRPr lang="en-US" sz="1350" dirty="0"/>
          </a:p>
        </p:txBody>
      </p:sp>
      <p:sp>
        <p:nvSpPr>
          <p:cNvPr id="15" name="Carte"/>
          <p:cNvSpPr/>
          <p:nvPr/>
        </p:nvSpPr>
        <p:spPr>
          <a:xfrm>
            <a:off x="6163056" y="2057400"/>
            <a:ext cx="265176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6345936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634593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0296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Nettoyer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Normalisation et mots vides</a:t>
            </a:r>
            <a:endParaRPr lang="en-US" sz="1350" dirty="0"/>
          </a:p>
        </p:txBody>
      </p:sp>
      <p:sp>
        <p:nvSpPr>
          <p:cNvPr id="20" name="Carte"/>
          <p:cNvSpPr/>
          <p:nvPr/>
        </p:nvSpPr>
        <p:spPr>
          <a:xfrm>
            <a:off x="8970264" y="2057400"/>
            <a:ext cx="2651760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9153144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915314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47504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Compter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53144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Mots fréquents par catégorie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548640" y="3703320"/>
            <a:ext cx="265176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Vectoriser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80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Sac de mots du corpus entier</a:t>
            </a:r>
            <a:endParaRPr lang="en-US" sz="1350" dirty="0"/>
          </a:p>
        </p:txBody>
      </p:sp>
      <p:sp>
        <p:nvSpPr>
          <p:cNvPr id="30" name="Carte"/>
          <p:cNvSpPr/>
          <p:nvPr/>
        </p:nvSpPr>
        <p:spPr>
          <a:xfrm>
            <a:off x="3355848" y="3703320"/>
            <a:ext cx="2651760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Pastille"/>
          <p:cNvSpPr/>
          <p:nvPr/>
        </p:nvSpPr>
        <p:spPr>
          <a:xfrm>
            <a:off x="3538728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Numéro 6"/>
          <p:cNvSpPr txBox="1"/>
          <p:nvPr/>
        </p:nvSpPr>
        <p:spPr>
          <a:xfrm>
            <a:off x="353872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133088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Prédire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538728" y="4480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Classer de nouveaux messages</a:t>
            </a:r>
            <a:endParaRPr lang="en-US" sz="1350" dirty="0"/>
          </a:p>
        </p:txBody>
      </p:sp>
      <p:sp>
        <p:nvSpPr>
          <p:cNvPr id="35" name="Carte"/>
          <p:cNvSpPr/>
          <p:nvPr/>
        </p:nvSpPr>
        <p:spPr>
          <a:xfrm>
            <a:off x="6163056" y="3703320"/>
            <a:ext cx="265176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astille"/>
          <p:cNvSpPr/>
          <p:nvPr/>
        </p:nvSpPr>
        <p:spPr>
          <a:xfrm>
            <a:off x="6345936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Numéro 7"/>
          <p:cNvSpPr txBox="1"/>
          <p:nvPr/>
        </p:nvSpPr>
        <p:spPr>
          <a:xfrm>
            <a:off x="6345936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40296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Défi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345936" y="4480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Comparer mots entiers et morceaux de lettres</a:t>
            </a:r>
            <a:endParaRPr lang="en-US" sz="1350" dirty="0"/>
          </a:p>
        </p:txBody>
      </p:sp>
      <p:sp>
        <p:nvSpPr>
          <p:cNvPr id="40" name="À retenir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32120"/>
            <a:ext cx="365760" cy="36576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travail en binôme recommandé. Les cellules « À vous » contiennent des ____ à remplacer ; le formateur dispose d’une version corrigée. Bilan et discussion en fin de séance.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Démarrer le TP sur Google Colab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Pastille"/>
          <p:cNvSpPr/>
          <p:nvPr/>
        </p:nvSpPr>
        <p:spPr>
          <a:xfrm>
            <a:off x="548640" y="14996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548640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Ouvrir le lien du notebook fourni par le formateur (ou importer le fichier .ipynb dans Colab).</a:t>
            </a:r>
            <a:endParaRPr lang="en-US" sz="1500" dirty="0"/>
          </a:p>
        </p:txBody>
      </p:sp>
      <p:sp>
        <p:nvSpPr>
          <p:cNvPr id="7" name="Pastille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éro 2"/>
          <p:cNvSpPr txBox="1"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77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Menu « Fichier » &gt; « Enregistrer une copie dans Drive » pour travailler sur votre exemplaire.</a:t>
            </a:r>
            <a:endParaRPr lang="en-US" sz="1500" dirty="0"/>
          </a:p>
        </p:txBody>
      </p:sp>
      <p:sp>
        <p:nvSpPr>
          <p:cNvPr id="10" name="Pastille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éro 3"/>
          <p:cNvSpPr txBox="1"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91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Exécuter chaque cellule avec Maj + Entrée, </a:t>
            </a:r>
            <a:r>
              <a:rPr lang="en-US" sz="1500" b="1" dirty="0">
                <a:solidFill>
                  <a:schemeClr val="tx1"/>
                </a:solidFill>
              </a:rPr>
              <a:t>dans l’ordre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Pastille"/>
          <p:cNvSpPr/>
          <p:nvPr/>
        </p:nvSpPr>
        <p:spPr>
          <a:xfrm>
            <a:off x="548640" y="42428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4"/>
          <p:cNvSpPr txBox="1"/>
          <p:nvPr/>
        </p:nvSpPr>
        <p:spPr>
          <a:xfrm>
            <a:off x="54864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06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Remplacer les ____ des cellules « À vous », puis exécuter.</a:t>
            </a:r>
            <a:endParaRPr lang="en-US" sz="1500" dirty="0"/>
          </a:p>
        </p:txBody>
      </p:sp>
      <p:sp>
        <p:nvSpPr>
          <p:cNvPr id="16" name="Pastille"/>
          <p:cNvSpPr/>
          <p:nvPr/>
        </p:nvSpPr>
        <p:spPr>
          <a:xfrm>
            <a:off x="548640" y="51572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5"/>
          <p:cNvSpPr txBox="1"/>
          <p:nvPr/>
        </p:nvSpPr>
        <p:spPr>
          <a:xfrm>
            <a:off x="54864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120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cas d’erreur : lire la dernière ligne du message, elle indique la cause.</a:t>
            </a:r>
            <a:endParaRPr lang="en-US" sz="1500" dirty="0"/>
          </a:p>
        </p:txBody>
      </p:sp>
      <p:sp>
        <p:nvSpPr>
          <p:cNvPr id="19" name="Carte"/>
          <p:cNvSpPr/>
          <p:nvPr/>
        </p:nvSpPr>
        <p:spPr>
          <a:xfrm>
            <a:off x="7315200" y="1463040"/>
            <a:ext cx="4325112" cy="4480560"/>
          </a:xfrm>
          <a:prstGeom prst="roundRect">
            <a:avLst>
              <a:gd name="adj" fmla="val 16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543800" y="1691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ud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390" y="1840230"/>
            <a:ext cx="297180" cy="2971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32104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À savoir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2514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compte Google est nécessaire.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cellules exécutées gardent leur mémoire : si tout se bloque, « Exécution » &gt; « Redémarrer la session ».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données sont fictives : rien à protéger, mais gardez la bonne habitude.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Aucun GPU requis pour ce module.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1  ·  FONDAMENTAUX DU NLP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ode" descr="Fa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Normaliser en premier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NFC, casse, ponctuation : avant tout comptage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ut" descr="FaC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Choisir son découpage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Mots, sous-mots ou caractères selon le bruit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alculator" descr="FaCalcula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Vectoriser sans perdre le sens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Sac de mots et TF-IDF : simples, mais limités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ipboardCheck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Tester sur du neuf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Jamais sur les données d’entraînement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artBar" descr="FaChartB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Lire les erreurs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La note ne suffit pas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hield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Protéger les données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Pseudonymiser, journaliser, relire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signifie « NLP », ou « TAL » en français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Nouveau Langage de Programmation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Traitement Automatique des Langues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Transfert Automatique de Ligne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Traducteur Anglais-Local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opération rend identiques un « é » en un seul caractère et un « e » suivi d’un accent combinant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str.lower()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str.strip()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re.sub("é", "e", texte)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unicodedata.normalize("NFC", texte)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produit un CountVectorizer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Une matrice : une ligne par document, une colonne par mot du vocabulaire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modèle entraîné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Une liste de synonymes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Une traduction du texte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TF-IDF donne un poids plus fort aux mots qui sont…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Présents dans tous les documents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Les plus longs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Fréquents dans un document mais rares dans le corpus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Placés en début de phrase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À quoi sert train_test_split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À accélérer l’entraînement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À réserver des données jamais vues pour évaluer le modèle honnêtement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À séparer les mots d’une phrase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À équilibrer les catégories automatiquement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 la catégorie « santé », le rappel (recall) mesure…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La part des vrais messages « santé » que le modèle a retrouvés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La part des annonces « santé » qui sont justes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La vitesse de prédiction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nombre total de messages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des n-grammes de caractères (3 à 5 lettres) résistent-ils mieux aux fautes de frappe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Ils corrigent l’orthographe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Ils ignorent les accents uniquement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Ils sont plus rapides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mot fautif partage encore la plupart de ses morceaux avec le mot correct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limite majeure du sac de mots justifie le passage aux embeddings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 est trop lent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ne marche qu’en anglais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 ignore l’ordre et le sens : « avocat » (fruit) et « avocat » (métier) se confondent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Il demande un GPU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modèle obtient 99 % sur les données d’entraînement et 70 % sur le test. Que suspecter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sous-apprentissage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surapprentissage : il a mémorisé les exemples au lieu de généraliser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Une bonne généralisation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Une erreur d’affichage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Vous voulez envoyer des messages d’usagers vers une API externe. Quelle précaution est indispensable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Aucune si l’API est gratuite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Les mettre en majuscules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Les compresser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Pseudonymiser ou anonymiser les données personnelles et vérifier le cadre légal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Traitement Automatique des Langues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NLP (TAL) regroupe les techniques qui permettent à une machine de traiter du texte et de la parole.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unicodedata.normalize("NFC", texte)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normalisation Unicode (NFC) unifie les deux encodages. C’est capital pour les langues aux lettres spéciales (ɖ, ɛ, ɔ, ŋ…).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Une matrice : une ligne par document, une colonne par mot du vocabulaire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Chaque case contient le nombre d’occurrences du mot dans le document : c’est le sac de mots.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Fréquents dans un document mais rares dans le corpus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mot ciblé distingue mieux les documents qu’un mot omniprésent.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À réserver des données jamais vues pour évaluer le modèle honnêtement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Évaluer sur les données d’entraînement donnerait un résultat trompeur (fuite de données).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La part des vrais messages « santé » que le modèle a retrouvés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rappel évite les oublis ; la précision évite les fausses alertes.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Un mot fautif partage encore la plupart de ses morceaux avec le mot correct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medecin » et « mdecin » ont beaucoup de morceaux en commun, contrairement à deux mots entiers différents.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Il ignore l’ordre et le sens : « avocat » (fruit) et « avocat » (métier) se confondent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embeddings, vus au module 2, représentent le sens et le contexte des mots.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Un surapprentissage : il a mémorisé les exemples au lieu de généraliser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grand écart entre entraînement et test signale que le modèle a « appris par cœur ».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Pseudonymiser ou anonymiser les données personnelles et vérifier le cadre légal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Noms, numéros et informations de santé ne doivent pas quitter votre cadre sans protection.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Tokenisation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Découpage d’un texte en unités : mots, sous-mots ou caractères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Normalisation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Harmoniser Unicode, casse et ponctuation avant l’analyse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Sac de mots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Représentation par comptage des mots, sans leur ordre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TF-IDF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Pondération : fréquent dans un document, rare dans le corpus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n-gramme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Suite de n caractères ou de n mots consécutifs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Classifieur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Modèle qui range un texte dans une catégorie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Précision / rappel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Fausses alertes évitées / oublis évités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Surapprentissage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 modèle mémorise l’entraînement et généralise mal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Fuite de données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Information du test utilisée à l’entraînement : note faussée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Prochain module : Transformers et embeddings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Comment la machine capte le sens des mots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· Fondamentaux du NLP (IT)</dc:title>
  <dc:subject>PptxGenJS Presentation</dc:subject>
  <dc:creator>Togo AI Lab</dc:creator>
  <cp:lastModifiedBy>Togo AI Lab</cp:lastModifiedBy>
  <cp:revision>1</cp:revision>
  <dcterms:created xsi:type="dcterms:W3CDTF">2026-10-19T20:08:10Z</dcterms:created>
  <dcterms:modified xsi:type="dcterms:W3CDTF">2026-10-19T20:08:10Z</dcterms:modified>
</cp:coreProperties>
</file>