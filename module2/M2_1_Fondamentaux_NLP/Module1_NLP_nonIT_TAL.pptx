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ddec3867-a683-7491-68fd-9e2272b386da}">
          <p14:sldIdLst>
            <p14:sldId id="256"/>
            <p14:sldId id="257"/>
          </p14:sldIdLst>
        </p14:section>
        <p14:section name="Ouverture" id="{34d3d6a7-71a8-858f-9e0a-c499f9d60877}">
          <p14:sldIdLst/>
        </p14:section>
        <p14:section name="Introduction" id="{b4f07c16-5e94-f319-5de3-52edefe95c1e}">
          <p14:sldIdLst>
            <p14:sldId id="258"/>
            <p14:sldId id="259"/>
            <p14:sldId id="260"/>
            <p14:sldId id="261"/>
          </p14:sldIdLst>
        </p14:section>
        <p14:section name="Le chemin d’un texte" id="{2f66d68b-4502-f232-8103-467780d48dd9}">
          <p14:sldIdLst>
            <p14:sldId id="262"/>
            <p14:sldId id="263"/>
            <p14:sldId id="264"/>
            <p14:sldId id="265"/>
            <p14:sldId id="266"/>
            <p14:sldId id="267"/>
          </p14:sldIdLst>
        </p14:section>
        <p14:section name="Apprendre et mesurer" id="{3ea8c532-4ea9-aeb9-26b0-09154620d836}">
          <p14:sldIdLst>
            <p14:sldId id="268"/>
            <p14:sldId id="269"/>
            <p14:sldId id="270"/>
          </p14:sldIdLst>
        </p14:section>
        <p14:section name="Responsabilité" id="{59de4e2b-afa3-af76-71fe-8053d6466378}">
          <p14:sldIdLst>
            <p14:sldId id="271"/>
          </p14:sldIdLst>
        </p14:section>
        <p14:section name="Atelier" id="{0db7ec7d-d65f-afb5-6005-d88ee00f48b7}">
          <p14:sldIdLst>
            <p14:sldId id="272"/>
            <p14:sldId id="273"/>
          </p14:sldIdLst>
        </p14:section>
        <p14:section name="Conclusion" id="{ea94144e-b801-9f70-46a0-52e6b180b0e4}">
          <p14:sldIdLst>
            <p14:sldId id="274"/>
          </p14:sldIdLst>
        </p14:section>
        <p14:section name="Quiz de sortie" id="{8531c7d7-a1e0-eef5-e0ad-002b23ada1eb}">
          <p14:sldIdLst>
            <p14:sldId id="275"/>
            <p14:sldId id="276"/>
            <p14:sldId id="277"/>
            <p14:sldId id="278"/>
            <p14:sldId id="279"/>
            <p14:sldId id="280"/>
            <p14:sldId id="281"/>
          </p14:sldIdLst>
        </p14:section>
        <p14:section name="Annexes" id="{941f6d5d-b6ff-3575-7be2-0759da6fe37d}">
          <p14:sldIdLst>
            <p14:sldId id="282"/>
          </p14:sldIdLst>
        </p14:section>
        <p14:section name="Clôture" id="{1d8efa45-4e75-f1fa-f5b3-3a2d20023358}">
          <p14:sldIdLst>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le déroulé et la règle : ici, pas de formules ni de code. On apprend par des exemples et par un atelier à la main. Inviter les participants à poser des questions à tout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ACCROCHE. Laisser quelques minutes de discussion libre. Recueillir 3 ou 4 exemples au tableau : ils serviront de fil rouge.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la dernière phrase : toute la formation tourne autour de ce constat. Le jeu de mots TAL / Togo AI Lab détend l’ambiance.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Demander aux participants un exemple de phrase ambiguë en français ou dans une langue locale.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 rouge du module. Revenir sur cette slide avant chaque nouvelle étape en montrant l’étape concernée.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Lien avec l’atelier 1. Ne pas parler d’encodage informatique : dire simplement que la même lettre peut être écrite de deux façons selon le clavier.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découper la phrase à voix haute par les participants. Question : combien de cartes obtient-on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Préparer l’atelier 2 : c’est exactement la distinction que les groupes devront faire. Ne pas donner la réponse pour « enfant », laisser les groupes la découvrir.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citer de formule. Les mots « précision » et « rappel » seront donnés dans le glossaire, mais restent facultatifs pour ce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Distribuer les livrets et les cartes découpées. Former les groupes. Rappeler la règle du jeu. Le déroulé minute par minute est dans la partie formateur du livret.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tmp/claude-0/-home-claude/7eb70312-33b9-5800-bcbf-7d42fc26875c/scratchpad/ppt/assets/emblem.png">    </p:cNvPr>
          <p:cNvPicPr>
            <a:picLocks noChangeAspect="1"/>
          </p:cNvPicPr>
          <p:nvPr/>
        </p:nvPicPr>
        <p:blipFill>
          <a:blip r:embed="rId1"/>
          <a:stretch>
            <a:fillRect/>
          </a:stretch>
        </p:blipFill>
        <p:spPr>
          <a:xfrm>
            <a:off x="548640" y="6336792"/>
            <a:ext cx="283464" cy="411480"/>
          </a:xfrm>
          <a:prstGeom prst="rect">
            <a:avLst/>
          </a:prstGeom>
        </p:spPr>
      </p:pic>
      <p:sp>
        <p:nvSpPr>
          <p:cNvPr id="3" name="Text 0"/>
          <p:cNvSpPr txBox="1"/>
          <p:nvPr/>
        </p:nvSpPr>
        <p:spPr>
          <a:xfrm>
            <a:off x="96012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Togo AI Lab  ·  Formation IA  ·  Module 1 · Fondamentaux du NLP  ·  Version non-IT</a:t>
            </a:r>
            <a:endParaRPr lang="en-US" sz="1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148840" y="6327648"/>
            <a:ext cx="5486400" cy="256032"/>
          </a:xfrm>
          <a:prstGeom prst="rect">
            <a:avLst/>
          </a:prstGeom>
          <a:noFill/>
          <a:ln/>
        </p:spPr>
        <p:txBody>
          <a:bodyPr wrap="square" lIns="0" tIns="0" rIns="0" bIns="0" rtlCol="0" anchor="ctr"/>
          <a:lstStyle/>
          <a:p>
            <a:pPr indent="0" marL="0">
              <a:buNone/>
            </a:pPr>
            <a:r>
              <a:rPr lang="en-US" sz="1300" b="1" dirty="0">
                <a:solidFill>
                  <a:schemeClr val="tx1"/>
                </a:solidFill>
                <a:latin typeface="Times New Roman" pitchFamily="34" charset="0"/>
                <a:ea typeface="Times New Roman" pitchFamily="34" charset="-122"/>
                <a:cs typeface="Times New Roman" pitchFamily="34" charset="-120"/>
              </a:rPr>
              <a:t>RÉPUBLIQUE TOGOLAISE</a:t>
            </a:r>
            <a:endParaRPr lang="en-US" sz="1300" dirty="0"/>
          </a:p>
        </p:txBody>
      </p:sp>
      <p:sp>
        <p:nvSpPr>
          <p:cNvPr id="3" name="Text 1"/>
          <p:cNvSpPr txBox="1"/>
          <p:nvPr/>
        </p:nvSpPr>
        <p:spPr>
          <a:xfrm>
            <a:off x="2148840" y="6556248"/>
            <a:ext cx="7315200" cy="228600"/>
          </a:xfrm>
          <a:prstGeom prst="rect">
            <a:avLst/>
          </a:prstGeom>
          <a:noFill/>
          <a:ln/>
        </p:spPr>
        <p:txBody>
          <a:bodyPr wrap="square" lIns="0" tIns="0" rIns="0" bIns="0" rtlCol="0" anchor="ctr"/>
          <a:lstStyle/>
          <a:p>
            <a:pPr indent="0" marL="0">
              <a:buNone/>
            </a:pPr>
            <a:r>
              <a:rPr lang="en-US" sz="1100" dirty="0">
                <a:solidFill>
                  <a:schemeClr val="accent6"/>
                </a:solidFill>
              </a:rPr>
              <a:t>Ministère de l’Efficacité du Service Public et de la Transformation Numérique</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2.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2.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8229600" cy="320040"/>
          </a:xfrm>
          <a:prstGeom prst="rect">
            <a:avLst/>
          </a:prstGeom>
          <a:noFill/>
          <a:ln/>
        </p:spPr>
        <p:txBody>
          <a:bodyPr wrap="square" lIns="0" tIns="0" rIns="0" bIns="0" rtlCol="0" anchor="t"/>
          <a:lstStyle/>
          <a:p>
            <a:pPr indent="0" marL="0">
              <a:buNone/>
            </a:pPr>
            <a:r>
              <a:rPr lang="en-US" sz="1400" b="1" spc="300" kern="0" dirty="0">
                <a:solidFill>
                  <a:schemeClr val="accent3"/>
                </a:solidFill>
              </a:rPr>
              <a:t>TOGO AI LAB  ·  FORMATION IA  ·  MODULE 1 SUR 6</a:t>
            </a:r>
            <a:endParaRPr lang="en-US" sz="1400" dirty="0"/>
          </a:p>
        </p:txBody>
      </p:sp>
      <p:sp>
        <p:nvSpPr>
          <p:cNvPr id="3" name="Text 1"/>
          <p:cNvSpPr/>
          <p:nvPr/>
        </p:nvSpPr>
        <p:spPr>
          <a:xfrm>
            <a:off x="731520" y="1600200"/>
            <a:ext cx="8412480" cy="2103120"/>
          </a:xfrm>
          <a:prstGeom prst="rect">
            <a:avLst/>
          </a:prstGeom>
          <a:noFill/>
          <a:ln/>
        </p:spPr>
        <p:txBody>
          <a:bodyPr wrap="square" lIns="0" tIns="0" rIns="0" bIns="0" rtlCol="0" anchor="t"/>
          <a:lstStyle/>
          <a:p>
            <a:pPr indent="0" marL="0">
              <a:buNone/>
            </a:pPr>
            <a:r>
              <a:rPr lang="en-US" sz="4400" b="1" dirty="0">
                <a:solidFill>
                  <a:schemeClr val="bg1"/>
                </a:solidFill>
              </a:rPr>
              <a:t>Fondamentaux du NLP : comment une machine traite le langage</a:t>
            </a:r>
            <a:endParaRPr lang="en-US" sz="4400" dirty="0"/>
          </a:p>
        </p:txBody>
      </p:sp>
      <p:sp>
        <p:nvSpPr>
          <p:cNvPr id="4" name="Text 2"/>
          <p:cNvSpPr txBox="1"/>
          <p:nvPr/>
        </p:nvSpPr>
        <p:spPr>
          <a:xfrm>
            <a:off x="731520" y="3794760"/>
            <a:ext cx="8686800" cy="411480"/>
          </a:xfrm>
          <a:prstGeom prst="rect">
            <a:avLst/>
          </a:prstGeom>
          <a:noFill/>
          <a:ln/>
        </p:spPr>
        <p:txBody>
          <a:bodyPr wrap="square" lIns="0" tIns="0" rIns="0" bIns="0" rtlCol="0" anchor="t"/>
          <a:lstStyle/>
          <a:p>
            <a:pPr indent="0" marL="0">
              <a:buNone/>
            </a:pPr>
            <a:r>
              <a:rPr lang="en-US" sz="2200" dirty="0">
                <a:solidFill>
                  <a:schemeClr val="bg1"/>
                </a:solidFill>
              </a:rPr>
              <a:t>Version non-IT : sans code, sans mathématiques</a:t>
            </a:r>
            <a:endParaRPr lang="en-US" sz="2200" dirty="0"/>
          </a:p>
        </p:txBody>
      </p:sp>
      <p:sp>
        <p:nvSpPr>
          <p:cNvPr id="5" name="Text 3"/>
          <p:cNvSpPr txBox="1"/>
          <p:nvPr/>
        </p:nvSpPr>
        <p:spPr>
          <a:xfrm>
            <a:off x="731520" y="4389120"/>
            <a:ext cx="8229600" cy="320040"/>
          </a:xfrm>
          <a:prstGeom prst="rect">
            <a:avLst/>
          </a:prstGeom>
          <a:noFill/>
          <a:ln/>
        </p:spPr>
        <p:txBody>
          <a:bodyPr wrap="square" lIns="0" tIns="0" rIns="0" bIns="0" rtlCol="0" anchor="t"/>
          <a:lstStyle/>
          <a:p>
            <a:pPr indent="0" marL="0">
              <a:buNone/>
            </a:pPr>
            <a:r>
              <a:rPr lang="en-US" sz="1600" b="1" dirty="0">
                <a:solidFill>
                  <a:schemeClr val="bg1"/>
                </a:solidFill>
              </a:rPr>
              <a:t>Projet #TOGO AI Lab  ·  Octobre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Au programme</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PROGRAMME</a:t>
            </a:r>
            <a:endParaRPr lang="en-US" sz="1200" dirty="0"/>
          </a:p>
        </p:txBody>
      </p:sp>
      <p:sp>
        <p:nvSpPr>
          <p:cNvPr id="4" name="Carte"/>
          <p:cNvSpPr/>
          <p:nvPr/>
        </p:nvSpPr>
        <p:spPr>
          <a:xfrm>
            <a:off x="548640" y="1417320"/>
            <a:ext cx="3593592" cy="2651760"/>
          </a:xfrm>
          <a:prstGeom prst="roundRect">
            <a:avLst>
              <a:gd name="adj" fmla="val 2759"/>
            </a:avLst>
          </a:prstGeom>
          <a:solidFill>
            <a:schemeClr val="bg2"/>
          </a:solidFill>
          <a:ln w="12700">
            <a:solidFill>
              <a:schemeClr val="bg2"/>
            </a:solidFill>
            <a:prstDash val="solid"/>
          </a:ln>
        </p:spPr>
      </p:sp>
      <p:sp>
        <p:nvSpPr>
          <p:cNvPr id="5" name="Pastille"/>
          <p:cNvSpPr/>
          <p:nvPr/>
        </p:nvSpPr>
        <p:spPr>
          <a:xfrm>
            <a:off x="777240" y="1645920"/>
            <a:ext cx="594360" cy="594360"/>
          </a:xfrm>
          <a:prstGeom prst="ellipse">
            <a:avLst/>
          </a:prstGeom>
          <a:solidFill>
            <a:schemeClr val="accent1"/>
          </a:solidFill>
          <a:ln w="12700">
            <a:solidFill>
              <a:schemeClr val="accent1"/>
            </a:solidFill>
            <a:prstDash val="solid"/>
          </a:ln>
        </p:spPr>
      </p:sp>
      <p:pic>
        <p:nvPicPr>
          <p:cNvPr id="6" name="Icône FaLightbulb" descr="FaLightbulb">    </p:cNvPr>
          <p:cNvPicPr>
            <a:picLocks noChangeAspect="1"/>
          </p:cNvPicPr>
          <p:nvPr/>
        </p:nvPicPr>
        <p:blipFill>
          <a:blip r:embed="rId1"/>
          <a:stretch>
            <a:fillRect/>
          </a:stretch>
        </p:blipFill>
        <p:spPr>
          <a:xfrm>
            <a:off x="925830" y="1794510"/>
            <a:ext cx="297180" cy="297180"/>
          </a:xfrm>
          <a:prstGeom prst="rect">
            <a:avLst/>
          </a:prstGeom>
        </p:spPr>
      </p:pic>
      <p:sp>
        <p:nvSpPr>
          <p:cNvPr id="7" name="Text 4"/>
          <p:cNvSpPr txBox="1"/>
          <p:nvPr/>
        </p:nvSpPr>
        <p:spPr>
          <a:xfrm>
            <a:off x="2651760" y="1691640"/>
            <a:ext cx="1371600" cy="548640"/>
          </a:xfrm>
          <a:prstGeom prst="rect">
            <a:avLst/>
          </a:prstGeom>
          <a:noFill/>
          <a:ln/>
        </p:spPr>
        <p:txBody>
          <a:bodyPr wrap="square" lIns="0" tIns="0" rIns="0" bIns="0" rtlCol="0" anchor="t"/>
          <a:lstStyle/>
          <a:p>
            <a:pPr algn="r" indent="0" marL="0">
              <a:buNone/>
            </a:pPr>
            <a:r>
              <a:rPr lang="en-US" sz="2400" b="1" dirty="0">
                <a:solidFill>
                  <a:schemeClr val="accent6"/>
                </a:solidFill>
              </a:rPr>
              <a:t>Partie 1</a:t>
            </a:r>
            <a:endParaRPr lang="en-US" sz="2400" dirty="0"/>
          </a:p>
        </p:txBody>
      </p:sp>
      <p:sp>
        <p:nvSpPr>
          <p:cNvPr id="8" name="Text 5"/>
          <p:cNvSpPr txBox="1"/>
          <p:nvPr/>
        </p:nvSpPr>
        <p:spPr>
          <a:xfrm>
            <a:off x="777240" y="2423160"/>
            <a:ext cx="3108960" cy="411480"/>
          </a:xfrm>
          <a:prstGeom prst="rect">
            <a:avLst/>
          </a:prstGeom>
          <a:noFill/>
          <a:ln/>
        </p:spPr>
        <p:txBody>
          <a:bodyPr wrap="square" lIns="0" tIns="0" rIns="0" bIns="0" rtlCol="0" anchor="t"/>
          <a:lstStyle/>
          <a:p>
            <a:pPr indent="0" marL="0">
              <a:buNone/>
            </a:pPr>
            <a:r>
              <a:rPr lang="en-US" sz="1900" b="1" dirty="0">
                <a:solidFill>
                  <a:schemeClr val="accent1"/>
                </a:solidFill>
              </a:rPr>
              <a:t>Comprendre</a:t>
            </a:r>
            <a:endParaRPr lang="en-US" sz="1900" dirty="0"/>
          </a:p>
        </p:txBody>
      </p:sp>
      <p:sp>
        <p:nvSpPr>
          <p:cNvPr id="9" name="Text 6"/>
          <p:cNvSpPr txBox="1"/>
          <p:nvPr/>
        </p:nvSpPr>
        <p:spPr>
          <a:xfrm>
            <a:off x="777240" y="2880360"/>
            <a:ext cx="3154680" cy="1143000"/>
          </a:xfrm>
          <a:prstGeom prst="rect">
            <a:avLst/>
          </a:prstGeom>
          <a:noFill/>
          <a:ln/>
        </p:spPr>
        <p:txBody>
          <a:bodyPr wrap="square" lIns="0" tIns="0" rIns="0" bIns="0" rtlCol="0" anchor="t"/>
          <a:lstStyle/>
          <a:p>
            <a:pPr indent="0" marL="0">
              <a:buNone/>
            </a:pPr>
            <a:r>
              <a:rPr lang="en-US" sz="1450" dirty="0">
                <a:solidFill>
                  <a:schemeClr val="tx1"/>
                </a:solidFill>
              </a:rPr>
              <a:t>Ce qu’est le NLP, comment un texte devient une décision, où la machine se trompe</a:t>
            </a:r>
            <a:endParaRPr lang="en-US" sz="1450" dirty="0"/>
          </a:p>
        </p:txBody>
      </p:sp>
      <p:sp>
        <p:nvSpPr>
          <p:cNvPr id="10" name="Carte"/>
          <p:cNvSpPr/>
          <p:nvPr/>
        </p:nvSpPr>
        <p:spPr>
          <a:xfrm>
            <a:off x="4297680" y="1417320"/>
            <a:ext cx="3593592" cy="2651760"/>
          </a:xfrm>
          <a:prstGeom prst="roundRect">
            <a:avLst>
              <a:gd name="adj" fmla="val 2759"/>
            </a:avLst>
          </a:prstGeom>
          <a:solidFill>
            <a:schemeClr val="bg2"/>
          </a:solidFill>
          <a:ln w="12700">
            <a:solidFill>
              <a:schemeClr val="bg2"/>
            </a:solidFill>
            <a:prstDash val="solid"/>
          </a:ln>
        </p:spPr>
      </p:sp>
      <p:sp>
        <p:nvSpPr>
          <p:cNvPr id="11" name="Pastille"/>
          <p:cNvSpPr/>
          <p:nvPr/>
        </p:nvSpPr>
        <p:spPr>
          <a:xfrm>
            <a:off x="4526280" y="1645920"/>
            <a:ext cx="594360" cy="594360"/>
          </a:xfrm>
          <a:prstGeom prst="ellipse">
            <a:avLst/>
          </a:prstGeom>
          <a:solidFill>
            <a:schemeClr val="accent2"/>
          </a:solidFill>
          <a:ln w="12700">
            <a:solidFill>
              <a:schemeClr val="accent2"/>
            </a:solidFill>
            <a:prstDash val="solid"/>
          </a:ln>
        </p:spPr>
      </p:sp>
      <p:pic>
        <p:nvPicPr>
          <p:cNvPr id="12" name="Icône FaPuzzlePiece" descr="FaPuzzlePiece">    </p:cNvPr>
          <p:cNvPicPr>
            <a:picLocks noChangeAspect="1"/>
          </p:cNvPicPr>
          <p:nvPr/>
        </p:nvPicPr>
        <p:blipFill>
          <a:blip r:embed="rId2"/>
          <a:stretch>
            <a:fillRect/>
          </a:stretch>
        </p:blipFill>
        <p:spPr>
          <a:xfrm>
            <a:off x="4674870" y="1794510"/>
            <a:ext cx="297180" cy="297180"/>
          </a:xfrm>
          <a:prstGeom prst="rect">
            <a:avLst/>
          </a:prstGeom>
        </p:spPr>
      </p:pic>
      <p:sp>
        <p:nvSpPr>
          <p:cNvPr id="13" name="Text 9"/>
          <p:cNvSpPr txBox="1"/>
          <p:nvPr/>
        </p:nvSpPr>
        <p:spPr>
          <a:xfrm>
            <a:off x="6400800" y="1691640"/>
            <a:ext cx="1371600" cy="548640"/>
          </a:xfrm>
          <a:prstGeom prst="rect">
            <a:avLst/>
          </a:prstGeom>
          <a:noFill/>
          <a:ln/>
        </p:spPr>
        <p:txBody>
          <a:bodyPr wrap="square" lIns="0" tIns="0" rIns="0" bIns="0" rtlCol="0" anchor="t"/>
          <a:lstStyle/>
          <a:p>
            <a:pPr algn="r" indent="0" marL="0">
              <a:buNone/>
            </a:pPr>
            <a:r>
              <a:rPr lang="en-US" sz="2400" b="1" dirty="0">
                <a:solidFill>
                  <a:schemeClr val="accent6"/>
                </a:solidFill>
              </a:rPr>
              <a:t>Partie 2</a:t>
            </a:r>
            <a:endParaRPr lang="en-US" sz="2400" dirty="0"/>
          </a:p>
        </p:txBody>
      </p:sp>
      <p:sp>
        <p:nvSpPr>
          <p:cNvPr id="14" name="Text 10"/>
          <p:cNvSpPr txBox="1"/>
          <p:nvPr/>
        </p:nvSpPr>
        <p:spPr>
          <a:xfrm>
            <a:off x="4526280" y="2423160"/>
            <a:ext cx="3108960" cy="411480"/>
          </a:xfrm>
          <a:prstGeom prst="rect">
            <a:avLst/>
          </a:prstGeom>
          <a:noFill/>
          <a:ln/>
        </p:spPr>
        <p:txBody>
          <a:bodyPr wrap="square" lIns="0" tIns="0" rIns="0" bIns="0" rtlCol="0" anchor="t"/>
          <a:lstStyle/>
          <a:p>
            <a:pPr indent="0" marL="0">
              <a:buNone/>
            </a:pPr>
            <a:r>
              <a:rPr lang="en-US" sz="1900" b="1" dirty="0">
                <a:solidFill>
                  <a:schemeClr val="accent1"/>
                </a:solidFill>
              </a:rPr>
              <a:t>Pratiquer</a:t>
            </a:r>
            <a:endParaRPr lang="en-US" sz="1900" dirty="0"/>
          </a:p>
        </p:txBody>
      </p:sp>
      <p:sp>
        <p:nvSpPr>
          <p:cNvPr id="15" name="Text 11"/>
          <p:cNvSpPr txBox="1"/>
          <p:nvPr/>
        </p:nvSpPr>
        <p:spPr>
          <a:xfrm>
            <a:off x="4526280" y="2880360"/>
            <a:ext cx="3154680" cy="1143000"/>
          </a:xfrm>
          <a:prstGeom prst="rect">
            <a:avLst/>
          </a:prstGeom>
          <a:noFill/>
          <a:ln/>
        </p:spPr>
        <p:txBody>
          <a:bodyPr wrap="square" lIns="0" tIns="0" rIns="0" bIns="0" rtlCol="0" anchor="t"/>
          <a:lstStyle/>
          <a:p>
            <a:pPr indent="0" marL="0">
              <a:buNone/>
            </a:pPr>
            <a:r>
              <a:rPr lang="en-US" sz="1450" dirty="0">
                <a:solidFill>
                  <a:schemeClr val="tx1"/>
                </a:solidFill>
              </a:rPr>
              <a:t>Atelier « Le trieur de courrier » : vous jouez le rôle de la machine, sans ordinateur</a:t>
            </a:r>
            <a:endParaRPr lang="en-US" sz="1450" dirty="0"/>
          </a:p>
        </p:txBody>
      </p:sp>
      <p:sp>
        <p:nvSpPr>
          <p:cNvPr id="16" name="Carte"/>
          <p:cNvSpPr/>
          <p:nvPr/>
        </p:nvSpPr>
        <p:spPr>
          <a:xfrm>
            <a:off x="8046720" y="1417320"/>
            <a:ext cx="3593592" cy="2651760"/>
          </a:xfrm>
          <a:prstGeom prst="roundRect">
            <a:avLst>
              <a:gd name="adj" fmla="val 2759"/>
            </a:avLst>
          </a:prstGeom>
          <a:solidFill>
            <a:schemeClr val="bg2"/>
          </a:solidFill>
          <a:ln w="12700">
            <a:solidFill>
              <a:schemeClr val="bg2"/>
            </a:solidFill>
            <a:prstDash val="solid"/>
          </a:ln>
        </p:spPr>
      </p:sp>
      <p:sp>
        <p:nvSpPr>
          <p:cNvPr id="17" name="Pastille"/>
          <p:cNvSpPr/>
          <p:nvPr/>
        </p:nvSpPr>
        <p:spPr>
          <a:xfrm>
            <a:off x="8275320" y="1645920"/>
            <a:ext cx="594360" cy="594360"/>
          </a:xfrm>
          <a:prstGeom prst="ellipse">
            <a:avLst/>
          </a:prstGeom>
          <a:solidFill>
            <a:schemeClr val="accent1"/>
          </a:solidFill>
          <a:ln w="12700">
            <a:solidFill>
              <a:schemeClr val="accent1"/>
            </a:solidFill>
            <a:prstDash val="solid"/>
          </a:ln>
        </p:spPr>
      </p:sp>
      <p:pic>
        <p:nvPicPr>
          <p:cNvPr id="18" name="Icône FaClipboardCheck" descr="FaClipboardCheck">    </p:cNvPr>
          <p:cNvPicPr>
            <a:picLocks noChangeAspect="1"/>
          </p:cNvPicPr>
          <p:nvPr/>
        </p:nvPicPr>
        <p:blipFill>
          <a:blip r:embed="rId3"/>
          <a:stretch>
            <a:fillRect/>
          </a:stretch>
        </p:blipFill>
        <p:spPr>
          <a:xfrm>
            <a:off x="8423910" y="1794510"/>
            <a:ext cx="297180" cy="297180"/>
          </a:xfrm>
          <a:prstGeom prst="rect">
            <a:avLst/>
          </a:prstGeom>
        </p:spPr>
      </p:pic>
      <p:sp>
        <p:nvSpPr>
          <p:cNvPr id="19" name="Text 14"/>
          <p:cNvSpPr txBox="1"/>
          <p:nvPr/>
        </p:nvSpPr>
        <p:spPr>
          <a:xfrm>
            <a:off x="10149840" y="1691640"/>
            <a:ext cx="1371600" cy="548640"/>
          </a:xfrm>
          <a:prstGeom prst="rect">
            <a:avLst/>
          </a:prstGeom>
          <a:noFill/>
          <a:ln/>
        </p:spPr>
        <p:txBody>
          <a:bodyPr wrap="square" lIns="0" tIns="0" rIns="0" bIns="0" rtlCol="0" anchor="t"/>
          <a:lstStyle/>
          <a:p>
            <a:pPr algn="r" indent="0" marL="0">
              <a:buNone/>
            </a:pPr>
            <a:r>
              <a:rPr lang="en-US" sz="2400" b="1" dirty="0">
                <a:solidFill>
                  <a:schemeClr val="accent6"/>
                </a:solidFill>
              </a:rPr>
              <a:t>Partie 3</a:t>
            </a:r>
            <a:endParaRPr lang="en-US" sz="2400" dirty="0"/>
          </a:p>
        </p:txBody>
      </p:sp>
      <p:sp>
        <p:nvSpPr>
          <p:cNvPr id="20" name="Text 15"/>
          <p:cNvSpPr txBox="1"/>
          <p:nvPr/>
        </p:nvSpPr>
        <p:spPr>
          <a:xfrm>
            <a:off x="8275320" y="2423160"/>
            <a:ext cx="3108960" cy="411480"/>
          </a:xfrm>
          <a:prstGeom prst="rect">
            <a:avLst/>
          </a:prstGeom>
          <a:noFill/>
          <a:ln/>
        </p:spPr>
        <p:txBody>
          <a:bodyPr wrap="square" lIns="0" tIns="0" rIns="0" bIns="0" rtlCol="0" anchor="t"/>
          <a:lstStyle/>
          <a:p>
            <a:pPr indent="0" marL="0">
              <a:buNone/>
            </a:pPr>
            <a:r>
              <a:rPr lang="en-US" sz="1900" b="1" dirty="0">
                <a:solidFill>
                  <a:schemeClr val="accent1"/>
                </a:solidFill>
              </a:rPr>
              <a:t>Vérifier</a:t>
            </a:r>
            <a:endParaRPr lang="en-US" sz="1900" dirty="0"/>
          </a:p>
        </p:txBody>
      </p:sp>
      <p:sp>
        <p:nvSpPr>
          <p:cNvPr id="21" name="Text 16"/>
          <p:cNvSpPr txBox="1"/>
          <p:nvPr/>
        </p:nvSpPr>
        <p:spPr>
          <a:xfrm>
            <a:off x="8275320" y="2880360"/>
            <a:ext cx="3154680" cy="1143000"/>
          </a:xfrm>
          <a:prstGeom prst="rect">
            <a:avLst/>
          </a:prstGeom>
          <a:noFill/>
          <a:ln/>
        </p:spPr>
        <p:txBody>
          <a:bodyPr wrap="square" lIns="0" tIns="0" rIns="0" bIns="0" rtlCol="0" anchor="t"/>
          <a:lstStyle/>
          <a:p>
            <a:pPr indent="0" marL="0">
              <a:buNone/>
            </a:pPr>
            <a:r>
              <a:rPr lang="en-US" sz="1450" dirty="0">
                <a:solidFill>
                  <a:schemeClr val="tx1"/>
                </a:solidFill>
              </a:rPr>
              <a:t>Quiz de sortie de 10 questions, corrigé en commun</a:t>
            </a:r>
            <a:endParaRPr lang="en-US" sz="1450" dirty="0"/>
          </a:p>
        </p:txBody>
      </p:sp>
      <p:sp>
        <p:nvSpPr>
          <p:cNvPr id="22" name="Carte"/>
          <p:cNvSpPr/>
          <p:nvPr/>
        </p:nvSpPr>
        <p:spPr>
          <a:xfrm>
            <a:off x="548640" y="4297680"/>
            <a:ext cx="11091672" cy="1783080"/>
          </a:xfrm>
          <a:prstGeom prst="roundRect">
            <a:avLst>
              <a:gd name="adj" fmla="val 4103"/>
            </a:avLst>
          </a:prstGeom>
          <a:solidFill>
            <a:schemeClr val="accent5"/>
          </a:solidFill>
          <a:ln w="12700">
            <a:solidFill>
              <a:schemeClr val="accent5"/>
            </a:solidFill>
            <a:prstDash val="solid"/>
          </a:ln>
        </p:spPr>
      </p:sp>
      <p:sp>
        <p:nvSpPr>
          <p:cNvPr id="23" name="Text 18"/>
          <p:cNvSpPr txBox="1"/>
          <p:nvPr/>
        </p:nvSpPr>
        <p:spPr>
          <a:xfrm>
            <a:off x="777240" y="4389120"/>
            <a:ext cx="10515600" cy="365760"/>
          </a:xfrm>
          <a:prstGeom prst="rect">
            <a:avLst/>
          </a:prstGeom>
          <a:noFill/>
          <a:ln/>
        </p:spPr>
        <p:txBody>
          <a:bodyPr wrap="square" lIns="0" tIns="0" rIns="0" bIns="0" rtlCol="0" anchor="t"/>
          <a:lstStyle/>
          <a:p>
            <a:pPr indent="0" marL="0">
              <a:buNone/>
            </a:pPr>
            <a:r>
              <a:rPr lang="en-US" sz="1600" b="1" dirty="0">
                <a:solidFill>
                  <a:schemeClr val="accent1"/>
                </a:solidFill>
              </a:rPr>
              <a:t>À la fin du module, vous saurez :</a:t>
            </a:r>
            <a:endParaRPr lang="en-US" sz="1600" dirty="0"/>
          </a:p>
        </p:txBody>
      </p:sp>
      <p:sp>
        <p:nvSpPr>
          <p:cNvPr id="24" name="Text 19"/>
          <p:cNvSpPr txBox="1"/>
          <p:nvPr/>
        </p:nvSpPr>
        <p:spPr>
          <a:xfrm>
            <a:off x="777240" y="4800600"/>
            <a:ext cx="10515600" cy="1234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expliquer avec vos mots ce qu’est le traitement automatique des langues ;</a:t>
            </a:r>
            <a:endParaRPr lang="en-US" sz="1500" dirty="0"/>
          </a:p>
          <a:p>
            <a:pPr marL="342900" indent="-342900">
              <a:spcAft>
                <a:spcPts val="600"/>
              </a:spcAft>
              <a:buSzPct val="100000"/>
              <a:buChar char="•"/>
            </a:pPr>
            <a:r>
              <a:rPr lang="en-US" sz="1500" dirty="0">
                <a:solidFill>
                  <a:schemeClr val="tx1"/>
                </a:solidFill>
              </a:rPr>
              <a:t>décrire le chemin d’un texte : nettoyer, découper, compter, décider ;</a:t>
            </a:r>
            <a:endParaRPr lang="en-US" sz="1500" dirty="0"/>
          </a:p>
          <a:p>
            <a:pPr marL="342900" indent="-342900">
              <a:spcAft>
                <a:spcPts val="600"/>
              </a:spcAft>
              <a:buSzPct val="100000"/>
              <a:buChar char="•"/>
            </a:pPr>
            <a:r>
              <a:rPr lang="en-US" sz="1500" dirty="0">
                <a:solidFill>
                  <a:schemeClr val="tx1"/>
                </a:solidFill>
              </a:rPr>
              <a:t>dire pourquoi une machine se trompe, et quand il faut un humain.</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Vous utilisez déjà le NLP tous les jours</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MODULE 1  ·  FONDAMENTAUX DU NLP</a:t>
            </a:r>
            <a:endParaRPr lang="en-US" sz="1200" dirty="0"/>
          </a:p>
        </p:txBody>
      </p:sp>
      <p:sp>
        <p:nvSpPr>
          <p:cNvPr id="4" name="Text 2"/>
          <p:cNvSpPr txBox="1"/>
          <p:nvPr/>
        </p:nvSpPr>
        <p:spPr>
          <a:xfrm>
            <a:off x="548640" y="1371600"/>
            <a:ext cx="11064240" cy="731520"/>
          </a:xfrm>
          <a:prstGeom prst="rect">
            <a:avLst/>
          </a:prstGeom>
          <a:noFill/>
          <a:ln/>
        </p:spPr>
        <p:txBody>
          <a:bodyPr wrap="square" lIns="0" tIns="0" rIns="0" bIns="0" rtlCol="0" anchor="t"/>
          <a:lstStyle/>
          <a:p>
            <a:pPr indent="0" marL="0">
              <a:buNone/>
            </a:pPr>
            <a:r>
              <a:rPr lang="en-US" sz="1700" dirty="0">
                <a:solidFill>
                  <a:schemeClr val="tx1"/>
                </a:solidFill>
              </a:rPr>
              <a:t>Question au groupe : à quel moment de la journée une machine a-t-elle « lu » ou « écouté » du texte pour vous aujourd’hui ?</a:t>
            </a:r>
            <a:endParaRPr lang="en-US" sz="1700" dirty="0"/>
          </a:p>
        </p:txBody>
      </p:sp>
      <p:sp>
        <p:nvSpPr>
          <p:cNvPr id="5" name="Carte"/>
          <p:cNvSpPr/>
          <p:nvPr/>
        </p:nvSpPr>
        <p:spPr>
          <a:xfrm>
            <a:off x="548640" y="2240280"/>
            <a:ext cx="2093976" cy="2926080"/>
          </a:xfrm>
          <a:prstGeom prst="roundRect">
            <a:avLst>
              <a:gd name="adj" fmla="val 3493"/>
            </a:avLst>
          </a:prstGeom>
          <a:solidFill>
            <a:schemeClr val="bg2"/>
          </a:solidFill>
          <a:ln w="12700">
            <a:solidFill>
              <a:schemeClr val="bg2"/>
            </a:solidFill>
            <a:prstDash val="solid"/>
          </a:ln>
        </p:spPr>
      </p:sp>
      <p:sp>
        <p:nvSpPr>
          <p:cNvPr id="6" name="Pastille"/>
          <p:cNvSpPr/>
          <p:nvPr/>
        </p:nvSpPr>
        <p:spPr>
          <a:xfrm>
            <a:off x="731520" y="2423160"/>
            <a:ext cx="502920" cy="502920"/>
          </a:xfrm>
          <a:prstGeom prst="ellipse">
            <a:avLst/>
          </a:prstGeom>
          <a:solidFill>
            <a:schemeClr val="accent1"/>
          </a:solidFill>
          <a:ln w="12700">
            <a:solidFill>
              <a:schemeClr val="accent1"/>
            </a:solidFill>
            <a:prstDash val="solid"/>
          </a:ln>
        </p:spPr>
      </p:sp>
      <p:pic>
        <p:nvPicPr>
          <p:cNvPr id="7" name="Icône FaSpellCheck" descr="FaSpellCheck">    </p:cNvPr>
          <p:cNvPicPr>
            <a:picLocks noChangeAspect="1"/>
          </p:cNvPicPr>
          <p:nvPr/>
        </p:nvPicPr>
        <p:blipFill>
          <a:blip r:embed="rId1"/>
          <a:stretch>
            <a:fillRect/>
          </a:stretch>
        </p:blipFill>
        <p:spPr>
          <a:xfrm>
            <a:off x="857250" y="2548890"/>
            <a:ext cx="251460" cy="251460"/>
          </a:xfrm>
          <a:prstGeom prst="rect">
            <a:avLst/>
          </a:prstGeom>
        </p:spPr>
      </p:pic>
      <p:sp>
        <p:nvSpPr>
          <p:cNvPr id="8" name="Text 5"/>
          <p:cNvSpPr txBox="1"/>
          <p:nvPr/>
        </p:nvSpPr>
        <p:spPr>
          <a:xfrm>
            <a:off x="731520" y="3044952"/>
            <a:ext cx="1728216" cy="365760"/>
          </a:xfrm>
          <a:prstGeom prst="rect">
            <a:avLst/>
          </a:prstGeom>
          <a:noFill/>
          <a:ln/>
        </p:spPr>
        <p:txBody>
          <a:bodyPr wrap="square" lIns="0" tIns="0" rIns="0" bIns="0" rtlCol="0" anchor="t"/>
          <a:lstStyle/>
          <a:p>
            <a:pPr indent="0" marL="0">
              <a:buNone/>
            </a:pPr>
            <a:r>
              <a:rPr lang="en-US" sz="1550" b="1" dirty="0">
                <a:solidFill>
                  <a:schemeClr val="accent1"/>
                </a:solidFill>
              </a:rPr>
              <a:t>Correcteur</a:t>
            </a:r>
            <a:endParaRPr lang="en-US" sz="1550" dirty="0"/>
          </a:p>
        </p:txBody>
      </p:sp>
      <p:sp>
        <p:nvSpPr>
          <p:cNvPr id="9" name="Text 6"/>
          <p:cNvSpPr txBox="1"/>
          <p:nvPr/>
        </p:nvSpPr>
        <p:spPr>
          <a:xfrm>
            <a:off x="731520" y="3410712"/>
            <a:ext cx="1728216" cy="1691640"/>
          </a:xfrm>
          <a:prstGeom prst="rect">
            <a:avLst/>
          </a:prstGeom>
          <a:noFill/>
          <a:ln/>
        </p:spPr>
        <p:txBody>
          <a:bodyPr wrap="square" lIns="0" tIns="0" rIns="0" bIns="0" rtlCol="0" anchor="t"/>
          <a:lstStyle/>
          <a:p>
            <a:pPr indent="0" marL="0">
              <a:buNone/>
            </a:pPr>
            <a:r>
              <a:rPr lang="en-US" sz="1400" dirty="0">
                <a:solidFill>
                  <a:schemeClr val="tx1"/>
                </a:solidFill>
              </a:rPr>
              <a:t>Votre téléphone souligne une faute pendant que vous écrivez.</a:t>
            </a:r>
            <a:endParaRPr lang="en-US" sz="1400" dirty="0"/>
          </a:p>
        </p:txBody>
      </p:sp>
      <p:sp>
        <p:nvSpPr>
          <p:cNvPr id="10" name="Carte"/>
          <p:cNvSpPr/>
          <p:nvPr/>
        </p:nvSpPr>
        <p:spPr>
          <a:xfrm>
            <a:off x="2798064" y="2240280"/>
            <a:ext cx="2093976" cy="2926080"/>
          </a:xfrm>
          <a:prstGeom prst="roundRect">
            <a:avLst>
              <a:gd name="adj" fmla="val 3493"/>
            </a:avLst>
          </a:prstGeom>
          <a:solidFill>
            <a:schemeClr val="bg2"/>
          </a:solidFill>
          <a:ln w="12700">
            <a:solidFill>
              <a:schemeClr val="bg2"/>
            </a:solidFill>
            <a:prstDash val="solid"/>
          </a:ln>
        </p:spPr>
      </p:sp>
      <p:sp>
        <p:nvSpPr>
          <p:cNvPr id="11" name="Pastille"/>
          <p:cNvSpPr/>
          <p:nvPr/>
        </p:nvSpPr>
        <p:spPr>
          <a:xfrm>
            <a:off x="2980944" y="2423160"/>
            <a:ext cx="502920" cy="502920"/>
          </a:xfrm>
          <a:prstGeom prst="ellipse">
            <a:avLst/>
          </a:prstGeom>
          <a:solidFill>
            <a:schemeClr val="accent2"/>
          </a:solidFill>
          <a:ln w="12700">
            <a:solidFill>
              <a:schemeClr val="accent2"/>
            </a:solidFill>
            <a:prstDash val="solid"/>
          </a:ln>
        </p:spPr>
      </p:sp>
      <p:pic>
        <p:nvPicPr>
          <p:cNvPr id="12" name="Icône FaCommentDots" descr="FaCommentDots">    </p:cNvPr>
          <p:cNvPicPr>
            <a:picLocks noChangeAspect="1"/>
          </p:cNvPicPr>
          <p:nvPr/>
        </p:nvPicPr>
        <p:blipFill>
          <a:blip r:embed="rId2"/>
          <a:stretch>
            <a:fillRect/>
          </a:stretch>
        </p:blipFill>
        <p:spPr>
          <a:xfrm>
            <a:off x="3106674" y="2548890"/>
            <a:ext cx="251460" cy="251460"/>
          </a:xfrm>
          <a:prstGeom prst="rect">
            <a:avLst/>
          </a:prstGeom>
        </p:spPr>
      </p:pic>
      <p:sp>
        <p:nvSpPr>
          <p:cNvPr id="13" name="Text 9"/>
          <p:cNvSpPr txBox="1"/>
          <p:nvPr/>
        </p:nvSpPr>
        <p:spPr>
          <a:xfrm>
            <a:off x="2980944" y="3044952"/>
            <a:ext cx="1728216" cy="365760"/>
          </a:xfrm>
          <a:prstGeom prst="rect">
            <a:avLst/>
          </a:prstGeom>
          <a:noFill/>
          <a:ln/>
        </p:spPr>
        <p:txBody>
          <a:bodyPr wrap="square" lIns="0" tIns="0" rIns="0" bIns="0" rtlCol="0" anchor="t"/>
          <a:lstStyle/>
          <a:p>
            <a:pPr indent="0" marL="0">
              <a:buNone/>
            </a:pPr>
            <a:r>
              <a:rPr lang="en-US" sz="1550" b="1" dirty="0">
                <a:solidFill>
                  <a:schemeClr val="accent1"/>
                </a:solidFill>
              </a:rPr>
              <a:t>Suggestions</a:t>
            </a:r>
            <a:endParaRPr lang="en-US" sz="1550" dirty="0"/>
          </a:p>
        </p:txBody>
      </p:sp>
      <p:sp>
        <p:nvSpPr>
          <p:cNvPr id="14" name="Text 10"/>
          <p:cNvSpPr txBox="1"/>
          <p:nvPr/>
        </p:nvSpPr>
        <p:spPr>
          <a:xfrm>
            <a:off x="2980944" y="3410712"/>
            <a:ext cx="1728216" cy="1691640"/>
          </a:xfrm>
          <a:prstGeom prst="rect">
            <a:avLst/>
          </a:prstGeom>
          <a:noFill/>
          <a:ln/>
        </p:spPr>
        <p:txBody>
          <a:bodyPr wrap="square" lIns="0" tIns="0" rIns="0" bIns="0" rtlCol="0" anchor="t"/>
          <a:lstStyle/>
          <a:p>
            <a:pPr indent="0" marL="0">
              <a:buNone/>
            </a:pPr>
            <a:r>
              <a:rPr lang="en-US" sz="1400" dirty="0">
                <a:solidFill>
                  <a:schemeClr val="tx1"/>
                </a:solidFill>
              </a:rPr>
              <a:t>Il propose le mot suivant avant que vous ne l’ayez tapé.</a:t>
            </a:r>
            <a:endParaRPr lang="en-US" sz="1400" dirty="0"/>
          </a:p>
        </p:txBody>
      </p:sp>
      <p:sp>
        <p:nvSpPr>
          <p:cNvPr id="15" name="Carte"/>
          <p:cNvSpPr/>
          <p:nvPr/>
        </p:nvSpPr>
        <p:spPr>
          <a:xfrm>
            <a:off x="5047488" y="2240280"/>
            <a:ext cx="2093976" cy="2926080"/>
          </a:xfrm>
          <a:prstGeom prst="roundRect">
            <a:avLst>
              <a:gd name="adj" fmla="val 3493"/>
            </a:avLst>
          </a:prstGeom>
          <a:solidFill>
            <a:schemeClr val="bg2"/>
          </a:solidFill>
          <a:ln w="12700">
            <a:solidFill>
              <a:schemeClr val="bg2"/>
            </a:solidFill>
            <a:prstDash val="solid"/>
          </a:ln>
        </p:spPr>
      </p:sp>
      <p:sp>
        <p:nvSpPr>
          <p:cNvPr id="16" name="Pastille"/>
          <p:cNvSpPr/>
          <p:nvPr/>
        </p:nvSpPr>
        <p:spPr>
          <a:xfrm>
            <a:off x="5230368" y="2423160"/>
            <a:ext cx="502920" cy="502920"/>
          </a:xfrm>
          <a:prstGeom prst="ellipse">
            <a:avLst/>
          </a:prstGeom>
          <a:solidFill>
            <a:schemeClr val="accent1"/>
          </a:solidFill>
          <a:ln w="12700">
            <a:solidFill>
              <a:schemeClr val="accent1"/>
            </a:solidFill>
            <a:prstDash val="solid"/>
          </a:ln>
        </p:spPr>
      </p:sp>
      <p:pic>
        <p:nvPicPr>
          <p:cNvPr id="17" name="Icône FaEnvelope" descr="FaEnvelope">    </p:cNvPr>
          <p:cNvPicPr>
            <a:picLocks noChangeAspect="1"/>
          </p:cNvPicPr>
          <p:nvPr/>
        </p:nvPicPr>
        <p:blipFill>
          <a:blip r:embed="rId3"/>
          <a:stretch>
            <a:fillRect/>
          </a:stretch>
        </p:blipFill>
        <p:spPr>
          <a:xfrm>
            <a:off x="5356098" y="2548890"/>
            <a:ext cx="251460" cy="251460"/>
          </a:xfrm>
          <a:prstGeom prst="rect">
            <a:avLst/>
          </a:prstGeom>
        </p:spPr>
      </p:pic>
      <p:sp>
        <p:nvSpPr>
          <p:cNvPr id="18" name="Text 13"/>
          <p:cNvSpPr txBox="1"/>
          <p:nvPr/>
        </p:nvSpPr>
        <p:spPr>
          <a:xfrm>
            <a:off x="5230368" y="3044952"/>
            <a:ext cx="1728216" cy="365760"/>
          </a:xfrm>
          <a:prstGeom prst="rect">
            <a:avLst/>
          </a:prstGeom>
          <a:noFill/>
          <a:ln/>
        </p:spPr>
        <p:txBody>
          <a:bodyPr wrap="square" lIns="0" tIns="0" rIns="0" bIns="0" rtlCol="0" anchor="t"/>
          <a:lstStyle/>
          <a:p>
            <a:pPr indent="0" marL="0">
              <a:buNone/>
            </a:pPr>
            <a:r>
              <a:rPr lang="en-US" sz="1550" b="1" dirty="0">
                <a:solidFill>
                  <a:schemeClr val="accent1"/>
                </a:solidFill>
              </a:rPr>
              <a:t>Filtre anti-spam</a:t>
            </a:r>
            <a:endParaRPr lang="en-US" sz="1550" dirty="0"/>
          </a:p>
        </p:txBody>
      </p:sp>
      <p:sp>
        <p:nvSpPr>
          <p:cNvPr id="19" name="Text 14"/>
          <p:cNvSpPr txBox="1"/>
          <p:nvPr/>
        </p:nvSpPr>
        <p:spPr>
          <a:xfrm>
            <a:off x="5230368" y="3410712"/>
            <a:ext cx="1728216" cy="1691640"/>
          </a:xfrm>
          <a:prstGeom prst="rect">
            <a:avLst/>
          </a:prstGeom>
          <a:noFill/>
          <a:ln/>
        </p:spPr>
        <p:txBody>
          <a:bodyPr wrap="square" lIns="0" tIns="0" rIns="0" bIns="0" rtlCol="0" anchor="t"/>
          <a:lstStyle/>
          <a:p>
            <a:pPr indent="0" marL="0">
              <a:buNone/>
            </a:pPr>
            <a:r>
              <a:rPr lang="en-US" sz="1400" dirty="0">
                <a:solidFill>
                  <a:schemeClr val="tx1"/>
                </a:solidFill>
              </a:rPr>
              <a:t>Votre messagerie classe les courriers indésirables à part.</a:t>
            </a:r>
            <a:endParaRPr lang="en-US" sz="1400" dirty="0"/>
          </a:p>
        </p:txBody>
      </p:sp>
      <p:sp>
        <p:nvSpPr>
          <p:cNvPr id="20" name="Carte"/>
          <p:cNvSpPr/>
          <p:nvPr/>
        </p:nvSpPr>
        <p:spPr>
          <a:xfrm>
            <a:off x="7296912" y="2240280"/>
            <a:ext cx="2093976" cy="2926080"/>
          </a:xfrm>
          <a:prstGeom prst="roundRect">
            <a:avLst>
              <a:gd name="adj" fmla="val 3493"/>
            </a:avLst>
          </a:prstGeom>
          <a:solidFill>
            <a:schemeClr val="bg2"/>
          </a:solidFill>
          <a:ln w="12700">
            <a:solidFill>
              <a:schemeClr val="bg2"/>
            </a:solidFill>
            <a:prstDash val="solid"/>
          </a:ln>
        </p:spPr>
      </p:sp>
      <p:sp>
        <p:nvSpPr>
          <p:cNvPr id="21" name="Pastille"/>
          <p:cNvSpPr/>
          <p:nvPr/>
        </p:nvSpPr>
        <p:spPr>
          <a:xfrm>
            <a:off x="7479792" y="2423160"/>
            <a:ext cx="502920" cy="502920"/>
          </a:xfrm>
          <a:prstGeom prst="ellipse">
            <a:avLst/>
          </a:prstGeom>
          <a:solidFill>
            <a:schemeClr val="accent2"/>
          </a:solidFill>
          <a:ln w="12700">
            <a:solidFill>
              <a:schemeClr val="accent2"/>
            </a:solidFill>
            <a:prstDash val="solid"/>
          </a:ln>
        </p:spPr>
      </p:sp>
      <p:pic>
        <p:nvPicPr>
          <p:cNvPr id="22" name="Icône FaLanguage" descr="FaLanguage">    </p:cNvPr>
          <p:cNvPicPr>
            <a:picLocks noChangeAspect="1"/>
          </p:cNvPicPr>
          <p:nvPr/>
        </p:nvPicPr>
        <p:blipFill>
          <a:blip r:embed="rId4"/>
          <a:stretch>
            <a:fillRect/>
          </a:stretch>
        </p:blipFill>
        <p:spPr>
          <a:xfrm>
            <a:off x="7605522" y="2548890"/>
            <a:ext cx="251460" cy="251460"/>
          </a:xfrm>
          <a:prstGeom prst="rect">
            <a:avLst/>
          </a:prstGeom>
        </p:spPr>
      </p:pic>
      <p:sp>
        <p:nvSpPr>
          <p:cNvPr id="23" name="Text 17"/>
          <p:cNvSpPr txBox="1"/>
          <p:nvPr/>
        </p:nvSpPr>
        <p:spPr>
          <a:xfrm>
            <a:off x="7479792" y="3044952"/>
            <a:ext cx="1728216" cy="365760"/>
          </a:xfrm>
          <a:prstGeom prst="rect">
            <a:avLst/>
          </a:prstGeom>
          <a:noFill/>
          <a:ln/>
        </p:spPr>
        <p:txBody>
          <a:bodyPr wrap="square" lIns="0" tIns="0" rIns="0" bIns="0" rtlCol="0" anchor="t"/>
          <a:lstStyle/>
          <a:p>
            <a:pPr indent="0" marL="0">
              <a:buNone/>
            </a:pPr>
            <a:r>
              <a:rPr lang="en-US" sz="1550" b="1" dirty="0">
                <a:solidFill>
                  <a:schemeClr val="accent1"/>
                </a:solidFill>
              </a:rPr>
              <a:t>Traduction</a:t>
            </a:r>
            <a:endParaRPr lang="en-US" sz="1550" dirty="0"/>
          </a:p>
        </p:txBody>
      </p:sp>
      <p:sp>
        <p:nvSpPr>
          <p:cNvPr id="24" name="Text 18"/>
          <p:cNvSpPr txBox="1"/>
          <p:nvPr/>
        </p:nvSpPr>
        <p:spPr>
          <a:xfrm>
            <a:off x="7479792" y="3410712"/>
            <a:ext cx="1728216" cy="1691640"/>
          </a:xfrm>
          <a:prstGeom prst="rect">
            <a:avLst/>
          </a:prstGeom>
          <a:noFill/>
          <a:ln/>
        </p:spPr>
        <p:txBody>
          <a:bodyPr wrap="square" lIns="0" tIns="0" rIns="0" bIns="0" rtlCol="0" anchor="t"/>
          <a:lstStyle/>
          <a:p>
            <a:pPr indent="0" marL="0">
              <a:buNone/>
            </a:pPr>
            <a:r>
              <a:rPr lang="en-US" sz="1400" dirty="0">
                <a:solidFill>
                  <a:schemeClr val="tx1"/>
                </a:solidFill>
              </a:rPr>
              <a:t>Un texte passe d’une langue à l’autre en quelques secondes.</a:t>
            </a:r>
            <a:endParaRPr lang="en-US" sz="1400" dirty="0"/>
          </a:p>
        </p:txBody>
      </p:sp>
      <p:sp>
        <p:nvSpPr>
          <p:cNvPr id="25" name="Carte"/>
          <p:cNvSpPr/>
          <p:nvPr/>
        </p:nvSpPr>
        <p:spPr>
          <a:xfrm>
            <a:off x="9546336" y="2240280"/>
            <a:ext cx="2093976" cy="2926080"/>
          </a:xfrm>
          <a:prstGeom prst="roundRect">
            <a:avLst>
              <a:gd name="adj" fmla="val 3493"/>
            </a:avLst>
          </a:prstGeom>
          <a:solidFill>
            <a:schemeClr val="bg2"/>
          </a:solidFill>
          <a:ln w="12700">
            <a:solidFill>
              <a:schemeClr val="bg2"/>
            </a:solidFill>
            <a:prstDash val="solid"/>
          </a:ln>
        </p:spPr>
      </p:sp>
      <p:sp>
        <p:nvSpPr>
          <p:cNvPr id="26" name="Pastille"/>
          <p:cNvSpPr/>
          <p:nvPr/>
        </p:nvSpPr>
        <p:spPr>
          <a:xfrm>
            <a:off x="9729216" y="2423160"/>
            <a:ext cx="502920" cy="502920"/>
          </a:xfrm>
          <a:prstGeom prst="ellipse">
            <a:avLst/>
          </a:prstGeom>
          <a:solidFill>
            <a:schemeClr val="accent1"/>
          </a:solidFill>
          <a:ln w="12700">
            <a:solidFill>
              <a:schemeClr val="accent1"/>
            </a:solidFill>
            <a:prstDash val="solid"/>
          </a:ln>
        </p:spPr>
      </p:sp>
      <p:pic>
        <p:nvPicPr>
          <p:cNvPr id="27" name="Icône FaMicrophone" descr="FaMicrophone">    </p:cNvPr>
          <p:cNvPicPr>
            <a:picLocks noChangeAspect="1"/>
          </p:cNvPicPr>
          <p:nvPr/>
        </p:nvPicPr>
        <p:blipFill>
          <a:blip r:embed="rId5"/>
          <a:stretch>
            <a:fillRect/>
          </a:stretch>
        </p:blipFill>
        <p:spPr>
          <a:xfrm>
            <a:off x="9854946" y="2548890"/>
            <a:ext cx="251460" cy="251460"/>
          </a:xfrm>
          <a:prstGeom prst="rect">
            <a:avLst/>
          </a:prstGeom>
        </p:spPr>
      </p:pic>
      <p:sp>
        <p:nvSpPr>
          <p:cNvPr id="28" name="Text 21"/>
          <p:cNvSpPr txBox="1"/>
          <p:nvPr/>
        </p:nvSpPr>
        <p:spPr>
          <a:xfrm>
            <a:off x="9729216" y="3044952"/>
            <a:ext cx="1728216" cy="365760"/>
          </a:xfrm>
          <a:prstGeom prst="rect">
            <a:avLst/>
          </a:prstGeom>
          <a:noFill/>
          <a:ln/>
        </p:spPr>
        <p:txBody>
          <a:bodyPr wrap="square" lIns="0" tIns="0" rIns="0" bIns="0" rtlCol="0" anchor="t"/>
          <a:lstStyle/>
          <a:p>
            <a:pPr indent="0" marL="0">
              <a:buNone/>
            </a:pPr>
            <a:r>
              <a:rPr lang="en-US" sz="1550" b="1" dirty="0">
                <a:solidFill>
                  <a:schemeClr val="accent1"/>
                </a:solidFill>
              </a:rPr>
              <a:t>Assistant vocal</a:t>
            </a:r>
            <a:endParaRPr lang="en-US" sz="1550" dirty="0"/>
          </a:p>
        </p:txBody>
      </p:sp>
      <p:sp>
        <p:nvSpPr>
          <p:cNvPr id="29" name="Text 22"/>
          <p:cNvSpPr txBox="1"/>
          <p:nvPr/>
        </p:nvSpPr>
        <p:spPr>
          <a:xfrm>
            <a:off x="9729216" y="3410712"/>
            <a:ext cx="1728216" cy="1691640"/>
          </a:xfrm>
          <a:prstGeom prst="rect">
            <a:avLst/>
          </a:prstGeom>
          <a:noFill/>
          <a:ln/>
        </p:spPr>
        <p:txBody>
          <a:bodyPr wrap="square" lIns="0" tIns="0" rIns="0" bIns="0" rtlCol="0" anchor="t"/>
          <a:lstStyle/>
          <a:p>
            <a:pPr indent="0" marL="0">
              <a:buNone/>
            </a:pPr>
            <a:r>
              <a:rPr lang="en-US" sz="1400" dirty="0">
                <a:solidFill>
                  <a:schemeClr val="tx1"/>
                </a:solidFill>
              </a:rPr>
              <a:t>Votre voix devient du texte, puis une action.</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Le NLP, c’est quoi ?</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MODULE 1  ·  FONDAMENTAUX DU NLP</a:t>
            </a:r>
            <a:endParaRPr lang="en-US" sz="1200" dirty="0"/>
          </a:p>
        </p:txBody>
      </p:sp>
      <p:sp>
        <p:nvSpPr>
          <p:cNvPr id="4" name="Carte"/>
          <p:cNvSpPr/>
          <p:nvPr/>
        </p:nvSpPr>
        <p:spPr>
          <a:xfrm>
            <a:off x="548640" y="1417320"/>
            <a:ext cx="5486400" cy="4480560"/>
          </a:xfrm>
          <a:prstGeom prst="roundRect">
            <a:avLst>
              <a:gd name="adj" fmla="val 1633"/>
            </a:avLst>
          </a:prstGeom>
          <a:solidFill>
            <a:schemeClr val="bg2"/>
          </a:solidFill>
          <a:ln w="12700">
            <a:solidFill>
              <a:schemeClr val="bg2"/>
            </a:solidFill>
            <a:prstDash val="solid"/>
          </a:ln>
        </p:spPr>
      </p:sp>
      <p:sp>
        <p:nvSpPr>
          <p:cNvPr id="5" name="Pastille"/>
          <p:cNvSpPr/>
          <p:nvPr/>
        </p:nvSpPr>
        <p:spPr>
          <a:xfrm>
            <a:off x="777240" y="1645920"/>
            <a:ext cx="640080" cy="640080"/>
          </a:xfrm>
          <a:prstGeom prst="ellipse">
            <a:avLst/>
          </a:prstGeom>
          <a:solidFill>
            <a:schemeClr val="accent1"/>
          </a:solidFill>
          <a:ln w="12700">
            <a:solidFill>
              <a:schemeClr val="accent1"/>
            </a:solidFill>
            <a:prstDash val="solid"/>
          </a:ln>
        </p:spPr>
      </p:sp>
      <p:pic>
        <p:nvPicPr>
          <p:cNvPr id="6" name="Icône FaLanguage" descr="FaLanguage">    </p:cNvPr>
          <p:cNvPicPr>
            <a:picLocks noChangeAspect="1"/>
          </p:cNvPicPr>
          <p:nvPr/>
        </p:nvPicPr>
        <p:blipFill>
          <a:blip r:embed="rId1"/>
          <a:stretch>
            <a:fillRect/>
          </a:stretch>
        </p:blipFill>
        <p:spPr>
          <a:xfrm>
            <a:off x="937260" y="1805940"/>
            <a:ext cx="320040" cy="320040"/>
          </a:xfrm>
          <a:prstGeom prst="rect">
            <a:avLst/>
          </a:prstGeom>
        </p:spPr>
      </p:pic>
      <p:sp>
        <p:nvSpPr>
          <p:cNvPr id="7" name="Text 4"/>
          <p:cNvSpPr txBox="1"/>
          <p:nvPr/>
        </p:nvSpPr>
        <p:spPr>
          <a:xfrm>
            <a:off x="1600200" y="1645920"/>
            <a:ext cx="4297680" cy="640080"/>
          </a:xfrm>
          <a:prstGeom prst="rect">
            <a:avLst/>
          </a:prstGeom>
          <a:noFill/>
          <a:ln/>
        </p:spPr>
        <p:txBody>
          <a:bodyPr wrap="square" lIns="0" tIns="0" rIns="0" bIns="0" rtlCol="0" anchor="ctr"/>
          <a:lstStyle/>
          <a:p>
            <a:pPr indent="0" marL="0">
              <a:buNone/>
            </a:pPr>
            <a:r>
              <a:rPr lang="en-US" sz="1800" b="1" dirty="0">
                <a:solidFill>
                  <a:schemeClr val="accent1"/>
                </a:solidFill>
              </a:rPr>
              <a:t>NLP = Natural Language Processing</a:t>
            </a:r>
            <a:endParaRPr lang="en-US" sz="1800" dirty="0"/>
          </a:p>
        </p:txBody>
      </p:sp>
      <p:sp>
        <p:nvSpPr>
          <p:cNvPr id="8" name="Text 5"/>
          <p:cNvSpPr txBox="1"/>
          <p:nvPr/>
        </p:nvSpPr>
        <p:spPr>
          <a:xfrm>
            <a:off x="777240" y="2468880"/>
            <a:ext cx="5029200" cy="640080"/>
          </a:xfrm>
          <a:prstGeom prst="rect">
            <a:avLst/>
          </a:prstGeom>
          <a:noFill/>
          <a:ln/>
        </p:spPr>
        <p:txBody>
          <a:bodyPr wrap="square" lIns="0" tIns="0" rIns="0" bIns="0" rtlCol="0" anchor="t"/>
          <a:lstStyle/>
          <a:p>
            <a:pPr indent="0" marL="0">
              <a:buNone/>
            </a:pPr>
            <a:r>
              <a:rPr lang="en-US" sz="1600" dirty="0">
                <a:solidFill>
                  <a:schemeClr val="tx1"/>
                </a:solidFill>
              </a:rPr>
              <a:t>En français : TAL, le Traitement Automatique des Langues.</a:t>
            </a:r>
            <a:endParaRPr lang="en-US" sz="1600" dirty="0"/>
          </a:p>
        </p:txBody>
      </p:sp>
      <p:sp>
        <p:nvSpPr>
          <p:cNvPr id="9" name="Text 6"/>
          <p:cNvSpPr txBox="1"/>
          <p:nvPr/>
        </p:nvSpPr>
        <p:spPr>
          <a:xfrm>
            <a:off x="777240" y="3200400"/>
            <a:ext cx="5029200" cy="1005840"/>
          </a:xfrm>
          <a:prstGeom prst="rect">
            <a:avLst/>
          </a:prstGeom>
          <a:noFill/>
          <a:ln/>
        </p:spPr>
        <p:txBody>
          <a:bodyPr wrap="square" lIns="0" tIns="0" rIns="0" bIns="0" rtlCol="0" anchor="t"/>
          <a:lstStyle/>
          <a:p>
            <a:pPr indent="0" marL="0">
              <a:buNone/>
            </a:pPr>
            <a:r>
              <a:rPr lang="en-US" sz="1600" dirty="0">
                <a:solidFill>
                  <a:schemeClr val="tx1"/>
                </a:solidFill>
              </a:rPr>
              <a:t>Apprendre à une machine à lire, classer, résumer, traduire du texte et de la parole humaine.</a:t>
            </a:r>
            <a:endParaRPr lang="en-US" sz="1600" dirty="0"/>
          </a:p>
        </p:txBody>
      </p:sp>
      <p:sp>
        <p:nvSpPr>
          <p:cNvPr id="10" name="Text 7"/>
          <p:cNvSpPr txBox="1"/>
          <p:nvPr/>
        </p:nvSpPr>
        <p:spPr>
          <a:xfrm>
            <a:off x="777240" y="4663440"/>
            <a:ext cx="5029200" cy="822960"/>
          </a:xfrm>
          <a:prstGeom prst="rect">
            <a:avLst/>
          </a:prstGeom>
          <a:noFill/>
          <a:ln/>
        </p:spPr>
        <p:txBody>
          <a:bodyPr wrap="square" lIns="0" tIns="0" rIns="0" bIns="0" rtlCol="0" anchor="t"/>
          <a:lstStyle/>
          <a:p>
            <a:pPr indent="0" marL="0">
              <a:buNone/>
            </a:pPr>
            <a:r>
              <a:rPr lang="en-US" sz="1350" i="1" dirty="0">
                <a:solidFill>
                  <a:schemeClr val="accent6"/>
                </a:solidFill>
              </a:rPr>
              <a:t>Clin d’œil : « TAL » désigne aussi notre laboratoire, le Togo AI Lab.</a:t>
            </a:r>
            <a:endParaRPr lang="en-US" sz="1350" dirty="0"/>
          </a:p>
        </p:txBody>
      </p:sp>
      <p:sp>
        <p:nvSpPr>
          <p:cNvPr id="11" name="Carte"/>
          <p:cNvSpPr/>
          <p:nvPr/>
        </p:nvSpPr>
        <p:spPr>
          <a:xfrm>
            <a:off x="6263640" y="1417320"/>
            <a:ext cx="5376672" cy="4480560"/>
          </a:xfrm>
          <a:prstGeom prst="roundRect">
            <a:avLst>
              <a:gd name="adj" fmla="val 1633"/>
            </a:avLst>
          </a:prstGeom>
          <a:solidFill>
            <a:schemeClr val="accent1"/>
          </a:solidFill>
          <a:ln w="12700">
            <a:solidFill>
              <a:schemeClr val="accent1"/>
            </a:solidFill>
            <a:prstDash val="solid"/>
          </a:ln>
        </p:spPr>
      </p:sp>
      <p:sp>
        <p:nvSpPr>
          <p:cNvPr id="12" name="Pastille"/>
          <p:cNvSpPr/>
          <p:nvPr/>
        </p:nvSpPr>
        <p:spPr>
          <a:xfrm>
            <a:off x="6492240" y="1645920"/>
            <a:ext cx="640080" cy="640080"/>
          </a:xfrm>
          <a:prstGeom prst="ellipse">
            <a:avLst/>
          </a:prstGeom>
          <a:solidFill>
            <a:schemeClr val="accent2"/>
          </a:solidFill>
          <a:ln w="12700">
            <a:solidFill>
              <a:schemeClr val="accent2"/>
            </a:solidFill>
            <a:prstDash val="solid"/>
          </a:ln>
        </p:spPr>
      </p:sp>
      <p:pic>
        <p:nvPicPr>
          <p:cNvPr id="13" name="Icône FaRobot" descr="FaRobot">    </p:cNvPr>
          <p:cNvPicPr>
            <a:picLocks noChangeAspect="1"/>
          </p:cNvPicPr>
          <p:nvPr/>
        </p:nvPicPr>
        <p:blipFill>
          <a:blip r:embed="rId2"/>
          <a:stretch>
            <a:fillRect/>
          </a:stretch>
        </p:blipFill>
        <p:spPr>
          <a:xfrm>
            <a:off x="6652260" y="1805940"/>
            <a:ext cx="320040" cy="320040"/>
          </a:xfrm>
          <a:prstGeom prst="rect">
            <a:avLst/>
          </a:prstGeom>
        </p:spPr>
      </p:pic>
      <p:sp>
        <p:nvSpPr>
          <p:cNvPr id="14" name="Text 10"/>
          <p:cNvSpPr txBox="1"/>
          <p:nvPr/>
        </p:nvSpPr>
        <p:spPr>
          <a:xfrm>
            <a:off x="7315200" y="1645920"/>
            <a:ext cx="4114800" cy="640080"/>
          </a:xfrm>
          <a:prstGeom prst="rect">
            <a:avLst/>
          </a:prstGeom>
          <a:noFill/>
          <a:ln/>
        </p:spPr>
        <p:txBody>
          <a:bodyPr wrap="square" lIns="0" tIns="0" rIns="0" bIns="0" rtlCol="0" anchor="ctr"/>
          <a:lstStyle/>
          <a:p>
            <a:pPr indent="0" marL="0">
              <a:buNone/>
            </a:pPr>
            <a:r>
              <a:rPr lang="en-US" sz="1800" b="1" dirty="0">
                <a:solidFill>
                  <a:schemeClr val="accent3"/>
                </a:solidFill>
              </a:rPr>
              <a:t>L’idée à garder dès maintenant</a:t>
            </a:r>
            <a:endParaRPr lang="en-US" sz="1800" dirty="0"/>
          </a:p>
        </p:txBody>
      </p:sp>
      <p:sp>
        <p:nvSpPr>
          <p:cNvPr id="15" name="Text 11"/>
          <p:cNvSpPr txBox="1"/>
          <p:nvPr/>
        </p:nvSpPr>
        <p:spPr>
          <a:xfrm>
            <a:off x="6492240" y="2560320"/>
            <a:ext cx="4937760" cy="1005840"/>
          </a:xfrm>
          <a:prstGeom prst="rect">
            <a:avLst/>
          </a:prstGeom>
          <a:noFill/>
          <a:ln/>
        </p:spPr>
        <p:txBody>
          <a:bodyPr wrap="square" lIns="0" tIns="0" rIns="0" bIns="0" rtlCol="0" anchor="t"/>
          <a:lstStyle/>
          <a:p>
            <a:pPr indent="0" marL="0">
              <a:buNone/>
            </a:pPr>
            <a:r>
              <a:rPr lang="en-US" sz="2000" b="1" dirty="0">
                <a:solidFill>
                  <a:schemeClr val="bg1"/>
                </a:solidFill>
              </a:rPr>
              <a:t>Une machine ne comprend pas une phrase comme vous.</a:t>
            </a:r>
            <a:endParaRPr lang="en-US" sz="2000" dirty="0"/>
          </a:p>
        </p:txBody>
      </p:sp>
      <p:sp>
        <p:nvSpPr>
          <p:cNvPr id="16" name="Text 12"/>
          <p:cNvSpPr txBox="1"/>
          <p:nvPr/>
        </p:nvSpPr>
        <p:spPr>
          <a:xfrm>
            <a:off x="6492240" y="3657600"/>
            <a:ext cx="4937760" cy="1737360"/>
          </a:xfrm>
          <a:prstGeom prst="rect">
            <a:avLst/>
          </a:prstGeom>
          <a:noFill/>
          <a:ln/>
        </p:spPr>
        <p:txBody>
          <a:bodyPr wrap="square" lIns="0" tIns="0" rIns="0" bIns="0" rtlCol="0" anchor="t"/>
          <a:lstStyle/>
          <a:p>
            <a:pPr indent="0" marL="0">
              <a:buNone/>
            </a:pPr>
            <a:r>
              <a:rPr lang="en-US" sz="1600" dirty="0">
                <a:solidFill>
                  <a:schemeClr val="bg1"/>
                </a:solidFill>
              </a:rPr>
              <a:t>Elle transforme les mots en nombres, repère des indices et calcule une décision. C’est rapide et régulier, mais fragile.</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À quoi ça sert chez nous ?</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MODULE 1  ·  FONDAMENTAUX DU NLP</a:t>
            </a:r>
            <a:endParaRPr lang="en-US" sz="1200" dirty="0"/>
          </a:p>
        </p:txBody>
      </p:sp>
      <p:sp>
        <p:nvSpPr>
          <p:cNvPr id="4" name="Carte"/>
          <p:cNvSpPr/>
          <p:nvPr/>
        </p:nvSpPr>
        <p:spPr>
          <a:xfrm>
            <a:off x="548640" y="1463040"/>
            <a:ext cx="2656332" cy="2743200"/>
          </a:xfrm>
          <a:prstGeom prst="roundRect">
            <a:avLst>
              <a:gd name="adj" fmla="val 2754"/>
            </a:avLst>
          </a:prstGeom>
          <a:solidFill>
            <a:schemeClr val="bg2"/>
          </a:solidFill>
          <a:ln w="12700">
            <a:solidFill>
              <a:schemeClr val="bg2"/>
            </a:solidFill>
            <a:prstDash val="solid"/>
          </a:ln>
        </p:spPr>
      </p:sp>
      <p:sp>
        <p:nvSpPr>
          <p:cNvPr id="5" name="Pastille"/>
          <p:cNvSpPr/>
          <p:nvPr/>
        </p:nvSpPr>
        <p:spPr>
          <a:xfrm>
            <a:off x="731520" y="1645920"/>
            <a:ext cx="502920" cy="502920"/>
          </a:xfrm>
          <a:prstGeom prst="ellipse">
            <a:avLst/>
          </a:prstGeom>
          <a:solidFill>
            <a:schemeClr val="accent1"/>
          </a:solidFill>
          <a:ln w="12700">
            <a:solidFill>
              <a:schemeClr val="accent1"/>
            </a:solidFill>
            <a:prstDash val="solid"/>
          </a:ln>
        </p:spPr>
      </p:sp>
      <p:pic>
        <p:nvPicPr>
          <p:cNvPr id="6" name="Icône FaInbox" descr="FaInbox">    </p:cNvPr>
          <p:cNvPicPr>
            <a:picLocks noChangeAspect="1"/>
          </p:cNvPicPr>
          <p:nvPr/>
        </p:nvPicPr>
        <p:blipFill>
          <a:blip r:embed="rId1"/>
          <a:stretch>
            <a:fillRect/>
          </a:stretch>
        </p:blipFill>
        <p:spPr>
          <a:xfrm>
            <a:off x="857250" y="1771650"/>
            <a:ext cx="251460" cy="251460"/>
          </a:xfrm>
          <a:prstGeom prst="rect">
            <a:avLst/>
          </a:prstGeom>
        </p:spPr>
      </p:pic>
      <p:sp>
        <p:nvSpPr>
          <p:cNvPr id="7" name="Text 4"/>
          <p:cNvSpPr txBox="1"/>
          <p:nvPr/>
        </p:nvSpPr>
        <p:spPr>
          <a:xfrm>
            <a:off x="731520" y="2267712"/>
            <a:ext cx="2290572" cy="365760"/>
          </a:xfrm>
          <a:prstGeom prst="rect">
            <a:avLst/>
          </a:prstGeom>
          <a:noFill/>
          <a:ln/>
        </p:spPr>
        <p:txBody>
          <a:bodyPr wrap="square" lIns="0" tIns="0" rIns="0" bIns="0" rtlCol="0" anchor="t"/>
          <a:lstStyle/>
          <a:p>
            <a:pPr indent="0" marL="0">
              <a:buNone/>
            </a:pPr>
            <a:r>
              <a:rPr lang="en-US" sz="1600" b="1" dirty="0">
                <a:solidFill>
                  <a:schemeClr val="accent1"/>
                </a:solidFill>
              </a:rPr>
              <a:t>Administration</a:t>
            </a:r>
            <a:endParaRPr lang="en-US" sz="1600" dirty="0"/>
          </a:p>
        </p:txBody>
      </p:sp>
      <p:sp>
        <p:nvSpPr>
          <p:cNvPr id="8" name="Text 5"/>
          <p:cNvSpPr txBox="1"/>
          <p:nvPr/>
        </p:nvSpPr>
        <p:spPr>
          <a:xfrm>
            <a:off x="731520" y="2633472"/>
            <a:ext cx="2290572" cy="1508760"/>
          </a:xfrm>
          <a:prstGeom prst="rect">
            <a:avLst/>
          </a:prstGeom>
          <a:noFill/>
          <a:ln/>
        </p:spPr>
        <p:txBody>
          <a:bodyPr wrap="square" lIns="0" tIns="0" rIns="0" bIns="0" rtlCol="0" anchor="t"/>
          <a:lstStyle/>
          <a:p>
            <a:pPr indent="0" marL="0">
              <a:buNone/>
            </a:pPr>
            <a:r>
              <a:rPr lang="en-US" sz="1450" dirty="0">
                <a:solidFill>
                  <a:schemeClr val="tx1"/>
                </a:solidFill>
              </a:rPr>
              <a:t>Trier automatiquement les courriers et demandes des usagers par service.</a:t>
            </a:r>
            <a:endParaRPr lang="en-US" sz="1450" dirty="0"/>
          </a:p>
        </p:txBody>
      </p:sp>
      <p:sp>
        <p:nvSpPr>
          <p:cNvPr id="9" name="Carte"/>
          <p:cNvSpPr/>
          <p:nvPr/>
        </p:nvSpPr>
        <p:spPr>
          <a:xfrm>
            <a:off x="3360420" y="1463040"/>
            <a:ext cx="2656332" cy="2743200"/>
          </a:xfrm>
          <a:prstGeom prst="roundRect">
            <a:avLst>
              <a:gd name="adj" fmla="val 2754"/>
            </a:avLst>
          </a:prstGeom>
          <a:solidFill>
            <a:schemeClr val="bg2"/>
          </a:solidFill>
          <a:ln w="12700">
            <a:solidFill>
              <a:schemeClr val="bg2"/>
            </a:solidFill>
            <a:prstDash val="solid"/>
          </a:ln>
        </p:spPr>
      </p:sp>
      <p:sp>
        <p:nvSpPr>
          <p:cNvPr id="10" name="Pastille"/>
          <p:cNvSpPr/>
          <p:nvPr/>
        </p:nvSpPr>
        <p:spPr>
          <a:xfrm>
            <a:off x="3543300" y="1645920"/>
            <a:ext cx="502920" cy="502920"/>
          </a:xfrm>
          <a:prstGeom prst="ellipse">
            <a:avLst/>
          </a:prstGeom>
          <a:solidFill>
            <a:schemeClr val="accent2"/>
          </a:solidFill>
          <a:ln w="12700">
            <a:solidFill>
              <a:schemeClr val="accent2"/>
            </a:solidFill>
            <a:prstDash val="solid"/>
          </a:ln>
        </p:spPr>
      </p:sp>
      <p:pic>
        <p:nvPicPr>
          <p:cNvPr id="11" name="Icône FaHospital" descr="FaHospital">    </p:cNvPr>
          <p:cNvPicPr>
            <a:picLocks noChangeAspect="1"/>
          </p:cNvPicPr>
          <p:nvPr/>
        </p:nvPicPr>
        <p:blipFill>
          <a:blip r:embed="rId2"/>
          <a:stretch>
            <a:fillRect/>
          </a:stretch>
        </p:blipFill>
        <p:spPr>
          <a:xfrm>
            <a:off x="3669030" y="1771650"/>
            <a:ext cx="251460" cy="251460"/>
          </a:xfrm>
          <a:prstGeom prst="rect">
            <a:avLst/>
          </a:prstGeom>
        </p:spPr>
      </p:pic>
      <p:sp>
        <p:nvSpPr>
          <p:cNvPr id="12" name="Text 8"/>
          <p:cNvSpPr txBox="1"/>
          <p:nvPr/>
        </p:nvSpPr>
        <p:spPr>
          <a:xfrm>
            <a:off x="3543300" y="2267712"/>
            <a:ext cx="2290572" cy="365760"/>
          </a:xfrm>
          <a:prstGeom prst="rect">
            <a:avLst/>
          </a:prstGeom>
          <a:noFill/>
          <a:ln/>
        </p:spPr>
        <p:txBody>
          <a:bodyPr wrap="square" lIns="0" tIns="0" rIns="0" bIns="0" rtlCol="0" anchor="t"/>
          <a:lstStyle/>
          <a:p>
            <a:pPr indent="0" marL="0">
              <a:buNone/>
            </a:pPr>
            <a:r>
              <a:rPr lang="en-US" sz="1600" b="1" dirty="0">
                <a:solidFill>
                  <a:schemeClr val="accent1"/>
                </a:solidFill>
              </a:rPr>
              <a:t>Santé</a:t>
            </a:r>
            <a:endParaRPr lang="en-US" sz="1600" dirty="0"/>
          </a:p>
        </p:txBody>
      </p:sp>
      <p:sp>
        <p:nvSpPr>
          <p:cNvPr id="13" name="Text 9"/>
          <p:cNvSpPr txBox="1"/>
          <p:nvPr/>
        </p:nvSpPr>
        <p:spPr>
          <a:xfrm>
            <a:off x="3543300" y="2633472"/>
            <a:ext cx="2290572" cy="1508760"/>
          </a:xfrm>
          <a:prstGeom prst="rect">
            <a:avLst/>
          </a:prstGeom>
          <a:noFill/>
          <a:ln/>
        </p:spPr>
        <p:txBody>
          <a:bodyPr wrap="square" lIns="0" tIns="0" rIns="0" bIns="0" rtlCol="0" anchor="t"/>
          <a:lstStyle/>
          <a:p>
            <a:pPr indent="0" marL="0">
              <a:buNone/>
            </a:pPr>
            <a:r>
              <a:rPr lang="en-US" sz="1450" dirty="0">
                <a:solidFill>
                  <a:schemeClr val="tx1"/>
                </a:solidFill>
              </a:rPr>
              <a:t>Retrouver des informations dans des comptes rendus et des dossiers.</a:t>
            </a:r>
            <a:endParaRPr lang="en-US" sz="1450" dirty="0"/>
          </a:p>
        </p:txBody>
      </p:sp>
      <p:sp>
        <p:nvSpPr>
          <p:cNvPr id="14" name="Carte"/>
          <p:cNvSpPr/>
          <p:nvPr/>
        </p:nvSpPr>
        <p:spPr>
          <a:xfrm>
            <a:off x="6172200" y="1463040"/>
            <a:ext cx="2656332" cy="2743200"/>
          </a:xfrm>
          <a:prstGeom prst="roundRect">
            <a:avLst>
              <a:gd name="adj" fmla="val 2754"/>
            </a:avLst>
          </a:prstGeom>
          <a:solidFill>
            <a:schemeClr val="bg2"/>
          </a:solidFill>
          <a:ln w="12700">
            <a:solidFill>
              <a:schemeClr val="bg2"/>
            </a:solidFill>
            <a:prstDash val="solid"/>
          </a:ln>
        </p:spPr>
      </p:sp>
      <p:sp>
        <p:nvSpPr>
          <p:cNvPr id="15" name="Pastille"/>
          <p:cNvSpPr/>
          <p:nvPr/>
        </p:nvSpPr>
        <p:spPr>
          <a:xfrm>
            <a:off x="6355080" y="1645920"/>
            <a:ext cx="502920" cy="502920"/>
          </a:xfrm>
          <a:prstGeom prst="ellipse">
            <a:avLst/>
          </a:prstGeom>
          <a:solidFill>
            <a:schemeClr val="accent1"/>
          </a:solidFill>
          <a:ln w="12700">
            <a:solidFill>
              <a:schemeClr val="accent1"/>
            </a:solidFill>
            <a:prstDash val="solid"/>
          </a:ln>
        </p:spPr>
      </p:sp>
      <p:pic>
        <p:nvPicPr>
          <p:cNvPr id="16" name="Icône FaGraduationCap" descr="FaGraduationCap">    </p:cNvPr>
          <p:cNvPicPr>
            <a:picLocks noChangeAspect="1"/>
          </p:cNvPicPr>
          <p:nvPr/>
        </p:nvPicPr>
        <p:blipFill>
          <a:blip r:embed="rId3"/>
          <a:stretch>
            <a:fillRect/>
          </a:stretch>
        </p:blipFill>
        <p:spPr>
          <a:xfrm>
            <a:off x="6480810" y="1771650"/>
            <a:ext cx="251460" cy="251460"/>
          </a:xfrm>
          <a:prstGeom prst="rect">
            <a:avLst/>
          </a:prstGeom>
        </p:spPr>
      </p:pic>
      <p:sp>
        <p:nvSpPr>
          <p:cNvPr id="17" name="Text 12"/>
          <p:cNvSpPr txBox="1"/>
          <p:nvPr/>
        </p:nvSpPr>
        <p:spPr>
          <a:xfrm>
            <a:off x="6355080" y="2267712"/>
            <a:ext cx="2290572" cy="365760"/>
          </a:xfrm>
          <a:prstGeom prst="rect">
            <a:avLst/>
          </a:prstGeom>
          <a:noFill/>
          <a:ln/>
        </p:spPr>
        <p:txBody>
          <a:bodyPr wrap="square" lIns="0" tIns="0" rIns="0" bIns="0" rtlCol="0" anchor="t"/>
          <a:lstStyle/>
          <a:p>
            <a:pPr indent="0" marL="0">
              <a:buNone/>
            </a:pPr>
            <a:r>
              <a:rPr lang="en-US" sz="1600" b="1" dirty="0">
                <a:solidFill>
                  <a:schemeClr val="accent1"/>
                </a:solidFill>
              </a:rPr>
              <a:t>Éducation</a:t>
            </a:r>
            <a:endParaRPr lang="en-US" sz="1600" dirty="0"/>
          </a:p>
        </p:txBody>
      </p:sp>
      <p:sp>
        <p:nvSpPr>
          <p:cNvPr id="18" name="Text 13"/>
          <p:cNvSpPr txBox="1"/>
          <p:nvPr/>
        </p:nvSpPr>
        <p:spPr>
          <a:xfrm>
            <a:off x="6355080" y="2633472"/>
            <a:ext cx="2290572" cy="1508760"/>
          </a:xfrm>
          <a:prstGeom prst="rect">
            <a:avLst/>
          </a:prstGeom>
          <a:noFill/>
          <a:ln/>
        </p:spPr>
        <p:txBody>
          <a:bodyPr wrap="square" lIns="0" tIns="0" rIns="0" bIns="0" rtlCol="0" anchor="t"/>
          <a:lstStyle/>
          <a:p>
            <a:pPr indent="0" marL="0">
              <a:buNone/>
            </a:pPr>
            <a:r>
              <a:rPr lang="en-US" sz="1450" dirty="0">
                <a:solidFill>
                  <a:schemeClr val="tx1"/>
                </a:solidFill>
              </a:rPr>
              <a:t>Orienter les demandes d’inscription, de bourse, de diplôme.</a:t>
            </a:r>
            <a:endParaRPr lang="en-US" sz="1450" dirty="0"/>
          </a:p>
        </p:txBody>
      </p:sp>
      <p:sp>
        <p:nvSpPr>
          <p:cNvPr id="19" name="Carte"/>
          <p:cNvSpPr/>
          <p:nvPr/>
        </p:nvSpPr>
        <p:spPr>
          <a:xfrm>
            <a:off x="8983980" y="1463040"/>
            <a:ext cx="2656332" cy="2743200"/>
          </a:xfrm>
          <a:prstGeom prst="roundRect">
            <a:avLst>
              <a:gd name="adj" fmla="val 2754"/>
            </a:avLst>
          </a:prstGeom>
          <a:solidFill>
            <a:schemeClr val="bg2"/>
          </a:solidFill>
          <a:ln w="12700">
            <a:solidFill>
              <a:schemeClr val="bg2"/>
            </a:solidFill>
            <a:prstDash val="solid"/>
          </a:ln>
        </p:spPr>
      </p:sp>
      <p:sp>
        <p:nvSpPr>
          <p:cNvPr id="20" name="Pastille"/>
          <p:cNvSpPr/>
          <p:nvPr/>
        </p:nvSpPr>
        <p:spPr>
          <a:xfrm>
            <a:off x="9166860" y="1645920"/>
            <a:ext cx="502920" cy="502920"/>
          </a:xfrm>
          <a:prstGeom prst="ellipse">
            <a:avLst/>
          </a:prstGeom>
          <a:solidFill>
            <a:schemeClr val="accent2"/>
          </a:solidFill>
          <a:ln w="12700">
            <a:solidFill>
              <a:schemeClr val="accent2"/>
            </a:solidFill>
            <a:prstDash val="solid"/>
          </a:ln>
        </p:spPr>
      </p:sp>
      <p:pic>
        <p:nvPicPr>
          <p:cNvPr id="21" name="Icône FaGlobeAfrica" descr="FaGlobeAfrica">    </p:cNvPr>
          <p:cNvPicPr>
            <a:picLocks noChangeAspect="1"/>
          </p:cNvPicPr>
          <p:nvPr/>
        </p:nvPicPr>
        <p:blipFill>
          <a:blip r:embed="rId4"/>
          <a:stretch>
            <a:fillRect/>
          </a:stretch>
        </p:blipFill>
        <p:spPr>
          <a:xfrm>
            <a:off x="9292590" y="1771650"/>
            <a:ext cx="251460" cy="251460"/>
          </a:xfrm>
          <a:prstGeom prst="rect">
            <a:avLst/>
          </a:prstGeom>
        </p:spPr>
      </p:pic>
      <p:sp>
        <p:nvSpPr>
          <p:cNvPr id="22" name="Text 16"/>
          <p:cNvSpPr txBox="1"/>
          <p:nvPr/>
        </p:nvSpPr>
        <p:spPr>
          <a:xfrm>
            <a:off x="9166860" y="2267712"/>
            <a:ext cx="2290572" cy="365760"/>
          </a:xfrm>
          <a:prstGeom prst="rect">
            <a:avLst/>
          </a:prstGeom>
          <a:noFill/>
          <a:ln/>
        </p:spPr>
        <p:txBody>
          <a:bodyPr wrap="square" lIns="0" tIns="0" rIns="0" bIns="0" rtlCol="0" anchor="t"/>
          <a:lstStyle/>
          <a:p>
            <a:pPr indent="0" marL="0">
              <a:buNone/>
            </a:pPr>
            <a:r>
              <a:rPr lang="en-US" sz="1600" b="1" dirty="0">
                <a:solidFill>
                  <a:schemeClr val="accent1"/>
                </a:solidFill>
              </a:rPr>
              <a:t>Langues locales</a:t>
            </a:r>
            <a:endParaRPr lang="en-US" sz="1600" dirty="0"/>
          </a:p>
        </p:txBody>
      </p:sp>
      <p:sp>
        <p:nvSpPr>
          <p:cNvPr id="23" name="Text 17"/>
          <p:cNvSpPr txBox="1"/>
          <p:nvPr/>
        </p:nvSpPr>
        <p:spPr>
          <a:xfrm>
            <a:off x="9166860" y="2633472"/>
            <a:ext cx="2290572" cy="1508760"/>
          </a:xfrm>
          <a:prstGeom prst="rect">
            <a:avLst/>
          </a:prstGeom>
          <a:noFill/>
          <a:ln/>
        </p:spPr>
        <p:txBody>
          <a:bodyPr wrap="square" lIns="0" tIns="0" rIns="0" bIns="0" rtlCol="0" anchor="t"/>
          <a:lstStyle/>
          <a:p>
            <a:pPr indent="0" marL="0">
              <a:buNone/>
            </a:pPr>
            <a:r>
              <a:rPr lang="en-US" sz="1450" dirty="0">
                <a:solidFill>
                  <a:schemeClr val="tx1"/>
                </a:solidFill>
              </a:rPr>
              <a:t>Construire des outils pour les langues togolaises, peu dotées en données écrites.</a:t>
            </a:r>
            <a:endParaRPr lang="en-US" sz="1450" dirty="0"/>
          </a:p>
        </p:txBody>
      </p:sp>
      <p:sp>
        <p:nvSpPr>
          <p:cNvPr id="24" name="À retenir"/>
          <p:cNvSpPr/>
          <p:nvPr/>
        </p:nvSpPr>
        <p:spPr>
          <a:xfrm>
            <a:off x="548640" y="5349240"/>
            <a:ext cx="11091672" cy="777240"/>
          </a:xfrm>
          <a:prstGeom prst="roundRect">
            <a:avLst>
              <a:gd name="adj" fmla="val 9412"/>
            </a:avLst>
          </a:prstGeom>
          <a:solidFill>
            <a:schemeClr val="accent3">
              <a:alpha val="22000"/>
            </a:schemeClr>
          </a:solidFill>
          <a:ln w="12700">
            <a:solidFill>
              <a:schemeClr val="accent3"/>
            </a:solidFill>
            <a:prstDash val="solid"/>
          </a:ln>
        </p:spPr>
      </p:sp>
      <p:pic>
        <p:nvPicPr>
          <p:cNvPr id="25" name="Image 4" descr="À retenir">    </p:cNvPr>
          <p:cNvPicPr>
            <a:picLocks noChangeAspect="1"/>
          </p:cNvPicPr>
          <p:nvPr/>
        </p:nvPicPr>
        <p:blipFill>
          <a:blip r:embed="rId5"/>
          <a:stretch>
            <a:fillRect/>
          </a:stretch>
        </p:blipFill>
        <p:spPr>
          <a:xfrm>
            <a:off x="777240" y="5554980"/>
            <a:ext cx="365760" cy="365760"/>
          </a:xfrm>
          <a:prstGeom prst="rect">
            <a:avLst/>
          </a:prstGeom>
        </p:spPr>
      </p:pic>
      <p:sp>
        <p:nvSpPr>
          <p:cNvPr id="26" name="Text 19"/>
          <p:cNvSpPr txBox="1"/>
          <p:nvPr/>
        </p:nvSpPr>
        <p:spPr>
          <a:xfrm>
            <a:off x="1371600" y="5349240"/>
            <a:ext cx="10058400" cy="777240"/>
          </a:xfrm>
          <a:prstGeom prst="rect">
            <a:avLst/>
          </a:prstGeom>
          <a:noFill/>
          <a:ln/>
        </p:spPr>
        <p:txBody>
          <a:bodyPr wrap="square" lIns="0" tIns="0" rIns="0" bIns="0" rtlCol="0" anchor="ctr"/>
          <a:lstStyle/>
          <a:p>
            <a:pPr indent="0" marL="0">
              <a:buNone/>
            </a:pPr>
            <a:r>
              <a:rPr lang="en-US" sz="1500" b="1" dirty="0">
                <a:solidFill>
                  <a:schemeClr val="tx1"/>
                </a:solidFill>
              </a:rPr>
              <a:t>À retenir : </a:t>
            </a:r>
            <a:r>
              <a:rPr lang="en-US" sz="1500" dirty="0">
                <a:solidFill>
                  <a:schemeClr val="tx1"/>
                </a:solidFill>
              </a:rPr>
              <a:t>les six modules de cette formation (NLP, Transformers, fine-tuning, NER et OCR, RAG, pipelines de données) servent à construire ce type d’outils.</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Pourquoi le langage est difficile pour une machine</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MODULE 1  ·  FONDAMENTAUX DU NLP</a:t>
            </a:r>
            <a:endParaRPr lang="en-US" sz="1200" dirty="0"/>
          </a:p>
        </p:txBody>
      </p:sp>
      <p:sp>
        <p:nvSpPr>
          <p:cNvPr id="4" name="Carte"/>
          <p:cNvSpPr/>
          <p:nvPr/>
        </p:nvSpPr>
        <p:spPr>
          <a:xfrm>
            <a:off x="548640" y="1463040"/>
            <a:ext cx="2656332" cy="3108960"/>
          </a:xfrm>
          <a:prstGeom prst="roundRect">
            <a:avLst>
              <a:gd name="adj" fmla="val 2754"/>
            </a:avLst>
          </a:prstGeom>
          <a:solidFill>
            <a:schemeClr val="bg2"/>
          </a:solidFill>
          <a:ln w="12700">
            <a:solidFill>
              <a:schemeClr val="bg2"/>
            </a:solidFill>
            <a:prstDash val="solid"/>
          </a:ln>
        </p:spPr>
      </p:sp>
      <p:sp>
        <p:nvSpPr>
          <p:cNvPr id="5" name="Pastille"/>
          <p:cNvSpPr/>
          <p:nvPr/>
        </p:nvSpPr>
        <p:spPr>
          <a:xfrm>
            <a:off x="731520" y="1645920"/>
            <a:ext cx="502920" cy="502920"/>
          </a:xfrm>
          <a:prstGeom prst="ellipse">
            <a:avLst/>
          </a:prstGeom>
          <a:solidFill>
            <a:schemeClr val="accent1"/>
          </a:solidFill>
          <a:ln w="12700">
            <a:solidFill>
              <a:schemeClr val="accent1"/>
            </a:solidFill>
            <a:prstDash val="solid"/>
          </a:ln>
        </p:spPr>
      </p:sp>
      <p:pic>
        <p:nvPicPr>
          <p:cNvPr id="6" name="Icône FaQuestionCircle" descr="FaQuestionCircle">    </p:cNvPr>
          <p:cNvPicPr>
            <a:picLocks noChangeAspect="1"/>
          </p:cNvPicPr>
          <p:nvPr/>
        </p:nvPicPr>
        <p:blipFill>
          <a:blip r:embed="rId1"/>
          <a:stretch>
            <a:fillRect/>
          </a:stretch>
        </p:blipFill>
        <p:spPr>
          <a:xfrm>
            <a:off x="857250" y="1771650"/>
            <a:ext cx="251460" cy="251460"/>
          </a:xfrm>
          <a:prstGeom prst="rect">
            <a:avLst/>
          </a:prstGeom>
        </p:spPr>
      </p:pic>
      <p:sp>
        <p:nvSpPr>
          <p:cNvPr id="7" name="Text 4"/>
          <p:cNvSpPr txBox="1"/>
          <p:nvPr/>
        </p:nvSpPr>
        <p:spPr>
          <a:xfrm>
            <a:off x="731520" y="2267712"/>
            <a:ext cx="2290572" cy="365760"/>
          </a:xfrm>
          <a:prstGeom prst="rect">
            <a:avLst/>
          </a:prstGeom>
          <a:noFill/>
          <a:ln/>
        </p:spPr>
        <p:txBody>
          <a:bodyPr wrap="square" lIns="0" tIns="0" rIns="0" bIns="0" rtlCol="0" anchor="t"/>
          <a:lstStyle/>
          <a:p>
            <a:pPr indent="0" marL="0">
              <a:buNone/>
            </a:pPr>
            <a:r>
              <a:rPr lang="en-US" sz="1600" b="1" dirty="0">
                <a:solidFill>
                  <a:schemeClr val="accent1"/>
                </a:solidFill>
              </a:rPr>
              <a:t>L’ambiguïté</a:t>
            </a:r>
            <a:endParaRPr lang="en-US" sz="1600" dirty="0"/>
          </a:p>
        </p:txBody>
      </p:sp>
      <p:sp>
        <p:nvSpPr>
          <p:cNvPr id="8" name="Text 5"/>
          <p:cNvSpPr txBox="1"/>
          <p:nvPr/>
        </p:nvSpPr>
        <p:spPr>
          <a:xfrm>
            <a:off x="731520" y="2633472"/>
            <a:ext cx="2290572" cy="1874520"/>
          </a:xfrm>
          <a:prstGeom prst="rect">
            <a:avLst/>
          </a:prstGeom>
          <a:noFill/>
          <a:ln/>
        </p:spPr>
        <p:txBody>
          <a:bodyPr wrap="square" lIns="0" tIns="0" rIns="0" bIns="0" rtlCol="0" anchor="t"/>
          <a:lstStyle/>
          <a:p>
            <a:pPr indent="0" marL="0">
              <a:buNone/>
            </a:pPr>
            <a:r>
              <a:rPr lang="en-US" sz="1400" dirty="0">
                <a:solidFill>
                  <a:schemeClr val="tx1"/>
                </a:solidFill>
              </a:rPr>
              <a:t>« Il a pris un avocat » : un fruit ou un métier ? Seul le contexte aide.</a:t>
            </a:r>
            <a:endParaRPr lang="en-US" sz="1400" dirty="0"/>
          </a:p>
        </p:txBody>
      </p:sp>
      <p:sp>
        <p:nvSpPr>
          <p:cNvPr id="9" name="Carte"/>
          <p:cNvSpPr/>
          <p:nvPr/>
        </p:nvSpPr>
        <p:spPr>
          <a:xfrm>
            <a:off x="3360420" y="1463040"/>
            <a:ext cx="2656332" cy="3108960"/>
          </a:xfrm>
          <a:prstGeom prst="roundRect">
            <a:avLst>
              <a:gd name="adj" fmla="val 2754"/>
            </a:avLst>
          </a:prstGeom>
          <a:solidFill>
            <a:schemeClr val="bg2"/>
          </a:solidFill>
          <a:ln w="12700">
            <a:solidFill>
              <a:schemeClr val="bg2"/>
            </a:solidFill>
            <a:prstDash val="solid"/>
          </a:ln>
        </p:spPr>
      </p:sp>
      <p:sp>
        <p:nvSpPr>
          <p:cNvPr id="10" name="Pastille"/>
          <p:cNvSpPr/>
          <p:nvPr/>
        </p:nvSpPr>
        <p:spPr>
          <a:xfrm>
            <a:off x="3543300" y="1645920"/>
            <a:ext cx="502920" cy="502920"/>
          </a:xfrm>
          <a:prstGeom prst="ellipse">
            <a:avLst/>
          </a:prstGeom>
          <a:solidFill>
            <a:schemeClr val="accent2"/>
          </a:solidFill>
          <a:ln w="12700">
            <a:solidFill>
              <a:schemeClr val="accent2"/>
            </a:solidFill>
            <a:prstDash val="solid"/>
          </a:ln>
        </p:spPr>
      </p:sp>
      <p:pic>
        <p:nvPicPr>
          <p:cNvPr id="11" name="Icône FaSpellCheck" descr="FaSpellCheck">    </p:cNvPr>
          <p:cNvPicPr>
            <a:picLocks noChangeAspect="1"/>
          </p:cNvPicPr>
          <p:nvPr/>
        </p:nvPicPr>
        <p:blipFill>
          <a:blip r:embed="rId2"/>
          <a:stretch>
            <a:fillRect/>
          </a:stretch>
        </p:blipFill>
        <p:spPr>
          <a:xfrm>
            <a:off x="3669030" y="1771650"/>
            <a:ext cx="251460" cy="251460"/>
          </a:xfrm>
          <a:prstGeom prst="rect">
            <a:avLst/>
          </a:prstGeom>
        </p:spPr>
      </p:pic>
      <p:sp>
        <p:nvSpPr>
          <p:cNvPr id="12" name="Text 8"/>
          <p:cNvSpPr txBox="1"/>
          <p:nvPr/>
        </p:nvSpPr>
        <p:spPr>
          <a:xfrm>
            <a:off x="3543300" y="2267712"/>
            <a:ext cx="2290572" cy="365760"/>
          </a:xfrm>
          <a:prstGeom prst="rect">
            <a:avLst/>
          </a:prstGeom>
          <a:noFill/>
          <a:ln/>
        </p:spPr>
        <p:txBody>
          <a:bodyPr wrap="square" lIns="0" tIns="0" rIns="0" bIns="0" rtlCol="0" anchor="t"/>
          <a:lstStyle/>
          <a:p>
            <a:pPr indent="0" marL="0">
              <a:buNone/>
            </a:pPr>
            <a:r>
              <a:rPr lang="en-US" sz="1600" b="1" dirty="0">
                <a:solidFill>
                  <a:schemeClr val="accent1"/>
                </a:solidFill>
              </a:rPr>
              <a:t>Les variantes</a:t>
            </a:r>
            <a:endParaRPr lang="en-US" sz="1600" dirty="0"/>
          </a:p>
        </p:txBody>
      </p:sp>
      <p:sp>
        <p:nvSpPr>
          <p:cNvPr id="13" name="Text 9"/>
          <p:cNvSpPr txBox="1"/>
          <p:nvPr/>
        </p:nvSpPr>
        <p:spPr>
          <a:xfrm>
            <a:off x="3543300" y="2633472"/>
            <a:ext cx="2290572" cy="1874520"/>
          </a:xfrm>
          <a:prstGeom prst="rect">
            <a:avLst/>
          </a:prstGeom>
          <a:noFill/>
          <a:ln/>
        </p:spPr>
        <p:txBody>
          <a:bodyPr wrap="square" lIns="0" tIns="0" rIns="0" bIns="0" rtlCol="0" anchor="t"/>
          <a:lstStyle/>
          <a:p>
            <a:pPr indent="0" marL="0">
              <a:buNone/>
            </a:pPr>
            <a:r>
              <a:rPr lang="en-US" sz="1400" dirty="0">
                <a:solidFill>
                  <a:schemeClr val="tx1"/>
                </a:solidFill>
              </a:rPr>
              <a:t>Fautes, SMS, abréviations, majuscules, accents oubliés : le même mot s’écrit de dix façons.</a:t>
            </a:r>
            <a:endParaRPr lang="en-US" sz="1400" dirty="0"/>
          </a:p>
        </p:txBody>
      </p:sp>
      <p:sp>
        <p:nvSpPr>
          <p:cNvPr id="14" name="Carte"/>
          <p:cNvSpPr/>
          <p:nvPr/>
        </p:nvSpPr>
        <p:spPr>
          <a:xfrm>
            <a:off x="6172200" y="1463040"/>
            <a:ext cx="2656332" cy="3108960"/>
          </a:xfrm>
          <a:prstGeom prst="roundRect">
            <a:avLst>
              <a:gd name="adj" fmla="val 2754"/>
            </a:avLst>
          </a:prstGeom>
          <a:solidFill>
            <a:schemeClr val="bg2"/>
          </a:solidFill>
          <a:ln w="12700">
            <a:solidFill>
              <a:schemeClr val="bg2"/>
            </a:solidFill>
            <a:prstDash val="solid"/>
          </a:ln>
        </p:spPr>
      </p:sp>
      <p:sp>
        <p:nvSpPr>
          <p:cNvPr id="15" name="Pastille"/>
          <p:cNvSpPr/>
          <p:nvPr/>
        </p:nvSpPr>
        <p:spPr>
          <a:xfrm>
            <a:off x="6355080" y="1645920"/>
            <a:ext cx="502920" cy="502920"/>
          </a:xfrm>
          <a:prstGeom prst="ellipse">
            <a:avLst/>
          </a:prstGeom>
          <a:solidFill>
            <a:schemeClr val="accent1"/>
          </a:solidFill>
          <a:ln w="12700">
            <a:solidFill>
              <a:schemeClr val="accent1"/>
            </a:solidFill>
            <a:prstDash val="solid"/>
          </a:ln>
        </p:spPr>
      </p:sp>
      <p:pic>
        <p:nvPicPr>
          <p:cNvPr id="16" name="Icône FaCommentDots" descr="FaCommentDots">    </p:cNvPr>
          <p:cNvPicPr>
            <a:picLocks noChangeAspect="1"/>
          </p:cNvPicPr>
          <p:nvPr/>
        </p:nvPicPr>
        <p:blipFill>
          <a:blip r:embed="rId3"/>
          <a:stretch>
            <a:fillRect/>
          </a:stretch>
        </p:blipFill>
        <p:spPr>
          <a:xfrm>
            <a:off x="6480810" y="1771650"/>
            <a:ext cx="251460" cy="251460"/>
          </a:xfrm>
          <a:prstGeom prst="rect">
            <a:avLst/>
          </a:prstGeom>
        </p:spPr>
      </p:pic>
      <p:sp>
        <p:nvSpPr>
          <p:cNvPr id="17" name="Text 12"/>
          <p:cNvSpPr txBox="1"/>
          <p:nvPr/>
        </p:nvSpPr>
        <p:spPr>
          <a:xfrm>
            <a:off x="6355080" y="2267712"/>
            <a:ext cx="2290572" cy="365760"/>
          </a:xfrm>
          <a:prstGeom prst="rect">
            <a:avLst/>
          </a:prstGeom>
          <a:noFill/>
          <a:ln/>
        </p:spPr>
        <p:txBody>
          <a:bodyPr wrap="square" lIns="0" tIns="0" rIns="0" bIns="0" rtlCol="0" anchor="t"/>
          <a:lstStyle/>
          <a:p>
            <a:pPr indent="0" marL="0">
              <a:buNone/>
            </a:pPr>
            <a:r>
              <a:rPr lang="en-US" sz="1600" b="1" dirty="0">
                <a:solidFill>
                  <a:schemeClr val="accent1"/>
                </a:solidFill>
              </a:rPr>
              <a:t>Le contexte</a:t>
            </a:r>
            <a:endParaRPr lang="en-US" sz="1600" dirty="0"/>
          </a:p>
        </p:txBody>
      </p:sp>
      <p:sp>
        <p:nvSpPr>
          <p:cNvPr id="18" name="Text 13"/>
          <p:cNvSpPr txBox="1"/>
          <p:nvPr/>
        </p:nvSpPr>
        <p:spPr>
          <a:xfrm>
            <a:off x="6355080" y="2633472"/>
            <a:ext cx="2290572" cy="1874520"/>
          </a:xfrm>
          <a:prstGeom prst="rect">
            <a:avLst/>
          </a:prstGeom>
          <a:noFill/>
          <a:ln/>
        </p:spPr>
        <p:txBody>
          <a:bodyPr wrap="square" lIns="0" tIns="0" rIns="0" bIns="0" rtlCol="0" anchor="t"/>
          <a:lstStyle/>
          <a:p>
            <a:pPr indent="0" marL="0">
              <a:buNone/>
            </a:pPr>
            <a:r>
              <a:rPr lang="en-US" sz="1400" dirty="0">
                <a:solidFill>
                  <a:schemeClr val="tx1"/>
                </a:solidFill>
              </a:rPr>
              <a:t>« Il fait chaud » ne veut pas dire la même chose en cuisine ou en météo.</a:t>
            </a:r>
            <a:endParaRPr lang="en-US" sz="1400" dirty="0"/>
          </a:p>
        </p:txBody>
      </p:sp>
      <p:sp>
        <p:nvSpPr>
          <p:cNvPr id="19" name="Carte"/>
          <p:cNvSpPr/>
          <p:nvPr/>
        </p:nvSpPr>
        <p:spPr>
          <a:xfrm>
            <a:off x="8983980" y="1463040"/>
            <a:ext cx="2656332" cy="3108960"/>
          </a:xfrm>
          <a:prstGeom prst="roundRect">
            <a:avLst>
              <a:gd name="adj" fmla="val 2754"/>
            </a:avLst>
          </a:prstGeom>
          <a:solidFill>
            <a:schemeClr val="bg2"/>
          </a:solidFill>
          <a:ln w="12700">
            <a:solidFill>
              <a:schemeClr val="bg2"/>
            </a:solidFill>
            <a:prstDash val="solid"/>
          </a:ln>
        </p:spPr>
      </p:sp>
      <p:sp>
        <p:nvSpPr>
          <p:cNvPr id="20" name="Pastille"/>
          <p:cNvSpPr/>
          <p:nvPr/>
        </p:nvSpPr>
        <p:spPr>
          <a:xfrm>
            <a:off x="9166860" y="1645920"/>
            <a:ext cx="502920" cy="502920"/>
          </a:xfrm>
          <a:prstGeom prst="ellipse">
            <a:avLst/>
          </a:prstGeom>
          <a:solidFill>
            <a:schemeClr val="accent2"/>
          </a:solidFill>
          <a:ln w="12700">
            <a:solidFill>
              <a:schemeClr val="accent2"/>
            </a:solidFill>
            <a:prstDash val="solid"/>
          </a:ln>
        </p:spPr>
      </p:sp>
      <p:pic>
        <p:nvPicPr>
          <p:cNvPr id="21" name="Icône FaGlobeAfrica" descr="FaGlobeAfrica">    </p:cNvPr>
          <p:cNvPicPr>
            <a:picLocks noChangeAspect="1"/>
          </p:cNvPicPr>
          <p:nvPr/>
        </p:nvPicPr>
        <p:blipFill>
          <a:blip r:embed="rId4"/>
          <a:stretch>
            <a:fillRect/>
          </a:stretch>
        </p:blipFill>
        <p:spPr>
          <a:xfrm>
            <a:off x="9292590" y="1771650"/>
            <a:ext cx="251460" cy="251460"/>
          </a:xfrm>
          <a:prstGeom prst="rect">
            <a:avLst/>
          </a:prstGeom>
        </p:spPr>
      </p:pic>
      <p:sp>
        <p:nvSpPr>
          <p:cNvPr id="22" name="Text 16"/>
          <p:cNvSpPr txBox="1"/>
          <p:nvPr/>
        </p:nvSpPr>
        <p:spPr>
          <a:xfrm>
            <a:off x="9166860" y="2267712"/>
            <a:ext cx="2290572" cy="365760"/>
          </a:xfrm>
          <a:prstGeom prst="rect">
            <a:avLst/>
          </a:prstGeom>
          <a:noFill/>
          <a:ln/>
        </p:spPr>
        <p:txBody>
          <a:bodyPr wrap="square" lIns="0" tIns="0" rIns="0" bIns="0" rtlCol="0" anchor="t"/>
          <a:lstStyle/>
          <a:p>
            <a:pPr indent="0" marL="0">
              <a:buNone/>
            </a:pPr>
            <a:r>
              <a:rPr lang="en-US" sz="1600" b="1" dirty="0">
                <a:solidFill>
                  <a:schemeClr val="accent1"/>
                </a:solidFill>
              </a:rPr>
              <a:t>Langues peu dotées</a:t>
            </a:r>
            <a:endParaRPr lang="en-US" sz="1600" dirty="0"/>
          </a:p>
        </p:txBody>
      </p:sp>
      <p:sp>
        <p:nvSpPr>
          <p:cNvPr id="23" name="Text 17"/>
          <p:cNvSpPr txBox="1"/>
          <p:nvPr/>
        </p:nvSpPr>
        <p:spPr>
          <a:xfrm>
            <a:off x="9166860" y="2633472"/>
            <a:ext cx="2290572" cy="1874520"/>
          </a:xfrm>
          <a:prstGeom prst="rect">
            <a:avLst/>
          </a:prstGeom>
          <a:noFill/>
          <a:ln/>
        </p:spPr>
        <p:txBody>
          <a:bodyPr wrap="square" lIns="0" tIns="0" rIns="0" bIns="0" rtlCol="0" anchor="t"/>
          <a:lstStyle/>
          <a:p>
            <a:pPr indent="0" marL="0">
              <a:buNone/>
            </a:pPr>
            <a:r>
              <a:rPr lang="en-US" sz="1400" dirty="0">
                <a:solidFill>
                  <a:schemeClr val="tx1"/>
                </a:solidFill>
              </a:rPr>
              <a:t>Peu de textes numérisés, des lettres spéciales (ɖ, ɛ, ɔ, ŋ), des orthographes pas toujours fixées.</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Le chemin d’un texte : de la phrase à la décision</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MODULE 1  ·  FONDAMENTAUX DU NLP</a:t>
            </a:r>
            <a:endParaRPr lang="en-US" sz="1200" dirty="0"/>
          </a:p>
        </p:txBody>
      </p:sp>
      <p:sp>
        <p:nvSpPr>
          <p:cNvPr id="4" name="Text 2"/>
          <p:cNvSpPr txBox="1"/>
          <p:nvPr/>
        </p:nvSpPr>
        <p:spPr>
          <a:xfrm>
            <a:off x="548640" y="1325880"/>
            <a:ext cx="11064240" cy="640080"/>
          </a:xfrm>
          <a:prstGeom prst="rect">
            <a:avLst/>
          </a:prstGeom>
          <a:noFill/>
          <a:ln/>
        </p:spPr>
        <p:txBody>
          <a:bodyPr wrap="square" lIns="0" tIns="0" rIns="0" bIns="0" rtlCol="0" anchor="t"/>
          <a:lstStyle/>
          <a:p>
            <a:pPr indent="0" marL="0">
              <a:buNone/>
            </a:pPr>
            <a:r>
              <a:rPr lang="en-US" sz="1600" dirty="0">
                <a:solidFill>
                  <a:schemeClr val="tx1"/>
                </a:solidFill>
              </a:rPr>
              <a:t>Quatre étapes, toujours les mêmes, qu’il s’agisse de trier du courrier ou de repérer des maladies dans un dossier.</a:t>
            </a:r>
            <a:endParaRPr lang="en-US" sz="1600" dirty="0"/>
          </a:p>
        </p:txBody>
      </p:sp>
      <p:sp>
        <p:nvSpPr>
          <p:cNvPr id="5" name="Carte"/>
          <p:cNvSpPr/>
          <p:nvPr/>
        </p:nvSpPr>
        <p:spPr>
          <a:xfrm>
            <a:off x="548640" y="2194560"/>
            <a:ext cx="1962302" cy="2834640"/>
          </a:xfrm>
          <a:prstGeom prst="roundRect">
            <a:avLst>
              <a:gd name="adj" fmla="val 3728"/>
            </a:avLst>
          </a:prstGeom>
          <a:solidFill>
            <a:schemeClr val="bg2"/>
          </a:solidFill>
          <a:ln w="12700">
            <a:solidFill>
              <a:schemeClr val="bg2"/>
            </a:solidFill>
            <a:prstDash val="solid"/>
          </a:ln>
        </p:spPr>
      </p:sp>
      <p:sp>
        <p:nvSpPr>
          <p:cNvPr id="6" name="Pastille"/>
          <p:cNvSpPr/>
          <p:nvPr/>
        </p:nvSpPr>
        <p:spPr>
          <a:xfrm>
            <a:off x="1255471" y="2377440"/>
            <a:ext cx="548640" cy="548640"/>
          </a:xfrm>
          <a:prstGeom prst="ellipse">
            <a:avLst/>
          </a:prstGeom>
          <a:solidFill>
            <a:schemeClr val="accent1"/>
          </a:solidFill>
          <a:ln w="12700">
            <a:solidFill>
              <a:schemeClr val="accent1"/>
            </a:solidFill>
            <a:prstDash val="solid"/>
          </a:ln>
        </p:spPr>
      </p:sp>
      <p:pic>
        <p:nvPicPr>
          <p:cNvPr id="7" name="Icône FaFileAlt" descr="FaFileAlt">    </p:cNvPr>
          <p:cNvPicPr>
            <a:picLocks noChangeAspect="1"/>
          </p:cNvPicPr>
          <p:nvPr/>
        </p:nvPicPr>
        <p:blipFill>
          <a:blip r:embed="rId1"/>
          <a:stretch>
            <a:fillRect/>
          </a:stretch>
        </p:blipFill>
        <p:spPr>
          <a:xfrm>
            <a:off x="1392631" y="2514600"/>
            <a:ext cx="274320" cy="274320"/>
          </a:xfrm>
          <a:prstGeom prst="rect">
            <a:avLst/>
          </a:prstGeom>
        </p:spPr>
      </p:pic>
      <p:sp>
        <p:nvSpPr>
          <p:cNvPr id="8" name="Text 5"/>
          <p:cNvSpPr txBox="1"/>
          <p:nvPr/>
        </p:nvSpPr>
        <p:spPr>
          <a:xfrm>
            <a:off x="640080" y="3063240"/>
            <a:ext cx="1779422" cy="457200"/>
          </a:xfrm>
          <a:prstGeom prst="rect">
            <a:avLst/>
          </a:prstGeom>
          <a:noFill/>
          <a:ln/>
        </p:spPr>
        <p:txBody>
          <a:bodyPr wrap="square" lIns="0" tIns="0" rIns="0" bIns="0" rtlCol="0" anchor="t"/>
          <a:lstStyle/>
          <a:p>
            <a:pPr algn="ctr" indent="0" marL="0">
              <a:buNone/>
            </a:pPr>
            <a:r>
              <a:rPr lang="en-US" sz="1450" b="1" dirty="0">
                <a:solidFill>
                  <a:schemeClr val="accent1"/>
                </a:solidFill>
              </a:rPr>
              <a:t>1. Le texte brut</a:t>
            </a:r>
            <a:endParaRPr lang="en-US" sz="1450" dirty="0"/>
          </a:p>
        </p:txBody>
      </p:sp>
      <p:sp>
        <p:nvSpPr>
          <p:cNvPr id="9" name="Text 6"/>
          <p:cNvSpPr txBox="1"/>
          <p:nvPr/>
        </p:nvSpPr>
        <p:spPr>
          <a:xfrm>
            <a:off x="658368" y="3520440"/>
            <a:ext cx="1742846" cy="1463040"/>
          </a:xfrm>
          <a:prstGeom prst="rect">
            <a:avLst/>
          </a:prstGeom>
          <a:noFill/>
          <a:ln/>
        </p:spPr>
        <p:txBody>
          <a:bodyPr wrap="square" lIns="0" tIns="0" rIns="0" bIns="0" rtlCol="0" anchor="t"/>
          <a:lstStyle/>
          <a:p>
            <a:pPr algn="ctr" indent="0" marL="0">
              <a:buNone/>
            </a:pPr>
            <a:r>
              <a:rPr lang="en-US" sz="1300" dirty="0">
                <a:solidFill>
                  <a:schemeClr val="tx1"/>
                </a:solidFill>
              </a:rPr>
              <a:t>Un message tel qu’il arrive, avec ses fautes</a:t>
            </a:r>
            <a:endParaRPr lang="en-US" sz="1300" dirty="0"/>
          </a:p>
        </p:txBody>
      </p:sp>
      <p:sp>
        <p:nvSpPr>
          <p:cNvPr id="10" name="Text 7"/>
          <p:cNvSpPr txBox="1"/>
          <p:nvPr/>
        </p:nvSpPr>
        <p:spPr>
          <a:xfrm>
            <a:off x="2510942" y="3337560"/>
            <a:ext cx="320040" cy="548640"/>
          </a:xfrm>
          <a:prstGeom prst="rect">
            <a:avLst/>
          </a:prstGeom>
          <a:noFill/>
          <a:ln/>
        </p:spPr>
        <p:txBody>
          <a:bodyPr wrap="square" lIns="0" tIns="0" rIns="0" bIns="0" rtlCol="0" anchor="ctr"/>
          <a:lstStyle/>
          <a:p>
            <a:pPr algn="ctr" indent="0" marL="0">
              <a:buNone/>
            </a:pPr>
            <a:r>
              <a:rPr lang="en-US" sz="2800" b="1" dirty="0">
                <a:solidFill>
                  <a:schemeClr val="accent6"/>
                </a:solidFill>
              </a:rPr>
              <a:t>›</a:t>
            </a:r>
            <a:endParaRPr lang="en-US" sz="2800" dirty="0"/>
          </a:p>
        </p:txBody>
      </p:sp>
      <p:sp>
        <p:nvSpPr>
          <p:cNvPr id="11" name="Carte"/>
          <p:cNvSpPr/>
          <p:nvPr/>
        </p:nvSpPr>
        <p:spPr>
          <a:xfrm>
            <a:off x="2830982" y="2194560"/>
            <a:ext cx="1962302" cy="2834640"/>
          </a:xfrm>
          <a:prstGeom prst="roundRect">
            <a:avLst>
              <a:gd name="adj" fmla="val 3728"/>
            </a:avLst>
          </a:prstGeom>
          <a:solidFill>
            <a:schemeClr val="bg2"/>
          </a:solidFill>
          <a:ln w="12700">
            <a:solidFill>
              <a:schemeClr val="bg2"/>
            </a:solidFill>
            <a:prstDash val="solid"/>
          </a:ln>
        </p:spPr>
      </p:sp>
      <p:sp>
        <p:nvSpPr>
          <p:cNvPr id="12" name="Pastille"/>
          <p:cNvSpPr/>
          <p:nvPr/>
        </p:nvSpPr>
        <p:spPr>
          <a:xfrm>
            <a:off x="3537814" y="2377440"/>
            <a:ext cx="548640" cy="548640"/>
          </a:xfrm>
          <a:prstGeom prst="ellipse">
            <a:avLst/>
          </a:prstGeom>
          <a:solidFill>
            <a:schemeClr val="accent2"/>
          </a:solidFill>
          <a:ln w="12700">
            <a:solidFill>
              <a:schemeClr val="accent2"/>
            </a:solidFill>
            <a:prstDash val="solid"/>
          </a:ln>
        </p:spPr>
      </p:sp>
      <p:pic>
        <p:nvPicPr>
          <p:cNvPr id="13" name="Icône FaBroom" descr="FaBroom">    </p:cNvPr>
          <p:cNvPicPr>
            <a:picLocks noChangeAspect="1"/>
          </p:cNvPicPr>
          <p:nvPr/>
        </p:nvPicPr>
        <p:blipFill>
          <a:blip r:embed="rId2"/>
          <a:stretch>
            <a:fillRect/>
          </a:stretch>
        </p:blipFill>
        <p:spPr>
          <a:xfrm>
            <a:off x="3674974" y="2514600"/>
            <a:ext cx="274320" cy="274320"/>
          </a:xfrm>
          <a:prstGeom prst="rect">
            <a:avLst/>
          </a:prstGeom>
        </p:spPr>
      </p:pic>
      <p:sp>
        <p:nvSpPr>
          <p:cNvPr id="14" name="Text 10"/>
          <p:cNvSpPr txBox="1"/>
          <p:nvPr/>
        </p:nvSpPr>
        <p:spPr>
          <a:xfrm>
            <a:off x="2922422" y="3063240"/>
            <a:ext cx="1779422" cy="457200"/>
          </a:xfrm>
          <a:prstGeom prst="rect">
            <a:avLst/>
          </a:prstGeom>
          <a:noFill/>
          <a:ln/>
        </p:spPr>
        <p:txBody>
          <a:bodyPr wrap="square" lIns="0" tIns="0" rIns="0" bIns="0" rtlCol="0" anchor="t"/>
          <a:lstStyle/>
          <a:p>
            <a:pPr algn="ctr" indent="0" marL="0">
              <a:buNone/>
            </a:pPr>
            <a:r>
              <a:rPr lang="en-US" sz="1450" b="1" dirty="0">
                <a:solidFill>
                  <a:schemeClr val="accent1"/>
                </a:solidFill>
              </a:rPr>
              <a:t>2. Nettoyer</a:t>
            </a:r>
            <a:endParaRPr lang="en-US" sz="1450" dirty="0"/>
          </a:p>
        </p:txBody>
      </p:sp>
      <p:sp>
        <p:nvSpPr>
          <p:cNvPr id="15" name="Text 11"/>
          <p:cNvSpPr txBox="1"/>
          <p:nvPr/>
        </p:nvSpPr>
        <p:spPr>
          <a:xfrm>
            <a:off x="2940710" y="3520440"/>
            <a:ext cx="1742846" cy="1463040"/>
          </a:xfrm>
          <a:prstGeom prst="rect">
            <a:avLst/>
          </a:prstGeom>
          <a:noFill/>
          <a:ln/>
        </p:spPr>
        <p:txBody>
          <a:bodyPr wrap="square" lIns="0" tIns="0" rIns="0" bIns="0" rtlCol="0" anchor="t"/>
          <a:lstStyle/>
          <a:p>
            <a:pPr algn="ctr" indent="0" marL="0">
              <a:buNone/>
            </a:pPr>
            <a:r>
              <a:rPr lang="en-US" sz="1300" dirty="0">
                <a:solidFill>
                  <a:schemeClr val="tx1"/>
                </a:solidFill>
              </a:rPr>
              <a:t>Harmoniser majuscules, accents, ponctuation</a:t>
            </a:r>
            <a:endParaRPr lang="en-US" sz="1300" dirty="0"/>
          </a:p>
        </p:txBody>
      </p:sp>
      <p:sp>
        <p:nvSpPr>
          <p:cNvPr id="16" name="Text 12"/>
          <p:cNvSpPr txBox="1"/>
          <p:nvPr/>
        </p:nvSpPr>
        <p:spPr>
          <a:xfrm>
            <a:off x="4793285" y="3337560"/>
            <a:ext cx="320040" cy="548640"/>
          </a:xfrm>
          <a:prstGeom prst="rect">
            <a:avLst/>
          </a:prstGeom>
          <a:noFill/>
          <a:ln/>
        </p:spPr>
        <p:txBody>
          <a:bodyPr wrap="square" lIns="0" tIns="0" rIns="0" bIns="0" rtlCol="0" anchor="ctr"/>
          <a:lstStyle/>
          <a:p>
            <a:pPr algn="ctr" indent="0" marL="0">
              <a:buNone/>
            </a:pPr>
            <a:r>
              <a:rPr lang="en-US" sz="2800" b="1" dirty="0">
                <a:solidFill>
                  <a:schemeClr val="accent6"/>
                </a:solidFill>
              </a:rPr>
              <a:t>›</a:t>
            </a:r>
            <a:endParaRPr lang="en-US" sz="2800" dirty="0"/>
          </a:p>
        </p:txBody>
      </p:sp>
      <p:sp>
        <p:nvSpPr>
          <p:cNvPr id="17" name="Carte"/>
          <p:cNvSpPr/>
          <p:nvPr/>
        </p:nvSpPr>
        <p:spPr>
          <a:xfrm>
            <a:off x="5113325" y="2194560"/>
            <a:ext cx="1962302" cy="2834640"/>
          </a:xfrm>
          <a:prstGeom prst="roundRect">
            <a:avLst>
              <a:gd name="adj" fmla="val 3728"/>
            </a:avLst>
          </a:prstGeom>
          <a:solidFill>
            <a:schemeClr val="bg2"/>
          </a:solidFill>
          <a:ln w="12700">
            <a:solidFill>
              <a:schemeClr val="bg2"/>
            </a:solidFill>
            <a:prstDash val="solid"/>
          </a:ln>
        </p:spPr>
      </p:sp>
      <p:sp>
        <p:nvSpPr>
          <p:cNvPr id="18" name="Pastille"/>
          <p:cNvSpPr/>
          <p:nvPr/>
        </p:nvSpPr>
        <p:spPr>
          <a:xfrm>
            <a:off x="5820156" y="2377440"/>
            <a:ext cx="548640" cy="548640"/>
          </a:xfrm>
          <a:prstGeom prst="ellipse">
            <a:avLst/>
          </a:prstGeom>
          <a:solidFill>
            <a:schemeClr val="accent1"/>
          </a:solidFill>
          <a:ln w="12700">
            <a:solidFill>
              <a:schemeClr val="accent1"/>
            </a:solidFill>
            <a:prstDash val="solid"/>
          </a:ln>
        </p:spPr>
      </p:sp>
      <p:pic>
        <p:nvPicPr>
          <p:cNvPr id="19" name="Icône FaCut" descr="FaCut">    </p:cNvPr>
          <p:cNvPicPr>
            <a:picLocks noChangeAspect="1"/>
          </p:cNvPicPr>
          <p:nvPr/>
        </p:nvPicPr>
        <p:blipFill>
          <a:blip r:embed="rId3"/>
          <a:stretch>
            <a:fillRect/>
          </a:stretch>
        </p:blipFill>
        <p:spPr>
          <a:xfrm>
            <a:off x="5957316" y="2514600"/>
            <a:ext cx="274320" cy="274320"/>
          </a:xfrm>
          <a:prstGeom prst="rect">
            <a:avLst/>
          </a:prstGeom>
        </p:spPr>
      </p:pic>
      <p:sp>
        <p:nvSpPr>
          <p:cNvPr id="20" name="Text 15"/>
          <p:cNvSpPr txBox="1"/>
          <p:nvPr/>
        </p:nvSpPr>
        <p:spPr>
          <a:xfrm>
            <a:off x="5204765" y="3063240"/>
            <a:ext cx="1779422" cy="457200"/>
          </a:xfrm>
          <a:prstGeom prst="rect">
            <a:avLst/>
          </a:prstGeom>
          <a:noFill/>
          <a:ln/>
        </p:spPr>
        <p:txBody>
          <a:bodyPr wrap="square" lIns="0" tIns="0" rIns="0" bIns="0" rtlCol="0" anchor="t"/>
          <a:lstStyle/>
          <a:p>
            <a:pPr algn="ctr" indent="0" marL="0">
              <a:buNone/>
            </a:pPr>
            <a:r>
              <a:rPr lang="en-US" sz="1450" b="1" dirty="0">
                <a:solidFill>
                  <a:schemeClr val="accent1"/>
                </a:solidFill>
              </a:rPr>
              <a:t>3. Découper</a:t>
            </a:r>
            <a:endParaRPr lang="en-US" sz="1450" dirty="0"/>
          </a:p>
        </p:txBody>
      </p:sp>
      <p:sp>
        <p:nvSpPr>
          <p:cNvPr id="21" name="Text 16"/>
          <p:cNvSpPr txBox="1"/>
          <p:nvPr/>
        </p:nvSpPr>
        <p:spPr>
          <a:xfrm>
            <a:off x="5223053" y="3520440"/>
            <a:ext cx="1742846" cy="1463040"/>
          </a:xfrm>
          <a:prstGeom prst="rect">
            <a:avLst/>
          </a:prstGeom>
          <a:noFill/>
          <a:ln/>
        </p:spPr>
        <p:txBody>
          <a:bodyPr wrap="square" lIns="0" tIns="0" rIns="0" bIns="0" rtlCol="0" anchor="t"/>
          <a:lstStyle/>
          <a:p>
            <a:pPr algn="ctr" indent="0" marL="0">
              <a:buNone/>
            </a:pPr>
            <a:r>
              <a:rPr lang="en-US" sz="1300" dirty="0">
                <a:solidFill>
                  <a:schemeClr val="tx1"/>
                </a:solidFill>
              </a:rPr>
              <a:t>Séparer en mots (les « tokens »)</a:t>
            </a:r>
            <a:endParaRPr lang="en-US" sz="1300" dirty="0"/>
          </a:p>
        </p:txBody>
      </p:sp>
      <p:sp>
        <p:nvSpPr>
          <p:cNvPr id="22" name="Text 17"/>
          <p:cNvSpPr txBox="1"/>
          <p:nvPr/>
        </p:nvSpPr>
        <p:spPr>
          <a:xfrm>
            <a:off x="7075627" y="3337560"/>
            <a:ext cx="320040" cy="548640"/>
          </a:xfrm>
          <a:prstGeom prst="rect">
            <a:avLst/>
          </a:prstGeom>
          <a:noFill/>
          <a:ln/>
        </p:spPr>
        <p:txBody>
          <a:bodyPr wrap="square" lIns="0" tIns="0" rIns="0" bIns="0" rtlCol="0" anchor="ctr"/>
          <a:lstStyle/>
          <a:p>
            <a:pPr algn="ctr" indent="0" marL="0">
              <a:buNone/>
            </a:pPr>
            <a:r>
              <a:rPr lang="en-US" sz="2800" b="1" dirty="0">
                <a:solidFill>
                  <a:schemeClr val="accent6"/>
                </a:solidFill>
              </a:rPr>
              <a:t>›</a:t>
            </a:r>
            <a:endParaRPr lang="en-US" sz="2800" dirty="0"/>
          </a:p>
        </p:txBody>
      </p:sp>
      <p:sp>
        <p:nvSpPr>
          <p:cNvPr id="23" name="Carte"/>
          <p:cNvSpPr/>
          <p:nvPr/>
        </p:nvSpPr>
        <p:spPr>
          <a:xfrm>
            <a:off x="7395667" y="2194560"/>
            <a:ext cx="1962302" cy="2834640"/>
          </a:xfrm>
          <a:prstGeom prst="roundRect">
            <a:avLst>
              <a:gd name="adj" fmla="val 3728"/>
            </a:avLst>
          </a:prstGeom>
          <a:solidFill>
            <a:schemeClr val="bg2"/>
          </a:solidFill>
          <a:ln w="12700">
            <a:solidFill>
              <a:schemeClr val="bg2"/>
            </a:solidFill>
            <a:prstDash val="solid"/>
          </a:ln>
        </p:spPr>
      </p:sp>
      <p:sp>
        <p:nvSpPr>
          <p:cNvPr id="24" name="Pastille"/>
          <p:cNvSpPr/>
          <p:nvPr/>
        </p:nvSpPr>
        <p:spPr>
          <a:xfrm>
            <a:off x="8102498" y="2377440"/>
            <a:ext cx="548640" cy="548640"/>
          </a:xfrm>
          <a:prstGeom prst="ellipse">
            <a:avLst/>
          </a:prstGeom>
          <a:solidFill>
            <a:schemeClr val="accent2"/>
          </a:solidFill>
          <a:ln w="12700">
            <a:solidFill>
              <a:schemeClr val="accent2"/>
            </a:solidFill>
            <a:prstDash val="solid"/>
          </a:ln>
        </p:spPr>
      </p:sp>
      <p:pic>
        <p:nvPicPr>
          <p:cNvPr id="25" name="Icône FaCalculator" descr="FaCalculator">    </p:cNvPr>
          <p:cNvPicPr>
            <a:picLocks noChangeAspect="1"/>
          </p:cNvPicPr>
          <p:nvPr/>
        </p:nvPicPr>
        <p:blipFill>
          <a:blip r:embed="rId4"/>
          <a:stretch>
            <a:fillRect/>
          </a:stretch>
        </p:blipFill>
        <p:spPr>
          <a:xfrm>
            <a:off x="8239658" y="2514600"/>
            <a:ext cx="274320" cy="274320"/>
          </a:xfrm>
          <a:prstGeom prst="rect">
            <a:avLst/>
          </a:prstGeom>
        </p:spPr>
      </p:pic>
      <p:sp>
        <p:nvSpPr>
          <p:cNvPr id="26" name="Text 20"/>
          <p:cNvSpPr txBox="1"/>
          <p:nvPr/>
        </p:nvSpPr>
        <p:spPr>
          <a:xfrm>
            <a:off x="7487107" y="3063240"/>
            <a:ext cx="1779422" cy="457200"/>
          </a:xfrm>
          <a:prstGeom prst="rect">
            <a:avLst/>
          </a:prstGeom>
          <a:noFill/>
          <a:ln/>
        </p:spPr>
        <p:txBody>
          <a:bodyPr wrap="square" lIns="0" tIns="0" rIns="0" bIns="0" rtlCol="0" anchor="t"/>
          <a:lstStyle/>
          <a:p>
            <a:pPr algn="ctr" indent="0" marL="0">
              <a:buNone/>
            </a:pPr>
            <a:r>
              <a:rPr lang="en-US" sz="1450" b="1" dirty="0">
                <a:solidFill>
                  <a:schemeClr val="accent1"/>
                </a:solidFill>
              </a:rPr>
              <a:t>4. Compter</a:t>
            </a:r>
            <a:endParaRPr lang="en-US" sz="1450" dirty="0"/>
          </a:p>
        </p:txBody>
      </p:sp>
      <p:sp>
        <p:nvSpPr>
          <p:cNvPr id="27" name="Text 21"/>
          <p:cNvSpPr txBox="1"/>
          <p:nvPr/>
        </p:nvSpPr>
        <p:spPr>
          <a:xfrm>
            <a:off x="7505395" y="3520440"/>
            <a:ext cx="1742846" cy="1463040"/>
          </a:xfrm>
          <a:prstGeom prst="rect">
            <a:avLst/>
          </a:prstGeom>
          <a:noFill/>
          <a:ln/>
        </p:spPr>
        <p:txBody>
          <a:bodyPr wrap="square" lIns="0" tIns="0" rIns="0" bIns="0" rtlCol="0" anchor="t"/>
          <a:lstStyle/>
          <a:p>
            <a:pPr algn="ctr" indent="0" marL="0">
              <a:buNone/>
            </a:pPr>
            <a:r>
              <a:rPr lang="en-US" sz="1300" dirty="0">
                <a:solidFill>
                  <a:schemeClr val="tx1"/>
                </a:solidFill>
              </a:rPr>
              <a:t>Repérer les mots-indices et leur poids</a:t>
            </a:r>
            <a:endParaRPr lang="en-US" sz="1300" dirty="0"/>
          </a:p>
        </p:txBody>
      </p:sp>
      <p:sp>
        <p:nvSpPr>
          <p:cNvPr id="28" name="Text 22"/>
          <p:cNvSpPr txBox="1"/>
          <p:nvPr/>
        </p:nvSpPr>
        <p:spPr>
          <a:xfrm>
            <a:off x="9357970" y="3337560"/>
            <a:ext cx="320040" cy="548640"/>
          </a:xfrm>
          <a:prstGeom prst="rect">
            <a:avLst/>
          </a:prstGeom>
          <a:noFill/>
          <a:ln/>
        </p:spPr>
        <p:txBody>
          <a:bodyPr wrap="square" lIns="0" tIns="0" rIns="0" bIns="0" rtlCol="0" anchor="ctr"/>
          <a:lstStyle/>
          <a:p>
            <a:pPr algn="ctr" indent="0" marL="0">
              <a:buNone/>
            </a:pPr>
            <a:r>
              <a:rPr lang="en-US" sz="2800" b="1" dirty="0">
                <a:solidFill>
                  <a:schemeClr val="accent6"/>
                </a:solidFill>
              </a:rPr>
              <a:t>›</a:t>
            </a:r>
            <a:endParaRPr lang="en-US" sz="2800" dirty="0"/>
          </a:p>
        </p:txBody>
      </p:sp>
      <p:sp>
        <p:nvSpPr>
          <p:cNvPr id="29" name="Carte"/>
          <p:cNvSpPr/>
          <p:nvPr/>
        </p:nvSpPr>
        <p:spPr>
          <a:xfrm>
            <a:off x="9678010" y="2194560"/>
            <a:ext cx="1962302" cy="2834640"/>
          </a:xfrm>
          <a:prstGeom prst="roundRect">
            <a:avLst>
              <a:gd name="adj" fmla="val 3728"/>
            </a:avLst>
          </a:prstGeom>
          <a:solidFill>
            <a:schemeClr val="bg2"/>
          </a:solidFill>
          <a:ln w="12700">
            <a:solidFill>
              <a:schemeClr val="bg2"/>
            </a:solidFill>
            <a:prstDash val="solid"/>
          </a:ln>
        </p:spPr>
      </p:sp>
      <p:sp>
        <p:nvSpPr>
          <p:cNvPr id="30" name="Pastille"/>
          <p:cNvSpPr/>
          <p:nvPr/>
        </p:nvSpPr>
        <p:spPr>
          <a:xfrm>
            <a:off x="10384841" y="2377440"/>
            <a:ext cx="548640" cy="548640"/>
          </a:xfrm>
          <a:prstGeom prst="ellipse">
            <a:avLst/>
          </a:prstGeom>
          <a:solidFill>
            <a:schemeClr val="accent1"/>
          </a:solidFill>
          <a:ln w="12700">
            <a:solidFill>
              <a:schemeClr val="accent1"/>
            </a:solidFill>
            <a:prstDash val="solid"/>
          </a:ln>
        </p:spPr>
      </p:sp>
      <p:pic>
        <p:nvPicPr>
          <p:cNvPr id="31" name="Icône FaSortAmountDown" descr="FaSortAmountDown">    </p:cNvPr>
          <p:cNvPicPr>
            <a:picLocks noChangeAspect="1"/>
          </p:cNvPicPr>
          <p:nvPr/>
        </p:nvPicPr>
        <p:blipFill>
          <a:blip r:embed="rId5"/>
          <a:stretch>
            <a:fillRect/>
          </a:stretch>
        </p:blipFill>
        <p:spPr>
          <a:xfrm>
            <a:off x="10522001" y="2514600"/>
            <a:ext cx="274320" cy="274320"/>
          </a:xfrm>
          <a:prstGeom prst="rect">
            <a:avLst/>
          </a:prstGeom>
        </p:spPr>
      </p:pic>
      <p:sp>
        <p:nvSpPr>
          <p:cNvPr id="32" name="Text 25"/>
          <p:cNvSpPr txBox="1"/>
          <p:nvPr/>
        </p:nvSpPr>
        <p:spPr>
          <a:xfrm>
            <a:off x="9769450" y="3063240"/>
            <a:ext cx="1779422" cy="457200"/>
          </a:xfrm>
          <a:prstGeom prst="rect">
            <a:avLst/>
          </a:prstGeom>
          <a:noFill/>
          <a:ln/>
        </p:spPr>
        <p:txBody>
          <a:bodyPr wrap="square" lIns="0" tIns="0" rIns="0" bIns="0" rtlCol="0" anchor="t"/>
          <a:lstStyle/>
          <a:p>
            <a:pPr algn="ctr" indent="0" marL="0">
              <a:buNone/>
            </a:pPr>
            <a:r>
              <a:rPr lang="en-US" sz="1450" b="1" dirty="0">
                <a:solidFill>
                  <a:schemeClr val="accent1"/>
                </a:solidFill>
              </a:rPr>
              <a:t>5. Décider</a:t>
            </a:r>
            <a:endParaRPr lang="en-US" sz="1450" dirty="0"/>
          </a:p>
        </p:txBody>
      </p:sp>
      <p:sp>
        <p:nvSpPr>
          <p:cNvPr id="33" name="Text 26"/>
          <p:cNvSpPr txBox="1"/>
          <p:nvPr/>
        </p:nvSpPr>
        <p:spPr>
          <a:xfrm>
            <a:off x="9787738" y="3520440"/>
            <a:ext cx="1742846" cy="1463040"/>
          </a:xfrm>
          <a:prstGeom prst="rect">
            <a:avLst/>
          </a:prstGeom>
          <a:noFill/>
          <a:ln/>
        </p:spPr>
        <p:txBody>
          <a:bodyPr wrap="square" lIns="0" tIns="0" rIns="0" bIns="0" rtlCol="0" anchor="t"/>
          <a:lstStyle/>
          <a:p>
            <a:pPr algn="ctr" indent="0" marL="0">
              <a:buNone/>
            </a:pPr>
            <a:r>
              <a:rPr lang="en-US" sz="1300" dirty="0">
                <a:solidFill>
                  <a:schemeClr val="tx1"/>
                </a:solidFill>
              </a:rPr>
              <a:t>Choisir la catégorie la plus probable</a:t>
            </a:r>
            <a:endParaRPr lang="en-US" sz="1300" dirty="0"/>
          </a:p>
        </p:txBody>
      </p:sp>
      <p:sp>
        <p:nvSpPr>
          <p:cNvPr id="34" name="À retenir"/>
          <p:cNvSpPr/>
          <p:nvPr/>
        </p:nvSpPr>
        <p:spPr>
          <a:xfrm>
            <a:off x="548640" y="5394960"/>
            <a:ext cx="11091672" cy="731520"/>
          </a:xfrm>
          <a:prstGeom prst="roundRect">
            <a:avLst>
              <a:gd name="adj" fmla="val 10000"/>
            </a:avLst>
          </a:prstGeom>
          <a:solidFill>
            <a:schemeClr val="accent3">
              <a:alpha val="22000"/>
            </a:schemeClr>
          </a:solidFill>
          <a:ln w="12700">
            <a:solidFill>
              <a:schemeClr val="accent3"/>
            </a:solidFill>
            <a:prstDash val="solid"/>
          </a:ln>
        </p:spPr>
      </p:sp>
      <p:pic>
        <p:nvPicPr>
          <p:cNvPr id="35" name="Image 5" descr="À retenir">    </p:cNvPr>
          <p:cNvPicPr>
            <a:picLocks noChangeAspect="1"/>
          </p:cNvPicPr>
          <p:nvPr/>
        </p:nvPicPr>
        <p:blipFill>
          <a:blip r:embed="rId6"/>
          <a:stretch>
            <a:fillRect/>
          </a:stretch>
        </p:blipFill>
        <p:spPr>
          <a:xfrm>
            <a:off x="777240" y="5577840"/>
            <a:ext cx="365760" cy="365760"/>
          </a:xfrm>
          <a:prstGeom prst="rect">
            <a:avLst/>
          </a:prstGeom>
        </p:spPr>
      </p:pic>
      <p:sp>
        <p:nvSpPr>
          <p:cNvPr id="36" name="Text 28"/>
          <p:cNvSpPr txBox="1"/>
          <p:nvPr/>
        </p:nvSpPr>
        <p:spPr>
          <a:xfrm>
            <a:off x="1371600" y="5394960"/>
            <a:ext cx="10058400" cy="731520"/>
          </a:xfrm>
          <a:prstGeom prst="rect">
            <a:avLst/>
          </a:prstGeom>
          <a:noFill/>
          <a:ln/>
        </p:spPr>
        <p:txBody>
          <a:bodyPr wrap="square" lIns="0" tIns="0" rIns="0" bIns="0" rtlCol="0" anchor="ctr"/>
          <a:lstStyle/>
          <a:p>
            <a:pPr indent="0" marL="0">
              <a:buNone/>
            </a:pPr>
            <a:r>
              <a:rPr lang="en-US" sz="1500" b="1" dirty="0">
                <a:solidFill>
                  <a:schemeClr val="tx1"/>
                </a:solidFill>
              </a:rPr>
              <a:t>À retenir : </a:t>
            </a:r>
            <a:r>
              <a:rPr lang="en-US" sz="1500" dirty="0">
                <a:solidFill>
                  <a:schemeClr val="tx1"/>
                </a:solidFill>
              </a:rPr>
              <a:t>les étapes 2 à 4 préparent la décision : une machine ne travaille bien que sur un texte propre et bien découpé.</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Étape 1 · Nettoyer le texte</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MODULE 1  ·  FONDAMENTAUX DU NLP</a:t>
            </a:r>
            <a:endParaRPr lang="en-US" sz="1200" dirty="0"/>
          </a:p>
        </p:txBody>
      </p:sp>
      <p:sp>
        <p:nvSpPr>
          <p:cNvPr id="4" name="Text 2"/>
          <p:cNvSpPr txBox="1"/>
          <p:nvPr/>
        </p:nvSpPr>
        <p:spPr>
          <a:xfrm>
            <a:off x="548640" y="1325880"/>
            <a:ext cx="11064240" cy="640080"/>
          </a:xfrm>
          <a:prstGeom prst="rect">
            <a:avLst/>
          </a:prstGeom>
          <a:noFill/>
          <a:ln/>
        </p:spPr>
        <p:txBody>
          <a:bodyPr wrap="square" lIns="0" tIns="0" rIns="0" bIns="0" rtlCol="0" anchor="t"/>
          <a:lstStyle/>
          <a:p>
            <a:pPr indent="0" marL="0">
              <a:buNone/>
            </a:pPr>
            <a:r>
              <a:rPr lang="en-US" sz="1600" dirty="0">
                <a:solidFill>
                  <a:schemeClr val="tx1"/>
                </a:solidFill>
              </a:rPr>
              <a:t>Analogie : laver et éplucher les légumes avant de cuisiner. On enlève ce qui gêne, on garde l’essentiel.</a:t>
            </a:r>
            <a:endParaRPr lang="en-US" sz="1600" dirty="0"/>
          </a:p>
        </p:txBody>
      </p:sp>
      <p:graphicFrame>
        <p:nvGraphicFramePr>
          <p:cNvPr id="9" name="Tableau nettoyage"/>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914400"/>
        </p:xfrm>
        <a:graphic>
          <a:graphicData uri="http://schemas.openxmlformats.org/drawingml/2006/table">
            <a:tbl>
              <a:tblPr/>
              <a:tblGrid>
                <a:gridCol w="3840480"/>
                <a:gridCol w="3383280"/>
                <a:gridCol w="3867912"/>
              </a:tblGrid>
              <a:tr h="530352">
                <a:tc>
                  <a:txBody>
                    <a:bodyPr/>
                    <a:lstStyle/>
                    <a:p>
                      <a:pPr indent="0" marL="0">
                        <a:buNone/>
                      </a:pPr>
                      <a:r>
                        <a:rPr lang="en-US" sz="1500" b="1" dirty="0">
                          <a:solidFill>
                            <a:schemeClr val="bg1"/>
                          </a:solidFill>
                        </a:rPr>
                        <a:t>Avant</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Après</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Ce que l’on a fait</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accent1"/>
                    </a:solidFill>
                  </a:tcPr>
                </a:tc>
              </a:tr>
              <a:tr h="530352">
                <a:tc>
                  <a:txBody>
                    <a:bodyPr/>
                    <a:lstStyle/>
                    <a:p>
                      <a:pPr indent="0" marL="0">
                        <a:buNone/>
                      </a:pPr>
                      <a:r>
                        <a:rPr lang="en-US" sz="1500" b="1" dirty="0">
                          <a:solidFill>
                            <a:schemeClr val="accent1"/>
                          </a:solidFill>
                        </a:rPr>
                        <a:t>OU TROUVER UN MEDECIN ?</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ou trouver un medecin</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Tout en minuscules, sans ponctuation</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2"/>
                    </a:solidFill>
                  </a:tcPr>
                </a:tc>
              </a:tr>
              <a:tr h="530352">
                <a:tc>
                  <a:txBody>
                    <a:bodyPr/>
                    <a:lstStyle/>
                    <a:p>
                      <a:pPr indent="0" marL="0">
                        <a:buNone/>
                      </a:pPr>
                      <a:r>
                        <a:rPr lang="en-US" sz="1500" b="1" dirty="0">
                          <a:solidFill>
                            <a:schemeClr val="accent1"/>
                          </a:solidFill>
                        </a:rPr>
                        <a:t>Où trouver un médecin ?</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où trouver un médecin</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Les accents restent, c’est la même phrase</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r>
              <a:tr h="530352">
                <a:tc>
                  <a:txBody>
                    <a:bodyPr/>
                    <a:lstStyle/>
                    <a:p>
                      <a:pPr indent="0" marL="0">
                        <a:buNone/>
                      </a:pPr>
                      <a:r>
                        <a:rPr lang="en-US" sz="1500" b="1" dirty="0">
                          <a:solidFill>
                            <a:schemeClr val="accent1"/>
                          </a:solidFill>
                        </a:rPr>
                        <a:t>L’infirmière m’a demandé…</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l infirmière m a demandé</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L’apostrophe sépare deux mots</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2"/>
                    </a:solidFill>
                  </a:tcPr>
                </a:tc>
              </a:tr>
              <a:tr h="530352">
                <a:tc>
                  <a:txBody>
                    <a:bodyPr/>
                    <a:lstStyle/>
                    <a:p>
                      <a:pPr indent="0" marL="0">
                        <a:buNone/>
                      </a:pPr>
                      <a:r>
                        <a:rPr lang="en-US" sz="1500" b="1" dirty="0">
                          <a:solidFill>
                            <a:schemeClr val="accent1"/>
                          </a:solidFill>
                        </a:rPr>
                        <a:t>mèdecin / médecin / medecin</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un seul mot à retenir</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On harmonise les accents et les variantes</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r>
            </a:tbl>
          </a:graphicData>
        </a:graphic>
      </p:graphicFrame>
      <p:sp>
        <p:nvSpPr>
          <p:cNvPr id="6" name="À retenir"/>
          <p:cNvSpPr/>
          <p:nvPr/>
        </p:nvSpPr>
        <p:spPr>
          <a:xfrm>
            <a:off x="548640" y="5074920"/>
            <a:ext cx="11091672" cy="960120"/>
          </a:xfrm>
          <a:prstGeom prst="roundRect">
            <a:avLst>
              <a:gd name="adj" fmla="val 7619"/>
            </a:avLst>
          </a:prstGeom>
          <a:solidFill>
            <a:schemeClr val="accent3">
              <a:alpha val="22000"/>
            </a:schemeClr>
          </a:solidFill>
          <a:ln w="12700">
            <a:solidFill>
              <a:schemeClr val="accent3"/>
            </a:solidFill>
            <a:prstDash val="solid"/>
          </a:ln>
        </p:spPr>
      </p:sp>
      <p:pic>
        <p:nvPicPr>
          <p:cNvPr id="7" name="Image 0" descr="À retenir">    </p:cNvPr>
          <p:cNvPicPr>
            <a:picLocks noChangeAspect="1"/>
          </p:cNvPicPr>
          <p:nvPr/>
        </p:nvPicPr>
        <p:blipFill>
          <a:blip r:embed="rId1"/>
          <a:stretch>
            <a:fillRect/>
          </a:stretch>
        </p:blipFill>
        <p:spPr>
          <a:xfrm>
            <a:off x="777240" y="5372100"/>
            <a:ext cx="365760" cy="365760"/>
          </a:xfrm>
          <a:prstGeom prst="rect">
            <a:avLst/>
          </a:prstGeom>
        </p:spPr>
      </p:pic>
      <p:sp>
        <p:nvSpPr>
          <p:cNvPr id="8" name="Text 4"/>
          <p:cNvSpPr txBox="1"/>
          <p:nvPr/>
        </p:nvSpPr>
        <p:spPr>
          <a:xfrm>
            <a:off x="1371600" y="5074920"/>
            <a:ext cx="10058400" cy="960120"/>
          </a:xfrm>
          <a:prstGeom prst="rect">
            <a:avLst/>
          </a:prstGeom>
          <a:noFill/>
          <a:ln/>
        </p:spPr>
        <p:txBody>
          <a:bodyPr wrap="square" lIns="0" tIns="0" rIns="0" bIns="0" rtlCol="0" anchor="ctr"/>
          <a:lstStyle/>
          <a:p>
            <a:pPr indent="0" marL="0">
              <a:buNone/>
            </a:pPr>
            <a:r>
              <a:rPr lang="en-US" sz="1500" b="1" dirty="0">
                <a:solidFill>
                  <a:schemeClr val="tx1"/>
                </a:solidFill>
              </a:rPr>
              <a:t>À retenir : </a:t>
            </a:r>
            <a:r>
              <a:rPr lang="en-US" sz="1500" dirty="0">
                <a:solidFill>
                  <a:schemeClr val="tx1"/>
                </a:solidFill>
              </a:rPr>
              <a:t>pour la machine, « MEDECIN » et « médecin » sont deux mots différents tant qu’on ne les a pas harmonisés. C’est encore plus vrai pour les lettres spéciales de nos langues.</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Étape 2 · Découper en « tokens »</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MODULE 1  ·  FONDAMENTAUX DU NLP</a:t>
            </a:r>
            <a:endParaRPr lang="en-US" sz="1200" dirty="0"/>
          </a:p>
        </p:txBody>
      </p:sp>
      <p:sp>
        <p:nvSpPr>
          <p:cNvPr id="4" name="Text 2"/>
          <p:cNvSpPr txBox="1"/>
          <p:nvPr/>
        </p:nvSpPr>
        <p:spPr>
          <a:xfrm>
            <a:off x="548640" y="1325880"/>
            <a:ext cx="11064240" cy="640080"/>
          </a:xfrm>
          <a:prstGeom prst="rect">
            <a:avLst/>
          </a:prstGeom>
          <a:noFill/>
          <a:ln/>
        </p:spPr>
        <p:txBody>
          <a:bodyPr wrap="square" lIns="0" tIns="0" rIns="0" bIns="0" rtlCol="0" anchor="t"/>
          <a:lstStyle/>
          <a:p>
            <a:pPr indent="0" marL="0">
              <a:buNone/>
            </a:pPr>
            <a:r>
              <a:rPr lang="en-US" sz="1600" dirty="0">
                <a:solidFill>
                  <a:schemeClr val="tx1"/>
                </a:solidFill>
              </a:rPr>
              <a:t>Analogie : découper une phrase en cartes, comme au Scrabble. Une carte = un morceau que la machine peut compter.</a:t>
            </a:r>
            <a:endParaRPr lang="en-US" sz="1600" dirty="0"/>
          </a:p>
        </p:txBody>
      </p:sp>
      <p:sp>
        <p:nvSpPr>
          <p:cNvPr id="5" name="Text 3"/>
          <p:cNvSpPr txBox="1"/>
          <p:nvPr/>
        </p:nvSpPr>
        <p:spPr>
          <a:xfrm>
            <a:off x="548640" y="2148840"/>
            <a:ext cx="1828800" cy="365760"/>
          </a:xfrm>
          <a:prstGeom prst="rect">
            <a:avLst/>
          </a:prstGeom>
          <a:noFill/>
          <a:ln/>
        </p:spPr>
        <p:txBody>
          <a:bodyPr wrap="square" lIns="0" tIns="0" rIns="0" bIns="0" rtlCol="0" anchor="t"/>
          <a:lstStyle/>
          <a:p>
            <a:pPr indent="0" marL="0">
              <a:buNone/>
            </a:pPr>
            <a:r>
              <a:rPr lang="en-US" sz="1500" b="1" dirty="0">
                <a:solidFill>
                  <a:schemeClr val="accent2"/>
                </a:solidFill>
              </a:rPr>
              <a:t>Phrase :</a:t>
            </a:r>
            <a:endParaRPr lang="en-US" sz="1500" dirty="0"/>
          </a:p>
        </p:txBody>
      </p:sp>
      <p:sp>
        <p:nvSpPr>
          <p:cNvPr id="6" name="Text 4"/>
          <p:cNvSpPr txBox="1"/>
          <p:nvPr/>
        </p:nvSpPr>
        <p:spPr>
          <a:xfrm>
            <a:off x="1828800" y="2148840"/>
            <a:ext cx="9144000" cy="365760"/>
          </a:xfrm>
          <a:prstGeom prst="rect">
            <a:avLst/>
          </a:prstGeom>
          <a:noFill/>
          <a:ln/>
        </p:spPr>
        <p:txBody>
          <a:bodyPr wrap="square" lIns="0" tIns="0" rIns="0" bIns="0" rtlCol="0" anchor="t"/>
          <a:lstStyle/>
          <a:p>
            <a:pPr indent="0" marL="0">
              <a:buNone/>
            </a:pPr>
            <a:r>
              <a:rPr lang="en-US" sz="1700" dirty="0">
                <a:solidFill>
                  <a:schemeClr val="tx1"/>
                </a:solidFill>
              </a:rPr>
              <a:t>Mon enfant a de la fièvre depuis deux jours</a:t>
            </a:r>
            <a:endParaRPr lang="en-US" sz="1700" dirty="0"/>
          </a:p>
        </p:txBody>
      </p:sp>
      <p:sp>
        <p:nvSpPr>
          <p:cNvPr id="7" name="Text 5"/>
          <p:cNvSpPr txBox="1"/>
          <p:nvPr/>
        </p:nvSpPr>
        <p:spPr>
          <a:xfrm>
            <a:off x="548640" y="2834640"/>
            <a:ext cx="1828800" cy="365760"/>
          </a:xfrm>
          <a:prstGeom prst="rect">
            <a:avLst/>
          </a:prstGeom>
          <a:noFill/>
          <a:ln/>
        </p:spPr>
        <p:txBody>
          <a:bodyPr wrap="square" lIns="0" tIns="0" rIns="0" bIns="0" rtlCol="0" anchor="t"/>
          <a:lstStyle/>
          <a:p>
            <a:pPr indent="0" marL="0">
              <a:buNone/>
            </a:pPr>
            <a:r>
              <a:rPr lang="en-US" sz="1500" b="1" dirty="0">
                <a:solidFill>
                  <a:schemeClr val="accent2"/>
                </a:solidFill>
              </a:rPr>
              <a:t>Tokens :</a:t>
            </a:r>
            <a:endParaRPr lang="en-US" sz="1500" dirty="0"/>
          </a:p>
        </p:txBody>
      </p:sp>
      <p:sp>
        <p:nvSpPr>
          <p:cNvPr id="8" name="Carte"/>
          <p:cNvSpPr/>
          <p:nvPr/>
        </p:nvSpPr>
        <p:spPr>
          <a:xfrm>
            <a:off x="548640" y="3200400"/>
            <a:ext cx="786384" cy="502920"/>
          </a:xfrm>
          <a:prstGeom prst="roundRect">
            <a:avLst>
              <a:gd name="adj" fmla="val 14545"/>
            </a:avLst>
          </a:prstGeom>
          <a:solidFill>
            <a:schemeClr val="bg2"/>
          </a:solidFill>
          <a:ln w="12700">
            <a:solidFill>
              <a:schemeClr val="accent1"/>
            </a:solidFill>
            <a:prstDash val="solid"/>
          </a:ln>
        </p:spPr>
      </p:sp>
      <p:sp>
        <p:nvSpPr>
          <p:cNvPr id="9" name="Text 7"/>
          <p:cNvSpPr txBox="1"/>
          <p:nvPr/>
        </p:nvSpPr>
        <p:spPr>
          <a:xfrm>
            <a:off x="548640" y="3200400"/>
            <a:ext cx="786384" cy="502920"/>
          </a:xfrm>
          <a:prstGeom prst="rect">
            <a:avLst/>
          </a:prstGeom>
          <a:noFill/>
          <a:ln/>
        </p:spPr>
        <p:txBody>
          <a:bodyPr wrap="square" lIns="0" tIns="0" rIns="0" bIns="0" rtlCol="0" anchor="ctr"/>
          <a:lstStyle/>
          <a:p>
            <a:pPr algn="ctr" indent="0" marL="0">
              <a:buNone/>
            </a:pPr>
            <a:r>
              <a:rPr lang="en-US" sz="1600" b="1" dirty="0">
                <a:solidFill>
                  <a:schemeClr val="tx1"/>
                </a:solidFill>
              </a:rPr>
              <a:t>Mon</a:t>
            </a:r>
            <a:endParaRPr lang="en-US" sz="1600" dirty="0"/>
          </a:p>
        </p:txBody>
      </p:sp>
      <p:sp>
        <p:nvSpPr>
          <p:cNvPr id="10" name="Carte"/>
          <p:cNvSpPr/>
          <p:nvPr/>
        </p:nvSpPr>
        <p:spPr>
          <a:xfrm>
            <a:off x="1444752" y="3200400"/>
            <a:ext cx="1252728" cy="502920"/>
          </a:xfrm>
          <a:prstGeom prst="roundRect">
            <a:avLst>
              <a:gd name="adj" fmla="val 14545"/>
            </a:avLst>
          </a:prstGeom>
          <a:solidFill>
            <a:schemeClr val="accent5"/>
          </a:solidFill>
          <a:ln w="12700">
            <a:solidFill>
              <a:schemeClr val="accent1"/>
            </a:solidFill>
            <a:prstDash val="solid"/>
          </a:ln>
        </p:spPr>
      </p:sp>
      <p:sp>
        <p:nvSpPr>
          <p:cNvPr id="11" name="Text 9"/>
          <p:cNvSpPr txBox="1"/>
          <p:nvPr/>
        </p:nvSpPr>
        <p:spPr>
          <a:xfrm>
            <a:off x="1444752" y="3200400"/>
            <a:ext cx="1252728" cy="502920"/>
          </a:xfrm>
          <a:prstGeom prst="rect">
            <a:avLst/>
          </a:prstGeom>
          <a:noFill/>
          <a:ln/>
        </p:spPr>
        <p:txBody>
          <a:bodyPr wrap="square" lIns="0" tIns="0" rIns="0" bIns="0" rtlCol="0" anchor="ctr"/>
          <a:lstStyle/>
          <a:p>
            <a:pPr algn="ctr" indent="0" marL="0">
              <a:buNone/>
            </a:pPr>
            <a:r>
              <a:rPr lang="en-US" sz="1600" b="1" dirty="0">
                <a:solidFill>
                  <a:schemeClr val="tx1"/>
                </a:solidFill>
              </a:rPr>
              <a:t>enfant</a:t>
            </a:r>
            <a:endParaRPr lang="en-US" sz="1600" dirty="0"/>
          </a:p>
        </p:txBody>
      </p:sp>
      <p:sp>
        <p:nvSpPr>
          <p:cNvPr id="12" name="Carte"/>
          <p:cNvSpPr/>
          <p:nvPr/>
        </p:nvSpPr>
        <p:spPr>
          <a:xfrm>
            <a:off x="2807208" y="3200400"/>
            <a:ext cx="475488" cy="502920"/>
          </a:xfrm>
          <a:prstGeom prst="roundRect">
            <a:avLst>
              <a:gd name="adj" fmla="val 15385"/>
            </a:avLst>
          </a:prstGeom>
          <a:solidFill>
            <a:schemeClr val="bg2"/>
          </a:solidFill>
          <a:ln w="12700">
            <a:solidFill>
              <a:schemeClr val="accent1"/>
            </a:solidFill>
            <a:prstDash val="solid"/>
          </a:ln>
        </p:spPr>
      </p:sp>
      <p:sp>
        <p:nvSpPr>
          <p:cNvPr id="13" name="Text 11"/>
          <p:cNvSpPr txBox="1"/>
          <p:nvPr/>
        </p:nvSpPr>
        <p:spPr>
          <a:xfrm>
            <a:off x="2807208" y="3200400"/>
            <a:ext cx="475488" cy="502920"/>
          </a:xfrm>
          <a:prstGeom prst="rect">
            <a:avLst/>
          </a:prstGeom>
          <a:noFill/>
          <a:ln/>
        </p:spPr>
        <p:txBody>
          <a:bodyPr wrap="square" lIns="0" tIns="0" rIns="0" bIns="0" rtlCol="0" anchor="ctr"/>
          <a:lstStyle/>
          <a:p>
            <a:pPr algn="ctr" indent="0" marL="0">
              <a:buNone/>
            </a:pPr>
            <a:r>
              <a:rPr lang="en-US" sz="1600" b="1" dirty="0">
                <a:solidFill>
                  <a:schemeClr val="tx1"/>
                </a:solidFill>
              </a:rPr>
              <a:t>a</a:t>
            </a:r>
            <a:endParaRPr lang="en-US" sz="1600" dirty="0"/>
          </a:p>
        </p:txBody>
      </p:sp>
      <p:sp>
        <p:nvSpPr>
          <p:cNvPr id="14" name="Carte"/>
          <p:cNvSpPr/>
          <p:nvPr/>
        </p:nvSpPr>
        <p:spPr>
          <a:xfrm>
            <a:off x="3392424" y="3200400"/>
            <a:ext cx="630936" cy="502920"/>
          </a:xfrm>
          <a:prstGeom prst="roundRect">
            <a:avLst>
              <a:gd name="adj" fmla="val 14545"/>
            </a:avLst>
          </a:prstGeom>
          <a:solidFill>
            <a:schemeClr val="accent5"/>
          </a:solidFill>
          <a:ln w="12700">
            <a:solidFill>
              <a:schemeClr val="accent1"/>
            </a:solidFill>
            <a:prstDash val="solid"/>
          </a:ln>
        </p:spPr>
      </p:sp>
      <p:sp>
        <p:nvSpPr>
          <p:cNvPr id="15" name="Text 13"/>
          <p:cNvSpPr txBox="1"/>
          <p:nvPr/>
        </p:nvSpPr>
        <p:spPr>
          <a:xfrm>
            <a:off x="3392424" y="3200400"/>
            <a:ext cx="630936" cy="502920"/>
          </a:xfrm>
          <a:prstGeom prst="rect">
            <a:avLst/>
          </a:prstGeom>
          <a:noFill/>
          <a:ln/>
        </p:spPr>
        <p:txBody>
          <a:bodyPr wrap="square" lIns="0" tIns="0" rIns="0" bIns="0" rtlCol="0" anchor="ctr"/>
          <a:lstStyle/>
          <a:p>
            <a:pPr algn="ctr" indent="0" marL="0">
              <a:buNone/>
            </a:pPr>
            <a:r>
              <a:rPr lang="en-US" sz="1600" b="1" dirty="0">
                <a:solidFill>
                  <a:schemeClr val="tx1"/>
                </a:solidFill>
              </a:rPr>
              <a:t>de</a:t>
            </a:r>
            <a:endParaRPr lang="en-US" sz="1600" dirty="0"/>
          </a:p>
        </p:txBody>
      </p:sp>
      <p:sp>
        <p:nvSpPr>
          <p:cNvPr id="16" name="Carte"/>
          <p:cNvSpPr/>
          <p:nvPr/>
        </p:nvSpPr>
        <p:spPr>
          <a:xfrm>
            <a:off x="4133088" y="3200400"/>
            <a:ext cx="630936" cy="502920"/>
          </a:xfrm>
          <a:prstGeom prst="roundRect">
            <a:avLst>
              <a:gd name="adj" fmla="val 14545"/>
            </a:avLst>
          </a:prstGeom>
          <a:solidFill>
            <a:schemeClr val="bg2"/>
          </a:solidFill>
          <a:ln w="12700">
            <a:solidFill>
              <a:schemeClr val="accent1"/>
            </a:solidFill>
            <a:prstDash val="solid"/>
          </a:ln>
        </p:spPr>
      </p:sp>
      <p:sp>
        <p:nvSpPr>
          <p:cNvPr id="17" name="Text 15"/>
          <p:cNvSpPr txBox="1"/>
          <p:nvPr/>
        </p:nvSpPr>
        <p:spPr>
          <a:xfrm>
            <a:off x="4133088" y="3200400"/>
            <a:ext cx="630936" cy="502920"/>
          </a:xfrm>
          <a:prstGeom prst="rect">
            <a:avLst/>
          </a:prstGeom>
          <a:noFill/>
          <a:ln/>
        </p:spPr>
        <p:txBody>
          <a:bodyPr wrap="square" lIns="0" tIns="0" rIns="0" bIns="0" rtlCol="0" anchor="ctr"/>
          <a:lstStyle/>
          <a:p>
            <a:pPr algn="ctr" indent="0" marL="0">
              <a:buNone/>
            </a:pPr>
            <a:r>
              <a:rPr lang="en-US" sz="1600" b="1" dirty="0">
                <a:solidFill>
                  <a:schemeClr val="tx1"/>
                </a:solidFill>
              </a:rPr>
              <a:t>la</a:t>
            </a:r>
            <a:endParaRPr lang="en-US" sz="1600" dirty="0"/>
          </a:p>
        </p:txBody>
      </p:sp>
      <p:sp>
        <p:nvSpPr>
          <p:cNvPr id="18" name="Carte"/>
          <p:cNvSpPr/>
          <p:nvPr/>
        </p:nvSpPr>
        <p:spPr>
          <a:xfrm>
            <a:off x="4873752" y="3200400"/>
            <a:ext cx="1252728" cy="502920"/>
          </a:xfrm>
          <a:prstGeom prst="roundRect">
            <a:avLst>
              <a:gd name="adj" fmla="val 14545"/>
            </a:avLst>
          </a:prstGeom>
          <a:solidFill>
            <a:schemeClr val="accent5"/>
          </a:solidFill>
          <a:ln w="12700">
            <a:solidFill>
              <a:schemeClr val="accent1"/>
            </a:solidFill>
            <a:prstDash val="solid"/>
          </a:ln>
        </p:spPr>
      </p:sp>
      <p:sp>
        <p:nvSpPr>
          <p:cNvPr id="19" name="Text 17"/>
          <p:cNvSpPr txBox="1"/>
          <p:nvPr/>
        </p:nvSpPr>
        <p:spPr>
          <a:xfrm>
            <a:off x="4873752" y="3200400"/>
            <a:ext cx="1252728" cy="502920"/>
          </a:xfrm>
          <a:prstGeom prst="rect">
            <a:avLst/>
          </a:prstGeom>
          <a:noFill/>
          <a:ln/>
        </p:spPr>
        <p:txBody>
          <a:bodyPr wrap="square" lIns="0" tIns="0" rIns="0" bIns="0" rtlCol="0" anchor="ctr"/>
          <a:lstStyle/>
          <a:p>
            <a:pPr algn="ctr" indent="0" marL="0">
              <a:buNone/>
            </a:pPr>
            <a:r>
              <a:rPr lang="en-US" sz="1600" b="1" dirty="0">
                <a:solidFill>
                  <a:schemeClr val="tx1"/>
                </a:solidFill>
              </a:rPr>
              <a:t>fièvre</a:t>
            </a:r>
            <a:endParaRPr lang="en-US" sz="1600" dirty="0"/>
          </a:p>
        </p:txBody>
      </p:sp>
      <p:sp>
        <p:nvSpPr>
          <p:cNvPr id="20" name="Carte"/>
          <p:cNvSpPr/>
          <p:nvPr/>
        </p:nvSpPr>
        <p:spPr>
          <a:xfrm>
            <a:off x="6236208" y="3200400"/>
            <a:ext cx="1252728" cy="502920"/>
          </a:xfrm>
          <a:prstGeom prst="roundRect">
            <a:avLst>
              <a:gd name="adj" fmla="val 14545"/>
            </a:avLst>
          </a:prstGeom>
          <a:solidFill>
            <a:schemeClr val="bg2"/>
          </a:solidFill>
          <a:ln w="12700">
            <a:solidFill>
              <a:schemeClr val="accent1"/>
            </a:solidFill>
            <a:prstDash val="solid"/>
          </a:ln>
        </p:spPr>
      </p:sp>
      <p:sp>
        <p:nvSpPr>
          <p:cNvPr id="21" name="Text 19"/>
          <p:cNvSpPr txBox="1"/>
          <p:nvPr/>
        </p:nvSpPr>
        <p:spPr>
          <a:xfrm>
            <a:off x="6236208" y="3200400"/>
            <a:ext cx="1252728" cy="502920"/>
          </a:xfrm>
          <a:prstGeom prst="rect">
            <a:avLst/>
          </a:prstGeom>
          <a:noFill/>
          <a:ln/>
        </p:spPr>
        <p:txBody>
          <a:bodyPr wrap="square" lIns="0" tIns="0" rIns="0" bIns="0" rtlCol="0" anchor="ctr"/>
          <a:lstStyle/>
          <a:p>
            <a:pPr algn="ctr" indent="0" marL="0">
              <a:buNone/>
            </a:pPr>
            <a:r>
              <a:rPr lang="en-US" sz="1600" b="1" dirty="0">
                <a:solidFill>
                  <a:schemeClr val="tx1"/>
                </a:solidFill>
              </a:rPr>
              <a:t>depuis</a:t>
            </a:r>
            <a:endParaRPr lang="en-US" sz="1600" dirty="0"/>
          </a:p>
        </p:txBody>
      </p:sp>
      <p:sp>
        <p:nvSpPr>
          <p:cNvPr id="22" name="Carte"/>
          <p:cNvSpPr/>
          <p:nvPr/>
        </p:nvSpPr>
        <p:spPr>
          <a:xfrm>
            <a:off x="7598664" y="3200400"/>
            <a:ext cx="941832" cy="502920"/>
          </a:xfrm>
          <a:prstGeom prst="roundRect">
            <a:avLst>
              <a:gd name="adj" fmla="val 14545"/>
            </a:avLst>
          </a:prstGeom>
          <a:solidFill>
            <a:schemeClr val="accent5"/>
          </a:solidFill>
          <a:ln w="12700">
            <a:solidFill>
              <a:schemeClr val="accent1"/>
            </a:solidFill>
            <a:prstDash val="solid"/>
          </a:ln>
        </p:spPr>
      </p:sp>
      <p:sp>
        <p:nvSpPr>
          <p:cNvPr id="23" name="Text 21"/>
          <p:cNvSpPr txBox="1"/>
          <p:nvPr/>
        </p:nvSpPr>
        <p:spPr>
          <a:xfrm>
            <a:off x="7598664" y="3200400"/>
            <a:ext cx="941832" cy="502920"/>
          </a:xfrm>
          <a:prstGeom prst="rect">
            <a:avLst/>
          </a:prstGeom>
          <a:noFill/>
          <a:ln/>
        </p:spPr>
        <p:txBody>
          <a:bodyPr wrap="square" lIns="0" tIns="0" rIns="0" bIns="0" rtlCol="0" anchor="ctr"/>
          <a:lstStyle/>
          <a:p>
            <a:pPr algn="ctr" indent="0" marL="0">
              <a:buNone/>
            </a:pPr>
            <a:r>
              <a:rPr lang="en-US" sz="1600" b="1" dirty="0">
                <a:solidFill>
                  <a:schemeClr val="tx1"/>
                </a:solidFill>
              </a:rPr>
              <a:t>deux</a:t>
            </a:r>
            <a:endParaRPr lang="en-US" sz="1600" dirty="0"/>
          </a:p>
        </p:txBody>
      </p:sp>
      <p:sp>
        <p:nvSpPr>
          <p:cNvPr id="24" name="Carte"/>
          <p:cNvSpPr/>
          <p:nvPr/>
        </p:nvSpPr>
        <p:spPr>
          <a:xfrm>
            <a:off x="8650224" y="3200400"/>
            <a:ext cx="1097280" cy="502920"/>
          </a:xfrm>
          <a:prstGeom prst="roundRect">
            <a:avLst>
              <a:gd name="adj" fmla="val 14545"/>
            </a:avLst>
          </a:prstGeom>
          <a:solidFill>
            <a:schemeClr val="bg2"/>
          </a:solidFill>
          <a:ln w="12700">
            <a:solidFill>
              <a:schemeClr val="accent1"/>
            </a:solidFill>
            <a:prstDash val="solid"/>
          </a:ln>
        </p:spPr>
      </p:sp>
      <p:sp>
        <p:nvSpPr>
          <p:cNvPr id="25" name="Text 23"/>
          <p:cNvSpPr txBox="1"/>
          <p:nvPr/>
        </p:nvSpPr>
        <p:spPr>
          <a:xfrm>
            <a:off x="8650224" y="3200400"/>
            <a:ext cx="1097280" cy="502920"/>
          </a:xfrm>
          <a:prstGeom prst="rect">
            <a:avLst/>
          </a:prstGeom>
          <a:noFill/>
          <a:ln/>
        </p:spPr>
        <p:txBody>
          <a:bodyPr wrap="square" lIns="0" tIns="0" rIns="0" bIns="0" rtlCol="0" anchor="ctr"/>
          <a:lstStyle/>
          <a:p>
            <a:pPr algn="ctr" indent="0" marL="0">
              <a:buNone/>
            </a:pPr>
            <a:r>
              <a:rPr lang="en-US" sz="1600" b="1" dirty="0">
                <a:solidFill>
                  <a:schemeClr val="tx1"/>
                </a:solidFill>
              </a:rPr>
              <a:t>jours</a:t>
            </a:r>
            <a:endParaRPr lang="en-US" sz="1600" dirty="0"/>
          </a:p>
        </p:txBody>
      </p:sp>
      <p:sp>
        <p:nvSpPr>
          <p:cNvPr id="26" name="Carte"/>
          <p:cNvSpPr/>
          <p:nvPr/>
        </p:nvSpPr>
        <p:spPr>
          <a:xfrm>
            <a:off x="548640" y="4023360"/>
            <a:ext cx="5440680" cy="1874520"/>
          </a:xfrm>
          <a:prstGeom prst="roundRect">
            <a:avLst>
              <a:gd name="adj" fmla="val 3902"/>
            </a:avLst>
          </a:prstGeom>
          <a:solidFill>
            <a:schemeClr val="accent5"/>
          </a:solidFill>
          <a:ln w="12700">
            <a:solidFill>
              <a:schemeClr val="accent5"/>
            </a:solidFill>
            <a:prstDash val="solid"/>
          </a:ln>
        </p:spPr>
      </p:sp>
      <p:sp>
        <p:nvSpPr>
          <p:cNvPr id="27" name="Text 25"/>
          <p:cNvSpPr txBox="1"/>
          <p:nvPr/>
        </p:nvSpPr>
        <p:spPr>
          <a:xfrm>
            <a:off x="777240" y="4114800"/>
            <a:ext cx="5029200" cy="320040"/>
          </a:xfrm>
          <a:prstGeom prst="rect">
            <a:avLst/>
          </a:prstGeom>
          <a:noFill/>
          <a:ln/>
        </p:spPr>
        <p:txBody>
          <a:bodyPr wrap="square" lIns="0" tIns="0" rIns="0" bIns="0" rtlCol="0" anchor="t"/>
          <a:lstStyle/>
          <a:p>
            <a:pPr indent="0" marL="0">
              <a:buNone/>
            </a:pPr>
            <a:r>
              <a:rPr lang="en-US" sz="1500" b="1" dirty="0">
                <a:solidFill>
                  <a:schemeClr val="accent1"/>
                </a:solidFill>
              </a:rPr>
              <a:t>Cas simple</a:t>
            </a:r>
            <a:endParaRPr lang="en-US" sz="1500" dirty="0"/>
          </a:p>
        </p:txBody>
      </p:sp>
      <p:sp>
        <p:nvSpPr>
          <p:cNvPr id="28" name="Text 26"/>
          <p:cNvSpPr txBox="1"/>
          <p:nvPr/>
        </p:nvSpPr>
        <p:spPr>
          <a:xfrm>
            <a:off x="777240" y="4480560"/>
            <a:ext cx="5029200" cy="1280160"/>
          </a:xfrm>
          <a:prstGeom prst="rect">
            <a:avLst/>
          </a:prstGeom>
          <a:noFill/>
          <a:ln/>
        </p:spPr>
        <p:txBody>
          <a:bodyPr wrap="square" lIns="0" tIns="0" rIns="0" bIns="0" rtlCol="0" anchor="t"/>
          <a:lstStyle/>
          <a:p>
            <a:pPr indent="0" marL="0">
              <a:buNone/>
            </a:pPr>
            <a:r>
              <a:rPr lang="en-US" sz="1500" dirty="0">
                <a:solidFill>
                  <a:schemeClr val="tx1"/>
                </a:solidFill>
              </a:rPr>
              <a:t>On coupe aux espaces. Une carte, un mot.</a:t>
            </a:r>
            <a:endParaRPr lang="en-US" sz="1500" dirty="0"/>
          </a:p>
        </p:txBody>
      </p:sp>
      <p:sp>
        <p:nvSpPr>
          <p:cNvPr id="29" name="Carte"/>
          <p:cNvSpPr/>
          <p:nvPr/>
        </p:nvSpPr>
        <p:spPr>
          <a:xfrm>
            <a:off x="6199632" y="4023360"/>
            <a:ext cx="5440680" cy="1874520"/>
          </a:xfrm>
          <a:prstGeom prst="roundRect">
            <a:avLst>
              <a:gd name="adj" fmla="val 3902"/>
            </a:avLst>
          </a:prstGeom>
          <a:solidFill>
            <a:schemeClr val="accent5"/>
          </a:solidFill>
          <a:ln w="12700">
            <a:solidFill>
              <a:schemeClr val="accent5"/>
            </a:solidFill>
            <a:prstDash val="solid"/>
          </a:ln>
        </p:spPr>
      </p:sp>
      <p:sp>
        <p:nvSpPr>
          <p:cNvPr id="30" name="Text 28"/>
          <p:cNvSpPr txBox="1"/>
          <p:nvPr/>
        </p:nvSpPr>
        <p:spPr>
          <a:xfrm>
            <a:off x="6428232" y="4114800"/>
            <a:ext cx="5029200" cy="320040"/>
          </a:xfrm>
          <a:prstGeom prst="rect">
            <a:avLst/>
          </a:prstGeom>
          <a:noFill/>
          <a:ln/>
        </p:spPr>
        <p:txBody>
          <a:bodyPr wrap="square" lIns="0" tIns="0" rIns="0" bIns="0" rtlCol="0" anchor="t"/>
          <a:lstStyle/>
          <a:p>
            <a:pPr indent="0" marL="0">
              <a:buNone/>
            </a:pPr>
            <a:r>
              <a:rPr lang="en-US" sz="1500" b="1" dirty="0">
                <a:solidFill>
                  <a:schemeClr val="accent1"/>
                </a:solidFill>
              </a:rPr>
              <a:t>Cas piège</a:t>
            </a:r>
            <a:endParaRPr lang="en-US" sz="1500" dirty="0"/>
          </a:p>
        </p:txBody>
      </p:sp>
      <p:sp>
        <p:nvSpPr>
          <p:cNvPr id="31" name="Text 29"/>
          <p:cNvSpPr txBox="1"/>
          <p:nvPr/>
        </p:nvSpPr>
        <p:spPr>
          <a:xfrm>
            <a:off x="6428232" y="4480560"/>
            <a:ext cx="5029200" cy="1371600"/>
          </a:xfrm>
          <a:prstGeom prst="rect">
            <a:avLst/>
          </a:prstGeom>
          <a:noFill/>
          <a:ln/>
        </p:spPr>
        <p:txBody>
          <a:bodyPr wrap="square" lIns="0" tIns="0" rIns="0" bIns="0" rtlCol="0" anchor="t"/>
          <a:lstStyle/>
          <a:p>
            <a:pPr indent="0" marL="0">
              <a:buNone/>
            </a:pPr>
            <a:r>
              <a:rPr lang="en-US" sz="1400" dirty="0">
                <a:solidFill>
                  <a:schemeClr val="tx1"/>
                </a:solidFill>
              </a:rPr>
              <a:t>« L’infirmière » : un mot ou deux ? Et pour un mot très long ou inconnu, on peut le couper en morceaux plus petits. Les outils modernes le font (module 2).</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Mots passe-partout et mots-indices</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MODULE 1  ·  FONDAMENTAUX DU NLP</a:t>
            </a:r>
            <a:endParaRPr lang="en-US" sz="1200" dirty="0"/>
          </a:p>
        </p:txBody>
      </p:sp>
      <p:sp>
        <p:nvSpPr>
          <p:cNvPr id="4" name="Text 2"/>
          <p:cNvSpPr txBox="1"/>
          <p:nvPr/>
        </p:nvSpPr>
        <p:spPr>
          <a:xfrm>
            <a:off x="548640" y="1325880"/>
            <a:ext cx="11064240" cy="640080"/>
          </a:xfrm>
          <a:prstGeom prst="rect">
            <a:avLst/>
          </a:prstGeom>
          <a:noFill/>
          <a:ln/>
        </p:spPr>
        <p:txBody>
          <a:bodyPr wrap="square" lIns="0" tIns="0" rIns="0" bIns="0" rtlCol="0" anchor="t"/>
          <a:lstStyle/>
          <a:p>
            <a:pPr indent="0" marL="0">
              <a:buNone/>
            </a:pPr>
            <a:r>
              <a:rPr lang="en-US" sz="1600" dirty="0">
                <a:solidFill>
                  <a:schemeClr val="tx1"/>
                </a:solidFill>
              </a:rPr>
              <a:t>Analogie : chercher une personne dans une foule. On ignore ce que tout le monde porte, et on cherche ce qui la distingue.</a:t>
            </a:r>
            <a:endParaRPr lang="en-US" sz="1600" dirty="0"/>
          </a:p>
        </p:txBody>
      </p:sp>
      <p:sp>
        <p:nvSpPr>
          <p:cNvPr id="5" name="Carte"/>
          <p:cNvSpPr/>
          <p:nvPr/>
        </p:nvSpPr>
        <p:spPr>
          <a:xfrm>
            <a:off x="548640" y="2194560"/>
            <a:ext cx="5440680" cy="2834640"/>
          </a:xfrm>
          <a:prstGeom prst="roundRect">
            <a:avLst>
              <a:gd name="adj" fmla="val 2581"/>
            </a:avLst>
          </a:prstGeom>
          <a:solidFill>
            <a:schemeClr val="bg2"/>
          </a:solidFill>
          <a:ln w="12700">
            <a:solidFill>
              <a:schemeClr val="bg2"/>
            </a:solidFill>
            <a:prstDash val="solid"/>
          </a:ln>
        </p:spPr>
      </p:sp>
      <p:sp>
        <p:nvSpPr>
          <p:cNvPr id="6" name="Pastille"/>
          <p:cNvSpPr/>
          <p:nvPr/>
        </p:nvSpPr>
        <p:spPr>
          <a:xfrm>
            <a:off x="777240" y="2377440"/>
            <a:ext cx="548640" cy="548640"/>
          </a:xfrm>
          <a:prstGeom prst="ellipse">
            <a:avLst/>
          </a:prstGeom>
          <a:solidFill>
            <a:schemeClr val="accent6"/>
          </a:solidFill>
          <a:ln w="12700">
            <a:solidFill>
              <a:schemeClr val="accent6"/>
            </a:solidFill>
            <a:prstDash val="solid"/>
          </a:ln>
        </p:spPr>
      </p:sp>
      <p:pic>
        <p:nvPicPr>
          <p:cNvPr id="7" name="Icône FaHandPaper" descr="FaHandPaper">    </p:cNvPr>
          <p:cNvPicPr>
            <a:picLocks noChangeAspect="1"/>
          </p:cNvPicPr>
          <p:nvPr/>
        </p:nvPicPr>
        <p:blipFill>
          <a:blip r:embed="rId1"/>
          <a:stretch>
            <a:fillRect/>
          </a:stretch>
        </p:blipFill>
        <p:spPr>
          <a:xfrm>
            <a:off x="914400" y="2514600"/>
            <a:ext cx="274320" cy="274320"/>
          </a:xfrm>
          <a:prstGeom prst="rect">
            <a:avLst/>
          </a:prstGeom>
        </p:spPr>
      </p:pic>
      <p:sp>
        <p:nvSpPr>
          <p:cNvPr id="8" name="Text 5"/>
          <p:cNvSpPr txBox="1"/>
          <p:nvPr/>
        </p:nvSpPr>
        <p:spPr>
          <a:xfrm>
            <a:off x="1508760" y="2377440"/>
            <a:ext cx="4297680" cy="548640"/>
          </a:xfrm>
          <a:prstGeom prst="rect">
            <a:avLst/>
          </a:prstGeom>
          <a:noFill/>
          <a:ln/>
        </p:spPr>
        <p:txBody>
          <a:bodyPr wrap="square" lIns="0" tIns="0" rIns="0" bIns="0" rtlCol="0" anchor="ctr"/>
          <a:lstStyle/>
          <a:p>
            <a:pPr indent="0" marL="0">
              <a:buNone/>
            </a:pPr>
            <a:r>
              <a:rPr lang="en-US" sz="1700" b="1" dirty="0">
                <a:solidFill>
                  <a:schemeClr val="accent1"/>
                </a:solidFill>
              </a:rPr>
              <a:t>Mots passe-partout</a:t>
            </a:r>
            <a:endParaRPr lang="en-US" sz="1700" dirty="0"/>
          </a:p>
        </p:txBody>
      </p:sp>
      <p:sp>
        <p:nvSpPr>
          <p:cNvPr id="9" name="Carte"/>
          <p:cNvSpPr/>
          <p:nvPr/>
        </p:nvSpPr>
        <p:spPr>
          <a:xfrm>
            <a:off x="777240" y="3200400"/>
            <a:ext cx="630936" cy="457200"/>
          </a:xfrm>
          <a:prstGeom prst="roundRect">
            <a:avLst>
              <a:gd name="adj" fmla="val 16000"/>
            </a:avLst>
          </a:prstGeom>
          <a:solidFill>
            <a:schemeClr val="bg2"/>
          </a:solidFill>
          <a:ln w="12700">
            <a:solidFill>
              <a:schemeClr val="accent6"/>
            </a:solidFill>
            <a:prstDash val="solid"/>
          </a:ln>
        </p:spPr>
      </p:sp>
      <p:sp>
        <p:nvSpPr>
          <p:cNvPr id="10" name="Text 7"/>
          <p:cNvSpPr txBox="1"/>
          <p:nvPr/>
        </p:nvSpPr>
        <p:spPr>
          <a:xfrm>
            <a:off x="777240" y="3200400"/>
            <a:ext cx="630936" cy="457200"/>
          </a:xfrm>
          <a:prstGeom prst="rect">
            <a:avLst/>
          </a:prstGeom>
          <a:noFill/>
          <a:ln/>
        </p:spPr>
        <p:txBody>
          <a:bodyPr wrap="square" lIns="0" tIns="0" rIns="0" bIns="0" rtlCol="0" anchor="ctr"/>
          <a:lstStyle/>
          <a:p>
            <a:pPr algn="ctr" indent="0" marL="0">
              <a:buNone/>
            </a:pPr>
            <a:r>
              <a:rPr lang="en-US" sz="1500" b="1" dirty="0">
                <a:solidFill>
                  <a:schemeClr val="tx1"/>
                </a:solidFill>
              </a:rPr>
              <a:t>le</a:t>
            </a:r>
            <a:endParaRPr lang="en-US" sz="1500" dirty="0"/>
          </a:p>
        </p:txBody>
      </p:sp>
      <p:sp>
        <p:nvSpPr>
          <p:cNvPr id="11" name="Carte"/>
          <p:cNvSpPr/>
          <p:nvPr/>
        </p:nvSpPr>
        <p:spPr>
          <a:xfrm>
            <a:off x="1517904" y="3200400"/>
            <a:ext cx="630936" cy="457200"/>
          </a:xfrm>
          <a:prstGeom prst="roundRect">
            <a:avLst>
              <a:gd name="adj" fmla="val 16000"/>
            </a:avLst>
          </a:prstGeom>
          <a:solidFill>
            <a:schemeClr val="accent5"/>
          </a:solidFill>
          <a:ln w="12700">
            <a:solidFill>
              <a:schemeClr val="accent6"/>
            </a:solidFill>
            <a:prstDash val="solid"/>
          </a:ln>
        </p:spPr>
      </p:sp>
      <p:sp>
        <p:nvSpPr>
          <p:cNvPr id="12" name="Text 9"/>
          <p:cNvSpPr txBox="1"/>
          <p:nvPr/>
        </p:nvSpPr>
        <p:spPr>
          <a:xfrm>
            <a:off x="1517904" y="3200400"/>
            <a:ext cx="630936" cy="457200"/>
          </a:xfrm>
          <a:prstGeom prst="rect">
            <a:avLst/>
          </a:prstGeom>
          <a:noFill/>
          <a:ln/>
        </p:spPr>
        <p:txBody>
          <a:bodyPr wrap="square" lIns="0" tIns="0" rIns="0" bIns="0" rtlCol="0" anchor="ctr"/>
          <a:lstStyle/>
          <a:p>
            <a:pPr algn="ctr" indent="0" marL="0">
              <a:buNone/>
            </a:pPr>
            <a:r>
              <a:rPr lang="en-US" sz="1500" b="1" dirty="0">
                <a:solidFill>
                  <a:schemeClr val="tx1"/>
                </a:solidFill>
              </a:rPr>
              <a:t>de</a:t>
            </a:r>
            <a:endParaRPr lang="en-US" sz="1500" dirty="0"/>
          </a:p>
        </p:txBody>
      </p:sp>
      <p:sp>
        <p:nvSpPr>
          <p:cNvPr id="13" name="Carte"/>
          <p:cNvSpPr/>
          <p:nvPr/>
        </p:nvSpPr>
        <p:spPr>
          <a:xfrm>
            <a:off x="2258568" y="3200400"/>
            <a:ext cx="630936" cy="457200"/>
          </a:xfrm>
          <a:prstGeom prst="roundRect">
            <a:avLst>
              <a:gd name="adj" fmla="val 16000"/>
            </a:avLst>
          </a:prstGeom>
          <a:solidFill>
            <a:schemeClr val="bg2"/>
          </a:solidFill>
          <a:ln w="12700">
            <a:solidFill>
              <a:schemeClr val="accent6"/>
            </a:solidFill>
            <a:prstDash val="solid"/>
          </a:ln>
        </p:spPr>
      </p:sp>
      <p:sp>
        <p:nvSpPr>
          <p:cNvPr id="14" name="Text 11"/>
          <p:cNvSpPr txBox="1"/>
          <p:nvPr/>
        </p:nvSpPr>
        <p:spPr>
          <a:xfrm>
            <a:off x="2258568" y="3200400"/>
            <a:ext cx="630936" cy="457200"/>
          </a:xfrm>
          <a:prstGeom prst="rect">
            <a:avLst/>
          </a:prstGeom>
          <a:noFill/>
          <a:ln/>
        </p:spPr>
        <p:txBody>
          <a:bodyPr wrap="square" lIns="0" tIns="0" rIns="0" bIns="0" rtlCol="0" anchor="ctr"/>
          <a:lstStyle/>
          <a:p>
            <a:pPr algn="ctr" indent="0" marL="0">
              <a:buNone/>
            </a:pPr>
            <a:r>
              <a:rPr lang="en-US" sz="1500" b="1" dirty="0">
                <a:solidFill>
                  <a:schemeClr val="tx1"/>
                </a:solidFill>
              </a:rPr>
              <a:t>un</a:t>
            </a:r>
            <a:endParaRPr lang="en-US" sz="1500" dirty="0"/>
          </a:p>
        </p:txBody>
      </p:sp>
      <p:sp>
        <p:nvSpPr>
          <p:cNvPr id="15" name="Carte"/>
          <p:cNvSpPr/>
          <p:nvPr/>
        </p:nvSpPr>
        <p:spPr>
          <a:xfrm>
            <a:off x="2999232" y="3200400"/>
            <a:ext cx="786384" cy="457200"/>
          </a:xfrm>
          <a:prstGeom prst="roundRect">
            <a:avLst>
              <a:gd name="adj" fmla="val 16000"/>
            </a:avLst>
          </a:prstGeom>
          <a:solidFill>
            <a:schemeClr val="accent5"/>
          </a:solidFill>
          <a:ln w="12700">
            <a:solidFill>
              <a:schemeClr val="accent6"/>
            </a:solidFill>
            <a:prstDash val="solid"/>
          </a:ln>
        </p:spPr>
      </p:sp>
      <p:sp>
        <p:nvSpPr>
          <p:cNvPr id="16" name="Text 13"/>
          <p:cNvSpPr txBox="1"/>
          <p:nvPr/>
        </p:nvSpPr>
        <p:spPr>
          <a:xfrm>
            <a:off x="2999232" y="3200400"/>
            <a:ext cx="786384" cy="457200"/>
          </a:xfrm>
          <a:prstGeom prst="rect">
            <a:avLst/>
          </a:prstGeom>
          <a:noFill/>
          <a:ln/>
        </p:spPr>
        <p:txBody>
          <a:bodyPr wrap="square" lIns="0" tIns="0" rIns="0" bIns="0" rtlCol="0" anchor="ctr"/>
          <a:lstStyle/>
          <a:p>
            <a:pPr algn="ctr" indent="0" marL="0">
              <a:buNone/>
            </a:pPr>
            <a:r>
              <a:rPr lang="en-US" sz="1500" b="1" dirty="0">
                <a:solidFill>
                  <a:schemeClr val="tx1"/>
                </a:solidFill>
              </a:rPr>
              <a:t>mon</a:t>
            </a:r>
            <a:endParaRPr lang="en-US" sz="1500" dirty="0"/>
          </a:p>
        </p:txBody>
      </p:sp>
      <p:sp>
        <p:nvSpPr>
          <p:cNvPr id="17" name="Carte"/>
          <p:cNvSpPr/>
          <p:nvPr/>
        </p:nvSpPr>
        <p:spPr>
          <a:xfrm>
            <a:off x="3895344" y="3200400"/>
            <a:ext cx="941832" cy="457200"/>
          </a:xfrm>
          <a:prstGeom prst="roundRect">
            <a:avLst>
              <a:gd name="adj" fmla="val 16000"/>
            </a:avLst>
          </a:prstGeom>
          <a:solidFill>
            <a:schemeClr val="bg2"/>
          </a:solidFill>
          <a:ln w="12700">
            <a:solidFill>
              <a:schemeClr val="accent6"/>
            </a:solidFill>
            <a:prstDash val="solid"/>
          </a:ln>
        </p:spPr>
      </p:sp>
      <p:sp>
        <p:nvSpPr>
          <p:cNvPr id="18" name="Text 15"/>
          <p:cNvSpPr txBox="1"/>
          <p:nvPr/>
        </p:nvSpPr>
        <p:spPr>
          <a:xfrm>
            <a:off x="3895344" y="3200400"/>
            <a:ext cx="941832" cy="457200"/>
          </a:xfrm>
          <a:prstGeom prst="rect">
            <a:avLst/>
          </a:prstGeom>
          <a:noFill/>
          <a:ln/>
        </p:spPr>
        <p:txBody>
          <a:bodyPr wrap="square" lIns="0" tIns="0" rIns="0" bIns="0" rtlCol="0" anchor="ctr"/>
          <a:lstStyle/>
          <a:p>
            <a:pPr algn="ctr" indent="0" marL="0">
              <a:buNone/>
            </a:pPr>
            <a:r>
              <a:rPr lang="en-US" sz="1500" b="1" dirty="0">
                <a:solidFill>
                  <a:schemeClr val="tx1"/>
                </a:solidFill>
              </a:rPr>
              <a:t>pour</a:t>
            </a:r>
            <a:endParaRPr lang="en-US" sz="1500" dirty="0"/>
          </a:p>
        </p:txBody>
      </p:sp>
      <p:sp>
        <p:nvSpPr>
          <p:cNvPr id="19" name="Carte"/>
          <p:cNvSpPr/>
          <p:nvPr/>
        </p:nvSpPr>
        <p:spPr>
          <a:xfrm>
            <a:off x="4946904" y="3200400"/>
            <a:ext cx="630936" cy="457200"/>
          </a:xfrm>
          <a:prstGeom prst="roundRect">
            <a:avLst>
              <a:gd name="adj" fmla="val 16000"/>
            </a:avLst>
          </a:prstGeom>
          <a:solidFill>
            <a:schemeClr val="accent5"/>
          </a:solidFill>
          <a:ln w="12700">
            <a:solidFill>
              <a:schemeClr val="accent6"/>
            </a:solidFill>
            <a:prstDash val="solid"/>
          </a:ln>
        </p:spPr>
      </p:sp>
      <p:sp>
        <p:nvSpPr>
          <p:cNvPr id="20" name="Text 17"/>
          <p:cNvSpPr txBox="1"/>
          <p:nvPr/>
        </p:nvSpPr>
        <p:spPr>
          <a:xfrm>
            <a:off x="4946904" y="3200400"/>
            <a:ext cx="630936" cy="457200"/>
          </a:xfrm>
          <a:prstGeom prst="rect">
            <a:avLst/>
          </a:prstGeom>
          <a:noFill/>
          <a:ln/>
        </p:spPr>
        <p:txBody>
          <a:bodyPr wrap="square" lIns="0" tIns="0" rIns="0" bIns="0" rtlCol="0" anchor="ctr"/>
          <a:lstStyle/>
          <a:p>
            <a:pPr algn="ctr" indent="0" marL="0">
              <a:buNone/>
            </a:pPr>
            <a:r>
              <a:rPr lang="en-US" sz="1500" b="1" dirty="0">
                <a:solidFill>
                  <a:schemeClr val="tx1"/>
                </a:solidFill>
              </a:rPr>
              <a:t>où</a:t>
            </a:r>
            <a:endParaRPr lang="en-US" sz="1500" dirty="0"/>
          </a:p>
        </p:txBody>
      </p:sp>
      <p:sp>
        <p:nvSpPr>
          <p:cNvPr id="21" name="Text 18"/>
          <p:cNvSpPr txBox="1"/>
          <p:nvPr/>
        </p:nvSpPr>
        <p:spPr>
          <a:xfrm>
            <a:off x="777240" y="3840480"/>
            <a:ext cx="5029200" cy="1005840"/>
          </a:xfrm>
          <a:prstGeom prst="rect">
            <a:avLst/>
          </a:prstGeom>
          <a:noFill/>
          <a:ln/>
        </p:spPr>
        <p:txBody>
          <a:bodyPr wrap="square" lIns="0" tIns="0" rIns="0" bIns="0" rtlCol="0" anchor="t"/>
          <a:lstStyle/>
          <a:p>
            <a:pPr indent="0" marL="0">
              <a:buNone/>
            </a:pPr>
            <a:r>
              <a:rPr lang="en-US" sz="1450" dirty="0">
                <a:solidFill>
                  <a:schemeClr val="tx1"/>
                </a:solidFill>
              </a:rPr>
              <a:t>Présents partout, ils n’aident pas à distinguer un sujet d’un autre. On les ignore.</a:t>
            </a:r>
            <a:endParaRPr lang="en-US" sz="1450" dirty="0"/>
          </a:p>
        </p:txBody>
      </p:sp>
      <p:sp>
        <p:nvSpPr>
          <p:cNvPr id="22" name="Carte"/>
          <p:cNvSpPr/>
          <p:nvPr/>
        </p:nvSpPr>
        <p:spPr>
          <a:xfrm>
            <a:off x="6199632" y="2194560"/>
            <a:ext cx="5440680" cy="2834640"/>
          </a:xfrm>
          <a:prstGeom prst="roundRect">
            <a:avLst>
              <a:gd name="adj" fmla="val 2581"/>
            </a:avLst>
          </a:prstGeom>
          <a:solidFill>
            <a:schemeClr val="accent5"/>
          </a:solidFill>
          <a:ln w="12700">
            <a:solidFill>
              <a:schemeClr val="accent5"/>
            </a:solidFill>
            <a:prstDash val="solid"/>
          </a:ln>
        </p:spPr>
      </p:sp>
      <p:sp>
        <p:nvSpPr>
          <p:cNvPr id="23" name="Pastille"/>
          <p:cNvSpPr/>
          <p:nvPr/>
        </p:nvSpPr>
        <p:spPr>
          <a:xfrm>
            <a:off x="6428232" y="2377440"/>
            <a:ext cx="548640" cy="548640"/>
          </a:xfrm>
          <a:prstGeom prst="ellipse">
            <a:avLst/>
          </a:prstGeom>
          <a:solidFill>
            <a:schemeClr val="accent1"/>
          </a:solidFill>
          <a:ln w="12700">
            <a:solidFill>
              <a:schemeClr val="accent1"/>
            </a:solidFill>
            <a:prstDash val="solid"/>
          </a:ln>
        </p:spPr>
      </p:sp>
      <p:pic>
        <p:nvPicPr>
          <p:cNvPr id="24" name="Icône FaSearch" descr="FaSearch">    </p:cNvPr>
          <p:cNvPicPr>
            <a:picLocks noChangeAspect="1"/>
          </p:cNvPicPr>
          <p:nvPr/>
        </p:nvPicPr>
        <p:blipFill>
          <a:blip r:embed="rId2"/>
          <a:stretch>
            <a:fillRect/>
          </a:stretch>
        </p:blipFill>
        <p:spPr>
          <a:xfrm>
            <a:off x="6565392" y="2514600"/>
            <a:ext cx="274320" cy="274320"/>
          </a:xfrm>
          <a:prstGeom prst="rect">
            <a:avLst/>
          </a:prstGeom>
        </p:spPr>
      </p:pic>
      <p:sp>
        <p:nvSpPr>
          <p:cNvPr id="25" name="Text 21"/>
          <p:cNvSpPr txBox="1"/>
          <p:nvPr/>
        </p:nvSpPr>
        <p:spPr>
          <a:xfrm>
            <a:off x="7159752" y="2377440"/>
            <a:ext cx="4297680" cy="548640"/>
          </a:xfrm>
          <a:prstGeom prst="rect">
            <a:avLst/>
          </a:prstGeom>
          <a:noFill/>
          <a:ln/>
        </p:spPr>
        <p:txBody>
          <a:bodyPr wrap="square" lIns="0" tIns="0" rIns="0" bIns="0" rtlCol="0" anchor="ctr"/>
          <a:lstStyle/>
          <a:p>
            <a:pPr indent="0" marL="0">
              <a:buNone/>
            </a:pPr>
            <a:r>
              <a:rPr lang="en-US" sz="1700" b="1" dirty="0">
                <a:solidFill>
                  <a:schemeClr val="accent1"/>
                </a:solidFill>
              </a:rPr>
              <a:t>Mots-indices</a:t>
            </a:r>
            <a:endParaRPr lang="en-US" sz="1700" dirty="0"/>
          </a:p>
        </p:txBody>
      </p:sp>
      <p:sp>
        <p:nvSpPr>
          <p:cNvPr id="26" name="Carte"/>
          <p:cNvSpPr/>
          <p:nvPr/>
        </p:nvSpPr>
        <p:spPr>
          <a:xfrm>
            <a:off x="6428232" y="3200400"/>
            <a:ext cx="1252728" cy="457200"/>
          </a:xfrm>
          <a:prstGeom prst="roundRect">
            <a:avLst>
              <a:gd name="adj" fmla="val 16000"/>
            </a:avLst>
          </a:prstGeom>
          <a:solidFill>
            <a:schemeClr val="bg2"/>
          </a:solidFill>
          <a:ln w="12700">
            <a:solidFill>
              <a:schemeClr val="accent1"/>
            </a:solidFill>
            <a:prstDash val="solid"/>
          </a:ln>
        </p:spPr>
      </p:sp>
      <p:sp>
        <p:nvSpPr>
          <p:cNvPr id="27" name="Text 23"/>
          <p:cNvSpPr txBox="1"/>
          <p:nvPr/>
        </p:nvSpPr>
        <p:spPr>
          <a:xfrm>
            <a:off x="6428232" y="3200400"/>
            <a:ext cx="1252728" cy="457200"/>
          </a:xfrm>
          <a:prstGeom prst="rect">
            <a:avLst/>
          </a:prstGeom>
          <a:noFill/>
          <a:ln/>
        </p:spPr>
        <p:txBody>
          <a:bodyPr wrap="square" lIns="0" tIns="0" rIns="0" bIns="0" rtlCol="0" anchor="ctr"/>
          <a:lstStyle/>
          <a:p>
            <a:pPr algn="ctr" indent="0" marL="0">
              <a:buNone/>
            </a:pPr>
            <a:r>
              <a:rPr lang="en-US" sz="1500" b="1" dirty="0">
                <a:solidFill>
                  <a:schemeClr val="tx1"/>
                </a:solidFill>
              </a:rPr>
              <a:t>vaccin</a:t>
            </a:r>
            <a:endParaRPr lang="en-US" sz="1500" dirty="0"/>
          </a:p>
        </p:txBody>
      </p:sp>
      <p:sp>
        <p:nvSpPr>
          <p:cNvPr id="28" name="Carte"/>
          <p:cNvSpPr/>
          <p:nvPr/>
        </p:nvSpPr>
        <p:spPr>
          <a:xfrm>
            <a:off x="7790688" y="3200400"/>
            <a:ext cx="1719072" cy="457200"/>
          </a:xfrm>
          <a:prstGeom prst="roundRect">
            <a:avLst>
              <a:gd name="adj" fmla="val 16000"/>
            </a:avLst>
          </a:prstGeom>
          <a:solidFill>
            <a:schemeClr val="accent5"/>
          </a:solidFill>
          <a:ln w="12700">
            <a:solidFill>
              <a:schemeClr val="accent1"/>
            </a:solidFill>
            <a:prstDash val="solid"/>
          </a:ln>
        </p:spPr>
      </p:sp>
      <p:sp>
        <p:nvSpPr>
          <p:cNvPr id="29" name="Text 25"/>
          <p:cNvSpPr txBox="1"/>
          <p:nvPr/>
        </p:nvSpPr>
        <p:spPr>
          <a:xfrm>
            <a:off x="7790688" y="3200400"/>
            <a:ext cx="1719072" cy="457200"/>
          </a:xfrm>
          <a:prstGeom prst="rect">
            <a:avLst/>
          </a:prstGeom>
          <a:noFill/>
          <a:ln/>
        </p:spPr>
        <p:txBody>
          <a:bodyPr wrap="square" lIns="0" tIns="0" rIns="0" bIns="0" rtlCol="0" anchor="ctr"/>
          <a:lstStyle/>
          <a:p>
            <a:pPr algn="ctr" indent="0" marL="0">
              <a:buNone/>
            </a:pPr>
            <a:r>
              <a:rPr lang="en-US" sz="1500" b="1" dirty="0">
                <a:solidFill>
                  <a:schemeClr val="tx1"/>
                </a:solidFill>
              </a:rPr>
              <a:t>passeport</a:t>
            </a:r>
            <a:endParaRPr lang="en-US" sz="1500" dirty="0"/>
          </a:p>
        </p:txBody>
      </p:sp>
      <p:sp>
        <p:nvSpPr>
          <p:cNvPr id="30" name="Carte"/>
          <p:cNvSpPr/>
          <p:nvPr/>
        </p:nvSpPr>
        <p:spPr>
          <a:xfrm>
            <a:off x="9619488" y="3200400"/>
            <a:ext cx="1408176" cy="457200"/>
          </a:xfrm>
          <a:prstGeom prst="roundRect">
            <a:avLst>
              <a:gd name="adj" fmla="val 16000"/>
            </a:avLst>
          </a:prstGeom>
          <a:solidFill>
            <a:schemeClr val="bg2"/>
          </a:solidFill>
          <a:ln w="12700">
            <a:solidFill>
              <a:schemeClr val="accent1"/>
            </a:solidFill>
            <a:prstDash val="solid"/>
          </a:ln>
        </p:spPr>
      </p:sp>
      <p:sp>
        <p:nvSpPr>
          <p:cNvPr id="31" name="Text 27"/>
          <p:cNvSpPr txBox="1"/>
          <p:nvPr/>
        </p:nvSpPr>
        <p:spPr>
          <a:xfrm>
            <a:off x="9619488" y="3200400"/>
            <a:ext cx="1408176" cy="457200"/>
          </a:xfrm>
          <a:prstGeom prst="rect">
            <a:avLst/>
          </a:prstGeom>
          <a:noFill/>
          <a:ln/>
        </p:spPr>
        <p:txBody>
          <a:bodyPr wrap="square" lIns="0" tIns="0" rIns="0" bIns="0" rtlCol="0" anchor="ctr"/>
          <a:lstStyle/>
          <a:p>
            <a:pPr algn="ctr" indent="0" marL="0">
              <a:buNone/>
            </a:pPr>
            <a:r>
              <a:rPr lang="en-US" sz="1500" b="1" dirty="0">
                <a:solidFill>
                  <a:schemeClr val="tx1"/>
                </a:solidFill>
              </a:rPr>
              <a:t>rentrée</a:t>
            </a:r>
            <a:endParaRPr lang="en-US" sz="1500" dirty="0"/>
          </a:p>
        </p:txBody>
      </p:sp>
      <p:sp>
        <p:nvSpPr>
          <p:cNvPr id="32" name="Text 28"/>
          <p:cNvSpPr txBox="1"/>
          <p:nvPr/>
        </p:nvSpPr>
        <p:spPr>
          <a:xfrm>
            <a:off x="6428232" y="3840480"/>
            <a:ext cx="5029200" cy="1005840"/>
          </a:xfrm>
          <a:prstGeom prst="rect">
            <a:avLst/>
          </a:prstGeom>
          <a:noFill/>
          <a:ln/>
        </p:spPr>
        <p:txBody>
          <a:bodyPr wrap="square" lIns="0" tIns="0" rIns="0" bIns="0" rtlCol="0" anchor="t"/>
          <a:lstStyle/>
          <a:p>
            <a:pPr indent="0" marL="0">
              <a:buNone/>
            </a:pPr>
            <a:r>
              <a:rPr lang="en-US" sz="1450" dirty="0">
                <a:solidFill>
                  <a:schemeClr val="tx1"/>
                </a:solidFill>
              </a:rPr>
              <a:t>Rares et ciblés, ils révèlent le sujet. Ce sont eux qui font la décision.</a:t>
            </a:r>
            <a:endParaRPr lang="en-US" sz="1450" dirty="0"/>
          </a:p>
        </p:txBody>
      </p:sp>
      <p:sp>
        <p:nvSpPr>
          <p:cNvPr id="33" name="À retenir"/>
          <p:cNvSpPr/>
          <p:nvPr/>
        </p:nvSpPr>
        <p:spPr>
          <a:xfrm>
            <a:off x="548640" y="5257800"/>
            <a:ext cx="11091672" cy="777240"/>
          </a:xfrm>
          <a:prstGeom prst="roundRect">
            <a:avLst>
              <a:gd name="adj" fmla="val 9412"/>
            </a:avLst>
          </a:prstGeom>
          <a:solidFill>
            <a:schemeClr val="accent3">
              <a:alpha val="22000"/>
            </a:schemeClr>
          </a:solidFill>
          <a:ln w="12700">
            <a:solidFill>
              <a:schemeClr val="accent3"/>
            </a:solidFill>
            <a:prstDash val="solid"/>
          </a:ln>
        </p:spPr>
      </p:sp>
      <p:pic>
        <p:nvPicPr>
          <p:cNvPr id="34" name="Image 2" descr="À retenir">    </p:cNvPr>
          <p:cNvPicPr>
            <a:picLocks noChangeAspect="1"/>
          </p:cNvPicPr>
          <p:nvPr/>
        </p:nvPicPr>
        <p:blipFill>
          <a:blip r:embed="rId3"/>
          <a:stretch>
            <a:fillRect/>
          </a:stretch>
        </p:blipFill>
        <p:spPr>
          <a:xfrm>
            <a:off x="777240" y="5463540"/>
            <a:ext cx="365760" cy="365760"/>
          </a:xfrm>
          <a:prstGeom prst="rect">
            <a:avLst/>
          </a:prstGeom>
        </p:spPr>
      </p:pic>
      <p:sp>
        <p:nvSpPr>
          <p:cNvPr id="35" name="Text 30"/>
          <p:cNvSpPr txBox="1"/>
          <p:nvPr/>
        </p:nvSpPr>
        <p:spPr>
          <a:xfrm>
            <a:off x="1371600" y="5257800"/>
            <a:ext cx="10058400" cy="777240"/>
          </a:xfrm>
          <a:prstGeom prst="rect">
            <a:avLst/>
          </a:prstGeom>
          <a:noFill/>
          <a:ln/>
        </p:spPr>
        <p:txBody>
          <a:bodyPr wrap="square" lIns="0" tIns="0" rIns="0" bIns="0" rtlCol="0" anchor="ctr"/>
          <a:lstStyle/>
          <a:p>
            <a:pPr indent="0" marL="0">
              <a:buNone/>
            </a:pPr>
            <a:r>
              <a:rPr lang="en-US" sz="1500" b="1" dirty="0">
                <a:solidFill>
                  <a:schemeClr val="tx1"/>
                </a:solidFill>
              </a:rPr>
              <a:t>À retenir : </a:t>
            </a:r>
            <a:r>
              <a:rPr lang="en-US" sz="1500" dirty="0">
                <a:solidFill>
                  <a:schemeClr val="tx1"/>
                </a:solidFill>
              </a:rPr>
              <a:t>attention aux pièges : « enfant » est très fréquent, mais présent dans les trois sujets. Il ne distingue rien.</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Étape 3 · Compter : le « sac de mots »</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MODULE 1  ·  FONDAMENTAUX DU NLP</a:t>
            </a:r>
            <a:endParaRPr lang="en-US" sz="1200" dirty="0"/>
          </a:p>
        </p:txBody>
      </p:sp>
      <p:sp>
        <p:nvSpPr>
          <p:cNvPr id="4" name="Text 2"/>
          <p:cNvSpPr txBox="1"/>
          <p:nvPr/>
        </p:nvSpPr>
        <p:spPr>
          <a:xfrm>
            <a:off x="548640" y="1325880"/>
            <a:ext cx="11064240" cy="640080"/>
          </a:xfrm>
          <a:prstGeom prst="rect">
            <a:avLst/>
          </a:prstGeom>
          <a:noFill/>
          <a:ln/>
        </p:spPr>
        <p:txBody>
          <a:bodyPr wrap="square" lIns="0" tIns="0" rIns="0" bIns="0" rtlCol="0" anchor="t"/>
          <a:lstStyle/>
          <a:p>
            <a:pPr indent="0" marL="0">
              <a:buNone/>
            </a:pPr>
            <a:r>
              <a:rPr lang="en-US" sz="1600" dirty="0">
                <a:solidFill>
                  <a:schemeClr val="tx1"/>
                </a:solidFill>
              </a:rPr>
              <a:t>Analogie : vider un sac sur la table et compter chaque objet. On oublie l’ordre, on garde les quantités. Dans le tableau, 1 = le mot est dans le message, 0 = il n’y est pas.</a:t>
            </a:r>
            <a:endParaRPr lang="en-US" sz="1600" dirty="0"/>
          </a:p>
        </p:txBody>
      </p:sp>
      <p:graphicFrame>
        <p:nvGraphicFramePr>
          <p:cNvPr id="12" name="Sac de mots"/>
          <p:cNvGraphicFramePr>
            <a:graphicFrameLocks noGrp="1"/>
          </p:cNvGraphicFramePr>
          <p:nvPr>
            <p:extLst>
              <p:ext uri="{D42A27DB-BD31-4B8C-83A1-F6EECF244321}">
                <p14:modId xmlns:p14="http://schemas.microsoft.com/office/powerpoint/2010/main" val="1579011935"/>
              </p:ext>
            </p:extLst>
          </p:nvPr>
        </p:nvGraphicFramePr>
        <p:xfrm>
          <a:off x="548640" y="2194560"/>
          <a:ext cx="11091672" cy="914400"/>
        </p:xfrm>
        <a:graphic>
          <a:graphicData uri="http://schemas.openxmlformats.org/drawingml/2006/table">
            <a:tbl>
              <a:tblPr/>
              <a:tblGrid>
                <a:gridCol w="4325112"/>
                <a:gridCol w="1691640"/>
                <a:gridCol w="1691640"/>
                <a:gridCol w="1691640"/>
                <a:gridCol w="1691640"/>
              </a:tblGrid>
              <a:tr h="566928">
                <a:tc>
                  <a:txBody>
                    <a:bodyPr/>
                    <a:lstStyle/>
                    <a:p>
                      <a:pPr algn="l" indent="0" marL="0">
                        <a:buNone/>
                      </a:pPr>
                      <a:r>
                        <a:rPr lang="en-US" sz="1400" b="1" dirty="0">
                          <a:solidFill>
                            <a:schemeClr val="bg1"/>
                          </a:solidFill>
                        </a:rPr>
                        <a:t>Message</a:t>
                      </a:r>
                      <a:endParaRPr lang="en-US" sz="14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médecin</a:t>
                      </a:r>
                      <a:endParaRPr lang="en-US" sz="14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naissance</a:t>
                      </a:r>
                      <a:endParaRPr lang="en-US" sz="14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rentrée</a:t>
                      </a:r>
                      <a:endParaRPr lang="en-US" sz="14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enfant</a:t>
                      </a:r>
                      <a:endParaRPr lang="en-US" sz="14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accent1"/>
                    </a:solidFill>
                  </a:tcPr>
                </a:tc>
              </a:tr>
              <a:tr h="566928">
                <a:tc>
                  <a:txBody>
                    <a:bodyPr/>
                    <a:lstStyle/>
                    <a:p>
                      <a:pPr algn="l" indent="0" marL="0">
                        <a:buNone/>
                      </a:pPr>
                      <a:r>
                        <a:rPr lang="en-US" sz="1500" b="1" dirty="0">
                          <a:solidFill>
                            <a:schemeClr val="accent1"/>
                          </a:solidFill>
                        </a:rPr>
                        <a:t>Message 1 : « Le médecin examine l’enfant »</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1</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0</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0</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1</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2"/>
                    </a:solidFill>
                  </a:tcPr>
                </a:tc>
              </a:tr>
              <a:tr h="566928">
                <a:tc>
                  <a:txBody>
                    <a:bodyPr/>
                    <a:lstStyle/>
                    <a:p>
                      <a:pPr algn="l" indent="0" marL="0">
                        <a:buNone/>
                      </a:pPr>
                      <a:r>
                        <a:rPr lang="en-US" sz="1500" b="1" dirty="0">
                          <a:solidFill>
                            <a:schemeClr val="accent1"/>
                          </a:solidFill>
                        </a:rPr>
                        <a:t>Message 2 : « Naissance de l’enfant »</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1</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1</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r>
              <a:tr h="566928">
                <a:tc>
                  <a:txBody>
                    <a:bodyPr/>
                    <a:lstStyle/>
                    <a:p>
                      <a:pPr algn="l" indent="0" marL="0">
                        <a:buNone/>
                      </a:pPr>
                      <a:r>
                        <a:rPr lang="en-US" sz="1500" b="1" dirty="0">
                          <a:solidFill>
                            <a:schemeClr val="accent1"/>
                          </a:solidFill>
                        </a:rPr>
                        <a:t>Message 3 : « Rentrée scolaire de l’enfant »</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0</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0</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1</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1</a:t>
                      </a:r>
                      <a:endParaRPr lang="en-US" sz="1500" dirty="0"/>
                    </a:p>
                  </a:txBody>
                  <a:tcPr marL="109728" marR="109728" marT="64008" marB="64008"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2"/>
                    </a:solidFill>
                  </a:tcPr>
                </a:tc>
              </a:tr>
            </a:tbl>
          </a:graphicData>
        </a:graphic>
      </p:graphicFrame>
      <p:sp>
        <p:nvSpPr>
          <p:cNvPr id="6" name="Text 3"/>
          <p:cNvSpPr txBox="1"/>
          <p:nvPr/>
        </p:nvSpPr>
        <p:spPr>
          <a:xfrm>
            <a:off x="548640" y="4526280"/>
            <a:ext cx="11064240" cy="731520"/>
          </a:xfrm>
          <a:prstGeom prst="rect">
            <a:avLst/>
          </a:prstGeom>
          <a:noFill/>
          <a:ln/>
        </p:spPr>
        <p:txBody>
          <a:bodyPr wrap="square" lIns="0" tIns="0" rIns="0" bIns="0" rtlCol="0" anchor="t"/>
          <a:lstStyle/>
          <a:p>
            <a:pPr indent="0" marL="0">
              <a:buNone/>
            </a:pPr>
            <a:r>
              <a:rPr lang="en-US" sz="1500" dirty="0">
                <a:solidFill>
                  <a:schemeClr val="tx1"/>
                </a:solidFill>
              </a:rPr>
              <a:t>Lisez une ligne : elle résume un message par des 0 et des 1. Les trois messages contiennent « enfant » (colonne pleine de 1) : ce mot ne les distingue pas. « médecin », « naissance » et « rentrée » ne sont que dans un message : ce sont eux qui indiquent le sujet.</a:t>
            </a:r>
            <a:endParaRPr lang="en-US" sz="1500" dirty="0"/>
          </a:p>
        </p:txBody>
      </p:sp>
      <p:sp>
        <p:nvSpPr>
          <p:cNvPr id="7" name="À retenir"/>
          <p:cNvSpPr/>
          <p:nvPr/>
        </p:nvSpPr>
        <p:spPr>
          <a:xfrm>
            <a:off x="548640" y="5349240"/>
            <a:ext cx="11091672" cy="777240"/>
          </a:xfrm>
          <a:prstGeom prst="roundRect">
            <a:avLst>
              <a:gd name="adj" fmla="val 9412"/>
            </a:avLst>
          </a:prstGeom>
          <a:solidFill>
            <a:schemeClr val="accent3">
              <a:alpha val="22000"/>
            </a:schemeClr>
          </a:solidFill>
          <a:ln w="12700">
            <a:solidFill>
              <a:schemeClr val="accent3"/>
            </a:solidFill>
            <a:prstDash val="solid"/>
          </a:ln>
        </p:spPr>
      </p:sp>
      <p:pic>
        <p:nvPicPr>
          <p:cNvPr id="8" name="Image 0" descr="À retenir">    </p:cNvPr>
          <p:cNvPicPr>
            <a:picLocks noChangeAspect="1"/>
          </p:cNvPicPr>
          <p:nvPr/>
        </p:nvPicPr>
        <p:blipFill>
          <a:blip r:embed="rId1"/>
          <a:stretch>
            <a:fillRect/>
          </a:stretch>
        </p:blipFill>
        <p:spPr>
          <a:xfrm>
            <a:off x="777240" y="5554980"/>
            <a:ext cx="365760" cy="365760"/>
          </a:xfrm>
          <a:prstGeom prst="rect">
            <a:avLst/>
          </a:prstGeom>
        </p:spPr>
      </p:pic>
      <p:sp>
        <p:nvSpPr>
          <p:cNvPr id="9" name="Text 5"/>
          <p:cNvSpPr txBox="1"/>
          <p:nvPr/>
        </p:nvSpPr>
        <p:spPr>
          <a:xfrm>
            <a:off x="1371600" y="5349240"/>
            <a:ext cx="10058400" cy="777240"/>
          </a:xfrm>
          <a:prstGeom prst="rect">
            <a:avLst/>
          </a:prstGeom>
          <a:noFill/>
          <a:ln/>
        </p:spPr>
        <p:txBody>
          <a:bodyPr wrap="square" lIns="0" tIns="0" rIns="0" bIns="0" rtlCol="0" anchor="ctr"/>
          <a:lstStyle/>
          <a:p>
            <a:pPr indent="0" marL="0">
              <a:buNone/>
            </a:pPr>
            <a:r>
              <a:rPr lang="en-US" sz="1500" b="1" dirty="0">
                <a:solidFill>
                  <a:schemeClr val="tx1"/>
                </a:solidFill>
              </a:rPr>
              <a:t>À retenir : </a:t>
            </a:r>
            <a:r>
              <a:rPr lang="en-US" sz="1500" dirty="0">
                <a:solidFill>
                  <a:schemeClr val="tx1"/>
                </a:solidFill>
              </a:rPr>
              <a:t>on perd l’ordre des mots (« chien mord homme » et « homme mord chien » donnent le même sac), mais on gagne un résultat simple et rapide.</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Étape 4 · Décider : trier comme au bureau de poste</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MODULE 1  ·  FONDAMENTAUX DU NLP</a:t>
            </a:r>
            <a:endParaRPr lang="en-US" sz="1200" dirty="0"/>
          </a:p>
        </p:txBody>
      </p:sp>
      <p:sp>
        <p:nvSpPr>
          <p:cNvPr id="4" name="Text 2"/>
          <p:cNvSpPr txBox="1"/>
          <p:nvPr/>
        </p:nvSpPr>
        <p:spPr>
          <a:xfrm>
            <a:off x="548640" y="1325880"/>
            <a:ext cx="11064240" cy="640080"/>
          </a:xfrm>
          <a:prstGeom prst="rect">
            <a:avLst/>
          </a:prstGeom>
          <a:noFill/>
          <a:ln/>
        </p:spPr>
        <p:txBody>
          <a:bodyPr wrap="square" lIns="0" tIns="0" rIns="0" bIns="0" rtlCol="0" anchor="t"/>
          <a:lstStyle/>
          <a:p>
            <a:pPr indent="0" marL="0">
              <a:buNone/>
            </a:pPr>
            <a:r>
              <a:rPr lang="en-US" sz="1600" dirty="0">
                <a:solidFill>
                  <a:schemeClr val="tx1"/>
                </a:solidFill>
              </a:rPr>
              <a:t>Analogie : un agent de tri regarde les mots-indices de chaque courrier et le dépose dans le bon bac.</a:t>
            </a:r>
            <a:endParaRPr lang="en-US" sz="1600" dirty="0"/>
          </a:p>
        </p:txBody>
      </p:sp>
      <p:sp>
        <p:nvSpPr>
          <p:cNvPr id="5" name="Carte"/>
          <p:cNvSpPr/>
          <p:nvPr/>
        </p:nvSpPr>
        <p:spPr>
          <a:xfrm>
            <a:off x="548640" y="2194560"/>
            <a:ext cx="2926080" cy="1097280"/>
          </a:xfrm>
          <a:prstGeom prst="roundRect">
            <a:avLst>
              <a:gd name="adj" fmla="val 6667"/>
            </a:avLst>
          </a:prstGeom>
          <a:solidFill>
            <a:schemeClr val="bg2"/>
          </a:solidFill>
          <a:ln w="12700">
            <a:solidFill>
              <a:schemeClr val="bg2"/>
            </a:solidFill>
            <a:prstDash val="solid"/>
          </a:ln>
        </p:spPr>
      </p:sp>
      <p:sp>
        <p:nvSpPr>
          <p:cNvPr id="6" name="Text 4"/>
          <p:cNvSpPr txBox="1"/>
          <p:nvPr/>
        </p:nvSpPr>
        <p:spPr>
          <a:xfrm>
            <a:off x="640080" y="2194560"/>
            <a:ext cx="2743200" cy="1097280"/>
          </a:xfrm>
          <a:prstGeom prst="rect">
            <a:avLst/>
          </a:prstGeom>
          <a:noFill/>
          <a:ln/>
        </p:spPr>
        <p:txBody>
          <a:bodyPr wrap="square" lIns="0" tIns="0" rIns="0" bIns="0" rtlCol="0" anchor="ctr"/>
          <a:lstStyle/>
          <a:p>
            <a:pPr algn="ctr" indent="0" marL="0">
              <a:buNone/>
            </a:pPr>
            <a:r>
              <a:rPr lang="en-US" sz="1500" b="1" dirty="0">
                <a:solidFill>
                  <a:schemeClr val="tx1"/>
                </a:solidFill>
              </a:rPr>
              <a:t>« Où vacciner mon bébé ? »</a:t>
            </a:r>
            <a:endParaRPr lang="en-US" sz="1500" dirty="0"/>
          </a:p>
        </p:txBody>
      </p:sp>
      <p:sp>
        <p:nvSpPr>
          <p:cNvPr id="7" name="Text 5"/>
          <p:cNvSpPr txBox="1"/>
          <p:nvPr/>
        </p:nvSpPr>
        <p:spPr>
          <a:xfrm>
            <a:off x="3520440" y="2468880"/>
            <a:ext cx="457200" cy="548640"/>
          </a:xfrm>
          <a:prstGeom prst="rect">
            <a:avLst/>
          </a:prstGeom>
          <a:noFill/>
          <a:ln/>
        </p:spPr>
        <p:txBody>
          <a:bodyPr wrap="square" lIns="0" tIns="0" rIns="0" bIns="0" rtlCol="0" anchor="ctr"/>
          <a:lstStyle/>
          <a:p>
            <a:pPr algn="ctr" indent="0" marL="0">
              <a:buNone/>
            </a:pPr>
            <a:r>
              <a:rPr lang="en-US" sz="3200" b="1" dirty="0">
                <a:solidFill>
                  <a:schemeClr val="accent6"/>
                </a:solidFill>
              </a:rPr>
              <a:t>›</a:t>
            </a:r>
            <a:endParaRPr lang="en-US" sz="3200" dirty="0"/>
          </a:p>
        </p:txBody>
      </p:sp>
      <p:sp>
        <p:nvSpPr>
          <p:cNvPr id="8" name="Carte"/>
          <p:cNvSpPr/>
          <p:nvPr/>
        </p:nvSpPr>
        <p:spPr>
          <a:xfrm>
            <a:off x="4023360" y="2194560"/>
            <a:ext cx="2926080" cy="1097280"/>
          </a:xfrm>
          <a:prstGeom prst="roundRect">
            <a:avLst>
              <a:gd name="adj" fmla="val 6667"/>
            </a:avLst>
          </a:prstGeom>
          <a:solidFill>
            <a:schemeClr val="accent1"/>
          </a:solidFill>
          <a:ln w="12700">
            <a:solidFill>
              <a:schemeClr val="accent1"/>
            </a:solidFill>
            <a:prstDash val="solid"/>
          </a:ln>
        </p:spPr>
      </p:sp>
      <p:sp>
        <p:nvSpPr>
          <p:cNvPr id="9" name="Text 7"/>
          <p:cNvSpPr txBox="1"/>
          <p:nvPr/>
        </p:nvSpPr>
        <p:spPr>
          <a:xfrm>
            <a:off x="4114800" y="2194560"/>
            <a:ext cx="2743200" cy="1097280"/>
          </a:xfrm>
          <a:prstGeom prst="rect">
            <a:avLst/>
          </a:prstGeom>
          <a:noFill/>
          <a:ln/>
        </p:spPr>
        <p:txBody>
          <a:bodyPr wrap="square" lIns="0" tIns="0" rIns="0" bIns="0" rtlCol="0" anchor="ctr"/>
          <a:lstStyle/>
          <a:p>
            <a:pPr algn="ctr" indent="0" marL="0">
              <a:buNone/>
            </a:pPr>
            <a:r>
              <a:rPr lang="en-US" sz="1500" b="1" dirty="0">
                <a:solidFill>
                  <a:schemeClr val="bg1"/>
                </a:solidFill>
              </a:rPr>
              <a:t>Indice repéré : « vacciner »</a:t>
            </a:r>
            <a:endParaRPr lang="en-US" sz="1500" dirty="0"/>
          </a:p>
        </p:txBody>
      </p:sp>
      <p:sp>
        <p:nvSpPr>
          <p:cNvPr id="10" name="Text 8"/>
          <p:cNvSpPr txBox="1"/>
          <p:nvPr/>
        </p:nvSpPr>
        <p:spPr>
          <a:xfrm>
            <a:off x="6995160" y="2468880"/>
            <a:ext cx="457200" cy="548640"/>
          </a:xfrm>
          <a:prstGeom prst="rect">
            <a:avLst/>
          </a:prstGeom>
          <a:noFill/>
          <a:ln/>
        </p:spPr>
        <p:txBody>
          <a:bodyPr wrap="square" lIns="0" tIns="0" rIns="0" bIns="0" rtlCol="0" anchor="ctr"/>
          <a:lstStyle/>
          <a:p>
            <a:pPr algn="ctr" indent="0" marL="0">
              <a:buNone/>
            </a:pPr>
            <a:r>
              <a:rPr lang="en-US" sz="3200" b="1" dirty="0">
                <a:solidFill>
                  <a:schemeClr val="accent6"/>
                </a:solidFill>
              </a:rPr>
              <a:t>›</a:t>
            </a:r>
            <a:endParaRPr lang="en-US" sz="3200" dirty="0"/>
          </a:p>
        </p:txBody>
      </p:sp>
      <p:sp>
        <p:nvSpPr>
          <p:cNvPr id="11" name="Carte"/>
          <p:cNvSpPr/>
          <p:nvPr/>
        </p:nvSpPr>
        <p:spPr>
          <a:xfrm>
            <a:off x="7498080" y="1828800"/>
            <a:ext cx="4142232" cy="640080"/>
          </a:xfrm>
          <a:prstGeom prst="roundRect">
            <a:avLst>
              <a:gd name="adj" fmla="val 11429"/>
            </a:avLst>
          </a:prstGeom>
          <a:solidFill>
            <a:schemeClr val="accent3">
              <a:alpha val="60000"/>
            </a:schemeClr>
          </a:solidFill>
          <a:ln w="12700">
            <a:solidFill>
              <a:schemeClr val="accent3"/>
            </a:solidFill>
            <a:prstDash val="solid"/>
          </a:ln>
        </p:spPr>
      </p:sp>
      <p:sp>
        <p:nvSpPr>
          <p:cNvPr id="12" name="Pastille"/>
          <p:cNvSpPr/>
          <p:nvPr/>
        </p:nvSpPr>
        <p:spPr>
          <a:xfrm>
            <a:off x="7635240" y="1901952"/>
            <a:ext cx="502920" cy="502920"/>
          </a:xfrm>
          <a:prstGeom prst="ellipse">
            <a:avLst/>
          </a:prstGeom>
          <a:solidFill>
            <a:schemeClr val="accent1"/>
          </a:solidFill>
          <a:ln w="12700">
            <a:solidFill>
              <a:schemeClr val="accent1"/>
            </a:solidFill>
            <a:prstDash val="solid"/>
          </a:ln>
        </p:spPr>
      </p:sp>
      <p:pic>
        <p:nvPicPr>
          <p:cNvPr id="13" name="Icône FaHospital" descr="FaHospital">    </p:cNvPr>
          <p:cNvPicPr>
            <a:picLocks noChangeAspect="1"/>
          </p:cNvPicPr>
          <p:nvPr/>
        </p:nvPicPr>
        <p:blipFill>
          <a:blip r:embed="rId1"/>
          <a:stretch>
            <a:fillRect/>
          </a:stretch>
        </p:blipFill>
        <p:spPr>
          <a:xfrm>
            <a:off x="7760970" y="2027682"/>
            <a:ext cx="251460" cy="251460"/>
          </a:xfrm>
          <a:prstGeom prst="rect">
            <a:avLst/>
          </a:prstGeom>
        </p:spPr>
      </p:pic>
      <p:sp>
        <p:nvSpPr>
          <p:cNvPr id="14" name="Text 11"/>
          <p:cNvSpPr txBox="1"/>
          <p:nvPr/>
        </p:nvSpPr>
        <p:spPr>
          <a:xfrm>
            <a:off x="8321040" y="1828800"/>
            <a:ext cx="3200400" cy="640080"/>
          </a:xfrm>
          <a:prstGeom prst="rect">
            <a:avLst/>
          </a:prstGeom>
          <a:noFill/>
          <a:ln/>
        </p:spPr>
        <p:txBody>
          <a:bodyPr wrap="square" lIns="0" tIns="0" rIns="0" bIns="0" rtlCol="0" anchor="ctr"/>
          <a:lstStyle/>
          <a:p>
            <a:pPr indent="0" marL="0">
              <a:buNone/>
            </a:pPr>
            <a:r>
              <a:rPr lang="en-US" sz="1500" b="1" dirty="0">
                <a:solidFill>
                  <a:schemeClr val="tx1"/>
                </a:solidFill>
              </a:rPr>
              <a:t>Santé   ✔ bac choisi</a:t>
            </a:r>
            <a:endParaRPr lang="en-US" sz="1500" dirty="0"/>
          </a:p>
        </p:txBody>
      </p:sp>
      <p:sp>
        <p:nvSpPr>
          <p:cNvPr id="15" name="Carte"/>
          <p:cNvSpPr/>
          <p:nvPr/>
        </p:nvSpPr>
        <p:spPr>
          <a:xfrm>
            <a:off x="7498080" y="2560320"/>
            <a:ext cx="4142232" cy="640080"/>
          </a:xfrm>
          <a:prstGeom prst="roundRect">
            <a:avLst>
              <a:gd name="adj" fmla="val 11429"/>
            </a:avLst>
          </a:prstGeom>
          <a:solidFill>
            <a:schemeClr val="accent5"/>
          </a:solidFill>
          <a:ln w="12700">
            <a:solidFill>
              <a:schemeClr val="accent5"/>
            </a:solidFill>
            <a:prstDash val="solid"/>
          </a:ln>
        </p:spPr>
      </p:sp>
      <p:sp>
        <p:nvSpPr>
          <p:cNvPr id="16" name="Pastille"/>
          <p:cNvSpPr/>
          <p:nvPr/>
        </p:nvSpPr>
        <p:spPr>
          <a:xfrm>
            <a:off x="7635240" y="2633472"/>
            <a:ext cx="502920" cy="502920"/>
          </a:xfrm>
          <a:prstGeom prst="ellipse">
            <a:avLst/>
          </a:prstGeom>
          <a:solidFill>
            <a:schemeClr val="accent2"/>
          </a:solidFill>
          <a:ln w="12700">
            <a:solidFill>
              <a:schemeClr val="accent2"/>
            </a:solidFill>
            <a:prstDash val="solid"/>
          </a:ln>
        </p:spPr>
      </p:sp>
      <p:pic>
        <p:nvPicPr>
          <p:cNvPr id="17" name="Icône FaIdCard" descr="FaIdCard">    </p:cNvPr>
          <p:cNvPicPr>
            <a:picLocks noChangeAspect="1"/>
          </p:cNvPicPr>
          <p:nvPr/>
        </p:nvPicPr>
        <p:blipFill>
          <a:blip r:embed="rId2"/>
          <a:stretch>
            <a:fillRect/>
          </a:stretch>
        </p:blipFill>
        <p:spPr>
          <a:xfrm>
            <a:off x="7760970" y="2759202"/>
            <a:ext cx="251460" cy="251460"/>
          </a:xfrm>
          <a:prstGeom prst="rect">
            <a:avLst/>
          </a:prstGeom>
        </p:spPr>
      </p:pic>
      <p:sp>
        <p:nvSpPr>
          <p:cNvPr id="18" name="Text 14"/>
          <p:cNvSpPr txBox="1"/>
          <p:nvPr/>
        </p:nvSpPr>
        <p:spPr>
          <a:xfrm>
            <a:off x="8321040" y="2560320"/>
            <a:ext cx="3200400" cy="640080"/>
          </a:xfrm>
          <a:prstGeom prst="rect">
            <a:avLst/>
          </a:prstGeom>
          <a:noFill/>
          <a:ln/>
        </p:spPr>
        <p:txBody>
          <a:bodyPr wrap="square" lIns="0" tIns="0" rIns="0" bIns="0" rtlCol="0" anchor="ctr"/>
          <a:lstStyle/>
          <a:p>
            <a:pPr indent="0" marL="0">
              <a:buNone/>
            </a:pPr>
            <a:r>
              <a:rPr lang="en-US" sz="1500" b="1" dirty="0">
                <a:solidFill>
                  <a:schemeClr val="tx1"/>
                </a:solidFill>
              </a:rPr>
              <a:t>État civil</a:t>
            </a:r>
            <a:endParaRPr lang="en-US" sz="1500" dirty="0"/>
          </a:p>
        </p:txBody>
      </p:sp>
      <p:sp>
        <p:nvSpPr>
          <p:cNvPr id="19" name="Carte"/>
          <p:cNvSpPr/>
          <p:nvPr/>
        </p:nvSpPr>
        <p:spPr>
          <a:xfrm>
            <a:off x="7498080" y="3291840"/>
            <a:ext cx="4142232" cy="640080"/>
          </a:xfrm>
          <a:prstGeom prst="roundRect">
            <a:avLst>
              <a:gd name="adj" fmla="val 11429"/>
            </a:avLst>
          </a:prstGeom>
          <a:solidFill>
            <a:schemeClr val="accent5"/>
          </a:solidFill>
          <a:ln w="12700">
            <a:solidFill>
              <a:schemeClr val="accent5"/>
            </a:solidFill>
            <a:prstDash val="solid"/>
          </a:ln>
        </p:spPr>
      </p:sp>
      <p:sp>
        <p:nvSpPr>
          <p:cNvPr id="20" name="Pastille"/>
          <p:cNvSpPr/>
          <p:nvPr/>
        </p:nvSpPr>
        <p:spPr>
          <a:xfrm>
            <a:off x="7635240" y="3364992"/>
            <a:ext cx="502920" cy="502920"/>
          </a:xfrm>
          <a:prstGeom prst="ellipse">
            <a:avLst/>
          </a:prstGeom>
          <a:solidFill>
            <a:schemeClr val="accent2"/>
          </a:solidFill>
          <a:ln w="12700">
            <a:solidFill>
              <a:schemeClr val="accent2"/>
            </a:solidFill>
            <a:prstDash val="solid"/>
          </a:ln>
        </p:spPr>
      </p:sp>
      <p:pic>
        <p:nvPicPr>
          <p:cNvPr id="21" name="Icône FaGraduationCap" descr="FaGraduationCap">    </p:cNvPr>
          <p:cNvPicPr>
            <a:picLocks noChangeAspect="1"/>
          </p:cNvPicPr>
          <p:nvPr/>
        </p:nvPicPr>
        <p:blipFill>
          <a:blip r:embed="rId3"/>
          <a:stretch>
            <a:fillRect/>
          </a:stretch>
        </p:blipFill>
        <p:spPr>
          <a:xfrm>
            <a:off x="7760970" y="3490722"/>
            <a:ext cx="251460" cy="251460"/>
          </a:xfrm>
          <a:prstGeom prst="rect">
            <a:avLst/>
          </a:prstGeom>
        </p:spPr>
      </p:pic>
      <p:sp>
        <p:nvSpPr>
          <p:cNvPr id="22" name="Text 17"/>
          <p:cNvSpPr txBox="1"/>
          <p:nvPr/>
        </p:nvSpPr>
        <p:spPr>
          <a:xfrm>
            <a:off x="8321040" y="3291840"/>
            <a:ext cx="3200400" cy="640080"/>
          </a:xfrm>
          <a:prstGeom prst="rect">
            <a:avLst/>
          </a:prstGeom>
          <a:noFill/>
          <a:ln/>
        </p:spPr>
        <p:txBody>
          <a:bodyPr wrap="square" lIns="0" tIns="0" rIns="0" bIns="0" rtlCol="0" anchor="ctr"/>
          <a:lstStyle/>
          <a:p>
            <a:pPr indent="0" marL="0">
              <a:buNone/>
            </a:pPr>
            <a:r>
              <a:rPr lang="en-US" sz="1500" b="1" dirty="0">
                <a:solidFill>
                  <a:schemeClr val="tx1"/>
                </a:solidFill>
              </a:rPr>
              <a:t>Éducation</a:t>
            </a:r>
            <a:endParaRPr lang="en-US" sz="1500" dirty="0"/>
          </a:p>
        </p:txBody>
      </p:sp>
      <p:sp>
        <p:nvSpPr>
          <p:cNvPr id="23" name="Carte"/>
          <p:cNvSpPr/>
          <p:nvPr/>
        </p:nvSpPr>
        <p:spPr>
          <a:xfrm>
            <a:off x="548640" y="4160520"/>
            <a:ext cx="11091672" cy="1828800"/>
          </a:xfrm>
          <a:prstGeom prst="roundRect">
            <a:avLst>
              <a:gd name="adj" fmla="val 4000"/>
            </a:avLst>
          </a:prstGeom>
          <a:solidFill>
            <a:schemeClr val="accent5"/>
          </a:solidFill>
          <a:ln w="12700">
            <a:solidFill>
              <a:schemeClr val="accent5"/>
            </a:solidFill>
            <a:prstDash val="solid"/>
          </a:ln>
        </p:spPr>
      </p:sp>
      <p:sp>
        <p:nvSpPr>
          <p:cNvPr id="24" name="Text 19"/>
          <p:cNvSpPr txBox="1"/>
          <p:nvPr/>
        </p:nvSpPr>
        <p:spPr>
          <a:xfrm>
            <a:off x="777240" y="4251960"/>
            <a:ext cx="10515600" cy="365760"/>
          </a:xfrm>
          <a:prstGeom prst="rect">
            <a:avLst/>
          </a:prstGeom>
          <a:noFill/>
          <a:ln/>
        </p:spPr>
        <p:txBody>
          <a:bodyPr wrap="square" lIns="0" tIns="0" rIns="0" bIns="0" rtlCol="0" anchor="t"/>
          <a:lstStyle/>
          <a:p>
            <a:pPr indent="0" marL="0">
              <a:buNone/>
            </a:pPr>
            <a:r>
              <a:rPr lang="en-US" sz="1600" b="1" dirty="0">
                <a:solidFill>
                  <a:schemeClr val="accent1"/>
                </a:solidFill>
              </a:rPr>
              <a:t>Comment la machine sait-elle quel bac choisir ?</a:t>
            </a:r>
            <a:endParaRPr lang="en-US" sz="1600" dirty="0"/>
          </a:p>
        </p:txBody>
      </p:sp>
      <p:sp>
        <p:nvSpPr>
          <p:cNvPr id="25" name="Text 20"/>
          <p:cNvSpPr txBox="1"/>
          <p:nvPr/>
        </p:nvSpPr>
        <p:spPr>
          <a:xfrm>
            <a:off x="777240" y="4663440"/>
            <a:ext cx="10515600" cy="1280160"/>
          </a:xfrm>
          <a:prstGeom prst="rect">
            <a:avLst/>
          </a:prstGeom>
          <a:noFill/>
          <a:ln/>
        </p:spPr>
        <p:txBody>
          <a:bodyPr wrap="square" lIns="0" tIns="0" rIns="0" bIns="0" rtlCol="0" anchor="t"/>
          <a:lstStyle/>
          <a:p>
            <a:pPr indent="0" marL="0">
              <a:buNone/>
            </a:pPr>
            <a:r>
              <a:rPr lang="en-US" sz="1500" dirty="0">
                <a:solidFill>
                  <a:schemeClr val="tx1"/>
                </a:solidFill>
              </a:rPr>
              <a:t>On lui montre d’abord de nombreux messages déjà classés par des humains. Elle repère quels mots reviennent dans quel bac, puis applique la même logique aux nouveaux messages. C’est l’« apprentissage automatique » : apprendre par l’exemple.</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Apprendre par l’exemple, puis passer l’examen</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MODULE 1  ·  FONDAMENTAUX DU NLP</a:t>
            </a:r>
            <a:endParaRPr lang="en-US" sz="1200" dirty="0"/>
          </a:p>
        </p:txBody>
      </p:sp>
      <p:sp>
        <p:nvSpPr>
          <p:cNvPr id="4" name="Text 2"/>
          <p:cNvSpPr txBox="1"/>
          <p:nvPr/>
        </p:nvSpPr>
        <p:spPr>
          <a:xfrm>
            <a:off x="548640" y="1325880"/>
            <a:ext cx="11064240" cy="640080"/>
          </a:xfrm>
          <a:prstGeom prst="rect">
            <a:avLst/>
          </a:prstGeom>
          <a:noFill/>
          <a:ln/>
        </p:spPr>
        <p:txBody>
          <a:bodyPr wrap="square" lIns="0" tIns="0" rIns="0" bIns="0" rtlCol="0" anchor="t"/>
          <a:lstStyle/>
          <a:p>
            <a:pPr indent="0" marL="0">
              <a:buNone/>
            </a:pPr>
            <a:r>
              <a:rPr lang="en-US" sz="1600" dirty="0">
                <a:solidFill>
                  <a:schemeClr val="tx1"/>
                </a:solidFill>
              </a:rPr>
              <a:t>Analogie : un élève révise avec des exercices corrigés, puis passe un examen avec des questions qu’il n’a jamais vues.</a:t>
            </a:r>
            <a:endParaRPr lang="en-US" sz="1600" dirty="0"/>
          </a:p>
        </p:txBody>
      </p:sp>
      <p:sp>
        <p:nvSpPr>
          <p:cNvPr id="5" name="Carte"/>
          <p:cNvSpPr/>
          <p:nvPr/>
        </p:nvSpPr>
        <p:spPr>
          <a:xfrm>
            <a:off x="548640" y="2194560"/>
            <a:ext cx="5440680" cy="2926080"/>
          </a:xfrm>
          <a:prstGeom prst="roundRect">
            <a:avLst>
              <a:gd name="adj" fmla="val 2500"/>
            </a:avLst>
          </a:prstGeom>
          <a:solidFill>
            <a:schemeClr val="bg2"/>
          </a:solidFill>
          <a:ln w="12700">
            <a:solidFill>
              <a:schemeClr val="bg2"/>
            </a:solidFill>
            <a:prstDash val="solid"/>
          </a:ln>
        </p:spPr>
      </p:sp>
      <p:sp>
        <p:nvSpPr>
          <p:cNvPr id="6" name="Pastille"/>
          <p:cNvSpPr/>
          <p:nvPr/>
        </p:nvSpPr>
        <p:spPr>
          <a:xfrm>
            <a:off x="777240" y="2377440"/>
            <a:ext cx="594360" cy="594360"/>
          </a:xfrm>
          <a:prstGeom prst="ellipse">
            <a:avLst/>
          </a:prstGeom>
          <a:solidFill>
            <a:schemeClr val="accent1"/>
          </a:solidFill>
          <a:ln w="12700">
            <a:solidFill>
              <a:schemeClr val="accent1"/>
            </a:solidFill>
            <a:prstDash val="solid"/>
          </a:ln>
        </p:spPr>
      </p:sp>
      <p:pic>
        <p:nvPicPr>
          <p:cNvPr id="7" name="Icône FaBook" descr="FaBook">    </p:cNvPr>
          <p:cNvPicPr>
            <a:picLocks noChangeAspect="1"/>
          </p:cNvPicPr>
          <p:nvPr/>
        </p:nvPicPr>
        <p:blipFill>
          <a:blip r:embed="rId1"/>
          <a:stretch>
            <a:fillRect/>
          </a:stretch>
        </p:blipFill>
        <p:spPr>
          <a:xfrm>
            <a:off x="925830" y="2526030"/>
            <a:ext cx="297180" cy="297180"/>
          </a:xfrm>
          <a:prstGeom prst="rect">
            <a:avLst/>
          </a:prstGeom>
        </p:spPr>
      </p:pic>
      <p:sp>
        <p:nvSpPr>
          <p:cNvPr id="8" name="Text 5"/>
          <p:cNvSpPr txBox="1"/>
          <p:nvPr/>
        </p:nvSpPr>
        <p:spPr>
          <a:xfrm>
            <a:off x="1554480" y="2377440"/>
            <a:ext cx="4297680" cy="594360"/>
          </a:xfrm>
          <a:prstGeom prst="rect">
            <a:avLst/>
          </a:prstGeom>
          <a:noFill/>
          <a:ln/>
        </p:spPr>
        <p:txBody>
          <a:bodyPr wrap="square" lIns="0" tIns="0" rIns="0" bIns="0" rtlCol="0" anchor="ctr"/>
          <a:lstStyle/>
          <a:p>
            <a:pPr indent="0" marL="0">
              <a:buNone/>
            </a:pPr>
            <a:r>
              <a:rPr lang="en-US" sz="1600" b="1" dirty="0">
                <a:solidFill>
                  <a:schemeClr val="accent1"/>
                </a:solidFill>
              </a:rPr>
              <a:t>Données d’entraînement (environ 75 %)</a:t>
            </a:r>
            <a:endParaRPr lang="en-US" sz="1600" dirty="0"/>
          </a:p>
        </p:txBody>
      </p:sp>
      <p:sp>
        <p:nvSpPr>
          <p:cNvPr id="9" name="Text 6"/>
          <p:cNvSpPr txBox="1"/>
          <p:nvPr/>
        </p:nvSpPr>
        <p:spPr>
          <a:xfrm>
            <a:off x="777240" y="3200400"/>
            <a:ext cx="5029200" cy="1737360"/>
          </a:xfrm>
          <a:prstGeom prst="rect">
            <a:avLst/>
          </a:prstGeom>
          <a:noFill/>
          <a:ln/>
        </p:spPr>
        <p:txBody>
          <a:bodyPr wrap="square" lIns="0" tIns="0" rIns="0" bIns="0" rtlCol="0" anchor="t"/>
          <a:lstStyle/>
          <a:p>
            <a:pPr indent="0" marL="0">
              <a:buNone/>
            </a:pPr>
            <a:r>
              <a:rPr lang="en-US" sz="1500" dirty="0">
                <a:solidFill>
                  <a:schemeClr val="tx1"/>
                </a:solidFill>
              </a:rPr>
              <a:t>Des messages déjà classés. La machine « révise » dessus pour repérer les indices.</a:t>
            </a:r>
            <a:endParaRPr lang="en-US" sz="1500" dirty="0"/>
          </a:p>
        </p:txBody>
      </p:sp>
      <p:sp>
        <p:nvSpPr>
          <p:cNvPr id="10" name="Carte"/>
          <p:cNvSpPr/>
          <p:nvPr/>
        </p:nvSpPr>
        <p:spPr>
          <a:xfrm>
            <a:off x="6199632" y="2194560"/>
            <a:ext cx="5440680" cy="2926080"/>
          </a:xfrm>
          <a:prstGeom prst="roundRect">
            <a:avLst>
              <a:gd name="adj" fmla="val 2500"/>
            </a:avLst>
          </a:prstGeom>
          <a:solidFill>
            <a:schemeClr val="accent5"/>
          </a:solidFill>
          <a:ln w="12700">
            <a:solidFill>
              <a:schemeClr val="accent5"/>
            </a:solidFill>
            <a:prstDash val="solid"/>
          </a:ln>
        </p:spPr>
      </p:sp>
      <p:sp>
        <p:nvSpPr>
          <p:cNvPr id="11" name="Pastille"/>
          <p:cNvSpPr/>
          <p:nvPr/>
        </p:nvSpPr>
        <p:spPr>
          <a:xfrm>
            <a:off x="6428232" y="2377440"/>
            <a:ext cx="594360" cy="594360"/>
          </a:xfrm>
          <a:prstGeom prst="ellipse">
            <a:avLst/>
          </a:prstGeom>
          <a:solidFill>
            <a:schemeClr val="accent2"/>
          </a:solidFill>
          <a:ln w="12700">
            <a:solidFill>
              <a:schemeClr val="accent2"/>
            </a:solidFill>
            <a:prstDash val="solid"/>
          </a:ln>
        </p:spPr>
      </p:sp>
      <p:pic>
        <p:nvPicPr>
          <p:cNvPr id="12" name="Icône FaClipboardCheck" descr="FaClipboardCheck">    </p:cNvPr>
          <p:cNvPicPr>
            <a:picLocks noChangeAspect="1"/>
          </p:cNvPicPr>
          <p:nvPr/>
        </p:nvPicPr>
        <p:blipFill>
          <a:blip r:embed="rId2"/>
          <a:stretch>
            <a:fillRect/>
          </a:stretch>
        </p:blipFill>
        <p:spPr>
          <a:xfrm>
            <a:off x="6576822" y="2526030"/>
            <a:ext cx="297180" cy="297180"/>
          </a:xfrm>
          <a:prstGeom prst="rect">
            <a:avLst/>
          </a:prstGeom>
        </p:spPr>
      </p:pic>
      <p:sp>
        <p:nvSpPr>
          <p:cNvPr id="13" name="Text 9"/>
          <p:cNvSpPr txBox="1"/>
          <p:nvPr/>
        </p:nvSpPr>
        <p:spPr>
          <a:xfrm>
            <a:off x="7205472" y="2377440"/>
            <a:ext cx="4297680" cy="594360"/>
          </a:xfrm>
          <a:prstGeom prst="rect">
            <a:avLst/>
          </a:prstGeom>
          <a:noFill/>
          <a:ln/>
        </p:spPr>
        <p:txBody>
          <a:bodyPr wrap="square" lIns="0" tIns="0" rIns="0" bIns="0" rtlCol="0" anchor="ctr"/>
          <a:lstStyle/>
          <a:p>
            <a:pPr indent="0" marL="0">
              <a:buNone/>
            </a:pPr>
            <a:r>
              <a:rPr lang="en-US" sz="1600" b="1" dirty="0">
                <a:solidFill>
                  <a:schemeClr val="accent1"/>
                </a:solidFill>
              </a:rPr>
              <a:t>Données de test (environ 25 %)</a:t>
            </a:r>
            <a:endParaRPr lang="en-US" sz="1600" dirty="0"/>
          </a:p>
        </p:txBody>
      </p:sp>
      <p:sp>
        <p:nvSpPr>
          <p:cNvPr id="14" name="Text 10"/>
          <p:cNvSpPr txBox="1"/>
          <p:nvPr/>
        </p:nvSpPr>
        <p:spPr>
          <a:xfrm>
            <a:off x="6428232" y="3200400"/>
            <a:ext cx="5029200" cy="1737360"/>
          </a:xfrm>
          <a:prstGeom prst="rect">
            <a:avLst/>
          </a:prstGeom>
          <a:noFill/>
          <a:ln/>
        </p:spPr>
        <p:txBody>
          <a:bodyPr wrap="square" lIns="0" tIns="0" rIns="0" bIns="0" rtlCol="0" anchor="t"/>
          <a:lstStyle/>
          <a:p>
            <a:pPr indent="0" marL="0">
              <a:buNone/>
            </a:pPr>
            <a:r>
              <a:rPr lang="en-US" sz="1500" dirty="0">
                <a:solidFill>
                  <a:schemeClr val="tx1"/>
                </a:solidFill>
              </a:rPr>
              <a:t>Des messages jamais vus, mis de côté. On vérifie si elle sait faire face à du nouveau.</a:t>
            </a:r>
            <a:endParaRPr lang="en-US" sz="1500" dirty="0"/>
          </a:p>
        </p:txBody>
      </p:sp>
      <p:sp>
        <p:nvSpPr>
          <p:cNvPr id="15" name="À retenir"/>
          <p:cNvSpPr/>
          <p:nvPr/>
        </p:nvSpPr>
        <p:spPr>
          <a:xfrm>
            <a:off x="548640" y="5349240"/>
            <a:ext cx="11091672" cy="777240"/>
          </a:xfrm>
          <a:prstGeom prst="roundRect">
            <a:avLst>
              <a:gd name="adj" fmla="val 9412"/>
            </a:avLst>
          </a:prstGeom>
          <a:solidFill>
            <a:schemeClr val="accent3">
              <a:alpha val="22000"/>
            </a:schemeClr>
          </a:solidFill>
          <a:ln w="12700">
            <a:solidFill>
              <a:schemeClr val="accent3"/>
            </a:solidFill>
            <a:prstDash val="solid"/>
          </a:ln>
        </p:spPr>
      </p:sp>
      <p:pic>
        <p:nvPicPr>
          <p:cNvPr id="16" name="Image 2" descr="À retenir">    </p:cNvPr>
          <p:cNvPicPr>
            <a:picLocks noChangeAspect="1"/>
          </p:cNvPicPr>
          <p:nvPr/>
        </p:nvPicPr>
        <p:blipFill>
          <a:blip r:embed="rId3"/>
          <a:stretch>
            <a:fillRect/>
          </a:stretch>
        </p:blipFill>
        <p:spPr>
          <a:xfrm>
            <a:off x="777240" y="5554980"/>
            <a:ext cx="365760" cy="365760"/>
          </a:xfrm>
          <a:prstGeom prst="rect">
            <a:avLst/>
          </a:prstGeom>
        </p:spPr>
      </p:pic>
      <p:sp>
        <p:nvSpPr>
          <p:cNvPr id="17" name="Text 12"/>
          <p:cNvSpPr txBox="1"/>
          <p:nvPr/>
        </p:nvSpPr>
        <p:spPr>
          <a:xfrm>
            <a:off x="1371600" y="5349240"/>
            <a:ext cx="10058400" cy="777240"/>
          </a:xfrm>
          <a:prstGeom prst="rect">
            <a:avLst/>
          </a:prstGeom>
          <a:noFill/>
          <a:ln/>
        </p:spPr>
        <p:txBody>
          <a:bodyPr wrap="square" lIns="0" tIns="0" rIns="0" bIns="0" rtlCol="0" anchor="ctr"/>
          <a:lstStyle/>
          <a:p>
            <a:pPr indent="0" marL="0">
              <a:buNone/>
            </a:pPr>
            <a:r>
              <a:rPr lang="en-US" sz="1500" b="1" dirty="0">
                <a:solidFill>
                  <a:schemeClr val="tx1"/>
                </a:solidFill>
              </a:rPr>
              <a:t>À retenir : </a:t>
            </a:r>
            <a:r>
              <a:rPr lang="en-US" sz="1500" dirty="0">
                <a:solidFill>
                  <a:schemeClr val="tx1"/>
                </a:solidFill>
              </a:rPr>
              <a:t>si on testait la machine sur les messages déjà vus, la note serait flatteuse et trompeuse, comme un examen dont on connaît les réponses.</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Mesurer la qualité : trois idées simples</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MODULE 1  ·  FONDAMENTAUX DU NLP</a:t>
            </a:r>
            <a:endParaRPr lang="en-US" sz="1200" dirty="0"/>
          </a:p>
        </p:txBody>
      </p:sp>
      <p:sp>
        <p:nvSpPr>
          <p:cNvPr id="4" name="Carte"/>
          <p:cNvSpPr/>
          <p:nvPr/>
        </p:nvSpPr>
        <p:spPr>
          <a:xfrm>
            <a:off x="548640" y="1463040"/>
            <a:ext cx="3593592" cy="3566160"/>
          </a:xfrm>
          <a:prstGeom prst="roundRect">
            <a:avLst>
              <a:gd name="adj" fmla="val 2051"/>
            </a:avLst>
          </a:prstGeom>
          <a:solidFill>
            <a:schemeClr val="bg2"/>
          </a:solidFill>
          <a:ln w="12700">
            <a:solidFill>
              <a:schemeClr val="bg2"/>
            </a:solidFill>
            <a:prstDash val="solid"/>
          </a:ln>
        </p:spPr>
      </p:sp>
      <p:sp>
        <p:nvSpPr>
          <p:cNvPr id="5" name="Pastille"/>
          <p:cNvSpPr/>
          <p:nvPr/>
        </p:nvSpPr>
        <p:spPr>
          <a:xfrm>
            <a:off x="777240" y="1691640"/>
            <a:ext cx="640080" cy="640080"/>
          </a:xfrm>
          <a:prstGeom prst="ellipse">
            <a:avLst/>
          </a:prstGeom>
          <a:solidFill>
            <a:schemeClr val="accent1"/>
          </a:solidFill>
          <a:ln w="12700">
            <a:solidFill>
              <a:schemeClr val="accent1"/>
            </a:solidFill>
            <a:prstDash val="solid"/>
          </a:ln>
        </p:spPr>
      </p:sp>
      <p:pic>
        <p:nvPicPr>
          <p:cNvPr id="6" name="Icône FaChartBar" descr="FaChartBar">    </p:cNvPr>
          <p:cNvPicPr>
            <a:picLocks noChangeAspect="1"/>
          </p:cNvPicPr>
          <p:nvPr/>
        </p:nvPicPr>
        <p:blipFill>
          <a:blip r:embed="rId1"/>
          <a:stretch>
            <a:fillRect/>
          </a:stretch>
        </p:blipFill>
        <p:spPr>
          <a:xfrm>
            <a:off x="937260" y="1851660"/>
            <a:ext cx="320040" cy="320040"/>
          </a:xfrm>
          <a:prstGeom prst="rect">
            <a:avLst/>
          </a:prstGeom>
        </p:spPr>
      </p:pic>
      <p:sp>
        <p:nvSpPr>
          <p:cNvPr id="7" name="Text 4"/>
          <p:cNvSpPr txBox="1"/>
          <p:nvPr/>
        </p:nvSpPr>
        <p:spPr>
          <a:xfrm>
            <a:off x="777240" y="2514600"/>
            <a:ext cx="3154680" cy="457200"/>
          </a:xfrm>
          <a:prstGeom prst="rect">
            <a:avLst/>
          </a:prstGeom>
          <a:noFill/>
          <a:ln/>
        </p:spPr>
        <p:txBody>
          <a:bodyPr wrap="square" lIns="0" tIns="0" rIns="0" bIns="0" rtlCol="0" anchor="t"/>
          <a:lstStyle/>
          <a:p>
            <a:pPr indent="0" marL="0">
              <a:buNone/>
            </a:pPr>
            <a:r>
              <a:rPr lang="en-US" sz="1700" b="1" dirty="0">
                <a:solidFill>
                  <a:schemeClr val="accent1"/>
                </a:solidFill>
              </a:rPr>
              <a:t>Taux de bonnes réponses</a:t>
            </a:r>
            <a:endParaRPr lang="en-US" sz="1700" dirty="0"/>
          </a:p>
        </p:txBody>
      </p:sp>
      <p:sp>
        <p:nvSpPr>
          <p:cNvPr id="8" name="Text 5"/>
          <p:cNvSpPr txBox="1"/>
          <p:nvPr/>
        </p:nvSpPr>
        <p:spPr>
          <a:xfrm>
            <a:off x="777240" y="3063240"/>
            <a:ext cx="3154680" cy="1920240"/>
          </a:xfrm>
          <a:prstGeom prst="rect">
            <a:avLst/>
          </a:prstGeom>
          <a:noFill/>
          <a:ln/>
        </p:spPr>
        <p:txBody>
          <a:bodyPr wrap="square" lIns="0" tIns="0" rIns="0" bIns="0" rtlCol="0" anchor="t"/>
          <a:lstStyle/>
          <a:p>
            <a:pPr indent="0" marL="0">
              <a:buNone/>
            </a:pPr>
            <a:r>
              <a:rPr lang="en-US" sz="1450" dirty="0">
                <a:solidFill>
                  <a:schemeClr val="tx1"/>
                </a:solidFill>
              </a:rPr>
              <a:t>Sur 100 messages, combien sont bien classés ? C’est la note globale. Elle cache parfois des écarts entre catégories.</a:t>
            </a:r>
            <a:endParaRPr lang="en-US" sz="1450" dirty="0"/>
          </a:p>
        </p:txBody>
      </p:sp>
      <p:sp>
        <p:nvSpPr>
          <p:cNvPr id="9" name="Carte"/>
          <p:cNvSpPr/>
          <p:nvPr/>
        </p:nvSpPr>
        <p:spPr>
          <a:xfrm>
            <a:off x="4297680" y="1463040"/>
            <a:ext cx="3593592" cy="3566160"/>
          </a:xfrm>
          <a:prstGeom prst="roundRect">
            <a:avLst>
              <a:gd name="adj" fmla="val 2051"/>
            </a:avLst>
          </a:prstGeom>
          <a:solidFill>
            <a:schemeClr val="bg2"/>
          </a:solidFill>
          <a:ln w="12700">
            <a:solidFill>
              <a:schemeClr val="bg2"/>
            </a:solidFill>
            <a:prstDash val="solid"/>
          </a:ln>
        </p:spPr>
      </p:sp>
      <p:sp>
        <p:nvSpPr>
          <p:cNvPr id="10" name="Pastille"/>
          <p:cNvSpPr/>
          <p:nvPr/>
        </p:nvSpPr>
        <p:spPr>
          <a:xfrm>
            <a:off x="4526280" y="1691640"/>
            <a:ext cx="640080" cy="640080"/>
          </a:xfrm>
          <a:prstGeom prst="ellipse">
            <a:avLst/>
          </a:prstGeom>
          <a:solidFill>
            <a:schemeClr val="accent4"/>
          </a:solidFill>
          <a:ln w="12700">
            <a:solidFill>
              <a:schemeClr val="accent4"/>
            </a:solidFill>
            <a:prstDash val="solid"/>
          </a:ln>
        </p:spPr>
      </p:sp>
      <p:pic>
        <p:nvPicPr>
          <p:cNvPr id="11" name="Icône FaBell" descr="FaBell">    </p:cNvPr>
          <p:cNvPicPr>
            <a:picLocks noChangeAspect="1"/>
          </p:cNvPicPr>
          <p:nvPr/>
        </p:nvPicPr>
        <p:blipFill>
          <a:blip r:embed="rId2"/>
          <a:stretch>
            <a:fillRect/>
          </a:stretch>
        </p:blipFill>
        <p:spPr>
          <a:xfrm>
            <a:off x="4686300" y="1851660"/>
            <a:ext cx="320040" cy="320040"/>
          </a:xfrm>
          <a:prstGeom prst="rect">
            <a:avLst/>
          </a:prstGeom>
        </p:spPr>
      </p:pic>
      <p:sp>
        <p:nvSpPr>
          <p:cNvPr id="12" name="Text 8"/>
          <p:cNvSpPr txBox="1"/>
          <p:nvPr/>
        </p:nvSpPr>
        <p:spPr>
          <a:xfrm>
            <a:off x="4526280" y="2514600"/>
            <a:ext cx="3154680" cy="457200"/>
          </a:xfrm>
          <a:prstGeom prst="rect">
            <a:avLst/>
          </a:prstGeom>
          <a:noFill/>
          <a:ln/>
        </p:spPr>
        <p:txBody>
          <a:bodyPr wrap="square" lIns="0" tIns="0" rIns="0" bIns="0" rtlCol="0" anchor="t"/>
          <a:lstStyle/>
          <a:p>
            <a:pPr indent="0" marL="0">
              <a:buNone/>
            </a:pPr>
            <a:r>
              <a:rPr lang="en-US" sz="1700" b="1" dirty="0">
                <a:solidFill>
                  <a:schemeClr val="accent1"/>
                </a:solidFill>
              </a:rPr>
              <a:t>Les fausses alertes</a:t>
            </a:r>
            <a:endParaRPr lang="en-US" sz="1700" dirty="0"/>
          </a:p>
        </p:txBody>
      </p:sp>
      <p:sp>
        <p:nvSpPr>
          <p:cNvPr id="13" name="Text 9"/>
          <p:cNvSpPr txBox="1"/>
          <p:nvPr/>
        </p:nvSpPr>
        <p:spPr>
          <a:xfrm>
            <a:off x="4526280" y="3063240"/>
            <a:ext cx="3154680" cy="1920240"/>
          </a:xfrm>
          <a:prstGeom prst="rect">
            <a:avLst/>
          </a:prstGeom>
          <a:noFill/>
          <a:ln/>
        </p:spPr>
        <p:txBody>
          <a:bodyPr wrap="square" lIns="0" tIns="0" rIns="0" bIns="0" rtlCol="0" anchor="t"/>
          <a:lstStyle/>
          <a:p>
            <a:pPr indent="0" marL="0">
              <a:buNone/>
            </a:pPr>
            <a:r>
              <a:rPr lang="en-US" sz="1450" dirty="0">
                <a:solidFill>
                  <a:schemeClr val="tx1"/>
                </a:solidFill>
              </a:rPr>
              <a:t>La machine annonce « santé » alors que le message parle d’école. Comme un détecteur de fumée qui sonne sans incendie.</a:t>
            </a:r>
            <a:endParaRPr lang="en-US" sz="1450" dirty="0"/>
          </a:p>
        </p:txBody>
      </p:sp>
      <p:sp>
        <p:nvSpPr>
          <p:cNvPr id="14" name="Carte"/>
          <p:cNvSpPr/>
          <p:nvPr/>
        </p:nvSpPr>
        <p:spPr>
          <a:xfrm>
            <a:off x="8046720" y="1463040"/>
            <a:ext cx="3593592" cy="3566160"/>
          </a:xfrm>
          <a:prstGeom prst="roundRect">
            <a:avLst>
              <a:gd name="adj" fmla="val 2051"/>
            </a:avLst>
          </a:prstGeom>
          <a:solidFill>
            <a:schemeClr val="bg2"/>
          </a:solidFill>
          <a:ln w="12700">
            <a:solidFill>
              <a:schemeClr val="bg2"/>
            </a:solidFill>
            <a:prstDash val="solid"/>
          </a:ln>
        </p:spPr>
      </p:sp>
      <p:sp>
        <p:nvSpPr>
          <p:cNvPr id="15" name="Pastille"/>
          <p:cNvSpPr/>
          <p:nvPr/>
        </p:nvSpPr>
        <p:spPr>
          <a:xfrm>
            <a:off x="8275320" y="1691640"/>
            <a:ext cx="640080" cy="640080"/>
          </a:xfrm>
          <a:prstGeom prst="ellipse">
            <a:avLst/>
          </a:prstGeom>
          <a:solidFill>
            <a:schemeClr val="accent2"/>
          </a:solidFill>
          <a:ln w="12700">
            <a:solidFill>
              <a:schemeClr val="accent2"/>
            </a:solidFill>
            <a:prstDash val="solid"/>
          </a:ln>
        </p:spPr>
      </p:sp>
      <p:pic>
        <p:nvPicPr>
          <p:cNvPr id="16" name="Icône FaEye" descr="FaEye">    </p:cNvPr>
          <p:cNvPicPr>
            <a:picLocks noChangeAspect="1"/>
          </p:cNvPicPr>
          <p:nvPr/>
        </p:nvPicPr>
        <p:blipFill>
          <a:blip r:embed="rId3"/>
          <a:stretch>
            <a:fillRect/>
          </a:stretch>
        </p:blipFill>
        <p:spPr>
          <a:xfrm>
            <a:off x="8435340" y="1851660"/>
            <a:ext cx="320040" cy="320040"/>
          </a:xfrm>
          <a:prstGeom prst="rect">
            <a:avLst/>
          </a:prstGeom>
        </p:spPr>
      </p:pic>
      <p:sp>
        <p:nvSpPr>
          <p:cNvPr id="17" name="Text 12"/>
          <p:cNvSpPr txBox="1"/>
          <p:nvPr/>
        </p:nvSpPr>
        <p:spPr>
          <a:xfrm>
            <a:off x="8275320" y="2514600"/>
            <a:ext cx="3154680" cy="457200"/>
          </a:xfrm>
          <a:prstGeom prst="rect">
            <a:avLst/>
          </a:prstGeom>
          <a:noFill/>
          <a:ln/>
        </p:spPr>
        <p:txBody>
          <a:bodyPr wrap="square" lIns="0" tIns="0" rIns="0" bIns="0" rtlCol="0" anchor="t"/>
          <a:lstStyle/>
          <a:p>
            <a:pPr indent="0" marL="0">
              <a:buNone/>
            </a:pPr>
            <a:r>
              <a:rPr lang="en-US" sz="1700" b="1" dirty="0">
                <a:solidFill>
                  <a:schemeClr val="accent1"/>
                </a:solidFill>
              </a:rPr>
              <a:t>Les oublis</a:t>
            </a:r>
            <a:endParaRPr lang="en-US" sz="1700" dirty="0"/>
          </a:p>
        </p:txBody>
      </p:sp>
      <p:sp>
        <p:nvSpPr>
          <p:cNvPr id="18" name="Text 13"/>
          <p:cNvSpPr txBox="1"/>
          <p:nvPr/>
        </p:nvSpPr>
        <p:spPr>
          <a:xfrm>
            <a:off x="8275320" y="3063240"/>
            <a:ext cx="3154680" cy="1920240"/>
          </a:xfrm>
          <a:prstGeom prst="rect">
            <a:avLst/>
          </a:prstGeom>
          <a:noFill/>
          <a:ln/>
        </p:spPr>
        <p:txBody>
          <a:bodyPr wrap="square" lIns="0" tIns="0" rIns="0" bIns="0" rtlCol="0" anchor="t"/>
          <a:lstStyle/>
          <a:p>
            <a:pPr indent="0" marL="0">
              <a:buNone/>
            </a:pPr>
            <a:r>
              <a:rPr lang="en-US" sz="1450" dirty="0">
                <a:solidFill>
                  <a:schemeClr val="tx1"/>
                </a:solidFill>
              </a:rPr>
              <a:t>Un vrai message de santé n’est pas reconnu. Comme un détecteur de fumée qui reste silencieux pendant un incendie.</a:t>
            </a:r>
            <a:endParaRPr lang="en-US" sz="1450" dirty="0"/>
          </a:p>
        </p:txBody>
      </p:sp>
      <p:sp>
        <p:nvSpPr>
          <p:cNvPr id="19" name="À retenir"/>
          <p:cNvSpPr/>
          <p:nvPr/>
        </p:nvSpPr>
        <p:spPr>
          <a:xfrm>
            <a:off x="548640" y="5257800"/>
            <a:ext cx="11091672" cy="868680"/>
          </a:xfrm>
          <a:prstGeom prst="roundRect">
            <a:avLst>
              <a:gd name="adj" fmla="val 8421"/>
            </a:avLst>
          </a:prstGeom>
          <a:solidFill>
            <a:schemeClr val="accent3">
              <a:alpha val="22000"/>
            </a:schemeClr>
          </a:solidFill>
          <a:ln w="12700">
            <a:solidFill>
              <a:schemeClr val="accent3"/>
            </a:solidFill>
            <a:prstDash val="solid"/>
          </a:ln>
        </p:spPr>
      </p:sp>
      <p:pic>
        <p:nvPicPr>
          <p:cNvPr id="20" name="Image 3" descr="À retenir">    </p:cNvPr>
          <p:cNvPicPr>
            <a:picLocks noChangeAspect="1"/>
          </p:cNvPicPr>
          <p:nvPr/>
        </p:nvPicPr>
        <p:blipFill>
          <a:blip r:embed="rId4"/>
          <a:stretch>
            <a:fillRect/>
          </a:stretch>
        </p:blipFill>
        <p:spPr>
          <a:xfrm>
            <a:off x="777240" y="5509260"/>
            <a:ext cx="365760" cy="365760"/>
          </a:xfrm>
          <a:prstGeom prst="rect">
            <a:avLst/>
          </a:prstGeom>
        </p:spPr>
      </p:pic>
      <p:sp>
        <p:nvSpPr>
          <p:cNvPr id="21" name="Text 15"/>
          <p:cNvSpPr txBox="1"/>
          <p:nvPr/>
        </p:nvSpPr>
        <p:spPr>
          <a:xfrm>
            <a:off x="1371600" y="5257800"/>
            <a:ext cx="10058400" cy="868680"/>
          </a:xfrm>
          <a:prstGeom prst="rect">
            <a:avLst/>
          </a:prstGeom>
          <a:noFill/>
          <a:ln/>
        </p:spPr>
        <p:txBody>
          <a:bodyPr wrap="square" lIns="0" tIns="0" rIns="0" bIns="0" rtlCol="0" anchor="ctr"/>
          <a:lstStyle/>
          <a:p>
            <a:pPr indent="0" marL="0">
              <a:buNone/>
            </a:pPr>
            <a:r>
              <a:rPr lang="en-US" sz="1500" b="1" dirty="0">
                <a:solidFill>
                  <a:schemeClr val="tx1"/>
                </a:solidFill>
              </a:rPr>
              <a:t>À retenir : </a:t>
            </a:r>
            <a:r>
              <a:rPr lang="en-US" sz="1500" dirty="0">
                <a:solidFill>
                  <a:schemeClr val="tx1"/>
                </a:solidFill>
              </a:rPr>
              <a:t>selon l’usage, on préfère éviter les fausses alertes (courrier urgent) ou éviter les oublis (dépistage en santé). Le bon réglage dépend du risque.</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Où la machine se trompe</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MODULE 1  ·  FONDAMENTAUX DU NLP</a:t>
            </a:r>
            <a:endParaRPr lang="en-US" sz="1200" dirty="0"/>
          </a:p>
        </p:txBody>
      </p:sp>
      <p:sp>
        <p:nvSpPr>
          <p:cNvPr id="4" name="Carte"/>
          <p:cNvSpPr/>
          <p:nvPr/>
        </p:nvSpPr>
        <p:spPr>
          <a:xfrm>
            <a:off x="548640" y="1463040"/>
            <a:ext cx="2656332" cy="3017520"/>
          </a:xfrm>
          <a:prstGeom prst="roundRect">
            <a:avLst>
              <a:gd name="adj" fmla="val 2754"/>
            </a:avLst>
          </a:prstGeom>
          <a:solidFill>
            <a:schemeClr val="bg2"/>
          </a:solidFill>
          <a:ln w="12700">
            <a:solidFill>
              <a:schemeClr val="bg2"/>
            </a:solidFill>
            <a:prstDash val="solid"/>
          </a:ln>
        </p:spPr>
      </p:sp>
      <p:sp>
        <p:nvSpPr>
          <p:cNvPr id="5" name="Pastille"/>
          <p:cNvSpPr/>
          <p:nvPr/>
        </p:nvSpPr>
        <p:spPr>
          <a:xfrm>
            <a:off x="731520" y="1645920"/>
            <a:ext cx="502920" cy="502920"/>
          </a:xfrm>
          <a:prstGeom prst="ellipse">
            <a:avLst/>
          </a:prstGeom>
          <a:solidFill>
            <a:schemeClr val="accent1"/>
          </a:solidFill>
          <a:ln w="12700">
            <a:solidFill>
              <a:schemeClr val="accent1"/>
            </a:solidFill>
            <a:prstDash val="solid"/>
          </a:ln>
        </p:spPr>
      </p:sp>
      <p:pic>
        <p:nvPicPr>
          <p:cNvPr id="6" name="Icône FaPuzzlePiece" descr="FaPuzzlePiece">    </p:cNvPr>
          <p:cNvPicPr>
            <a:picLocks noChangeAspect="1"/>
          </p:cNvPicPr>
          <p:nvPr/>
        </p:nvPicPr>
        <p:blipFill>
          <a:blip r:embed="rId1"/>
          <a:stretch>
            <a:fillRect/>
          </a:stretch>
        </p:blipFill>
        <p:spPr>
          <a:xfrm>
            <a:off x="857250" y="1771650"/>
            <a:ext cx="251460" cy="251460"/>
          </a:xfrm>
          <a:prstGeom prst="rect">
            <a:avLst/>
          </a:prstGeom>
        </p:spPr>
      </p:pic>
      <p:sp>
        <p:nvSpPr>
          <p:cNvPr id="7" name="Text 4"/>
          <p:cNvSpPr txBox="1"/>
          <p:nvPr/>
        </p:nvSpPr>
        <p:spPr>
          <a:xfrm>
            <a:off x="731520" y="2267712"/>
            <a:ext cx="2290572" cy="365760"/>
          </a:xfrm>
          <a:prstGeom prst="rect">
            <a:avLst/>
          </a:prstGeom>
          <a:noFill/>
          <a:ln/>
        </p:spPr>
        <p:txBody>
          <a:bodyPr wrap="square" lIns="0" tIns="0" rIns="0" bIns="0" rtlCol="0" anchor="t"/>
          <a:lstStyle/>
          <a:p>
            <a:pPr indent="0" marL="0">
              <a:buNone/>
            </a:pPr>
            <a:r>
              <a:rPr lang="en-US" sz="1600" b="1" dirty="0">
                <a:solidFill>
                  <a:schemeClr val="accent1"/>
                </a:solidFill>
              </a:rPr>
              <a:t>Deux sujets à la fois</a:t>
            </a:r>
            <a:endParaRPr lang="en-US" sz="1600" dirty="0"/>
          </a:p>
        </p:txBody>
      </p:sp>
      <p:sp>
        <p:nvSpPr>
          <p:cNvPr id="8" name="Text 5"/>
          <p:cNvSpPr txBox="1"/>
          <p:nvPr/>
        </p:nvSpPr>
        <p:spPr>
          <a:xfrm>
            <a:off x="731520" y="2633472"/>
            <a:ext cx="2290572" cy="1783080"/>
          </a:xfrm>
          <a:prstGeom prst="rect">
            <a:avLst/>
          </a:prstGeom>
          <a:noFill/>
          <a:ln/>
        </p:spPr>
        <p:txBody>
          <a:bodyPr wrap="square" lIns="0" tIns="0" rIns="0" bIns="0" rtlCol="0" anchor="t"/>
          <a:lstStyle/>
          <a:p>
            <a:pPr indent="0" marL="0">
              <a:buNone/>
            </a:pPr>
            <a:r>
              <a:rPr lang="en-US" sz="1400" dirty="0">
                <a:solidFill>
                  <a:schemeClr val="tx1"/>
                </a:solidFill>
              </a:rPr>
              <a:t>« Mon enfant doit faire une radio pour son inscription à l’école » : santé ou éducation ?</a:t>
            </a:r>
            <a:endParaRPr lang="en-US" sz="1400" dirty="0"/>
          </a:p>
        </p:txBody>
      </p:sp>
      <p:sp>
        <p:nvSpPr>
          <p:cNvPr id="9" name="Carte"/>
          <p:cNvSpPr/>
          <p:nvPr/>
        </p:nvSpPr>
        <p:spPr>
          <a:xfrm>
            <a:off x="3360420" y="1463040"/>
            <a:ext cx="2656332" cy="3017520"/>
          </a:xfrm>
          <a:prstGeom prst="roundRect">
            <a:avLst>
              <a:gd name="adj" fmla="val 2754"/>
            </a:avLst>
          </a:prstGeom>
          <a:solidFill>
            <a:schemeClr val="bg2"/>
          </a:solidFill>
          <a:ln w="12700">
            <a:solidFill>
              <a:schemeClr val="bg2"/>
            </a:solidFill>
            <a:prstDash val="solid"/>
          </a:ln>
        </p:spPr>
      </p:sp>
      <p:sp>
        <p:nvSpPr>
          <p:cNvPr id="10" name="Pastille"/>
          <p:cNvSpPr/>
          <p:nvPr/>
        </p:nvSpPr>
        <p:spPr>
          <a:xfrm>
            <a:off x="3543300" y="1645920"/>
            <a:ext cx="502920" cy="502920"/>
          </a:xfrm>
          <a:prstGeom prst="ellipse">
            <a:avLst/>
          </a:prstGeom>
          <a:solidFill>
            <a:schemeClr val="accent2"/>
          </a:solidFill>
          <a:ln w="12700">
            <a:solidFill>
              <a:schemeClr val="accent2"/>
            </a:solidFill>
            <a:prstDash val="solid"/>
          </a:ln>
        </p:spPr>
      </p:sp>
      <p:pic>
        <p:nvPicPr>
          <p:cNvPr id="11" name="Icône FaSpellCheck" descr="FaSpellCheck">    </p:cNvPr>
          <p:cNvPicPr>
            <a:picLocks noChangeAspect="1"/>
          </p:cNvPicPr>
          <p:nvPr/>
        </p:nvPicPr>
        <p:blipFill>
          <a:blip r:embed="rId2"/>
          <a:stretch>
            <a:fillRect/>
          </a:stretch>
        </p:blipFill>
        <p:spPr>
          <a:xfrm>
            <a:off x="3669030" y="1771650"/>
            <a:ext cx="251460" cy="251460"/>
          </a:xfrm>
          <a:prstGeom prst="rect">
            <a:avLst/>
          </a:prstGeom>
        </p:spPr>
      </p:pic>
      <p:sp>
        <p:nvSpPr>
          <p:cNvPr id="12" name="Text 8"/>
          <p:cNvSpPr txBox="1"/>
          <p:nvPr/>
        </p:nvSpPr>
        <p:spPr>
          <a:xfrm>
            <a:off x="3543300" y="2267712"/>
            <a:ext cx="2290572" cy="365760"/>
          </a:xfrm>
          <a:prstGeom prst="rect">
            <a:avLst/>
          </a:prstGeom>
          <a:noFill/>
          <a:ln/>
        </p:spPr>
        <p:txBody>
          <a:bodyPr wrap="square" lIns="0" tIns="0" rIns="0" bIns="0" rtlCol="0" anchor="t"/>
          <a:lstStyle/>
          <a:p>
            <a:pPr indent="0" marL="0">
              <a:buNone/>
            </a:pPr>
            <a:r>
              <a:rPr lang="en-US" sz="1600" b="1" dirty="0">
                <a:solidFill>
                  <a:schemeClr val="accent1"/>
                </a:solidFill>
              </a:rPr>
              <a:t>Fautes et accents</a:t>
            </a:r>
            <a:endParaRPr lang="en-US" sz="1600" dirty="0"/>
          </a:p>
        </p:txBody>
      </p:sp>
      <p:sp>
        <p:nvSpPr>
          <p:cNvPr id="13" name="Text 9"/>
          <p:cNvSpPr txBox="1"/>
          <p:nvPr/>
        </p:nvSpPr>
        <p:spPr>
          <a:xfrm>
            <a:off x="3543300" y="2633472"/>
            <a:ext cx="2290572" cy="1783080"/>
          </a:xfrm>
          <a:prstGeom prst="rect">
            <a:avLst/>
          </a:prstGeom>
          <a:noFill/>
          <a:ln/>
        </p:spPr>
        <p:txBody>
          <a:bodyPr wrap="square" lIns="0" tIns="0" rIns="0" bIns="0" rtlCol="0" anchor="t"/>
          <a:lstStyle/>
          <a:p>
            <a:pPr indent="0" marL="0">
              <a:buNone/>
            </a:pPr>
            <a:r>
              <a:rPr lang="en-US" sz="1400" dirty="0">
                <a:solidFill>
                  <a:schemeClr val="tx1"/>
                </a:solidFill>
              </a:rPr>
              <a:t>« ou faire vacsiner mon bebe » : les mots n’existent plus tels quels dans ses indices.</a:t>
            </a:r>
            <a:endParaRPr lang="en-US" sz="1400" dirty="0"/>
          </a:p>
        </p:txBody>
      </p:sp>
      <p:sp>
        <p:nvSpPr>
          <p:cNvPr id="14" name="Carte"/>
          <p:cNvSpPr/>
          <p:nvPr/>
        </p:nvSpPr>
        <p:spPr>
          <a:xfrm>
            <a:off x="6172200" y="1463040"/>
            <a:ext cx="2656332" cy="3017520"/>
          </a:xfrm>
          <a:prstGeom prst="roundRect">
            <a:avLst>
              <a:gd name="adj" fmla="val 2754"/>
            </a:avLst>
          </a:prstGeom>
          <a:solidFill>
            <a:schemeClr val="bg2"/>
          </a:solidFill>
          <a:ln w="12700">
            <a:solidFill>
              <a:schemeClr val="bg2"/>
            </a:solidFill>
            <a:prstDash val="solid"/>
          </a:ln>
        </p:spPr>
      </p:sp>
      <p:sp>
        <p:nvSpPr>
          <p:cNvPr id="15" name="Pastille"/>
          <p:cNvSpPr/>
          <p:nvPr/>
        </p:nvSpPr>
        <p:spPr>
          <a:xfrm>
            <a:off x="6355080" y="1645920"/>
            <a:ext cx="502920" cy="502920"/>
          </a:xfrm>
          <a:prstGeom prst="ellipse">
            <a:avLst/>
          </a:prstGeom>
          <a:solidFill>
            <a:schemeClr val="accent1"/>
          </a:solidFill>
          <a:ln w="12700">
            <a:solidFill>
              <a:schemeClr val="accent1"/>
            </a:solidFill>
            <a:prstDash val="solid"/>
          </a:ln>
        </p:spPr>
      </p:sp>
      <p:pic>
        <p:nvPicPr>
          <p:cNvPr id="16" name="Icône FaQuestionCircle" descr="FaQuestionCircle">    </p:cNvPr>
          <p:cNvPicPr>
            <a:picLocks noChangeAspect="1"/>
          </p:cNvPicPr>
          <p:nvPr/>
        </p:nvPicPr>
        <p:blipFill>
          <a:blip r:embed="rId3"/>
          <a:stretch>
            <a:fillRect/>
          </a:stretch>
        </p:blipFill>
        <p:spPr>
          <a:xfrm>
            <a:off x="6480810" y="1771650"/>
            <a:ext cx="251460" cy="251460"/>
          </a:xfrm>
          <a:prstGeom prst="rect">
            <a:avLst/>
          </a:prstGeom>
        </p:spPr>
      </p:pic>
      <p:sp>
        <p:nvSpPr>
          <p:cNvPr id="17" name="Text 12"/>
          <p:cNvSpPr txBox="1"/>
          <p:nvPr/>
        </p:nvSpPr>
        <p:spPr>
          <a:xfrm>
            <a:off x="6355080" y="2267712"/>
            <a:ext cx="2290572" cy="365760"/>
          </a:xfrm>
          <a:prstGeom prst="rect">
            <a:avLst/>
          </a:prstGeom>
          <a:noFill/>
          <a:ln/>
        </p:spPr>
        <p:txBody>
          <a:bodyPr wrap="square" lIns="0" tIns="0" rIns="0" bIns="0" rtlCol="0" anchor="t"/>
          <a:lstStyle/>
          <a:p>
            <a:pPr indent="0" marL="0">
              <a:buNone/>
            </a:pPr>
            <a:r>
              <a:rPr lang="en-US" sz="1600" b="1" dirty="0">
                <a:solidFill>
                  <a:schemeClr val="accent1"/>
                </a:solidFill>
              </a:rPr>
              <a:t>Mots jamais vus</a:t>
            </a:r>
            <a:endParaRPr lang="en-US" sz="1600" dirty="0"/>
          </a:p>
        </p:txBody>
      </p:sp>
      <p:sp>
        <p:nvSpPr>
          <p:cNvPr id="18" name="Text 13"/>
          <p:cNvSpPr txBox="1"/>
          <p:nvPr/>
        </p:nvSpPr>
        <p:spPr>
          <a:xfrm>
            <a:off x="6355080" y="2633472"/>
            <a:ext cx="2290572" cy="1783080"/>
          </a:xfrm>
          <a:prstGeom prst="rect">
            <a:avLst/>
          </a:prstGeom>
          <a:noFill/>
          <a:ln/>
        </p:spPr>
        <p:txBody>
          <a:bodyPr wrap="square" lIns="0" tIns="0" rIns="0" bIns="0" rtlCol="0" anchor="t"/>
          <a:lstStyle/>
          <a:p>
            <a:pPr indent="0" marL="0">
              <a:buNone/>
            </a:pPr>
            <a:r>
              <a:rPr lang="en-US" sz="1400" dirty="0">
                <a:solidFill>
                  <a:schemeClr val="tx1"/>
                </a:solidFill>
              </a:rPr>
              <a:t>« Docteur » n’était pas dans les exemples, alors que « médecin » y était.</a:t>
            </a:r>
            <a:endParaRPr lang="en-US" sz="1400" dirty="0"/>
          </a:p>
        </p:txBody>
      </p:sp>
      <p:sp>
        <p:nvSpPr>
          <p:cNvPr id="19" name="Carte"/>
          <p:cNvSpPr/>
          <p:nvPr/>
        </p:nvSpPr>
        <p:spPr>
          <a:xfrm>
            <a:off x="8983980" y="1463040"/>
            <a:ext cx="2656332" cy="3017520"/>
          </a:xfrm>
          <a:prstGeom prst="roundRect">
            <a:avLst>
              <a:gd name="adj" fmla="val 2754"/>
            </a:avLst>
          </a:prstGeom>
          <a:solidFill>
            <a:schemeClr val="bg2"/>
          </a:solidFill>
          <a:ln w="12700">
            <a:solidFill>
              <a:schemeClr val="bg2"/>
            </a:solidFill>
            <a:prstDash val="solid"/>
          </a:ln>
        </p:spPr>
      </p:sp>
      <p:sp>
        <p:nvSpPr>
          <p:cNvPr id="20" name="Pastille"/>
          <p:cNvSpPr/>
          <p:nvPr/>
        </p:nvSpPr>
        <p:spPr>
          <a:xfrm>
            <a:off x="9166860" y="1645920"/>
            <a:ext cx="502920" cy="502920"/>
          </a:xfrm>
          <a:prstGeom prst="ellipse">
            <a:avLst/>
          </a:prstGeom>
          <a:solidFill>
            <a:schemeClr val="accent2"/>
          </a:solidFill>
          <a:ln w="12700">
            <a:solidFill>
              <a:schemeClr val="accent2"/>
            </a:solidFill>
            <a:prstDash val="solid"/>
          </a:ln>
        </p:spPr>
      </p:sp>
      <p:pic>
        <p:nvPicPr>
          <p:cNvPr id="21" name="Icône FaGlobeAfrica" descr="FaGlobeAfrica">    </p:cNvPr>
          <p:cNvPicPr>
            <a:picLocks noChangeAspect="1"/>
          </p:cNvPicPr>
          <p:nvPr/>
        </p:nvPicPr>
        <p:blipFill>
          <a:blip r:embed="rId4"/>
          <a:stretch>
            <a:fillRect/>
          </a:stretch>
        </p:blipFill>
        <p:spPr>
          <a:xfrm>
            <a:off x="9292590" y="1771650"/>
            <a:ext cx="251460" cy="251460"/>
          </a:xfrm>
          <a:prstGeom prst="rect">
            <a:avLst/>
          </a:prstGeom>
        </p:spPr>
      </p:pic>
      <p:sp>
        <p:nvSpPr>
          <p:cNvPr id="22" name="Text 16"/>
          <p:cNvSpPr txBox="1"/>
          <p:nvPr/>
        </p:nvSpPr>
        <p:spPr>
          <a:xfrm>
            <a:off x="9166860" y="2267712"/>
            <a:ext cx="2290572" cy="365760"/>
          </a:xfrm>
          <a:prstGeom prst="rect">
            <a:avLst/>
          </a:prstGeom>
          <a:noFill/>
          <a:ln/>
        </p:spPr>
        <p:txBody>
          <a:bodyPr wrap="square" lIns="0" tIns="0" rIns="0" bIns="0" rtlCol="0" anchor="t"/>
          <a:lstStyle/>
          <a:p>
            <a:pPr indent="0" marL="0">
              <a:buNone/>
            </a:pPr>
            <a:r>
              <a:rPr lang="en-US" sz="1600" b="1" dirty="0">
                <a:solidFill>
                  <a:schemeClr val="accent1"/>
                </a:solidFill>
              </a:rPr>
              <a:t>Langues peu dotées</a:t>
            </a:r>
            <a:endParaRPr lang="en-US" sz="1600" dirty="0"/>
          </a:p>
        </p:txBody>
      </p:sp>
      <p:sp>
        <p:nvSpPr>
          <p:cNvPr id="23" name="Text 17"/>
          <p:cNvSpPr txBox="1"/>
          <p:nvPr/>
        </p:nvSpPr>
        <p:spPr>
          <a:xfrm>
            <a:off x="9166860" y="2633472"/>
            <a:ext cx="2290572" cy="1783080"/>
          </a:xfrm>
          <a:prstGeom prst="rect">
            <a:avLst/>
          </a:prstGeom>
          <a:noFill/>
          <a:ln/>
        </p:spPr>
        <p:txBody>
          <a:bodyPr wrap="square" lIns="0" tIns="0" rIns="0" bIns="0" rtlCol="0" anchor="t"/>
          <a:lstStyle/>
          <a:p>
            <a:pPr indent="0" marL="0">
              <a:buNone/>
            </a:pPr>
            <a:r>
              <a:rPr lang="en-US" sz="1400" dirty="0">
                <a:solidFill>
                  <a:schemeClr val="tx1"/>
                </a:solidFill>
              </a:rPr>
              <a:t>Avec peu d’exemples écrits, les indices sont rares : les erreurs augmentent.</a:t>
            </a:r>
            <a:endParaRPr lang="en-US" sz="1400" dirty="0"/>
          </a:p>
        </p:txBody>
      </p:sp>
      <p:sp>
        <p:nvSpPr>
          <p:cNvPr id="24" name="À retenir"/>
          <p:cNvSpPr/>
          <p:nvPr/>
        </p:nvSpPr>
        <p:spPr>
          <a:xfrm>
            <a:off x="548640" y="5349240"/>
            <a:ext cx="11091672" cy="777240"/>
          </a:xfrm>
          <a:prstGeom prst="roundRect">
            <a:avLst>
              <a:gd name="adj" fmla="val 9412"/>
            </a:avLst>
          </a:prstGeom>
          <a:solidFill>
            <a:schemeClr val="accent3">
              <a:alpha val="22000"/>
            </a:schemeClr>
          </a:solidFill>
          <a:ln w="12700">
            <a:solidFill>
              <a:schemeClr val="accent3"/>
            </a:solidFill>
            <a:prstDash val="solid"/>
          </a:ln>
        </p:spPr>
      </p:sp>
      <p:pic>
        <p:nvPicPr>
          <p:cNvPr id="25" name="Image 4" descr="À retenir">    </p:cNvPr>
          <p:cNvPicPr>
            <a:picLocks noChangeAspect="1"/>
          </p:cNvPicPr>
          <p:nvPr/>
        </p:nvPicPr>
        <p:blipFill>
          <a:blip r:embed="rId5"/>
          <a:stretch>
            <a:fillRect/>
          </a:stretch>
        </p:blipFill>
        <p:spPr>
          <a:xfrm>
            <a:off x="777240" y="5554980"/>
            <a:ext cx="365760" cy="365760"/>
          </a:xfrm>
          <a:prstGeom prst="rect">
            <a:avLst/>
          </a:prstGeom>
        </p:spPr>
      </p:pic>
      <p:sp>
        <p:nvSpPr>
          <p:cNvPr id="26" name="Text 19"/>
          <p:cNvSpPr txBox="1"/>
          <p:nvPr/>
        </p:nvSpPr>
        <p:spPr>
          <a:xfrm>
            <a:off x="1371600" y="5349240"/>
            <a:ext cx="10058400" cy="777240"/>
          </a:xfrm>
          <a:prstGeom prst="rect">
            <a:avLst/>
          </a:prstGeom>
          <a:noFill/>
          <a:ln/>
        </p:spPr>
        <p:txBody>
          <a:bodyPr wrap="square" lIns="0" tIns="0" rIns="0" bIns="0" rtlCol="0" anchor="ctr"/>
          <a:lstStyle/>
          <a:p>
            <a:pPr indent="0" marL="0">
              <a:buNone/>
            </a:pPr>
            <a:r>
              <a:rPr lang="en-US" sz="1500" b="1" dirty="0">
                <a:solidFill>
                  <a:schemeClr val="tx1"/>
                </a:solidFill>
              </a:rPr>
              <a:t>À retenir : </a:t>
            </a:r>
            <a:r>
              <a:rPr lang="en-US" sz="1500" dirty="0">
                <a:solidFill>
                  <a:schemeClr val="tx1"/>
                </a:solidFill>
              </a:rPr>
              <a:t>une machine qui se trompe sans le dire est plus dangereuse qu’une machine qui répond « je ne sais pas ». Prévoyez toujours un humain pour les cas difficiles.</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Utiliser ces outils de façon responsable</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MODULE 1  ·  FONDAMENTAUX DU NLP</a:t>
            </a:r>
            <a:endParaRPr lang="en-US" sz="1200" dirty="0"/>
          </a:p>
        </p:txBody>
      </p:sp>
      <p:sp>
        <p:nvSpPr>
          <p:cNvPr id="4" name="Carte"/>
          <p:cNvSpPr/>
          <p:nvPr/>
        </p:nvSpPr>
        <p:spPr>
          <a:xfrm>
            <a:off x="548640" y="1371600"/>
            <a:ext cx="5440680" cy="502920"/>
          </a:xfrm>
          <a:prstGeom prst="roundRect">
            <a:avLst>
              <a:gd name="adj" fmla="val 14545"/>
            </a:avLst>
          </a:prstGeom>
          <a:solidFill>
            <a:schemeClr val="accent1"/>
          </a:solidFill>
          <a:ln w="12700">
            <a:solidFill>
              <a:schemeClr val="accent1"/>
            </a:solidFill>
            <a:prstDash val="solid"/>
          </a:ln>
        </p:spPr>
      </p:sp>
      <p:sp>
        <p:nvSpPr>
          <p:cNvPr id="5" name="Text 3"/>
          <p:cNvSpPr txBox="1"/>
          <p:nvPr/>
        </p:nvSpPr>
        <p:spPr>
          <a:xfrm>
            <a:off x="777240" y="1371600"/>
            <a:ext cx="4937760" cy="502920"/>
          </a:xfrm>
          <a:prstGeom prst="rect">
            <a:avLst/>
          </a:prstGeom>
          <a:noFill/>
          <a:ln/>
        </p:spPr>
        <p:txBody>
          <a:bodyPr wrap="square" lIns="0" tIns="0" rIns="0" bIns="0" rtlCol="0" anchor="ctr"/>
          <a:lstStyle/>
          <a:p>
            <a:pPr indent="0" marL="0">
              <a:buNone/>
            </a:pPr>
            <a:r>
              <a:rPr lang="en-US" sz="1600" b="1" dirty="0">
                <a:solidFill>
                  <a:schemeClr val="bg1"/>
                </a:solidFill>
              </a:rPr>
              <a:t>À faire</a:t>
            </a:r>
            <a:endParaRPr lang="en-US" sz="1600" dirty="0"/>
          </a:p>
        </p:txBody>
      </p:sp>
      <p:sp>
        <p:nvSpPr>
          <p:cNvPr id="6" name="Carte"/>
          <p:cNvSpPr/>
          <p:nvPr/>
        </p:nvSpPr>
        <p:spPr>
          <a:xfrm>
            <a:off x="6199632" y="1371600"/>
            <a:ext cx="5440680" cy="502920"/>
          </a:xfrm>
          <a:prstGeom prst="roundRect">
            <a:avLst>
              <a:gd name="adj" fmla="val 14545"/>
            </a:avLst>
          </a:prstGeom>
          <a:solidFill>
            <a:schemeClr val="accent4"/>
          </a:solidFill>
          <a:ln w="12700">
            <a:solidFill>
              <a:schemeClr val="accent4"/>
            </a:solidFill>
            <a:prstDash val="solid"/>
          </a:ln>
        </p:spPr>
      </p:sp>
      <p:sp>
        <p:nvSpPr>
          <p:cNvPr id="7" name="Text 5"/>
          <p:cNvSpPr txBox="1"/>
          <p:nvPr/>
        </p:nvSpPr>
        <p:spPr>
          <a:xfrm>
            <a:off x="6428232" y="1371600"/>
            <a:ext cx="4937760" cy="502920"/>
          </a:xfrm>
          <a:prstGeom prst="rect">
            <a:avLst/>
          </a:prstGeom>
          <a:noFill/>
          <a:ln/>
        </p:spPr>
        <p:txBody>
          <a:bodyPr wrap="square" lIns="0" tIns="0" rIns="0" bIns="0" rtlCol="0" anchor="ctr"/>
          <a:lstStyle/>
          <a:p>
            <a:pPr indent="0" marL="0">
              <a:buNone/>
            </a:pPr>
            <a:r>
              <a:rPr lang="en-US" sz="1600" b="1" dirty="0">
                <a:solidFill>
                  <a:schemeClr val="bg1"/>
                </a:solidFill>
              </a:rPr>
              <a:t>À éviter</a:t>
            </a:r>
            <a:endParaRPr lang="en-US" sz="1600" dirty="0"/>
          </a:p>
        </p:txBody>
      </p:sp>
      <p:sp>
        <p:nvSpPr>
          <p:cNvPr id="8" name="Carte"/>
          <p:cNvSpPr/>
          <p:nvPr/>
        </p:nvSpPr>
        <p:spPr>
          <a:xfrm>
            <a:off x="548640" y="2011680"/>
            <a:ext cx="5440680" cy="804672"/>
          </a:xfrm>
          <a:prstGeom prst="roundRect">
            <a:avLst>
              <a:gd name="adj" fmla="val 9091"/>
            </a:avLst>
          </a:prstGeom>
          <a:solidFill>
            <a:schemeClr val="bg2"/>
          </a:solidFill>
          <a:ln w="12700">
            <a:solidFill>
              <a:schemeClr val="bg2"/>
            </a:solidFill>
            <a:prstDash val="solid"/>
          </a:ln>
        </p:spPr>
      </p:sp>
      <p:sp>
        <p:nvSpPr>
          <p:cNvPr id="9" name="Pastille"/>
          <p:cNvSpPr/>
          <p:nvPr/>
        </p:nvSpPr>
        <p:spPr>
          <a:xfrm>
            <a:off x="685800" y="2221992"/>
            <a:ext cx="384048" cy="384048"/>
          </a:xfrm>
          <a:prstGeom prst="ellipse">
            <a:avLst/>
          </a:prstGeom>
          <a:solidFill>
            <a:schemeClr val="accent1"/>
          </a:solidFill>
          <a:ln w="12700">
            <a:solidFill>
              <a:schemeClr val="accent1"/>
            </a:solidFill>
            <a:prstDash val="solid"/>
          </a:ln>
        </p:spPr>
      </p:sp>
      <p:pic>
        <p:nvPicPr>
          <p:cNvPr id="10" name="Icône FaCheck" descr="FaCheck">    </p:cNvPr>
          <p:cNvPicPr>
            <a:picLocks noChangeAspect="1"/>
          </p:cNvPicPr>
          <p:nvPr/>
        </p:nvPicPr>
        <p:blipFill>
          <a:blip r:embed="rId1"/>
          <a:stretch>
            <a:fillRect/>
          </a:stretch>
        </p:blipFill>
        <p:spPr>
          <a:xfrm>
            <a:off x="781812" y="2318004"/>
            <a:ext cx="192024" cy="192024"/>
          </a:xfrm>
          <a:prstGeom prst="rect">
            <a:avLst/>
          </a:prstGeom>
        </p:spPr>
      </p:pic>
      <p:sp>
        <p:nvSpPr>
          <p:cNvPr id="11" name="Text 8"/>
          <p:cNvSpPr txBox="1"/>
          <p:nvPr/>
        </p:nvSpPr>
        <p:spPr>
          <a:xfrm>
            <a:off x="1234440" y="2011680"/>
            <a:ext cx="4663440" cy="804672"/>
          </a:xfrm>
          <a:prstGeom prst="rect">
            <a:avLst/>
          </a:prstGeom>
          <a:noFill/>
          <a:ln/>
        </p:spPr>
        <p:txBody>
          <a:bodyPr wrap="square" lIns="0" tIns="0" rIns="0" bIns="0" rtlCol="0" anchor="ctr"/>
          <a:lstStyle/>
          <a:p>
            <a:pPr indent="0" marL="0">
              <a:buNone/>
            </a:pPr>
            <a:r>
              <a:rPr lang="en-US" sz="1400" dirty="0">
                <a:solidFill>
                  <a:schemeClr val="tx1"/>
                </a:solidFill>
              </a:rPr>
              <a:t>Protéger les données personnelles et de santé avant tout traitement</a:t>
            </a:r>
            <a:endParaRPr lang="en-US" sz="1400" dirty="0"/>
          </a:p>
        </p:txBody>
      </p:sp>
      <p:sp>
        <p:nvSpPr>
          <p:cNvPr id="12" name="Carte"/>
          <p:cNvSpPr/>
          <p:nvPr/>
        </p:nvSpPr>
        <p:spPr>
          <a:xfrm>
            <a:off x="6199632" y="2011680"/>
            <a:ext cx="5440680" cy="804672"/>
          </a:xfrm>
          <a:prstGeom prst="roundRect">
            <a:avLst>
              <a:gd name="adj" fmla="val 9091"/>
            </a:avLst>
          </a:prstGeom>
          <a:solidFill>
            <a:schemeClr val="accent5"/>
          </a:solidFill>
          <a:ln w="12700">
            <a:solidFill>
              <a:schemeClr val="accent5"/>
            </a:solidFill>
            <a:prstDash val="solid"/>
          </a:ln>
        </p:spPr>
      </p:sp>
      <p:sp>
        <p:nvSpPr>
          <p:cNvPr id="13" name="Pastille"/>
          <p:cNvSpPr/>
          <p:nvPr/>
        </p:nvSpPr>
        <p:spPr>
          <a:xfrm>
            <a:off x="6336792" y="2221992"/>
            <a:ext cx="384048" cy="384048"/>
          </a:xfrm>
          <a:prstGeom prst="ellipse">
            <a:avLst/>
          </a:prstGeom>
          <a:solidFill>
            <a:schemeClr val="accent4"/>
          </a:solidFill>
          <a:ln w="12700">
            <a:solidFill>
              <a:schemeClr val="accent4"/>
            </a:solidFill>
            <a:prstDash val="solid"/>
          </a:ln>
        </p:spPr>
      </p:sp>
      <p:pic>
        <p:nvPicPr>
          <p:cNvPr id="14" name="Icône FaTimes" descr="FaTimes">    </p:cNvPr>
          <p:cNvPicPr>
            <a:picLocks noChangeAspect="1"/>
          </p:cNvPicPr>
          <p:nvPr/>
        </p:nvPicPr>
        <p:blipFill>
          <a:blip r:embed="rId2"/>
          <a:stretch>
            <a:fillRect/>
          </a:stretch>
        </p:blipFill>
        <p:spPr>
          <a:xfrm>
            <a:off x="6432804" y="2318004"/>
            <a:ext cx="192024" cy="192024"/>
          </a:xfrm>
          <a:prstGeom prst="rect">
            <a:avLst/>
          </a:prstGeom>
        </p:spPr>
      </p:pic>
      <p:sp>
        <p:nvSpPr>
          <p:cNvPr id="15" name="Text 11"/>
          <p:cNvSpPr txBox="1"/>
          <p:nvPr/>
        </p:nvSpPr>
        <p:spPr>
          <a:xfrm>
            <a:off x="6885432" y="2011680"/>
            <a:ext cx="4663440" cy="804672"/>
          </a:xfrm>
          <a:prstGeom prst="rect">
            <a:avLst/>
          </a:prstGeom>
          <a:noFill/>
          <a:ln/>
        </p:spPr>
        <p:txBody>
          <a:bodyPr wrap="square" lIns="0" tIns="0" rIns="0" bIns="0" rtlCol="0" anchor="ctr"/>
          <a:lstStyle/>
          <a:p>
            <a:pPr indent="0" marL="0">
              <a:buNone/>
            </a:pPr>
            <a:r>
              <a:rPr lang="en-US" sz="1400" dirty="0">
                <a:solidFill>
                  <a:schemeClr val="tx1"/>
                </a:solidFill>
              </a:rPr>
              <a:t>Envoyer de vrais messages d’usagers dans un service en ligne public</a:t>
            </a:r>
            <a:endParaRPr lang="en-US" sz="1400" dirty="0"/>
          </a:p>
        </p:txBody>
      </p:sp>
      <p:sp>
        <p:nvSpPr>
          <p:cNvPr id="16" name="Carte"/>
          <p:cNvSpPr/>
          <p:nvPr/>
        </p:nvSpPr>
        <p:spPr>
          <a:xfrm>
            <a:off x="548640" y="2926080"/>
            <a:ext cx="5440680" cy="804672"/>
          </a:xfrm>
          <a:prstGeom prst="roundRect">
            <a:avLst>
              <a:gd name="adj" fmla="val 9091"/>
            </a:avLst>
          </a:prstGeom>
          <a:solidFill>
            <a:schemeClr val="bg2"/>
          </a:solidFill>
          <a:ln w="12700">
            <a:solidFill>
              <a:schemeClr val="bg2"/>
            </a:solidFill>
            <a:prstDash val="solid"/>
          </a:ln>
        </p:spPr>
      </p:sp>
      <p:sp>
        <p:nvSpPr>
          <p:cNvPr id="17" name="Pastille"/>
          <p:cNvSpPr/>
          <p:nvPr/>
        </p:nvSpPr>
        <p:spPr>
          <a:xfrm>
            <a:off x="685800" y="3136392"/>
            <a:ext cx="384048" cy="384048"/>
          </a:xfrm>
          <a:prstGeom prst="ellipse">
            <a:avLst/>
          </a:prstGeom>
          <a:solidFill>
            <a:schemeClr val="accent1"/>
          </a:solidFill>
          <a:ln w="12700">
            <a:solidFill>
              <a:schemeClr val="accent1"/>
            </a:solidFill>
            <a:prstDash val="solid"/>
          </a:ln>
        </p:spPr>
      </p:sp>
      <p:pic>
        <p:nvPicPr>
          <p:cNvPr id="18" name="Icône FaCheck" descr="FaCheck">    </p:cNvPr>
          <p:cNvPicPr>
            <a:picLocks noChangeAspect="1"/>
          </p:cNvPicPr>
          <p:nvPr/>
        </p:nvPicPr>
        <p:blipFill>
          <a:blip r:embed="rId3"/>
          <a:stretch>
            <a:fillRect/>
          </a:stretch>
        </p:blipFill>
        <p:spPr>
          <a:xfrm>
            <a:off x="781812" y="3232404"/>
            <a:ext cx="192024" cy="192024"/>
          </a:xfrm>
          <a:prstGeom prst="rect">
            <a:avLst/>
          </a:prstGeom>
        </p:spPr>
      </p:pic>
      <p:sp>
        <p:nvSpPr>
          <p:cNvPr id="19" name="Text 14"/>
          <p:cNvSpPr txBox="1"/>
          <p:nvPr/>
        </p:nvSpPr>
        <p:spPr>
          <a:xfrm>
            <a:off x="1234440" y="2926080"/>
            <a:ext cx="4663440" cy="804672"/>
          </a:xfrm>
          <a:prstGeom prst="rect">
            <a:avLst/>
          </a:prstGeom>
          <a:noFill/>
          <a:ln/>
        </p:spPr>
        <p:txBody>
          <a:bodyPr wrap="square" lIns="0" tIns="0" rIns="0" bIns="0" rtlCol="0" anchor="ctr"/>
          <a:lstStyle/>
          <a:p>
            <a:pPr indent="0" marL="0">
              <a:buNone/>
            </a:pPr>
            <a:r>
              <a:rPr lang="en-US" sz="1400" dirty="0">
                <a:solidFill>
                  <a:schemeClr val="tx1"/>
                </a:solidFill>
              </a:rPr>
              <a:t>Garder un humain pour les cas ambigus et les décisions importantes</a:t>
            </a:r>
            <a:endParaRPr lang="en-US" sz="1400" dirty="0"/>
          </a:p>
        </p:txBody>
      </p:sp>
      <p:sp>
        <p:nvSpPr>
          <p:cNvPr id="20" name="Carte"/>
          <p:cNvSpPr/>
          <p:nvPr/>
        </p:nvSpPr>
        <p:spPr>
          <a:xfrm>
            <a:off x="6199632" y="2926080"/>
            <a:ext cx="5440680" cy="804672"/>
          </a:xfrm>
          <a:prstGeom prst="roundRect">
            <a:avLst>
              <a:gd name="adj" fmla="val 9091"/>
            </a:avLst>
          </a:prstGeom>
          <a:solidFill>
            <a:schemeClr val="accent5"/>
          </a:solidFill>
          <a:ln w="12700">
            <a:solidFill>
              <a:schemeClr val="accent5"/>
            </a:solidFill>
            <a:prstDash val="solid"/>
          </a:ln>
        </p:spPr>
      </p:sp>
      <p:sp>
        <p:nvSpPr>
          <p:cNvPr id="21" name="Pastille"/>
          <p:cNvSpPr/>
          <p:nvPr/>
        </p:nvSpPr>
        <p:spPr>
          <a:xfrm>
            <a:off x="6336792" y="3136392"/>
            <a:ext cx="384048" cy="384048"/>
          </a:xfrm>
          <a:prstGeom prst="ellipse">
            <a:avLst/>
          </a:prstGeom>
          <a:solidFill>
            <a:schemeClr val="accent4"/>
          </a:solidFill>
          <a:ln w="12700">
            <a:solidFill>
              <a:schemeClr val="accent4"/>
            </a:solidFill>
            <a:prstDash val="solid"/>
          </a:ln>
        </p:spPr>
      </p:sp>
      <p:pic>
        <p:nvPicPr>
          <p:cNvPr id="22" name="Icône FaTimes" descr="FaTimes">    </p:cNvPr>
          <p:cNvPicPr>
            <a:picLocks noChangeAspect="1"/>
          </p:cNvPicPr>
          <p:nvPr/>
        </p:nvPicPr>
        <p:blipFill>
          <a:blip r:embed="rId4"/>
          <a:stretch>
            <a:fillRect/>
          </a:stretch>
        </p:blipFill>
        <p:spPr>
          <a:xfrm>
            <a:off x="6432804" y="3232404"/>
            <a:ext cx="192024" cy="192024"/>
          </a:xfrm>
          <a:prstGeom prst="rect">
            <a:avLst/>
          </a:prstGeom>
        </p:spPr>
      </p:pic>
      <p:sp>
        <p:nvSpPr>
          <p:cNvPr id="23" name="Text 17"/>
          <p:cNvSpPr txBox="1"/>
          <p:nvPr/>
        </p:nvSpPr>
        <p:spPr>
          <a:xfrm>
            <a:off x="6885432" y="2926080"/>
            <a:ext cx="4663440" cy="804672"/>
          </a:xfrm>
          <a:prstGeom prst="rect">
            <a:avLst/>
          </a:prstGeom>
          <a:noFill/>
          <a:ln/>
        </p:spPr>
        <p:txBody>
          <a:bodyPr wrap="square" lIns="0" tIns="0" rIns="0" bIns="0" rtlCol="0" anchor="ctr"/>
          <a:lstStyle/>
          <a:p>
            <a:pPr indent="0" marL="0">
              <a:buNone/>
            </a:pPr>
            <a:r>
              <a:rPr lang="en-US" sz="1400" dirty="0">
                <a:solidFill>
                  <a:schemeClr val="tx1"/>
                </a:solidFill>
              </a:rPr>
              <a:t>Laisser la machine décider seule d’un droit, d’un dossier ou d’une aide</a:t>
            </a:r>
            <a:endParaRPr lang="en-US" sz="1400" dirty="0"/>
          </a:p>
        </p:txBody>
      </p:sp>
      <p:sp>
        <p:nvSpPr>
          <p:cNvPr id="24" name="Carte"/>
          <p:cNvSpPr/>
          <p:nvPr/>
        </p:nvSpPr>
        <p:spPr>
          <a:xfrm>
            <a:off x="548640" y="3840480"/>
            <a:ext cx="5440680" cy="804672"/>
          </a:xfrm>
          <a:prstGeom prst="roundRect">
            <a:avLst>
              <a:gd name="adj" fmla="val 9091"/>
            </a:avLst>
          </a:prstGeom>
          <a:solidFill>
            <a:schemeClr val="bg2"/>
          </a:solidFill>
          <a:ln w="12700">
            <a:solidFill>
              <a:schemeClr val="bg2"/>
            </a:solidFill>
            <a:prstDash val="solid"/>
          </a:ln>
        </p:spPr>
      </p:sp>
      <p:sp>
        <p:nvSpPr>
          <p:cNvPr id="25" name="Pastille"/>
          <p:cNvSpPr/>
          <p:nvPr/>
        </p:nvSpPr>
        <p:spPr>
          <a:xfrm>
            <a:off x="685800" y="4050792"/>
            <a:ext cx="384048" cy="384048"/>
          </a:xfrm>
          <a:prstGeom prst="ellipse">
            <a:avLst/>
          </a:prstGeom>
          <a:solidFill>
            <a:schemeClr val="accent1"/>
          </a:solidFill>
          <a:ln w="12700">
            <a:solidFill>
              <a:schemeClr val="accent1"/>
            </a:solidFill>
            <a:prstDash val="solid"/>
          </a:ln>
        </p:spPr>
      </p:sp>
      <p:pic>
        <p:nvPicPr>
          <p:cNvPr id="26" name="Icône FaCheck" descr="FaCheck">    </p:cNvPr>
          <p:cNvPicPr>
            <a:picLocks noChangeAspect="1"/>
          </p:cNvPicPr>
          <p:nvPr/>
        </p:nvPicPr>
        <p:blipFill>
          <a:blip r:embed="rId5"/>
          <a:stretch>
            <a:fillRect/>
          </a:stretch>
        </p:blipFill>
        <p:spPr>
          <a:xfrm>
            <a:off x="781812" y="4146804"/>
            <a:ext cx="192024" cy="192024"/>
          </a:xfrm>
          <a:prstGeom prst="rect">
            <a:avLst/>
          </a:prstGeom>
        </p:spPr>
      </p:pic>
      <p:sp>
        <p:nvSpPr>
          <p:cNvPr id="27" name="Text 20"/>
          <p:cNvSpPr txBox="1"/>
          <p:nvPr/>
        </p:nvSpPr>
        <p:spPr>
          <a:xfrm>
            <a:off x="1234440" y="3840480"/>
            <a:ext cx="4663440" cy="804672"/>
          </a:xfrm>
          <a:prstGeom prst="rect">
            <a:avLst/>
          </a:prstGeom>
          <a:noFill/>
          <a:ln/>
        </p:spPr>
        <p:txBody>
          <a:bodyPr wrap="square" lIns="0" tIns="0" rIns="0" bIns="0" rtlCol="0" anchor="ctr"/>
          <a:lstStyle/>
          <a:p>
            <a:pPr indent="0" marL="0">
              <a:buNone/>
            </a:pPr>
            <a:r>
              <a:rPr lang="en-US" sz="1400" dirty="0">
                <a:solidFill>
                  <a:schemeClr val="tx1"/>
                </a:solidFill>
              </a:rPr>
              <a:t>Tester sur des exemples variés, dont ceux qui parlent peu ou mal</a:t>
            </a:r>
            <a:endParaRPr lang="en-US" sz="1400" dirty="0"/>
          </a:p>
        </p:txBody>
      </p:sp>
      <p:sp>
        <p:nvSpPr>
          <p:cNvPr id="28" name="Carte"/>
          <p:cNvSpPr/>
          <p:nvPr/>
        </p:nvSpPr>
        <p:spPr>
          <a:xfrm>
            <a:off x="6199632" y="3840480"/>
            <a:ext cx="5440680" cy="804672"/>
          </a:xfrm>
          <a:prstGeom prst="roundRect">
            <a:avLst>
              <a:gd name="adj" fmla="val 9091"/>
            </a:avLst>
          </a:prstGeom>
          <a:solidFill>
            <a:schemeClr val="accent5"/>
          </a:solidFill>
          <a:ln w="12700">
            <a:solidFill>
              <a:schemeClr val="accent5"/>
            </a:solidFill>
            <a:prstDash val="solid"/>
          </a:ln>
        </p:spPr>
      </p:sp>
      <p:sp>
        <p:nvSpPr>
          <p:cNvPr id="29" name="Pastille"/>
          <p:cNvSpPr/>
          <p:nvPr/>
        </p:nvSpPr>
        <p:spPr>
          <a:xfrm>
            <a:off x="6336792" y="4050792"/>
            <a:ext cx="384048" cy="384048"/>
          </a:xfrm>
          <a:prstGeom prst="ellipse">
            <a:avLst/>
          </a:prstGeom>
          <a:solidFill>
            <a:schemeClr val="accent4"/>
          </a:solidFill>
          <a:ln w="12700">
            <a:solidFill>
              <a:schemeClr val="accent4"/>
            </a:solidFill>
            <a:prstDash val="solid"/>
          </a:ln>
        </p:spPr>
      </p:sp>
      <p:pic>
        <p:nvPicPr>
          <p:cNvPr id="30" name="Icône FaTimes" descr="FaTimes">    </p:cNvPr>
          <p:cNvPicPr>
            <a:picLocks noChangeAspect="1"/>
          </p:cNvPicPr>
          <p:nvPr/>
        </p:nvPicPr>
        <p:blipFill>
          <a:blip r:embed="rId6"/>
          <a:stretch>
            <a:fillRect/>
          </a:stretch>
        </p:blipFill>
        <p:spPr>
          <a:xfrm>
            <a:off x="6432804" y="4146804"/>
            <a:ext cx="192024" cy="192024"/>
          </a:xfrm>
          <a:prstGeom prst="rect">
            <a:avLst/>
          </a:prstGeom>
        </p:spPr>
      </p:pic>
      <p:sp>
        <p:nvSpPr>
          <p:cNvPr id="31" name="Text 23"/>
          <p:cNvSpPr txBox="1"/>
          <p:nvPr/>
        </p:nvSpPr>
        <p:spPr>
          <a:xfrm>
            <a:off x="6885432" y="3840480"/>
            <a:ext cx="4663440" cy="804672"/>
          </a:xfrm>
          <a:prstGeom prst="rect">
            <a:avLst/>
          </a:prstGeom>
          <a:noFill/>
          <a:ln/>
        </p:spPr>
        <p:txBody>
          <a:bodyPr wrap="square" lIns="0" tIns="0" rIns="0" bIns="0" rtlCol="0" anchor="ctr"/>
          <a:lstStyle/>
          <a:p>
            <a:pPr indent="0" marL="0">
              <a:buNone/>
            </a:pPr>
            <a:r>
              <a:rPr lang="en-US" sz="1400" dirty="0">
                <a:solidFill>
                  <a:schemeClr val="tx1"/>
                </a:solidFill>
              </a:rPr>
              <a:t>Valider l’outil sur les seuls cas faciles</a:t>
            </a:r>
            <a:endParaRPr lang="en-US" sz="1400" dirty="0"/>
          </a:p>
        </p:txBody>
      </p:sp>
      <p:sp>
        <p:nvSpPr>
          <p:cNvPr id="32" name="Carte"/>
          <p:cNvSpPr/>
          <p:nvPr/>
        </p:nvSpPr>
        <p:spPr>
          <a:xfrm>
            <a:off x="548640" y="4754880"/>
            <a:ext cx="5440680" cy="804672"/>
          </a:xfrm>
          <a:prstGeom prst="roundRect">
            <a:avLst>
              <a:gd name="adj" fmla="val 9091"/>
            </a:avLst>
          </a:prstGeom>
          <a:solidFill>
            <a:schemeClr val="bg2"/>
          </a:solidFill>
          <a:ln w="12700">
            <a:solidFill>
              <a:schemeClr val="bg2"/>
            </a:solidFill>
            <a:prstDash val="solid"/>
          </a:ln>
        </p:spPr>
      </p:sp>
      <p:sp>
        <p:nvSpPr>
          <p:cNvPr id="33" name="Pastille"/>
          <p:cNvSpPr/>
          <p:nvPr/>
        </p:nvSpPr>
        <p:spPr>
          <a:xfrm>
            <a:off x="685800" y="4965192"/>
            <a:ext cx="384048" cy="384048"/>
          </a:xfrm>
          <a:prstGeom prst="ellipse">
            <a:avLst/>
          </a:prstGeom>
          <a:solidFill>
            <a:schemeClr val="accent1"/>
          </a:solidFill>
          <a:ln w="12700">
            <a:solidFill>
              <a:schemeClr val="accent1"/>
            </a:solidFill>
            <a:prstDash val="solid"/>
          </a:ln>
        </p:spPr>
      </p:sp>
      <p:pic>
        <p:nvPicPr>
          <p:cNvPr id="34" name="Icône FaCheck" descr="FaCheck">    </p:cNvPr>
          <p:cNvPicPr>
            <a:picLocks noChangeAspect="1"/>
          </p:cNvPicPr>
          <p:nvPr/>
        </p:nvPicPr>
        <p:blipFill>
          <a:blip r:embed="rId7"/>
          <a:stretch>
            <a:fillRect/>
          </a:stretch>
        </p:blipFill>
        <p:spPr>
          <a:xfrm>
            <a:off x="781812" y="5061204"/>
            <a:ext cx="192024" cy="192024"/>
          </a:xfrm>
          <a:prstGeom prst="rect">
            <a:avLst/>
          </a:prstGeom>
        </p:spPr>
      </p:pic>
      <p:sp>
        <p:nvSpPr>
          <p:cNvPr id="35" name="Text 26"/>
          <p:cNvSpPr txBox="1"/>
          <p:nvPr/>
        </p:nvSpPr>
        <p:spPr>
          <a:xfrm>
            <a:off x="1234440" y="4754880"/>
            <a:ext cx="4663440" cy="804672"/>
          </a:xfrm>
          <a:prstGeom prst="rect">
            <a:avLst/>
          </a:prstGeom>
          <a:noFill/>
          <a:ln/>
        </p:spPr>
        <p:txBody>
          <a:bodyPr wrap="square" lIns="0" tIns="0" rIns="0" bIns="0" rtlCol="0" anchor="ctr"/>
          <a:lstStyle/>
          <a:p>
            <a:pPr indent="0" marL="0">
              <a:buNone/>
            </a:pPr>
            <a:r>
              <a:rPr lang="en-US" sz="1400" dirty="0">
                <a:solidFill>
                  <a:schemeClr val="tx1"/>
                </a:solidFill>
              </a:rPr>
              <a:t>Expliquer aux usagers qu’une machine trie leurs messages</a:t>
            </a:r>
            <a:endParaRPr lang="en-US" sz="1400" dirty="0"/>
          </a:p>
        </p:txBody>
      </p:sp>
      <p:sp>
        <p:nvSpPr>
          <p:cNvPr id="36" name="Carte"/>
          <p:cNvSpPr/>
          <p:nvPr/>
        </p:nvSpPr>
        <p:spPr>
          <a:xfrm>
            <a:off x="6199632" y="4754880"/>
            <a:ext cx="5440680" cy="804672"/>
          </a:xfrm>
          <a:prstGeom prst="roundRect">
            <a:avLst>
              <a:gd name="adj" fmla="val 9091"/>
            </a:avLst>
          </a:prstGeom>
          <a:solidFill>
            <a:schemeClr val="accent5"/>
          </a:solidFill>
          <a:ln w="12700">
            <a:solidFill>
              <a:schemeClr val="accent5"/>
            </a:solidFill>
            <a:prstDash val="solid"/>
          </a:ln>
        </p:spPr>
      </p:sp>
      <p:sp>
        <p:nvSpPr>
          <p:cNvPr id="37" name="Pastille"/>
          <p:cNvSpPr/>
          <p:nvPr/>
        </p:nvSpPr>
        <p:spPr>
          <a:xfrm>
            <a:off x="6336792" y="4965192"/>
            <a:ext cx="384048" cy="384048"/>
          </a:xfrm>
          <a:prstGeom prst="ellipse">
            <a:avLst/>
          </a:prstGeom>
          <a:solidFill>
            <a:schemeClr val="accent4"/>
          </a:solidFill>
          <a:ln w="12700">
            <a:solidFill>
              <a:schemeClr val="accent4"/>
            </a:solidFill>
            <a:prstDash val="solid"/>
          </a:ln>
        </p:spPr>
      </p:sp>
      <p:pic>
        <p:nvPicPr>
          <p:cNvPr id="38" name="Icône FaTimes" descr="FaTimes">    </p:cNvPr>
          <p:cNvPicPr>
            <a:picLocks noChangeAspect="1"/>
          </p:cNvPicPr>
          <p:nvPr/>
        </p:nvPicPr>
        <p:blipFill>
          <a:blip r:embed="rId8"/>
          <a:stretch>
            <a:fillRect/>
          </a:stretch>
        </p:blipFill>
        <p:spPr>
          <a:xfrm>
            <a:off x="6432804" y="5061204"/>
            <a:ext cx="192024" cy="192024"/>
          </a:xfrm>
          <a:prstGeom prst="rect">
            <a:avLst/>
          </a:prstGeom>
        </p:spPr>
      </p:pic>
      <p:sp>
        <p:nvSpPr>
          <p:cNvPr id="39" name="Text 29"/>
          <p:cNvSpPr txBox="1"/>
          <p:nvPr/>
        </p:nvSpPr>
        <p:spPr>
          <a:xfrm>
            <a:off x="6885432" y="4754880"/>
            <a:ext cx="4663440" cy="804672"/>
          </a:xfrm>
          <a:prstGeom prst="rect">
            <a:avLst/>
          </a:prstGeom>
          <a:noFill/>
          <a:ln/>
        </p:spPr>
        <p:txBody>
          <a:bodyPr wrap="square" lIns="0" tIns="0" rIns="0" bIns="0" rtlCol="0" anchor="ctr"/>
          <a:lstStyle/>
          <a:p>
            <a:pPr indent="0" marL="0">
              <a:buNone/>
            </a:pPr>
            <a:r>
              <a:rPr lang="en-US" sz="1400" dirty="0">
                <a:solidFill>
                  <a:schemeClr val="tx1"/>
                </a:solidFill>
              </a:rPr>
              <a:t>Cacher l’usage d’un tri automatique</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Place à l’atelier : « Le trieur de courrier »</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ATELIER</a:t>
            </a:r>
            <a:endParaRPr lang="en-US" sz="1200" dirty="0"/>
          </a:p>
        </p:txBody>
      </p:sp>
      <p:sp>
        <p:nvSpPr>
          <p:cNvPr id="4" name="Text 2"/>
          <p:cNvSpPr txBox="1"/>
          <p:nvPr/>
        </p:nvSpPr>
        <p:spPr>
          <a:xfrm>
            <a:off x="548640" y="1325880"/>
            <a:ext cx="11064240" cy="640080"/>
          </a:xfrm>
          <a:prstGeom prst="rect">
            <a:avLst/>
          </a:prstGeom>
          <a:noFill/>
          <a:ln/>
        </p:spPr>
        <p:txBody>
          <a:bodyPr wrap="square" lIns="0" tIns="0" rIns="0" bIns="0" rtlCol="0" anchor="t"/>
          <a:lstStyle/>
          <a:p>
            <a:pPr indent="0" marL="0">
              <a:buNone/>
            </a:pPr>
            <a:r>
              <a:rPr lang="en-US" sz="1600" dirty="0">
                <a:solidFill>
                  <a:schemeClr val="tx1"/>
                </a:solidFill>
              </a:rPr>
              <a:t>En groupes de 3 ou 4. Vous allez jouer le rôle de la machine, avec des cartes, des feutres et votre livret.</a:t>
            </a:r>
            <a:endParaRPr lang="en-US" sz="1600" dirty="0"/>
          </a:p>
        </p:txBody>
      </p:sp>
      <p:sp>
        <p:nvSpPr>
          <p:cNvPr id="5" name="Carte"/>
          <p:cNvSpPr/>
          <p:nvPr/>
        </p:nvSpPr>
        <p:spPr>
          <a:xfrm>
            <a:off x="548640" y="2194560"/>
            <a:ext cx="3593592" cy="2697480"/>
          </a:xfrm>
          <a:prstGeom prst="roundRect">
            <a:avLst>
              <a:gd name="adj" fmla="val 2712"/>
            </a:avLst>
          </a:prstGeom>
          <a:solidFill>
            <a:schemeClr val="bg2"/>
          </a:solidFill>
          <a:ln w="12700">
            <a:solidFill>
              <a:schemeClr val="bg2"/>
            </a:solidFill>
            <a:prstDash val="solid"/>
          </a:ln>
        </p:spPr>
      </p:sp>
      <p:sp>
        <p:nvSpPr>
          <p:cNvPr id="6" name="Pastille"/>
          <p:cNvSpPr/>
          <p:nvPr/>
        </p:nvSpPr>
        <p:spPr>
          <a:xfrm>
            <a:off x="777240" y="2377440"/>
            <a:ext cx="594360" cy="594360"/>
          </a:xfrm>
          <a:prstGeom prst="ellipse">
            <a:avLst/>
          </a:prstGeom>
          <a:solidFill>
            <a:schemeClr val="accent1"/>
          </a:solidFill>
          <a:ln w="12700">
            <a:solidFill>
              <a:schemeClr val="accent1"/>
            </a:solidFill>
            <a:prstDash val="solid"/>
          </a:ln>
        </p:spPr>
      </p:sp>
      <p:pic>
        <p:nvPicPr>
          <p:cNvPr id="7" name="Icône FaBroom" descr="FaBroom">    </p:cNvPr>
          <p:cNvPicPr>
            <a:picLocks noChangeAspect="1"/>
          </p:cNvPicPr>
          <p:nvPr/>
        </p:nvPicPr>
        <p:blipFill>
          <a:blip r:embed="rId1"/>
          <a:stretch>
            <a:fillRect/>
          </a:stretch>
        </p:blipFill>
        <p:spPr>
          <a:xfrm>
            <a:off x="925830" y="2526030"/>
            <a:ext cx="297180" cy="297180"/>
          </a:xfrm>
          <a:prstGeom prst="rect">
            <a:avLst/>
          </a:prstGeom>
        </p:spPr>
      </p:pic>
      <p:sp>
        <p:nvSpPr>
          <p:cNvPr id="8" name="Text 5"/>
          <p:cNvSpPr txBox="1"/>
          <p:nvPr/>
        </p:nvSpPr>
        <p:spPr>
          <a:xfrm>
            <a:off x="2651760" y="2423160"/>
            <a:ext cx="1325880" cy="548640"/>
          </a:xfrm>
          <a:prstGeom prst="rect">
            <a:avLst/>
          </a:prstGeom>
          <a:noFill/>
          <a:ln/>
        </p:spPr>
        <p:txBody>
          <a:bodyPr wrap="square" lIns="0" tIns="0" rIns="0" bIns="0" rtlCol="0" anchor="t"/>
          <a:lstStyle/>
          <a:p>
            <a:pPr algn="r" indent="0" marL="0">
              <a:buNone/>
            </a:pPr>
            <a:endParaRPr lang="en-US" sz="2000" dirty="0"/>
          </a:p>
        </p:txBody>
      </p:sp>
      <p:sp>
        <p:nvSpPr>
          <p:cNvPr id="9" name="Text 6"/>
          <p:cNvSpPr txBox="1"/>
          <p:nvPr/>
        </p:nvSpPr>
        <p:spPr>
          <a:xfrm>
            <a:off x="777240" y="3108960"/>
            <a:ext cx="3108960" cy="320040"/>
          </a:xfrm>
          <a:prstGeom prst="rect">
            <a:avLst/>
          </a:prstGeom>
          <a:noFill/>
          <a:ln/>
        </p:spPr>
        <p:txBody>
          <a:bodyPr wrap="square" lIns="0" tIns="0" rIns="0" bIns="0" rtlCol="0" anchor="t"/>
          <a:lstStyle/>
          <a:p>
            <a:pPr indent="0" marL="0">
              <a:buNone/>
            </a:pPr>
            <a:r>
              <a:rPr lang="en-US" sz="1300" b="1" dirty="0">
                <a:solidFill>
                  <a:schemeClr val="accent2"/>
                </a:solidFill>
              </a:rPr>
              <a:t>Atelier 1</a:t>
            </a:r>
            <a:endParaRPr lang="en-US" sz="1300" dirty="0"/>
          </a:p>
        </p:txBody>
      </p:sp>
      <p:sp>
        <p:nvSpPr>
          <p:cNvPr id="10" name="Text 7"/>
          <p:cNvSpPr txBox="1"/>
          <p:nvPr/>
        </p:nvSpPr>
        <p:spPr>
          <a:xfrm>
            <a:off x="777240" y="3429000"/>
            <a:ext cx="3108960" cy="411480"/>
          </a:xfrm>
          <a:prstGeom prst="rect">
            <a:avLst/>
          </a:prstGeom>
          <a:noFill/>
          <a:ln/>
        </p:spPr>
        <p:txBody>
          <a:bodyPr wrap="square" lIns="0" tIns="0" rIns="0" bIns="0" rtlCol="0" anchor="t"/>
          <a:lstStyle/>
          <a:p>
            <a:pPr indent="0" marL="0">
              <a:buNone/>
            </a:pPr>
            <a:r>
              <a:rPr lang="en-US" sz="1700" b="1" dirty="0">
                <a:solidFill>
                  <a:schemeClr val="accent1"/>
                </a:solidFill>
              </a:rPr>
              <a:t>Découper et nettoyer</a:t>
            </a:r>
            <a:endParaRPr lang="en-US" sz="1700" dirty="0"/>
          </a:p>
        </p:txBody>
      </p:sp>
      <p:sp>
        <p:nvSpPr>
          <p:cNvPr id="11" name="Text 8"/>
          <p:cNvSpPr txBox="1"/>
          <p:nvPr/>
        </p:nvSpPr>
        <p:spPr>
          <a:xfrm>
            <a:off x="777240" y="3931920"/>
            <a:ext cx="3154680" cy="914400"/>
          </a:xfrm>
          <a:prstGeom prst="rect">
            <a:avLst/>
          </a:prstGeom>
          <a:noFill/>
          <a:ln/>
        </p:spPr>
        <p:txBody>
          <a:bodyPr wrap="square" lIns="0" tIns="0" rIns="0" bIns="0" rtlCol="0" anchor="t"/>
          <a:lstStyle/>
          <a:p>
            <a:pPr indent="0" marL="0">
              <a:buNone/>
            </a:pPr>
            <a:r>
              <a:rPr lang="en-US" sz="1400" dirty="0">
                <a:solidFill>
                  <a:schemeClr val="tx1"/>
                </a:solidFill>
              </a:rPr>
              <a:t>Découper des phrases, repérer les variantes à harmoniser</a:t>
            </a:r>
            <a:endParaRPr lang="en-US" sz="1400" dirty="0"/>
          </a:p>
        </p:txBody>
      </p:sp>
      <p:sp>
        <p:nvSpPr>
          <p:cNvPr id="12" name="Carte"/>
          <p:cNvSpPr/>
          <p:nvPr/>
        </p:nvSpPr>
        <p:spPr>
          <a:xfrm>
            <a:off x="4297680" y="2194560"/>
            <a:ext cx="3593592" cy="2697480"/>
          </a:xfrm>
          <a:prstGeom prst="roundRect">
            <a:avLst>
              <a:gd name="adj" fmla="val 2712"/>
            </a:avLst>
          </a:prstGeom>
          <a:solidFill>
            <a:schemeClr val="bg2"/>
          </a:solidFill>
          <a:ln w="12700">
            <a:solidFill>
              <a:schemeClr val="bg2"/>
            </a:solidFill>
            <a:prstDash val="solid"/>
          </a:ln>
        </p:spPr>
      </p:sp>
      <p:sp>
        <p:nvSpPr>
          <p:cNvPr id="13" name="Pastille"/>
          <p:cNvSpPr/>
          <p:nvPr/>
        </p:nvSpPr>
        <p:spPr>
          <a:xfrm>
            <a:off x="4526280" y="2377440"/>
            <a:ext cx="594360" cy="594360"/>
          </a:xfrm>
          <a:prstGeom prst="ellipse">
            <a:avLst/>
          </a:prstGeom>
          <a:solidFill>
            <a:schemeClr val="accent2"/>
          </a:solidFill>
          <a:ln w="12700">
            <a:solidFill>
              <a:schemeClr val="accent2"/>
            </a:solidFill>
            <a:prstDash val="solid"/>
          </a:ln>
        </p:spPr>
      </p:sp>
      <p:pic>
        <p:nvPicPr>
          <p:cNvPr id="14" name="Icône FaSortAmountDown" descr="FaSortAmountDown">    </p:cNvPr>
          <p:cNvPicPr>
            <a:picLocks noChangeAspect="1"/>
          </p:cNvPicPr>
          <p:nvPr/>
        </p:nvPicPr>
        <p:blipFill>
          <a:blip r:embed="rId2"/>
          <a:stretch>
            <a:fillRect/>
          </a:stretch>
        </p:blipFill>
        <p:spPr>
          <a:xfrm>
            <a:off x="4674870" y="2526030"/>
            <a:ext cx="297180" cy="297180"/>
          </a:xfrm>
          <a:prstGeom prst="rect">
            <a:avLst/>
          </a:prstGeom>
        </p:spPr>
      </p:pic>
      <p:sp>
        <p:nvSpPr>
          <p:cNvPr id="15" name="Text 11"/>
          <p:cNvSpPr txBox="1"/>
          <p:nvPr/>
        </p:nvSpPr>
        <p:spPr>
          <a:xfrm>
            <a:off x="6400800" y="2423160"/>
            <a:ext cx="1325880" cy="548640"/>
          </a:xfrm>
          <a:prstGeom prst="rect">
            <a:avLst/>
          </a:prstGeom>
          <a:noFill/>
          <a:ln/>
        </p:spPr>
        <p:txBody>
          <a:bodyPr wrap="square" lIns="0" tIns="0" rIns="0" bIns="0" rtlCol="0" anchor="t"/>
          <a:lstStyle/>
          <a:p>
            <a:pPr algn="r" indent="0" marL="0">
              <a:buNone/>
            </a:pPr>
            <a:endParaRPr lang="en-US" sz="2000" dirty="0"/>
          </a:p>
        </p:txBody>
      </p:sp>
      <p:sp>
        <p:nvSpPr>
          <p:cNvPr id="16" name="Text 12"/>
          <p:cNvSpPr txBox="1"/>
          <p:nvPr/>
        </p:nvSpPr>
        <p:spPr>
          <a:xfrm>
            <a:off x="4526280" y="3108960"/>
            <a:ext cx="3108960" cy="320040"/>
          </a:xfrm>
          <a:prstGeom prst="rect">
            <a:avLst/>
          </a:prstGeom>
          <a:noFill/>
          <a:ln/>
        </p:spPr>
        <p:txBody>
          <a:bodyPr wrap="square" lIns="0" tIns="0" rIns="0" bIns="0" rtlCol="0" anchor="t"/>
          <a:lstStyle/>
          <a:p>
            <a:pPr indent="0" marL="0">
              <a:buNone/>
            </a:pPr>
            <a:r>
              <a:rPr lang="en-US" sz="1300" b="1" dirty="0">
                <a:solidFill>
                  <a:schemeClr val="accent2"/>
                </a:solidFill>
              </a:rPr>
              <a:t>Atelier 2</a:t>
            </a:r>
            <a:endParaRPr lang="en-US" sz="1300" dirty="0"/>
          </a:p>
        </p:txBody>
      </p:sp>
      <p:sp>
        <p:nvSpPr>
          <p:cNvPr id="17" name="Text 13"/>
          <p:cNvSpPr txBox="1"/>
          <p:nvPr/>
        </p:nvSpPr>
        <p:spPr>
          <a:xfrm>
            <a:off x="4526280" y="3429000"/>
            <a:ext cx="3108960" cy="411480"/>
          </a:xfrm>
          <a:prstGeom prst="rect">
            <a:avLst/>
          </a:prstGeom>
          <a:noFill/>
          <a:ln/>
        </p:spPr>
        <p:txBody>
          <a:bodyPr wrap="square" lIns="0" tIns="0" rIns="0" bIns="0" rtlCol="0" anchor="t"/>
          <a:lstStyle/>
          <a:p>
            <a:pPr indent="0" marL="0">
              <a:buNone/>
            </a:pPr>
            <a:r>
              <a:rPr lang="en-US" sz="1700" b="1" dirty="0">
                <a:solidFill>
                  <a:schemeClr val="accent1"/>
                </a:solidFill>
              </a:rPr>
              <a:t>Le trieur de courrier</a:t>
            </a:r>
            <a:endParaRPr lang="en-US" sz="1700" dirty="0"/>
          </a:p>
        </p:txBody>
      </p:sp>
      <p:sp>
        <p:nvSpPr>
          <p:cNvPr id="18" name="Text 14"/>
          <p:cNvSpPr txBox="1"/>
          <p:nvPr/>
        </p:nvSpPr>
        <p:spPr>
          <a:xfrm>
            <a:off x="4526280" y="3931920"/>
            <a:ext cx="3154680" cy="914400"/>
          </a:xfrm>
          <a:prstGeom prst="rect">
            <a:avLst/>
          </a:prstGeom>
          <a:noFill/>
          <a:ln/>
        </p:spPr>
        <p:txBody>
          <a:bodyPr wrap="square" lIns="0" tIns="0" rIns="0" bIns="0" rtlCol="0" anchor="t"/>
          <a:lstStyle/>
          <a:p>
            <a:pPr indent="0" marL="0">
              <a:buNone/>
            </a:pPr>
            <a:r>
              <a:rPr lang="en-US" sz="1400" dirty="0">
                <a:solidFill>
                  <a:schemeClr val="tx1"/>
                </a:solidFill>
              </a:rPr>
              <a:t>Trier 12 messages, trouver les mots-indices, tester sur 6 nouveaux</a:t>
            </a:r>
            <a:endParaRPr lang="en-US" sz="1400" dirty="0"/>
          </a:p>
        </p:txBody>
      </p:sp>
      <p:sp>
        <p:nvSpPr>
          <p:cNvPr id="19" name="Carte"/>
          <p:cNvSpPr/>
          <p:nvPr/>
        </p:nvSpPr>
        <p:spPr>
          <a:xfrm>
            <a:off x="8046720" y="2194560"/>
            <a:ext cx="3593592" cy="2697480"/>
          </a:xfrm>
          <a:prstGeom prst="roundRect">
            <a:avLst>
              <a:gd name="adj" fmla="val 2712"/>
            </a:avLst>
          </a:prstGeom>
          <a:solidFill>
            <a:schemeClr val="bg2"/>
          </a:solidFill>
          <a:ln w="12700">
            <a:solidFill>
              <a:schemeClr val="bg2"/>
            </a:solidFill>
            <a:prstDash val="solid"/>
          </a:ln>
        </p:spPr>
      </p:sp>
      <p:sp>
        <p:nvSpPr>
          <p:cNvPr id="20" name="Pastille"/>
          <p:cNvSpPr/>
          <p:nvPr/>
        </p:nvSpPr>
        <p:spPr>
          <a:xfrm>
            <a:off x="8275320" y="2377440"/>
            <a:ext cx="594360" cy="594360"/>
          </a:xfrm>
          <a:prstGeom prst="ellipse">
            <a:avLst/>
          </a:prstGeom>
          <a:solidFill>
            <a:schemeClr val="accent1"/>
          </a:solidFill>
          <a:ln w="12700">
            <a:solidFill>
              <a:schemeClr val="accent1"/>
            </a:solidFill>
            <a:prstDash val="solid"/>
          </a:ln>
        </p:spPr>
      </p:sp>
      <p:pic>
        <p:nvPicPr>
          <p:cNvPr id="21" name="Icône FaExclamationTriangle" descr="FaExclamationTriangle">    </p:cNvPr>
          <p:cNvPicPr>
            <a:picLocks noChangeAspect="1"/>
          </p:cNvPicPr>
          <p:nvPr/>
        </p:nvPicPr>
        <p:blipFill>
          <a:blip r:embed="rId3"/>
          <a:stretch>
            <a:fillRect/>
          </a:stretch>
        </p:blipFill>
        <p:spPr>
          <a:xfrm>
            <a:off x="8423910" y="2526030"/>
            <a:ext cx="297180" cy="297180"/>
          </a:xfrm>
          <a:prstGeom prst="rect">
            <a:avLst/>
          </a:prstGeom>
        </p:spPr>
      </p:pic>
      <p:sp>
        <p:nvSpPr>
          <p:cNvPr id="22" name="Text 17"/>
          <p:cNvSpPr txBox="1"/>
          <p:nvPr/>
        </p:nvSpPr>
        <p:spPr>
          <a:xfrm>
            <a:off x="10149840" y="2423160"/>
            <a:ext cx="1325880" cy="548640"/>
          </a:xfrm>
          <a:prstGeom prst="rect">
            <a:avLst/>
          </a:prstGeom>
          <a:noFill/>
          <a:ln/>
        </p:spPr>
        <p:txBody>
          <a:bodyPr wrap="square" lIns="0" tIns="0" rIns="0" bIns="0" rtlCol="0" anchor="t"/>
          <a:lstStyle/>
          <a:p>
            <a:pPr algn="r" indent="0" marL="0">
              <a:buNone/>
            </a:pPr>
            <a:endParaRPr lang="en-US" sz="2000" dirty="0"/>
          </a:p>
        </p:txBody>
      </p:sp>
      <p:sp>
        <p:nvSpPr>
          <p:cNvPr id="23" name="Text 18"/>
          <p:cNvSpPr txBox="1"/>
          <p:nvPr/>
        </p:nvSpPr>
        <p:spPr>
          <a:xfrm>
            <a:off x="8275320" y="3108960"/>
            <a:ext cx="3108960" cy="320040"/>
          </a:xfrm>
          <a:prstGeom prst="rect">
            <a:avLst/>
          </a:prstGeom>
          <a:noFill/>
          <a:ln/>
        </p:spPr>
        <p:txBody>
          <a:bodyPr wrap="square" lIns="0" tIns="0" rIns="0" bIns="0" rtlCol="0" anchor="t"/>
          <a:lstStyle/>
          <a:p>
            <a:pPr indent="0" marL="0">
              <a:buNone/>
            </a:pPr>
            <a:r>
              <a:rPr lang="en-US" sz="1300" b="1" dirty="0">
                <a:solidFill>
                  <a:schemeClr val="accent2"/>
                </a:solidFill>
              </a:rPr>
              <a:t>Atelier 3</a:t>
            </a:r>
            <a:endParaRPr lang="en-US" sz="1300" dirty="0"/>
          </a:p>
        </p:txBody>
      </p:sp>
      <p:sp>
        <p:nvSpPr>
          <p:cNvPr id="24" name="Text 19"/>
          <p:cNvSpPr txBox="1"/>
          <p:nvPr/>
        </p:nvSpPr>
        <p:spPr>
          <a:xfrm>
            <a:off x="8275320" y="3429000"/>
            <a:ext cx="3108960" cy="411480"/>
          </a:xfrm>
          <a:prstGeom prst="rect">
            <a:avLst/>
          </a:prstGeom>
          <a:noFill/>
          <a:ln/>
        </p:spPr>
        <p:txBody>
          <a:bodyPr wrap="square" lIns="0" tIns="0" rIns="0" bIns="0" rtlCol="0" anchor="t"/>
          <a:lstStyle/>
          <a:p>
            <a:pPr indent="0" marL="0">
              <a:buNone/>
            </a:pPr>
            <a:r>
              <a:rPr lang="en-US" sz="1700" b="1" dirty="0">
                <a:solidFill>
                  <a:schemeClr val="accent1"/>
                </a:solidFill>
              </a:rPr>
              <a:t>Où la machine se trompe</a:t>
            </a:r>
            <a:endParaRPr lang="en-US" sz="1700" dirty="0"/>
          </a:p>
        </p:txBody>
      </p:sp>
      <p:sp>
        <p:nvSpPr>
          <p:cNvPr id="25" name="Text 20"/>
          <p:cNvSpPr txBox="1"/>
          <p:nvPr/>
        </p:nvSpPr>
        <p:spPr>
          <a:xfrm>
            <a:off x="8275320" y="3931920"/>
            <a:ext cx="3154680" cy="914400"/>
          </a:xfrm>
          <a:prstGeom prst="rect">
            <a:avLst/>
          </a:prstGeom>
          <a:noFill/>
          <a:ln/>
        </p:spPr>
        <p:txBody>
          <a:bodyPr wrap="square" lIns="0" tIns="0" rIns="0" bIns="0" rtlCol="0" anchor="t"/>
          <a:lstStyle/>
          <a:p>
            <a:pPr indent="0" marL="0">
              <a:buNone/>
            </a:pPr>
            <a:r>
              <a:rPr lang="en-US" sz="1400" dirty="0">
                <a:solidFill>
                  <a:schemeClr val="tx1"/>
                </a:solidFill>
              </a:rPr>
              <a:t>Analyser des erreurs, discuter des précautions</a:t>
            </a:r>
            <a:endParaRPr lang="en-US" sz="1400" dirty="0"/>
          </a:p>
        </p:txBody>
      </p:sp>
      <p:sp>
        <p:nvSpPr>
          <p:cNvPr id="26" name="À retenir"/>
          <p:cNvSpPr/>
          <p:nvPr/>
        </p:nvSpPr>
        <p:spPr>
          <a:xfrm>
            <a:off x="548640" y="5166360"/>
            <a:ext cx="11091672" cy="868680"/>
          </a:xfrm>
          <a:prstGeom prst="roundRect">
            <a:avLst>
              <a:gd name="adj" fmla="val 8421"/>
            </a:avLst>
          </a:prstGeom>
          <a:solidFill>
            <a:schemeClr val="accent3">
              <a:alpha val="22000"/>
            </a:schemeClr>
          </a:solidFill>
          <a:ln w="12700">
            <a:solidFill>
              <a:schemeClr val="accent3"/>
            </a:solidFill>
            <a:prstDash val="solid"/>
          </a:ln>
        </p:spPr>
      </p:sp>
      <p:pic>
        <p:nvPicPr>
          <p:cNvPr id="27" name="Image 3" descr="À retenir">    </p:cNvPr>
          <p:cNvPicPr>
            <a:picLocks noChangeAspect="1"/>
          </p:cNvPicPr>
          <p:nvPr/>
        </p:nvPicPr>
        <p:blipFill>
          <a:blip r:embed="rId4"/>
          <a:stretch>
            <a:fillRect/>
          </a:stretch>
        </p:blipFill>
        <p:spPr>
          <a:xfrm>
            <a:off x="777240" y="5417820"/>
            <a:ext cx="365760" cy="365760"/>
          </a:xfrm>
          <a:prstGeom prst="rect">
            <a:avLst/>
          </a:prstGeom>
        </p:spPr>
      </p:pic>
      <p:sp>
        <p:nvSpPr>
          <p:cNvPr id="28" name="Text 22"/>
          <p:cNvSpPr txBox="1"/>
          <p:nvPr/>
        </p:nvSpPr>
        <p:spPr>
          <a:xfrm>
            <a:off x="1371600" y="5166360"/>
            <a:ext cx="10058400" cy="868680"/>
          </a:xfrm>
          <a:prstGeom prst="rect">
            <a:avLst/>
          </a:prstGeom>
          <a:noFill/>
          <a:ln/>
        </p:spPr>
        <p:txBody>
          <a:bodyPr wrap="square" lIns="0" tIns="0" rIns="0" bIns="0" rtlCol="0" anchor="ctr"/>
          <a:lstStyle/>
          <a:p>
            <a:pPr indent="0" marL="0">
              <a:buNone/>
            </a:pPr>
            <a:r>
              <a:rPr lang="en-US" sz="1500" b="1" dirty="0">
                <a:solidFill>
                  <a:schemeClr val="tx1"/>
                </a:solidFill>
              </a:rPr>
              <a:t>À retenir : </a:t>
            </a:r>
            <a:r>
              <a:rPr lang="en-US" sz="1500" dirty="0">
                <a:solidFill>
                  <a:schemeClr val="tx1"/>
                </a:solidFill>
              </a:rPr>
              <a:t>règle du jeu : interdit de « comprendre » les messages. Vous ne regardez que les mots, vous comptez, vous appliquez la règle.</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Consigne de l’atelier 2 : le trieur de courrier</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ATELIER</a:t>
            </a:r>
            <a:endParaRPr lang="en-US" sz="1200" dirty="0"/>
          </a:p>
        </p:txBody>
      </p:sp>
      <p:sp>
        <p:nvSpPr>
          <p:cNvPr id="4" name="Carte"/>
          <p:cNvSpPr/>
          <p:nvPr/>
        </p:nvSpPr>
        <p:spPr>
          <a:xfrm>
            <a:off x="548640" y="1463040"/>
            <a:ext cx="2656332" cy="3474720"/>
          </a:xfrm>
          <a:prstGeom prst="roundRect">
            <a:avLst>
              <a:gd name="adj" fmla="val 2754"/>
            </a:avLst>
          </a:prstGeom>
          <a:solidFill>
            <a:schemeClr val="bg2"/>
          </a:solidFill>
          <a:ln w="12700">
            <a:solidFill>
              <a:schemeClr val="bg2"/>
            </a:solidFill>
            <a:prstDash val="solid"/>
          </a:ln>
        </p:spPr>
      </p:sp>
      <p:sp>
        <p:nvSpPr>
          <p:cNvPr id="5" name="Pastille"/>
          <p:cNvSpPr/>
          <p:nvPr/>
        </p:nvSpPr>
        <p:spPr>
          <a:xfrm>
            <a:off x="731520" y="1645920"/>
            <a:ext cx="411480" cy="411480"/>
          </a:xfrm>
          <a:prstGeom prst="ellipse">
            <a:avLst/>
          </a:prstGeom>
          <a:solidFill>
            <a:schemeClr val="accent1"/>
          </a:solidFill>
          <a:ln w="12700">
            <a:solidFill>
              <a:schemeClr val="accent1"/>
            </a:solidFill>
            <a:prstDash val="solid"/>
          </a:ln>
        </p:spPr>
      </p:sp>
      <p:sp>
        <p:nvSpPr>
          <p:cNvPr id="6" name="Numéro 1"/>
          <p:cNvSpPr txBox="1"/>
          <p:nvPr/>
        </p:nvSpPr>
        <p:spPr>
          <a:xfrm>
            <a:off x="731520" y="164592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Pastille"/>
          <p:cNvSpPr/>
          <p:nvPr/>
        </p:nvSpPr>
        <p:spPr>
          <a:xfrm>
            <a:off x="2473452" y="1600200"/>
            <a:ext cx="548640" cy="548640"/>
          </a:xfrm>
          <a:prstGeom prst="ellipse">
            <a:avLst/>
          </a:prstGeom>
          <a:solidFill>
            <a:schemeClr val="accent1"/>
          </a:solidFill>
          <a:ln w="12700">
            <a:solidFill>
              <a:schemeClr val="accent1"/>
            </a:solidFill>
            <a:prstDash val="solid"/>
          </a:ln>
        </p:spPr>
      </p:sp>
      <p:pic>
        <p:nvPicPr>
          <p:cNvPr id="8" name="Icône FaInbox" descr="FaInbox">    </p:cNvPr>
          <p:cNvPicPr>
            <a:picLocks noChangeAspect="1"/>
          </p:cNvPicPr>
          <p:nvPr/>
        </p:nvPicPr>
        <p:blipFill>
          <a:blip r:embed="rId1"/>
          <a:stretch>
            <a:fillRect/>
          </a:stretch>
        </p:blipFill>
        <p:spPr>
          <a:xfrm>
            <a:off x="2610612" y="1737360"/>
            <a:ext cx="274320" cy="274320"/>
          </a:xfrm>
          <a:prstGeom prst="rect">
            <a:avLst/>
          </a:prstGeom>
        </p:spPr>
      </p:pic>
      <p:sp>
        <p:nvSpPr>
          <p:cNvPr id="9" name="Text 6"/>
          <p:cNvSpPr txBox="1"/>
          <p:nvPr/>
        </p:nvSpPr>
        <p:spPr>
          <a:xfrm>
            <a:off x="731520" y="2286000"/>
            <a:ext cx="2290572" cy="731520"/>
          </a:xfrm>
          <a:prstGeom prst="rect">
            <a:avLst/>
          </a:prstGeom>
          <a:noFill/>
          <a:ln/>
        </p:spPr>
        <p:txBody>
          <a:bodyPr wrap="square" lIns="0" tIns="0" rIns="0" bIns="0" rtlCol="0" anchor="t"/>
          <a:lstStyle/>
          <a:p>
            <a:pPr indent="0" marL="0">
              <a:buNone/>
            </a:pPr>
            <a:r>
              <a:rPr lang="en-US" sz="1600" b="1" dirty="0">
                <a:solidFill>
                  <a:schemeClr val="accent1"/>
                </a:solidFill>
              </a:rPr>
              <a:t>A · Trier</a:t>
            </a:r>
            <a:endParaRPr lang="en-US" sz="1600" dirty="0"/>
          </a:p>
        </p:txBody>
      </p:sp>
      <p:sp>
        <p:nvSpPr>
          <p:cNvPr id="10" name="Text 7"/>
          <p:cNvSpPr txBox="1"/>
          <p:nvPr/>
        </p:nvSpPr>
        <p:spPr>
          <a:xfrm>
            <a:off x="731520" y="3063240"/>
            <a:ext cx="2290572" cy="1783080"/>
          </a:xfrm>
          <a:prstGeom prst="rect">
            <a:avLst/>
          </a:prstGeom>
          <a:noFill/>
          <a:ln/>
        </p:spPr>
        <p:txBody>
          <a:bodyPr wrap="square" lIns="0" tIns="0" rIns="0" bIns="0" rtlCol="0" anchor="t"/>
          <a:lstStyle/>
          <a:p>
            <a:pPr indent="0" marL="0">
              <a:buNone/>
            </a:pPr>
            <a:r>
              <a:rPr lang="en-US" sz="1450" dirty="0">
                <a:solidFill>
                  <a:schemeClr val="tx1"/>
                </a:solidFill>
              </a:rPr>
              <a:t>Classez les 12 cartes en trois piles : santé, état civil, éducation.</a:t>
            </a:r>
            <a:endParaRPr lang="en-US" sz="1450" dirty="0"/>
          </a:p>
        </p:txBody>
      </p:sp>
      <p:sp>
        <p:nvSpPr>
          <p:cNvPr id="11" name="Carte"/>
          <p:cNvSpPr/>
          <p:nvPr/>
        </p:nvSpPr>
        <p:spPr>
          <a:xfrm>
            <a:off x="3360420" y="1463040"/>
            <a:ext cx="2656332" cy="3474720"/>
          </a:xfrm>
          <a:prstGeom prst="roundRect">
            <a:avLst>
              <a:gd name="adj" fmla="val 2754"/>
            </a:avLst>
          </a:prstGeom>
          <a:solidFill>
            <a:schemeClr val="bg2"/>
          </a:solidFill>
          <a:ln w="12700">
            <a:solidFill>
              <a:schemeClr val="bg2"/>
            </a:solidFill>
            <a:prstDash val="solid"/>
          </a:ln>
        </p:spPr>
      </p:sp>
      <p:sp>
        <p:nvSpPr>
          <p:cNvPr id="12" name="Pastille"/>
          <p:cNvSpPr/>
          <p:nvPr/>
        </p:nvSpPr>
        <p:spPr>
          <a:xfrm>
            <a:off x="3543300" y="1645920"/>
            <a:ext cx="411480" cy="411480"/>
          </a:xfrm>
          <a:prstGeom prst="ellipse">
            <a:avLst/>
          </a:prstGeom>
          <a:solidFill>
            <a:schemeClr val="accent2"/>
          </a:solidFill>
          <a:ln w="12700">
            <a:solidFill>
              <a:schemeClr val="accent2"/>
            </a:solidFill>
            <a:prstDash val="solid"/>
          </a:ln>
        </p:spPr>
      </p:sp>
      <p:sp>
        <p:nvSpPr>
          <p:cNvPr id="13" name="Numéro 2"/>
          <p:cNvSpPr txBox="1"/>
          <p:nvPr/>
        </p:nvSpPr>
        <p:spPr>
          <a:xfrm>
            <a:off x="3543300" y="164592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Pastille"/>
          <p:cNvSpPr/>
          <p:nvPr/>
        </p:nvSpPr>
        <p:spPr>
          <a:xfrm>
            <a:off x="5285232" y="1600200"/>
            <a:ext cx="548640" cy="548640"/>
          </a:xfrm>
          <a:prstGeom prst="ellipse">
            <a:avLst/>
          </a:prstGeom>
          <a:solidFill>
            <a:schemeClr val="accent2"/>
          </a:solidFill>
          <a:ln w="12700">
            <a:solidFill>
              <a:schemeClr val="accent2"/>
            </a:solidFill>
            <a:prstDash val="solid"/>
          </a:ln>
        </p:spPr>
      </p:sp>
      <p:pic>
        <p:nvPicPr>
          <p:cNvPr id="15" name="Icône FaSearch" descr="FaSearch">    </p:cNvPr>
          <p:cNvPicPr>
            <a:picLocks noChangeAspect="1"/>
          </p:cNvPicPr>
          <p:nvPr/>
        </p:nvPicPr>
        <p:blipFill>
          <a:blip r:embed="rId2"/>
          <a:stretch>
            <a:fillRect/>
          </a:stretch>
        </p:blipFill>
        <p:spPr>
          <a:xfrm>
            <a:off x="5422392" y="1737360"/>
            <a:ext cx="274320" cy="274320"/>
          </a:xfrm>
          <a:prstGeom prst="rect">
            <a:avLst/>
          </a:prstGeom>
        </p:spPr>
      </p:pic>
      <p:sp>
        <p:nvSpPr>
          <p:cNvPr id="16" name="Text 12"/>
          <p:cNvSpPr txBox="1"/>
          <p:nvPr/>
        </p:nvSpPr>
        <p:spPr>
          <a:xfrm>
            <a:off x="3543300" y="2286000"/>
            <a:ext cx="2290572" cy="731520"/>
          </a:xfrm>
          <a:prstGeom prst="rect">
            <a:avLst/>
          </a:prstGeom>
          <a:noFill/>
          <a:ln/>
        </p:spPr>
        <p:txBody>
          <a:bodyPr wrap="square" lIns="0" tIns="0" rIns="0" bIns="0" rtlCol="0" anchor="t"/>
          <a:lstStyle/>
          <a:p>
            <a:pPr indent="0" marL="0">
              <a:buNone/>
            </a:pPr>
            <a:r>
              <a:rPr lang="en-US" sz="1600" b="1" dirty="0">
                <a:solidFill>
                  <a:schemeClr val="accent1"/>
                </a:solidFill>
              </a:rPr>
              <a:t>B · Indices</a:t>
            </a:r>
            <a:endParaRPr lang="en-US" sz="1600" dirty="0"/>
          </a:p>
        </p:txBody>
      </p:sp>
      <p:sp>
        <p:nvSpPr>
          <p:cNvPr id="17" name="Text 13"/>
          <p:cNvSpPr txBox="1"/>
          <p:nvPr/>
        </p:nvSpPr>
        <p:spPr>
          <a:xfrm>
            <a:off x="3543300" y="3063240"/>
            <a:ext cx="2290572" cy="1783080"/>
          </a:xfrm>
          <a:prstGeom prst="rect">
            <a:avLst/>
          </a:prstGeom>
          <a:noFill/>
          <a:ln/>
        </p:spPr>
        <p:txBody>
          <a:bodyPr wrap="square" lIns="0" tIns="0" rIns="0" bIns="0" rtlCol="0" anchor="t"/>
          <a:lstStyle/>
          <a:p>
            <a:pPr indent="0" marL="0">
              <a:buNone/>
            </a:pPr>
            <a:r>
              <a:rPr lang="en-US" sz="1450" dirty="0">
                <a:solidFill>
                  <a:schemeClr val="tx1"/>
                </a:solidFill>
              </a:rPr>
              <a:t>Mode machine : relevez 5 mots-indices par pile, écartez les mots passe-partout.</a:t>
            </a:r>
            <a:endParaRPr lang="en-US" sz="1450" dirty="0"/>
          </a:p>
        </p:txBody>
      </p:sp>
      <p:sp>
        <p:nvSpPr>
          <p:cNvPr id="18" name="Carte"/>
          <p:cNvSpPr/>
          <p:nvPr/>
        </p:nvSpPr>
        <p:spPr>
          <a:xfrm>
            <a:off x="6172200" y="1463040"/>
            <a:ext cx="2656332" cy="3474720"/>
          </a:xfrm>
          <a:prstGeom prst="roundRect">
            <a:avLst>
              <a:gd name="adj" fmla="val 2754"/>
            </a:avLst>
          </a:prstGeom>
          <a:solidFill>
            <a:schemeClr val="bg2"/>
          </a:solidFill>
          <a:ln w="12700">
            <a:solidFill>
              <a:schemeClr val="bg2"/>
            </a:solidFill>
            <a:prstDash val="solid"/>
          </a:ln>
        </p:spPr>
      </p:sp>
      <p:sp>
        <p:nvSpPr>
          <p:cNvPr id="19" name="Pastille"/>
          <p:cNvSpPr/>
          <p:nvPr/>
        </p:nvSpPr>
        <p:spPr>
          <a:xfrm>
            <a:off x="6355080" y="1645920"/>
            <a:ext cx="411480" cy="411480"/>
          </a:xfrm>
          <a:prstGeom prst="ellipse">
            <a:avLst/>
          </a:prstGeom>
          <a:solidFill>
            <a:schemeClr val="accent1"/>
          </a:solidFill>
          <a:ln w="12700">
            <a:solidFill>
              <a:schemeClr val="accent1"/>
            </a:solidFill>
            <a:prstDash val="solid"/>
          </a:ln>
        </p:spPr>
      </p:sp>
      <p:sp>
        <p:nvSpPr>
          <p:cNvPr id="20" name="Numéro 3"/>
          <p:cNvSpPr txBox="1"/>
          <p:nvPr/>
        </p:nvSpPr>
        <p:spPr>
          <a:xfrm>
            <a:off x="6355080" y="164592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1" name="Pastille"/>
          <p:cNvSpPr/>
          <p:nvPr/>
        </p:nvSpPr>
        <p:spPr>
          <a:xfrm>
            <a:off x="8097012" y="1600200"/>
            <a:ext cx="548640" cy="548640"/>
          </a:xfrm>
          <a:prstGeom prst="ellipse">
            <a:avLst/>
          </a:prstGeom>
          <a:solidFill>
            <a:schemeClr val="accent1"/>
          </a:solidFill>
          <a:ln w="12700">
            <a:solidFill>
              <a:schemeClr val="accent1"/>
            </a:solidFill>
            <a:prstDash val="solid"/>
          </a:ln>
        </p:spPr>
      </p:sp>
      <p:pic>
        <p:nvPicPr>
          <p:cNvPr id="22" name="Icône FaCalculator" descr="FaCalculator">    </p:cNvPr>
          <p:cNvPicPr>
            <a:picLocks noChangeAspect="1"/>
          </p:cNvPicPr>
          <p:nvPr/>
        </p:nvPicPr>
        <p:blipFill>
          <a:blip r:embed="rId3"/>
          <a:stretch>
            <a:fillRect/>
          </a:stretch>
        </p:blipFill>
        <p:spPr>
          <a:xfrm>
            <a:off x="8234172" y="1737360"/>
            <a:ext cx="274320" cy="274320"/>
          </a:xfrm>
          <a:prstGeom prst="rect">
            <a:avLst/>
          </a:prstGeom>
        </p:spPr>
      </p:pic>
      <p:sp>
        <p:nvSpPr>
          <p:cNvPr id="23" name="Text 18"/>
          <p:cNvSpPr txBox="1"/>
          <p:nvPr/>
        </p:nvSpPr>
        <p:spPr>
          <a:xfrm>
            <a:off x="6355080" y="2286000"/>
            <a:ext cx="2290572" cy="731520"/>
          </a:xfrm>
          <a:prstGeom prst="rect">
            <a:avLst/>
          </a:prstGeom>
          <a:noFill/>
          <a:ln/>
        </p:spPr>
        <p:txBody>
          <a:bodyPr wrap="square" lIns="0" tIns="0" rIns="0" bIns="0" rtlCol="0" anchor="t"/>
          <a:lstStyle/>
          <a:p>
            <a:pPr indent="0" marL="0">
              <a:buNone/>
            </a:pPr>
            <a:r>
              <a:rPr lang="en-US" sz="1600" b="1" dirty="0">
                <a:solidFill>
                  <a:schemeClr val="accent1"/>
                </a:solidFill>
              </a:rPr>
              <a:t>C · Tester</a:t>
            </a:r>
            <a:endParaRPr lang="en-US" sz="1600" dirty="0"/>
          </a:p>
        </p:txBody>
      </p:sp>
      <p:sp>
        <p:nvSpPr>
          <p:cNvPr id="24" name="Text 19"/>
          <p:cNvSpPr txBox="1"/>
          <p:nvPr/>
        </p:nvSpPr>
        <p:spPr>
          <a:xfrm>
            <a:off x="6355080" y="3063240"/>
            <a:ext cx="2290572" cy="1783080"/>
          </a:xfrm>
          <a:prstGeom prst="rect">
            <a:avLst/>
          </a:prstGeom>
          <a:noFill/>
          <a:ln/>
        </p:spPr>
        <p:txBody>
          <a:bodyPr wrap="square" lIns="0" tIns="0" rIns="0" bIns="0" rtlCol="0" anchor="t"/>
          <a:lstStyle/>
          <a:p>
            <a:pPr indent="0" marL="0">
              <a:buNone/>
            </a:pPr>
            <a:r>
              <a:rPr lang="en-US" sz="1450" dirty="0">
                <a:solidFill>
                  <a:schemeClr val="tx1"/>
                </a:solidFill>
              </a:rPr>
              <a:t>Comptez les indices pour 6 nouveaux messages. Égalité ou zéro : « je ne sais pas ».</a:t>
            </a:r>
            <a:endParaRPr lang="en-US" sz="1450" dirty="0"/>
          </a:p>
        </p:txBody>
      </p:sp>
      <p:sp>
        <p:nvSpPr>
          <p:cNvPr id="25" name="Carte"/>
          <p:cNvSpPr/>
          <p:nvPr/>
        </p:nvSpPr>
        <p:spPr>
          <a:xfrm>
            <a:off x="8983980" y="1463040"/>
            <a:ext cx="2656332" cy="3474720"/>
          </a:xfrm>
          <a:prstGeom prst="roundRect">
            <a:avLst>
              <a:gd name="adj" fmla="val 2754"/>
            </a:avLst>
          </a:prstGeom>
          <a:solidFill>
            <a:schemeClr val="bg2"/>
          </a:solidFill>
          <a:ln w="12700">
            <a:solidFill>
              <a:schemeClr val="bg2"/>
            </a:solidFill>
            <a:prstDash val="solid"/>
          </a:ln>
        </p:spPr>
      </p:sp>
      <p:sp>
        <p:nvSpPr>
          <p:cNvPr id="26" name="Pastille"/>
          <p:cNvSpPr/>
          <p:nvPr/>
        </p:nvSpPr>
        <p:spPr>
          <a:xfrm>
            <a:off x="9166860" y="1645920"/>
            <a:ext cx="411480" cy="411480"/>
          </a:xfrm>
          <a:prstGeom prst="ellipse">
            <a:avLst/>
          </a:prstGeom>
          <a:solidFill>
            <a:schemeClr val="accent2"/>
          </a:solidFill>
          <a:ln w="12700">
            <a:solidFill>
              <a:schemeClr val="accent2"/>
            </a:solidFill>
            <a:prstDash val="solid"/>
          </a:ln>
        </p:spPr>
      </p:sp>
      <p:sp>
        <p:nvSpPr>
          <p:cNvPr id="27" name="Numéro 4"/>
          <p:cNvSpPr txBox="1"/>
          <p:nvPr/>
        </p:nvSpPr>
        <p:spPr>
          <a:xfrm>
            <a:off x="9166860" y="164592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8" name="Pastille"/>
          <p:cNvSpPr/>
          <p:nvPr/>
        </p:nvSpPr>
        <p:spPr>
          <a:xfrm>
            <a:off x="10908792" y="1600200"/>
            <a:ext cx="548640" cy="548640"/>
          </a:xfrm>
          <a:prstGeom prst="ellipse">
            <a:avLst/>
          </a:prstGeom>
          <a:solidFill>
            <a:schemeClr val="accent2"/>
          </a:solidFill>
          <a:ln w="12700">
            <a:solidFill>
              <a:schemeClr val="accent2"/>
            </a:solidFill>
            <a:prstDash val="solid"/>
          </a:ln>
        </p:spPr>
      </p:sp>
      <p:pic>
        <p:nvPicPr>
          <p:cNvPr id="29" name="Icône FaBalanceScale" descr="FaBalanceScale">    </p:cNvPr>
          <p:cNvPicPr>
            <a:picLocks noChangeAspect="1"/>
          </p:cNvPicPr>
          <p:nvPr/>
        </p:nvPicPr>
        <p:blipFill>
          <a:blip r:embed="rId4"/>
          <a:stretch>
            <a:fillRect/>
          </a:stretch>
        </p:blipFill>
        <p:spPr>
          <a:xfrm>
            <a:off x="11045952" y="1737360"/>
            <a:ext cx="274320" cy="274320"/>
          </a:xfrm>
          <a:prstGeom prst="rect">
            <a:avLst/>
          </a:prstGeom>
        </p:spPr>
      </p:pic>
      <p:sp>
        <p:nvSpPr>
          <p:cNvPr id="30" name="Text 24"/>
          <p:cNvSpPr txBox="1"/>
          <p:nvPr/>
        </p:nvSpPr>
        <p:spPr>
          <a:xfrm>
            <a:off x="9166860" y="2286000"/>
            <a:ext cx="2290572" cy="731520"/>
          </a:xfrm>
          <a:prstGeom prst="rect">
            <a:avLst/>
          </a:prstGeom>
          <a:noFill/>
          <a:ln/>
        </p:spPr>
        <p:txBody>
          <a:bodyPr wrap="square" lIns="0" tIns="0" rIns="0" bIns="0" rtlCol="0" anchor="t"/>
          <a:lstStyle/>
          <a:p>
            <a:pPr indent="0" marL="0">
              <a:buNone/>
            </a:pPr>
            <a:r>
              <a:rPr lang="en-US" sz="1600" b="1" dirty="0">
                <a:solidFill>
                  <a:schemeClr val="accent1"/>
                </a:solidFill>
              </a:rPr>
              <a:t>D · Comparer</a:t>
            </a:r>
            <a:endParaRPr lang="en-US" sz="1600" dirty="0"/>
          </a:p>
        </p:txBody>
      </p:sp>
      <p:sp>
        <p:nvSpPr>
          <p:cNvPr id="31" name="Text 25"/>
          <p:cNvSpPr txBox="1"/>
          <p:nvPr/>
        </p:nvSpPr>
        <p:spPr>
          <a:xfrm>
            <a:off x="9166860" y="3063240"/>
            <a:ext cx="2290572" cy="1783080"/>
          </a:xfrm>
          <a:prstGeom prst="rect">
            <a:avLst/>
          </a:prstGeom>
          <a:noFill/>
          <a:ln/>
        </p:spPr>
        <p:txBody>
          <a:bodyPr wrap="square" lIns="0" tIns="0" rIns="0" bIns="0" rtlCol="0" anchor="t"/>
          <a:lstStyle/>
          <a:p>
            <a:pPr indent="0" marL="0">
              <a:buNone/>
            </a:pPr>
            <a:r>
              <a:rPr lang="en-US" sz="1450" dirty="0">
                <a:solidFill>
                  <a:schemeClr val="tx1"/>
                </a:solidFill>
              </a:rPr>
              <a:t>Comparez avec votre intuition. Quel message vous a trompés ?</a:t>
            </a:r>
            <a:endParaRPr lang="en-US" sz="1450" dirty="0"/>
          </a:p>
        </p:txBody>
      </p:sp>
      <p:sp>
        <p:nvSpPr>
          <p:cNvPr id="32" name="À retenir"/>
          <p:cNvSpPr/>
          <p:nvPr/>
        </p:nvSpPr>
        <p:spPr>
          <a:xfrm>
            <a:off x="548640" y="5349240"/>
            <a:ext cx="11091672" cy="777240"/>
          </a:xfrm>
          <a:prstGeom prst="roundRect">
            <a:avLst>
              <a:gd name="adj" fmla="val 9412"/>
            </a:avLst>
          </a:prstGeom>
          <a:solidFill>
            <a:schemeClr val="accent3">
              <a:alpha val="22000"/>
            </a:schemeClr>
          </a:solidFill>
          <a:ln w="12700">
            <a:solidFill>
              <a:schemeClr val="accent3"/>
            </a:solidFill>
            <a:prstDash val="solid"/>
          </a:ln>
        </p:spPr>
      </p:sp>
      <p:pic>
        <p:nvPicPr>
          <p:cNvPr id="33" name="Image 4" descr="À retenir">    </p:cNvPr>
          <p:cNvPicPr>
            <a:picLocks noChangeAspect="1"/>
          </p:cNvPicPr>
          <p:nvPr/>
        </p:nvPicPr>
        <p:blipFill>
          <a:blip r:embed="rId5"/>
          <a:stretch>
            <a:fillRect/>
          </a:stretch>
        </p:blipFill>
        <p:spPr>
          <a:xfrm>
            <a:off x="777240" y="5554980"/>
            <a:ext cx="365760" cy="365760"/>
          </a:xfrm>
          <a:prstGeom prst="rect">
            <a:avLst/>
          </a:prstGeom>
        </p:spPr>
      </p:pic>
      <p:sp>
        <p:nvSpPr>
          <p:cNvPr id="34" name="Text 27"/>
          <p:cNvSpPr txBox="1"/>
          <p:nvPr/>
        </p:nvSpPr>
        <p:spPr>
          <a:xfrm>
            <a:off x="1371600" y="5349240"/>
            <a:ext cx="10058400" cy="777240"/>
          </a:xfrm>
          <a:prstGeom prst="rect">
            <a:avLst/>
          </a:prstGeom>
          <a:noFill/>
          <a:ln/>
        </p:spPr>
        <p:txBody>
          <a:bodyPr wrap="square" lIns="0" tIns="0" rIns="0" bIns="0" rtlCol="0" anchor="ctr"/>
          <a:lstStyle/>
          <a:p>
            <a:pPr indent="0" marL="0">
              <a:buNone/>
            </a:pPr>
            <a:r>
              <a:rPr lang="en-US" sz="1500" b="1" dirty="0">
                <a:solidFill>
                  <a:schemeClr val="tx1"/>
                </a:solidFill>
              </a:rPr>
              <a:t>À retenir : </a:t>
            </a:r>
            <a:r>
              <a:rPr lang="en-US" sz="1500" dirty="0">
                <a:solidFill>
                  <a:schemeClr val="tx1"/>
                </a:solidFill>
              </a:rPr>
              <a:t>rapporteur par groupe : une courte présentation de vos mots-indices et votre pire erreur.</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Six idées à retenir</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MODULE 1  ·  FONDAMENTAUX DU NLP</a:t>
            </a:r>
            <a:endParaRPr lang="en-US" sz="1200" dirty="0"/>
          </a:p>
        </p:txBody>
      </p:sp>
      <p:sp>
        <p:nvSpPr>
          <p:cNvPr id="4" name="Carte"/>
          <p:cNvSpPr/>
          <p:nvPr/>
        </p:nvSpPr>
        <p:spPr>
          <a:xfrm>
            <a:off x="548640" y="1508760"/>
            <a:ext cx="3593592" cy="2057400"/>
          </a:xfrm>
          <a:prstGeom prst="roundRect">
            <a:avLst>
              <a:gd name="adj" fmla="val 3556"/>
            </a:avLst>
          </a:prstGeom>
          <a:solidFill>
            <a:schemeClr val="bg2"/>
          </a:solidFill>
          <a:ln w="12700">
            <a:solidFill>
              <a:schemeClr val="bg2"/>
            </a:solidFill>
            <a:prstDash val="solid"/>
          </a:ln>
        </p:spPr>
      </p:sp>
      <p:sp>
        <p:nvSpPr>
          <p:cNvPr id="5" name="Pastille"/>
          <p:cNvSpPr/>
          <p:nvPr/>
        </p:nvSpPr>
        <p:spPr>
          <a:xfrm>
            <a:off x="777240" y="1737360"/>
            <a:ext cx="685800" cy="685800"/>
          </a:xfrm>
          <a:prstGeom prst="ellipse">
            <a:avLst/>
          </a:prstGeom>
          <a:solidFill>
            <a:schemeClr val="accent1"/>
          </a:solidFill>
          <a:ln w="12700">
            <a:solidFill>
              <a:schemeClr val="accent1"/>
            </a:solidFill>
            <a:prstDash val="solid"/>
          </a:ln>
        </p:spPr>
      </p:sp>
      <p:pic>
        <p:nvPicPr>
          <p:cNvPr id="6" name="Icône FaCommentDots" descr="FaCommentDots">    </p:cNvPr>
          <p:cNvPicPr>
            <a:picLocks noChangeAspect="1"/>
          </p:cNvPicPr>
          <p:nvPr/>
        </p:nvPicPr>
        <p:blipFill>
          <a:blip r:embed="rId1"/>
          <a:stretch>
            <a:fillRect/>
          </a:stretch>
        </p:blipFill>
        <p:spPr>
          <a:xfrm>
            <a:off x="948690" y="1908810"/>
            <a:ext cx="342900" cy="342900"/>
          </a:xfrm>
          <a:prstGeom prst="rect">
            <a:avLst/>
          </a:prstGeom>
        </p:spPr>
      </p:pic>
      <p:sp>
        <p:nvSpPr>
          <p:cNvPr id="7" name="Text 4"/>
          <p:cNvSpPr txBox="1"/>
          <p:nvPr/>
        </p:nvSpPr>
        <p:spPr>
          <a:xfrm>
            <a:off x="777240" y="2514600"/>
            <a:ext cx="3200400" cy="411480"/>
          </a:xfrm>
          <a:prstGeom prst="rect">
            <a:avLst/>
          </a:prstGeom>
          <a:noFill/>
          <a:ln/>
        </p:spPr>
        <p:txBody>
          <a:bodyPr wrap="square" lIns="0" tIns="0" rIns="0" bIns="0" rtlCol="0" anchor="t"/>
          <a:lstStyle/>
          <a:p>
            <a:pPr indent="0" marL="0">
              <a:buNone/>
            </a:pPr>
            <a:r>
              <a:rPr lang="en-US" sz="1600" b="1" dirty="0">
                <a:solidFill>
                  <a:schemeClr val="accent1"/>
                </a:solidFill>
              </a:rPr>
              <a:t>La machine ne comprend pas</a:t>
            </a:r>
            <a:endParaRPr lang="en-US" sz="1600" dirty="0"/>
          </a:p>
        </p:txBody>
      </p:sp>
      <p:sp>
        <p:nvSpPr>
          <p:cNvPr id="8" name="Text 5"/>
          <p:cNvSpPr txBox="1"/>
          <p:nvPr/>
        </p:nvSpPr>
        <p:spPr>
          <a:xfrm>
            <a:off x="777240" y="2971800"/>
            <a:ext cx="3200400" cy="548640"/>
          </a:xfrm>
          <a:prstGeom prst="rect">
            <a:avLst/>
          </a:prstGeom>
          <a:noFill/>
          <a:ln/>
        </p:spPr>
        <p:txBody>
          <a:bodyPr wrap="square" lIns="0" tIns="0" rIns="0" bIns="0" rtlCol="0" anchor="t"/>
          <a:lstStyle/>
          <a:p>
            <a:pPr indent="0" marL="0">
              <a:buNone/>
            </a:pPr>
            <a:r>
              <a:rPr lang="en-US" sz="1450" dirty="0">
                <a:solidFill>
                  <a:schemeClr val="tx1"/>
                </a:solidFill>
              </a:rPr>
              <a:t>Elle repère des indices et calcule</a:t>
            </a:r>
            <a:endParaRPr lang="en-US" sz="1450" dirty="0"/>
          </a:p>
        </p:txBody>
      </p:sp>
      <p:sp>
        <p:nvSpPr>
          <p:cNvPr id="9" name="Carte"/>
          <p:cNvSpPr/>
          <p:nvPr/>
        </p:nvSpPr>
        <p:spPr>
          <a:xfrm>
            <a:off x="4297680" y="1508760"/>
            <a:ext cx="3593592" cy="2057400"/>
          </a:xfrm>
          <a:prstGeom prst="roundRect">
            <a:avLst>
              <a:gd name="adj" fmla="val 3556"/>
            </a:avLst>
          </a:prstGeom>
          <a:solidFill>
            <a:schemeClr val="bg2"/>
          </a:solidFill>
          <a:ln w="12700">
            <a:solidFill>
              <a:schemeClr val="bg2"/>
            </a:solidFill>
            <a:prstDash val="solid"/>
          </a:ln>
        </p:spPr>
      </p:sp>
      <p:sp>
        <p:nvSpPr>
          <p:cNvPr id="10" name="Pastille"/>
          <p:cNvSpPr/>
          <p:nvPr/>
        </p:nvSpPr>
        <p:spPr>
          <a:xfrm>
            <a:off x="4526280" y="1737360"/>
            <a:ext cx="685800" cy="685800"/>
          </a:xfrm>
          <a:prstGeom prst="ellipse">
            <a:avLst/>
          </a:prstGeom>
          <a:solidFill>
            <a:schemeClr val="accent2"/>
          </a:solidFill>
          <a:ln w="12700">
            <a:solidFill>
              <a:schemeClr val="accent2"/>
            </a:solidFill>
            <a:prstDash val="solid"/>
          </a:ln>
        </p:spPr>
      </p:sp>
      <p:pic>
        <p:nvPicPr>
          <p:cNvPr id="11" name="Icône FaBroom" descr="FaBroom">    </p:cNvPr>
          <p:cNvPicPr>
            <a:picLocks noChangeAspect="1"/>
          </p:cNvPicPr>
          <p:nvPr/>
        </p:nvPicPr>
        <p:blipFill>
          <a:blip r:embed="rId2"/>
          <a:stretch>
            <a:fillRect/>
          </a:stretch>
        </p:blipFill>
        <p:spPr>
          <a:xfrm>
            <a:off x="4697730" y="1908810"/>
            <a:ext cx="342900" cy="342900"/>
          </a:xfrm>
          <a:prstGeom prst="rect">
            <a:avLst/>
          </a:prstGeom>
        </p:spPr>
      </p:pic>
      <p:sp>
        <p:nvSpPr>
          <p:cNvPr id="12" name="Text 8"/>
          <p:cNvSpPr txBox="1"/>
          <p:nvPr/>
        </p:nvSpPr>
        <p:spPr>
          <a:xfrm>
            <a:off x="4526280" y="2514600"/>
            <a:ext cx="3200400" cy="411480"/>
          </a:xfrm>
          <a:prstGeom prst="rect">
            <a:avLst/>
          </a:prstGeom>
          <a:noFill/>
          <a:ln/>
        </p:spPr>
        <p:txBody>
          <a:bodyPr wrap="square" lIns="0" tIns="0" rIns="0" bIns="0" rtlCol="0" anchor="t"/>
          <a:lstStyle/>
          <a:p>
            <a:pPr indent="0" marL="0">
              <a:buNone/>
            </a:pPr>
            <a:r>
              <a:rPr lang="en-US" sz="1600" b="1" dirty="0">
                <a:solidFill>
                  <a:schemeClr val="accent1"/>
                </a:solidFill>
              </a:rPr>
              <a:t>Nettoyer d’abord</a:t>
            </a:r>
            <a:endParaRPr lang="en-US" sz="1600" dirty="0"/>
          </a:p>
        </p:txBody>
      </p:sp>
      <p:sp>
        <p:nvSpPr>
          <p:cNvPr id="13" name="Text 9"/>
          <p:cNvSpPr txBox="1"/>
          <p:nvPr/>
        </p:nvSpPr>
        <p:spPr>
          <a:xfrm>
            <a:off x="4526280" y="2971800"/>
            <a:ext cx="3200400" cy="548640"/>
          </a:xfrm>
          <a:prstGeom prst="rect">
            <a:avLst/>
          </a:prstGeom>
          <a:noFill/>
          <a:ln/>
        </p:spPr>
        <p:txBody>
          <a:bodyPr wrap="square" lIns="0" tIns="0" rIns="0" bIns="0" rtlCol="0" anchor="t"/>
          <a:lstStyle/>
          <a:p>
            <a:pPr indent="0" marL="0">
              <a:buNone/>
            </a:pPr>
            <a:r>
              <a:rPr lang="en-US" sz="1450" dirty="0">
                <a:solidFill>
                  <a:schemeClr val="tx1"/>
                </a:solidFill>
              </a:rPr>
              <a:t>Majuscules, accents, ponctuation</a:t>
            </a:r>
            <a:endParaRPr lang="en-US" sz="1450" dirty="0"/>
          </a:p>
        </p:txBody>
      </p:sp>
      <p:sp>
        <p:nvSpPr>
          <p:cNvPr id="14" name="Carte"/>
          <p:cNvSpPr/>
          <p:nvPr/>
        </p:nvSpPr>
        <p:spPr>
          <a:xfrm>
            <a:off x="8046720" y="1508760"/>
            <a:ext cx="3593592" cy="2057400"/>
          </a:xfrm>
          <a:prstGeom prst="roundRect">
            <a:avLst>
              <a:gd name="adj" fmla="val 3556"/>
            </a:avLst>
          </a:prstGeom>
          <a:solidFill>
            <a:schemeClr val="bg2"/>
          </a:solidFill>
          <a:ln w="12700">
            <a:solidFill>
              <a:schemeClr val="bg2"/>
            </a:solidFill>
            <a:prstDash val="solid"/>
          </a:ln>
        </p:spPr>
      </p:sp>
      <p:sp>
        <p:nvSpPr>
          <p:cNvPr id="15" name="Pastille"/>
          <p:cNvSpPr/>
          <p:nvPr/>
        </p:nvSpPr>
        <p:spPr>
          <a:xfrm>
            <a:off x="8275320" y="1737360"/>
            <a:ext cx="685800" cy="685800"/>
          </a:xfrm>
          <a:prstGeom prst="ellipse">
            <a:avLst/>
          </a:prstGeom>
          <a:solidFill>
            <a:schemeClr val="accent1"/>
          </a:solidFill>
          <a:ln w="12700">
            <a:solidFill>
              <a:schemeClr val="accent1"/>
            </a:solidFill>
            <a:prstDash val="solid"/>
          </a:ln>
        </p:spPr>
      </p:sp>
      <p:pic>
        <p:nvPicPr>
          <p:cNvPr id="16" name="Icône FaCut" descr="FaCut">    </p:cNvPr>
          <p:cNvPicPr>
            <a:picLocks noChangeAspect="1"/>
          </p:cNvPicPr>
          <p:nvPr/>
        </p:nvPicPr>
        <p:blipFill>
          <a:blip r:embed="rId3"/>
          <a:stretch>
            <a:fillRect/>
          </a:stretch>
        </p:blipFill>
        <p:spPr>
          <a:xfrm>
            <a:off x="8446770" y="1908810"/>
            <a:ext cx="342900" cy="342900"/>
          </a:xfrm>
          <a:prstGeom prst="rect">
            <a:avLst/>
          </a:prstGeom>
        </p:spPr>
      </p:pic>
      <p:sp>
        <p:nvSpPr>
          <p:cNvPr id="17" name="Text 12"/>
          <p:cNvSpPr txBox="1"/>
          <p:nvPr/>
        </p:nvSpPr>
        <p:spPr>
          <a:xfrm>
            <a:off x="8275320" y="2514600"/>
            <a:ext cx="3200400" cy="411480"/>
          </a:xfrm>
          <a:prstGeom prst="rect">
            <a:avLst/>
          </a:prstGeom>
          <a:noFill/>
          <a:ln/>
        </p:spPr>
        <p:txBody>
          <a:bodyPr wrap="square" lIns="0" tIns="0" rIns="0" bIns="0" rtlCol="0" anchor="t"/>
          <a:lstStyle/>
          <a:p>
            <a:pPr indent="0" marL="0">
              <a:buNone/>
            </a:pPr>
            <a:r>
              <a:rPr lang="en-US" sz="1600" b="1" dirty="0">
                <a:solidFill>
                  <a:schemeClr val="accent1"/>
                </a:solidFill>
              </a:rPr>
              <a:t>Découper en tokens</a:t>
            </a:r>
            <a:endParaRPr lang="en-US" sz="1600" dirty="0"/>
          </a:p>
        </p:txBody>
      </p:sp>
      <p:sp>
        <p:nvSpPr>
          <p:cNvPr id="18" name="Text 13"/>
          <p:cNvSpPr txBox="1"/>
          <p:nvPr/>
        </p:nvSpPr>
        <p:spPr>
          <a:xfrm>
            <a:off x="8275320" y="2971800"/>
            <a:ext cx="3200400" cy="548640"/>
          </a:xfrm>
          <a:prstGeom prst="rect">
            <a:avLst/>
          </a:prstGeom>
          <a:noFill/>
          <a:ln/>
        </p:spPr>
        <p:txBody>
          <a:bodyPr wrap="square" lIns="0" tIns="0" rIns="0" bIns="0" rtlCol="0" anchor="t"/>
          <a:lstStyle/>
          <a:p>
            <a:pPr indent="0" marL="0">
              <a:buNone/>
            </a:pPr>
            <a:r>
              <a:rPr lang="en-US" sz="1450" dirty="0">
                <a:solidFill>
                  <a:schemeClr val="tx1"/>
                </a:solidFill>
              </a:rPr>
              <a:t>Un texte devient des morceaux à compter</a:t>
            </a:r>
            <a:endParaRPr lang="en-US" sz="1450" dirty="0"/>
          </a:p>
        </p:txBody>
      </p:sp>
      <p:sp>
        <p:nvSpPr>
          <p:cNvPr id="19" name="Carte"/>
          <p:cNvSpPr/>
          <p:nvPr/>
        </p:nvSpPr>
        <p:spPr>
          <a:xfrm>
            <a:off x="548640" y="3749040"/>
            <a:ext cx="3593592" cy="2057400"/>
          </a:xfrm>
          <a:prstGeom prst="roundRect">
            <a:avLst>
              <a:gd name="adj" fmla="val 3556"/>
            </a:avLst>
          </a:prstGeom>
          <a:solidFill>
            <a:schemeClr val="bg2"/>
          </a:solidFill>
          <a:ln w="12700">
            <a:solidFill>
              <a:schemeClr val="bg2"/>
            </a:solidFill>
            <a:prstDash val="solid"/>
          </a:ln>
        </p:spPr>
      </p:sp>
      <p:sp>
        <p:nvSpPr>
          <p:cNvPr id="20" name="Pastille"/>
          <p:cNvSpPr/>
          <p:nvPr/>
        </p:nvSpPr>
        <p:spPr>
          <a:xfrm>
            <a:off x="777240" y="3977640"/>
            <a:ext cx="685800" cy="685800"/>
          </a:xfrm>
          <a:prstGeom prst="ellipse">
            <a:avLst/>
          </a:prstGeom>
          <a:solidFill>
            <a:schemeClr val="accent2"/>
          </a:solidFill>
          <a:ln w="12700">
            <a:solidFill>
              <a:schemeClr val="accent2"/>
            </a:solidFill>
            <a:prstDash val="solid"/>
          </a:ln>
        </p:spPr>
      </p:sp>
      <p:pic>
        <p:nvPicPr>
          <p:cNvPr id="21" name="Icône FaSearch" descr="FaSearch">    </p:cNvPr>
          <p:cNvPicPr>
            <a:picLocks noChangeAspect="1"/>
          </p:cNvPicPr>
          <p:nvPr/>
        </p:nvPicPr>
        <p:blipFill>
          <a:blip r:embed="rId4"/>
          <a:stretch>
            <a:fillRect/>
          </a:stretch>
        </p:blipFill>
        <p:spPr>
          <a:xfrm>
            <a:off x="948690" y="4149090"/>
            <a:ext cx="342900" cy="342900"/>
          </a:xfrm>
          <a:prstGeom prst="rect">
            <a:avLst/>
          </a:prstGeom>
        </p:spPr>
      </p:pic>
      <p:sp>
        <p:nvSpPr>
          <p:cNvPr id="22" name="Text 16"/>
          <p:cNvSpPr txBox="1"/>
          <p:nvPr/>
        </p:nvSpPr>
        <p:spPr>
          <a:xfrm>
            <a:off x="777240" y="4754880"/>
            <a:ext cx="3200400" cy="411480"/>
          </a:xfrm>
          <a:prstGeom prst="rect">
            <a:avLst/>
          </a:prstGeom>
          <a:noFill/>
          <a:ln/>
        </p:spPr>
        <p:txBody>
          <a:bodyPr wrap="square" lIns="0" tIns="0" rIns="0" bIns="0" rtlCol="0" anchor="t"/>
          <a:lstStyle/>
          <a:p>
            <a:pPr indent="0" marL="0">
              <a:buNone/>
            </a:pPr>
            <a:r>
              <a:rPr lang="en-US" sz="1600" b="1" dirty="0">
                <a:solidFill>
                  <a:schemeClr val="accent1"/>
                </a:solidFill>
              </a:rPr>
              <a:t>Chercher les mots-indices</a:t>
            </a:r>
            <a:endParaRPr lang="en-US" sz="1600" dirty="0"/>
          </a:p>
        </p:txBody>
      </p:sp>
      <p:sp>
        <p:nvSpPr>
          <p:cNvPr id="23" name="Text 17"/>
          <p:cNvSpPr txBox="1"/>
          <p:nvPr/>
        </p:nvSpPr>
        <p:spPr>
          <a:xfrm>
            <a:off x="777240" y="5212080"/>
            <a:ext cx="3200400" cy="548640"/>
          </a:xfrm>
          <a:prstGeom prst="rect">
            <a:avLst/>
          </a:prstGeom>
          <a:noFill/>
          <a:ln/>
        </p:spPr>
        <p:txBody>
          <a:bodyPr wrap="square" lIns="0" tIns="0" rIns="0" bIns="0" rtlCol="0" anchor="t"/>
          <a:lstStyle/>
          <a:p>
            <a:pPr indent="0" marL="0">
              <a:buNone/>
            </a:pPr>
            <a:r>
              <a:rPr lang="en-US" sz="1450" dirty="0">
                <a:solidFill>
                  <a:schemeClr val="tx1"/>
                </a:solidFill>
              </a:rPr>
              <a:t>Rares et ciblés, pas passe-partout</a:t>
            </a:r>
            <a:endParaRPr lang="en-US" sz="1450" dirty="0"/>
          </a:p>
        </p:txBody>
      </p:sp>
      <p:sp>
        <p:nvSpPr>
          <p:cNvPr id="24" name="Carte"/>
          <p:cNvSpPr/>
          <p:nvPr/>
        </p:nvSpPr>
        <p:spPr>
          <a:xfrm>
            <a:off x="4297680" y="3749040"/>
            <a:ext cx="3593592" cy="2057400"/>
          </a:xfrm>
          <a:prstGeom prst="roundRect">
            <a:avLst>
              <a:gd name="adj" fmla="val 3556"/>
            </a:avLst>
          </a:prstGeom>
          <a:solidFill>
            <a:schemeClr val="bg2"/>
          </a:solidFill>
          <a:ln w="12700">
            <a:solidFill>
              <a:schemeClr val="bg2"/>
            </a:solidFill>
            <a:prstDash val="solid"/>
          </a:ln>
        </p:spPr>
      </p:sp>
      <p:sp>
        <p:nvSpPr>
          <p:cNvPr id="25" name="Pastille"/>
          <p:cNvSpPr/>
          <p:nvPr/>
        </p:nvSpPr>
        <p:spPr>
          <a:xfrm>
            <a:off x="4526280" y="3977640"/>
            <a:ext cx="685800" cy="685800"/>
          </a:xfrm>
          <a:prstGeom prst="ellipse">
            <a:avLst/>
          </a:prstGeom>
          <a:solidFill>
            <a:schemeClr val="accent1"/>
          </a:solidFill>
          <a:ln w="12700">
            <a:solidFill>
              <a:schemeClr val="accent1"/>
            </a:solidFill>
            <a:prstDash val="solid"/>
          </a:ln>
        </p:spPr>
      </p:sp>
      <p:pic>
        <p:nvPicPr>
          <p:cNvPr id="26" name="Icône FaClipboardCheck" descr="FaClipboardCheck">    </p:cNvPr>
          <p:cNvPicPr>
            <a:picLocks noChangeAspect="1"/>
          </p:cNvPicPr>
          <p:nvPr/>
        </p:nvPicPr>
        <p:blipFill>
          <a:blip r:embed="rId5"/>
          <a:stretch>
            <a:fillRect/>
          </a:stretch>
        </p:blipFill>
        <p:spPr>
          <a:xfrm>
            <a:off x="4697730" y="4149090"/>
            <a:ext cx="342900" cy="342900"/>
          </a:xfrm>
          <a:prstGeom prst="rect">
            <a:avLst/>
          </a:prstGeom>
        </p:spPr>
      </p:pic>
      <p:sp>
        <p:nvSpPr>
          <p:cNvPr id="27" name="Text 20"/>
          <p:cNvSpPr txBox="1"/>
          <p:nvPr/>
        </p:nvSpPr>
        <p:spPr>
          <a:xfrm>
            <a:off x="4526280" y="4754880"/>
            <a:ext cx="3200400" cy="411480"/>
          </a:xfrm>
          <a:prstGeom prst="rect">
            <a:avLst/>
          </a:prstGeom>
          <a:noFill/>
          <a:ln/>
        </p:spPr>
        <p:txBody>
          <a:bodyPr wrap="square" lIns="0" tIns="0" rIns="0" bIns="0" rtlCol="0" anchor="t"/>
          <a:lstStyle/>
          <a:p>
            <a:pPr indent="0" marL="0">
              <a:buNone/>
            </a:pPr>
            <a:r>
              <a:rPr lang="en-US" sz="1600" b="1" dirty="0">
                <a:solidFill>
                  <a:schemeClr val="accent1"/>
                </a:solidFill>
              </a:rPr>
              <a:t>Tester sur du nouveau</a:t>
            </a:r>
            <a:endParaRPr lang="en-US" sz="1600" dirty="0"/>
          </a:p>
        </p:txBody>
      </p:sp>
      <p:sp>
        <p:nvSpPr>
          <p:cNvPr id="28" name="Text 21"/>
          <p:cNvSpPr txBox="1"/>
          <p:nvPr/>
        </p:nvSpPr>
        <p:spPr>
          <a:xfrm>
            <a:off x="4526280" y="5212080"/>
            <a:ext cx="3200400" cy="548640"/>
          </a:xfrm>
          <a:prstGeom prst="rect">
            <a:avLst/>
          </a:prstGeom>
          <a:noFill/>
          <a:ln/>
        </p:spPr>
        <p:txBody>
          <a:bodyPr wrap="square" lIns="0" tIns="0" rIns="0" bIns="0" rtlCol="0" anchor="t"/>
          <a:lstStyle/>
          <a:p>
            <a:pPr indent="0" marL="0">
              <a:buNone/>
            </a:pPr>
            <a:r>
              <a:rPr lang="en-US" sz="1450" dirty="0">
                <a:solidFill>
                  <a:schemeClr val="tx1"/>
                </a:solidFill>
              </a:rPr>
              <a:t>Comme un vrai examen</a:t>
            </a:r>
            <a:endParaRPr lang="en-US" sz="1450" dirty="0"/>
          </a:p>
        </p:txBody>
      </p:sp>
      <p:sp>
        <p:nvSpPr>
          <p:cNvPr id="29" name="Carte"/>
          <p:cNvSpPr/>
          <p:nvPr/>
        </p:nvSpPr>
        <p:spPr>
          <a:xfrm>
            <a:off x="8046720" y="3749040"/>
            <a:ext cx="3593592" cy="2057400"/>
          </a:xfrm>
          <a:prstGeom prst="roundRect">
            <a:avLst>
              <a:gd name="adj" fmla="val 3556"/>
            </a:avLst>
          </a:prstGeom>
          <a:solidFill>
            <a:schemeClr val="bg2"/>
          </a:solidFill>
          <a:ln w="12700">
            <a:solidFill>
              <a:schemeClr val="bg2"/>
            </a:solidFill>
            <a:prstDash val="solid"/>
          </a:ln>
        </p:spPr>
      </p:sp>
      <p:sp>
        <p:nvSpPr>
          <p:cNvPr id="30" name="Pastille"/>
          <p:cNvSpPr/>
          <p:nvPr/>
        </p:nvSpPr>
        <p:spPr>
          <a:xfrm>
            <a:off x="8275320" y="3977640"/>
            <a:ext cx="685800" cy="685800"/>
          </a:xfrm>
          <a:prstGeom prst="ellipse">
            <a:avLst/>
          </a:prstGeom>
          <a:solidFill>
            <a:schemeClr val="accent2"/>
          </a:solidFill>
          <a:ln w="12700">
            <a:solidFill>
              <a:schemeClr val="accent2"/>
            </a:solidFill>
            <a:prstDash val="solid"/>
          </a:ln>
        </p:spPr>
      </p:sp>
      <p:pic>
        <p:nvPicPr>
          <p:cNvPr id="31" name="Icône FaUserShield" descr="FaUserShield">    </p:cNvPr>
          <p:cNvPicPr>
            <a:picLocks noChangeAspect="1"/>
          </p:cNvPicPr>
          <p:nvPr/>
        </p:nvPicPr>
        <p:blipFill>
          <a:blip r:embed="rId6"/>
          <a:stretch>
            <a:fillRect/>
          </a:stretch>
        </p:blipFill>
        <p:spPr>
          <a:xfrm>
            <a:off x="8446770" y="4149090"/>
            <a:ext cx="342900" cy="342900"/>
          </a:xfrm>
          <a:prstGeom prst="rect">
            <a:avLst/>
          </a:prstGeom>
        </p:spPr>
      </p:pic>
      <p:sp>
        <p:nvSpPr>
          <p:cNvPr id="32" name="Text 24"/>
          <p:cNvSpPr txBox="1"/>
          <p:nvPr/>
        </p:nvSpPr>
        <p:spPr>
          <a:xfrm>
            <a:off x="8275320" y="4754880"/>
            <a:ext cx="3200400" cy="411480"/>
          </a:xfrm>
          <a:prstGeom prst="rect">
            <a:avLst/>
          </a:prstGeom>
          <a:noFill/>
          <a:ln/>
        </p:spPr>
        <p:txBody>
          <a:bodyPr wrap="square" lIns="0" tIns="0" rIns="0" bIns="0" rtlCol="0" anchor="t"/>
          <a:lstStyle/>
          <a:p>
            <a:pPr indent="0" marL="0">
              <a:buNone/>
            </a:pPr>
            <a:r>
              <a:rPr lang="en-US" sz="1600" b="1" dirty="0">
                <a:solidFill>
                  <a:schemeClr val="accent1"/>
                </a:solidFill>
              </a:rPr>
              <a:t>Garder un humain</a:t>
            </a:r>
            <a:endParaRPr lang="en-US" sz="1600" dirty="0"/>
          </a:p>
        </p:txBody>
      </p:sp>
      <p:sp>
        <p:nvSpPr>
          <p:cNvPr id="33" name="Text 25"/>
          <p:cNvSpPr txBox="1"/>
          <p:nvPr/>
        </p:nvSpPr>
        <p:spPr>
          <a:xfrm>
            <a:off x="8275320" y="5212080"/>
            <a:ext cx="3200400" cy="548640"/>
          </a:xfrm>
          <a:prstGeom prst="rect">
            <a:avLst/>
          </a:prstGeom>
          <a:noFill/>
          <a:ln/>
        </p:spPr>
        <p:txBody>
          <a:bodyPr wrap="square" lIns="0" tIns="0" rIns="0" bIns="0" rtlCol="0" anchor="t"/>
          <a:lstStyle/>
          <a:p>
            <a:pPr indent="0" marL="0">
              <a:buNone/>
            </a:pPr>
            <a:r>
              <a:rPr lang="en-US" sz="1450" dirty="0">
                <a:solidFill>
                  <a:schemeClr val="tx1"/>
                </a:solidFill>
              </a:rPr>
              <a:t>Pour les cas ambigus et les données sensibles</a:t>
            </a:r>
            <a:endParaRPr lang="en-US" sz="145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Quiz de sortie · questions 1 à 2 sur 10</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QUIZ DE SORTIE</a:t>
            </a:r>
            <a:endParaRPr lang="en-US" sz="1200" dirty="0"/>
          </a:p>
        </p:txBody>
      </p:sp>
      <p:sp>
        <p:nvSpPr>
          <p:cNvPr id="4" name="Carte"/>
          <p:cNvSpPr/>
          <p:nvPr/>
        </p:nvSpPr>
        <p:spPr>
          <a:xfrm>
            <a:off x="548640" y="1371600"/>
            <a:ext cx="11091672" cy="2240280"/>
          </a:xfrm>
          <a:prstGeom prst="roundRect">
            <a:avLst>
              <a:gd name="adj" fmla="val 3265"/>
            </a:avLst>
          </a:prstGeom>
          <a:solidFill>
            <a:schemeClr val="bg2"/>
          </a:solidFill>
          <a:ln w="12700">
            <a:solidFill>
              <a:schemeClr val="bg2"/>
            </a:solidFill>
            <a:prstDash val="solid"/>
          </a:ln>
        </p:spPr>
      </p:sp>
      <p:sp>
        <p:nvSpPr>
          <p:cNvPr id="5" name="Pastille"/>
          <p:cNvSpPr/>
          <p:nvPr/>
        </p:nvSpPr>
        <p:spPr>
          <a:xfrm>
            <a:off x="731520" y="1508760"/>
            <a:ext cx="457200" cy="457200"/>
          </a:xfrm>
          <a:prstGeom prst="ellipse">
            <a:avLst/>
          </a:prstGeom>
          <a:solidFill>
            <a:schemeClr val="accent1"/>
          </a:solidFill>
          <a:ln w="12700">
            <a:solidFill>
              <a:schemeClr val="accent1"/>
            </a:solidFill>
            <a:prstDash val="solid"/>
          </a:ln>
        </p:spPr>
      </p:sp>
      <p:sp>
        <p:nvSpPr>
          <p:cNvPr id="6" name="Numéro 1"/>
          <p:cNvSpPr txBox="1"/>
          <p:nvPr/>
        </p:nvSpPr>
        <p:spPr>
          <a:xfrm>
            <a:off x="731520" y="1508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371600" y="1463040"/>
            <a:ext cx="10058400" cy="594360"/>
          </a:xfrm>
          <a:prstGeom prst="rect">
            <a:avLst/>
          </a:prstGeom>
          <a:noFill/>
          <a:ln/>
        </p:spPr>
        <p:txBody>
          <a:bodyPr wrap="square" lIns="0" tIns="0" rIns="0" bIns="0" rtlCol="0" anchor="ctr"/>
          <a:lstStyle/>
          <a:p>
            <a:pPr indent="0" marL="0">
              <a:buNone/>
            </a:pPr>
            <a:r>
              <a:rPr lang="en-US" sz="1600" b="1" dirty="0">
                <a:solidFill>
                  <a:schemeClr val="tx1"/>
                </a:solidFill>
              </a:rPr>
              <a:t>Que signifie « NLP », ou « TAL » en français ?</a:t>
            </a:r>
            <a:endParaRPr lang="en-US" sz="1600" dirty="0"/>
          </a:p>
        </p:txBody>
      </p:sp>
      <p:sp>
        <p:nvSpPr>
          <p:cNvPr id="8" name="Carte"/>
          <p:cNvSpPr/>
          <p:nvPr/>
        </p:nvSpPr>
        <p:spPr>
          <a:xfrm>
            <a:off x="1371600" y="2148840"/>
            <a:ext cx="4983480" cy="475488"/>
          </a:xfrm>
          <a:prstGeom prst="roundRect">
            <a:avLst>
              <a:gd name="adj" fmla="val 15385"/>
            </a:avLst>
          </a:prstGeom>
          <a:solidFill>
            <a:schemeClr val="bg1"/>
          </a:solidFill>
          <a:ln w="12700">
            <a:solidFill>
              <a:schemeClr val="accent5"/>
            </a:solidFill>
            <a:prstDash val="solid"/>
          </a:ln>
        </p:spPr>
      </p:sp>
      <p:sp>
        <p:nvSpPr>
          <p:cNvPr id="9" name="Text 7"/>
          <p:cNvSpPr txBox="1"/>
          <p:nvPr/>
        </p:nvSpPr>
        <p:spPr>
          <a:xfrm>
            <a:off x="1508760" y="2148840"/>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A   </a:t>
            </a:r>
            <a:r>
              <a:rPr lang="en-US" sz="1300" dirty="0">
                <a:solidFill>
                  <a:schemeClr val="tx1"/>
                </a:solidFill>
              </a:rPr>
              <a:t>Nouveau Langage de Programmation</a:t>
            </a:r>
            <a:endParaRPr lang="en-US" sz="1300" dirty="0"/>
          </a:p>
        </p:txBody>
      </p:sp>
      <p:sp>
        <p:nvSpPr>
          <p:cNvPr id="10" name="Carte"/>
          <p:cNvSpPr/>
          <p:nvPr/>
        </p:nvSpPr>
        <p:spPr>
          <a:xfrm>
            <a:off x="6492240" y="2148840"/>
            <a:ext cx="4983480" cy="475488"/>
          </a:xfrm>
          <a:prstGeom prst="roundRect">
            <a:avLst>
              <a:gd name="adj" fmla="val 15385"/>
            </a:avLst>
          </a:prstGeom>
          <a:solidFill>
            <a:schemeClr val="bg1"/>
          </a:solidFill>
          <a:ln w="12700">
            <a:solidFill>
              <a:schemeClr val="accent5"/>
            </a:solidFill>
            <a:prstDash val="solid"/>
          </a:ln>
        </p:spPr>
      </p:sp>
      <p:sp>
        <p:nvSpPr>
          <p:cNvPr id="11" name="Text 9"/>
          <p:cNvSpPr txBox="1"/>
          <p:nvPr/>
        </p:nvSpPr>
        <p:spPr>
          <a:xfrm>
            <a:off x="6629400" y="2148840"/>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B   </a:t>
            </a:r>
            <a:r>
              <a:rPr lang="en-US" sz="1300" dirty="0">
                <a:solidFill>
                  <a:schemeClr val="tx1"/>
                </a:solidFill>
              </a:rPr>
              <a:t>Traitement Automatique des Langues</a:t>
            </a:r>
            <a:endParaRPr lang="en-US" sz="1300" dirty="0"/>
          </a:p>
        </p:txBody>
      </p:sp>
      <p:sp>
        <p:nvSpPr>
          <p:cNvPr id="12" name="Carte"/>
          <p:cNvSpPr/>
          <p:nvPr/>
        </p:nvSpPr>
        <p:spPr>
          <a:xfrm>
            <a:off x="1371600" y="2715768"/>
            <a:ext cx="4983480" cy="475488"/>
          </a:xfrm>
          <a:prstGeom prst="roundRect">
            <a:avLst>
              <a:gd name="adj" fmla="val 15385"/>
            </a:avLst>
          </a:prstGeom>
          <a:solidFill>
            <a:schemeClr val="bg1"/>
          </a:solidFill>
          <a:ln w="12700">
            <a:solidFill>
              <a:schemeClr val="accent5"/>
            </a:solidFill>
            <a:prstDash val="solid"/>
          </a:ln>
        </p:spPr>
      </p:sp>
      <p:sp>
        <p:nvSpPr>
          <p:cNvPr id="13" name="Text 11"/>
          <p:cNvSpPr txBox="1"/>
          <p:nvPr/>
        </p:nvSpPr>
        <p:spPr>
          <a:xfrm>
            <a:off x="1508760" y="2715768"/>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C   </a:t>
            </a:r>
            <a:r>
              <a:rPr lang="en-US" sz="1300" dirty="0">
                <a:solidFill>
                  <a:schemeClr val="tx1"/>
                </a:solidFill>
              </a:rPr>
              <a:t>Transfert Automatique de Ligne</a:t>
            </a:r>
            <a:endParaRPr lang="en-US" sz="1300" dirty="0"/>
          </a:p>
        </p:txBody>
      </p:sp>
      <p:sp>
        <p:nvSpPr>
          <p:cNvPr id="14" name="Carte"/>
          <p:cNvSpPr/>
          <p:nvPr/>
        </p:nvSpPr>
        <p:spPr>
          <a:xfrm>
            <a:off x="6492240" y="2715768"/>
            <a:ext cx="4983480" cy="475488"/>
          </a:xfrm>
          <a:prstGeom prst="roundRect">
            <a:avLst>
              <a:gd name="adj" fmla="val 15385"/>
            </a:avLst>
          </a:prstGeom>
          <a:solidFill>
            <a:schemeClr val="bg1"/>
          </a:solidFill>
          <a:ln w="12700">
            <a:solidFill>
              <a:schemeClr val="accent5"/>
            </a:solidFill>
            <a:prstDash val="solid"/>
          </a:ln>
        </p:spPr>
      </p:sp>
      <p:sp>
        <p:nvSpPr>
          <p:cNvPr id="15" name="Text 13"/>
          <p:cNvSpPr txBox="1"/>
          <p:nvPr/>
        </p:nvSpPr>
        <p:spPr>
          <a:xfrm>
            <a:off x="6629400" y="2715768"/>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D   </a:t>
            </a:r>
            <a:r>
              <a:rPr lang="en-US" sz="1300" dirty="0">
                <a:solidFill>
                  <a:schemeClr val="tx1"/>
                </a:solidFill>
              </a:rPr>
              <a:t>Traducteur Anglais-Local</a:t>
            </a:r>
            <a:endParaRPr lang="en-US" sz="1300" dirty="0"/>
          </a:p>
        </p:txBody>
      </p:sp>
      <p:sp>
        <p:nvSpPr>
          <p:cNvPr id="16" name="Carte"/>
          <p:cNvSpPr/>
          <p:nvPr/>
        </p:nvSpPr>
        <p:spPr>
          <a:xfrm>
            <a:off x="548640" y="3749040"/>
            <a:ext cx="11091672" cy="2240280"/>
          </a:xfrm>
          <a:prstGeom prst="roundRect">
            <a:avLst>
              <a:gd name="adj" fmla="val 3265"/>
            </a:avLst>
          </a:prstGeom>
          <a:solidFill>
            <a:schemeClr val="bg2"/>
          </a:solidFill>
          <a:ln w="12700">
            <a:solidFill>
              <a:schemeClr val="bg2"/>
            </a:solidFill>
            <a:prstDash val="solid"/>
          </a:ln>
        </p:spPr>
      </p:sp>
      <p:sp>
        <p:nvSpPr>
          <p:cNvPr id="17" name="Pastille"/>
          <p:cNvSpPr/>
          <p:nvPr/>
        </p:nvSpPr>
        <p:spPr>
          <a:xfrm>
            <a:off x="731520" y="3886200"/>
            <a:ext cx="457200" cy="457200"/>
          </a:xfrm>
          <a:prstGeom prst="ellipse">
            <a:avLst/>
          </a:prstGeom>
          <a:solidFill>
            <a:schemeClr val="accent1"/>
          </a:solidFill>
          <a:ln w="12700">
            <a:solidFill>
              <a:schemeClr val="accent1"/>
            </a:solidFill>
            <a:prstDash val="solid"/>
          </a:ln>
        </p:spPr>
      </p:sp>
      <p:sp>
        <p:nvSpPr>
          <p:cNvPr id="18" name="Numéro 2"/>
          <p:cNvSpPr txBox="1"/>
          <p:nvPr/>
        </p:nvSpPr>
        <p:spPr>
          <a:xfrm>
            <a:off x="731520" y="3886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9" name="Text 17"/>
          <p:cNvSpPr txBox="1"/>
          <p:nvPr/>
        </p:nvSpPr>
        <p:spPr>
          <a:xfrm>
            <a:off x="1371600" y="3840480"/>
            <a:ext cx="10058400" cy="594360"/>
          </a:xfrm>
          <a:prstGeom prst="rect">
            <a:avLst/>
          </a:prstGeom>
          <a:noFill/>
          <a:ln/>
        </p:spPr>
        <p:txBody>
          <a:bodyPr wrap="square" lIns="0" tIns="0" rIns="0" bIns="0" rtlCol="0" anchor="ctr"/>
          <a:lstStyle/>
          <a:p>
            <a:pPr indent="0" marL="0">
              <a:buNone/>
            </a:pPr>
            <a:r>
              <a:rPr lang="en-US" sz="1600" b="1" dirty="0">
                <a:solidFill>
                  <a:schemeClr val="tx1"/>
                </a:solidFill>
              </a:rPr>
              <a:t>Qu’appelle-t-on « tokenisation » ?</a:t>
            </a:r>
            <a:endParaRPr lang="en-US" sz="1600" dirty="0"/>
          </a:p>
        </p:txBody>
      </p:sp>
      <p:sp>
        <p:nvSpPr>
          <p:cNvPr id="20" name="Carte"/>
          <p:cNvSpPr/>
          <p:nvPr/>
        </p:nvSpPr>
        <p:spPr>
          <a:xfrm>
            <a:off x="1371600" y="4526280"/>
            <a:ext cx="4983480" cy="475488"/>
          </a:xfrm>
          <a:prstGeom prst="roundRect">
            <a:avLst>
              <a:gd name="adj" fmla="val 15385"/>
            </a:avLst>
          </a:prstGeom>
          <a:solidFill>
            <a:schemeClr val="bg1"/>
          </a:solidFill>
          <a:ln w="12700">
            <a:solidFill>
              <a:schemeClr val="accent5"/>
            </a:solidFill>
            <a:prstDash val="solid"/>
          </a:ln>
        </p:spPr>
      </p:sp>
      <p:sp>
        <p:nvSpPr>
          <p:cNvPr id="21" name="Text 19"/>
          <p:cNvSpPr txBox="1"/>
          <p:nvPr/>
        </p:nvSpPr>
        <p:spPr>
          <a:xfrm>
            <a:off x="1508760" y="4526280"/>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A   </a:t>
            </a:r>
            <a:r>
              <a:rPr lang="en-US" sz="1300" dirty="0">
                <a:solidFill>
                  <a:schemeClr val="tx1"/>
                </a:solidFill>
              </a:rPr>
              <a:t>Chiffrer un texte pour le protéger</a:t>
            </a:r>
            <a:endParaRPr lang="en-US" sz="1300" dirty="0"/>
          </a:p>
        </p:txBody>
      </p:sp>
      <p:sp>
        <p:nvSpPr>
          <p:cNvPr id="22" name="Carte"/>
          <p:cNvSpPr/>
          <p:nvPr/>
        </p:nvSpPr>
        <p:spPr>
          <a:xfrm>
            <a:off x="6492240" y="4526280"/>
            <a:ext cx="4983480" cy="475488"/>
          </a:xfrm>
          <a:prstGeom prst="roundRect">
            <a:avLst>
              <a:gd name="adj" fmla="val 15385"/>
            </a:avLst>
          </a:prstGeom>
          <a:solidFill>
            <a:schemeClr val="bg1"/>
          </a:solidFill>
          <a:ln w="12700">
            <a:solidFill>
              <a:schemeClr val="accent5"/>
            </a:solidFill>
            <a:prstDash val="solid"/>
          </a:ln>
        </p:spPr>
      </p:sp>
      <p:sp>
        <p:nvSpPr>
          <p:cNvPr id="23" name="Text 21"/>
          <p:cNvSpPr txBox="1"/>
          <p:nvPr/>
        </p:nvSpPr>
        <p:spPr>
          <a:xfrm>
            <a:off x="6629400" y="4526280"/>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B   </a:t>
            </a:r>
            <a:r>
              <a:rPr lang="en-US" sz="1300" dirty="0">
                <a:solidFill>
                  <a:schemeClr val="tx1"/>
                </a:solidFill>
              </a:rPr>
              <a:t>Traduire un texte dans une autre langue</a:t>
            </a:r>
            <a:endParaRPr lang="en-US" sz="1300" dirty="0"/>
          </a:p>
        </p:txBody>
      </p:sp>
      <p:sp>
        <p:nvSpPr>
          <p:cNvPr id="24" name="Carte"/>
          <p:cNvSpPr/>
          <p:nvPr/>
        </p:nvSpPr>
        <p:spPr>
          <a:xfrm>
            <a:off x="1371600" y="5093208"/>
            <a:ext cx="4983480" cy="475488"/>
          </a:xfrm>
          <a:prstGeom prst="roundRect">
            <a:avLst>
              <a:gd name="adj" fmla="val 15385"/>
            </a:avLst>
          </a:prstGeom>
          <a:solidFill>
            <a:schemeClr val="bg1"/>
          </a:solidFill>
          <a:ln w="12700">
            <a:solidFill>
              <a:schemeClr val="accent5"/>
            </a:solidFill>
            <a:prstDash val="solid"/>
          </a:ln>
        </p:spPr>
      </p:sp>
      <p:sp>
        <p:nvSpPr>
          <p:cNvPr id="25" name="Text 23"/>
          <p:cNvSpPr txBox="1"/>
          <p:nvPr/>
        </p:nvSpPr>
        <p:spPr>
          <a:xfrm>
            <a:off x="1508760" y="5093208"/>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C   </a:t>
            </a:r>
            <a:r>
              <a:rPr lang="en-US" sz="1300" dirty="0">
                <a:solidFill>
                  <a:schemeClr val="tx1"/>
                </a:solidFill>
              </a:rPr>
              <a:t>Supprimer les fautes d’orthographe</a:t>
            </a:r>
            <a:endParaRPr lang="en-US" sz="1300" dirty="0"/>
          </a:p>
        </p:txBody>
      </p:sp>
      <p:sp>
        <p:nvSpPr>
          <p:cNvPr id="26" name="Carte"/>
          <p:cNvSpPr/>
          <p:nvPr/>
        </p:nvSpPr>
        <p:spPr>
          <a:xfrm>
            <a:off x="6492240" y="5093208"/>
            <a:ext cx="4983480" cy="475488"/>
          </a:xfrm>
          <a:prstGeom prst="roundRect">
            <a:avLst>
              <a:gd name="adj" fmla="val 15385"/>
            </a:avLst>
          </a:prstGeom>
          <a:solidFill>
            <a:schemeClr val="bg1"/>
          </a:solidFill>
          <a:ln w="12700">
            <a:solidFill>
              <a:schemeClr val="accent5"/>
            </a:solidFill>
            <a:prstDash val="solid"/>
          </a:ln>
        </p:spPr>
      </p:sp>
      <p:sp>
        <p:nvSpPr>
          <p:cNvPr id="27" name="Text 25"/>
          <p:cNvSpPr txBox="1"/>
          <p:nvPr/>
        </p:nvSpPr>
        <p:spPr>
          <a:xfrm>
            <a:off x="6629400" y="5093208"/>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D   </a:t>
            </a:r>
            <a:r>
              <a:rPr lang="en-US" sz="1300" dirty="0">
                <a:solidFill>
                  <a:schemeClr val="tx1"/>
                </a:solidFill>
              </a:rPr>
              <a:t>Découper un texte en petits morceaux (mots ou parties de mots)</a:t>
            </a:r>
            <a:endParaRPr lang="en-US" sz="13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Quiz de sortie · questions 3 à 4 sur 10</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QUIZ DE SORTIE</a:t>
            </a:r>
            <a:endParaRPr lang="en-US" sz="1200" dirty="0"/>
          </a:p>
        </p:txBody>
      </p:sp>
      <p:sp>
        <p:nvSpPr>
          <p:cNvPr id="4" name="Carte"/>
          <p:cNvSpPr/>
          <p:nvPr/>
        </p:nvSpPr>
        <p:spPr>
          <a:xfrm>
            <a:off x="548640" y="1371600"/>
            <a:ext cx="11091672" cy="2240280"/>
          </a:xfrm>
          <a:prstGeom prst="roundRect">
            <a:avLst>
              <a:gd name="adj" fmla="val 3265"/>
            </a:avLst>
          </a:prstGeom>
          <a:solidFill>
            <a:schemeClr val="bg2"/>
          </a:solidFill>
          <a:ln w="12700">
            <a:solidFill>
              <a:schemeClr val="bg2"/>
            </a:solidFill>
            <a:prstDash val="solid"/>
          </a:ln>
        </p:spPr>
      </p:sp>
      <p:sp>
        <p:nvSpPr>
          <p:cNvPr id="5" name="Pastille"/>
          <p:cNvSpPr/>
          <p:nvPr/>
        </p:nvSpPr>
        <p:spPr>
          <a:xfrm>
            <a:off x="731520" y="1508760"/>
            <a:ext cx="457200" cy="457200"/>
          </a:xfrm>
          <a:prstGeom prst="ellipse">
            <a:avLst/>
          </a:prstGeom>
          <a:solidFill>
            <a:schemeClr val="accent1"/>
          </a:solidFill>
          <a:ln w="12700">
            <a:solidFill>
              <a:schemeClr val="accent1"/>
            </a:solidFill>
            <a:prstDash val="solid"/>
          </a:ln>
        </p:spPr>
      </p:sp>
      <p:sp>
        <p:nvSpPr>
          <p:cNvPr id="6" name="Numéro 3"/>
          <p:cNvSpPr txBox="1"/>
          <p:nvPr/>
        </p:nvSpPr>
        <p:spPr>
          <a:xfrm>
            <a:off x="731520" y="1508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7" name="Text 5"/>
          <p:cNvSpPr txBox="1"/>
          <p:nvPr/>
        </p:nvSpPr>
        <p:spPr>
          <a:xfrm>
            <a:off x="1371600" y="1463040"/>
            <a:ext cx="10058400" cy="594360"/>
          </a:xfrm>
          <a:prstGeom prst="rect">
            <a:avLst/>
          </a:prstGeom>
          <a:noFill/>
          <a:ln/>
        </p:spPr>
        <p:txBody>
          <a:bodyPr wrap="square" lIns="0" tIns="0" rIns="0" bIns="0" rtlCol="0" anchor="ctr"/>
          <a:lstStyle/>
          <a:p>
            <a:pPr indent="0" marL="0">
              <a:buNone/>
            </a:pPr>
            <a:r>
              <a:rPr lang="en-US" sz="1600" b="1" dirty="0">
                <a:solidFill>
                  <a:schemeClr val="tx1"/>
                </a:solidFill>
              </a:rPr>
              <a:t>Pourquoi nettoie-t-on un texte (minuscules, accents, ponctuation) avant de l’analyser ?</a:t>
            </a:r>
            <a:endParaRPr lang="en-US" sz="1600" dirty="0"/>
          </a:p>
        </p:txBody>
      </p:sp>
      <p:sp>
        <p:nvSpPr>
          <p:cNvPr id="8" name="Carte"/>
          <p:cNvSpPr/>
          <p:nvPr/>
        </p:nvSpPr>
        <p:spPr>
          <a:xfrm>
            <a:off x="1371600" y="2148840"/>
            <a:ext cx="4983480" cy="475488"/>
          </a:xfrm>
          <a:prstGeom prst="roundRect">
            <a:avLst>
              <a:gd name="adj" fmla="val 15385"/>
            </a:avLst>
          </a:prstGeom>
          <a:solidFill>
            <a:schemeClr val="bg1"/>
          </a:solidFill>
          <a:ln w="12700">
            <a:solidFill>
              <a:schemeClr val="accent5"/>
            </a:solidFill>
            <a:prstDash val="solid"/>
          </a:ln>
        </p:spPr>
      </p:sp>
      <p:sp>
        <p:nvSpPr>
          <p:cNvPr id="9" name="Text 7"/>
          <p:cNvSpPr txBox="1"/>
          <p:nvPr/>
        </p:nvSpPr>
        <p:spPr>
          <a:xfrm>
            <a:off x="1508760" y="2148840"/>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A   </a:t>
            </a:r>
            <a:r>
              <a:rPr lang="en-US" sz="1300" dirty="0">
                <a:solidFill>
                  <a:schemeClr val="tx1"/>
                </a:solidFill>
              </a:rPr>
              <a:t>Pour que des variantes sans importance ne soient pas prises pour des mots différents</a:t>
            </a:r>
            <a:endParaRPr lang="en-US" sz="1300" dirty="0"/>
          </a:p>
        </p:txBody>
      </p:sp>
      <p:sp>
        <p:nvSpPr>
          <p:cNvPr id="10" name="Carte"/>
          <p:cNvSpPr/>
          <p:nvPr/>
        </p:nvSpPr>
        <p:spPr>
          <a:xfrm>
            <a:off x="6492240" y="2148840"/>
            <a:ext cx="4983480" cy="475488"/>
          </a:xfrm>
          <a:prstGeom prst="roundRect">
            <a:avLst>
              <a:gd name="adj" fmla="val 15385"/>
            </a:avLst>
          </a:prstGeom>
          <a:solidFill>
            <a:schemeClr val="bg1"/>
          </a:solidFill>
          <a:ln w="12700">
            <a:solidFill>
              <a:schemeClr val="accent5"/>
            </a:solidFill>
            <a:prstDash val="solid"/>
          </a:ln>
        </p:spPr>
      </p:sp>
      <p:sp>
        <p:nvSpPr>
          <p:cNvPr id="11" name="Text 9"/>
          <p:cNvSpPr txBox="1"/>
          <p:nvPr/>
        </p:nvSpPr>
        <p:spPr>
          <a:xfrm>
            <a:off x="6629400" y="2148840"/>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B   </a:t>
            </a:r>
            <a:r>
              <a:rPr lang="en-US" sz="1300" dirty="0">
                <a:solidFill>
                  <a:schemeClr val="tx1"/>
                </a:solidFill>
              </a:rPr>
              <a:t>Pour que le texte soit plus joli</a:t>
            </a:r>
            <a:endParaRPr lang="en-US" sz="1300" dirty="0"/>
          </a:p>
        </p:txBody>
      </p:sp>
      <p:sp>
        <p:nvSpPr>
          <p:cNvPr id="12" name="Carte"/>
          <p:cNvSpPr/>
          <p:nvPr/>
        </p:nvSpPr>
        <p:spPr>
          <a:xfrm>
            <a:off x="1371600" y="2715768"/>
            <a:ext cx="4983480" cy="475488"/>
          </a:xfrm>
          <a:prstGeom prst="roundRect">
            <a:avLst>
              <a:gd name="adj" fmla="val 15385"/>
            </a:avLst>
          </a:prstGeom>
          <a:solidFill>
            <a:schemeClr val="bg1"/>
          </a:solidFill>
          <a:ln w="12700">
            <a:solidFill>
              <a:schemeClr val="accent5"/>
            </a:solidFill>
            <a:prstDash val="solid"/>
          </a:ln>
        </p:spPr>
      </p:sp>
      <p:sp>
        <p:nvSpPr>
          <p:cNvPr id="13" name="Text 11"/>
          <p:cNvSpPr txBox="1"/>
          <p:nvPr/>
        </p:nvSpPr>
        <p:spPr>
          <a:xfrm>
            <a:off x="1508760" y="2715768"/>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C   </a:t>
            </a:r>
            <a:r>
              <a:rPr lang="en-US" sz="1300" dirty="0">
                <a:solidFill>
                  <a:schemeClr val="tx1"/>
                </a:solidFill>
              </a:rPr>
              <a:t>Pour réduire la taille du fichier uniquement</a:t>
            </a:r>
            <a:endParaRPr lang="en-US" sz="1300" dirty="0"/>
          </a:p>
        </p:txBody>
      </p:sp>
      <p:sp>
        <p:nvSpPr>
          <p:cNvPr id="14" name="Carte"/>
          <p:cNvSpPr/>
          <p:nvPr/>
        </p:nvSpPr>
        <p:spPr>
          <a:xfrm>
            <a:off x="6492240" y="2715768"/>
            <a:ext cx="4983480" cy="475488"/>
          </a:xfrm>
          <a:prstGeom prst="roundRect">
            <a:avLst>
              <a:gd name="adj" fmla="val 15385"/>
            </a:avLst>
          </a:prstGeom>
          <a:solidFill>
            <a:schemeClr val="bg1"/>
          </a:solidFill>
          <a:ln w="12700">
            <a:solidFill>
              <a:schemeClr val="accent5"/>
            </a:solidFill>
            <a:prstDash val="solid"/>
          </a:ln>
        </p:spPr>
      </p:sp>
      <p:sp>
        <p:nvSpPr>
          <p:cNvPr id="15" name="Text 13"/>
          <p:cNvSpPr txBox="1"/>
          <p:nvPr/>
        </p:nvSpPr>
        <p:spPr>
          <a:xfrm>
            <a:off x="6629400" y="2715768"/>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D   </a:t>
            </a:r>
            <a:r>
              <a:rPr lang="en-US" sz="1300" dirty="0">
                <a:solidFill>
                  <a:schemeClr val="tx1"/>
                </a:solidFill>
              </a:rPr>
              <a:t>Pour cacher les données personnelles</a:t>
            </a:r>
            <a:endParaRPr lang="en-US" sz="1300" dirty="0"/>
          </a:p>
        </p:txBody>
      </p:sp>
      <p:sp>
        <p:nvSpPr>
          <p:cNvPr id="16" name="Carte"/>
          <p:cNvSpPr/>
          <p:nvPr/>
        </p:nvSpPr>
        <p:spPr>
          <a:xfrm>
            <a:off x="548640" y="3749040"/>
            <a:ext cx="11091672" cy="2240280"/>
          </a:xfrm>
          <a:prstGeom prst="roundRect">
            <a:avLst>
              <a:gd name="adj" fmla="val 3265"/>
            </a:avLst>
          </a:prstGeom>
          <a:solidFill>
            <a:schemeClr val="bg2"/>
          </a:solidFill>
          <a:ln w="12700">
            <a:solidFill>
              <a:schemeClr val="bg2"/>
            </a:solidFill>
            <a:prstDash val="solid"/>
          </a:ln>
        </p:spPr>
      </p:sp>
      <p:sp>
        <p:nvSpPr>
          <p:cNvPr id="17" name="Pastille"/>
          <p:cNvSpPr/>
          <p:nvPr/>
        </p:nvSpPr>
        <p:spPr>
          <a:xfrm>
            <a:off x="731520" y="3886200"/>
            <a:ext cx="457200" cy="457200"/>
          </a:xfrm>
          <a:prstGeom prst="ellipse">
            <a:avLst/>
          </a:prstGeom>
          <a:solidFill>
            <a:schemeClr val="accent1"/>
          </a:solidFill>
          <a:ln w="12700">
            <a:solidFill>
              <a:schemeClr val="accent1"/>
            </a:solidFill>
            <a:prstDash val="solid"/>
          </a:ln>
        </p:spPr>
      </p:sp>
      <p:sp>
        <p:nvSpPr>
          <p:cNvPr id="18" name="Numéro 4"/>
          <p:cNvSpPr txBox="1"/>
          <p:nvPr/>
        </p:nvSpPr>
        <p:spPr>
          <a:xfrm>
            <a:off x="731520" y="3886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7"/>
          <p:cNvSpPr txBox="1"/>
          <p:nvPr/>
        </p:nvSpPr>
        <p:spPr>
          <a:xfrm>
            <a:off x="1371600" y="3840480"/>
            <a:ext cx="10058400" cy="594360"/>
          </a:xfrm>
          <a:prstGeom prst="rect">
            <a:avLst/>
          </a:prstGeom>
          <a:noFill/>
          <a:ln/>
        </p:spPr>
        <p:txBody>
          <a:bodyPr wrap="square" lIns="0" tIns="0" rIns="0" bIns="0" rtlCol="0" anchor="ctr"/>
          <a:lstStyle/>
          <a:p>
            <a:pPr indent="0" marL="0">
              <a:buNone/>
            </a:pPr>
            <a:r>
              <a:rPr lang="en-US" sz="1600" b="1" dirty="0">
                <a:solidFill>
                  <a:schemeClr val="tx1"/>
                </a:solidFill>
              </a:rPr>
              <a:t>Dans la méthode du « sac de mots », que conserve-t-on d’un message ?</a:t>
            </a:r>
            <a:endParaRPr lang="en-US" sz="1600" dirty="0"/>
          </a:p>
        </p:txBody>
      </p:sp>
      <p:sp>
        <p:nvSpPr>
          <p:cNvPr id="20" name="Carte"/>
          <p:cNvSpPr/>
          <p:nvPr/>
        </p:nvSpPr>
        <p:spPr>
          <a:xfrm>
            <a:off x="1371600" y="4526280"/>
            <a:ext cx="4983480" cy="475488"/>
          </a:xfrm>
          <a:prstGeom prst="roundRect">
            <a:avLst>
              <a:gd name="adj" fmla="val 15385"/>
            </a:avLst>
          </a:prstGeom>
          <a:solidFill>
            <a:schemeClr val="bg1"/>
          </a:solidFill>
          <a:ln w="12700">
            <a:solidFill>
              <a:schemeClr val="accent5"/>
            </a:solidFill>
            <a:prstDash val="solid"/>
          </a:ln>
        </p:spPr>
      </p:sp>
      <p:sp>
        <p:nvSpPr>
          <p:cNvPr id="21" name="Text 19"/>
          <p:cNvSpPr txBox="1"/>
          <p:nvPr/>
        </p:nvSpPr>
        <p:spPr>
          <a:xfrm>
            <a:off x="1508760" y="4526280"/>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A   </a:t>
            </a:r>
            <a:r>
              <a:rPr lang="en-US" sz="1300" dirty="0">
                <a:solidFill>
                  <a:schemeClr val="tx1"/>
                </a:solidFill>
              </a:rPr>
              <a:t>L’ordre exact des mots et le ton employé</a:t>
            </a:r>
            <a:endParaRPr lang="en-US" sz="1300" dirty="0"/>
          </a:p>
        </p:txBody>
      </p:sp>
      <p:sp>
        <p:nvSpPr>
          <p:cNvPr id="22" name="Carte"/>
          <p:cNvSpPr/>
          <p:nvPr/>
        </p:nvSpPr>
        <p:spPr>
          <a:xfrm>
            <a:off x="6492240" y="4526280"/>
            <a:ext cx="4983480" cy="475488"/>
          </a:xfrm>
          <a:prstGeom prst="roundRect">
            <a:avLst>
              <a:gd name="adj" fmla="val 15385"/>
            </a:avLst>
          </a:prstGeom>
          <a:solidFill>
            <a:schemeClr val="bg1"/>
          </a:solidFill>
          <a:ln w="12700">
            <a:solidFill>
              <a:schemeClr val="accent5"/>
            </a:solidFill>
            <a:prstDash val="solid"/>
          </a:ln>
        </p:spPr>
      </p:sp>
      <p:sp>
        <p:nvSpPr>
          <p:cNvPr id="23" name="Text 21"/>
          <p:cNvSpPr txBox="1"/>
          <p:nvPr/>
        </p:nvSpPr>
        <p:spPr>
          <a:xfrm>
            <a:off x="6629400" y="4526280"/>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B   </a:t>
            </a:r>
            <a:r>
              <a:rPr lang="en-US" sz="1300" dirty="0">
                <a:solidFill>
                  <a:schemeClr val="tx1"/>
                </a:solidFill>
              </a:rPr>
              <a:t>Seulement le premier et le dernier mot</a:t>
            </a:r>
            <a:endParaRPr lang="en-US" sz="1300" dirty="0"/>
          </a:p>
        </p:txBody>
      </p:sp>
      <p:sp>
        <p:nvSpPr>
          <p:cNvPr id="24" name="Carte"/>
          <p:cNvSpPr/>
          <p:nvPr/>
        </p:nvSpPr>
        <p:spPr>
          <a:xfrm>
            <a:off x="1371600" y="5093208"/>
            <a:ext cx="4983480" cy="475488"/>
          </a:xfrm>
          <a:prstGeom prst="roundRect">
            <a:avLst>
              <a:gd name="adj" fmla="val 15385"/>
            </a:avLst>
          </a:prstGeom>
          <a:solidFill>
            <a:schemeClr val="bg1"/>
          </a:solidFill>
          <a:ln w="12700">
            <a:solidFill>
              <a:schemeClr val="accent5"/>
            </a:solidFill>
            <a:prstDash val="solid"/>
          </a:ln>
        </p:spPr>
      </p:sp>
      <p:sp>
        <p:nvSpPr>
          <p:cNvPr id="25" name="Text 23"/>
          <p:cNvSpPr txBox="1"/>
          <p:nvPr/>
        </p:nvSpPr>
        <p:spPr>
          <a:xfrm>
            <a:off x="1508760" y="5093208"/>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C   </a:t>
            </a:r>
            <a:r>
              <a:rPr lang="en-US" sz="1300" dirty="0">
                <a:solidFill>
                  <a:schemeClr val="tx1"/>
                </a:solidFill>
              </a:rPr>
              <a:t>Les mots présents et le nombre de fois où ils apparaissent</a:t>
            </a:r>
            <a:endParaRPr lang="en-US" sz="1300" dirty="0"/>
          </a:p>
        </p:txBody>
      </p:sp>
      <p:sp>
        <p:nvSpPr>
          <p:cNvPr id="26" name="Carte"/>
          <p:cNvSpPr/>
          <p:nvPr/>
        </p:nvSpPr>
        <p:spPr>
          <a:xfrm>
            <a:off x="6492240" y="5093208"/>
            <a:ext cx="4983480" cy="475488"/>
          </a:xfrm>
          <a:prstGeom prst="roundRect">
            <a:avLst>
              <a:gd name="adj" fmla="val 15385"/>
            </a:avLst>
          </a:prstGeom>
          <a:solidFill>
            <a:schemeClr val="bg1"/>
          </a:solidFill>
          <a:ln w="12700">
            <a:solidFill>
              <a:schemeClr val="accent5"/>
            </a:solidFill>
            <a:prstDash val="solid"/>
          </a:ln>
        </p:spPr>
      </p:sp>
      <p:sp>
        <p:nvSpPr>
          <p:cNvPr id="27" name="Text 25"/>
          <p:cNvSpPr txBox="1"/>
          <p:nvPr/>
        </p:nvSpPr>
        <p:spPr>
          <a:xfrm>
            <a:off x="6629400" y="5093208"/>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D   </a:t>
            </a:r>
            <a:r>
              <a:rPr lang="en-US" sz="1300" dirty="0">
                <a:solidFill>
                  <a:schemeClr val="tx1"/>
                </a:solidFill>
              </a:rPr>
              <a:t>Le sens profond de la phrase</a:t>
            </a:r>
            <a:endParaRPr lang="en-US" sz="13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Quiz de sortie · questions 5 à 6 sur 10</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QUIZ DE SORTIE</a:t>
            </a:r>
            <a:endParaRPr lang="en-US" sz="1200" dirty="0"/>
          </a:p>
        </p:txBody>
      </p:sp>
      <p:sp>
        <p:nvSpPr>
          <p:cNvPr id="4" name="Carte"/>
          <p:cNvSpPr/>
          <p:nvPr/>
        </p:nvSpPr>
        <p:spPr>
          <a:xfrm>
            <a:off x="548640" y="1371600"/>
            <a:ext cx="11091672" cy="2240280"/>
          </a:xfrm>
          <a:prstGeom prst="roundRect">
            <a:avLst>
              <a:gd name="adj" fmla="val 3265"/>
            </a:avLst>
          </a:prstGeom>
          <a:solidFill>
            <a:schemeClr val="bg2"/>
          </a:solidFill>
          <a:ln w="12700">
            <a:solidFill>
              <a:schemeClr val="bg2"/>
            </a:solidFill>
            <a:prstDash val="solid"/>
          </a:ln>
        </p:spPr>
      </p:sp>
      <p:sp>
        <p:nvSpPr>
          <p:cNvPr id="5" name="Pastille"/>
          <p:cNvSpPr/>
          <p:nvPr/>
        </p:nvSpPr>
        <p:spPr>
          <a:xfrm>
            <a:off x="731520" y="1508760"/>
            <a:ext cx="457200" cy="457200"/>
          </a:xfrm>
          <a:prstGeom prst="ellipse">
            <a:avLst/>
          </a:prstGeom>
          <a:solidFill>
            <a:schemeClr val="accent1"/>
          </a:solidFill>
          <a:ln w="12700">
            <a:solidFill>
              <a:schemeClr val="accent1"/>
            </a:solidFill>
            <a:prstDash val="solid"/>
          </a:ln>
        </p:spPr>
      </p:sp>
      <p:sp>
        <p:nvSpPr>
          <p:cNvPr id="6" name="Numéro 5"/>
          <p:cNvSpPr txBox="1"/>
          <p:nvPr/>
        </p:nvSpPr>
        <p:spPr>
          <a:xfrm>
            <a:off x="731520" y="1508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7" name="Text 5"/>
          <p:cNvSpPr txBox="1"/>
          <p:nvPr/>
        </p:nvSpPr>
        <p:spPr>
          <a:xfrm>
            <a:off x="1371600" y="1463040"/>
            <a:ext cx="10058400" cy="594360"/>
          </a:xfrm>
          <a:prstGeom prst="rect">
            <a:avLst/>
          </a:prstGeom>
          <a:noFill/>
          <a:ln/>
        </p:spPr>
        <p:txBody>
          <a:bodyPr wrap="square" lIns="0" tIns="0" rIns="0" bIns="0" rtlCol="0" anchor="ctr"/>
          <a:lstStyle/>
          <a:p>
            <a:pPr indent="0" marL="0">
              <a:buNone/>
            </a:pPr>
            <a:r>
              <a:rPr lang="en-US" sz="1600" b="1" dirty="0">
                <a:solidFill>
                  <a:schemeClr val="tx1"/>
                </a:solidFill>
              </a:rPr>
              <a:t>Le mot « enfant » apparaît dans presque tous les messages. Pour trier par sujet, ce mot est…</a:t>
            </a:r>
            <a:endParaRPr lang="en-US" sz="1600" dirty="0"/>
          </a:p>
        </p:txBody>
      </p:sp>
      <p:sp>
        <p:nvSpPr>
          <p:cNvPr id="8" name="Carte"/>
          <p:cNvSpPr/>
          <p:nvPr/>
        </p:nvSpPr>
        <p:spPr>
          <a:xfrm>
            <a:off x="1371600" y="2148840"/>
            <a:ext cx="4983480" cy="475488"/>
          </a:xfrm>
          <a:prstGeom prst="roundRect">
            <a:avLst>
              <a:gd name="adj" fmla="val 15385"/>
            </a:avLst>
          </a:prstGeom>
          <a:solidFill>
            <a:schemeClr val="bg1"/>
          </a:solidFill>
          <a:ln w="12700">
            <a:solidFill>
              <a:schemeClr val="accent5"/>
            </a:solidFill>
            <a:prstDash val="solid"/>
          </a:ln>
        </p:spPr>
      </p:sp>
      <p:sp>
        <p:nvSpPr>
          <p:cNvPr id="9" name="Text 7"/>
          <p:cNvSpPr txBox="1"/>
          <p:nvPr/>
        </p:nvSpPr>
        <p:spPr>
          <a:xfrm>
            <a:off x="1508760" y="2148840"/>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A   </a:t>
            </a:r>
            <a:r>
              <a:rPr lang="en-US" sz="1300" dirty="0">
                <a:solidFill>
                  <a:schemeClr val="tx1"/>
                </a:solidFill>
              </a:rPr>
              <a:t>Très utile, car il est fréquent</a:t>
            </a:r>
            <a:endParaRPr lang="en-US" sz="1300" dirty="0"/>
          </a:p>
        </p:txBody>
      </p:sp>
      <p:sp>
        <p:nvSpPr>
          <p:cNvPr id="10" name="Carte"/>
          <p:cNvSpPr/>
          <p:nvPr/>
        </p:nvSpPr>
        <p:spPr>
          <a:xfrm>
            <a:off x="6492240" y="2148840"/>
            <a:ext cx="4983480" cy="475488"/>
          </a:xfrm>
          <a:prstGeom prst="roundRect">
            <a:avLst>
              <a:gd name="adj" fmla="val 15385"/>
            </a:avLst>
          </a:prstGeom>
          <a:solidFill>
            <a:schemeClr val="bg1"/>
          </a:solidFill>
          <a:ln w="12700">
            <a:solidFill>
              <a:schemeClr val="accent5"/>
            </a:solidFill>
            <a:prstDash val="solid"/>
          </a:ln>
        </p:spPr>
      </p:sp>
      <p:sp>
        <p:nvSpPr>
          <p:cNvPr id="11" name="Text 9"/>
          <p:cNvSpPr txBox="1"/>
          <p:nvPr/>
        </p:nvSpPr>
        <p:spPr>
          <a:xfrm>
            <a:off x="6629400" y="2148840"/>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B   </a:t>
            </a:r>
            <a:r>
              <a:rPr lang="en-US" sz="1300" dirty="0">
                <a:solidFill>
                  <a:schemeClr val="tx1"/>
                </a:solidFill>
              </a:rPr>
              <a:t>Peu utile, car il ne distingue pas les catégories entre elles</a:t>
            </a:r>
            <a:endParaRPr lang="en-US" sz="1300" dirty="0"/>
          </a:p>
        </p:txBody>
      </p:sp>
      <p:sp>
        <p:nvSpPr>
          <p:cNvPr id="12" name="Carte"/>
          <p:cNvSpPr/>
          <p:nvPr/>
        </p:nvSpPr>
        <p:spPr>
          <a:xfrm>
            <a:off x="1371600" y="2715768"/>
            <a:ext cx="4983480" cy="475488"/>
          </a:xfrm>
          <a:prstGeom prst="roundRect">
            <a:avLst>
              <a:gd name="adj" fmla="val 15385"/>
            </a:avLst>
          </a:prstGeom>
          <a:solidFill>
            <a:schemeClr val="bg1"/>
          </a:solidFill>
          <a:ln w="12700">
            <a:solidFill>
              <a:schemeClr val="accent5"/>
            </a:solidFill>
            <a:prstDash val="solid"/>
          </a:ln>
        </p:spPr>
      </p:sp>
      <p:sp>
        <p:nvSpPr>
          <p:cNvPr id="13" name="Text 11"/>
          <p:cNvSpPr txBox="1"/>
          <p:nvPr/>
        </p:nvSpPr>
        <p:spPr>
          <a:xfrm>
            <a:off x="1508760" y="2715768"/>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C   </a:t>
            </a:r>
            <a:r>
              <a:rPr lang="en-US" sz="1300" dirty="0">
                <a:solidFill>
                  <a:schemeClr val="tx1"/>
                </a:solidFill>
              </a:rPr>
              <a:t>Obligatoire pour le tri</a:t>
            </a:r>
            <a:endParaRPr lang="en-US" sz="1300" dirty="0"/>
          </a:p>
        </p:txBody>
      </p:sp>
      <p:sp>
        <p:nvSpPr>
          <p:cNvPr id="14" name="Carte"/>
          <p:cNvSpPr/>
          <p:nvPr/>
        </p:nvSpPr>
        <p:spPr>
          <a:xfrm>
            <a:off x="6492240" y="2715768"/>
            <a:ext cx="4983480" cy="475488"/>
          </a:xfrm>
          <a:prstGeom prst="roundRect">
            <a:avLst>
              <a:gd name="adj" fmla="val 15385"/>
            </a:avLst>
          </a:prstGeom>
          <a:solidFill>
            <a:schemeClr val="bg1"/>
          </a:solidFill>
          <a:ln w="12700">
            <a:solidFill>
              <a:schemeClr val="accent5"/>
            </a:solidFill>
            <a:prstDash val="solid"/>
          </a:ln>
        </p:spPr>
      </p:sp>
      <p:sp>
        <p:nvSpPr>
          <p:cNvPr id="15" name="Text 13"/>
          <p:cNvSpPr txBox="1"/>
          <p:nvPr/>
        </p:nvSpPr>
        <p:spPr>
          <a:xfrm>
            <a:off x="6629400" y="2715768"/>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D   </a:t>
            </a:r>
            <a:r>
              <a:rPr lang="en-US" sz="1300" dirty="0">
                <a:solidFill>
                  <a:schemeClr val="tx1"/>
                </a:solidFill>
              </a:rPr>
              <a:t>Dangereux et à signaler</a:t>
            </a:r>
            <a:endParaRPr lang="en-US" sz="1300" dirty="0"/>
          </a:p>
        </p:txBody>
      </p:sp>
      <p:sp>
        <p:nvSpPr>
          <p:cNvPr id="16" name="Carte"/>
          <p:cNvSpPr/>
          <p:nvPr/>
        </p:nvSpPr>
        <p:spPr>
          <a:xfrm>
            <a:off x="548640" y="3749040"/>
            <a:ext cx="11091672" cy="2240280"/>
          </a:xfrm>
          <a:prstGeom prst="roundRect">
            <a:avLst>
              <a:gd name="adj" fmla="val 3265"/>
            </a:avLst>
          </a:prstGeom>
          <a:solidFill>
            <a:schemeClr val="bg2"/>
          </a:solidFill>
          <a:ln w="12700">
            <a:solidFill>
              <a:schemeClr val="bg2"/>
            </a:solidFill>
            <a:prstDash val="solid"/>
          </a:ln>
        </p:spPr>
      </p:sp>
      <p:sp>
        <p:nvSpPr>
          <p:cNvPr id="17" name="Pastille"/>
          <p:cNvSpPr/>
          <p:nvPr/>
        </p:nvSpPr>
        <p:spPr>
          <a:xfrm>
            <a:off x="731520" y="3886200"/>
            <a:ext cx="457200" cy="457200"/>
          </a:xfrm>
          <a:prstGeom prst="ellipse">
            <a:avLst/>
          </a:prstGeom>
          <a:solidFill>
            <a:schemeClr val="accent1"/>
          </a:solidFill>
          <a:ln w="12700">
            <a:solidFill>
              <a:schemeClr val="accent1"/>
            </a:solidFill>
            <a:prstDash val="solid"/>
          </a:ln>
        </p:spPr>
      </p:sp>
      <p:sp>
        <p:nvSpPr>
          <p:cNvPr id="18" name="Numéro 6"/>
          <p:cNvSpPr txBox="1"/>
          <p:nvPr/>
        </p:nvSpPr>
        <p:spPr>
          <a:xfrm>
            <a:off x="731520" y="3886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19" name="Text 17"/>
          <p:cNvSpPr txBox="1"/>
          <p:nvPr/>
        </p:nvSpPr>
        <p:spPr>
          <a:xfrm>
            <a:off x="1371600" y="3840480"/>
            <a:ext cx="10058400" cy="594360"/>
          </a:xfrm>
          <a:prstGeom prst="rect">
            <a:avLst/>
          </a:prstGeom>
          <a:noFill/>
          <a:ln/>
        </p:spPr>
        <p:txBody>
          <a:bodyPr wrap="square" lIns="0" tIns="0" rIns="0" bIns="0" rtlCol="0" anchor="ctr"/>
          <a:lstStyle/>
          <a:p>
            <a:pPr indent="0" marL="0">
              <a:buNone/>
            </a:pPr>
            <a:r>
              <a:rPr lang="en-US" sz="1600" b="1" dirty="0">
                <a:solidFill>
                  <a:schemeClr val="tx1"/>
                </a:solidFill>
              </a:rPr>
              <a:t>Pourquoi teste-t-on le modèle sur des messages qu’il n’a jamais vus ?</a:t>
            </a:r>
            <a:endParaRPr lang="en-US" sz="1600" dirty="0"/>
          </a:p>
        </p:txBody>
      </p:sp>
      <p:sp>
        <p:nvSpPr>
          <p:cNvPr id="20" name="Carte"/>
          <p:cNvSpPr/>
          <p:nvPr/>
        </p:nvSpPr>
        <p:spPr>
          <a:xfrm>
            <a:off x="1371600" y="4526280"/>
            <a:ext cx="4983480" cy="475488"/>
          </a:xfrm>
          <a:prstGeom prst="roundRect">
            <a:avLst>
              <a:gd name="adj" fmla="val 15385"/>
            </a:avLst>
          </a:prstGeom>
          <a:solidFill>
            <a:schemeClr val="bg1"/>
          </a:solidFill>
          <a:ln w="12700">
            <a:solidFill>
              <a:schemeClr val="accent5"/>
            </a:solidFill>
            <a:prstDash val="solid"/>
          </a:ln>
        </p:spPr>
      </p:sp>
      <p:sp>
        <p:nvSpPr>
          <p:cNvPr id="21" name="Text 19"/>
          <p:cNvSpPr txBox="1"/>
          <p:nvPr/>
        </p:nvSpPr>
        <p:spPr>
          <a:xfrm>
            <a:off x="1508760" y="4526280"/>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A   </a:t>
            </a:r>
            <a:r>
              <a:rPr lang="en-US" sz="1300" dirty="0">
                <a:solidFill>
                  <a:schemeClr val="tx1"/>
                </a:solidFill>
              </a:rPr>
              <a:t>Pour mesurer honnêtement sa qualité, comme un examen avec de nouvelles questions</a:t>
            </a:r>
            <a:endParaRPr lang="en-US" sz="1300" dirty="0"/>
          </a:p>
        </p:txBody>
      </p:sp>
      <p:sp>
        <p:nvSpPr>
          <p:cNvPr id="22" name="Carte"/>
          <p:cNvSpPr/>
          <p:nvPr/>
        </p:nvSpPr>
        <p:spPr>
          <a:xfrm>
            <a:off x="6492240" y="4526280"/>
            <a:ext cx="4983480" cy="475488"/>
          </a:xfrm>
          <a:prstGeom prst="roundRect">
            <a:avLst>
              <a:gd name="adj" fmla="val 15385"/>
            </a:avLst>
          </a:prstGeom>
          <a:solidFill>
            <a:schemeClr val="bg1"/>
          </a:solidFill>
          <a:ln w="12700">
            <a:solidFill>
              <a:schemeClr val="accent5"/>
            </a:solidFill>
            <a:prstDash val="solid"/>
          </a:ln>
        </p:spPr>
      </p:sp>
      <p:sp>
        <p:nvSpPr>
          <p:cNvPr id="23" name="Text 21"/>
          <p:cNvSpPr txBox="1"/>
          <p:nvPr/>
        </p:nvSpPr>
        <p:spPr>
          <a:xfrm>
            <a:off x="6629400" y="4526280"/>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B   </a:t>
            </a:r>
            <a:r>
              <a:rPr lang="en-US" sz="1300" dirty="0">
                <a:solidFill>
                  <a:schemeClr val="tx1"/>
                </a:solidFill>
              </a:rPr>
              <a:t>Pour l’entraîner plus longtemps</a:t>
            </a:r>
            <a:endParaRPr lang="en-US" sz="1300" dirty="0"/>
          </a:p>
        </p:txBody>
      </p:sp>
      <p:sp>
        <p:nvSpPr>
          <p:cNvPr id="24" name="Carte"/>
          <p:cNvSpPr/>
          <p:nvPr/>
        </p:nvSpPr>
        <p:spPr>
          <a:xfrm>
            <a:off x="1371600" y="5093208"/>
            <a:ext cx="4983480" cy="475488"/>
          </a:xfrm>
          <a:prstGeom prst="roundRect">
            <a:avLst>
              <a:gd name="adj" fmla="val 15385"/>
            </a:avLst>
          </a:prstGeom>
          <a:solidFill>
            <a:schemeClr val="bg1"/>
          </a:solidFill>
          <a:ln w="12700">
            <a:solidFill>
              <a:schemeClr val="accent5"/>
            </a:solidFill>
            <a:prstDash val="solid"/>
          </a:ln>
        </p:spPr>
      </p:sp>
      <p:sp>
        <p:nvSpPr>
          <p:cNvPr id="25" name="Text 23"/>
          <p:cNvSpPr txBox="1"/>
          <p:nvPr/>
        </p:nvSpPr>
        <p:spPr>
          <a:xfrm>
            <a:off x="1508760" y="5093208"/>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C   </a:t>
            </a:r>
            <a:r>
              <a:rPr lang="en-US" sz="1300" dirty="0">
                <a:solidFill>
                  <a:schemeClr val="tx1"/>
                </a:solidFill>
              </a:rPr>
              <a:t>Pour gagner de la place mémoire</a:t>
            </a:r>
            <a:endParaRPr lang="en-US" sz="1300" dirty="0"/>
          </a:p>
        </p:txBody>
      </p:sp>
      <p:sp>
        <p:nvSpPr>
          <p:cNvPr id="26" name="Carte"/>
          <p:cNvSpPr/>
          <p:nvPr/>
        </p:nvSpPr>
        <p:spPr>
          <a:xfrm>
            <a:off x="6492240" y="5093208"/>
            <a:ext cx="4983480" cy="475488"/>
          </a:xfrm>
          <a:prstGeom prst="roundRect">
            <a:avLst>
              <a:gd name="adj" fmla="val 15385"/>
            </a:avLst>
          </a:prstGeom>
          <a:solidFill>
            <a:schemeClr val="bg1"/>
          </a:solidFill>
          <a:ln w="12700">
            <a:solidFill>
              <a:schemeClr val="accent5"/>
            </a:solidFill>
            <a:prstDash val="solid"/>
          </a:ln>
        </p:spPr>
      </p:sp>
      <p:sp>
        <p:nvSpPr>
          <p:cNvPr id="27" name="Text 25"/>
          <p:cNvSpPr txBox="1"/>
          <p:nvPr/>
        </p:nvSpPr>
        <p:spPr>
          <a:xfrm>
            <a:off x="6629400" y="5093208"/>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D   </a:t>
            </a:r>
            <a:r>
              <a:rPr lang="en-US" sz="1300" dirty="0">
                <a:solidFill>
                  <a:schemeClr val="tx1"/>
                </a:solidFill>
              </a:rPr>
              <a:t>Parce que c’est moins cher</a:t>
            </a:r>
            <a:endParaRPr lang="en-US" sz="13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Quiz de sortie · questions 7 à 8 sur 10</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QUIZ DE SORTIE</a:t>
            </a:r>
            <a:endParaRPr lang="en-US" sz="1200" dirty="0"/>
          </a:p>
        </p:txBody>
      </p:sp>
      <p:sp>
        <p:nvSpPr>
          <p:cNvPr id="4" name="Carte"/>
          <p:cNvSpPr/>
          <p:nvPr/>
        </p:nvSpPr>
        <p:spPr>
          <a:xfrm>
            <a:off x="548640" y="1371600"/>
            <a:ext cx="11091672" cy="2240280"/>
          </a:xfrm>
          <a:prstGeom prst="roundRect">
            <a:avLst>
              <a:gd name="adj" fmla="val 3265"/>
            </a:avLst>
          </a:prstGeom>
          <a:solidFill>
            <a:schemeClr val="bg2"/>
          </a:solidFill>
          <a:ln w="12700">
            <a:solidFill>
              <a:schemeClr val="bg2"/>
            </a:solidFill>
            <a:prstDash val="solid"/>
          </a:ln>
        </p:spPr>
      </p:sp>
      <p:sp>
        <p:nvSpPr>
          <p:cNvPr id="5" name="Pastille"/>
          <p:cNvSpPr/>
          <p:nvPr/>
        </p:nvSpPr>
        <p:spPr>
          <a:xfrm>
            <a:off x="731520" y="1508760"/>
            <a:ext cx="457200" cy="457200"/>
          </a:xfrm>
          <a:prstGeom prst="ellipse">
            <a:avLst/>
          </a:prstGeom>
          <a:solidFill>
            <a:schemeClr val="accent1"/>
          </a:solidFill>
          <a:ln w="12700">
            <a:solidFill>
              <a:schemeClr val="accent1"/>
            </a:solidFill>
            <a:prstDash val="solid"/>
          </a:ln>
        </p:spPr>
      </p:sp>
      <p:sp>
        <p:nvSpPr>
          <p:cNvPr id="6" name="Numéro 7"/>
          <p:cNvSpPr txBox="1"/>
          <p:nvPr/>
        </p:nvSpPr>
        <p:spPr>
          <a:xfrm>
            <a:off x="731520" y="1508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7" name="Text 5"/>
          <p:cNvSpPr txBox="1"/>
          <p:nvPr/>
        </p:nvSpPr>
        <p:spPr>
          <a:xfrm>
            <a:off x="1371600" y="1463040"/>
            <a:ext cx="10058400" cy="594360"/>
          </a:xfrm>
          <a:prstGeom prst="rect">
            <a:avLst/>
          </a:prstGeom>
          <a:noFill/>
          <a:ln/>
        </p:spPr>
        <p:txBody>
          <a:bodyPr wrap="square" lIns="0" tIns="0" rIns="0" bIns="0" rtlCol="0" anchor="ctr"/>
          <a:lstStyle/>
          <a:p>
            <a:pPr indent="0" marL="0">
              <a:buNone/>
            </a:pPr>
            <a:r>
              <a:rPr lang="en-US" sz="1600" b="1" dirty="0">
                <a:solidFill>
                  <a:schemeClr val="tx1"/>
                </a:solidFill>
              </a:rPr>
              <a:t>Un modèle classe en « santé » un message qui parle d’école. Comment appelle-t-on cette erreur ?</a:t>
            </a:r>
            <a:endParaRPr lang="en-US" sz="1600" dirty="0"/>
          </a:p>
        </p:txBody>
      </p:sp>
      <p:sp>
        <p:nvSpPr>
          <p:cNvPr id="8" name="Carte"/>
          <p:cNvSpPr/>
          <p:nvPr/>
        </p:nvSpPr>
        <p:spPr>
          <a:xfrm>
            <a:off x="1371600" y="2148840"/>
            <a:ext cx="4983480" cy="475488"/>
          </a:xfrm>
          <a:prstGeom prst="roundRect">
            <a:avLst>
              <a:gd name="adj" fmla="val 15385"/>
            </a:avLst>
          </a:prstGeom>
          <a:solidFill>
            <a:schemeClr val="bg1"/>
          </a:solidFill>
          <a:ln w="12700">
            <a:solidFill>
              <a:schemeClr val="accent5"/>
            </a:solidFill>
            <a:prstDash val="solid"/>
          </a:ln>
        </p:spPr>
      </p:sp>
      <p:sp>
        <p:nvSpPr>
          <p:cNvPr id="9" name="Text 7"/>
          <p:cNvSpPr txBox="1"/>
          <p:nvPr/>
        </p:nvSpPr>
        <p:spPr>
          <a:xfrm>
            <a:off x="1508760" y="2148840"/>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A   </a:t>
            </a:r>
            <a:r>
              <a:rPr lang="en-US" sz="1300" dirty="0">
                <a:solidFill>
                  <a:schemeClr val="tx1"/>
                </a:solidFill>
              </a:rPr>
              <a:t>Un oubli</a:t>
            </a:r>
            <a:endParaRPr lang="en-US" sz="1300" dirty="0"/>
          </a:p>
        </p:txBody>
      </p:sp>
      <p:sp>
        <p:nvSpPr>
          <p:cNvPr id="10" name="Carte"/>
          <p:cNvSpPr/>
          <p:nvPr/>
        </p:nvSpPr>
        <p:spPr>
          <a:xfrm>
            <a:off x="6492240" y="2148840"/>
            <a:ext cx="4983480" cy="475488"/>
          </a:xfrm>
          <a:prstGeom prst="roundRect">
            <a:avLst>
              <a:gd name="adj" fmla="val 15385"/>
            </a:avLst>
          </a:prstGeom>
          <a:solidFill>
            <a:schemeClr val="bg1"/>
          </a:solidFill>
          <a:ln w="12700">
            <a:solidFill>
              <a:schemeClr val="accent5"/>
            </a:solidFill>
            <a:prstDash val="solid"/>
          </a:ln>
        </p:spPr>
      </p:sp>
      <p:sp>
        <p:nvSpPr>
          <p:cNvPr id="11" name="Text 9"/>
          <p:cNvSpPr txBox="1"/>
          <p:nvPr/>
        </p:nvSpPr>
        <p:spPr>
          <a:xfrm>
            <a:off x="6629400" y="2148840"/>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B   </a:t>
            </a:r>
            <a:r>
              <a:rPr lang="en-US" sz="1300" dirty="0">
                <a:solidFill>
                  <a:schemeClr val="tx1"/>
                </a:solidFill>
              </a:rPr>
              <a:t>Une bonne réponse</a:t>
            </a:r>
            <a:endParaRPr lang="en-US" sz="1300" dirty="0"/>
          </a:p>
        </p:txBody>
      </p:sp>
      <p:sp>
        <p:nvSpPr>
          <p:cNvPr id="12" name="Carte"/>
          <p:cNvSpPr/>
          <p:nvPr/>
        </p:nvSpPr>
        <p:spPr>
          <a:xfrm>
            <a:off x="1371600" y="2715768"/>
            <a:ext cx="4983480" cy="475488"/>
          </a:xfrm>
          <a:prstGeom prst="roundRect">
            <a:avLst>
              <a:gd name="adj" fmla="val 15385"/>
            </a:avLst>
          </a:prstGeom>
          <a:solidFill>
            <a:schemeClr val="bg1"/>
          </a:solidFill>
          <a:ln w="12700">
            <a:solidFill>
              <a:schemeClr val="accent5"/>
            </a:solidFill>
            <a:prstDash val="solid"/>
          </a:ln>
        </p:spPr>
      </p:sp>
      <p:sp>
        <p:nvSpPr>
          <p:cNvPr id="13" name="Text 11"/>
          <p:cNvSpPr txBox="1"/>
          <p:nvPr/>
        </p:nvSpPr>
        <p:spPr>
          <a:xfrm>
            <a:off x="1508760" y="2715768"/>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C   </a:t>
            </a:r>
            <a:r>
              <a:rPr lang="en-US" sz="1300" dirty="0">
                <a:solidFill>
                  <a:schemeClr val="tx1"/>
                </a:solidFill>
              </a:rPr>
              <a:t>Une réponse « je ne sais pas »</a:t>
            </a:r>
            <a:endParaRPr lang="en-US" sz="1300" dirty="0"/>
          </a:p>
        </p:txBody>
      </p:sp>
      <p:sp>
        <p:nvSpPr>
          <p:cNvPr id="14" name="Carte"/>
          <p:cNvSpPr/>
          <p:nvPr/>
        </p:nvSpPr>
        <p:spPr>
          <a:xfrm>
            <a:off x="6492240" y="2715768"/>
            <a:ext cx="4983480" cy="475488"/>
          </a:xfrm>
          <a:prstGeom prst="roundRect">
            <a:avLst>
              <a:gd name="adj" fmla="val 15385"/>
            </a:avLst>
          </a:prstGeom>
          <a:solidFill>
            <a:schemeClr val="bg1"/>
          </a:solidFill>
          <a:ln w="12700">
            <a:solidFill>
              <a:schemeClr val="accent5"/>
            </a:solidFill>
            <a:prstDash val="solid"/>
          </a:ln>
        </p:spPr>
      </p:sp>
      <p:sp>
        <p:nvSpPr>
          <p:cNvPr id="15" name="Text 13"/>
          <p:cNvSpPr txBox="1"/>
          <p:nvPr/>
        </p:nvSpPr>
        <p:spPr>
          <a:xfrm>
            <a:off x="6629400" y="2715768"/>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D   </a:t>
            </a:r>
            <a:r>
              <a:rPr lang="en-US" sz="1300" dirty="0">
                <a:solidFill>
                  <a:schemeClr val="tx1"/>
                </a:solidFill>
              </a:rPr>
              <a:t>Une fausse alerte</a:t>
            </a:r>
            <a:endParaRPr lang="en-US" sz="1300" dirty="0"/>
          </a:p>
        </p:txBody>
      </p:sp>
      <p:sp>
        <p:nvSpPr>
          <p:cNvPr id="16" name="Carte"/>
          <p:cNvSpPr/>
          <p:nvPr/>
        </p:nvSpPr>
        <p:spPr>
          <a:xfrm>
            <a:off x="548640" y="3749040"/>
            <a:ext cx="11091672" cy="2240280"/>
          </a:xfrm>
          <a:prstGeom prst="roundRect">
            <a:avLst>
              <a:gd name="adj" fmla="val 3265"/>
            </a:avLst>
          </a:prstGeom>
          <a:solidFill>
            <a:schemeClr val="bg2"/>
          </a:solidFill>
          <a:ln w="12700">
            <a:solidFill>
              <a:schemeClr val="bg2"/>
            </a:solidFill>
            <a:prstDash val="solid"/>
          </a:ln>
        </p:spPr>
      </p:sp>
      <p:sp>
        <p:nvSpPr>
          <p:cNvPr id="17" name="Pastille"/>
          <p:cNvSpPr/>
          <p:nvPr/>
        </p:nvSpPr>
        <p:spPr>
          <a:xfrm>
            <a:off x="731520" y="3886200"/>
            <a:ext cx="457200" cy="457200"/>
          </a:xfrm>
          <a:prstGeom prst="ellipse">
            <a:avLst/>
          </a:prstGeom>
          <a:solidFill>
            <a:schemeClr val="accent1"/>
          </a:solidFill>
          <a:ln w="12700">
            <a:solidFill>
              <a:schemeClr val="accent1"/>
            </a:solidFill>
            <a:prstDash val="solid"/>
          </a:ln>
        </p:spPr>
      </p:sp>
      <p:sp>
        <p:nvSpPr>
          <p:cNvPr id="18" name="Numéro 8"/>
          <p:cNvSpPr txBox="1"/>
          <p:nvPr/>
        </p:nvSpPr>
        <p:spPr>
          <a:xfrm>
            <a:off x="731520" y="3886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19" name="Text 17"/>
          <p:cNvSpPr txBox="1"/>
          <p:nvPr/>
        </p:nvSpPr>
        <p:spPr>
          <a:xfrm>
            <a:off x="1371600" y="3840480"/>
            <a:ext cx="10058400" cy="594360"/>
          </a:xfrm>
          <a:prstGeom prst="rect">
            <a:avLst/>
          </a:prstGeom>
          <a:noFill/>
          <a:ln/>
        </p:spPr>
        <p:txBody>
          <a:bodyPr wrap="square" lIns="0" tIns="0" rIns="0" bIns="0" rtlCol="0" anchor="ctr"/>
          <a:lstStyle/>
          <a:p>
            <a:pPr indent="0" marL="0">
              <a:buNone/>
            </a:pPr>
            <a:r>
              <a:rPr lang="en-US" sz="1600" b="1" dirty="0">
                <a:solidFill>
                  <a:schemeClr val="tx1"/>
                </a:solidFill>
              </a:rPr>
              <a:t>Un message parle à la fois de santé et d’école. Quelle est la bonne pratique ?</a:t>
            </a:r>
            <a:endParaRPr lang="en-US" sz="1600" dirty="0"/>
          </a:p>
        </p:txBody>
      </p:sp>
      <p:sp>
        <p:nvSpPr>
          <p:cNvPr id="20" name="Carte"/>
          <p:cNvSpPr/>
          <p:nvPr/>
        </p:nvSpPr>
        <p:spPr>
          <a:xfrm>
            <a:off x="1371600" y="4526280"/>
            <a:ext cx="4983480" cy="475488"/>
          </a:xfrm>
          <a:prstGeom prst="roundRect">
            <a:avLst>
              <a:gd name="adj" fmla="val 15385"/>
            </a:avLst>
          </a:prstGeom>
          <a:solidFill>
            <a:schemeClr val="bg1"/>
          </a:solidFill>
          <a:ln w="12700">
            <a:solidFill>
              <a:schemeClr val="accent5"/>
            </a:solidFill>
            <a:prstDash val="solid"/>
          </a:ln>
        </p:spPr>
      </p:sp>
      <p:sp>
        <p:nvSpPr>
          <p:cNvPr id="21" name="Text 19"/>
          <p:cNvSpPr txBox="1"/>
          <p:nvPr/>
        </p:nvSpPr>
        <p:spPr>
          <a:xfrm>
            <a:off x="1508760" y="4526280"/>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A   </a:t>
            </a:r>
            <a:r>
              <a:rPr lang="en-US" sz="1300" dirty="0">
                <a:solidFill>
                  <a:schemeClr val="tx1"/>
                </a:solidFill>
              </a:rPr>
              <a:t>Laisser la machine trancher au hasard</a:t>
            </a:r>
            <a:endParaRPr lang="en-US" sz="1300" dirty="0"/>
          </a:p>
        </p:txBody>
      </p:sp>
      <p:sp>
        <p:nvSpPr>
          <p:cNvPr id="22" name="Carte"/>
          <p:cNvSpPr/>
          <p:nvPr/>
        </p:nvSpPr>
        <p:spPr>
          <a:xfrm>
            <a:off x="6492240" y="4526280"/>
            <a:ext cx="4983480" cy="475488"/>
          </a:xfrm>
          <a:prstGeom prst="roundRect">
            <a:avLst>
              <a:gd name="adj" fmla="val 15385"/>
            </a:avLst>
          </a:prstGeom>
          <a:solidFill>
            <a:schemeClr val="bg1"/>
          </a:solidFill>
          <a:ln w="12700">
            <a:solidFill>
              <a:schemeClr val="accent5"/>
            </a:solidFill>
            <a:prstDash val="solid"/>
          </a:ln>
        </p:spPr>
      </p:sp>
      <p:sp>
        <p:nvSpPr>
          <p:cNvPr id="23" name="Text 21"/>
          <p:cNvSpPr txBox="1"/>
          <p:nvPr/>
        </p:nvSpPr>
        <p:spPr>
          <a:xfrm>
            <a:off x="6629400" y="4526280"/>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B   </a:t>
            </a:r>
            <a:r>
              <a:rPr lang="en-US" sz="1300" dirty="0">
                <a:solidFill>
                  <a:schemeClr val="tx1"/>
                </a:solidFill>
              </a:rPr>
              <a:t>Supprimer le message</a:t>
            </a:r>
            <a:endParaRPr lang="en-US" sz="1300" dirty="0"/>
          </a:p>
        </p:txBody>
      </p:sp>
      <p:sp>
        <p:nvSpPr>
          <p:cNvPr id="24" name="Carte"/>
          <p:cNvSpPr/>
          <p:nvPr/>
        </p:nvSpPr>
        <p:spPr>
          <a:xfrm>
            <a:off x="1371600" y="5093208"/>
            <a:ext cx="4983480" cy="475488"/>
          </a:xfrm>
          <a:prstGeom prst="roundRect">
            <a:avLst>
              <a:gd name="adj" fmla="val 15385"/>
            </a:avLst>
          </a:prstGeom>
          <a:solidFill>
            <a:schemeClr val="bg1"/>
          </a:solidFill>
          <a:ln w="12700">
            <a:solidFill>
              <a:schemeClr val="accent5"/>
            </a:solidFill>
            <a:prstDash val="solid"/>
          </a:ln>
        </p:spPr>
      </p:sp>
      <p:sp>
        <p:nvSpPr>
          <p:cNvPr id="25" name="Text 23"/>
          <p:cNvSpPr txBox="1"/>
          <p:nvPr/>
        </p:nvSpPr>
        <p:spPr>
          <a:xfrm>
            <a:off x="1508760" y="5093208"/>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C   </a:t>
            </a:r>
            <a:r>
              <a:rPr lang="en-US" sz="1300" dirty="0">
                <a:solidFill>
                  <a:schemeClr val="tx1"/>
                </a:solidFill>
              </a:rPr>
              <a:t>Prévoir une catégorie « à vérifier » traitée par un humain</a:t>
            </a:r>
            <a:endParaRPr lang="en-US" sz="1300" dirty="0"/>
          </a:p>
        </p:txBody>
      </p:sp>
      <p:sp>
        <p:nvSpPr>
          <p:cNvPr id="26" name="Carte"/>
          <p:cNvSpPr/>
          <p:nvPr/>
        </p:nvSpPr>
        <p:spPr>
          <a:xfrm>
            <a:off x="6492240" y="5093208"/>
            <a:ext cx="4983480" cy="475488"/>
          </a:xfrm>
          <a:prstGeom prst="roundRect">
            <a:avLst>
              <a:gd name="adj" fmla="val 15385"/>
            </a:avLst>
          </a:prstGeom>
          <a:solidFill>
            <a:schemeClr val="bg1"/>
          </a:solidFill>
          <a:ln w="12700">
            <a:solidFill>
              <a:schemeClr val="accent5"/>
            </a:solidFill>
            <a:prstDash val="solid"/>
          </a:ln>
        </p:spPr>
      </p:sp>
      <p:sp>
        <p:nvSpPr>
          <p:cNvPr id="27" name="Text 25"/>
          <p:cNvSpPr txBox="1"/>
          <p:nvPr/>
        </p:nvSpPr>
        <p:spPr>
          <a:xfrm>
            <a:off x="6629400" y="5093208"/>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D   </a:t>
            </a:r>
            <a:r>
              <a:rPr lang="en-US" sz="1300" dirty="0">
                <a:solidFill>
                  <a:schemeClr val="tx1"/>
                </a:solidFill>
              </a:rPr>
              <a:t>Choisir toujours la première catégorie</a:t>
            </a:r>
            <a:endParaRPr lang="en-US" sz="13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Quiz de sortie · questions 9 à 10 sur 10</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QUIZ DE SORTIE</a:t>
            </a:r>
            <a:endParaRPr lang="en-US" sz="1200" dirty="0"/>
          </a:p>
        </p:txBody>
      </p:sp>
      <p:sp>
        <p:nvSpPr>
          <p:cNvPr id="4" name="Carte"/>
          <p:cNvSpPr/>
          <p:nvPr/>
        </p:nvSpPr>
        <p:spPr>
          <a:xfrm>
            <a:off x="548640" y="1371600"/>
            <a:ext cx="11091672" cy="2240280"/>
          </a:xfrm>
          <a:prstGeom prst="roundRect">
            <a:avLst>
              <a:gd name="adj" fmla="val 3265"/>
            </a:avLst>
          </a:prstGeom>
          <a:solidFill>
            <a:schemeClr val="bg2"/>
          </a:solidFill>
          <a:ln w="12700">
            <a:solidFill>
              <a:schemeClr val="bg2"/>
            </a:solidFill>
            <a:prstDash val="solid"/>
          </a:ln>
        </p:spPr>
      </p:sp>
      <p:sp>
        <p:nvSpPr>
          <p:cNvPr id="5" name="Pastille"/>
          <p:cNvSpPr/>
          <p:nvPr/>
        </p:nvSpPr>
        <p:spPr>
          <a:xfrm>
            <a:off x="731520" y="1508760"/>
            <a:ext cx="457200" cy="457200"/>
          </a:xfrm>
          <a:prstGeom prst="ellipse">
            <a:avLst/>
          </a:prstGeom>
          <a:solidFill>
            <a:schemeClr val="accent1"/>
          </a:solidFill>
          <a:ln w="12700">
            <a:solidFill>
              <a:schemeClr val="accent1"/>
            </a:solidFill>
            <a:prstDash val="solid"/>
          </a:ln>
        </p:spPr>
      </p:sp>
      <p:sp>
        <p:nvSpPr>
          <p:cNvPr id="6" name="Numéro 9"/>
          <p:cNvSpPr txBox="1"/>
          <p:nvPr/>
        </p:nvSpPr>
        <p:spPr>
          <a:xfrm>
            <a:off x="731520" y="1508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9</a:t>
            </a:r>
            <a:endParaRPr lang="en-US" sz="1600" dirty="0"/>
          </a:p>
        </p:txBody>
      </p:sp>
      <p:sp>
        <p:nvSpPr>
          <p:cNvPr id="7" name="Text 5"/>
          <p:cNvSpPr txBox="1"/>
          <p:nvPr/>
        </p:nvSpPr>
        <p:spPr>
          <a:xfrm>
            <a:off x="1371600" y="1463040"/>
            <a:ext cx="10058400" cy="594360"/>
          </a:xfrm>
          <a:prstGeom prst="rect">
            <a:avLst/>
          </a:prstGeom>
          <a:noFill/>
          <a:ln/>
        </p:spPr>
        <p:txBody>
          <a:bodyPr wrap="square" lIns="0" tIns="0" rIns="0" bIns="0" rtlCol="0" anchor="ctr"/>
          <a:lstStyle/>
          <a:p>
            <a:pPr indent="0" marL="0">
              <a:buNone/>
            </a:pPr>
            <a:r>
              <a:rPr lang="en-US" sz="1600" b="1" dirty="0">
                <a:solidFill>
                  <a:schemeClr val="tx1"/>
                </a:solidFill>
              </a:rPr>
              <a:t>Un système de tri atteint 90 % de bonnes réponses. Peut-on dire qu’il « comprend » les messages ?</a:t>
            </a:r>
            <a:endParaRPr lang="en-US" sz="1600" dirty="0"/>
          </a:p>
        </p:txBody>
      </p:sp>
      <p:sp>
        <p:nvSpPr>
          <p:cNvPr id="8" name="Carte"/>
          <p:cNvSpPr/>
          <p:nvPr/>
        </p:nvSpPr>
        <p:spPr>
          <a:xfrm>
            <a:off x="1371600" y="2148840"/>
            <a:ext cx="4983480" cy="475488"/>
          </a:xfrm>
          <a:prstGeom prst="roundRect">
            <a:avLst>
              <a:gd name="adj" fmla="val 15385"/>
            </a:avLst>
          </a:prstGeom>
          <a:solidFill>
            <a:schemeClr val="bg1"/>
          </a:solidFill>
          <a:ln w="12700">
            <a:solidFill>
              <a:schemeClr val="accent5"/>
            </a:solidFill>
            <a:prstDash val="solid"/>
          </a:ln>
        </p:spPr>
      </p:sp>
      <p:sp>
        <p:nvSpPr>
          <p:cNvPr id="9" name="Text 7"/>
          <p:cNvSpPr txBox="1"/>
          <p:nvPr/>
        </p:nvSpPr>
        <p:spPr>
          <a:xfrm>
            <a:off x="1508760" y="2148840"/>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A   </a:t>
            </a:r>
            <a:r>
              <a:rPr lang="en-US" sz="1300" dirty="0">
                <a:solidFill>
                  <a:schemeClr val="tx1"/>
                </a:solidFill>
              </a:rPr>
              <a:t>Oui, il comprend comme un humain</a:t>
            </a:r>
            <a:endParaRPr lang="en-US" sz="1300" dirty="0"/>
          </a:p>
        </p:txBody>
      </p:sp>
      <p:sp>
        <p:nvSpPr>
          <p:cNvPr id="10" name="Carte"/>
          <p:cNvSpPr/>
          <p:nvPr/>
        </p:nvSpPr>
        <p:spPr>
          <a:xfrm>
            <a:off x="6492240" y="2148840"/>
            <a:ext cx="4983480" cy="475488"/>
          </a:xfrm>
          <a:prstGeom prst="roundRect">
            <a:avLst>
              <a:gd name="adj" fmla="val 15385"/>
            </a:avLst>
          </a:prstGeom>
          <a:solidFill>
            <a:schemeClr val="bg1"/>
          </a:solidFill>
          <a:ln w="12700">
            <a:solidFill>
              <a:schemeClr val="accent5"/>
            </a:solidFill>
            <a:prstDash val="solid"/>
          </a:ln>
        </p:spPr>
      </p:sp>
      <p:sp>
        <p:nvSpPr>
          <p:cNvPr id="11" name="Text 9"/>
          <p:cNvSpPr txBox="1"/>
          <p:nvPr/>
        </p:nvSpPr>
        <p:spPr>
          <a:xfrm>
            <a:off x="6629400" y="2148840"/>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B   </a:t>
            </a:r>
            <a:r>
              <a:rPr lang="en-US" sz="1300" dirty="0">
                <a:solidFill>
                  <a:schemeClr val="tx1"/>
                </a:solidFill>
              </a:rPr>
              <a:t>Non, il repère des indices dans les mots sans comprendre le sens</a:t>
            </a:r>
            <a:endParaRPr lang="en-US" sz="1300" dirty="0"/>
          </a:p>
        </p:txBody>
      </p:sp>
      <p:sp>
        <p:nvSpPr>
          <p:cNvPr id="12" name="Carte"/>
          <p:cNvSpPr/>
          <p:nvPr/>
        </p:nvSpPr>
        <p:spPr>
          <a:xfrm>
            <a:off x="1371600" y="2715768"/>
            <a:ext cx="4983480" cy="475488"/>
          </a:xfrm>
          <a:prstGeom prst="roundRect">
            <a:avLst>
              <a:gd name="adj" fmla="val 15385"/>
            </a:avLst>
          </a:prstGeom>
          <a:solidFill>
            <a:schemeClr val="bg1"/>
          </a:solidFill>
          <a:ln w="12700">
            <a:solidFill>
              <a:schemeClr val="accent5"/>
            </a:solidFill>
            <a:prstDash val="solid"/>
          </a:ln>
        </p:spPr>
      </p:sp>
      <p:sp>
        <p:nvSpPr>
          <p:cNvPr id="13" name="Text 11"/>
          <p:cNvSpPr txBox="1"/>
          <p:nvPr/>
        </p:nvSpPr>
        <p:spPr>
          <a:xfrm>
            <a:off x="1508760" y="2715768"/>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C   </a:t>
            </a:r>
            <a:r>
              <a:rPr lang="en-US" sz="1300" dirty="0">
                <a:solidFill>
                  <a:schemeClr val="tx1"/>
                </a:solidFill>
              </a:rPr>
              <a:t>Oui, mais seulement en français</a:t>
            </a:r>
            <a:endParaRPr lang="en-US" sz="1300" dirty="0"/>
          </a:p>
        </p:txBody>
      </p:sp>
      <p:sp>
        <p:nvSpPr>
          <p:cNvPr id="14" name="Carte"/>
          <p:cNvSpPr/>
          <p:nvPr/>
        </p:nvSpPr>
        <p:spPr>
          <a:xfrm>
            <a:off x="6492240" y="2715768"/>
            <a:ext cx="4983480" cy="475488"/>
          </a:xfrm>
          <a:prstGeom prst="roundRect">
            <a:avLst>
              <a:gd name="adj" fmla="val 15385"/>
            </a:avLst>
          </a:prstGeom>
          <a:solidFill>
            <a:schemeClr val="bg1"/>
          </a:solidFill>
          <a:ln w="12700">
            <a:solidFill>
              <a:schemeClr val="accent5"/>
            </a:solidFill>
            <a:prstDash val="solid"/>
          </a:ln>
        </p:spPr>
      </p:sp>
      <p:sp>
        <p:nvSpPr>
          <p:cNvPr id="15" name="Text 13"/>
          <p:cNvSpPr txBox="1"/>
          <p:nvPr/>
        </p:nvSpPr>
        <p:spPr>
          <a:xfrm>
            <a:off x="6629400" y="2715768"/>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D   </a:t>
            </a:r>
            <a:r>
              <a:rPr lang="en-US" sz="1300" dirty="0">
                <a:solidFill>
                  <a:schemeClr val="tx1"/>
                </a:solidFill>
              </a:rPr>
              <a:t>Non, car 90 % est trop bas</a:t>
            </a:r>
            <a:endParaRPr lang="en-US" sz="1300" dirty="0"/>
          </a:p>
        </p:txBody>
      </p:sp>
      <p:sp>
        <p:nvSpPr>
          <p:cNvPr id="16" name="Carte"/>
          <p:cNvSpPr/>
          <p:nvPr/>
        </p:nvSpPr>
        <p:spPr>
          <a:xfrm>
            <a:off x="548640" y="3749040"/>
            <a:ext cx="11091672" cy="2240280"/>
          </a:xfrm>
          <a:prstGeom prst="roundRect">
            <a:avLst>
              <a:gd name="adj" fmla="val 3265"/>
            </a:avLst>
          </a:prstGeom>
          <a:solidFill>
            <a:schemeClr val="bg2"/>
          </a:solidFill>
          <a:ln w="12700">
            <a:solidFill>
              <a:schemeClr val="bg2"/>
            </a:solidFill>
            <a:prstDash val="solid"/>
          </a:ln>
        </p:spPr>
      </p:sp>
      <p:sp>
        <p:nvSpPr>
          <p:cNvPr id="17" name="Pastille"/>
          <p:cNvSpPr/>
          <p:nvPr/>
        </p:nvSpPr>
        <p:spPr>
          <a:xfrm>
            <a:off x="731520" y="3886200"/>
            <a:ext cx="457200" cy="457200"/>
          </a:xfrm>
          <a:prstGeom prst="ellipse">
            <a:avLst/>
          </a:prstGeom>
          <a:solidFill>
            <a:schemeClr val="accent1"/>
          </a:solidFill>
          <a:ln w="12700">
            <a:solidFill>
              <a:schemeClr val="accent1"/>
            </a:solidFill>
            <a:prstDash val="solid"/>
          </a:ln>
        </p:spPr>
      </p:sp>
      <p:sp>
        <p:nvSpPr>
          <p:cNvPr id="18" name="Numéro 10"/>
          <p:cNvSpPr txBox="1"/>
          <p:nvPr/>
        </p:nvSpPr>
        <p:spPr>
          <a:xfrm>
            <a:off x="731520" y="3886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10</a:t>
            </a:r>
            <a:endParaRPr lang="en-US" sz="1600" dirty="0"/>
          </a:p>
        </p:txBody>
      </p:sp>
      <p:sp>
        <p:nvSpPr>
          <p:cNvPr id="19" name="Text 17"/>
          <p:cNvSpPr txBox="1"/>
          <p:nvPr/>
        </p:nvSpPr>
        <p:spPr>
          <a:xfrm>
            <a:off x="1371600" y="3840480"/>
            <a:ext cx="10058400" cy="594360"/>
          </a:xfrm>
          <a:prstGeom prst="rect">
            <a:avLst/>
          </a:prstGeom>
          <a:noFill/>
          <a:ln/>
        </p:spPr>
        <p:txBody>
          <a:bodyPr wrap="square" lIns="0" tIns="0" rIns="0" bIns="0" rtlCol="0" anchor="ctr"/>
          <a:lstStyle/>
          <a:p>
            <a:pPr indent="0" marL="0">
              <a:buNone/>
            </a:pPr>
            <a:r>
              <a:rPr lang="en-US" sz="1600" b="1" dirty="0">
                <a:solidFill>
                  <a:schemeClr val="tx1"/>
                </a:solidFill>
              </a:rPr>
              <a:t>Avant d’utiliser de vrais messages d’usagers pour entraîner un modèle, que faut-il faire ?</a:t>
            </a:r>
            <a:endParaRPr lang="en-US" sz="1600" dirty="0"/>
          </a:p>
        </p:txBody>
      </p:sp>
      <p:sp>
        <p:nvSpPr>
          <p:cNvPr id="20" name="Carte"/>
          <p:cNvSpPr/>
          <p:nvPr/>
        </p:nvSpPr>
        <p:spPr>
          <a:xfrm>
            <a:off x="1371600" y="4526280"/>
            <a:ext cx="4983480" cy="475488"/>
          </a:xfrm>
          <a:prstGeom prst="roundRect">
            <a:avLst>
              <a:gd name="adj" fmla="val 15385"/>
            </a:avLst>
          </a:prstGeom>
          <a:solidFill>
            <a:schemeClr val="bg1"/>
          </a:solidFill>
          <a:ln w="12700">
            <a:solidFill>
              <a:schemeClr val="accent5"/>
            </a:solidFill>
            <a:prstDash val="solid"/>
          </a:ln>
        </p:spPr>
      </p:sp>
      <p:sp>
        <p:nvSpPr>
          <p:cNvPr id="21" name="Text 19"/>
          <p:cNvSpPr txBox="1"/>
          <p:nvPr/>
        </p:nvSpPr>
        <p:spPr>
          <a:xfrm>
            <a:off x="1508760" y="4526280"/>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A   </a:t>
            </a:r>
            <a:r>
              <a:rPr lang="en-US" sz="1300" dirty="0">
                <a:solidFill>
                  <a:schemeClr val="tx1"/>
                </a:solidFill>
              </a:rPr>
              <a:t>Rien : ce sont des textes comme les autres</a:t>
            </a:r>
            <a:endParaRPr lang="en-US" sz="1300" dirty="0"/>
          </a:p>
        </p:txBody>
      </p:sp>
      <p:sp>
        <p:nvSpPr>
          <p:cNvPr id="22" name="Carte"/>
          <p:cNvSpPr/>
          <p:nvPr/>
        </p:nvSpPr>
        <p:spPr>
          <a:xfrm>
            <a:off x="6492240" y="4526280"/>
            <a:ext cx="4983480" cy="475488"/>
          </a:xfrm>
          <a:prstGeom prst="roundRect">
            <a:avLst>
              <a:gd name="adj" fmla="val 15385"/>
            </a:avLst>
          </a:prstGeom>
          <a:solidFill>
            <a:schemeClr val="bg1"/>
          </a:solidFill>
          <a:ln w="12700">
            <a:solidFill>
              <a:schemeClr val="accent5"/>
            </a:solidFill>
            <a:prstDash val="solid"/>
          </a:ln>
        </p:spPr>
      </p:sp>
      <p:sp>
        <p:nvSpPr>
          <p:cNvPr id="23" name="Text 21"/>
          <p:cNvSpPr txBox="1"/>
          <p:nvPr/>
        </p:nvSpPr>
        <p:spPr>
          <a:xfrm>
            <a:off x="6629400" y="4526280"/>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B   </a:t>
            </a:r>
            <a:r>
              <a:rPr lang="en-US" sz="1300" dirty="0">
                <a:solidFill>
                  <a:schemeClr val="tx1"/>
                </a:solidFill>
              </a:rPr>
              <a:t>Les publier pour demander l’avis du public</a:t>
            </a:r>
            <a:endParaRPr lang="en-US" sz="1300" dirty="0"/>
          </a:p>
        </p:txBody>
      </p:sp>
      <p:sp>
        <p:nvSpPr>
          <p:cNvPr id="24" name="Carte"/>
          <p:cNvSpPr/>
          <p:nvPr/>
        </p:nvSpPr>
        <p:spPr>
          <a:xfrm>
            <a:off x="1371600" y="5093208"/>
            <a:ext cx="4983480" cy="475488"/>
          </a:xfrm>
          <a:prstGeom prst="roundRect">
            <a:avLst>
              <a:gd name="adj" fmla="val 15385"/>
            </a:avLst>
          </a:prstGeom>
          <a:solidFill>
            <a:schemeClr val="bg1"/>
          </a:solidFill>
          <a:ln w="12700">
            <a:solidFill>
              <a:schemeClr val="accent5"/>
            </a:solidFill>
            <a:prstDash val="solid"/>
          </a:ln>
        </p:spPr>
      </p:sp>
      <p:sp>
        <p:nvSpPr>
          <p:cNvPr id="25" name="Text 23"/>
          <p:cNvSpPr txBox="1"/>
          <p:nvPr/>
        </p:nvSpPr>
        <p:spPr>
          <a:xfrm>
            <a:off x="1508760" y="5093208"/>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C   </a:t>
            </a:r>
            <a:r>
              <a:rPr lang="en-US" sz="1300" dirty="0">
                <a:solidFill>
                  <a:schemeClr val="tx1"/>
                </a:solidFill>
              </a:rPr>
              <a:t>Les envoyer à n’importe quel service gratuit en ligne</a:t>
            </a:r>
            <a:endParaRPr lang="en-US" sz="1300" dirty="0"/>
          </a:p>
        </p:txBody>
      </p:sp>
      <p:sp>
        <p:nvSpPr>
          <p:cNvPr id="26" name="Carte"/>
          <p:cNvSpPr/>
          <p:nvPr/>
        </p:nvSpPr>
        <p:spPr>
          <a:xfrm>
            <a:off x="6492240" y="5093208"/>
            <a:ext cx="4983480" cy="475488"/>
          </a:xfrm>
          <a:prstGeom prst="roundRect">
            <a:avLst>
              <a:gd name="adj" fmla="val 15385"/>
            </a:avLst>
          </a:prstGeom>
          <a:solidFill>
            <a:schemeClr val="bg1"/>
          </a:solidFill>
          <a:ln w="12700">
            <a:solidFill>
              <a:schemeClr val="accent5"/>
            </a:solidFill>
            <a:prstDash val="solid"/>
          </a:ln>
        </p:spPr>
      </p:sp>
      <p:sp>
        <p:nvSpPr>
          <p:cNvPr id="27" name="Text 25"/>
          <p:cNvSpPr txBox="1"/>
          <p:nvPr/>
        </p:nvSpPr>
        <p:spPr>
          <a:xfrm>
            <a:off x="6629400" y="5093208"/>
            <a:ext cx="4754880" cy="475488"/>
          </a:xfrm>
          <a:prstGeom prst="rect">
            <a:avLst/>
          </a:prstGeom>
          <a:noFill/>
          <a:ln/>
        </p:spPr>
        <p:txBody>
          <a:bodyPr wrap="square" lIns="0" tIns="0" rIns="0" bIns="0" rtlCol="0" anchor="ctr"/>
          <a:lstStyle/>
          <a:p>
            <a:pPr indent="0" marL="0">
              <a:buNone/>
            </a:pPr>
            <a:r>
              <a:rPr lang="en-US" sz="1300" b="1" dirty="0">
                <a:solidFill>
                  <a:schemeClr val="accent2"/>
                </a:solidFill>
              </a:rPr>
              <a:t>D   </a:t>
            </a:r>
            <a:r>
              <a:rPr lang="en-US" sz="1300" dirty="0">
                <a:solidFill>
                  <a:schemeClr val="tx1"/>
                </a:solidFill>
              </a:rPr>
              <a:t>Les protéger : accord, cadre légal et anonymisation des données personnelles</a:t>
            </a:r>
            <a:endParaRPr lang="en-US" sz="13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Quiz de sortie · corrigé (1/2)</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QUIZ DE SORTIE</a:t>
            </a:r>
            <a:endParaRPr lang="en-US" sz="1200" dirty="0"/>
          </a:p>
        </p:txBody>
      </p:sp>
      <p:sp>
        <p:nvSpPr>
          <p:cNvPr id="4" name="Carte"/>
          <p:cNvSpPr/>
          <p:nvPr/>
        </p:nvSpPr>
        <p:spPr>
          <a:xfrm>
            <a:off x="548640" y="1371600"/>
            <a:ext cx="11091672" cy="859536"/>
          </a:xfrm>
          <a:prstGeom prst="roundRect">
            <a:avLst>
              <a:gd name="adj" fmla="val 8511"/>
            </a:avLst>
          </a:prstGeom>
          <a:solidFill>
            <a:schemeClr val="bg2"/>
          </a:solidFill>
          <a:ln w="12700">
            <a:solidFill>
              <a:schemeClr val="bg2"/>
            </a:solidFill>
            <a:prstDash val="solid"/>
          </a:ln>
        </p:spPr>
      </p:sp>
      <p:sp>
        <p:nvSpPr>
          <p:cNvPr id="5" name="Pastille"/>
          <p:cNvSpPr/>
          <p:nvPr/>
        </p:nvSpPr>
        <p:spPr>
          <a:xfrm>
            <a:off x="731520" y="1591056"/>
            <a:ext cx="420624" cy="420624"/>
          </a:xfrm>
          <a:prstGeom prst="ellipse">
            <a:avLst/>
          </a:prstGeom>
          <a:solidFill>
            <a:schemeClr val="accent1"/>
          </a:solidFill>
          <a:ln w="12700">
            <a:solidFill>
              <a:schemeClr val="accent1"/>
            </a:solidFill>
            <a:prstDash val="solid"/>
          </a:ln>
        </p:spPr>
      </p:sp>
      <p:sp>
        <p:nvSpPr>
          <p:cNvPr id="6" name="Numéro 1"/>
          <p:cNvSpPr txBox="1"/>
          <p:nvPr/>
        </p:nvSpPr>
        <p:spPr>
          <a:xfrm>
            <a:off x="731520" y="159105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1371600" y="1371600"/>
            <a:ext cx="10149840" cy="859536"/>
          </a:xfrm>
          <a:prstGeom prst="rect">
            <a:avLst/>
          </a:prstGeom>
          <a:noFill/>
          <a:ln/>
        </p:spPr>
        <p:txBody>
          <a:bodyPr wrap="square" lIns="0" tIns="0" rIns="0" bIns="0" rtlCol="0" anchor="ctr"/>
          <a:lstStyle/>
          <a:p>
            <a:pPr indent="0" marL="0">
              <a:buNone/>
            </a:pPr>
            <a:r>
              <a:rPr lang="en-US" sz="1300" b="1" dirty="0">
                <a:solidFill>
                  <a:schemeClr val="accent1"/>
                </a:solidFill>
              </a:rPr>
              <a:t>Réponse B : </a:t>
            </a:r>
            <a:r>
              <a:rPr lang="en-US" sz="1300" b="1" dirty="0">
                <a:solidFill>
                  <a:schemeClr val="tx1"/>
                </a:solidFill>
              </a:rPr>
              <a:t>Traitement Automatique des Langues</a:t>
            </a:r>
            <a:endParaRPr lang="en-US" sz="1300" dirty="0"/>
          </a:p>
          <a:p>
            <a:pPr indent="0" marL="0">
              <a:buNone/>
            </a:pPr>
            <a:r>
              <a:rPr lang="en-US" sz="1300" dirty="0">
                <a:solidFill>
                  <a:schemeClr val="tx1"/>
                </a:solidFill>
              </a:rPr>
              <a:t>Le NLP (TAL) regroupe les techniques qui permettent à une machine de traiter du texte et de la parole.</a:t>
            </a:r>
            <a:endParaRPr lang="en-US" sz="1300" dirty="0"/>
          </a:p>
        </p:txBody>
      </p:sp>
      <p:sp>
        <p:nvSpPr>
          <p:cNvPr id="8" name="Carte"/>
          <p:cNvSpPr/>
          <p:nvPr/>
        </p:nvSpPr>
        <p:spPr>
          <a:xfrm>
            <a:off x="548640" y="2322576"/>
            <a:ext cx="11091672" cy="859536"/>
          </a:xfrm>
          <a:prstGeom prst="roundRect">
            <a:avLst>
              <a:gd name="adj" fmla="val 8511"/>
            </a:avLst>
          </a:prstGeom>
          <a:solidFill>
            <a:schemeClr val="accent5"/>
          </a:solidFill>
          <a:ln w="12700">
            <a:solidFill>
              <a:schemeClr val="accent5"/>
            </a:solidFill>
            <a:prstDash val="solid"/>
          </a:ln>
        </p:spPr>
      </p:sp>
      <p:sp>
        <p:nvSpPr>
          <p:cNvPr id="9" name="Pastille"/>
          <p:cNvSpPr/>
          <p:nvPr/>
        </p:nvSpPr>
        <p:spPr>
          <a:xfrm>
            <a:off x="731520" y="2542032"/>
            <a:ext cx="420624" cy="420624"/>
          </a:xfrm>
          <a:prstGeom prst="ellipse">
            <a:avLst/>
          </a:prstGeom>
          <a:solidFill>
            <a:schemeClr val="accent1"/>
          </a:solidFill>
          <a:ln w="12700">
            <a:solidFill>
              <a:schemeClr val="accent1"/>
            </a:solidFill>
            <a:prstDash val="solid"/>
          </a:ln>
        </p:spPr>
      </p:sp>
      <p:sp>
        <p:nvSpPr>
          <p:cNvPr id="10" name="Numéro 2"/>
          <p:cNvSpPr txBox="1"/>
          <p:nvPr/>
        </p:nvSpPr>
        <p:spPr>
          <a:xfrm>
            <a:off x="731520" y="254203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Text 9"/>
          <p:cNvSpPr txBox="1"/>
          <p:nvPr/>
        </p:nvSpPr>
        <p:spPr>
          <a:xfrm>
            <a:off x="1371600" y="2322576"/>
            <a:ext cx="10149840" cy="859536"/>
          </a:xfrm>
          <a:prstGeom prst="rect">
            <a:avLst/>
          </a:prstGeom>
          <a:noFill/>
          <a:ln/>
        </p:spPr>
        <p:txBody>
          <a:bodyPr wrap="square" lIns="0" tIns="0" rIns="0" bIns="0" rtlCol="0" anchor="ctr"/>
          <a:lstStyle/>
          <a:p>
            <a:pPr indent="0" marL="0">
              <a:buNone/>
            </a:pPr>
            <a:r>
              <a:rPr lang="en-US" sz="1300" b="1" dirty="0">
                <a:solidFill>
                  <a:schemeClr val="accent1"/>
                </a:solidFill>
              </a:rPr>
              <a:t>Réponse D : </a:t>
            </a:r>
            <a:r>
              <a:rPr lang="en-US" sz="1300" b="1" dirty="0">
                <a:solidFill>
                  <a:schemeClr val="tx1"/>
                </a:solidFill>
              </a:rPr>
              <a:t>Découper un texte en petits morceaux (mots ou parties de mots)</a:t>
            </a:r>
            <a:endParaRPr lang="en-US" sz="1300" dirty="0"/>
          </a:p>
          <a:p>
            <a:pPr indent="0" marL="0">
              <a:buNone/>
            </a:pPr>
            <a:r>
              <a:rPr lang="en-US" sz="1300" dirty="0">
                <a:solidFill>
                  <a:schemeClr val="tx1"/>
                </a:solidFill>
              </a:rPr>
              <a:t>La machine ne lit pas une phrase d’un bloc : elle la découpe en morceaux qu’elle peut comparer et compter.</a:t>
            </a:r>
            <a:endParaRPr lang="en-US" sz="1300" dirty="0"/>
          </a:p>
        </p:txBody>
      </p:sp>
      <p:sp>
        <p:nvSpPr>
          <p:cNvPr id="12" name="Carte"/>
          <p:cNvSpPr/>
          <p:nvPr/>
        </p:nvSpPr>
        <p:spPr>
          <a:xfrm>
            <a:off x="548640" y="3273552"/>
            <a:ext cx="11091672" cy="859536"/>
          </a:xfrm>
          <a:prstGeom prst="roundRect">
            <a:avLst>
              <a:gd name="adj" fmla="val 8511"/>
            </a:avLst>
          </a:prstGeom>
          <a:solidFill>
            <a:schemeClr val="bg2"/>
          </a:solidFill>
          <a:ln w="12700">
            <a:solidFill>
              <a:schemeClr val="bg2"/>
            </a:solidFill>
            <a:prstDash val="solid"/>
          </a:ln>
        </p:spPr>
      </p:sp>
      <p:sp>
        <p:nvSpPr>
          <p:cNvPr id="13" name="Pastille"/>
          <p:cNvSpPr/>
          <p:nvPr/>
        </p:nvSpPr>
        <p:spPr>
          <a:xfrm>
            <a:off x="731520" y="3493008"/>
            <a:ext cx="420624" cy="420624"/>
          </a:xfrm>
          <a:prstGeom prst="ellipse">
            <a:avLst/>
          </a:prstGeom>
          <a:solidFill>
            <a:schemeClr val="accent1"/>
          </a:solidFill>
          <a:ln w="12700">
            <a:solidFill>
              <a:schemeClr val="accent1"/>
            </a:solidFill>
            <a:prstDash val="solid"/>
          </a:ln>
        </p:spPr>
      </p:sp>
      <p:sp>
        <p:nvSpPr>
          <p:cNvPr id="14" name="Numéro 3"/>
          <p:cNvSpPr txBox="1"/>
          <p:nvPr/>
        </p:nvSpPr>
        <p:spPr>
          <a:xfrm>
            <a:off x="731520" y="3493008"/>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5" name="Text 13"/>
          <p:cNvSpPr txBox="1"/>
          <p:nvPr/>
        </p:nvSpPr>
        <p:spPr>
          <a:xfrm>
            <a:off x="1371600" y="3273552"/>
            <a:ext cx="10149840" cy="859536"/>
          </a:xfrm>
          <a:prstGeom prst="rect">
            <a:avLst/>
          </a:prstGeom>
          <a:noFill/>
          <a:ln/>
        </p:spPr>
        <p:txBody>
          <a:bodyPr wrap="square" lIns="0" tIns="0" rIns="0" bIns="0" rtlCol="0" anchor="ctr"/>
          <a:lstStyle/>
          <a:p>
            <a:pPr indent="0" marL="0">
              <a:buNone/>
            </a:pPr>
            <a:r>
              <a:rPr lang="en-US" sz="1300" b="1" dirty="0">
                <a:solidFill>
                  <a:schemeClr val="accent1"/>
                </a:solidFill>
              </a:rPr>
              <a:t>Réponse A : </a:t>
            </a:r>
            <a:r>
              <a:rPr lang="en-US" sz="1300" b="1" dirty="0">
                <a:solidFill>
                  <a:schemeClr val="tx1"/>
                </a:solidFill>
              </a:rPr>
              <a:t>Pour que des variantes sans importance ne soient pas prises pour des mots différents</a:t>
            </a:r>
            <a:endParaRPr lang="en-US" sz="1300" dirty="0"/>
          </a:p>
          <a:p>
            <a:pPr indent="0" marL="0">
              <a:buNone/>
            </a:pPr>
            <a:r>
              <a:rPr lang="en-US" sz="1300" dirty="0">
                <a:solidFill>
                  <a:schemeClr val="tx1"/>
                </a:solidFill>
              </a:rPr>
              <a:t>« MEDECIN », « médecin » et « Médecin » désignent le même mot : le nettoyage évite que la machine les sépare.</a:t>
            </a:r>
            <a:endParaRPr lang="en-US" sz="1300" dirty="0"/>
          </a:p>
        </p:txBody>
      </p:sp>
      <p:sp>
        <p:nvSpPr>
          <p:cNvPr id="16" name="Carte"/>
          <p:cNvSpPr/>
          <p:nvPr/>
        </p:nvSpPr>
        <p:spPr>
          <a:xfrm>
            <a:off x="548640" y="4224528"/>
            <a:ext cx="11091672" cy="859536"/>
          </a:xfrm>
          <a:prstGeom prst="roundRect">
            <a:avLst>
              <a:gd name="adj" fmla="val 8511"/>
            </a:avLst>
          </a:prstGeom>
          <a:solidFill>
            <a:schemeClr val="accent5"/>
          </a:solidFill>
          <a:ln w="12700">
            <a:solidFill>
              <a:schemeClr val="accent5"/>
            </a:solidFill>
            <a:prstDash val="solid"/>
          </a:ln>
        </p:spPr>
      </p:sp>
      <p:sp>
        <p:nvSpPr>
          <p:cNvPr id="17" name="Pastille"/>
          <p:cNvSpPr/>
          <p:nvPr/>
        </p:nvSpPr>
        <p:spPr>
          <a:xfrm>
            <a:off x="731520" y="4443984"/>
            <a:ext cx="420624" cy="420624"/>
          </a:xfrm>
          <a:prstGeom prst="ellipse">
            <a:avLst/>
          </a:prstGeom>
          <a:solidFill>
            <a:schemeClr val="accent1"/>
          </a:solidFill>
          <a:ln w="12700">
            <a:solidFill>
              <a:schemeClr val="accent1"/>
            </a:solidFill>
            <a:prstDash val="solid"/>
          </a:ln>
        </p:spPr>
      </p:sp>
      <p:sp>
        <p:nvSpPr>
          <p:cNvPr id="18" name="Numéro 4"/>
          <p:cNvSpPr txBox="1"/>
          <p:nvPr/>
        </p:nvSpPr>
        <p:spPr>
          <a:xfrm>
            <a:off x="731520" y="4443984"/>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9" name="Text 17"/>
          <p:cNvSpPr txBox="1"/>
          <p:nvPr/>
        </p:nvSpPr>
        <p:spPr>
          <a:xfrm>
            <a:off x="1371600" y="4224528"/>
            <a:ext cx="10149840" cy="859536"/>
          </a:xfrm>
          <a:prstGeom prst="rect">
            <a:avLst/>
          </a:prstGeom>
          <a:noFill/>
          <a:ln/>
        </p:spPr>
        <p:txBody>
          <a:bodyPr wrap="square" lIns="0" tIns="0" rIns="0" bIns="0" rtlCol="0" anchor="ctr"/>
          <a:lstStyle/>
          <a:p>
            <a:pPr indent="0" marL="0">
              <a:buNone/>
            </a:pPr>
            <a:r>
              <a:rPr lang="en-US" sz="1300" b="1" dirty="0">
                <a:solidFill>
                  <a:schemeClr val="accent1"/>
                </a:solidFill>
              </a:rPr>
              <a:t>Réponse C : </a:t>
            </a:r>
            <a:r>
              <a:rPr lang="en-US" sz="1300" b="1" dirty="0">
                <a:solidFill>
                  <a:schemeClr val="tx1"/>
                </a:solidFill>
              </a:rPr>
              <a:t>Les mots présents et le nombre de fois où ils apparaissent</a:t>
            </a:r>
            <a:endParaRPr lang="en-US" sz="1300" dirty="0"/>
          </a:p>
          <a:p>
            <a:pPr indent="0" marL="0">
              <a:buNone/>
            </a:pPr>
            <a:r>
              <a:rPr lang="en-US" sz="1300" dirty="0">
                <a:solidFill>
                  <a:schemeClr val="tx1"/>
                </a:solidFill>
              </a:rPr>
              <a:t>Le sac de mots compte les mots, mais oublie leur ordre : c’est simple et efficace, mais limité.</a:t>
            </a:r>
            <a:endParaRPr lang="en-US" sz="1300" dirty="0"/>
          </a:p>
        </p:txBody>
      </p:sp>
      <p:sp>
        <p:nvSpPr>
          <p:cNvPr id="20" name="Carte"/>
          <p:cNvSpPr/>
          <p:nvPr/>
        </p:nvSpPr>
        <p:spPr>
          <a:xfrm>
            <a:off x="548640" y="5175504"/>
            <a:ext cx="11091672" cy="859536"/>
          </a:xfrm>
          <a:prstGeom prst="roundRect">
            <a:avLst>
              <a:gd name="adj" fmla="val 8511"/>
            </a:avLst>
          </a:prstGeom>
          <a:solidFill>
            <a:schemeClr val="bg2"/>
          </a:solidFill>
          <a:ln w="12700">
            <a:solidFill>
              <a:schemeClr val="bg2"/>
            </a:solidFill>
            <a:prstDash val="solid"/>
          </a:ln>
        </p:spPr>
      </p:sp>
      <p:sp>
        <p:nvSpPr>
          <p:cNvPr id="21" name="Pastille"/>
          <p:cNvSpPr/>
          <p:nvPr/>
        </p:nvSpPr>
        <p:spPr>
          <a:xfrm>
            <a:off x="731520" y="5394960"/>
            <a:ext cx="420624" cy="420624"/>
          </a:xfrm>
          <a:prstGeom prst="ellipse">
            <a:avLst/>
          </a:prstGeom>
          <a:solidFill>
            <a:schemeClr val="accent1"/>
          </a:solidFill>
          <a:ln w="12700">
            <a:solidFill>
              <a:schemeClr val="accent1"/>
            </a:solidFill>
            <a:prstDash val="solid"/>
          </a:ln>
        </p:spPr>
      </p:sp>
      <p:sp>
        <p:nvSpPr>
          <p:cNvPr id="22" name="Numéro 5"/>
          <p:cNvSpPr txBox="1"/>
          <p:nvPr/>
        </p:nvSpPr>
        <p:spPr>
          <a:xfrm>
            <a:off x="731520" y="539496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3" name="Text 21"/>
          <p:cNvSpPr txBox="1"/>
          <p:nvPr/>
        </p:nvSpPr>
        <p:spPr>
          <a:xfrm>
            <a:off x="1371600" y="5175504"/>
            <a:ext cx="10149840" cy="859536"/>
          </a:xfrm>
          <a:prstGeom prst="rect">
            <a:avLst/>
          </a:prstGeom>
          <a:noFill/>
          <a:ln/>
        </p:spPr>
        <p:txBody>
          <a:bodyPr wrap="square" lIns="0" tIns="0" rIns="0" bIns="0" rtlCol="0" anchor="ctr"/>
          <a:lstStyle/>
          <a:p>
            <a:pPr indent="0" marL="0">
              <a:buNone/>
            </a:pPr>
            <a:r>
              <a:rPr lang="en-US" sz="1300" b="1" dirty="0">
                <a:solidFill>
                  <a:schemeClr val="accent1"/>
                </a:solidFill>
              </a:rPr>
              <a:t>Réponse B : </a:t>
            </a:r>
            <a:r>
              <a:rPr lang="en-US" sz="1300" b="1" dirty="0">
                <a:solidFill>
                  <a:schemeClr val="tx1"/>
                </a:solidFill>
              </a:rPr>
              <a:t>Peu utile, car il ne distingue pas les catégories entre elles</a:t>
            </a:r>
            <a:endParaRPr lang="en-US" sz="1300" dirty="0"/>
          </a:p>
          <a:p>
            <a:pPr indent="0" marL="0">
              <a:buNone/>
            </a:pPr>
            <a:r>
              <a:rPr lang="en-US" sz="1300" dirty="0">
                <a:solidFill>
                  <a:schemeClr val="tx1"/>
                </a:solidFill>
              </a:rPr>
              <a:t>Un mot présent partout n’aide pas à distinguer ; un mot rare et ciblé (comme « vaccin ») est un meilleur indice.</a:t>
            </a:r>
            <a:endParaRPr lang="en-US" sz="13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Quiz de sortie · corrigé (2/2)</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QUIZ DE SORTIE</a:t>
            </a:r>
            <a:endParaRPr lang="en-US" sz="1200" dirty="0"/>
          </a:p>
        </p:txBody>
      </p:sp>
      <p:sp>
        <p:nvSpPr>
          <p:cNvPr id="4" name="Carte"/>
          <p:cNvSpPr/>
          <p:nvPr/>
        </p:nvSpPr>
        <p:spPr>
          <a:xfrm>
            <a:off x="548640" y="1371600"/>
            <a:ext cx="11091672" cy="859536"/>
          </a:xfrm>
          <a:prstGeom prst="roundRect">
            <a:avLst>
              <a:gd name="adj" fmla="val 8511"/>
            </a:avLst>
          </a:prstGeom>
          <a:solidFill>
            <a:schemeClr val="bg2"/>
          </a:solidFill>
          <a:ln w="12700">
            <a:solidFill>
              <a:schemeClr val="bg2"/>
            </a:solidFill>
            <a:prstDash val="solid"/>
          </a:ln>
        </p:spPr>
      </p:sp>
      <p:sp>
        <p:nvSpPr>
          <p:cNvPr id="5" name="Pastille"/>
          <p:cNvSpPr/>
          <p:nvPr/>
        </p:nvSpPr>
        <p:spPr>
          <a:xfrm>
            <a:off x="731520" y="1591056"/>
            <a:ext cx="420624" cy="420624"/>
          </a:xfrm>
          <a:prstGeom prst="ellipse">
            <a:avLst/>
          </a:prstGeom>
          <a:solidFill>
            <a:schemeClr val="accent1"/>
          </a:solidFill>
          <a:ln w="12700">
            <a:solidFill>
              <a:schemeClr val="accent1"/>
            </a:solidFill>
            <a:prstDash val="solid"/>
          </a:ln>
        </p:spPr>
      </p:sp>
      <p:sp>
        <p:nvSpPr>
          <p:cNvPr id="6" name="Numéro 6"/>
          <p:cNvSpPr txBox="1"/>
          <p:nvPr/>
        </p:nvSpPr>
        <p:spPr>
          <a:xfrm>
            <a:off x="731520" y="159105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7" name="Text 5"/>
          <p:cNvSpPr txBox="1"/>
          <p:nvPr/>
        </p:nvSpPr>
        <p:spPr>
          <a:xfrm>
            <a:off x="1371600" y="1371600"/>
            <a:ext cx="10149840" cy="859536"/>
          </a:xfrm>
          <a:prstGeom prst="rect">
            <a:avLst/>
          </a:prstGeom>
          <a:noFill/>
          <a:ln/>
        </p:spPr>
        <p:txBody>
          <a:bodyPr wrap="square" lIns="0" tIns="0" rIns="0" bIns="0" rtlCol="0" anchor="ctr"/>
          <a:lstStyle/>
          <a:p>
            <a:pPr indent="0" marL="0">
              <a:buNone/>
            </a:pPr>
            <a:r>
              <a:rPr lang="en-US" sz="1300" b="1" dirty="0">
                <a:solidFill>
                  <a:schemeClr val="accent1"/>
                </a:solidFill>
              </a:rPr>
              <a:t>Réponse A : </a:t>
            </a:r>
            <a:r>
              <a:rPr lang="en-US" sz="1300" b="1" dirty="0">
                <a:solidFill>
                  <a:schemeClr val="tx1"/>
                </a:solidFill>
              </a:rPr>
              <a:t>Pour mesurer honnêtement sa qualité, comme un examen avec de nouvelles questions</a:t>
            </a:r>
            <a:endParaRPr lang="en-US" sz="1300" dirty="0"/>
          </a:p>
          <a:p>
            <a:pPr indent="0" marL="0">
              <a:buNone/>
            </a:pPr>
            <a:r>
              <a:rPr lang="en-US" sz="1300" dirty="0">
                <a:solidFill>
                  <a:schemeClr val="tx1"/>
                </a:solidFill>
              </a:rPr>
              <a:t>Un élève qui récite ses exercices n’est pas forcément prêt pour l’examen : le test doit porter sur des cas nouveaux.</a:t>
            </a:r>
            <a:endParaRPr lang="en-US" sz="1300" dirty="0"/>
          </a:p>
        </p:txBody>
      </p:sp>
      <p:sp>
        <p:nvSpPr>
          <p:cNvPr id="8" name="Carte"/>
          <p:cNvSpPr/>
          <p:nvPr/>
        </p:nvSpPr>
        <p:spPr>
          <a:xfrm>
            <a:off x="548640" y="2322576"/>
            <a:ext cx="11091672" cy="859536"/>
          </a:xfrm>
          <a:prstGeom prst="roundRect">
            <a:avLst>
              <a:gd name="adj" fmla="val 8511"/>
            </a:avLst>
          </a:prstGeom>
          <a:solidFill>
            <a:schemeClr val="accent5"/>
          </a:solidFill>
          <a:ln w="12700">
            <a:solidFill>
              <a:schemeClr val="accent5"/>
            </a:solidFill>
            <a:prstDash val="solid"/>
          </a:ln>
        </p:spPr>
      </p:sp>
      <p:sp>
        <p:nvSpPr>
          <p:cNvPr id="9" name="Pastille"/>
          <p:cNvSpPr/>
          <p:nvPr/>
        </p:nvSpPr>
        <p:spPr>
          <a:xfrm>
            <a:off x="731520" y="2542032"/>
            <a:ext cx="420624" cy="420624"/>
          </a:xfrm>
          <a:prstGeom prst="ellipse">
            <a:avLst/>
          </a:prstGeom>
          <a:solidFill>
            <a:schemeClr val="accent1"/>
          </a:solidFill>
          <a:ln w="12700">
            <a:solidFill>
              <a:schemeClr val="accent1"/>
            </a:solidFill>
            <a:prstDash val="solid"/>
          </a:ln>
        </p:spPr>
      </p:sp>
      <p:sp>
        <p:nvSpPr>
          <p:cNvPr id="10" name="Numéro 7"/>
          <p:cNvSpPr txBox="1"/>
          <p:nvPr/>
        </p:nvSpPr>
        <p:spPr>
          <a:xfrm>
            <a:off x="731520" y="254203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11" name="Text 9"/>
          <p:cNvSpPr txBox="1"/>
          <p:nvPr/>
        </p:nvSpPr>
        <p:spPr>
          <a:xfrm>
            <a:off x="1371600" y="2322576"/>
            <a:ext cx="10149840" cy="859536"/>
          </a:xfrm>
          <a:prstGeom prst="rect">
            <a:avLst/>
          </a:prstGeom>
          <a:noFill/>
          <a:ln/>
        </p:spPr>
        <p:txBody>
          <a:bodyPr wrap="square" lIns="0" tIns="0" rIns="0" bIns="0" rtlCol="0" anchor="ctr"/>
          <a:lstStyle/>
          <a:p>
            <a:pPr indent="0" marL="0">
              <a:buNone/>
            </a:pPr>
            <a:r>
              <a:rPr lang="en-US" sz="1300" b="1" dirty="0">
                <a:solidFill>
                  <a:schemeClr val="accent1"/>
                </a:solidFill>
              </a:rPr>
              <a:t>Réponse D : </a:t>
            </a:r>
            <a:r>
              <a:rPr lang="en-US" sz="1300" b="1" dirty="0">
                <a:solidFill>
                  <a:schemeClr val="tx1"/>
                </a:solidFill>
              </a:rPr>
              <a:t>Une fausse alerte</a:t>
            </a:r>
            <a:endParaRPr lang="en-US" sz="1300" dirty="0"/>
          </a:p>
          <a:p>
            <a:pPr indent="0" marL="0">
              <a:buNone/>
            </a:pPr>
            <a:r>
              <a:rPr lang="en-US" sz="1300" dirty="0">
                <a:solidFill>
                  <a:schemeClr val="tx1"/>
                </a:solidFill>
              </a:rPr>
              <a:t>Il a « sonné l’alarme » pour rien, comme un détecteur de fumée qui se déclenche sans incendie.</a:t>
            </a:r>
            <a:endParaRPr lang="en-US" sz="1300" dirty="0"/>
          </a:p>
        </p:txBody>
      </p:sp>
      <p:sp>
        <p:nvSpPr>
          <p:cNvPr id="12" name="Carte"/>
          <p:cNvSpPr/>
          <p:nvPr/>
        </p:nvSpPr>
        <p:spPr>
          <a:xfrm>
            <a:off x="548640" y="3273552"/>
            <a:ext cx="11091672" cy="859536"/>
          </a:xfrm>
          <a:prstGeom prst="roundRect">
            <a:avLst>
              <a:gd name="adj" fmla="val 8511"/>
            </a:avLst>
          </a:prstGeom>
          <a:solidFill>
            <a:schemeClr val="bg2"/>
          </a:solidFill>
          <a:ln w="12700">
            <a:solidFill>
              <a:schemeClr val="bg2"/>
            </a:solidFill>
            <a:prstDash val="solid"/>
          </a:ln>
        </p:spPr>
      </p:sp>
      <p:sp>
        <p:nvSpPr>
          <p:cNvPr id="13" name="Pastille"/>
          <p:cNvSpPr/>
          <p:nvPr/>
        </p:nvSpPr>
        <p:spPr>
          <a:xfrm>
            <a:off x="731520" y="3493008"/>
            <a:ext cx="420624" cy="420624"/>
          </a:xfrm>
          <a:prstGeom prst="ellipse">
            <a:avLst/>
          </a:prstGeom>
          <a:solidFill>
            <a:schemeClr val="accent1"/>
          </a:solidFill>
          <a:ln w="12700">
            <a:solidFill>
              <a:schemeClr val="accent1"/>
            </a:solidFill>
            <a:prstDash val="solid"/>
          </a:ln>
        </p:spPr>
      </p:sp>
      <p:sp>
        <p:nvSpPr>
          <p:cNvPr id="14" name="Numéro 8"/>
          <p:cNvSpPr txBox="1"/>
          <p:nvPr/>
        </p:nvSpPr>
        <p:spPr>
          <a:xfrm>
            <a:off x="731520" y="3493008"/>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8</a:t>
            </a:r>
            <a:endParaRPr lang="en-US" sz="1500" dirty="0"/>
          </a:p>
        </p:txBody>
      </p:sp>
      <p:sp>
        <p:nvSpPr>
          <p:cNvPr id="15" name="Text 13"/>
          <p:cNvSpPr txBox="1"/>
          <p:nvPr/>
        </p:nvSpPr>
        <p:spPr>
          <a:xfrm>
            <a:off x="1371600" y="3273552"/>
            <a:ext cx="10149840" cy="859536"/>
          </a:xfrm>
          <a:prstGeom prst="rect">
            <a:avLst/>
          </a:prstGeom>
          <a:noFill/>
          <a:ln/>
        </p:spPr>
        <p:txBody>
          <a:bodyPr wrap="square" lIns="0" tIns="0" rIns="0" bIns="0" rtlCol="0" anchor="ctr"/>
          <a:lstStyle/>
          <a:p>
            <a:pPr indent="0" marL="0">
              <a:buNone/>
            </a:pPr>
            <a:r>
              <a:rPr lang="en-US" sz="1300" b="1" dirty="0">
                <a:solidFill>
                  <a:schemeClr val="accent1"/>
                </a:solidFill>
              </a:rPr>
              <a:t>Réponse C : </a:t>
            </a:r>
            <a:r>
              <a:rPr lang="en-US" sz="1300" b="1" dirty="0">
                <a:solidFill>
                  <a:schemeClr val="tx1"/>
                </a:solidFill>
              </a:rPr>
              <a:t>Prévoir une catégorie « à vérifier » traitée par un humain</a:t>
            </a:r>
            <a:endParaRPr lang="en-US" sz="1300" dirty="0"/>
          </a:p>
          <a:p>
            <a:pPr indent="0" marL="0">
              <a:buNone/>
            </a:pPr>
            <a:r>
              <a:rPr lang="en-US" sz="1300" dirty="0">
                <a:solidFill>
                  <a:schemeClr val="tx1"/>
                </a:solidFill>
              </a:rPr>
              <a:t>Les cas ambigus doivent être renvoyés à une personne : la machine ne comprend pas, elle compte des indices.</a:t>
            </a:r>
            <a:endParaRPr lang="en-US" sz="1300" dirty="0"/>
          </a:p>
        </p:txBody>
      </p:sp>
      <p:sp>
        <p:nvSpPr>
          <p:cNvPr id="16" name="Carte"/>
          <p:cNvSpPr/>
          <p:nvPr/>
        </p:nvSpPr>
        <p:spPr>
          <a:xfrm>
            <a:off x="548640" y="4224528"/>
            <a:ext cx="11091672" cy="859536"/>
          </a:xfrm>
          <a:prstGeom prst="roundRect">
            <a:avLst>
              <a:gd name="adj" fmla="val 8511"/>
            </a:avLst>
          </a:prstGeom>
          <a:solidFill>
            <a:schemeClr val="accent5"/>
          </a:solidFill>
          <a:ln w="12700">
            <a:solidFill>
              <a:schemeClr val="accent5"/>
            </a:solidFill>
            <a:prstDash val="solid"/>
          </a:ln>
        </p:spPr>
      </p:sp>
      <p:sp>
        <p:nvSpPr>
          <p:cNvPr id="17" name="Pastille"/>
          <p:cNvSpPr/>
          <p:nvPr/>
        </p:nvSpPr>
        <p:spPr>
          <a:xfrm>
            <a:off x="731520" y="4443984"/>
            <a:ext cx="420624" cy="420624"/>
          </a:xfrm>
          <a:prstGeom prst="ellipse">
            <a:avLst/>
          </a:prstGeom>
          <a:solidFill>
            <a:schemeClr val="accent1"/>
          </a:solidFill>
          <a:ln w="12700">
            <a:solidFill>
              <a:schemeClr val="accent1"/>
            </a:solidFill>
            <a:prstDash val="solid"/>
          </a:ln>
        </p:spPr>
      </p:sp>
      <p:sp>
        <p:nvSpPr>
          <p:cNvPr id="18" name="Numéro 9"/>
          <p:cNvSpPr txBox="1"/>
          <p:nvPr/>
        </p:nvSpPr>
        <p:spPr>
          <a:xfrm>
            <a:off x="731520" y="4443984"/>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9</a:t>
            </a:r>
            <a:endParaRPr lang="en-US" sz="1500" dirty="0"/>
          </a:p>
        </p:txBody>
      </p:sp>
      <p:sp>
        <p:nvSpPr>
          <p:cNvPr id="19" name="Text 17"/>
          <p:cNvSpPr txBox="1"/>
          <p:nvPr/>
        </p:nvSpPr>
        <p:spPr>
          <a:xfrm>
            <a:off x="1371600" y="4224528"/>
            <a:ext cx="10149840" cy="859536"/>
          </a:xfrm>
          <a:prstGeom prst="rect">
            <a:avLst/>
          </a:prstGeom>
          <a:noFill/>
          <a:ln/>
        </p:spPr>
        <p:txBody>
          <a:bodyPr wrap="square" lIns="0" tIns="0" rIns="0" bIns="0" rtlCol="0" anchor="ctr"/>
          <a:lstStyle/>
          <a:p>
            <a:pPr indent="0" marL="0">
              <a:buNone/>
            </a:pPr>
            <a:r>
              <a:rPr lang="en-US" sz="1300" b="1" dirty="0">
                <a:solidFill>
                  <a:schemeClr val="accent1"/>
                </a:solidFill>
              </a:rPr>
              <a:t>Réponse B : </a:t>
            </a:r>
            <a:r>
              <a:rPr lang="en-US" sz="1300" b="1" dirty="0">
                <a:solidFill>
                  <a:schemeClr val="tx1"/>
                </a:solidFill>
              </a:rPr>
              <a:t>Non, il repère des indices dans les mots sans comprendre le sens</a:t>
            </a:r>
            <a:endParaRPr lang="en-US" sz="1300" dirty="0"/>
          </a:p>
          <a:p>
            <a:pPr indent="0" marL="0">
              <a:buNone/>
            </a:pPr>
            <a:r>
              <a:rPr lang="en-US" sz="1300" dirty="0">
                <a:solidFill>
                  <a:schemeClr val="tx1"/>
                </a:solidFill>
              </a:rPr>
              <a:t>Une bonne performance ne prouve pas la compréhension : elle montre que les indices statistiques fonctionnent sur ce type de messages.</a:t>
            </a:r>
            <a:endParaRPr lang="en-US" sz="1300" dirty="0"/>
          </a:p>
        </p:txBody>
      </p:sp>
      <p:sp>
        <p:nvSpPr>
          <p:cNvPr id="20" name="Carte"/>
          <p:cNvSpPr/>
          <p:nvPr/>
        </p:nvSpPr>
        <p:spPr>
          <a:xfrm>
            <a:off x="548640" y="5175504"/>
            <a:ext cx="11091672" cy="859536"/>
          </a:xfrm>
          <a:prstGeom prst="roundRect">
            <a:avLst>
              <a:gd name="adj" fmla="val 8511"/>
            </a:avLst>
          </a:prstGeom>
          <a:solidFill>
            <a:schemeClr val="bg2"/>
          </a:solidFill>
          <a:ln w="12700">
            <a:solidFill>
              <a:schemeClr val="bg2"/>
            </a:solidFill>
            <a:prstDash val="solid"/>
          </a:ln>
        </p:spPr>
      </p:sp>
      <p:sp>
        <p:nvSpPr>
          <p:cNvPr id="21" name="Pastille"/>
          <p:cNvSpPr/>
          <p:nvPr/>
        </p:nvSpPr>
        <p:spPr>
          <a:xfrm>
            <a:off x="731520" y="5394960"/>
            <a:ext cx="420624" cy="420624"/>
          </a:xfrm>
          <a:prstGeom prst="ellipse">
            <a:avLst/>
          </a:prstGeom>
          <a:solidFill>
            <a:schemeClr val="accent1"/>
          </a:solidFill>
          <a:ln w="12700">
            <a:solidFill>
              <a:schemeClr val="accent1"/>
            </a:solidFill>
            <a:prstDash val="solid"/>
          </a:ln>
        </p:spPr>
      </p:sp>
      <p:sp>
        <p:nvSpPr>
          <p:cNvPr id="22" name="Numéro 10"/>
          <p:cNvSpPr txBox="1"/>
          <p:nvPr/>
        </p:nvSpPr>
        <p:spPr>
          <a:xfrm>
            <a:off x="731520" y="539496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10</a:t>
            </a:r>
            <a:endParaRPr lang="en-US" sz="1500" dirty="0"/>
          </a:p>
        </p:txBody>
      </p:sp>
      <p:sp>
        <p:nvSpPr>
          <p:cNvPr id="23" name="Text 21"/>
          <p:cNvSpPr txBox="1"/>
          <p:nvPr/>
        </p:nvSpPr>
        <p:spPr>
          <a:xfrm>
            <a:off x="1371600" y="5175504"/>
            <a:ext cx="10149840" cy="859536"/>
          </a:xfrm>
          <a:prstGeom prst="rect">
            <a:avLst/>
          </a:prstGeom>
          <a:noFill/>
          <a:ln/>
        </p:spPr>
        <p:txBody>
          <a:bodyPr wrap="square" lIns="0" tIns="0" rIns="0" bIns="0" rtlCol="0" anchor="ctr"/>
          <a:lstStyle/>
          <a:p>
            <a:pPr indent="0" marL="0">
              <a:buNone/>
            </a:pPr>
            <a:r>
              <a:rPr lang="en-US" sz="1300" b="1" dirty="0">
                <a:solidFill>
                  <a:schemeClr val="accent1"/>
                </a:solidFill>
              </a:rPr>
              <a:t>Réponse D : </a:t>
            </a:r>
            <a:r>
              <a:rPr lang="en-US" sz="1300" b="1" dirty="0">
                <a:solidFill>
                  <a:schemeClr val="tx1"/>
                </a:solidFill>
              </a:rPr>
              <a:t>Les protéger : accord, cadre légal et anonymisation des données personnelles</a:t>
            </a:r>
            <a:endParaRPr lang="en-US" sz="1300" dirty="0"/>
          </a:p>
          <a:p>
            <a:pPr indent="0" marL="0">
              <a:buNone/>
            </a:pPr>
            <a:r>
              <a:rPr lang="en-US" sz="1300" dirty="0">
                <a:solidFill>
                  <a:schemeClr val="tx1"/>
                </a:solidFill>
              </a:rPr>
              <a:t>Les messages contiennent souvent des données personnelles ou de santé : leur usage exige un cadre et une protection.</a:t>
            </a:r>
            <a:endParaRPr lang="en-US" sz="13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566928"/>
            <a:ext cx="11091672" cy="640080"/>
          </a:xfrm>
          <a:prstGeom prst="rect">
            <a:avLst/>
          </a:prstGeom>
          <a:noFill/>
          <a:ln/>
        </p:spPr>
        <p:txBody>
          <a:bodyPr wrap="square" lIns="0" tIns="0" rIns="0" bIns="0" rtlCol="0" anchor="ctr"/>
          <a:lstStyle/>
          <a:p>
            <a:pPr indent="0" marL="0">
              <a:buNone/>
            </a:pPr>
            <a:r>
              <a:rPr lang="en-US" sz="3000" b="1" dirty="0">
                <a:solidFill>
                  <a:schemeClr val="accent1"/>
                </a:solidFill>
              </a:rPr>
              <a:t>Glossaire</a:t>
            </a:r>
            <a:endParaRPr lang="en-US" sz="3000" dirty="0"/>
          </a:p>
        </p:txBody>
      </p:sp>
      <p:sp>
        <p:nvSpPr>
          <p:cNvPr id="3" name="Module"/>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ANNEXE  ·  GLOSSAIRE</a:t>
            </a:r>
            <a:endParaRPr lang="en-US" sz="1200" dirty="0"/>
          </a:p>
        </p:txBody>
      </p:sp>
      <p:sp>
        <p:nvSpPr>
          <p:cNvPr id="4" name="Carte"/>
          <p:cNvSpPr/>
          <p:nvPr/>
        </p:nvSpPr>
        <p:spPr>
          <a:xfrm>
            <a:off x="548640" y="1417320"/>
            <a:ext cx="3593592" cy="1463040"/>
          </a:xfrm>
          <a:prstGeom prst="roundRect">
            <a:avLst>
              <a:gd name="adj" fmla="val 5000"/>
            </a:avLst>
          </a:prstGeom>
          <a:solidFill>
            <a:schemeClr val="bg2"/>
          </a:solidFill>
          <a:ln w="12700">
            <a:solidFill>
              <a:schemeClr val="bg2"/>
            </a:solidFill>
            <a:prstDash val="solid"/>
          </a:ln>
        </p:spPr>
      </p:sp>
      <p:sp>
        <p:nvSpPr>
          <p:cNvPr id="5" name="Text 3"/>
          <p:cNvSpPr txBox="1"/>
          <p:nvPr/>
        </p:nvSpPr>
        <p:spPr>
          <a:xfrm>
            <a:off x="731520" y="1527048"/>
            <a:ext cx="3246120" cy="320040"/>
          </a:xfrm>
          <a:prstGeom prst="rect">
            <a:avLst/>
          </a:prstGeom>
          <a:noFill/>
          <a:ln/>
        </p:spPr>
        <p:txBody>
          <a:bodyPr wrap="square" lIns="0" tIns="0" rIns="0" bIns="0" rtlCol="0" anchor="t"/>
          <a:lstStyle/>
          <a:p>
            <a:pPr indent="0" marL="0">
              <a:buNone/>
            </a:pPr>
            <a:r>
              <a:rPr lang="en-US" sz="1500" b="1" dirty="0">
                <a:solidFill>
                  <a:schemeClr val="accent1"/>
                </a:solidFill>
              </a:rPr>
              <a:t>NLP / TAL</a:t>
            </a:r>
            <a:endParaRPr lang="en-US" sz="1500" dirty="0"/>
          </a:p>
        </p:txBody>
      </p:sp>
      <p:sp>
        <p:nvSpPr>
          <p:cNvPr id="6" name="Text 4"/>
          <p:cNvSpPr txBox="1"/>
          <p:nvPr/>
        </p:nvSpPr>
        <p:spPr>
          <a:xfrm>
            <a:off x="731520" y="1892808"/>
            <a:ext cx="3246120" cy="960120"/>
          </a:xfrm>
          <a:prstGeom prst="rect">
            <a:avLst/>
          </a:prstGeom>
          <a:noFill/>
          <a:ln/>
        </p:spPr>
        <p:txBody>
          <a:bodyPr wrap="square" lIns="0" tIns="0" rIns="0" bIns="0" rtlCol="0" anchor="t"/>
          <a:lstStyle/>
          <a:p>
            <a:pPr indent="0" marL="0">
              <a:buNone/>
            </a:pPr>
            <a:r>
              <a:rPr lang="en-US" sz="1350" dirty="0">
                <a:solidFill>
                  <a:schemeClr val="tx1"/>
                </a:solidFill>
              </a:rPr>
              <a:t>Traitement automatique des langues : faire lire et traiter du texte par une machine</a:t>
            </a:r>
            <a:endParaRPr lang="en-US" sz="1350" dirty="0"/>
          </a:p>
        </p:txBody>
      </p:sp>
      <p:sp>
        <p:nvSpPr>
          <p:cNvPr id="7" name="Carte"/>
          <p:cNvSpPr/>
          <p:nvPr/>
        </p:nvSpPr>
        <p:spPr>
          <a:xfrm>
            <a:off x="4297680" y="1417320"/>
            <a:ext cx="3593592" cy="1463040"/>
          </a:xfrm>
          <a:prstGeom prst="roundRect">
            <a:avLst>
              <a:gd name="adj" fmla="val 5000"/>
            </a:avLst>
          </a:prstGeom>
          <a:solidFill>
            <a:schemeClr val="accent5"/>
          </a:solidFill>
          <a:ln w="12700">
            <a:solidFill>
              <a:schemeClr val="accent5"/>
            </a:solidFill>
            <a:prstDash val="solid"/>
          </a:ln>
        </p:spPr>
      </p:sp>
      <p:sp>
        <p:nvSpPr>
          <p:cNvPr id="8" name="Text 6"/>
          <p:cNvSpPr txBox="1"/>
          <p:nvPr/>
        </p:nvSpPr>
        <p:spPr>
          <a:xfrm>
            <a:off x="4480560" y="1527048"/>
            <a:ext cx="3246120" cy="320040"/>
          </a:xfrm>
          <a:prstGeom prst="rect">
            <a:avLst/>
          </a:prstGeom>
          <a:noFill/>
          <a:ln/>
        </p:spPr>
        <p:txBody>
          <a:bodyPr wrap="square" lIns="0" tIns="0" rIns="0" bIns="0" rtlCol="0" anchor="t"/>
          <a:lstStyle/>
          <a:p>
            <a:pPr indent="0" marL="0">
              <a:buNone/>
            </a:pPr>
            <a:r>
              <a:rPr lang="en-US" sz="1500" b="1" dirty="0">
                <a:solidFill>
                  <a:schemeClr val="accent1"/>
                </a:solidFill>
              </a:rPr>
              <a:t>Token</a:t>
            </a:r>
            <a:endParaRPr lang="en-US" sz="1500" dirty="0"/>
          </a:p>
        </p:txBody>
      </p:sp>
      <p:sp>
        <p:nvSpPr>
          <p:cNvPr id="9" name="Text 7"/>
          <p:cNvSpPr txBox="1"/>
          <p:nvPr/>
        </p:nvSpPr>
        <p:spPr>
          <a:xfrm>
            <a:off x="4480560" y="1892808"/>
            <a:ext cx="3246120" cy="960120"/>
          </a:xfrm>
          <a:prstGeom prst="rect">
            <a:avLst/>
          </a:prstGeom>
          <a:noFill/>
          <a:ln/>
        </p:spPr>
        <p:txBody>
          <a:bodyPr wrap="square" lIns="0" tIns="0" rIns="0" bIns="0" rtlCol="0" anchor="t"/>
          <a:lstStyle/>
          <a:p>
            <a:pPr indent="0" marL="0">
              <a:buNone/>
            </a:pPr>
            <a:r>
              <a:rPr lang="en-US" sz="1350" dirty="0">
                <a:solidFill>
                  <a:schemeClr val="tx1"/>
                </a:solidFill>
              </a:rPr>
              <a:t>Morceau de texte (mot ou partie de mot) que la machine manipule</a:t>
            </a:r>
            <a:endParaRPr lang="en-US" sz="1350" dirty="0"/>
          </a:p>
        </p:txBody>
      </p:sp>
      <p:sp>
        <p:nvSpPr>
          <p:cNvPr id="10" name="Carte"/>
          <p:cNvSpPr/>
          <p:nvPr/>
        </p:nvSpPr>
        <p:spPr>
          <a:xfrm>
            <a:off x="8046720" y="1417320"/>
            <a:ext cx="3593592" cy="1463040"/>
          </a:xfrm>
          <a:prstGeom prst="roundRect">
            <a:avLst>
              <a:gd name="adj" fmla="val 5000"/>
            </a:avLst>
          </a:prstGeom>
          <a:solidFill>
            <a:schemeClr val="bg2"/>
          </a:solidFill>
          <a:ln w="12700">
            <a:solidFill>
              <a:schemeClr val="bg2"/>
            </a:solidFill>
            <a:prstDash val="solid"/>
          </a:ln>
        </p:spPr>
      </p:sp>
      <p:sp>
        <p:nvSpPr>
          <p:cNvPr id="11" name="Text 9"/>
          <p:cNvSpPr txBox="1"/>
          <p:nvPr/>
        </p:nvSpPr>
        <p:spPr>
          <a:xfrm>
            <a:off x="8229600" y="1527048"/>
            <a:ext cx="3246120" cy="320040"/>
          </a:xfrm>
          <a:prstGeom prst="rect">
            <a:avLst/>
          </a:prstGeom>
          <a:noFill/>
          <a:ln/>
        </p:spPr>
        <p:txBody>
          <a:bodyPr wrap="square" lIns="0" tIns="0" rIns="0" bIns="0" rtlCol="0" anchor="t"/>
          <a:lstStyle/>
          <a:p>
            <a:pPr indent="0" marL="0">
              <a:buNone/>
            </a:pPr>
            <a:r>
              <a:rPr lang="en-US" sz="1500" b="1" dirty="0">
                <a:solidFill>
                  <a:schemeClr val="accent1"/>
                </a:solidFill>
              </a:rPr>
              <a:t>Nettoyage</a:t>
            </a:r>
            <a:endParaRPr lang="en-US" sz="1500" dirty="0"/>
          </a:p>
        </p:txBody>
      </p:sp>
      <p:sp>
        <p:nvSpPr>
          <p:cNvPr id="12" name="Text 10"/>
          <p:cNvSpPr txBox="1"/>
          <p:nvPr/>
        </p:nvSpPr>
        <p:spPr>
          <a:xfrm>
            <a:off x="8229600" y="1892808"/>
            <a:ext cx="3246120" cy="960120"/>
          </a:xfrm>
          <a:prstGeom prst="rect">
            <a:avLst/>
          </a:prstGeom>
          <a:noFill/>
          <a:ln/>
        </p:spPr>
        <p:txBody>
          <a:bodyPr wrap="square" lIns="0" tIns="0" rIns="0" bIns="0" rtlCol="0" anchor="t"/>
          <a:lstStyle/>
          <a:p>
            <a:pPr indent="0" marL="0">
              <a:buNone/>
            </a:pPr>
            <a:r>
              <a:rPr lang="en-US" sz="1350" dirty="0">
                <a:solidFill>
                  <a:schemeClr val="tx1"/>
                </a:solidFill>
              </a:rPr>
              <a:t>Harmoniser majuscules, accents et ponctuation avant l’analyse</a:t>
            </a:r>
            <a:endParaRPr lang="en-US" sz="1350" dirty="0"/>
          </a:p>
        </p:txBody>
      </p:sp>
      <p:sp>
        <p:nvSpPr>
          <p:cNvPr id="13" name="Carte"/>
          <p:cNvSpPr/>
          <p:nvPr/>
        </p:nvSpPr>
        <p:spPr>
          <a:xfrm>
            <a:off x="548640" y="3017520"/>
            <a:ext cx="3593592" cy="1463040"/>
          </a:xfrm>
          <a:prstGeom prst="roundRect">
            <a:avLst>
              <a:gd name="adj" fmla="val 5000"/>
            </a:avLst>
          </a:prstGeom>
          <a:solidFill>
            <a:schemeClr val="accent5"/>
          </a:solidFill>
          <a:ln w="12700">
            <a:solidFill>
              <a:schemeClr val="accent5"/>
            </a:solidFill>
            <a:prstDash val="solid"/>
          </a:ln>
        </p:spPr>
      </p:sp>
      <p:sp>
        <p:nvSpPr>
          <p:cNvPr id="14" name="Text 12"/>
          <p:cNvSpPr txBox="1"/>
          <p:nvPr/>
        </p:nvSpPr>
        <p:spPr>
          <a:xfrm>
            <a:off x="731520" y="3127248"/>
            <a:ext cx="3246120" cy="320040"/>
          </a:xfrm>
          <a:prstGeom prst="rect">
            <a:avLst/>
          </a:prstGeom>
          <a:noFill/>
          <a:ln/>
        </p:spPr>
        <p:txBody>
          <a:bodyPr wrap="square" lIns="0" tIns="0" rIns="0" bIns="0" rtlCol="0" anchor="t"/>
          <a:lstStyle/>
          <a:p>
            <a:pPr indent="0" marL="0">
              <a:buNone/>
            </a:pPr>
            <a:r>
              <a:rPr lang="en-US" sz="1500" b="1" dirty="0">
                <a:solidFill>
                  <a:schemeClr val="accent1"/>
                </a:solidFill>
              </a:rPr>
              <a:t>Mot-indice</a:t>
            </a:r>
            <a:endParaRPr lang="en-US" sz="1500" dirty="0"/>
          </a:p>
        </p:txBody>
      </p:sp>
      <p:sp>
        <p:nvSpPr>
          <p:cNvPr id="15" name="Text 13"/>
          <p:cNvSpPr txBox="1"/>
          <p:nvPr/>
        </p:nvSpPr>
        <p:spPr>
          <a:xfrm>
            <a:off x="731520" y="3493008"/>
            <a:ext cx="3246120" cy="960120"/>
          </a:xfrm>
          <a:prstGeom prst="rect">
            <a:avLst/>
          </a:prstGeom>
          <a:noFill/>
          <a:ln/>
        </p:spPr>
        <p:txBody>
          <a:bodyPr wrap="square" lIns="0" tIns="0" rIns="0" bIns="0" rtlCol="0" anchor="t"/>
          <a:lstStyle/>
          <a:p>
            <a:pPr indent="0" marL="0">
              <a:buNone/>
            </a:pPr>
            <a:r>
              <a:rPr lang="en-US" sz="1350" dirty="0">
                <a:solidFill>
                  <a:schemeClr val="tx1"/>
                </a:solidFill>
              </a:rPr>
              <a:t>Mot rare et ciblé qui révèle le sujet d’un message</a:t>
            </a:r>
            <a:endParaRPr lang="en-US" sz="1350" dirty="0"/>
          </a:p>
        </p:txBody>
      </p:sp>
      <p:sp>
        <p:nvSpPr>
          <p:cNvPr id="16" name="Carte"/>
          <p:cNvSpPr/>
          <p:nvPr/>
        </p:nvSpPr>
        <p:spPr>
          <a:xfrm>
            <a:off x="4297680" y="3017520"/>
            <a:ext cx="3593592" cy="1463040"/>
          </a:xfrm>
          <a:prstGeom prst="roundRect">
            <a:avLst>
              <a:gd name="adj" fmla="val 5000"/>
            </a:avLst>
          </a:prstGeom>
          <a:solidFill>
            <a:schemeClr val="bg2"/>
          </a:solidFill>
          <a:ln w="12700">
            <a:solidFill>
              <a:schemeClr val="bg2"/>
            </a:solidFill>
            <a:prstDash val="solid"/>
          </a:ln>
        </p:spPr>
      </p:sp>
      <p:sp>
        <p:nvSpPr>
          <p:cNvPr id="17" name="Text 15"/>
          <p:cNvSpPr txBox="1"/>
          <p:nvPr/>
        </p:nvSpPr>
        <p:spPr>
          <a:xfrm>
            <a:off x="4480560" y="3127248"/>
            <a:ext cx="3246120" cy="320040"/>
          </a:xfrm>
          <a:prstGeom prst="rect">
            <a:avLst/>
          </a:prstGeom>
          <a:noFill/>
          <a:ln/>
        </p:spPr>
        <p:txBody>
          <a:bodyPr wrap="square" lIns="0" tIns="0" rIns="0" bIns="0" rtlCol="0" anchor="t"/>
          <a:lstStyle/>
          <a:p>
            <a:pPr indent="0" marL="0">
              <a:buNone/>
            </a:pPr>
            <a:r>
              <a:rPr lang="en-US" sz="1500" b="1" dirty="0">
                <a:solidFill>
                  <a:schemeClr val="accent1"/>
                </a:solidFill>
              </a:rPr>
              <a:t>Sac de mots</a:t>
            </a:r>
            <a:endParaRPr lang="en-US" sz="1500" dirty="0"/>
          </a:p>
        </p:txBody>
      </p:sp>
      <p:sp>
        <p:nvSpPr>
          <p:cNvPr id="18" name="Text 16"/>
          <p:cNvSpPr txBox="1"/>
          <p:nvPr/>
        </p:nvSpPr>
        <p:spPr>
          <a:xfrm>
            <a:off x="4480560" y="3493008"/>
            <a:ext cx="3246120" cy="960120"/>
          </a:xfrm>
          <a:prstGeom prst="rect">
            <a:avLst/>
          </a:prstGeom>
          <a:noFill/>
          <a:ln/>
        </p:spPr>
        <p:txBody>
          <a:bodyPr wrap="square" lIns="0" tIns="0" rIns="0" bIns="0" rtlCol="0" anchor="t"/>
          <a:lstStyle/>
          <a:p>
            <a:pPr indent="0" marL="0">
              <a:buNone/>
            </a:pPr>
            <a:r>
              <a:rPr lang="en-US" sz="1350" dirty="0">
                <a:solidFill>
                  <a:schemeClr val="tx1"/>
                </a:solidFill>
              </a:rPr>
              <a:t>Compter les mots d’un texte en oubliant leur ordre</a:t>
            </a:r>
            <a:endParaRPr lang="en-US" sz="1350" dirty="0"/>
          </a:p>
        </p:txBody>
      </p:sp>
      <p:sp>
        <p:nvSpPr>
          <p:cNvPr id="19" name="Carte"/>
          <p:cNvSpPr/>
          <p:nvPr/>
        </p:nvSpPr>
        <p:spPr>
          <a:xfrm>
            <a:off x="8046720" y="3017520"/>
            <a:ext cx="3593592" cy="1463040"/>
          </a:xfrm>
          <a:prstGeom prst="roundRect">
            <a:avLst>
              <a:gd name="adj" fmla="val 5000"/>
            </a:avLst>
          </a:prstGeom>
          <a:solidFill>
            <a:schemeClr val="accent5"/>
          </a:solidFill>
          <a:ln w="12700">
            <a:solidFill>
              <a:schemeClr val="accent5"/>
            </a:solidFill>
            <a:prstDash val="solid"/>
          </a:ln>
        </p:spPr>
      </p:sp>
      <p:sp>
        <p:nvSpPr>
          <p:cNvPr id="20" name="Text 18"/>
          <p:cNvSpPr txBox="1"/>
          <p:nvPr/>
        </p:nvSpPr>
        <p:spPr>
          <a:xfrm>
            <a:off x="8229600" y="3127248"/>
            <a:ext cx="3246120" cy="320040"/>
          </a:xfrm>
          <a:prstGeom prst="rect">
            <a:avLst/>
          </a:prstGeom>
          <a:noFill/>
          <a:ln/>
        </p:spPr>
        <p:txBody>
          <a:bodyPr wrap="square" lIns="0" tIns="0" rIns="0" bIns="0" rtlCol="0" anchor="t"/>
          <a:lstStyle/>
          <a:p>
            <a:pPr indent="0" marL="0">
              <a:buNone/>
            </a:pPr>
            <a:r>
              <a:rPr lang="en-US" sz="1500" b="1" dirty="0">
                <a:solidFill>
                  <a:schemeClr val="accent1"/>
                </a:solidFill>
              </a:rPr>
              <a:t>TF-IDF</a:t>
            </a:r>
            <a:endParaRPr lang="en-US" sz="1500" dirty="0"/>
          </a:p>
        </p:txBody>
      </p:sp>
      <p:sp>
        <p:nvSpPr>
          <p:cNvPr id="21" name="Text 19"/>
          <p:cNvSpPr txBox="1"/>
          <p:nvPr/>
        </p:nvSpPr>
        <p:spPr>
          <a:xfrm>
            <a:off x="8229600" y="3493008"/>
            <a:ext cx="3246120" cy="960120"/>
          </a:xfrm>
          <a:prstGeom prst="rect">
            <a:avLst/>
          </a:prstGeom>
          <a:noFill/>
          <a:ln/>
        </p:spPr>
        <p:txBody>
          <a:bodyPr wrap="square" lIns="0" tIns="0" rIns="0" bIns="0" rtlCol="0" anchor="t"/>
          <a:lstStyle/>
          <a:p>
            <a:pPr indent="0" marL="0">
              <a:buNone/>
            </a:pPr>
            <a:r>
              <a:rPr lang="en-US" sz="1350" dirty="0">
                <a:solidFill>
                  <a:schemeClr val="tx1"/>
                </a:solidFill>
              </a:rPr>
              <a:t>Poids plus fort pour les mots rares et ciblés, plus faible pour les mots omniprésents</a:t>
            </a:r>
            <a:endParaRPr lang="en-US" sz="1350" dirty="0"/>
          </a:p>
        </p:txBody>
      </p:sp>
      <p:sp>
        <p:nvSpPr>
          <p:cNvPr id="22" name="Carte"/>
          <p:cNvSpPr/>
          <p:nvPr/>
        </p:nvSpPr>
        <p:spPr>
          <a:xfrm>
            <a:off x="548640" y="4617720"/>
            <a:ext cx="3593592" cy="1463040"/>
          </a:xfrm>
          <a:prstGeom prst="roundRect">
            <a:avLst>
              <a:gd name="adj" fmla="val 5000"/>
            </a:avLst>
          </a:prstGeom>
          <a:solidFill>
            <a:schemeClr val="bg2"/>
          </a:solidFill>
          <a:ln w="12700">
            <a:solidFill>
              <a:schemeClr val="bg2"/>
            </a:solidFill>
            <a:prstDash val="solid"/>
          </a:ln>
        </p:spPr>
      </p:sp>
      <p:sp>
        <p:nvSpPr>
          <p:cNvPr id="23" name="Text 21"/>
          <p:cNvSpPr txBox="1"/>
          <p:nvPr/>
        </p:nvSpPr>
        <p:spPr>
          <a:xfrm>
            <a:off x="731520" y="4727448"/>
            <a:ext cx="3246120" cy="320040"/>
          </a:xfrm>
          <a:prstGeom prst="rect">
            <a:avLst/>
          </a:prstGeom>
          <a:noFill/>
          <a:ln/>
        </p:spPr>
        <p:txBody>
          <a:bodyPr wrap="square" lIns="0" tIns="0" rIns="0" bIns="0" rtlCol="0" anchor="t"/>
          <a:lstStyle/>
          <a:p>
            <a:pPr indent="0" marL="0">
              <a:buNone/>
            </a:pPr>
            <a:r>
              <a:rPr lang="en-US" sz="1500" b="1" dirty="0">
                <a:solidFill>
                  <a:schemeClr val="accent1"/>
                </a:solidFill>
              </a:rPr>
              <a:t>Classification</a:t>
            </a:r>
            <a:endParaRPr lang="en-US" sz="1500" dirty="0"/>
          </a:p>
        </p:txBody>
      </p:sp>
      <p:sp>
        <p:nvSpPr>
          <p:cNvPr id="24" name="Text 22"/>
          <p:cNvSpPr txBox="1"/>
          <p:nvPr/>
        </p:nvSpPr>
        <p:spPr>
          <a:xfrm>
            <a:off x="731520" y="5093208"/>
            <a:ext cx="3246120" cy="960120"/>
          </a:xfrm>
          <a:prstGeom prst="rect">
            <a:avLst/>
          </a:prstGeom>
          <a:noFill/>
          <a:ln/>
        </p:spPr>
        <p:txBody>
          <a:bodyPr wrap="square" lIns="0" tIns="0" rIns="0" bIns="0" rtlCol="0" anchor="t"/>
          <a:lstStyle/>
          <a:p>
            <a:pPr indent="0" marL="0">
              <a:buNone/>
            </a:pPr>
            <a:r>
              <a:rPr lang="en-US" sz="1350" dirty="0">
                <a:solidFill>
                  <a:schemeClr val="tx1"/>
                </a:solidFill>
              </a:rPr>
              <a:t>Ranger un texte dans une catégorie (santé, état civil…)</a:t>
            </a:r>
            <a:endParaRPr lang="en-US" sz="1350" dirty="0"/>
          </a:p>
        </p:txBody>
      </p:sp>
      <p:sp>
        <p:nvSpPr>
          <p:cNvPr id="25" name="Carte"/>
          <p:cNvSpPr/>
          <p:nvPr/>
        </p:nvSpPr>
        <p:spPr>
          <a:xfrm>
            <a:off x="4297680" y="4617720"/>
            <a:ext cx="3593592" cy="1463040"/>
          </a:xfrm>
          <a:prstGeom prst="roundRect">
            <a:avLst>
              <a:gd name="adj" fmla="val 5000"/>
            </a:avLst>
          </a:prstGeom>
          <a:solidFill>
            <a:schemeClr val="accent5"/>
          </a:solidFill>
          <a:ln w="12700">
            <a:solidFill>
              <a:schemeClr val="accent5"/>
            </a:solidFill>
            <a:prstDash val="solid"/>
          </a:ln>
        </p:spPr>
      </p:sp>
      <p:sp>
        <p:nvSpPr>
          <p:cNvPr id="26" name="Text 24"/>
          <p:cNvSpPr txBox="1"/>
          <p:nvPr/>
        </p:nvSpPr>
        <p:spPr>
          <a:xfrm>
            <a:off x="4480560" y="4727448"/>
            <a:ext cx="3246120" cy="320040"/>
          </a:xfrm>
          <a:prstGeom prst="rect">
            <a:avLst/>
          </a:prstGeom>
          <a:noFill/>
          <a:ln/>
        </p:spPr>
        <p:txBody>
          <a:bodyPr wrap="square" lIns="0" tIns="0" rIns="0" bIns="0" rtlCol="0" anchor="t"/>
          <a:lstStyle/>
          <a:p>
            <a:pPr indent="0" marL="0">
              <a:buNone/>
            </a:pPr>
            <a:r>
              <a:rPr lang="en-US" sz="1500" b="1" dirty="0">
                <a:solidFill>
                  <a:schemeClr val="accent1"/>
                </a:solidFill>
              </a:rPr>
              <a:t>Fausse alerte</a:t>
            </a:r>
            <a:endParaRPr lang="en-US" sz="1500" dirty="0"/>
          </a:p>
        </p:txBody>
      </p:sp>
      <p:sp>
        <p:nvSpPr>
          <p:cNvPr id="27" name="Text 25"/>
          <p:cNvSpPr txBox="1"/>
          <p:nvPr/>
        </p:nvSpPr>
        <p:spPr>
          <a:xfrm>
            <a:off x="4480560" y="5093208"/>
            <a:ext cx="3246120" cy="960120"/>
          </a:xfrm>
          <a:prstGeom prst="rect">
            <a:avLst/>
          </a:prstGeom>
          <a:noFill/>
          <a:ln/>
        </p:spPr>
        <p:txBody>
          <a:bodyPr wrap="square" lIns="0" tIns="0" rIns="0" bIns="0" rtlCol="0" anchor="t"/>
          <a:lstStyle/>
          <a:p>
            <a:pPr indent="0" marL="0">
              <a:buNone/>
            </a:pPr>
            <a:r>
              <a:rPr lang="en-US" sz="1350" dirty="0">
                <a:solidFill>
                  <a:schemeClr val="tx1"/>
                </a:solidFill>
              </a:rPr>
              <a:t>La machine annonce une catégorie qui n’est pas la bonne</a:t>
            </a:r>
            <a:endParaRPr lang="en-US" sz="1350" dirty="0"/>
          </a:p>
        </p:txBody>
      </p:sp>
      <p:sp>
        <p:nvSpPr>
          <p:cNvPr id="28" name="Carte"/>
          <p:cNvSpPr/>
          <p:nvPr/>
        </p:nvSpPr>
        <p:spPr>
          <a:xfrm>
            <a:off x="8046720" y="4617720"/>
            <a:ext cx="3593592" cy="1463040"/>
          </a:xfrm>
          <a:prstGeom prst="roundRect">
            <a:avLst>
              <a:gd name="adj" fmla="val 5000"/>
            </a:avLst>
          </a:prstGeom>
          <a:solidFill>
            <a:schemeClr val="bg2"/>
          </a:solidFill>
          <a:ln w="12700">
            <a:solidFill>
              <a:schemeClr val="bg2"/>
            </a:solidFill>
            <a:prstDash val="solid"/>
          </a:ln>
        </p:spPr>
      </p:sp>
      <p:sp>
        <p:nvSpPr>
          <p:cNvPr id="29" name="Text 27"/>
          <p:cNvSpPr txBox="1"/>
          <p:nvPr/>
        </p:nvSpPr>
        <p:spPr>
          <a:xfrm>
            <a:off x="8229600" y="4727448"/>
            <a:ext cx="3246120" cy="320040"/>
          </a:xfrm>
          <a:prstGeom prst="rect">
            <a:avLst/>
          </a:prstGeom>
          <a:noFill/>
          <a:ln/>
        </p:spPr>
        <p:txBody>
          <a:bodyPr wrap="square" lIns="0" tIns="0" rIns="0" bIns="0" rtlCol="0" anchor="t"/>
          <a:lstStyle/>
          <a:p>
            <a:pPr indent="0" marL="0">
              <a:buNone/>
            </a:pPr>
            <a:r>
              <a:rPr lang="en-US" sz="1500" b="1" dirty="0">
                <a:solidFill>
                  <a:schemeClr val="accent1"/>
                </a:solidFill>
              </a:rPr>
              <a:t>Oubli</a:t>
            </a:r>
            <a:endParaRPr lang="en-US" sz="1500" dirty="0"/>
          </a:p>
        </p:txBody>
      </p:sp>
      <p:sp>
        <p:nvSpPr>
          <p:cNvPr id="30" name="Text 28"/>
          <p:cNvSpPr txBox="1"/>
          <p:nvPr/>
        </p:nvSpPr>
        <p:spPr>
          <a:xfrm>
            <a:off x="8229600" y="5093208"/>
            <a:ext cx="3246120" cy="960120"/>
          </a:xfrm>
          <a:prstGeom prst="rect">
            <a:avLst/>
          </a:prstGeom>
          <a:noFill/>
          <a:ln/>
        </p:spPr>
        <p:txBody>
          <a:bodyPr wrap="square" lIns="0" tIns="0" rIns="0" bIns="0" rtlCol="0" anchor="t"/>
          <a:lstStyle/>
          <a:p>
            <a:pPr indent="0" marL="0">
              <a:buNone/>
            </a:pPr>
            <a:r>
              <a:rPr lang="en-US" sz="1350" dirty="0">
                <a:solidFill>
                  <a:schemeClr val="tx1"/>
                </a:solidFill>
              </a:rPr>
              <a:t>La machine ne reconnaît pas un cas qui appartenait à la catégorie</a:t>
            </a:r>
            <a:endParaRPr lang="en-US" sz="135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731520" y="1828800"/>
            <a:ext cx="8412480" cy="1097280"/>
          </a:xfrm>
          <a:prstGeom prst="rect">
            <a:avLst/>
          </a:prstGeom>
          <a:noFill/>
          <a:ln/>
        </p:spPr>
        <p:txBody>
          <a:bodyPr wrap="square" lIns="0" tIns="0" rIns="0" bIns="0" rtlCol="0" anchor="t"/>
          <a:lstStyle/>
          <a:p>
            <a:pPr indent="0" marL="0">
              <a:buNone/>
            </a:pPr>
            <a:r>
              <a:rPr lang="en-US" sz="4800" b="1" dirty="0">
                <a:solidFill>
                  <a:schemeClr val="bg1"/>
                </a:solidFill>
              </a:rPr>
              <a:t>Merci et à bientôt</a:t>
            </a:r>
            <a:endParaRPr lang="en-US" sz="4800" dirty="0"/>
          </a:p>
        </p:txBody>
      </p:sp>
      <p:sp>
        <p:nvSpPr>
          <p:cNvPr id="3" name="Text 1"/>
          <p:cNvSpPr txBox="1"/>
          <p:nvPr/>
        </p:nvSpPr>
        <p:spPr>
          <a:xfrm>
            <a:off x="731520" y="3017520"/>
            <a:ext cx="8229600" cy="457200"/>
          </a:xfrm>
          <a:prstGeom prst="rect">
            <a:avLst/>
          </a:prstGeom>
          <a:noFill/>
          <a:ln/>
        </p:spPr>
        <p:txBody>
          <a:bodyPr wrap="square" lIns="0" tIns="0" rIns="0" bIns="0" rtlCol="0" anchor="t"/>
          <a:lstStyle/>
          <a:p>
            <a:pPr indent="0" marL="0">
              <a:buNone/>
            </a:pPr>
            <a:r>
              <a:rPr lang="en-US" sz="2400" dirty="0">
                <a:solidFill>
                  <a:schemeClr val="bg1"/>
                </a:solidFill>
              </a:rPr>
              <a:t>Prochain module : Transformers et embeddings</a:t>
            </a:r>
            <a:endParaRPr lang="en-US" sz="2400" dirty="0"/>
          </a:p>
        </p:txBody>
      </p:sp>
      <p:sp>
        <p:nvSpPr>
          <p:cNvPr id="4" name="Text 2"/>
          <p:cNvSpPr txBox="1"/>
          <p:nvPr/>
        </p:nvSpPr>
        <p:spPr>
          <a:xfrm>
            <a:off x="731520" y="3749040"/>
            <a:ext cx="9144000" cy="365760"/>
          </a:xfrm>
          <a:prstGeom prst="rect">
            <a:avLst/>
          </a:prstGeom>
          <a:noFill/>
          <a:ln/>
        </p:spPr>
        <p:txBody>
          <a:bodyPr wrap="square" lIns="0" tIns="0" rIns="0" bIns="0" rtlCol="0" anchor="t"/>
          <a:lstStyle/>
          <a:p>
            <a:pPr indent="0" marL="0">
              <a:buNone/>
            </a:pPr>
            <a:r>
              <a:rPr lang="en-US" sz="1600" b="1" dirty="0">
                <a:solidFill>
                  <a:schemeClr val="accent3"/>
                </a:solidFill>
              </a:rPr>
              <a:t>Comment la machine capte le sens des mots  ·  Projet #TOGO AI Lab</a:t>
            </a:r>
            <a:endParaRPr lang="en-US" sz="1600" dirty="0"/>
          </a:p>
        </p:txBody>
      </p:sp>
    </p:spTree>
  </p:cSld>
  <p:clrMapOvr>
    <a:masterClrMapping/>
  </p:clrMapOvr>
</p:sld>
</file>

<file path=ppt/theme/theme1.xml><?xml version="1.0" encoding="utf-8"?>
<a:theme xmlns:a="http://schemas.openxmlformats.org/drawingml/2006/main" name="TAL">
  <a:themeElements>
    <a:clrScheme name="TAL">
      <a:dk1>
        <a:srgbClr val="1B2B27"/>
      </a:dk1>
      <a:lt1>
        <a:srgbClr val="FFFFFF"/>
      </a:lt1>
      <a:dk2>
        <a:srgbClr val="0B4A38"/>
      </a:dk2>
      <a:lt2>
        <a:srgbClr val="E8F3EE"/>
      </a:lt2>
      <a:accent1>
        <a:srgbClr val="006A4E"/>
      </a:accent1>
      <a:accent2>
        <a:srgbClr val="2F6386"/>
      </a:accent2>
      <a:accent3>
        <a:srgbClr val="FFCF11"/>
      </a:accent3>
      <a:accent4>
        <a:srgbClr val="C9211E"/>
      </a:accent4>
      <a:accent5>
        <a:srgbClr val="DCEBE5"/>
      </a:accent5>
      <a:accent6>
        <a:srgbClr val="5B6B66"/>
      </a:accent6>
      <a:hlink>
        <a:srgbClr val="2F6386"/>
      </a:hlink>
      <a:folHlink>
        <a:srgbClr val="5B6B66"/>
      </a:folHlink>
    </a:clrScheme>
    <a:fontScheme name="T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Togo AI 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 Fondamentaux du NLP (non-IT)</dc:title>
  <dc:subject>PptxGenJS Presentation</dc:subject>
  <dc:creator>Togo AI Lab</dc:creator>
  <cp:lastModifiedBy>Togo AI Lab</cp:lastModifiedBy>
  <cp:revision>1</cp:revision>
  <dcterms:created xsi:type="dcterms:W3CDTF">2026-10-19T20:08:11Z</dcterms:created>
  <dcterms:modified xsi:type="dcterms:W3CDTF">2026-10-19T20:08:11Z</dcterms:modified>
</cp:coreProperties>
</file>