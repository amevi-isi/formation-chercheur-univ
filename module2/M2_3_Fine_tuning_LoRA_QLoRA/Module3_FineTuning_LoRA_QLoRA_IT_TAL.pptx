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056e3d00-f753-8cd0-7db2-cff14666af3b}">
          <p14:sldIdLst>
            <p14:sldId id="256"/>
            <p14:sldId id="257"/>
          </p14:sldIdLst>
        </p14:section>
        <p14:section name="Ouverture" id="{c3c3166a-6774-5611-9f9a-36a40c5c6a57}">
          <p14:sldIdLst/>
        </p14:section>
        <p14:section name="Introduction" id="{1dab37bc-1f23-2176-43ed-2eabf5814585}">
          <p14:sldIdLst>
            <p14:sldId id="258"/>
          </p14:sldIdLst>
        </p14:section>
        <p14:section name="Décision" id="{171e47ff-a57d-2462-9ae0-d1a0f6e6cf70}">
          <p14:sldIdLst>
            <p14:sldId id="259"/>
          </p14:sldIdLst>
        </p14:section>
        <p14:section name="LoRA" id="{b4349086-30e5-7ace-77a5-371b0ff8bb25}">
          <p14:sldIdLst>
            <p14:sldId id="260"/>
            <p14:sldId id="261"/>
            <p14:sldId id="262"/>
            <p14:sldId id="263"/>
          </p14:sldIdLst>
        </p14:section>
        <p14:section name="QLoRA" id="{60add568-3f71-cbfc-d796-5db07e630274}">
          <p14:sldIdLst>
            <p14:sldId id="264"/>
            <p14:sldId id="265"/>
            <p14:sldId id="266"/>
          </p14:sldIdLst>
        </p14:section>
        <p14:section name="Données" id="{7e58b003-195e-96a7-e1d4-f0c3036e2be1}">
          <p14:sldIdLst>
            <p14:sldId id="267"/>
            <p14:sldId id="268"/>
          </p14:sldIdLst>
        </p14:section>
        <p14:section name="Entraînement" id="{eea1828a-e667-e78f-51f6-4b437cc0c028}">
          <p14:sldIdLst>
            <p14:sldId id="269"/>
            <p14:sldId id="270"/>
          </p14:sldIdLst>
        </p14:section>
        <p14:section name="Évaluation" id="{0823f6dc-cc3a-e367-9c7f-ae5369ade44c}">
          <p14:sldIdLst>
            <p14:sldId id="271"/>
          </p14:sldIdLst>
        </p14:section>
        <p14:section name="Déploiement" id="{076f8687-5f75-31ad-a889-9465c738d222}">
          <p14:sldIdLst>
            <p14:sldId id="272"/>
          </p14:sldIdLst>
        </p14:section>
        <p14:section name="Pièges" id="{a803a0fd-4160-e083-313c-c28c06e53a8f}">
          <p14:sldIdLst>
            <p14:sldId id="273"/>
          </p14:sldIdLst>
        </p14:section>
        <p14:section name="Responsabilité" id="{57301d09-52c7-e496-0c82-597d8111568e}">
          <p14:sldIdLst>
            <p14:sldId id="274"/>
          </p14:sldIdLst>
        </p14:section>
        <p14:section name="TP notebook" id="{9638a298-75be-1808-46b8-024f78d8099e}">
          <p14:sldIdLst>
            <p14:sldId id="275"/>
            <p14:sldId id="276"/>
          </p14:sldIdLst>
        </p14:section>
        <p14:section name="Conclusion" id="{a768502a-a8f8-7f2a-5c98-7c3efa763d8c}">
          <p14:sldIdLst>
            <p14:sldId id="277"/>
          </p14:sldIdLst>
        </p14:section>
        <p14:section name="Quiz de sortie" id="{caab24b1-08e0-067d-4922-7686ff7dec8d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Annexes" id="{fc9078e1-adc6-51b6-d4cc-581736a9a4cb}">
          <p14:sldIdLst>
            <p14:sldId id="285"/>
          </p14:sldIdLst>
        </p14:section>
        <p14:section name="Clôture" id="{3ede71d7-cd1c-bb95-367d-f4c158e8e90a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IT à l’aise avec Python et les bases du module 2. Aucune formule : on s’appuie sur l’intuition et sur le code. Prévoir un accès GPU (Colab T4) si possible ; le TP fonctionne aussi sur CPU, plus lentement.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valeurs affichées en commentaire sont des ordres de grandeur pour xlm-roberta-base ; faire exécuter le TP pour les valeurs exactes.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configuration est présentée en démonstration dans le notebook (cellule bonus, GPU requis).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une journée de relecture vaut plus qu’une nuit de calcul.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Demander à chacun d’activer le GPU dans Colab avant de commencer. Prévoir que l’entraînement prend quelques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3 · Fine-tuning, LoRA et QLoRA  ·  Version 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3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Fine-tuning, LoRA et QLoRA : adapter un modèle sans tout réentraîner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IT : peft, quantification, évaluation, TP notebook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Concepts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Quand fine-tuner, LoRA, QLoRA, données, entraînement, évaluation, déploiement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ode" descr="Fa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TP notebook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Spécialiser xlm-roberta-base avec LoRA pour classer des messages, sur Google Colab (7 exercices)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66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Quiz de sortie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10 questions, seuil de réussite de 8 sur 10, corrigé en commun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choisir entre consignes, RAG et fine-tuning selon le besoin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configurer LoRA et QLoRA, entraîner et évaluer un modèle sur un jeu de test honnête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sauvegarder, recharger et fusionner un adaptateur, et anticiper les risques.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Quatre leviers pour adapter un modèle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ommentDots" descr="FaCommentD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Consignes (prompt)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Instructions et exemples dans la requête. Rapide, sans entraînement, limité par la longueur du contexte.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RAG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Retrouver des documents et les fournir au modèle. Idéal pour des connaissances qui changent (module 5).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ogs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Fine-tuning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Ajuster les poids sur vos exemples pour façonner un comportement : tâche, format, ton.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30175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Database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Pré-entraînement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Entraîner de zéro : coût colossal, réservé aux grands laboratoires.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montez par paliers : consignes, puis RAG, puis fine-tuning. Chaque palier coûte plus cher que le précédent.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Quand fine-tuner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graphicFrame>
        <p:nvGraphicFramePr>
          <p:cNvPr id="5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46908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Besoin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Fine-tuning ?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Pourquoi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Classer ou extraire de façon répétée, avec des étiquettes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Oui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Tâche étroite, beaucoup d’exemples, gain net de précision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Imposer un format de sortie ou un ton précis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Souvent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Les consignes suffisent parfois ; le fine-tuning rend le comportement stable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Répondre à partir de documents qui évoluent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Non, RAG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Réentraîner à chaque mise à jour est coûteux et fragile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Langue locale mal comprise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Oui, avec données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 frein est le corpus : collecter d’abord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Explorer ou prototyper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Consignes d’abord : rapide et gratuit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Décision engageant des droits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Pas d’automatisation sans relecture humaine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 fine-tuning façonne un comportement. Il n’est pas un moyen fiable d’injecter des connaissances qui changent.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problème du fine-tuning complet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Database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Ce qu’il faut garder en mémoire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Les poids</a:t>
            </a:r>
            <a:r>
              <a:rPr lang="en-US" sz="1450" dirty="0">
                <a:solidFill>
                  <a:schemeClr val="tx1"/>
                </a:solidFill>
              </a:rPr>
              <a:t> du modèle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Les gradients</a:t>
            </a:r>
            <a:r>
              <a:rPr lang="en-US" sz="1450" dirty="0">
                <a:solidFill>
                  <a:schemeClr val="tx1"/>
                </a:solidFill>
              </a:rPr>
              <a:t> : un par poids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Les états de l’optimiseur</a:t>
            </a:r>
            <a:r>
              <a:rPr lang="en-US" sz="1450" dirty="0">
                <a:solidFill>
                  <a:schemeClr val="tx1"/>
                </a:solidFill>
              </a:rPr>
              <a:t> (Adam) : plusieurs copies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Les activations</a:t>
            </a:r>
            <a:r>
              <a:rPr lang="en-US" sz="1450" dirty="0">
                <a:solidFill>
                  <a:schemeClr val="tx1"/>
                </a:solidFill>
              </a:rPr>
              <a:t> des couches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6245352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ExclamationTriangle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Conséquences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Un modèle de </a:t>
            </a:r>
            <a:r>
              <a:rPr lang="en-US" sz="1450" b="1" dirty="0">
                <a:solidFill>
                  <a:schemeClr val="tx1"/>
                </a:solidFill>
              </a:rPr>
              <a:t>7 milliards</a:t>
            </a:r>
            <a:r>
              <a:rPr lang="en-US" sz="1450" dirty="0">
                <a:solidFill>
                  <a:schemeClr val="tx1"/>
                </a:solidFill>
              </a:rPr>
              <a:t> de paramètres demande plus de </a:t>
            </a:r>
            <a:r>
              <a:rPr lang="en-US" sz="1450" b="1" dirty="0">
                <a:solidFill>
                  <a:schemeClr val="tx1"/>
                </a:solidFill>
              </a:rPr>
              <a:t>100 Go</a:t>
            </a:r>
            <a:r>
              <a:rPr lang="en-US" sz="1450" dirty="0">
                <a:solidFill>
                  <a:schemeClr val="tx1"/>
                </a:solidFill>
              </a:rPr>
              <a:t> de mémoire GPU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Une copie </a:t>
            </a:r>
            <a:r>
              <a:rPr lang="en-US" sz="1450" b="1" dirty="0">
                <a:solidFill>
                  <a:schemeClr val="tx1"/>
                </a:solidFill>
              </a:rPr>
              <a:t>complète</a:t>
            </a:r>
            <a:r>
              <a:rPr lang="en-US" sz="1450" dirty="0">
                <a:solidFill>
                  <a:schemeClr val="tx1"/>
                </a:solidFill>
              </a:rPr>
              <a:t> du modèle par spécialisation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Risque d’</a:t>
            </a:r>
            <a:r>
              <a:rPr lang="en-US" sz="1450" b="1" dirty="0">
                <a:solidFill>
                  <a:schemeClr val="tx1"/>
                </a:solidFill>
              </a:rPr>
              <a:t>oubli</a:t>
            </a:r>
            <a:r>
              <a:rPr lang="en-US" sz="1450" dirty="0">
                <a:solidFill>
                  <a:schemeClr val="tx1"/>
                </a:solidFill>
              </a:rPr>
              <a:t> des capacités générales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Hors de portée d’une petite équipe</a:t>
            </a:r>
            <a:endParaRPr lang="en-US" sz="1450" dirty="0"/>
          </a:p>
        </p:txBody>
      </p:sp>
      <p:sp>
        <p:nvSpPr>
          <p:cNvPr id="1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ordres de grandeur : ils varient avec la précision, l’optimiseur et la longueur des séquences.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LoRA : une petite correction branchée sur le modèle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Les poids d’origine sont gelés. À côté de certaines couches, on ajoute deux petites matrices dont le produit représente la correction : on n’entraîne que celles-là.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Modèle de base (gelé)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Poids W inchangés. Culture générale préservée.</a:t>
            </a:r>
            <a:endParaRPr lang="en-US" sz="1500" dirty="0"/>
          </a:p>
        </p:txBody>
      </p:sp>
      <p:sp>
        <p:nvSpPr>
          <p:cNvPr id="8" name="Carte"/>
          <p:cNvSpPr/>
          <p:nvPr/>
        </p:nvSpPr>
        <p:spPr>
          <a:xfrm>
            <a:off x="5029200" y="2788920"/>
            <a:ext cx="2130552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278892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 matrices A et B de rang r (entraînées)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63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3063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Carte"/>
          <p:cNvSpPr/>
          <p:nvPr/>
        </p:nvSpPr>
        <p:spPr>
          <a:xfrm>
            <a:off x="7434072" y="2240280"/>
            <a:ext cx="4206240" cy="2286000"/>
          </a:xfrm>
          <a:prstGeom prst="roundRect">
            <a:avLst>
              <a:gd name="adj" fmla="val 32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Modèle adapté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62672" y="27889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Sortie = W x + correction(A, B) x. Mêmes entrées, comportement ajusté.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rang r de 8 ou 16 suffit souvent : l’adaptateur pèse alors moins de 1 % du modèle, et se partage en quelques mégaoctets.</a:t>
            </a:r>
            <a:endParaRPr lang="en-US" sz="1500" dirty="0"/>
          </a:p>
        </p:txBody>
      </p:sp>
      <p:sp>
        <p:nvSpPr>
          <p:cNvPr id="16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LoRA = Low-Rank Adaptation : apprendre une correction de faible rang plutôt que de modifier tous les poids.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Configurer LoRA avec peft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peft import LoraConfig, get_peft_model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= LoraConfig(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task_type="SEQ_CLS",      # classification de texte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r=16,                     # rang de l'adaptateur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lora_alpha=32,            # échelle de la correction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lora_dropout=0.1,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target_modules=["query", "value"],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modele_lora = get_peft_model(modele, config)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modele_lora.print_trainable_parameters()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trainable params: ~1,2 M || all params: ~279 M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trainable%: ~0,4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task_type</a:t>
            </a:r>
            <a:r>
              <a:rPr lang="en-US" sz="1400" dirty="0">
                <a:solidFill>
                  <a:schemeClr val="tx1"/>
                </a:solidFill>
              </a:rPr>
              <a:t> adapte l’adaptateur au type de tâche (classification, génération…).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target_modules</a:t>
            </a:r>
            <a:r>
              <a:rPr lang="en-US" sz="1400" dirty="0">
                <a:solidFill>
                  <a:schemeClr val="tx1"/>
                </a:solidFill>
              </a:rPr>
              <a:t> : les couches d’attention (query, value) sont la cible classique.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</a:t>
            </a:r>
            <a:r>
              <a:rPr lang="en-US" sz="1400" b="1" dirty="0">
                <a:solidFill>
                  <a:schemeClr val="tx1"/>
                </a:solidFill>
              </a:rPr>
              <a:t>classifieur</a:t>
            </a:r>
            <a:r>
              <a:rPr lang="en-US" sz="1400" dirty="0">
                <a:solidFill>
                  <a:schemeClr val="tx1"/>
                </a:solidFill>
              </a:rPr>
              <a:t> est entraîné en plus, car il est neuf.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Moins de 1 % des paramètres sont entraînés.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Les réglages qui comptent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ogs" descr="Fa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r (rang)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Capacité de l’adaptateur. 8 ou 16 pour commencer. Plus grand : plus de paramètres, plus de risque de surapprentissage.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olt" descr="FaBo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lora_alpha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Échelle de la correction. Règle usuelle : 2 fois le rang.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Bullseye" descr="Fa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target_modules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Où brancher LoRA : query et value au minimum ; toutes les couches linéaires pour plus de capacité.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hartBar" descr="FaChartB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Taux d’apprentissage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Plus élevé qu’en fine-tuning complet : de 1e-4 à 1e-3.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lock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Époques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De 3 à 10 selon la taille des données. Surveiller la perte de validation.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BalanceScale" descr="FaBalanceSca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dropout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Régularise : 0,05 à 0,1. Utile sur de petits jeux de données.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QLoRA : quantifier, puis adapter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QLoRA permet de fine-tuner de gros modèles sur un seul GPU, en combinant trois idées.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86000"/>
            <a:ext cx="2532888" cy="2743200"/>
          </a:xfrm>
          <a:prstGeom prst="roundRect">
            <a:avLst>
              <a:gd name="adj" fmla="val 28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540764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Database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Quantifier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61188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Modèle de base stocké en 4 bits (format NF4)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081528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3401568" y="2286000"/>
            <a:ext cx="2532888" cy="2743200"/>
          </a:xfrm>
          <a:prstGeom prst="roundRect">
            <a:avLst>
              <a:gd name="adj" fmla="val 28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4393692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Lock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2606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93008" y="315468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Geler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11296" y="361188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poids quantifiés ne changent pas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934456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6254496" y="2286000"/>
            <a:ext cx="2532888" cy="2743200"/>
          </a:xfrm>
          <a:prstGeom prst="roundRect">
            <a:avLst>
              <a:gd name="adj" fmla="val 28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724662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aCogs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26060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45936" y="315468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Adapter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364224" y="361188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Adaptateurs LoRA entraînés en 16 bits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787384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9107424" y="2286000"/>
            <a:ext cx="2532888" cy="2743200"/>
          </a:xfrm>
          <a:prstGeom prst="roundRect">
            <a:avLst>
              <a:gd name="adj" fmla="val 28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10099548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Clock" descr="FaC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708" y="26060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98864" y="315468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Optimiser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9217152" y="361188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Optimiseur « paginé » pour absorber les pics de mémoire</a:t>
            </a:r>
            <a:endParaRPr lang="en-US" sz="1300" dirty="0"/>
          </a:p>
        </p:txBody>
      </p:sp>
      <p:sp>
        <p:nvSpPr>
          <p:cNvPr id="28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QLoRA échange un peu de précision et de vitesse contre beaucoup de mémoire. La qualité finale reste souvent proche de LoRA en 16 bits.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Configurer QLoRA avec bitsandbytes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(AutoModelForCausalLM,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BitsAndBytesConfig)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= BitsAndBytesConfig(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load_in_4bit=True,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bnb_4bit_quant_type="nf4",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bnb_4bit_compute_dtype=torch.float16,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bnb_4bit_use_double_quant=True)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AutoModelForCausalLM.from_pretrained(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"Qwen/Qwen2.5-0.5B",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quantization_config=q4, device_map="auto")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puis : prepare_model_for_kbit_training + LoraConfig</a:t>
            </a:r>
            <a:endParaRPr lang="en-US" sz="120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Ce qu’il faut retenir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nf4</a:t>
            </a:r>
            <a:r>
              <a:rPr lang="en-US" sz="1400" dirty="0">
                <a:solidFill>
                  <a:schemeClr val="tx1"/>
                </a:solidFill>
              </a:rPr>
              <a:t> : format 4 bits adapté à la distribution des poids.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compute_dtype</a:t>
            </a:r>
            <a:r>
              <a:rPr lang="en-US" sz="1400" dirty="0">
                <a:solidFill>
                  <a:schemeClr val="tx1"/>
                </a:solidFill>
              </a:rPr>
              <a:t> : précision des calculs (float16 sur T4, bfloat16 si disponible).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double quantification</a:t>
            </a:r>
            <a:r>
              <a:rPr lang="en-US" sz="1400" dirty="0">
                <a:solidFill>
                  <a:schemeClr val="tx1"/>
                </a:solidFill>
              </a:rPr>
              <a:t> : économise encore un peu de mémoire.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Nécessite un </a:t>
            </a:r>
            <a:r>
              <a:rPr lang="en-US" sz="1400" b="1" dirty="0">
                <a:solidFill>
                  <a:schemeClr val="tx1"/>
                </a:solidFill>
              </a:rPr>
              <a:t>GPU</a:t>
            </a:r>
            <a:r>
              <a:rPr lang="en-US" sz="1400" dirty="0">
                <a:solidFill>
                  <a:schemeClr val="tx1"/>
                </a:solidFill>
              </a:rPr>
              <a:t> NVIDIA et la bibliothèque bitsandbytes.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Mémoire GPU : ordres de grandeur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graphicFrame>
        <p:nvGraphicFramePr>
          <p:cNvPr id="12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8620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Méthode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Ce qui est entraîné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Mémoire (modèle 7 milliards)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Usage typique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Fine-tuning complet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Tous les poids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Plus de 100 Go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Grands laboratoires, plusieurs GPU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LoRA (16 bits)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Adaptateurs seuls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Quelques dizaines de Go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GPU de 24 à 48 Go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QLoRA (4 bits)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Adaptateurs seuls, base quantifiée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Une dizaine de Go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GPU de 16 à 24 Go, voire Colab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Inférence seule (4 bits)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Rien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Environ 4 à 6 Go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Déploiement léger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valeurs indicatives : elles dépendent de la longueur des séquences, de la taille du lot et du matériel. Mesurez sur votre configuration.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Préparer les données : trois formats courants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graphicFrame>
        <p:nvGraphicFramePr>
          <p:cNvPr id="13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60720"/>
                <a:gridCol w="29535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Format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Usage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Classification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{"texte": "Où vacciner mon bébé ?", "label": "sante"}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Étiquetage de messages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Instruction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{"instruction": "Classe ce message", "input": "…", "output": "santé"}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Modèles génératifs, tâches variées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Conversation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{"messages": [{"role": "user", "content": "…"}, {"role": "assistant", "content": "…"}]}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Assistants de dialogue (chat template)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Extraction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{"texte": "…", "entites": [[0, 7, "MEDICAMENT"]]}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NER (module 4)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respectez le format et le gabarit de conversation attendus par le modèle : un mauvais gabarit dégrade fortement les résultats.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Qualité des données : la check-list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Exactitude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Étiquettes relues par un expert du métier, pas par le modèle.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ortAmountDown" descr="FaSortAmountDow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Cohérence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Mêmes consignes d’annotation pour tous : mesurer l’accord entre annotateurs.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lone" descr="FaCl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Dédoublonnage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Avant la séparation entraînement et test, pour éviter les fuites.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BalanceScale" descr="FaBalanceSc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Équilibre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Chaque classe et chaque langue suffisamment représentée.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UserShield" descr="FaUserShie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Anonymisation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Retirer noms, numéros et données de santé identifiantes.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ClipboardCheck" descr="FaClipboard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Jeu de test à part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Inclure des reformulations et du bruit réaliste.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Entraîner avec le Trainer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TrainingArguments, Trainer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 = TrainingArguments(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output_dir="sortie_lora",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num_train_epochs=10,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per_device_train_batch_size=16,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learning_rate=5e-4,        # plus haut qu'en FT complet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eval_strategy="epoch",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save_strategy="no",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report_to="none",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seed=42)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entraineur = Trainer(model=modele_lora, args=args,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train_dataset=ds_train,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eval_dataset=ds_test,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compute_metrics=metriques)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entraineur.train()</a:t>
            </a:r>
            <a:endParaRPr lang="en-US" sz="11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Points d’attention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eval_strategy="epoch"</a:t>
            </a:r>
            <a:r>
              <a:rPr lang="en-US" sz="1400" dirty="0">
                <a:solidFill>
                  <a:schemeClr val="tx1"/>
                </a:solidFill>
              </a:rPr>
              <a:t> : une évaluation à chaque époque.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seed</a:t>
            </a:r>
            <a:r>
              <a:rPr lang="en-US" sz="1400" dirty="0">
                <a:solidFill>
                  <a:schemeClr val="tx1"/>
                </a:solidFill>
              </a:rPr>
              <a:t> : résultats reproductibles.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</a:t>
            </a:r>
            <a:r>
              <a:rPr lang="en-US" sz="1400" b="1" dirty="0">
                <a:solidFill>
                  <a:schemeClr val="tx1"/>
                </a:solidFill>
              </a:rPr>
              <a:t>taux d’apprentissage</a:t>
            </a:r>
            <a:r>
              <a:rPr lang="en-US" sz="1400" dirty="0">
                <a:solidFill>
                  <a:schemeClr val="tx1"/>
                </a:solidFill>
              </a:rPr>
              <a:t> de LoRA est plus élevé qu’en fine-tuning complet.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Surveiller </a:t>
            </a:r>
            <a:r>
              <a:rPr lang="en-US" sz="1400" b="1" dirty="0">
                <a:solidFill>
                  <a:schemeClr val="tx1"/>
                </a:solidFill>
              </a:rPr>
              <a:t>loss</a:t>
            </a:r>
            <a:r>
              <a:rPr lang="en-US" sz="1400" dirty="0">
                <a:solidFill>
                  <a:schemeClr val="tx1"/>
                </a:solidFill>
              </a:rPr>
              <a:t> et </a:t>
            </a:r>
            <a:r>
              <a:rPr lang="en-US" sz="1400" b="1" dirty="0">
                <a:solidFill>
                  <a:schemeClr val="tx1"/>
                </a:solidFill>
              </a:rPr>
              <a:t>eval_loss</a:t>
            </a:r>
            <a:r>
              <a:rPr lang="en-US" sz="1400" dirty="0">
                <a:solidFill>
                  <a:schemeClr val="tx1"/>
                </a:solidFill>
              </a:rPr>
              <a:t> ensemble.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Suivre un entraînement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hartBar" descr="FaChart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Les signaux à regarder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Perte d’entraînement</a:t>
            </a:r>
            <a:r>
              <a:rPr lang="en-US" sz="1400" dirty="0">
                <a:solidFill>
                  <a:schemeClr val="tx1"/>
                </a:solidFill>
              </a:rPr>
              <a:t> : doit baisser régulièrement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Perte de validation</a:t>
            </a:r>
            <a:r>
              <a:rPr lang="en-US" sz="1400" dirty="0">
                <a:solidFill>
                  <a:schemeClr val="tx1"/>
                </a:solidFill>
              </a:rPr>
              <a:t> : doit baisser puis se stabiliser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Métrique</a:t>
            </a:r>
            <a:r>
              <a:rPr lang="en-US" sz="1400" dirty="0">
                <a:solidFill>
                  <a:schemeClr val="tx1"/>
                </a:solidFill>
              </a:rPr>
              <a:t> (précision, F1) sur le jeu de validation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Quelques </a:t>
            </a:r>
            <a:r>
              <a:rPr lang="en-US" sz="1400" b="1" dirty="0">
                <a:solidFill>
                  <a:schemeClr val="tx1"/>
                </a:solidFill>
              </a:rPr>
              <a:t>exemples de sorties</a:t>
            </a:r>
            <a:r>
              <a:rPr lang="en-US" sz="1400" dirty="0">
                <a:solidFill>
                  <a:schemeClr val="tx1"/>
                </a:solidFill>
              </a:rPr>
              <a:t> lus à la main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6245352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ExclamationTriangle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Quand s’inquiéter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Validation qui remonte : </a:t>
            </a:r>
            <a:r>
              <a:rPr lang="en-US" sz="1400" b="1" dirty="0">
                <a:solidFill>
                  <a:schemeClr val="tx1"/>
                </a:solidFill>
              </a:rPr>
              <a:t>surapprentissage</a:t>
            </a:r>
            <a:r>
              <a:rPr lang="en-US" sz="1400" dirty="0">
                <a:solidFill>
                  <a:schemeClr val="tx1"/>
                </a:solidFill>
              </a:rPr>
              <a:t>, arrêter plus tôt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Perte qui ne baisse pas : taux d’apprentissage ou données à revoir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Précision proche du hasard : problème de </a:t>
            </a:r>
            <a:r>
              <a:rPr lang="en-US" sz="1400" b="1" dirty="0">
                <a:solidFill>
                  <a:schemeClr val="tx1"/>
                </a:solidFill>
              </a:rPr>
              <a:t>gabarit</a:t>
            </a:r>
            <a:r>
              <a:rPr lang="en-US" sz="1400" dirty="0">
                <a:solidFill>
                  <a:schemeClr val="tx1"/>
                </a:solidFill>
              </a:rPr>
              <a:t> ou d’étiquettes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Excellente métrique mais sorties étranges : </a:t>
            </a:r>
            <a:r>
              <a:rPr lang="en-US" sz="1400" b="1" dirty="0">
                <a:solidFill>
                  <a:schemeClr val="tx1"/>
                </a:solidFill>
              </a:rPr>
              <a:t>fuite de données</a:t>
            </a:r>
            <a:endParaRPr lang="en-US" sz="1400" dirty="0"/>
          </a:p>
        </p:txBody>
      </p:sp>
      <p:sp>
        <p:nvSpPr>
          <p:cNvPr id="1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journalisez chaque essai : jeu de données, version du modèle, paramètres, résultats. Sans cela, rien n’est reproductible.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Évaluer honnêtement : deux jeux de test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3657600"/>
          </a:xfrm>
          <a:prstGeom prst="roundRect">
            <a:avLst>
              <a:gd name="adj" fmla="val 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acc_base = {"test": note(base.predict, test),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"reformulé": note(base.predict, test_reformule)}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acc_lora = {"test": note(predire_lora, test),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"reformulé": note(predire_lora, test_reformule)}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pd.DataFrame({"TF-IDF": acc_base, "LoRA": acc_lora})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Toujours lire les erreurs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details[(details["TF-IDF"] != details["attendu"]) |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(details["LoRA"] != details["attendu"])]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Pourquoi deux jeux 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</a:t>
            </a:r>
            <a:r>
              <a:rPr lang="en-US" sz="1400" b="1" dirty="0">
                <a:solidFill>
                  <a:schemeClr val="tx1"/>
                </a:solidFill>
              </a:rPr>
              <a:t>jeu facile</a:t>
            </a:r>
            <a:r>
              <a:rPr lang="en-US" sz="1400" dirty="0">
                <a:solidFill>
                  <a:schemeClr val="tx1"/>
                </a:solidFill>
              </a:rPr>
              <a:t> (mêmes tournures) rassure à tort.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</a:t>
            </a:r>
            <a:r>
              <a:rPr lang="en-US" sz="1400" b="1" dirty="0">
                <a:solidFill>
                  <a:schemeClr val="tx1"/>
                </a:solidFill>
              </a:rPr>
              <a:t>jeu reformulé</a:t>
            </a:r>
            <a:r>
              <a:rPr lang="en-US" sz="1400" dirty="0">
                <a:solidFill>
                  <a:schemeClr val="tx1"/>
                </a:solidFill>
              </a:rPr>
              <a:t>, avec d’autres mots, mesure la généralisation.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Toujours comparer à une </a:t>
            </a:r>
            <a:r>
              <a:rPr lang="en-US" sz="1400" b="1" dirty="0">
                <a:solidFill>
                  <a:schemeClr val="tx1"/>
                </a:solidFill>
              </a:rPr>
              <a:t>base de référence</a:t>
            </a:r>
            <a:r>
              <a:rPr lang="en-US" sz="1400" dirty="0">
                <a:solidFill>
                  <a:schemeClr val="tx1"/>
                </a:solidFill>
              </a:rPr>
              <a:t> simple.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Lire les </a:t>
            </a:r>
            <a:r>
              <a:rPr lang="en-US" sz="1400" b="1" dirty="0">
                <a:solidFill>
                  <a:schemeClr val="tx1"/>
                </a:solidFill>
              </a:rPr>
              <a:t>erreurs</a:t>
            </a:r>
            <a:r>
              <a:rPr lang="en-US" sz="1400" dirty="0">
                <a:solidFill>
                  <a:schemeClr val="tx1"/>
                </a:solidFill>
              </a:rPr>
              <a:t> : elles guident les prochaines données.</a:t>
            </a:r>
            <a:endParaRPr lang="en-US" sz="1400" dirty="0"/>
          </a:p>
        </p:txBody>
      </p:sp>
      <p:sp>
        <p:nvSpPr>
          <p:cNvPr id="9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ne concluez jamais sur un seul chiffre : variez les tests, et comparez à TF-IDF.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Sauvegarder, recharger, fusionner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Sauvegarde : quelques Mo seulement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modele_lora.save_pretrained("adaptateur_lora")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Rechargement : modèle de base + adaptateur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AutoModelForSequenceClassification.from_pretrained(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"xlm-roberta-base", num_labels=3)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recharge = PeftModel.from_pretrained(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base, "adaptateur_lora")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Fusion : modèle classique, sans peft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fusionne = recharge.merge_and_unload()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fusionne.save_pretrained("modele_fusionne")</a:t>
            </a:r>
            <a:endParaRPr lang="en-US" sz="120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Bonnes pratiques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L’</a:t>
            </a:r>
            <a:r>
              <a:rPr lang="en-US" sz="1400" b="1" dirty="0">
                <a:solidFill>
                  <a:schemeClr val="tx1"/>
                </a:solidFill>
              </a:rPr>
              <a:t>adaptateur</a:t>
            </a:r>
            <a:r>
              <a:rPr lang="en-US" sz="1400" dirty="0">
                <a:solidFill>
                  <a:schemeClr val="tx1"/>
                </a:solidFill>
              </a:rPr>
              <a:t> se versionne et se partage, sans le modèle de base.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Plusieurs adaptateurs peuvent partager </a:t>
            </a:r>
            <a:r>
              <a:rPr lang="en-US" sz="1400" b="1" dirty="0">
                <a:solidFill>
                  <a:schemeClr val="tx1"/>
                </a:solidFill>
              </a:rPr>
              <a:t>le même modèle de base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</a:t>
            </a:r>
            <a:r>
              <a:rPr lang="en-US" sz="1400" b="1" dirty="0">
                <a:solidFill>
                  <a:schemeClr val="tx1"/>
                </a:solidFill>
              </a:rPr>
              <a:t>fusion</a:t>
            </a:r>
            <a:r>
              <a:rPr lang="en-US" sz="1400" dirty="0">
                <a:solidFill>
                  <a:schemeClr val="tx1"/>
                </a:solidFill>
              </a:rPr>
              <a:t> simplifie le déploiement (pas de peft), mais fige le choix.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Notez la </a:t>
            </a:r>
            <a:r>
              <a:rPr lang="en-US" sz="1400" b="1" dirty="0">
                <a:solidFill>
                  <a:schemeClr val="tx1"/>
                </a:solidFill>
              </a:rPr>
              <a:t>version du modèle de base</a:t>
            </a:r>
            <a:r>
              <a:rPr lang="en-US" sz="1400" dirty="0">
                <a:solidFill>
                  <a:schemeClr val="tx1"/>
                </a:solidFill>
              </a:rPr>
              <a:t> avec l’adaptateur.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Pièges fréquents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ug" descr="Fa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Fuite de données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Doublons ou quasi-doublons entre entraînement et test : la note est gonflée.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lock" descr="Fa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Trop d’époques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Surapprentissage sur un petit jeu : la validation remonte.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QuestionCircle" descr="FaQuestion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Oubli catastrophique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 modèle perd des capacités générales après un entraînement agressif.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ogs" descr="FaCo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Mauvais gabarit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Format de conversation ou jetons spéciaux incorrects pour le modèle choisi.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BalanceScale" descr="FaBalance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Classes déséquilibrées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Une classe rare est ignorée : lire précision et rappel par classe.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Lock" descr="Fa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Mémorisation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 modèle peut restituer des données d’entraînement : risque pour les données personnelles.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Données et responsabilité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Anonymiser les exemples et disposer d’un cadre légal avant l’entraînement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Entraîner sur de vrais dossiers d’usagers sans protection ni autorisation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Vérifier les licences du modèle de base et des données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Redistribuer un modèle sans vérifier ce qu’autorise sa licence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Documenter les données, les réglages et les limites (fiche du modèle)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Livrer un adaptateur sans trace de ce qui l’a produit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Évaluer par langue, par catégorie et sur du texte bruité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contenter d’une précision globale sur un jeu facile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TP : spécialiser xlm-roberta-base avec LoRA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Google Colab, GPU conseillé mais non obligatoire. Messages fictifs en trois catégories : santé, état civil, éducation.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éro 1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Tokeniser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Préparer les messages pour le modèle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336042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354330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éro 2"/>
          <p:cNvSpPr txBox="1"/>
          <p:nvPr/>
        </p:nvSpPr>
        <p:spPr>
          <a:xfrm>
            <a:off x="35433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3766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4330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Paramètres du modèle de base</a:t>
            </a:r>
            <a:endParaRPr lang="en-US" sz="1350" dirty="0"/>
          </a:p>
        </p:txBody>
      </p:sp>
      <p:sp>
        <p:nvSpPr>
          <p:cNvPr id="15" name="Carte"/>
          <p:cNvSpPr/>
          <p:nvPr/>
        </p:nvSpPr>
        <p:spPr>
          <a:xfrm>
            <a:off x="617220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635508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3"/>
          <p:cNvSpPr txBox="1"/>
          <p:nvPr/>
        </p:nvSpPr>
        <p:spPr>
          <a:xfrm>
            <a:off x="6355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Brancher LoRA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Rang, cibles, adaptateur</a:t>
            </a:r>
            <a:endParaRPr lang="en-US" sz="1350" dirty="0"/>
          </a:p>
        </p:txBody>
      </p:sp>
      <p:sp>
        <p:nvSpPr>
          <p:cNvPr id="20" name="Carte"/>
          <p:cNvSpPr/>
          <p:nvPr/>
        </p:nvSpPr>
        <p:spPr>
          <a:xfrm>
            <a:off x="898398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916686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91668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6122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Mesurer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6686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Part de paramètres entraînés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54864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Numéro 5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Entraîner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Trainer et courbes</a:t>
            </a:r>
            <a:endParaRPr lang="en-US" sz="1350" dirty="0"/>
          </a:p>
        </p:txBody>
      </p:sp>
      <p:sp>
        <p:nvSpPr>
          <p:cNvPr id="30" name="Carte"/>
          <p:cNvSpPr/>
          <p:nvPr/>
        </p:nvSpPr>
        <p:spPr>
          <a:xfrm>
            <a:off x="336042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Pastille"/>
          <p:cNvSpPr/>
          <p:nvPr/>
        </p:nvSpPr>
        <p:spPr>
          <a:xfrm>
            <a:off x="3543300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Numéro 6"/>
          <p:cNvSpPr txBox="1"/>
          <p:nvPr/>
        </p:nvSpPr>
        <p:spPr>
          <a:xfrm>
            <a:off x="35433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13766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Évaluer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54330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LoRA contre TF-IDF, deux jeux de test</a:t>
            </a:r>
            <a:endParaRPr lang="en-US" sz="1350" dirty="0"/>
          </a:p>
        </p:txBody>
      </p:sp>
      <p:sp>
        <p:nvSpPr>
          <p:cNvPr id="35" name="Carte"/>
          <p:cNvSpPr/>
          <p:nvPr/>
        </p:nvSpPr>
        <p:spPr>
          <a:xfrm>
            <a:off x="617220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Pastille"/>
          <p:cNvSpPr/>
          <p:nvPr/>
        </p:nvSpPr>
        <p:spPr>
          <a:xfrm>
            <a:off x="635508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Numéro 7"/>
          <p:cNvSpPr txBox="1"/>
          <p:nvPr/>
        </p:nvSpPr>
        <p:spPr>
          <a:xfrm>
            <a:off x="6355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Sauvegarder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Adaptateur, rechargement, fusion</a:t>
            </a:r>
            <a:endParaRPr lang="en-US" sz="1350" dirty="0"/>
          </a:p>
        </p:txBody>
      </p:sp>
      <p:sp>
        <p:nvSpPr>
          <p:cNvPr id="40" name="À retenir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32120"/>
            <a:ext cx="365760" cy="36576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371600" y="5303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travail en binôme recommandé. Les cellules « À vous » contiennent des ____ à remplacer ; le formateur dispose d’une version corrigée. Un bonus QLoRA est proposé sur GPU.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Démarrer le TP sur Google Colab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Pastille"/>
          <p:cNvSpPr/>
          <p:nvPr/>
        </p:nvSpPr>
        <p:spPr>
          <a:xfrm>
            <a:off x="548640" y="14996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548640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Ouvrir le notebook fourni par le formateur (ou importer le fichier .ipynb).</a:t>
            </a:r>
            <a:endParaRPr lang="en-US" sz="1500" dirty="0"/>
          </a:p>
        </p:txBody>
      </p:sp>
      <p:sp>
        <p:nvSpPr>
          <p:cNvPr id="7" name="Pastille"/>
          <p:cNvSpPr/>
          <p:nvPr/>
        </p:nvSpPr>
        <p:spPr>
          <a:xfrm>
            <a:off x="548640" y="24140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éro 2"/>
          <p:cNvSpPr txBox="1"/>
          <p:nvPr/>
        </p:nvSpPr>
        <p:spPr>
          <a:xfrm>
            <a:off x="54864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77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Menu « Exécution » &gt; « Modifier le type d’exécution » : choisir un GPU T4.</a:t>
            </a:r>
            <a:endParaRPr lang="en-US" sz="1500" dirty="0"/>
          </a:p>
        </p:txBody>
      </p:sp>
      <p:sp>
        <p:nvSpPr>
          <p:cNvPr id="10" name="Pastille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éro 3"/>
          <p:cNvSpPr txBox="1"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91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Exécuter chaque cellule avec Maj + Entrée, </a:t>
            </a:r>
            <a:r>
              <a:rPr lang="en-US" sz="1500" b="1" dirty="0">
                <a:solidFill>
                  <a:schemeClr val="tx1"/>
                </a:solidFill>
              </a:rPr>
              <a:t>dans l’ordre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Pastille"/>
          <p:cNvSpPr/>
          <p:nvPr/>
        </p:nvSpPr>
        <p:spPr>
          <a:xfrm>
            <a:off x="548640" y="42428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4"/>
          <p:cNvSpPr txBox="1"/>
          <p:nvPr/>
        </p:nvSpPr>
        <p:spPr>
          <a:xfrm>
            <a:off x="54864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06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Remplacer les ____ des cellules « À vous », puis exécuter.</a:t>
            </a:r>
            <a:endParaRPr lang="en-US" sz="1500" dirty="0"/>
          </a:p>
        </p:txBody>
      </p:sp>
      <p:sp>
        <p:nvSpPr>
          <p:cNvPr id="16" name="Pastille"/>
          <p:cNvSpPr/>
          <p:nvPr/>
        </p:nvSpPr>
        <p:spPr>
          <a:xfrm>
            <a:off x="548640" y="51572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5"/>
          <p:cNvSpPr txBox="1"/>
          <p:nvPr/>
        </p:nvSpPr>
        <p:spPr>
          <a:xfrm>
            <a:off x="54864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120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la précision reste proche de 33 % : plus d’époques ou taux plus élevé.</a:t>
            </a:r>
            <a:endParaRPr lang="en-US" sz="1500" dirty="0"/>
          </a:p>
        </p:txBody>
      </p:sp>
      <p:sp>
        <p:nvSpPr>
          <p:cNvPr id="19" name="Carte"/>
          <p:cNvSpPr/>
          <p:nvPr/>
        </p:nvSpPr>
        <p:spPr>
          <a:xfrm>
            <a:off x="7315200" y="1463040"/>
            <a:ext cx="4325112" cy="4480560"/>
          </a:xfrm>
          <a:prstGeom prst="roundRect">
            <a:avLst>
              <a:gd name="adj" fmla="val 16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543800" y="16916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ud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390" y="1840230"/>
            <a:ext cx="297180" cy="2971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32104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À savoir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25146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compte Google est nécessaire.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première cellule installe les outils ; le modèle se télécharge ensuite (environ 1 Go).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Sans GPU, l’entraînement est plus lent mais reste possible.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données sont fictives.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3  ·  FINE-TUNING, LORA ET QLORA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ommentDots" descr="FaCommentD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Du simple au complexe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Consignes, RAG, puis fine-tuning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ogs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LoRA = adaptateur léger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Gelé + petites matrices : moins de 1 % des poids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Database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QLoRA = LoRA + base 4 bits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Même principe, mémoire divisée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ipboardCheck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Données avant tout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Exactes, cohérentes, dédoublonnées, anonymisées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artBar" descr="FaChartB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Évaluer sur du reformulé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Un test facile rassure à tort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hield" descr="FaUser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Documenter et protéger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Licences, versions, données sensibles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Quand le fine-tuning est-il le plus pertinent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Pour injecter des connaissances qui changent chaque semaine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Quand on n’a aucun exemple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Pour une tâche spécialisée et répétitive (classification, extraction, format, ton) avec des centaines d’exemples de qualité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Pour remplacer toute évaluation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 est le principe de LoRA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Geler les poids du modèle et entraîner de petites matrices de faible rang ajoutées à certaines couches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Réentraîner tous les poids avec un petit taux d’apprentissage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Supprimer les couches inutiles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Convertir le modèle en 4 bits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contrôle le paramètre « r » dans LoraConfig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Le nombre d’époques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 rang de l’adaptateur : plus il est grand, plus il y a de paramètres entraînables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La taille du lot (batch)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taux d’apprentissage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un adaptateur LoRA est-il léger à stocker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Il est compressé en 1 bit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 ne contient aucune donnée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 ne contient que les poids ajoutés (quelques Mo), pas le modèle de base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Il est stocké dans le cloud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Qu’est-ce que QLoRA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adaptateur sans modèle de base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modèle entraîné deux fois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 format de fichier pour les données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 modèle de base quantifié (en général 4 bits) et gelé, avec des adaptateurs LoRA entraînés en plus haute précision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méthode demande le moins de mémoire GPU pour adapter un même gros modèle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Le fine-tuning complet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LoRA en pleine précision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QLoRA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pré-entraînement from scratch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perte (loss) d’entraînement baisse mais celle de validation remonte. Que faire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Suspecter un surapprentissage : arrêter plus tôt, réduire la capacité ou ajouter des données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Continuer l’entraînement, tout va bien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Augmenter encore le taux d’apprentissage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Supprimer le jeu de validation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Qu’appelle-t-on « oubli catastrophique »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La perte du fichier du modèle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L’oubli du mot de passe du compte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L’effacement des données d’entraînement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modèle perd des capacités générales après un fine-tuning trop agressif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Vous dédoublonnez votre corpus après l’avoir séparé en entraînement et test. Quel est le risque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Aucun, l’ordre n’a pas d’importance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Des quasi-doublons se retrouvent des deux côtés : la note de test est gonflée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 modèle ne converge plus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tokenizer plante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Comment déployer un modèle fine-tuné avec LoRA sans dépendre de la bibliothèque peft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Recopier les poids à la main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Réentraîner le modèle complet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Supprimer l’adaptateur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Fusionner l’adaptateur dans le modèle de base (merge_and_unload)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Pour une tâche spécialisée et répétitive (classification, extraction, format, ton) avec des centaines d’exemples de qualité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Pour des connaissances qui évoluent, le RAG est plus adapté. Le fine-tuning façonne un comportement.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Geler les poids du modèle et entraîner de petites matrices de faible rang ajoutées à certaines couches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Seule une petite fraction des paramètres (souvent moins de 1 %) est entraînée.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Le rang de l’adaptateur : plus il est grand, plus il y a de paramètres entraînables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rang de 8 ou 16 suffit souvent. Augmenter r donne plus de capacité, mais aussi plus de risque de surapprentissage et de coût.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Il ne contient que les poids ajoutés (quelques Mo), pas le modèle de 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partage l’adaptateur et on recharge le même modèle de base : plusieurs spécialisations coexistent facilement.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Un modèle de base quantifié (en général 4 bits) et gelé, avec des adaptateurs LoRA entraînés en plus haute précision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quantification du modèle de base réduit fortement la mémoire, ce qui permet de fine-tuner de gros modèles sur un seul GPU modeste.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QLoRA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Ordre de grandeur pour un modèle de 7 milliards de paramètres : plus de 100 Go en fine-tuning complet, quelques dizaines avec LoRA, une dizaine avec QLoRA.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Suspecter un surapprentissage : arrêter plus tôt, réduire la capacité ou ajouter des données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validation mesure la généralisation. Elle sert justement à décider quand s’arrêter.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Le modèle perd des capacités générales après un fine-tuning trop agressif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LoRA, un petit taux d’apprentissage et des exemples variés limitent ce risque.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Des quasi-doublons se retrouvent des deux côtés : la note de test est gonflée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nettoie et dédoublonne d’abord, on sépare ensuite : c’est une forme de fuite de données.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Fusionner l’adaptateur dans le modèle de base (merge_and_unload)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fusion produit un modèle classique : plus simple à servir, mais on perd la possibilité de changer d’adaptateur à chaud.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Fine-tuning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Ajuster les poids d’un modèle pré-entraîné sur ses propres exemples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LoRA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Adaptation de faible rang : on entraîne de petites matrices ajoutées au modèle gelé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QLoRA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LoRA appliquée à un modèle de base quantifié en 4 bits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Adaptateur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Poids ajoutés par LoRA, sauvegardés séparément du modèle de base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Quantification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Stocker les poids avec moins de bits pour réduire la mémoire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Rang (r)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Capacité de l’adaptateur LoRA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Surapprentissage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 modèle mémorise l’entraînement et généralise mal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Oubli catastrophique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Perte des capacités générales après un fine-tuning agressif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Fusion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Intégrer l’adaptateur dans le modèle de base (merge_and_unload)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Prochain module : NER clinique et OCR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Extraire des informations de textes et de documents scannés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· Fine-tuning, LoRA et QLoRA (IT)</dc:title>
  <dc:subject>PptxGenJS Presentation</dc:subject>
  <dc:creator>Togo AI Lab</dc:creator>
  <cp:lastModifiedBy>Togo AI Lab</cp:lastModifiedBy>
  <cp:revision>1</cp:revision>
  <dcterms:created xsi:type="dcterms:W3CDTF">2026-10-19T20:43:24Z</dcterms:created>
  <dcterms:modified xsi:type="dcterms:W3CDTF">2026-10-19T20:43:24Z</dcterms:modified>
</cp:coreProperties>
</file>