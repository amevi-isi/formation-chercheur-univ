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39128e9-26b0-c5d0-de1d-eaaa78704031}">
          <p14:sldIdLst>
            <p14:sldId id="256"/>
            <p14:sldId id="257"/>
          </p14:sldIdLst>
        </p14:section>
        <p14:section name="Ouverture" id="{b40ddaba-b35b-860d-56ce-28284c5a5f6c}">
          <p14:sldIdLst/>
        </p14:section>
        <p14:section name="Introduction" id="{423b23d3-31cb-2b7e-a278-5a43b54aefef}">
          <p14:sldIdLst>
            <p14:sldId id="258"/>
          </p14:sldIdLst>
        </p14:section>
        <p14:section name="Fine-tuning" id="{f34eec3b-3a54-2902-da28-cd5cd9675f7a}">
          <p14:sldIdLst>
            <p14:sldId id="259"/>
            <p14:sldId id="260"/>
            <p14:sldId id="261"/>
          </p14:sldIdLst>
        </p14:section>
        <p14:section name="Données" id="{f743ea89-5f8a-7bb0-b8d9-adb7e7da15c6}">
          <p14:sldIdLst>
            <p14:sldId id="262"/>
            <p14:sldId id="263"/>
          </p14:sldIdLst>
        </p14:section>
        <p14:section name="LoRA" id="{f89a2bbd-099e-9015-ef0e-9e4995bc5c38}">
          <p14:sldIdLst>
            <p14:sldId id="264"/>
            <p14:sldId id="265"/>
          </p14:sldIdLst>
        </p14:section>
        <p14:section name="QLoRA" id="{bf565033-bdcf-52bf-be05-2cbea0ac6ea9}">
          <p14:sldIdLst>
            <p14:sldId id="266"/>
            <p14:sldId id="267"/>
          </p14:sldIdLst>
        </p14:section>
        <p14:section name="Précautions" id="{443889c5-b068-9945-5666-ec55789cab52}">
          <p14:sldIdLst>
            <p14:sldId id="268"/>
          </p14:sldIdLst>
        </p14:section>
        <p14:section name="Décision" id="{513487e5-631c-db5a-8199-b8a12a3c7455}">
          <p14:sldIdLst>
            <p14:sldId id="269"/>
          </p14:sldIdLst>
        </p14:section>
        <p14:section name="Responsabilité" id="{22774b9d-44db-73b2-f88e-4122bf4e40f8}">
          <p14:sldIdLst>
            <p14:sldId id="270"/>
          </p14:sldIdLst>
        </p14:section>
        <p14:section name="Atelier" id="{2fc96d03-d0fc-80f0-36fa-36030249b047}">
          <p14:sldIdLst>
            <p14:sldId id="271"/>
            <p14:sldId id="272"/>
          </p14:sldIdLst>
        </p14:section>
        <p14:section name="Conclusion" id="{8b17959e-0f15-ebb1-145e-8507424a971d}">
          <p14:sldIdLst>
            <p14:sldId id="273"/>
          </p14:sldIdLst>
        </p14:section>
        <p14:section name="Quiz de sortie" id="{4720dfcd-6823-b98d-26ea-235ee4c6a760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Annexes" id="{e18f89fb-cf22-672d-056f-fea5578754b2}">
          <p14:sldIdLst>
            <p14:sldId id="281"/>
          </p14:sldIdLst>
        </p14:section>
        <p14:section name="Clôture" id="{ac406221-a7c9-643f-3460-f9571b9a3b13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du fil rouge : un modèle pré-entraîné a de la culture générale. Aujourd’hui, on apprend à le spécialiser, à moindre coût. Pas de code ni de formule dans cette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d’autres exemples issus du service des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des exemples défectueux pour que les participants repèrent le défaut : c’est l’objet de l’atelier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les livrets. Rappeler que les exemples sont fictifs.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3 · Fine-tuning, LoRA et QLoRA  ·  Version non-IT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3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Fine-tuning, LoRA et QLoRA : adapter un modèle à nos besoins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non-IT : sans code, sans mathématiques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Comprendre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Pourquoi et quand spécialiser un modèle, ce que sont LoRA et QLoRA, les précautions à prendre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Pratiquer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Atelier « Former l’assistant » : choisir la bonne approche, écrire de bons exemples, juger les résultats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Vérifier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Quiz de sortie de 10 questions,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distinguer consignes, accès aux documents et fine-tuning, et choisir selon le besoin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avec une image ce que font LoRA et QLoRA, et pourquoi elles réduisent les coûts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écrire et vérifier de bons exemples d’entraînement, en protégeant les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Trois façons d’adapter un assistant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Question au groupe : pour qu’un assistant réponde comme votre service, que feriez-vous d’abord ?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35935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ommentDots" descr="FaComment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Donner des consignes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3227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Comme briefer un collègue avant une tâche : « réponds poliment, en deux phrases ». Rapide, gratuit, mais limité.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2240280"/>
            <a:ext cx="35935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Donner accès aux documents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410712"/>
            <a:ext cx="3227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Comme lui laisser la documentation sur le bureau. Il s’y réfère pour répondre (module 5, RAG).</a:t>
            </a:r>
            <a:endParaRPr lang="en-US" sz="1450" dirty="0"/>
          </a:p>
        </p:txBody>
      </p:sp>
      <p:sp>
        <p:nvSpPr>
          <p:cNvPr id="15" name="Carte"/>
          <p:cNvSpPr/>
          <p:nvPr/>
        </p:nvSpPr>
        <p:spPr>
          <a:xfrm>
            <a:off x="8046720" y="2240280"/>
            <a:ext cx="359359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GraduationCap" descr="FaGraduationC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 former (fine-tuning)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410712"/>
            <a:ext cx="3227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Comme une formation métier : il apprend nos façons de faire à partir d’exemples et les intègre.</a:t>
            </a:r>
            <a:endParaRPr lang="en-US" sz="14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on commence toujours par la solution la plus simple : consignes, puis documents, puis formation.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Fine-tuner, c’est spécialiser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médecin généraliste qui suit une formation de pédiatrie. Il garde toute sa culture médicale, et gagne une spécialité.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 modèle de base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Il a lu énormément de textes. Il sait beaucoup de choses, mais ne connaît ni nos formulaires, ni notre ton, ni nos catégories.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GraduationCap" descr="FaGraduationC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 modèle spécialisé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lui montre des centaines d’exemples de ce qu’on attend. Il ajuste son comportement : trier nos courriers, répondre avec notre style.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 fine-tuning façonne un comportement (une tâche, un ton, un format). Il n’est pas fait pour apprendre des informations qui changent chaque semaine.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À quoi ressemblent les exemples d’entraînement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Chaque exemple est une paire : ce que l’utilisateur écrit, et la réponse que nous voulons obtenir. Le modèle apprend à partir de centaines de paires.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Ce que l’usager écrit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 Mon fils a de la fièvre depuis deux jours, où trouver un médecin ? »</a:t>
            </a:r>
            <a:endParaRPr lang="en-US" sz="1500" dirty="0"/>
          </a:p>
        </p:txBody>
      </p:sp>
      <p:sp>
        <p:nvSpPr>
          <p:cNvPr id="8" name="Carte"/>
          <p:cNvSpPr/>
          <p:nvPr/>
        </p:nvSpPr>
        <p:spPr>
          <a:xfrm>
            <a:off x="5029200" y="278892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788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 modèle ajuste ses réglages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La réponse attendue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Catégorie : santé.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Orientation : centre de santé le plus proche.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exemples sont le vrai trésor : leur qualité détermine celle du résultat.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qu’il faut pour fine-tuner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Exemples de qualité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Quelques centaines à quelques milliers de paires correctes et cohérentes.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 modèle de départ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modèle pré-entraîné adapté à la langue et à la tâche.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gs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Puissance de calcul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ordinateur avec un processeur graphique (GPU), souvent loué.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 jeu de test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exemples mis de côté pour juger honnêtement le résultat.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sans bons exemples ni jeu de test, il vaut mieux ne pas entraîner du tout.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 qualité avant la quantité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apprenti formé avec des consignes claires et cohérentes progresse mieux qu’avec des milliers de consignes contradictoires.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300 exemples soignés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Corrects, cohérents, variés, relus par un expert du métier. Le modèle apprend la bonne règle.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20 000 exemples bruités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Erreurs, contradictions, doublons, fautes. Le modèle apprend le désordre, ou mémorise les erreurs.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investir une journée dans la relecture des exemples vaut mieux qu’un jour de calcul de plus.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bon exemple d’entraînement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Correct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réponse est juste, vérifiée par quelqu’un qui connaît le sujet.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ortAmountDown" descr="FaSortAmount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Cohérent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Deux messages semblables reçoivent la même réponse.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Représentatif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ressemble à ce que vos usagers écrivent vraiment, avec fautes et langues locales.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PuzzlePiece" descr="FaPuzzlePie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Varié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couvre les cas faciles et les cas difficiles.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Shield" descr="FaUser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Anonymisé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 nom, numéro ou information de santé identifiable.</a:t>
            </a:r>
            <a:endParaRPr lang="en-US" sz="140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alanceScale" descr="FaBalanceSca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Équilibré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catégorie est représentée correctement.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LoRA : ne pas tout réécrire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manuel de 1 000 pages. Pour l’adapter, on peut le réécrire en entier, ou glisser un petit cahier d’annotations.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Times" descr="Fa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Fine-tuning complet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modifie tout le manuel. Long, très coûteux en mémoire, et il faut stocker une copie entière pour chaque spécialité.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heck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LoRA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manuel reste intact. On entraîne seulement un petit cahier d’annotations, quelques pour cent de la taille. Léger et rapide.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LoRA signifie « adaptation de bas rang » : une petite correction ajoutée au modèle, au lieu de le modifier entièrement.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LoRA : un adaptateur qui se branche sur le modèle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 peut brancher des adaptateurs différents sur le même modèle de base : un pour la santé, un pour l’état civil, un pour l’éwé.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 modèle de 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Figé : on n’y touche pas. Il garde toute sa culture générale.</a:t>
            </a:r>
            <a:endParaRPr lang="en-US" sz="1500" dirty="0"/>
          </a:p>
        </p:txBody>
      </p:sp>
      <p:sp>
        <p:nvSpPr>
          <p:cNvPr id="8" name="Carte"/>
          <p:cNvSpPr/>
          <p:nvPr/>
        </p:nvSpPr>
        <p:spPr>
          <a:xfrm>
            <a:off x="5029200" y="278892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788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petit adaptateur LoRA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 modèle spécialisé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Même modèle, comportement ajusté pour notre besoin.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adaptateur pèse quelques mégaoctets, contre plusieurs gigaoctets pour le modèle complet : facile à stocker et à partager.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QLoRA : un livre au format poche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le manuel de 1 000 pages est imprimé au format poche (plus petit, légèrement moins précis). On y glisse notre cahier d’annotations.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ogs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La compression (la Q de QLoRA)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modèle de base est « quantifié » : ses nombres sont stockés avec moins de précision, donc il prend beaucoup moins de mémoire.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GraduationCap" descr="FaGraduationC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L’adaptation (LoRA)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entraîne l’adaptateur par-dessus. Résultat : on peut spécialiser un gros modèle sur un seul GPU modeste, même gratuit.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QLoRA = LoRA + compression du modèle de base. C’est ce qui démocratise le fine-tuning pour les petites équipes.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que cela change en pratique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Moins de mémoire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modèle qui exigeait un équipement de laboratoire tient sur un seul GPU.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ck" descr="Fa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Plus rapide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Beaucoup moins de paramètres à entraîner : minutes ou heures, pas semaines.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Plusieurs spécialités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adaptateur par service ou par langue, sur le même modèle de base.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ock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Partage facile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échange un petit fichier plutôt qu’un modèle entier.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ces économies rendent le fine-tuning accessible à des équipes comme la nôtre. Elles ne dispensent pas de bonnes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qui peut mal tourner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 cœur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modèle récite ses exemples et se débrouille mal sur du nouveau (surapprentissage).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QuestionCircle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Oubli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S’il est trop poussé, il perd des compétences générales qu’il avait avant.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ock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Fuite de données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peut redonner des informations vues pendant l’entraînement : noms, dossiers.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lanceScale" descr="Fa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Biais amplifiés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les exemples contiennent des préjugés, le modèle les renforce.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parade principale : de bons exemples, anonymisés, et un jeu de test jamais utilisé pour l’entraînement.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Quelle approche pour quel besoin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graphicFrame>
        <p:nvGraphicFramePr>
          <p:cNvPr id="1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1422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Besoin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Approche conseillée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Répondre selon nos documents, souvent mis à jour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Accès aux documents (RAG)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 documents changent : on évite de réentraîner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Adopter un ton ou un format de réponse précis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Consignes, puis fine-tuning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comportement se façonne par l’exemple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Trier ou extraire de l’information de façon répétée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Fine-tuning d’un petit modèle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Tâche étroite : un petit modèle bien formé suffit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Mieux comprendre une langue locale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Collecte de textes, puis fine-tuning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 manque de données est le vrai frein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Quelques essais pour explorer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Consignes seulement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Rapide, sans coût de formation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chaque approche est complémentaire : on peut combiner formation et accès aux documents.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Utiliser ces outils de façon responsable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les exemples et obtenir un cadre légal avant tout entraînement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Entraîner un modèle sur des dossiers réels sans protection ni autorisation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un jeu de test indépendant et comparer avant et après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Juger le résultat sur les exemples déjà vus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Documenter les données, la méthode et les limites du modèle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Livrer un modèle sans trace de ce qui l’a formé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Prévoir une relecture humaine pour les décisions importantes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un modèle spécialisé décider seul d’un droit ou d’une aide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Place à l’atelier : « Former l’assistant »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 groupes de 3 ou 4, avec des cartes, des feutres et votre livret. Aucun ordinateur.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BalanceScale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 bon choix : consignes, documents ou formation ? Classer des situations réelles.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lipboardCheck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L’atelier des exemples : repérer les défauts de dix exemples et les corriger.</a:t>
            </a:r>
            <a:endParaRPr lang="en-US" sz="1450" dirty="0"/>
          </a:p>
        </p:txBody>
      </p:sp>
      <p:sp>
        <p:nvSpPr>
          <p:cNvPr id="15" name="Carte"/>
          <p:cNvSpPr/>
          <p:nvPr/>
        </p:nvSpPr>
        <p:spPr>
          <a:xfrm>
            <a:off x="804672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3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Avant / après : comparer deux assistants et décider s’ils sont prêts.</a:t>
            </a:r>
            <a:endParaRPr lang="en-US" sz="14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règle du jeu : vous êtes l’équipe qui forme l’assistant. Vous justifiez chaque décision.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Consigne de l’atelier 2 : l’atelier des exemples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247345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Repérer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Lisez les dix exemples d’entraînement. Huit ont un défaut, deux sont bons.</a:t>
            </a:r>
            <a:endParaRPr lang="en-US" sz="1450" dirty="0"/>
          </a:p>
        </p:txBody>
      </p:sp>
      <p:sp>
        <p:nvSpPr>
          <p:cNvPr id="11" name="Carte"/>
          <p:cNvSpPr/>
          <p:nvPr/>
        </p:nvSpPr>
        <p:spPr>
          <a:xfrm>
            <a:off x="336042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4330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éro 2"/>
          <p:cNvSpPr txBox="1"/>
          <p:nvPr/>
        </p:nvSpPr>
        <p:spPr>
          <a:xfrm>
            <a:off x="35433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tille"/>
          <p:cNvSpPr/>
          <p:nvPr/>
        </p:nvSpPr>
        <p:spPr>
          <a:xfrm>
            <a:off x="528523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FaClipboardCheck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Classer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Nommez le défaut : erreur, contradiction, donnée personnelle, trop vague, biais.</a:t>
            </a:r>
            <a:endParaRPr lang="en-US" sz="1450" dirty="0"/>
          </a:p>
        </p:txBody>
      </p:sp>
      <p:sp>
        <p:nvSpPr>
          <p:cNvPr id="18" name="Carte"/>
          <p:cNvSpPr/>
          <p:nvPr/>
        </p:nvSpPr>
        <p:spPr>
          <a:xfrm>
            <a:off x="617220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astille"/>
          <p:cNvSpPr/>
          <p:nvPr/>
        </p:nvSpPr>
        <p:spPr>
          <a:xfrm>
            <a:off x="809701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ône FaPuzzlePiece" descr="Fa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Corriger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Réécrivez chaque exemple pour qu’il devienne utilisable.</a:t>
            </a:r>
            <a:endParaRPr lang="en-US" sz="1450" dirty="0"/>
          </a:p>
        </p:txBody>
      </p:sp>
      <p:sp>
        <p:nvSpPr>
          <p:cNvPr id="25" name="Carte"/>
          <p:cNvSpPr/>
          <p:nvPr/>
        </p:nvSpPr>
        <p:spPr>
          <a:xfrm>
            <a:off x="898398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16686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91668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Pastille"/>
          <p:cNvSpPr/>
          <p:nvPr/>
        </p:nvSpPr>
        <p:spPr>
          <a:xfrm>
            <a:off x="1090879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686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6686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Confrontez vos corrections avec un autre groupe.</a:t>
            </a:r>
            <a:endParaRPr lang="en-US" sz="1450" dirty="0"/>
          </a:p>
        </p:txBody>
      </p:sp>
      <p:sp>
        <p:nvSpPr>
          <p:cNvPr id="32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rapporteur par groupe : présentez l’exemple le plus difficile à corriger.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mmentDots" descr="FaComment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 simple au complexe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Consignes, documents, puis formation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GraduationCap" descr="FaGraduationC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Façonner un comportement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Pas une base de connaissances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Qualité avant quantité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Des exemples corrects et cohérents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PuzzlePiece" descr="FaPuzzlePie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LoRA = un adaptateur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 modèle reste intact, on ajoute un petit module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ogs" descr="FaCog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QLoRA = LoRA compressé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Moins de mémoire, même principe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Protéger et tester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Données anonymisées, jeu de test indépendant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« fine-tuner » un modèle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spécialiser en poursuivant son apprentissage avec nos propres exemples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Réparer un modèle en panne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Traduire le modèle dans une autre langue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Copier le modèle sur un autre ordinateur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assistant doit répondre à partir de nos documents, qui changent souvent. Quelle approche est en général la plus adaptée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réentraîner à chaque changement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Lui faire apprendre tous les documents par cœur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Lui poser les questions en anglais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Lui donner accès aux documents (recherche augmentée, RAG)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qu’un « exemple d’entraînement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texte pris au hasard sur internet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Une entrée accompagnée de la réponse attendue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message sans réponse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règle de grammaire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qui compte le plus pour réussir un fine-tuning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plus grand nombre d’exemples possible, même mauvais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Des exemples tous identiques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Des exemples tirés d’une seule personne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Des exemples corrects, cohérents et représentatifs : la qualité avant la quantité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fait LoRA, en une phrase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efface le modèle de base et le remplace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traduit automatiquement les exemples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garde le modèle de base figé et entraîne un petit « adaptateur » qui s’y ajoute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vérifie l’orthographe des données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QLoRA ajoute à LoRA…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Une compression du modèle de base, pour réduire fortement la mémoire nécessaire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correcteur d’orthographe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second modèle plus grand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traduction en plusieurs langues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LoRA intéresse-t-il particulièrement une petite équipe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supprime le besoin de données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coûte beaucoup moins en calcul et en mémoire, et les adaptateurs sont légers à partager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garantit zéro erreur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fonctionne sans aucun ordinateur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Qu’appelle-t-on « surapprentissage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modèle apprend trop vite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modèle refuse d’apprendre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modèle apprend ses exemples par cœur et se débrouille mal sur du nouveau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modèle devient plus petit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Quelles données ne faut-il pas utiliser telles quelles pour entraîner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Des exemples inventés pour la formation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Des textes publics dont la licence autorise l’usage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Des exemples sans aucune donnée personnelle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Des messages d’usagers contenant des noms et des informations de santé non protégés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Comment vérifier honnêtement qu’un fine-tuning a amélioré le modèle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Demander au modèle s’il est meilleur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Regarder le nombre d’exemples utilisés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Comparer avant et après sur un jeu de test jamais utilisé à l’entraînement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Mesurer la taille du fichier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Le spécialiser en poursuivant son apprentissage avec nos propres exemples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 un médecin généraliste qui se forme à la pédiatrie : il garde sa culture et acquiert une spécialité.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Lui donner accès aux documents (recherche augmentée, RAG)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Réentraîner est long et coûteux : donner accès à la documentation permet de rester à jour. On y reviendra au module 5.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Une entrée accompagnée de la réponse attendue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modèle apprend en voyant beaucoup de paires « entrée → réponse attendue ».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Des exemples corrects, cohérents et représentatifs : la qualité avant la quantité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modèle apprend ce qu’on lui montre : des exemples faux ou contradictoires produisent un modèle peu fiable.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 garde le modèle de base figé et entraîne un petit « adaptateur » qui s’y ajoute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 un petit cahier d’annotations glissé dans un gros manuel : on n’a pas à réécrire le manuel.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Une compression du modèle de base, pour réduire fortement la mémoire nécessaire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C’est un « livre au format poche » : moins de place, donc possible sur un ordinateur ou un GPU plus modeste.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Il coûte beaucoup moins en calcul et en mémoire, et les adaptateurs sont légers à partager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peut même avoir un adaptateur par service ou par langue, sur le même modèle de base.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Le modèle apprend ses exemples par cœur et se débrouille mal sur du nouveau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C’est l’élève qui récite ses exercices sans avoir compris : il échoue à l’examen.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Des messages d’usagers contenant des noms et des informations de santé non protégés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modèle peut mémoriser des informations et les restituer : il faut anonymiser, et disposer d’un cadre légal.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Comparer avant et après sur un jeu de test jamais utilisé à l’entraînement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 un examen : il faut des questions que l’élève n’a jamais vues.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Fine-tuning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Spécialiser un modèle en continuant son apprentissage sur nos exemples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Exemple d’entraînement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entrée accompagnée de la réponse attendue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Adaptation légère : on entraîne un petit adaptateur et le modèle reste figé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QLoRA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LoRA appliquée à un modèle compressé, pour économiser la mémoire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Adaptateur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Petit module ajouté au modèle de base pour le spécialiser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Quantification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Stocker les nombres du modèle avec moins de précision pour gagner de la place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Surapprentissage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apprend par cœur et généralise mal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Jeu de test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Exemples mis de côté pour juger honnêtement le modèle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GPU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Processeur graphique, très utilisé pour entraîner les modèles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NER clinique et OCR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Extraire des informations de textes et de documents scannés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· Fine-tuning, LoRA et QLoRA (non-IT)</dc:title>
  <dc:subject>PptxGenJS Presentation</dc:subject>
  <dc:creator>Togo AI Lab</dc:creator>
  <cp:lastModifiedBy>Togo AI Lab</cp:lastModifiedBy>
  <cp:revision>1</cp:revision>
  <dcterms:created xsi:type="dcterms:W3CDTF">2026-10-19T20:43:25Z</dcterms:created>
  <dcterms:modified xsi:type="dcterms:W3CDTF">2026-10-19T20:43:25Z</dcterms:modified>
</cp:coreProperties>
</file>