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01798de-4922-7ac5-be45-cde0eec52bc4}">
          <p14:sldIdLst>
            <p14:sldId id="256"/>
            <p14:sldId id="257"/>
          </p14:sldIdLst>
        </p14:section>
        <p14:section name="Ouverture" id="{b42b97d7-ed62-7c2f-a8d2-2e460c69bcd9}">
          <p14:sldIdLst/>
        </p14:section>
        <p14:section name="Introduction" id="{ccc562bc-30f7-82a3-0197-8d5f8a73a5aa}">
          <p14:sldIdLst>
            <p14:sldId id="258"/>
          </p14:sldIdLst>
        </p14:section>
        <p14:section name="Architecture" id="{6f1756e3-1f69-910f-258d-26cfdd095cc0}">
          <p14:sldIdLst>
            <p14:sldId id="259"/>
            <p14:sldId id="260"/>
          </p14:sldIdLst>
        </p14:section>
        <p14:section name="Qualité" id="{f7d60e93-60cb-7d35-caef-148bdb465b39}">
          <p14:sldIdLst>
            <p14:sldId id="261"/>
          </p14:sldIdLst>
        </p14:section>
        <p14:section name="Nettoyage" id="{0b331a9e-8a6f-9489-96af-e4c9d8a2a982}">
          <p14:sldIdLst>
            <p14:sldId id="262"/>
            <p14:sldId id="263"/>
          </p14:sldIdLst>
        </p14:section>
        <p14:section name="Validation" id="{b9896c05-d808-e279-ee0e-9b20447363b4}">
          <p14:sldIdLst>
            <p14:sldId id="264"/>
            <p14:sldId id="265"/>
          </p14:sldIdLst>
        </p14:section>
        <p14:section name="Exploitation" id="{91cac78f-5c20-f8a9-68f4-d511475675a3}">
          <p14:sldIdLst>
            <p14:sldId id="266"/>
            <p14:sldId id="270"/>
            <p14:sldId id="271"/>
          </p14:sldIdLst>
        </p14:section>
        <p14:section name="Protection" id="{18580ee7-bebe-143f-effb-0d08e29d637c}">
          <p14:sldIdLst>
            <p14:sldId id="267"/>
            <p14:sldId id="268"/>
          </p14:sldIdLst>
        </p14:section>
        <p14:section name="Responsabilité" id="{8645cd31-98cc-e97e-256a-c64595039171}">
          <p14:sldIdLst>
            <p14:sldId id="269"/>
          </p14:sldIdLst>
        </p14:section>
        <p14:section name="Exploitation" id="{166b76f9-1c9a-d97d-2a10-3c8c86b601b0}">
          <p14:sldIdLst/>
        </p14:section>
        <p14:section name="Pièges" id="{a4636b81-8b96-631d-7c0a-2de6fff86d74}">
          <p14:sldIdLst>
            <p14:sldId id="272"/>
          </p14:sldIdLst>
        </p14:section>
        <p14:section name="TP notebook" id="{c3d195d5-da0a-fe84-490d-c564f5c77ebf}">
          <p14:sldIdLst>
            <p14:sldId id="273"/>
            <p14:sldId id="274"/>
          </p14:sldIdLst>
        </p14:section>
        <p14:section name="Conclusion" id="{b1c21e5d-63d5-085d-5ea5-a049d1b2f2d2}">
          <p14:sldIdLst>
            <p14:sldId id="275"/>
          </p14:sldIdLst>
        </p14:section>
        <p14:section name="Quiz de sortie" id="{12ca0250-490e-43f7-bae8-063509cc99d1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nnexes" id="{c4b1b330-bcae-c65b-4fc0-421ea61daa97}">
          <p14:sldIdLst>
            <p14:sldId id="283"/>
          </p14:sldIdLst>
        </p14:section>
        <p14:section name="Clôture" id="{323236f1-706c-1bb7-86a3-6cee3ce82406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à l’aise avec Python. Aucune formule. Le TP utilise uniquement pandas et la bibliothèque standard, sans GPU ni téléchargement. Insister sur le brut intact, la quarantaine avec motif et l’idempotence.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TP mesure le nettoyage contre une vérité connue : l’afficher aux participants après l’exercice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6 · Pipelines de données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6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Pipelines de données : fiabiliser, protéger, automatiser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pandas, validation, pseudonymisation,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ETL et ELT, qualité, validation, protection, idempotence, orchestration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pipeline pandas sur un registre fictif très sale, sur Google Colab (7 exercices)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Bonnes pratiques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Quarantaine, traçabilité, versions, k-anonymat, alertes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concevoir un pipeline en étapes testables, rejouables et tracées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exprimer la qualité en règles de validation et isoler les lignes en défaut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protéger les données (pseudonymisation, k-anonymat) et exploiter le pipeline (journal, version, alertes).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des pipelines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Données en entrée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Entrée fausse, sortie fausse : un modèle ne corrige pas des données erronées.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Redo" descr="FaRe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Reproductibilité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mêmes entrées doivent donner les mêmes sorties, à chaque exécution.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istAlt" descr="FaLis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Traçabilité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Savoir ce qui a été modifié, rejeté, et pourquoi.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Shield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Appliquer minimisation, pseudonymisation et contrôle d’accès de façon systématique.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pipeline n’est pas un script jetable : c’est un produit qui se teste, se surveille et se documente.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Anatomie d’un pipeline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 étapes à entrées et sorties explicites, avec un contrôle entre chaque.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Mobile" descr="Fa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Ingestion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Fichiers, API, bases, collecte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Validation d’entrée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Schéma, types, plages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Broom" descr="FaBr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Transformation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Nettoyage, enrichissement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UserShield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Protection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Pseudonymiser, généraliser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Database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Stockage et service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Versions, accès, rapports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garder le brut intact dans une zone séparée : on peut toujours rejouer le pipeline depuis la source.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ETL ou ELT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graphicFrame>
        <p:nvGraphicFramePr>
          <p:cNvPr id="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Approche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Principe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Quand la choisir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ETL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Extraire, transformer, puis charger le résultat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Il faut filtrer ou masquer avant le stockage ; volumes modestes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ELT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Extraire, charger le brut, transformer dans l’entrepôt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Gros volumes, besoin de rejouer ou de réinterpréter le brut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Traitement par lots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 lot par jour ou par semaine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Rapports périodiques, collecte hors ligne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Flux continu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Événements traités à l’arrivée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Alertes, surveillance en temps réel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en contexte de connectivité limitée, le traitement par lots avec reprise est souvent le plus robuste.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 qualité, en dimensions mesurables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Square" descr="FaCheck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Complétude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Taux de valeurs manquantes par colonne.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ullseye" descr="Fa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Exactitude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Valeurs plausibles, plages, comparaison à une référence.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alanceScale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Cohérence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Contraintes entre champs : vaccin après naissance.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ne" descr="FaCl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Unicité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Doublons selon une clé métier, pas seulement ligne identique.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lock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Fraîcheur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Retard de livraison, âge de la dernière mise à jour.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ListAlt" descr="FaList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Conformité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Formats, listes de référence, types attendus.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Des étapes pures et rejouables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etape_dates(df):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                       # jamais le brut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pd.to_datetime(df["naissance"], format="%d/%m/%Y",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errors="coerce")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pd.to_datetime(df["naissance"], format="%Y-%m-%d",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errors="coerce")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df["naissance"] = a.combine_first(b)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ETAPES = [("dates", etape_dates),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("catégories", etape_categories),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("doublons", etape_doublons)]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étape = une </a:t>
            </a:r>
            <a:r>
              <a:rPr lang="en-US" sz="1400" b="1" dirty="0">
                <a:solidFill>
                  <a:schemeClr val="tx1"/>
                </a:solidFill>
              </a:rPr>
              <a:t>fonction pure</a:t>
            </a:r>
            <a:r>
              <a:rPr lang="en-US" sz="1400" dirty="0">
                <a:solidFill>
                  <a:schemeClr val="tx1"/>
                </a:solidFill>
              </a:rPr>
              <a:t> : entrée, sortie, pas d’effet de bord.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errors="coerce"</a:t>
            </a:r>
            <a:r>
              <a:rPr lang="en-US" sz="1400" dirty="0">
                <a:solidFill>
                  <a:schemeClr val="tx1"/>
                </a:solidFill>
              </a:rPr>
              <a:t> : l’illisible devient NaT, comptable et signalable.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</a:t>
            </a:r>
            <a:r>
              <a:rPr lang="en-US" sz="1400" b="1" dirty="0">
                <a:solidFill>
                  <a:schemeClr val="tx1"/>
                </a:solidFill>
              </a:rPr>
              <a:t>copie</a:t>
            </a:r>
            <a:r>
              <a:rPr lang="en-US" sz="1400" dirty="0">
                <a:solidFill>
                  <a:schemeClr val="tx1"/>
                </a:solidFill>
              </a:rPr>
              <a:t> avant de modifier : le brut reste intact.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étape est </a:t>
            </a:r>
            <a:r>
              <a:rPr lang="en-US" sz="1400" b="1" dirty="0">
                <a:solidFill>
                  <a:schemeClr val="tx1"/>
                </a:solidFill>
              </a:rPr>
              <a:t>testable</a:t>
            </a:r>
            <a:r>
              <a:rPr lang="en-US" sz="1400" dirty="0">
                <a:solidFill>
                  <a:schemeClr val="tx1"/>
                </a:solidFill>
              </a:rPr>
              <a:t> isolément.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Normaliser des catégories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sans_accents(t):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"".join(c for c in unicodedata.normalize("NFD", t)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if unicodedata.category(c) != "Mn")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normaliser(serie, valeurs_ref):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 = {sans_accents(v).lower(): v for v in valeurs_ref}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 = (serie.astype(str).str.strip()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.map(sans_accents).str.lower())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cle.map(ref)       # NaN si hors liste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df["localite"] = normaliser(df["localite"], LOCALITES)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compare des </a:t>
            </a:r>
            <a:r>
              <a:rPr lang="en-US" sz="1400" b="1" dirty="0">
                <a:solidFill>
                  <a:schemeClr val="tx1"/>
                </a:solidFill>
              </a:rPr>
              <a:t>clés</a:t>
            </a:r>
            <a:r>
              <a:rPr lang="en-US" sz="1400" dirty="0">
                <a:solidFill>
                  <a:schemeClr val="tx1"/>
                </a:solidFill>
              </a:rPr>
              <a:t> normalisées, on restitue la </a:t>
            </a:r>
            <a:r>
              <a:rPr lang="en-US" sz="1400" b="1" dirty="0">
                <a:solidFill>
                  <a:schemeClr val="tx1"/>
                </a:solidFill>
              </a:rPr>
              <a:t>valeur officielle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 qui est hors liste devient </a:t>
            </a:r>
            <a:r>
              <a:rPr lang="en-US" sz="1400" b="1" dirty="0">
                <a:solidFill>
                  <a:schemeClr val="tx1"/>
                </a:solidFill>
              </a:rPr>
              <a:t>vide</a:t>
            </a:r>
            <a:r>
              <a:rPr lang="en-US" sz="1400" dirty="0">
                <a:solidFill>
                  <a:schemeClr val="tx1"/>
                </a:solidFill>
              </a:rPr>
              <a:t> : il sera signalé, pas deviné.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liste de référence est un </a:t>
            </a:r>
            <a:r>
              <a:rPr lang="en-US" sz="1400" b="1" dirty="0">
                <a:solidFill>
                  <a:schemeClr val="tx1"/>
                </a:solidFill>
              </a:rPr>
              <a:t>actif documenté</a:t>
            </a:r>
            <a:r>
              <a:rPr lang="en-US" sz="1400" dirty="0">
                <a:solidFill>
                  <a:schemeClr val="tx1"/>
                </a:solidFill>
              </a:rPr>
              <a:t>, versionné.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Pour des noms libres : distance d’édition, avec validation humaine.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Règles de validation et quarantaine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regles(df):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"naissance_manquante":    df["naissance"].isna(),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"naissance_future":       df["naissance"] &gt; AUJOURDHUI,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"avant_naissance":        df["date_vaccin"] &lt; df["naissance"],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"sexe_hors_liste":        df["sexe"].isna(),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valider(df):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motifs = pd.DataFrame(regles(df))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df.assign(motifs=motifs.apply(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 l: ",".join(l.index[l]), axis=1))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df[df.motifs == ""], df[df.motifs != ""]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règle = </a:t>
            </a:r>
            <a:r>
              <a:rPr lang="en-US" sz="1400" b="1" dirty="0">
                <a:solidFill>
                  <a:schemeClr val="tx1"/>
                </a:solidFill>
              </a:rPr>
              <a:t>un nom</a:t>
            </a:r>
            <a:r>
              <a:rPr lang="en-US" sz="1400" dirty="0">
                <a:solidFill>
                  <a:schemeClr val="tx1"/>
                </a:solidFill>
              </a:rPr>
              <a:t> et </a:t>
            </a:r>
            <a:r>
              <a:rPr lang="en-US" sz="1400" b="1" dirty="0">
                <a:solidFill>
                  <a:schemeClr val="tx1"/>
                </a:solidFill>
              </a:rPr>
              <a:t>un masque</a:t>
            </a:r>
            <a:r>
              <a:rPr lang="en-US" sz="1400" dirty="0">
                <a:solidFill>
                  <a:schemeClr val="tx1"/>
                </a:solidFill>
              </a:rPr>
              <a:t> de lignes en défaut.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</a:t>
            </a:r>
            <a:r>
              <a:rPr lang="en-US" sz="1400" b="1" dirty="0">
                <a:solidFill>
                  <a:schemeClr val="tx1"/>
                </a:solidFill>
              </a:rPr>
              <a:t>quarantaine</a:t>
            </a:r>
            <a:r>
              <a:rPr lang="en-US" sz="1400" dirty="0">
                <a:solidFill>
                  <a:schemeClr val="tx1"/>
                </a:solidFill>
              </a:rPr>
              <a:t> garde la ligne et son </a:t>
            </a:r>
            <a:r>
              <a:rPr lang="en-US" sz="1400" b="1" dirty="0">
                <a:solidFill>
                  <a:schemeClr val="tx1"/>
                </a:solidFill>
              </a:rPr>
              <a:t>motif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motifs fréquents indiquent </a:t>
            </a:r>
            <a:r>
              <a:rPr lang="en-US" sz="1400" b="1" dirty="0">
                <a:solidFill>
                  <a:schemeClr val="tx1"/>
                </a:solidFill>
              </a:rPr>
              <a:t>où corriger</a:t>
            </a:r>
            <a:r>
              <a:rPr lang="en-US" sz="1400" dirty="0">
                <a:solidFill>
                  <a:schemeClr val="tx1"/>
                </a:solidFill>
              </a:rPr>
              <a:t> la collecte.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 outils existent (Pandera, Great Expectations) : mêmes principes.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Corriger, signaler ou rejeter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agic" descr="FaMag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Corriger automatiquement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Casse, espaces, accents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Formats de date </a:t>
            </a:r>
            <a:r>
              <a:rPr lang="en-US" sz="1450" b="1" dirty="0">
                <a:solidFill>
                  <a:schemeClr val="tx1"/>
                </a:solidFill>
              </a:rPr>
              <a:t>non ambigus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Doublons </a:t>
            </a:r>
            <a:r>
              <a:rPr lang="en-US" sz="1450" b="1" dirty="0">
                <a:solidFill>
                  <a:schemeClr val="tx1"/>
                </a:solidFill>
              </a:rPr>
              <a:t>exacts</a:t>
            </a:r>
            <a:r>
              <a:rPr lang="en-US" sz="1450" dirty="0">
                <a:solidFill>
                  <a:schemeClr val="tx1"/>
                </a:solidFill>
              </a:rPr>
              <a:t> sur une clé métier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Valeurs avec une règle de remplacement documentée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Signaler ou mettre en quarantaine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Dates impossibles ou incohérentes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Valeurs hors plage ou hors liste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Identifiants conflictuels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Tout ce qui demande un </a:t>
            </a:r>
            <a:r>
              <a:rPr lang="en-US" sz="1450" b="1" dirty="0">
                <a:solidFill>
                  <a:schemeClr val="tx1"/>
                </a:solidFill>
              </a:rPr>
              <a:t>jugement</a:t>
            </a:r>
            <a:r>
              <a:rPr lang="en-US" sz="1450" dirty="0">
                <a:solidFill>
                  <a:schemeClr val="tx1"/>
                </a:solidFill>
              </a:rPr>
              <a:t> du métier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ne jamais « deviner » pour que ça passe : une valeur inventée est pire qu’une valeur manquante déclarée.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Idempotence et reprise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Redo" descr="FaRe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Idempotence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Rejouer une étape donne le même résultat, sans doublons ni effets cumulés.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ne" descr="FaCl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Clé métier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Fusionner un lot avec l’existant par clé : un lot rejoué n’ajoute rien.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Brut séparé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Reprise possible depuis la source après un incident ou un correctif de règle.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Play" descr="Fa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Étapes atomiques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Écrire dans un fichier temporaire puis renommer : pas de sortie à moitié écrite.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lock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Reprise par lot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Retraiter seulement les lots en échec, avec leur identifiant.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CodeBranch" descr="FaCodeBran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Version du code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Noter quelle version du pipeline a produit chaque sortie.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Pseudonymiser et généraliser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 = os.environ["SEL_PSEUDO"]     # secret, hors du code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pseudonyme(valeur):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donnees = (SEL + str(valeur)).encode("utf-8")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hashlib.sha256(donnees).hexdigest()[:10]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etape_protection(df):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df["pseudo"] = df["id_fiche"].map(pseudonyme)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df["annee_naissance"] = df["naissance"].dt.year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df.drop(columns=["id_fiche", "nom", "naissance"])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sel</a:t>
            </a:r>
            <a:r>
              <a:rPr lang="en-US" sz="1400" dirty="0">
                <a:solidFill>
                  <a:schemeClr val="tx1"/>
                </a:solidFill>
              </a:rPr>
              <a:t> est secret : sans lui, un identifiant simple se retrouve par essais.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Pseudonymisé ≠ anonymisé : </a:t>
            </a:r>
            <a:r>
              <a:rPr lang="en-US" sz="1400" b="1" dirty="0">
                <a:solidFill>
                  <a:schemeClr val="tx1"/>
                </a:solidFill>
              </a:rPr>
              <a:t>reste une donnée personnelle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Généraliser</a:t>
            </a:r>
            <a:r>
              <a:rPr lang="en-US" sz="1400" dirty="0">
                <a:solidFill>
                  <a:schemeClr val="tx1"/>
                </a:solidFill>
              </a:rPr>
              <a:t> : année plutôt que date, région plutôt que village.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Retirer toute colonne </a:t>
            </a:r>
            <a:r>
              <a:rPr lang="en-US" sz="1400" b="1" dirty="0">
                <a:solidFill>
                  <a:schemeClr val="tx1"/>
                </a:solidFill>
              </a:rPr>
              <a:t>non nécessaire</a:t>
            </a:r>
            <a:r>
              <a:rPr lang="en-US" sz="1400" dirty="0">
                <a:solidFill>
                  <a:schemeClr val="tx1"/>
                </a:solidFill>
              </a:rPr>
              <a:t> (minimisation).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Contrôler le k-anonymat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QUASI = ["annee_naissance", "sexe", "localite"]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k_anonymat(df, quasi=QUASI):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groupes = df.groupby(quasi).size()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int(groupes.min()), int((groupes &lt; 5).sum())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k, petits = k_anonymat(protege)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 = 1 : au moins une personne est unique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généraliser (tranche d'âge, région), ou supprimer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k-anonyme : chaque combinaison de </a:t>
            </a:r>
            <a:r>
              <a:rPr lang="en-US" sz="1400" b="1" dirty="0">
                <a:solidFill>
                  <a:schemeClr val="tx1"/>
                </a:solidFill>
              </a:rPr>
              <a:t>quasi-identifiants</a:t>
            </a:r>
            <a:r>
              <a:rPr lang="en-US" sz="1400" dirty="0">
                <a:solidFill>
                  <a:schemeClr val="tx1"/>
                </a:solidFill>
              </a:rPr>
              <a:t> concerne au moins k personnes.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risque vient de la </a:t>
            </a:r>
            <a:r>
              <a:rPr lang="en-US" sz="1400" b="1" dirty="0">
                <a:solidFill>
                  <a:schemeClr val="tx1"/>
                </a:solidFill>
              </a:rPr>
              <a:t>combinaison</a:t>
            </a:r>
            <a:r>
              <a:rPr lang="en-US" sz="1400" dirty="0">
                <a:solidFill>
                  <a:schemeClr val="tx1"/>
                </a:solidFill>
              </a:rPr>
              <a:t> (âge + village + sexe).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Compromis </a:t>
            </a:r>
            <a:r>
              <a:rPr lang="en-US" sz="1400" b="1" dirty="0">
                <a:solidFill>
                  <a:schemeClr val="tx1"/>
                </a:solidFill>
              </a:rPr>
              <a:t>utilité / confidentialité</a:t>
            </a:r>
            <a:r>
              <a:rPr lang="en-US" sz="1400" dirty="0">
                <a:solidFill>
                  <a:schemeClr val="tx1"/>
                </a:solidFill>
              </a:rPr>
              <a:t> à discuter avec les métiers.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k-anonymat ne suffit pas seul : le cadre légal prime.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de santé : ce qui est permis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Minimiser : ne traiter que les champs nécessaires au but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Conserver toutes les colonnes « au cas où »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le sel et les clés dans un gestionnaire de secrets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Écrire le sel dans le notebook ou le dépôt de code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Restreindre les accès, journaliser les consultations, fixer une durée de conservation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Copier les fichiers sur des postes ou des services non maîtrisés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Obtenir le cadre légal avant tout nouvel usage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Réutiliser un jeu pour un autre projet sans autorisation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Opérer un pipeline en production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graphicFrame>
        <p:nvGraphicFramePr>
          <p:cNvPr id="1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39593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Besoin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Pratique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Exemples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Planification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Exécution automatique à échéance régulière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cron, Airflow, Prefect, GitHub Actions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Observabilité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Journal par étape, lignes entrées et sorties, durées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Journal structuré, tableau de bord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Alertes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Notification si le taux de rejet ou le retard dépasse un seuil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Courriel, messagerie d’équipe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Tests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Tests unitaires des étapes, contrôle de schéma en entrée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pytest, Pandera, Great Expectations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pipeline qui échoue sans prévenir est pire qu’un pipeline qui s’arrête avec une alerte.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Version et rapport de qualité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protege.to_csv("registre_propre.csv", index=False)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empreinte = hashlib.sha256(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open("registre_propre.csv", "rb").read()).hexdigest()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manifeste = {"lignes": len(protege),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"sha256": empreinte[:16],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"cree_le": datetime.date.today().isoformat(),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"etapes": [n for n, _ in ETAPES]}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taux_rejet = len(quarantaine) / len(brut)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taux_rejet &gt; 0.10: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alerter("Taux de rejet anormal : " + format(taux_rejet, ".1%"))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manifeste</a:t>
            </a:r>
            <a:r>
              <a:rPr lang="en-US" sz="1400" dirty="0">
                <a:solidFill>
                  <a:schemeClr val="tx1"/>
                </a:solidFill>
              </a:rPr>
              <a:t> décrit le jeu produit et son empreinte.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L’</a:t>
            </a:r>
            <a:r>
              <a:rPr lang="en-US" sz="1400" b="1" dirty="0">
                <a:solidFill>
                  <a:schemeClr val="tx1"/>
                </a:solidFill>
              </a:rPr>
              <a:t>empreinte</a:t>
            </a:r>
            <a:r>
              <a:rPr lang="en-US" sz="1400" dirty="0">
                <a:solidFill>
                  <a:schemeClr val="tx1"/>
                </a:solidFill>
              </a:rPr>
              <a:t> prouve qu’on parle du même fichier.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taux de rejet</a:t>
            </a:r>
            <a:r>
              <a:rPr lang="en-US" sz="1400" dirty="0">
                <a:solidFill>
                  <a:schemeClr val="tx1"/>
                </a:solidFill>
              </a:rPr>
              <a:t> est une métrique de qualité à suivre dans le temps.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hausse brutale signale souvent un </a:t>
            </a:r>
            <a:r>
              <a:rPr lang="en-US" sz="1400" b="1" dirty="0">
                <a:solidFill>
                  <a:schemeClr val="tx1"/>
                </a:solidFill>
              </a:rPr>
              <a:t>changement de source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Pièges fréquents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an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Modifier le brut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Impossible de rejouer ni de prouver l’origine.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EyeSlash" descr="FaEyeSl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Rejet silencieux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 lignes disparaissent sans motif : les chiffres dérivent.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SortAmountDown" descr="FaSortAmount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Mauvais ordre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Dédoublonner avant de normaliser laisse des doublons.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ck" descr="Fa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Fuseaux et formats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Dates ambiguës (jour/mois) interprétées à l’envers.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Key" descr="Fa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Secrets dans le code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Sel ou clés dans le dépôt : faille de sécurité.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alanceScale" descr="FaBalanceSca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Biais de nettoyage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Rejeter plus souvent certains groupes fausse l’analyse.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un pipeline pandas de bout en bout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sans GPU ni téléchargement. 300 fiches de vaccination fictives, volontairement sales.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Deux formats, valeurs illisibles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6042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433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766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Catégories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Variantes d’écriture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7220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Doublons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Clé métier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8398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668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6122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Règle d’incohérence et quarantaine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Pseudonyme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Hachage avec sel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6042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4330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433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766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k-anonymat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4330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Taille des groupes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7220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Pipeline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Boucle d’étapes, journal, idempotence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notebook fourni par le formateur (ou importer le fichier .ipynb).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 de GPU nécessaire : l’exécution standard suffit.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une cellule échoue : relire le message, puis relancer depuis le début.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Aucune installation : pandas est déjà disponible.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données sont générées par le notebook, avec une graine fixe.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Toutes les données sont fictives.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Garder le brut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 brut est intouchable et rejouable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 d’abord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Profil, taux de rejet, motifs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istAlt" descr="FaLis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Quarantaine avec motif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Jamais de suppression silencieuse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Redo" descr="FaRe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Idempotence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Rejouer sans doublons ni surprise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Shield" descr="FaUser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Pseudonymisé ≠ anonyme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Minimiser, généraliser, contrôler k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ell" descr="Fa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Observer et alerter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Journal, version, seuils, responsable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est la différence entre ETL et ELT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ETL s’applique aux images, ELT au texte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ELT ne transforme jamais les données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ETL transforme avant de charger ; ELT charge d’abord les données brutes, puis les transforme dans l’entrepôt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n’y a aucune différence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qu’une étape de pipeline est « idempotente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Elle s’exécute plus vite que les autres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Elle ne produit aucun journal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Elle ne fonctionne qu’une fois par jour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La rejouer plusieurs fois donne le même résultat, sans doublons ni effets secondaires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 appel pandas convertit une colonne de dates en ignorant les valeurs invalides (NaT)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col.astype(str)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col.dropna().sum()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pd.to_datetime(col, errors="coerce", dayfirst=True)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pd.read_csv(col)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Quelles sont des dimensions classiques de qualité des données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Complétude, exactitude, cohérence, unicité, fraîcheur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Vitesse, couleur, poids, volume, prix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Langue, police, taille, marge, titre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Chiffrement, compression, sauvegarde, réseau, câble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 est l’intérêt d’une règle de validation exécutée automatiquement à chaque lot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Accélérer le téléchargement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Remplacer la collecte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Rendre les données secrètes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Détecter tôt les anomalies et empêcher qu’elles n’atteignent les rapports ou les modèles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différence entre pseudonymisation et anonymisation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Aucune, ce sont deux noms pour la même chose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pseudonymisation remplace l’identifiant mais reste réversible avec une clé ; l’anonymisation rend la ré-identification pratiquement impossible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pseudonymisation supprime toutes les colonnes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L’anonymisation chiffre le fichier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vérifie un contrôle de k-anonymat avec k = 5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Que le fichier contient 5 colonnes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Que chaque personne apparaît 5 fois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Que le mot de passe a 5 caractères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Que chaque combinaison de quasi-identifiants (âge, localité, sexe…) concerne au moins 5 personnes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versionner les jeux de données (empreinte, date, manifeste)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économiser du stockage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éviter de documenter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reproduire un résultat et savoir exactement sur quelles données un modèle ou un rapport a été produit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changer les noms de colonnes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lot reçoit des données mal formées. Quelle stratégie est la plus saine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Mettre les lignes en quarantaine avec le motif, poursuivre avec les lignes valides, alerter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Supprimer silencieusement les lignes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Arrêter définitivement le pipeline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Corriger au hasard pour que tout passe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 élément est le plus important pour opérer un pipeline en production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logo sur le tableau de bord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Journalisation, alertes, métriques de qualité et reprise après incident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gros écran dans la salle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Des noms de colonnes courts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ETL transforme avant de charger ; ELT charge d’abord les données brutes, puis les transforme dans l’entrepôt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ELT conserve les données brutes et profite de la puissance de l’entrepôt ; ETL convient quand il faut filtrer ou masquer avant le stockage.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La rejouer plusieurs fois donne le même résultat, sans doublons ni effets secondaires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Indispensable pour relancer sans risque après une panne.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pd.to_datetime(col, errors="coerce", dayfirst=True)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errors="coerce" transforme les valeurs illisibles en NaT, que l’on peut ensuite compter et signaler.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Complétude, exactitude, cohérence, unicité, fraîcheur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Chaque dimension se mesure par des règles : taux de valeurs manquantes, doublons, valeurs hors plage, retard de mise à jour.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Détecter tôt les anomalies et empêcher qu’elles n’atteignent les rapports ou les modèles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bloque ou met en quarantaine un lot invalide, et on alerte la personne responsable.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La pseudonymisation remplace l’identifiant mais reste réversible avec une clé ; l’anonymisation rend la ré-identification pratiquement impossible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donnée pseudonymisée reste une donnée personnelle : elle demande encore protection et cadre légal.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Que chaque combinaison de quasi-identifiants (âge, localité, sexe…) concerne au moins 5 personnes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petits groupes sont ré-identifiables : on généralise (année de naissance, région) ou on supprime.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Pour reproduire un résultat et savoir exactement sur quelles données un modèle ou un rapport a été produit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version, impossible d’expliquer pourquoi deux exécutions donnent des résultats différents.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Mettre les lignes en quarantaine avec le motif, poursuivre avec les lignes valides, alerter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garde la trace de ce qui est rejeté : cela guide la correction à la source.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Journalisation, alertes, métriques de qualité et reprise après incident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pipeline qui échoue sans prévenir ou qui dégrade lentement la qualité est pire qu’un pipeline qui s’arrête avec une alerte.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ETL / ELT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Extraire, transformer, charger ; ou charger puis transformer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Idempotence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Rejouer une opération donne le même résultat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Quarantaine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Lignes rejetées conservées avec leur motif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Schéma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Description des colonnes, types et contraintes attendus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Pseudonymisation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Remplacement de l’identifiant, réversible avec une clé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k-anonymat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combinaison de quasi-identifiants concerne au moins k personnes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Quasi-identifiant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Attribut qui, combiné à d’autres, permet de retrouver une personne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Manifeste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Fiche décrivant un jeu produit : version, empreinte, étapes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Orchestration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Planification et supervision de l’exécution des pipelines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Fin du parcours : vers la pratique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Mettre en œuvre un projet IA complet sur vos données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· Pipelines de données (IT)</dc:title>
  <dc:subject>PptxGenJS Presentation</dc:subject>
  <dc:creator>Togo AI Lab</dc:creator>
  <cp:lastModifiedBy>Togo AI Lab</cp:lastModifiedBy>
  <cp:revision>1</cp:revision>
  <dcterms:created xsi:type="dcterms:W3CDTF">2026-10-19T20:43:26Z</dcterms:created>
  <dcterms:modified xsi:type="dcterms:W3CDTF">2026-10-19T20:43:26Z</dcterms:modified>
</cp:coreProperties>
</file>