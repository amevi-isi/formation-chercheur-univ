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37f58d59-f81a-3d0e-84dc-26209869afa5}">
          <p14:sldIdLst>
            <p14:sldId id="256"/>
            <p14:sldId id="257"/>
          </p14:sldIdLst>
        </p14:section>
        <p14:section name="Ouverture" id="{b253acd5-9915-bad9-61b2-b1060cdbad0f}">
          <p14:sldIdLst/>
        </p14:section>
        <p14:section name="Introduction" id="{5242f392-1611-fba9-a7e9-33ae3b81194e}">
          <p14:sldIdLst>
            <p14:sldId id="258"/>
          </p14:sldIdLst>
        </p14:section>
        <p14:section name="Principe" id="{4fe1ed2a-3c74-be68-0b65-6863341cd975}">
          <p14:sldIdLst>
            <p14:sldId id="259"/>
            <p14:sldId id="260"/>
          </p14:sldIdLst>
        </p14:section>
        <p14:section name="Collecte" id="{b04bd9f3-dc3a-7d51-f680-f0e7f389e125}">
          <p14:sldIdLst>
            <p14:sldId id="261"/>
            <p14:sldId id="262"/>
          </p14:sldIdLst>
        </p14:section>
        <p14:section name="Qualité" id="{931fc25b-3f7d-ba64-9a56-78c8d8998806}">
          <p14:sldIdLst>
            <p14:sldId id="263"/>
            <p14:sldId id="264"/>
            <p14:sldId id="265"/>
            <p14:sldId id="266"/>
          </p14:sldIdLst>
        </p14:section>
        <p14:section name="Protection" id="{b76eac2c-dd06-7535-7607-5129e810b884}">
          <p14:sldIdLst>
            <p14:sldId id="267"/>
            <p14:sldId id="268"/>
            <p14:sldId id="269"/>
          </p14:sldIdLst>
        </p14:section>
        <p14:section name="Automatisation" id="{c7d46993-c705-dfa1-ca8d-7f0634835dd3}">
          <p14:sldIdLst>
            <p14:sldId id="270"/>
            <p14:sldId id="271"/>
          </p14:sldIdLst>
        </p14:section>
        <p14:section name="Gouvernance" id="{adeaa816-9ee2-1a56-d063-b3846e4b8b57}">
          <p14:sldIdLst>
            <p14:sldId id="272"/>
          </p14:sldIdLst>
        </p14:section>
        <p14:section name="Atelier" id="{cd56b5e7-d890-d9b8-635f-e8979a1e4e92}">
          <p14:sldIdLst>
            <p14:sldId id="273"/>
            <p14:sldId id="274"/>
          </p14:sldIdLst>
        </p14:section>
        <p14:section name="Conclusion" id="{57d2a637-fe37-73a7-6642-94fdf857edc5}">
          <p14:sldIdLst>
            <p14:sldId id="275"/>
          </p14:sldIdLst>
        </p14:section>
        <p14:section name="Quiz de sortie" id="{9c4956d4-25cb-d442-6259-3c1b583aa1e8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nnexes" id="{105db586-8a90-4717-b83c-7a715407bb89}">
          <p14:sldIdLst>
            <p14:sldId id="283"/>
          </p14:sldIdLst>
        </p14:section>
        <p14:section name="Clôture" id="{0154b61a-956a-3886-093a-7e84645f8c7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 prérequis technique. Tous les exemples sont fictifs. Le fil rouge : une chaîne de production, avec ses contrôles qualité à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quelles sources les participants utilisent déjà.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Imprimer le registre fictif en grand format. Les participants surlignent les défauts.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6 · Pipelines de données  ·  Version non-IT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6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Pipelines de données : de la collecte à des données fiables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non-IT : sans code, sans mathématiques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Comprendre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La chaîne qui mène des données brutes aux données prêtes pour l’IA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Pratiquer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Atelier « Le contrôle qualité » : repérer les défauts, écrire les règles, dessiner la chaîne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Vérifier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Quiz de sortie de 10 questions,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ce qu’est un pipeline de données et pourquoi la qualité est décisive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reconnaître les défauts courants (doublons, valeurs manquantes, formats, valeurs impossibles)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décrire les contrôles à placer à chaque étape et les règles de protection des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Avant l’IA, il y a les données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obile" descr="Fa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Collecte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Formulaires sur téléphone, cahiers, tableurs, bases existantes.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room" descr="FaB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Nettoyage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données réelles sont incomplètes, dupliquées, écrites de dix façons.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hartBar" descr="FaChart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Analyse et IA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Tableaux de bord et modèles ne valent que ce que valent les données.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Décision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 choix réels sont pris à partir de ces chiffres.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entrée de mauvaise qualité, résultat de mauvaise qualité : la fiabilité d’un système d’IA se joue en amont.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pipeline : une chaîne de production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une chaîne de production. Des matières premières entrent, passent de poste en poste (lavage, tri, contrôle, emballage) et sortent en produit fini. À chaque poste, un contrôle.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Données brutes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Telles que collectées : formats différents, erreurs, oublis, doublons.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heckCircle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Données prêtes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Propres, vérifiées, protégées, documentées et utilisables.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pipeline de données est une suite d’étapes automatisées, répétables et contrôlées.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étapes d’un pipeline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Chaque étape a un responsable et un contrôle.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Mobile" descr="Fa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Collecter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Formulaires, fichiers, bases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Vérifier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Format, champs obligatoires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Broom" descr="FaBr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Nettoyer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Doublons, variantes, erreurs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UserShield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Protéger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Anonymiser, limiter l’accès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ChartBar" descr="FaChart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Utiliser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Rapports, analyses, modèles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plus un défaut est détecté tôt, moins il coûte cher à corriger.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D’où viennent les données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obile" descr="Fa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Formulaires mobiles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Collecte sur le terrain : champs imposés, listes de choix, contrôles à la saisie.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Registres papier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À saisir ou à scanner (module 4) : plus d’erreurs possibles.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Table" descr="Fa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Tableurs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Pratiques mais libres : chacun écrit à sa façon.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Database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Bases existantes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Systèmes de gestion, bases de santé, ERP : formats et codes différents.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Microphone" descr="FaMicro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Audio et messages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Appels, messages vocaux, SMS : à transcrire ou à trier.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Globe" descr="FaGlob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Sources ouvertes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Données publiques : vérifier licence, date et fiabilité.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Bien collecter : le premier contrôle qualité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Imposer des listes de choix (localité, sexe, vaccin)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du texte libre partout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Contrôler à la saisie : date plausible, champ obligatoire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Corriger plus tard, « à la fin de la collecte »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Documenter chaque champ : définition, unité, format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Supposer que tout le monde comprend la même chose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Former les agents de collecte et retourner les erreurs fréquentes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jamais informer les agents des erreurs trouvées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Deuxième partie : la qualité des données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Des données sont de qualité si l’on peut leur faire confiance pour la décision à prendre.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qualité se mesure : on compte les erreurs, on ne les devine pas.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Elle se contrôle à chaque étape, pas seulement à la fin.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Elle est l’affaire d’une personne désignée, pas de « la machine 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Cinq questions pour juger des données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Square" descr="FaCheck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Complètes ?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champs importants sont-ils remplis ?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ullseye" descr="Fa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Exactes ?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valeurs correspondent-elles à la réalité ?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alanceScale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Cohérentes ?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informations se contredisent-elles ? (vaccin avant la naissance)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ne" descr="FaCl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Uniques ?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même personne ou un même événement apparaît-il deux fois ?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lock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À jour ?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données sont-elles assez récentes pour décider 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défauts courants et leurs remèdes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graphicFrame>
        <p:nvGraphicFramePr>
          <p:cNvPr id="11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Défaut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Remède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Doublon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 même ligne saisie deux fois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Détecter et ne garder qu’une ligne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Valeur manquante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Date de naissance vide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Compléter à la source ou signaler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Formats mélangés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12/03/2023 et 2023-03-12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Choisir un format unique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Variantes d’écriture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Kara, KARA, kara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Uniformiser avec une liste de référence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Valeur impossible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Naissance en 2030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Règle de validation, puis vérification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Incohérence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Vaccin avant la naissance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Règle entre champs, puis vérification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chaque défaut a une règle de contrôle, une action (corriger, signaler, rejeter) et un responsable.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Corriger, signaler ou supprimer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Corriger automatiquement ce qui est sûr (casse, espaces, format de date)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Deviner une valeur douteuse pour que « ça passe »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Mettre à part les lignes douteuses avec le motif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Supprimer sans trace des lignes qui gênent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Renvoyer les erreurs à la source pour corriger à la racine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Corriger toujours à l’arrivée, sans jamais prévenir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les données brutes d’origine, intactes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Écraser l’original par la version nettoyée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Protéger les personnes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une photo de groupe où l’on floute les visages. On voit toujours la scène, mais on ne peut plus reconnaître les personnes.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UserSecret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Anonymiser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Retirer ou transformer ce qui identifie : nom, numéro, adresse précise, date de naissance exacte.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Key" descr="Fa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Pseudonymiser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 nom par un code. La clé est gardée à part : la personne reste identifiable par qui possède la clé.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une donnée pseudonymisée reste une donnée personnelle : mêmes précautions que pour une donnée nominative.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Petits groupes, grand risque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apMarkerAlt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Localité précise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village de 200 habitants limite fortement les possibilités.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irthdayCake" descr="FaBirthdayC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Date exacte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date de naissance complète est très identifiante : préférer l’année.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VenusMars" descr="FaVenusM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Cumul d’informations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Sexe + âge + village + maladie : il ne reste parfois qu’une personne.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hartBar" descr="FaChartB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Petits effectifs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Dans un tableau, une case avec 1 ou 2 personnes peut les révéler.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avant de publier ou de partager, on regroupe (région plutôt que village, tranche d’âge plutôt que date).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de santé : les règles à respecter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collecter que ce qui est nécessaire au but fixé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Collecter « au cas où » des informations inutiles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Limiter l’accès aux personnes autorisées et tracer les consultations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Partager les fichiers dans des dossiers ouverts ou par messagerie grand public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Définir une durée de conservation et supprimer ensuite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les données indéfiniment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Obtenir le cadre légal et l’accord requis avant tout nouvel usage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Réutiliser des données de santé pour un autre projet sans autorisation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automatiser un pipeline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Redo" descr="FaRe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Régularité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mêmes contrôles à chaque arrivée de données.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ck" descr="Fa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Gain de temps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Plus de saisie ni de copier-coller à la main.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istAlt" descr="FaLis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Traçabilité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journal de ce qui est entré, modifié, rejeté.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ell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Alertes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personne prévenue quand un lot est anormal.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l’automatisation ne remplace pas la vigilance : elle l’organise.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qui peut mal tourner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an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Une source change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colonne renommée, un format modifié : le pipeline se casse ou, pire, se trompe en silence.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ck" descr="Fa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Données en retard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centre n’envoie pas ses fichiers : les chiffres paraissent baisser.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one" descr="FaCl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Rejeu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étape relancée deux fois crée des doublons.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Slash" descr="FaUserSl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Pas de responsable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alertes arrivent à personne : l’erreur dure des mois.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EyeSlash" descr="FaEyeSla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Erreurs invisibles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Aucun contrôle : les résultats paraissent normaux, mais sont faux.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ook" descr="FaBoo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Pas de documentation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Personne ne sait plus ce que fait le pipeline.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 fait quoi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Responsable donnée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Définit les règles de qualité et décide des corrections.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Mobile" descr="FaMob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Agents de collecte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Saisissent selon le guide et corrigent les erreurs signalées.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de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Équipe technique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Construit et surveille le pipeline, applique les règles.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lanceScale" descr="Fa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Vérifie le cadre légal, les accès et la conservation.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une règle sans responsable n’est pas appliquée.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L’atelier : « Le contrôle qualité »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Vous êtes l’équipe qualité. Le registre de vaccination est fictif.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Repérer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Retrouver les défauts d’un registre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429768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44805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Décider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Écrire la règle et l’action de chaque défaut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8046720" y="2057400"/>
            <a:ext cx="359359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8229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24028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Concevoir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8346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Dessiner la chaîne avec ses contrôles</a:t>
            </a:r>
            <a:endParaRPr lang="en-US" sz="13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groupe : un rapporteur par atelier. Le livret contient le matériel et les consignes.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Consigne de l’atelier 1 : repérer les défauts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247345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Parcourez le registre ligne par ligne, colonne par colonne.</a:t>
            </a:r>
            <a:endParaRPr lang="en-US" sz="1450" dirty="0"/>
          </a:p>
        </p:txBody>
      </p:sp>
      <p:sp>
        <p:nvSpPr>
          <p:cNvPr id="11" name="Carte"/>
          <p:cNvSpPr/>
          <p:nvPr/>
        </p:nvSpPr>
        <p:spPr>
          <a:xfrm>
            <a:off x="336042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4330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éro 2"/>
          <p:cNvSpPr txBox="1"/>
          <p:nvPr/>
        </p:nvSpPr>
        <p:spPr>
          <a:xfrm>
            <a:off x="35433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tille"/>
          <p:cNvSpPr/>
          <p:nvPr/>
        </p:nvSpPr>
        <p:spPr>
          <a:xfrm>
            <a:off x="528523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Surligner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Entourez chaque anomalie et notez son type.</a:t>
            </a:r>
            <a:endParaRPr lang="en-US" sz="1450" dirty="0"/>
          </a:p>
        </p:txBody>
      </p:sp>
      <p:sp>
        <p:nvSpPr>
          <p:cNvPr id="18" name="Carte"/>
          <p:cNvSpPr/>
          <p:nvPr/>
        </p:nvSpPr>
        <p:spPr>
          <a:xfrm>
            <a:off x="617220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astille"/>
          <p:cNvSpPr/>
          <p:nvPr/>
        </p:nvSpPr>
        <p:spPr>
          <a:xfrm>
            <a:off x="809701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ône FaListOl" descr="FaList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Compter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Combien de défauts par type ? Lesquels sont les plus graves ?</a:t>
            </a:r>
            <a:endParaRPr lang="en-US" sz="1450" dirty="0"/>
          </a:p>
        </p:txBody>
      </p:sp>
      <p:sp>
        <p:nvSpPr>
          <p:cNvPr id="25" name="Carte"/>
          <p:cNvSpPr/>
          <p:nvPr/>
        </p:nvSpPr>
        <p:spPr>
          <a:xfrm>
            <a:off x="898398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16686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91668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Pastille"/>
          <p:cNvSpPr/>
          <p:nvPr/>
        </p:nvSpPr>
        <p:spPr>
          <a:xfrm>
            <a:off x="1090879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686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6686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Comparez avec un autre groupe : avez-vous trouvé les mêmes ?</a:t>
            </a:r>
            <a:endParaRPr lang="en-US" sz="1450" dirty="0"/>
          </a:p>
        </p:txBody>
      </p:sp>
      <p:sp>
        <p:nvSpPr>
          <p:cNvPr id="32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rapporteur par groupe : présentez le défaut le plus difficile à détecter.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6  ·  PIPELINES DE DONNÉES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room" descr="FaB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Qualité avant IA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Entrée fausse, sortie fausse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Contrôler à chaque étape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Plus tôt on détecte, moins on paie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Garder le brut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Ne jamais écraser l’original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istAlt" descr="FaList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Tracer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Journal des lignes modifiées ou rejetées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Shield" descr="FaUser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Protéger les personnes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Anonymiser, limiter, conserver peu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 responsable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Une règle sans responsable n’est pas appliquée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qu’un « pipeline de données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câble qui relie deux ordinateurs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logiciel de dessin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modèle d’intelligence artificielle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chaîne d’étapes automatisées qui transforme des données brutes en données propres et utilisables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dit-on « données d’entrée de mauvaise qualité, résultats de mauvaise qualité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que les ordinateurs sont lents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les données coûtent cher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qu’un modèle ou un tableau de bord ne peut pas corriger des données fausses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Parce que les modèles refusent les fichiers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registre contient deux fois la même personne avec les mêmes informations. De quel problème s’agit-il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D’un doublon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D’une donnée anonymisée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D’un format de date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D’une donnée chiffrée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localité s’écrit « Kara », « KARA » et « kara » selon les lignes. Que faire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Rien : ce sont trois localités différentes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Uniformiser l’écriture pour que la machine les compte comme une seule localité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Supprimer ces lignes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Ne garder que la majuscule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 fiche indique une date de naissance en 2030. Que faire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garder telle quelle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remplacer par la date du jour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signaler comme impossible et la faire vérifier à la source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La supprimer sans rien dire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ne faut-il pas supprimer sans trace les lignes « mauvaises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que cela prend de la place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c’est interdit par principe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que les machines ne savent pas supprimer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pouvoir expliquer ce qui a été retiré et pourquoi, et corriger à la source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que l’anonymisation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Chiffrer un fichier avec un mot de passe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Traduire les noms en anglais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Retirer ou transformer les éléments qui permettent d’identifier une personne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Supprimer toutes les données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bonne pratique s’applique aux données personnelles de santé dans un pipeline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Ne collecter que ce qui est nécessaire, limiter les accès et tracer qui consulte quoi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Les copier dans plusieurs dossiers partagés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Les envoyer par messagerie grand public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Les garder indéfiniment, au cas où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 est responsable de la qualité des données d’un pipeline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Personne en particulier : la machine s’en charge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Uniquement les informaticiens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Uniquement les utilisateurs finaux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personne ou un service clairement désigné, avec des contrôles à chaque étape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données de collecte (téléphone, formulaires) arrivent chaque jour. Pourquoi automatiser le pipeline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supprimer le besoin de collecter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appliquer chaque fois les mêmes contrôles, sans oubli, et gagner du temps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ne plus jamais vérifier les résultats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changer la langue des données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Une chaîne d’étapes automatisées qui transforme des données brutes en données propres et utilisables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 une chaîne de production : des matières premières entrent, un produit fini sort, avec des contrôles à chaque étape.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Parce qu’un modèle ou un tableau de bord ne peut pas corriger des données fausses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qualité des résultats ne dépassera jamais celle des données : d’où l’importance du nettoyage et des contrôles.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D’un doublon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doublons faussent les comptes : on les repère et on n’en garde qu’une ligne.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Uniformiser l’écriture pour que la machine les compte comme une seule localité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machine voit trois valeurs différentes : on ramène les variantes à une forme unique.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La signaler comme impossible et la faire vérifier à la 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règle de validation détecte l’anomalie ; une personne qui connaît le terrain tranche.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Pour pouvoir expliquer ce qui a été retiré et pourquoi, et corriger à la 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traçabilité permet de comprendre les écarts, de corriger la collecte et de garder la confiance dans les chiffres.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Retirer ou transformer les éléments qui permettent d’identifier une personne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garde ce qui sert à l’analyse (âge, localité) et on retire ou masque ce qui identifie (nom, numéro, adresse précise).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Ne collecter que ce qui est nécessaire, limiter les accès et tracer qui consulte quoi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Minimisation, accès restreint et traçabilité : ce sont des bases de la protection des données.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Une personne ou un service clairement désigné, avec des contrôles à chaque étape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responsable identifié, les erreurs ne sont corrigées par personne.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Pour appliquer chaque fois les mêmes contrôles, sans oubli, et gagner du temps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L’automatisation rend le traitement régulier et reproductible. Les contrôles et les alertes restent indispensables.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Pipeline de données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Chaîne d’étapes automatisées qui transforme des données brutes en données utilisables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Nettoyage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Correction ou retrait des erreurs, doublons et variantes d’écriture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Doublon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Même enregistrement présent plusieurs fois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Vérification automatique qu’une valeur respecte une règle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Anonymisation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Retrait des éléments qui identifient une personne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Pseudonymisation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Remplacement de l’identité par un code réversible avec une clé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Donnée brute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Donnée telle que collectée, avant tout traitement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Traçabilité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Conservation de l’historique de ce qui a été fait aux données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Responsable de la donnée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Personne qui décide des règles de qualité et des corrections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Fin du parcours : vers la pratique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Mettre en œuvre un projet IA complet sur vos données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· Pipelines de données (non-IT)</dc:title>
  <dc:subject>PptxGenJS Presentation</dc:subject>
  <dc:creator>Togo AI Lab</dc:creator>
  <cp:lastModifiedBy>Togo AI Lab</cp:lastModifiedBy>
  <cp:revision>1</cp:revision>
  <dcterms:created xsi:type="dcterms:W3CDTF">2026-10-19T20:43:27Z</dcterms:created>
  <dcterms:modified xsi:type="dcterms:W3CDTF">2026-10-19T20:43:27Z</dcterms:modified>
</cp:coreProperties>
</file>