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0e57a8dd-0d66-d588-f16c-a9968cb10541}">
          <p14:sldIdLst>
            <p14:sldId id="256"/>
            <p14:sldId id="257"/>
          </p14:sldIdLst>
        </p14:section>
        <p14:section name="Ouverture" id="{ca31e03d-0c9e-b8b1-8c9c-bd6941ed1d5f}">
          <p14:sldIdLst/>
        </p14:section>
        <p14:section name="Introduction" id="{9517f5da-3a77-a025-e337-5e507b0177d0}">
          <p14:sldIdLst>
            <p14:sldId id="258"/>
          </p14:sldIdLst>
        </p14:section>
        <p14:section name="Embeddings" id="{7c9d79c9-aaca-5dbb-21ce-e8489c1ea1d7}">
          <p14:sldIdLst>
            <p14:sldId id="259"/>
            <p14:sldId id="260"/>
            <p14:sldId id="261"/>
          </p14:sldIdLst>
        </p14:section>
        <p14:section name="Recherche sémantique" id="{5a0a73d9-9cca-c32d-130b-60affa83b22d}">
          <p14:sldIdLst>
            <p14:sldId id="262"/>
            <p14:sldId id="263"/>
            <p14:sldId id="264"/>
          </p14:sldIdLst>
        </p14:section>
        <p14:section name="Modèles" id="{5d27be83-2bd4-3327-fce5-2c508ce16ede}">
          <p14:sldIdLst>
            <p14:sldId id="265"/>
          </p14:sldIdLst>
        </p14:section>
        <p14:section name="Tokens" id="{6bf93225-be54-49b5-094e-487f1c4e9d91}">
          <p14:sldIdLst>
            <p14:sldId id="266"/>
            <p14:sldId id="267"/>
          </p14:sldIdLst>
        </p14:section>
        <p14:section name="Transformers" id="{80020619-ff1d-00e4-122f-14c720b13b4d}">
          <p14:sldIdLst>
            <p14:sldId id="268"/>
            <p14:sldId id="269"/>
            <p14:sldId id="270"/>
            <p14:sldId id="271"/>
            <p14:sldId id="272"/>
          </p14:sldIdLst>
        </p14:section>
        <p14:section name="Stratégies" id="{1ea92f25-6cc3-0445-145d-f3de9d60cf1b}">
          <p14:sldIdLst>
            <p14:sldId id="273"/>
          </p14:sldIdLst>
        </p14:section>
        <p14:section name="Pièges" id="{7cb671ea-43b6-7118-0caf-eec00a165ea0}">
          <p14:sldIdLst>
            <p14:sldId id="274"/>
          </p14:sldIdLst>
        </p14:section>
        <p14:section name="Évaluation" id="{91100c33-057d-5e37-9020-04af15bd6256}">
          <p14:sldIdLst>
            <p14:sldId id="275"/>
          </p14:sldIdLst>
        </p14:section>
        <p14:section name="Langues locales" id="{e116bb14-1573-e1d1-0713-2d2593104bae}">
          <p14:sldIdLst>
            <p14:sldId id="276"/>
          </p14:sldIdLst>
        </p14:section>
        <p14:section name="Responsabilité" id="{ae19ddcf-0807-f6e7-2eee-84f474524261}">
          <p14:sldIdLst>
            <p14:sldId id="277"/>
          </p14:sldIdLst>
        </p14:section>
        <p14:section name="TP notebook" id="{5e3c0772-5e02-4fe0-abb2-1b7d76e2292b}">
          <p14:sldIdLst>
            <p14:sldId id="278"/>
            <p14:sldId id="279"/>
          </p14:sldIdLst>
        </p14:section>
        <p14:section name="Conclusion" id="{6f1f20ae-738c-f1b8-3859-8d51db7429a9}">
          <p14:sldIdLst>
            <p14:sldId id="280"/>
          </p14:sldIdLst>
        </p14:section>
        <p14:section name="Quiz de sortie" id="{45772b42-be98-d068-d956-d3ff068e54de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Annexes" id="{63887afe-7e52-c1cb-033c-9483bac47249}">
          <p14:sldIdLst>
            <p14:sldId id="288"/>
          </p14:sldIdLst>
        </p14:section>
        <p14:section name="Clôture" id="{aff4dc89-741f-9164-ea9b-6aafabb7dbee}">
          <p14:sldIdLst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IT à l’aise avec Python et scikit-learn. Aucune formule : on s’appuie sur l’intuition et sur le code. Vérifier avant la séance que chacun peut ouvrir Google Colab et que le téléchargement du modèle fonctionne sur le réseau de la salle.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le réseau de la salle est lent, demander aux participants de lancer le téléchargement dès le début de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découpages affichés sont indicatifs : ils dépendent du tokenizer. Faire exécuter le TP pour voir les vrais résultats.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 de formule. Utiliser la phrase « Le médecin a rassuré l’infirmière parce qu’elle était inquiète » pour montrer à qui « elle » prête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Distribuer le lien Colab. Vérifier que le modèle se télécharge pour tous avant de commencer.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7eb70312-33b9-5800-bcbf-7d42fc26875c/scratchpad/ppt/asset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283464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01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Togo AI Lab  ·  Formation IA  ·  Module 2 · Transformers et embeddings  ·  Version 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48840" y="6327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RÉPUBLIQUE TOGOLAISE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148840" y="65562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Ministère de l’Efficacité du Service Public et de la Transformation Numérique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3"/>
                </a:solidFill>
              </a:rPr>
              <a:t>TOGO AI LAB  ·  FORMATION IA  ·  MODULE 2 SUR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Transformers et embeddings : du comptage au sens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Version IT : embeddings, recherche sémantique, TP notebook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Projet #TOGO AI Lab  · 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Au programme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PROGRAMME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Lightbulb" descr="FaLightbul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6888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Concepts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Embeddings, similarité, recherche sémantique, tokens, attention, familles de modèles</a:t>
            </a:r>
            <a:endParaRPr lang="en-US" sz="1450" dirty="0"/>
          </a:p>
        </p:txBody>
      </p:sp>
      <p:sp>
        <p:nvSpPr>
          <p:cNvPr id="10" name="Carte"/>
          <p:cNvSpPr/>
          <p:nvPr/>
        </p:nvSpPr>
        <p:spPr>
          <a:xfrm>
            <a:off x="429768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4526280" y="16459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Code" descr="Fa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870" y="179451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21792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2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2628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TP notebook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Recherche sémantique sur 16 fiches de services publics, sur Google Colab (7 exercices)</a:t>
            </a:r>
            <a:endParaRPr lang="en-US" sz="1450" dirty="0"/>
          </a:p>
        </p:txBody>
      </p:sp>
      <p:sp>
        <p:nvSpPr>
          <p:cNvPr id="16" name="Carte"/>
          <p:cNvSpPr/>
          <p:nvPr/>
        </p:nvSpPr>
        <p:spPr>
          <a:xfrm>
            <a:off x="8046720" y="1417320"/>
            <a:ext cx="359359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827532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lipboardCheck" descr="FaClipboard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910" y="1794510"/>
            <a:ext cx="297180" cy="2971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966960" y="1737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Partie 3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275320" y="2423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Quiz de sortie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88036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10 questions, seuil de réussite de 8 sur 10, corrigé en commun</a:t>
            </a:r>
            <a:endParaRPr lang="en-US" sz="1450" dirty="0"/>
          </a:p>
        </p:txBody>
      </p:sp>
      <p:sp>
        <p:nvSpPr>
          <p:cNvPr id="22" name="Carte"/>
          <p:cNvSpPr/>
          <p:nvPr/>
        </p:nvSpPr>
        <p:spPr>
          <a:xfrm>
            <a:off x="548640" y="4297680"/>
            <a:ext cx="11091672" cy="1783080"/>
          </a:xfrm>
          <a:prstGeom prst="roundRect">
            <a:avLst>
              <a:gd name="adj" fmla="val 410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À la fin du module, vous saurez :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77724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produire des embeddings de phrases et mesurer leur proximité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construire et évaluer une recherche sémantique, avec un seuil « aucune réponse » 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expliquer le rôle des tokens et de l’attention, et choisir une famille de modèle.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Ce que le sac de mots ne sait pas faire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Le module 1 s’est terminé sur ces limites. Ce module présente la réponse moderne : des représentations denses qui portent le sens et le contexte.</a:t>
            </a:r>
            <a:endParaRPr lang="en-US" sz="1700" dirty="0"/>
          </a:p>
        </p:txBody>
      </p:sp>
      <p:sp>
        <p:nvSpPr>
          <p:cNvPr id="5" name="Carte"/>
          <p:cNvSpPr/>
          <p:nvPr/>
        </p:nvSpPr>
        <p:spPr>
          <a:xfrm>
            <a:off x="548640" y="224028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Language" descr="FaLangu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2548890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Synonymes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1071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docteur » et « médecin » : deux colonnes sans lien dans la matrice.</a:t>
            </a:r>
            <a:endParaRPr lang="en-US" sz="1400" dirty="0"/>
          </a:p>
        </p:txBody>
      </p:sp>
      <p:sp>
        <p:nvSpPr>
          <p:cNvPr id="10" name="Carte"/>
          <p:cNvSpPr/>
          <p:nvPr/>
        </p:nvSpPr>
        <p:spPr>
          <a:xfrm>
            <a:off x="3360420" y="224028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354330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FaQuestionCircle" descr="FaQuestion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254889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330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Polysémie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43300" y="341071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avocat » : fruit ou métier. Une seule colonne pour deux sens.</a:t>
            </a:r>
            <a:endParaRPr lang="en-US" sz="1400" dirty="0"/>
          </a:p>
        </p:txBody>
      </p:sp>
      <p:sp>
        <p:nvSpPr>
          <p:cNvPr id="15" name="Carte"/>
          <p:cNvSpPr/>
          <p:nvPr/>
        </p:nvSpPr>
        <p:spPr>
          <a:xfrm>
            <a:off x="6172200" y="224028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6355080" y="2423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ône FaSortAmountDown" descr="FaSortAmountDow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254889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Ordre perdu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341071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le chien mord l’homme » et « l’homme mord le chien » : même sac.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8983980" y="224028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9166860" y="24231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ône FaDatabase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25488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66860" y="304495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Dimension énorme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166860" y="341071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colonne par mot du vocabulaire : des dizaines de milliers de colonnes, presque toutes vides.</a:t>
            </a:r>
            <a:endParaRPr lang="en-US" sz="1400" dirty="0"/>
          </a:p>
        </p:txBody>
      </p:sp>
      <p:sp>
        <p:nvSpPr>
          <p:cNvPr id="25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idée centrale : remplacer « un mot = une colonne » par « un texte = une position dans un espace de sens ».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Sac de mots ou embeddings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graphicFrame>
        <p:nvGraphicFramePr>
          <p:cNvPr id="5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325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Critère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Sac de mots / TF-IDF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Embeddings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Forme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Matrice creuse, une colonne par mot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Vecteur dense de quelques centaines de nombres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Sens et contexte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Aucun : « docteur » ≠ « médecin », contexte ignoré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Textes de sens proche = vecteurs proches ; contexte pris en compte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Fautes et reformulations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Fragile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Plus robuste, selon le modèle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Interprétabilité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Forte : on lit les mots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Faible : les dimensions n’ont pas de nom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Coût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Très faible, tourne partout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Modèle à télécharger, calcul plus lourd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Où l’utiliser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 de référence, textes très techniques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Recherche, regroupement, classification avec peu d’exemples</a:t>
                      </a:r>
                      <a:endParaRPr lang="en-US" sz="14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gardez TF-IDF comme référence : si les embeddings ne le battent pas sur vos données, ne payez pas leur coût.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Encoder des phrases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Avec la bibliothèque sentence-transformers, trois lignes suffisent.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57400"/>
            <a:ext cx="6400800" cy="3977640"/>
          </a:xfrm>
          <a:prstGeom prst="roundRect">
            <a:avLst>
              <a:gd name="adj" fmla="val 183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sentence_transformers import SentenceTransformer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 = SentenceTransformer(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"sentence-transformers/"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"paraphrase-multilingual-MiniLM-L12-v2")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phrases = ["Où faire vacciner mon bébé ?",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"Calendrier des vaccins du nourrisson",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"Comment renouveler mon passeport ?"]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vecteurs = modele.encode(phrases,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normalize_embeddings=True)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vecteurs.shape        # (3, 384)</a:t>
            </a:r>
            <a:endParaRPr lang="en-US" sz="1250" dirty="0"/>
          </a:p>
        </p:txBody>
      </p:sp>
      <p:sp>
        <p:nvSpPr>
          <p:cNvPr id="7" name="Carte"/>
          <p:cNvSpPr/>
          <p:nvPr/>
        </p:nvSpPr>
        <p:spPr>
          <a:xfrm>
            <a:off x="7178040" y="2057400"/>
            <a:ext cx="4462272" cy="3977640"/>
          </a:xfrm>
          <a:prstGeom prst="roundRect">
            <a:avLst>
              <a:gd name="adj" fmla="val 18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21945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qu’il faut retenir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743200"/>
            <a:ext cx="40050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modèle est </a:t>
            </a:r>
            <a:r>
              <a:rPr lang="en-US" sz="1400" b="1" dirty="0">
                <a:solidFill>
                  <a:schemeClr val="tx1"/>
                </a:solidFill>
              </a:rPr>
              <a:t>multilingue</a:t>
            </a:r>
            <a:r>
              <a:rPr lang="en-US" sz="1400" dirty="0">
                <a:solidFill>
                  <a:schemeClr val="tx1"/>
                </a:solidFill>
              </a:rPr>
              <a:t> : même vecteur-espace pour le français et d’autres langues.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normalize_embeddings=True</a:t>
            </a:r>
            <a:r>
              <a:rPr lang="en-US" sz="1400" dirty="0">
                <a:solidFill>
                  <a:schemeClr val="tx1"/>
                </a:solidFill>
              </a:rPr>
              <a:t> : vecteurs de longueur 1, ce qui simplifie la comparaison.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Chaque phrase devient </a:t>
            </a:r>
            <a:r>
              <a:rPr lang="en-US" sz="1400" b="1" dirty="0">
                <a:solidFill>
                  <a:schemeClr val="tx1"/>
                </a:solidFill>
              </a:rPr>
              <a:t>384 nombres</a:t>
            </a:r>
            <a:r>
              <a:rPr lang="en-US" sz="1400" dirty="0">
                <a:solidFill>
                  <a:schemeClr val="tx1"/>
                </a:solidFill>
              </a:rPr>
              <a:t> pour ce modèle (la taille dépend du modèle).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premier chargement télécharge le modèle : prévoir le réseau.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Mesurer la proximité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365760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= vecteurs @ vecteurs.T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pd.DataFrame(sim.round(2),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index=phrases)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              P1    P2    P3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Où faire vacciner...    1.00  ~0.7  ~0.1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Calendrier des vaccins  ~0.7  1.00  ~0.1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Comment renouveler...   ~0.1  ~0.1  1.00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Avec des vecteurs normalisés, le </a:t>
            </a:r>
            <a:r>
              <a:rPr lang="en-US" sz="1400" b="1" dirty="0">
                <a:solidFill>
                  <a:schemeClr val="tx1"/>
                </a:solidFill>
              </a:rPr>
              <a:t>produit scalaire</a:t>
            </a:r>
            <a:r>
              <a:rPr lang="en-US" sz="1400" dirty="0">
                <a:solidFill>
                  <a:schemeClr val="tx1"/>
                </a:solidFill>
              </a:rPr>
              <a:t> donne la similarité cosinus.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Proche de </a:t>
            </a:r>
            <a:r>
              <a:rPr lang="en-US" sz="1400" b="1" dirty="0">
                <a:solidFill>
                  <a:schemeClr val="tx1"/>
                </a:solidFill>
              </a:rPr>
              <a:t>1</a:t>
            </a:r>
            <a:r>
              <a:rPr lang="en-US" sz="1400" dirty="0">
                <a:solidFill>
                  <a:schemeClr val="tx1"/>
                </a:solidFill>
              </a:rPr>
              <a:t> : sens voisins. Proche de </a:t>
            </a:r>
            <a:r>
              <a:rPr lang="en-US" sz="1400" b="1" dirty="0">
                <a:solidFill>
                  <a:schemeClr val="tx1"/>
                </a:solidFill>
              </a:rPr>
              <a:t>0</a:t>
            </a:r>
            <a:r>
              <a:rPr lang="en-US" sz="1400" dirty="0">
                <a:solidFill>
                  <a:schemeClr val="tx1"/>
                </a:solidFill>
              </a:rPr>
              <a:t> : aucun lien.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deux phrases sur la vaccination se rapprochent </a:t>
            </a:r>
            <a:r>
              <a:rPr lang="en-US" sz="1400" b="1" dirty="0">
                <a:solidFill>
                  <a:schemeClr val="tx1"/>
                </a:solidFill>
              </a:rPr>
              <a:t>sans partager de mot clé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valeurs exactes dépendent du modèle : il faut </a:t>
            </a:r>
            <a:r>
              <a:rPr lang="en-US" sz="1400" b="1" dirty="0">
                <a:solidFill>
                  <a:schemeClr val="tx1"/>
                </a:solidFill>
              </a:rPr>
              <a:t>calibrer</a:t>
            </a:r>
            <a:r>
              <a:rPr lang="en-US" sz="1400" dirty="0">
                <a:solidFill>
                  <a:schemeClr val="tx1"/>
                </a:solidFill>
              </a:rPr>
              <a:t> sur vos données.</a:t>
            </a:r>
            <a:endParaRPr lang="en-US" sz="1400" dirty="0"/>
          </a:p>
        </p:txBody>
      </p:sp>
      <p:sp>
        <p:nvSpPr>
          <p:cNvPr id="9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score n’a pas de sens absolu : comparez toujours des scores d’un même modèle.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Anatomie d’une recherche sémantique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Hors ligne, on prépare. En ligne, on répond. Le coût principal (encoder les documents) se paie une seule fois.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25547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FileAlt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6060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Documents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Fiches, pages, comptes rendus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510942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830982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37814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Cut" descr="FaC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6060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2422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Découpage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940710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Passages de taille raisonnable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793285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5113325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5820156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ône FaCogs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6060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4765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Encodage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223053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 vecteur par passage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7075627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7395667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8102498" y="24688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Database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0604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87107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Index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505395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Stockage et recherche rapide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9357970" y="33832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9678010" y="2286000"/>
            <a:ext cx="1962302" cy="274320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10384841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Search" descr="FaSearc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260604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9450" y="315468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Requête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787738" y="3611880"/>
            <a:ext cx="174284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Encoder la question, garder les k plus proches</a:t>
            </a:r>
            <a:endParaRPr lang="en-US" sz="1250" dirty="0"/>
          </a:p>
        </p:txBody>
      </p:sp>
      <p:sp>
        <p:nvSpPr>
          <p:cNvPr id="34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pour quelques milliers de passages, un tableau numpy suffit. Au-delà : FAISS, Chroma, pgvector ou un moteur de recherche vectoriel.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Chercher les fiches proches d’une question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emb_fiches = modele.encode(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fiches["document"].tolist(),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normalize_embeddings=True)   # une seule fois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chercher(question, k=3):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modele.encode([question],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normalize_embeddings=True)[0]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emb_fiches @ v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ordre = np.argsort(scores)[::-1][:k]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[(int(i), float(scores[i])) for i in ordre]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chercher("Mon fils a besoin d'un papier pour voyager.")</a:t>
            </a:r>
            <a:endParaRPr lang="en-US" sz="120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qui se passe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</a:t>
            </a:r>
            <a:r>
              <a:rPr lang="en-US" sz="1400" b="1" dirty="0">
                <a:solidFill>
                  <a:schemeClr val="tx1"/>
                </a:solidFill>
              </a:rPr>
              <a:t>documents</a:t>
            </a:r>
            <a:r>
              <a:rPr lang="en-US" sz="1400" dirty="0">
                <a:solidFill>
                  <a:schemeClr val="tx1"/>
                </a:solidFill>
              </a:rPr>
              <a:t> sont encodés une fois et conservés.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Seule la </a:t>
            </a:r>
            <a:r>
              <a:rPr lang="en-US" sz="1400" b="1" dirty="0">
                <a:solidFill>
                  <a:schemeClr val="tx1"/>
                </a:solidFill>
              </a:rPr>
              <a:t>question</a:t>
            </a:r>
            <a:r>
              <a:rPr lang="en-US" sz="1400" dirty="0">
                <a:solidFill>
                  <a:schemeClr val="tx1"/>
                </a:solidFill>
              </a:rPr>
              <a:t> est encodée à chaque requête.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argsort</a:t>
            </a:r>
            <a:r>
              <a:rPr lang="en-US" sz="1400" dirty="0">
                <a:solidFill>
                  <a:schemeClr val="tx1"/>
                </a:solidFill>
              </a:rPr>
              <a:t> classe du plus proche au plus éloigné.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question et la fiche </a:t>
            </a:r>
            <a:r>
              <a:rPr lang="en-US" sz="1400" b="1" dirty="0">
                <a:solidFill>
                  <a:schemeClr val="tx1"/>
                </a:solidFill>
              </a:rPr>
              <a:t>ne partagent aucun mot</a:t>
            </a:r>
            <a:r>
              <a:rPr lang="en-US" sz="1400" dirty="0">
                <a:solidFill>
                  <a:schemeClr val="tx1"/>
                </a:solidFill>
              </a:rPr>
              <a:t> : le sens les rapproche.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Répondre « je ne sais pas » grâce à un seuil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365760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SEUIL = 0.35   # à calibrer sur vos données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repondre(question):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i, score = chercher(question, k=1)[0]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score &lt; SEUIL: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"Aucune fiche ne convient : " \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"orientation vers un agent."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f"Fiche : {fiches['titre'][i]} ({score:.2f})"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repondre("Comment obtenir un prêt pour une voiture ?")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Bonnes pratiques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Une recherche renvoie </a:t>
            </a:r>
            <a:r>
              <a:rPr lang="en-US" sz="1400" b="1" dirty="0">
                <a:solidFill>
                  <a:schemeClr val="tx1"/>
                </a:solidFill>
              </a:rPr>
              <a:t>toujours</a:t>
            </a:r>
            <a:r>
              <a:rPr lang="en-US" sz="1400" dirty="0">
                <a:solidFill>
                  <a:schemeClr val="tx1"/>
                </a:solidFill>
              </a:rPr>
              <a:t> un meilleur résultat, même hors sujet.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</a:t>
            </a:r>
            <a:r>
              <a:rPr lang="en-US" sz="1400" b="1" dirty="0">
                <a:solidFill>
                  <a:schemeClr val="tx1"/>
                </a:solidFill>
              </a:rPr>
              <a:t>seuil</a:t>
            </a:r>
            <a:r>
              <a:rPr lang="en-US" sz="1400" dirty="0">
                <a:solidFill>
                  <a:schemeClr val="tx1"/>
                </a:solidFill>
              </a:rPr>
              <a:t> transforme un score en décision.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Trop haut : on refuse de bonnes questions. Trop bas : on renvoie n’importe quoi.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le règle sur des </a:t>
            </a:r>
            <a:r>
              <a:rPr lang="en-US" sz="1400" b="1" dirty="0">
                <a:solidFill>
                  <a:schemeClr val="tx1"/>
                </a:solidFill>
              </a:rPr>
              <a:t>exemples réels</a:t>
            </a:r>
            <a:r>
              <a:rPr lang="en-US" sz="1400" dirty="0">
                <a:solidFill>
                  <a:schemeClr val="tx1"/>
                </a:solidFill>
              </a:rPr>
              <a:t>, dont des questions sans réponse.</a:t>
            </a:r>
            <a:endParaRPr lang="en-US" sz="1400" dirty="0"/>
          </a:p>
        </p:txBody>
      </p:sp>
      <p:sp>
        <p:nvSpPr>
          <p:cNvPr id="9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prévoyez toujours une porte de sortie vers un humain : c’est le principe du module 5 (RAG).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Choisir un modèle d’embeddings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graphicFrame>
        <p:nvGraphicFramePr>
          <p:cNvPr id="11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  <a:gridCol w="2286000"/>
                <a:gridCol w="35021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Modèle (exemples)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Langues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Taille / vecteur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À savoir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paraphrase-multilingual-MiniLM-L12-v2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Une cinquantaine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Léger, 384 dimensions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Bon point de départ, rapide sur CPU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multilingual-e5 (small, base, large)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Environ 100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384 à 1 024 dimensions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Préfixes « query: » et « passage: » obligatoires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LaBSE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Plus de 100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768 dimensions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Conçu pour aligner des traductions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BGE-M3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Plus de 100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1 024 dimensions, textes longs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Plus lourd, très complet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Modèle fine-tuné maison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Votre langue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Au choix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Meilleur résultat, nécessite des données (module 3)</a:t>
                      </a:r>
                      <a:endParaRPr lang="en-US" sz="130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ordres de grandeur, à vérifier sur la fiche du modèle. Critères : langue, taille et latence, longueur maximale, licence, qualité sur vos données.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Les tokens : des sous-mots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AutoTokenizer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= AutoTokenizer.from_pretrained("xlm-roberta-base")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résultats indicatifs : ils dépendent du tokenizer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tok.tokenize("Où vacciner mon bébé ?")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['▁Où', '▁vac', 'cin', 'er', '▁mon', '▁bébé', '▁?']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tok.tokenize("ou vacsiner mon bebe")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plus de morceaux : la faute éclate les mots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tok.tokenize("anticonstitutionnellement")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 mot rare est découpé en morceaux connus</a:t>
            </a:r>
            <a:endParaRPr lang="en-US" sz="120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Pourquoi c’est important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Transformer lit des </a:t>
            </a:r>
            <a:r>
              <a:rPr lang="en-US" sz="1400" b="1" dirty="0">
                <a:solidFill>
                  <a:schemeClr val="tx1"/>
                </a:solidFill>
              </a:rPr>
              <a:t>sous-mots</a:t>
            </a:r>
            <a:r>
              <a:rPr lang="en-US" sz="1400" dirty="0">
                <a:solidFill>
                  <a:schemeClr val="tx1"/>
                </a:solidFill>
              </a:rPr>
              <a:t>, jamais un mot inconnu entier.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</a:t>
            </a:r>
            <a:r>
              <a:rPr lang="en-US" sz="1400" b="1" dirty="0">
                <a:solidFill>
                  <a:schemeClr val="tx1"/>
                </a:solidFill>
              </a:rPr>
              <a:t>fautes</a:t>
            </a:r>
            <a:r>
              <a:rPr lang="en-US" sz="1400" dirty="0">
                <a:solidFill>
                  <a:schemeClr val="tx1"/>
                </a:solidFill>
              </a:rPr>
              <a:t> et les mots rares produisent </a:t>
            </a:r>
            <a:r>
              <a:rPr lang="en-US" sz="1400" b="1" dirty="0">
                <a:solidFill>
                  <a:schemeClr val="tx1"/>
                </a:solidFill>
              </a:rPr>
              <a:t>plus</a:t>
            </a:r>
            <a:r>
              <a:rPr lang="en-US" sz="1400" dirty="0">
                <a:solidFill>
                  <a:schemeClr val="tx1"/>
                </a:solidFill>
              </a:rPr>
              <a:t> de tokens.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langues peu représentées sont souvent </a:t>
            </a:r>
            <a:r>
              <a:rPr lang="en-US" sz="1400" b="1" dirty="0">
                <a:solidFill>
                  <a:schemeClr val="tx1"/>
                </a:solidFill>
              </a:rPr>
              <a:t>sur-fragmentées</a:t>
            </a:r>
            <a:r>
              <a:rPr lang="en-US" sz="1400" dirty="0">
                <a:solidFill>
                  <a:schemeClr val="tx1"/>
                </a:solidFill>
              </a:rPr>
              <a:t> : plus de coût, moins de sens par token.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limites de contexte se comptent en </a:t>
            </a:r>
            <a:r>
              <a:rPr lang="en-US" sz="1400" b="1" dirty="0">
                <a:solidFill>
                  <a:schemeClr val="tx1"/>
                </a:solidFill>
              </a:rPr>
              <a:t>tokens</a:t>
            </a:r>
            <a:r>
              <a:rPr lang="en-US" sz="1400" dirty="0">
                <a:solidFill>
                  <a:schemeClr val="tx1"/>
                </a:solidFill>
              </a:rPr>
              <a:t>, pas en mots.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Tokens, langues et coûts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GlobeAfrica" descr="FaGlobeAfr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Langues locales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lettres spéciales (ɖ, ɛ, ɔ, ŋ) sont souvent découpées en nombreux morceaux.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Bug" descr="FaB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Fautes et bruit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Chaque erreur de saisie fragmente le mot : la robustesse diminue.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lock" descr="Fa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Longueur maximale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512 tokens pour beaucoup d’encodeurs : au-delà, le texte est tronqué en silence.</a:t>
            </a:r>
            <a:endParaRPr lang="en-US" sz="140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292608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Database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Coût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temps de calcul et le prix des API se comptent en tokens.</a:t>
            </a:r>
            <a:endParaRPr lang="en-US" sz="140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avant d’indexer un corpus, mesurez la longueur en tokens de vos documents et découpez-les en passages.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cœur d’un Transformer : l’attention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54480"/>
            <a:ext cx="11091672" cy="2194560"/>
          </a:xfrm>
          <a:prstGeom prst="roundRect">
            <a:avLst>
              <a:gd name="adj" fmla="val 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5544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Chaque token pèse l’importance de tous les autres tokens de la phrase.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Résultat : une représentation </a:t>
            </a:r>
            <a:r>
              <a:rPr lang="en-US" sz="1600" b="1" dirty="0">
                <a:solidFill>
                  <a:schemeClr val="tx1"/>
                </a:solidFill>
              </a:rPr>
              <a:t>contextuelle</a:t>
            </a:r>
            <a:r>
              <a:rPr lang="en-US" sz="1600" dirty="0">
                <a:solidFill>
                  <a:schemeClr val="tx1"/>
                </a:solidFill>
              </a:rPr>
              <a:t>. « avocat » n’a pas le même vecteur dans « plaider » et dans « salade ».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 calcul se fait </a:t>
            </a:r>
            <a:r>
              <a:rPr lang="en-US" sz="1600" b="1" dirty="0">
                <a:solidFill>
                  <a:schemeClr val="tx1"/>
                </a:solidFill>
              </a:rPr>
              <a:t>en parallèle</a:t>
            </a:r>
            <a:r>
              <a:rPr lang="en-US" sz="1600" dirty="0">
                <a:solidFill>
                  <a:schemeClr val="tx1"/>
                </a:solidFill>
              </a:rPr>
              <a:t> sur toute la phrase (contrairement aux réseaux récurrents), d’où l’efficacité à grande échelle.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L’attention est répétée dans plusieurs </a:t>
            </a:r>
            <a:r>
              <a:rPr lang="en-US" sz="1600" b="1" dirty="0">
                <a:solidFill>
                  <a:schemeClr val="tx1"/>
                </a:solidFill>
              </a:rPr>
              <a:t>couches</a:t>
            </a:r>
            <a:r>
              <a:rPr lang="en-US" sz="1600" dirty="0">
                <a:solidFill>
                  <a:schemeClr val="tx1"/>
                </a:solidFill>
              </a:rPr>
              <a:t>, avec plusieurs « têtes » qui regardent des relations différentes.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Anatomie simplifiée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 même bloc est empilé plusieurs fois (de 6 à plus d’une centaine de couches selon la taille du modèle).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377440"/>
            <a:ext cx="1962302" cy="265176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1255471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ône FaCut" descr="FaC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2631" y="2697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24612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Tokens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703320"/>
            <a:ext cx="17428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Découpage en sous-mots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2510942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Carte"/>
          <p:cNvSpPr/>
          <p:nvPr/>
        </p:nvSpPr>
        <p:spPr>
          <a:xfrm>
            <a:off x="2830982" y="2377440"/>
            <a:ext cx="1962302" cy="265176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"/>
          <p:cNvSpPr/>
          <p:nvPr/>
        </p:nvSpPr>
        <p:spPr>
          <a:xfrm>
            <a:off x="3537814" y="2560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ône FaDatabase" descr="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974" y="26974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22422" y="324612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Embeddings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940710" y="3703320"/>
            <a:ext cx="17428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Un vecteur par token, plus sa position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793285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17" name="Carte"/>
          <p:cNvSpPr/>
          <p:nvPr/>
        </p:nvSpPr>
        <p:spPr>
          <a:xfrm>
            <a:off x="5113325" y="2377440"/>
            <a:ext cx="1962302" cy="2651760"/>
          </a:xfrm>
          <a:prstGeom prst="roundRect">
            <a:avLst>
              <a:gd name="adj" fmla="val 37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astille"/>
          <p:cNvSpPr/>
          <p:nvPr/>
        </p:nvSpPr>
        <p:spPr>
          <a:xfrm>
            <a:off x="5820156" y="2560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cône FaEye" descr="Fa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316" y="26974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04765" y="324612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Attention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223053" y="3703320"/>
            <a:ext cx="17428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Les tokens se pondèrent entre eux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7075627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3" name="Carte"/>
          <p:cNvSpPr/>
          <p:nvPr/>
        </p:nvSpPr>
        <p:spPr>
          <a:xfrm>
            <a:off x="7395667" y="2377440"/>
            <a:ext cx="1962302" cy="265176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"/>
          <p:cNvSpPr/>
          <p:nvPr/>
        </p:nvSpPr>
        <p:spPr>
          <a:xfrm>
            <a:off x="8102498" y="2560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FaCogs" descr="Fa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658" y="26974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87107" y="324612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Réseau dense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505395" y="3703320"/>
            <a:ext cx="17428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Transformation de chaque token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9357970" y="34290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›</a:t>
            </a:r>
            <a:endParaRPr lang="en-US" sz="2800" dirty="0"/>
          </a:p>
        </p:txBody>
      </p:sp>
      <p:sp>
        <p:nvSpPr>
          <p:cNvPr id="29" name="Carte"/>
          <p:cNvSpPr/>
          <p:nvPr/>
        </p:nvSpPr>
        <p:spPr>
          <a:xfrm>
            <a:off x="9678010" y="2377440"/>
            <a:ext cx="1962302" cy="2651760"/>
          </a:xfrm>
          <a:prstGeom prst="roundRect">
            <a:avLst>
              <a:gd name="adj" fmla="val 37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10384841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2001" y="269748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769450" y="3246120"/>
            <a:ext cx="17794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Sortie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9787738" y="3703320"/>
            <a:ext cx="174284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Classer, encoder, générer</a:t>
            </a:r>
            <a:endParaRPr lang="en-US" sz="1250" dirty="0"/>
          </a:p>
        </p:txBody>
      </p:sp>
      <p:sp>
        <p:nvSpPr>
          <p:cNvPr id="34" name="À retenir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10000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Image 5" descr="À reteni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57784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371600" y="5394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les blocs « attention + réseau dense » sont répétés N fois : plus N est grand, plus le modèle est capable (et coûteux).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Trois familles de modèles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ook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Encodeurs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Lisent et représentent. Classification, recherche, extraction. BERT, CamemBERT, XLM-R, AfroXLMR.</a:t>
            </a:r>
            <a:endParaRPr lang="en-US" sz="140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ommentDots" descr="FaCommentD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Décodeurs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Génèrent la suite d’un texte, token après token. GPT, Llama, Mistral, Qwen : les assistants.</a:t>
            </a:r>
            <a:endParaRPr lang="en-US" sz="140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Language" descr="FaLang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Encodeur-décodeur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Lisent puis écrivent. Traduction, résumé. T5, mT5, BART, NLLB.</a:t>
            </a:r>
            <a:endParaRPr lang="en-US" sz="1400" dirty="0"/>
          </a:p>
        </p:txBody>
      </p:sp>
      <p:sp>
        <p:nvSpPr>
          <p:cNvPr id="19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À reteni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pour classer ou chercher, un encodeur léger suffit souvent. Les décodeurs sont puissants mais plus lourds et sujets aux hallucinations.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Classer sans exemples : la classification zero-shot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365760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transformers import pipeline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pipeline(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"zero-shot-classification",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model="MoritzLaurer/mDeBERTa-v3-base-"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"xnli-multilingual-nli-2mil7")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clf("Mon enfant a de la fièvre depuis deux jours.",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candidate_labels=["santé", "état civil",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"éducation"],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hypothesis_template="Ce message concerne {}.")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365760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Quand l’utiliser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Aucun exemple étiqueté : le modèle compare le texte à chaque </a:t>
            </a:r>
            <a:r>
              <a:rPr lang="en-US" sz="1400" b="1" dirty="0">
                <a:solidFill>
                  <a:schemeClr val="tx1"/>
                </a:solidFill>
              </a:rPr>
              <a:t>libellé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Pratique pour </a:t>
            </a:r>
            <a:r>
              <a:rPr lang="en-US" sz="1400" b="1" dirty="0">
                <a:solidFill>
                  <a:schemeClr val="tx1"/>
                </a:solidFill>
              </a:rPr>
              <a:t>démarrer</a:t>
            </a:r>
            <a:r>
              <a:rPr lang="en-US" sz="1400" dirty="0">
                <a:solidFill>
                  <a:schemeClr val="tx1"/>
                </a:solidFill>
              </a:rPr>
              <a:t> ou explorer des données.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Moins précis qu’un modèle entraîné sur vos exemples, et plus lent.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 choix des libellés et de la </a:t>
            </a:r>
            <a:r>
              <a:rPr lang="en-US" sz="1400" b="1" dirty="0">
                <a:solidFill>
                  <a:schemeClr val="tx1"/>
                </a:solidFill>
              </a:rPr>
              <a:t>phrase modèle</a:t>
            </a:r>
            <a:r>
              <a:rPr lang="en-US" sz="1400" dirty="0">
                <a:solidFill>
                  <a:schemeClr val="tx1"/>
                </a:solidFill>
              </a:rPr>
              <a:t> change les résultats.</a:t>
            </a:r>
            <a:endParaRPr lang="en-US" sz="1400" dirty="0"/>
          </a:p>
        </p:txBody>
      </p:sp>
      <p:sp>
        <p:nvSpPr>
          <p:cNvPr id="9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zero-shot = point de départ. Dès que vous avez quelques centaines d’exemples, comparez-le à un modèle entraîné.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Embeddings + classifieur léger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6400800" cy="4572000"/>
          </a:xfrm>
          <a:prstGeom prst="roundRect">
            <a:avLst>
              <a:gd name="adj" fmla="val 16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59436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LogisticRegression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modele.encode(df["message"].tolist(),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normalize_embeddings=True)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 X_te, y_tr, y_te = train_test_split(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df["categorie"], test_size=0.25,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stratify=df["categorie"], random_state=42)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LogisticRegression(max_iter=1000).fit(X_tr, y_tr)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F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clf.score(X_te, y_te)</a:t>
            </a:r>
            <a:endParaRPr lang="en-US" sz="1250" dirty="0"/>
          </a:p>
        </p:txBody>
      </p:sp>
      <p:sp>
        <p:nvSpPr>
          <p:cNvPr id="6" name="Carte"/>
          <p:cNvSpPr/>
          <p:nvPr/>
        </p:nvSpPr>
        <p:spPr>
          <a:xfrm>
            <a:off x="7178040" y="1463040"/>
            <a:ext cx="4462272" cy="4572000"/>
          </a:xfrm>
          <a:prstGeom prst="roundRect">
            <a:avLst>
              <a:gd name="adj" fmla="val 16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60020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Pourquoi ça marche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148840"/>
            <a:ext cx="4005072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</a:t>
            </a:r>
            <a:r>
              <a:rPr lang="en-US" sz="1400" b="1" dirty="0">
                <a:solidFill>
                  <a:schemeClr val="tx1"/>
                </a:solidFill>
              </a:rPr>
              <a:t>réutilise</a:t>
            </a:r>
            <a:r>
              <a:rPr lang="en-US" sz="1400" dirty="0">
                <a:solidFill>
                  <a:schemeClr val="tx1"/>
                </a:solidFill>
              </a:rPr>
              <a:t> le pipeline du module 1 : seul le vectoriseur change.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embeddings servent de </a:t>
            </a:r>
            <a:r>
              <a:rPr lang="en-US" sz="1400" b="1" dirty="0">
                <a:solidFill>
                  <a:schemeClr val="tx1"/>
                </a:solidFill>
              </a:rPr>
              <a:t>caractéristiques</a:t>
            </a:r>
            <a:r>
              <a:rPr lang="en-US" sz="1400" dirty="0">
                <a:solidFill>
                  <a:schemeClr val="tx1"/>
                </a:solidFill>
              </a:rPr>
              <a:t> pour un modèle simple.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Souvent très efficace avec </a:t>
            </a:r>
            <a:r>
              <a:rPr lang="en-US" sz="1400" b="1" dirty="0">
                <a:solidFill>
                  <a:schemeClr val="tx1"/>
                </a:solidFill>
              </a:rPr>
              <a:t>peu d’exemples</a:t>
            </a:r>
            <a:r>
              <a:rPr lang="en-US" sz="1400" dirty="0">
                <a:solidFill>
                  <a:schemeClr val="tx1"/>
                </a:solidFill>
              </a:rPr>
              <a:t> (quelques dizaines par classe).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Comparez avec TF-IDF sur </a:t>
            </a:r>
            <a:r>
              <a:rPr lang="en-US" sz="1400" b="1" dirty="0">
                <a:solidFill>
                  <a:schemeClr val="tx1"/>
                </a:solidFill>
              </a:rPr>
              <a:t>le même découpage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Quelle approche choisir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graphicFrame>
        <p:nvGraphicFramePr>
          <p:cNvPr id="19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1920240"/>
                <a:gridCol w="4050792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Approche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Exemples étiquetés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Coût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Quand la choisir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TF-IDF + régression logistique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Dizaines à centaines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Très faible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Base de référence, textes très spécialisés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Embeddings + classifieur léger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Dizaines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Faible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Peu de données, reformulations nombreuses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Zero-shot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Aucun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Moyen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Démarrage, exploration, nouveaux libellés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Fine-tuning d’un encodeur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Centaines à milliers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Moyen à élevé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Meilleure précision (module 3)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LLM avec consignes ou RAG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Aucun à quelques-uns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Élevé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Questions ouvertes, textes longs (module 5)</a:t>
                      </a:r>
                      <a:endParaRPr lang="en-US" sz="1350" dirty="0"/>
                    </a:p>
                  </a:txBody>
                  <a:tcPr marL="109728" marR="109728" marT="64008" marB="6400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À retenir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142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2356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5486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commencez simple, mesurez, et ne montez en complexité que si l’écart de performance le justifie.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Pièges fréquents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Bug" descr="Fa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Préfixes oubliés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Les modèles e5 attendent « query: » et « passage: » : sans eux, la qualité baisse.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429768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4805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Database" descr="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29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Normalisation oubliée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Sans vecteurs normalisés, le produit scalaire ne mesure plus la proximité.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8046720" y="1463040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Clock" descr="FaC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33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29600" y="2267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Troncature silencieuse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33472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long document est coupé à la longueur maximale sans avertissement.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54864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3152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Language" descr="FaLangu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203954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Modèles mélangés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Documents et requêtes doivent être encodés par le même modèle (et la même version).</a:t>
            </a:r>
            <a:endParaRPr lang="en-US" sz="1350" dirty="0"/>
          </a:p>
        </p:txBody>
      </p:sp>
      <p:sp>
        <p:nvSpPr>
          <p:cNvPr id="24" name="Carte"/>
          <p:cNvSpPr/>
          <p:nvPr/>
        </p:nvSpPr>
        <p:spPr>
          <a:xfrm>
            <a:off x="429768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480560" y="407822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BalanceScale" descr="FaBalance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6290" y="4203954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8056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Scores comparés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48056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score de 0,6 n’a pas la même signification pour deux modèles différents.</a:t>
            </a:r>
            <a:endParaRPr lang="en-US" sz="1350" dirty="0"/>
          </a:p>
        </p:txBody>
      </p:sp>
      <p:sp>
        <p:nvSpPr>
          <p:cNvPr id="29" name="Carte"/>
          <p:cNvSpPr/>
          <p:nvPr/>
        </p:nvSpPr>
        <p:spPr>
          <a:xfrm>
            <a:off x="8046720" y="3895344"/>
            <a:ext cx="3593592" cy="2276856"/>
          </a:xfrm>
          <a:prstGeom prst="roundRect">
            <a:avLst>
              <a:gd name="adj" fmla="val 321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29600" y="4078224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GlobeAfrica" descr="FaGlobeAfri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5330" y="4203954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29600" y="470001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Langue non couverte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5065776"/>
            <a:ext cx="32278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« Multilingue » ne veut pas dire « toutes les langues » : testez la vôtre.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Évaluer une recherche sémantique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ChartBar" descr="FaChart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Ce qu’on mesure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Top-1</a:t>
            </a:r>
            <a:r>
              <a:rPr lang="en-US" sz="1450" dirty="0">
                <a:solidFill>
                  <a:schemeClr val="tx1"/>
                </a:solidFill>
              </a:rPr>
              <a:t> : la bonne fiche est-elle en première position 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Rappel@k</a:t>
            </a:r>
            <a:r>
              <a:rPr lang="en-US" sz="1450" dirty="0">
                <a:solidFill>
                  <a:schemeClr val="tx1"/>
                </a:solidFill>
              </a:rPr>
              <a:t> : la bonne fiche est-elle parmi les k premières 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Cas sans réponse</a:t>
            </a:r>
            <a:r>
              <a:rPr lang="en-US" sz="1450" dirty="0">
                <a:solidFill>
                  <a:schemeClr val="tx1"/>
                </a:solidFill>
              </a:rPr>
              <a:t> : le système refuse-t-il bien 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Mesurer </a:t>
            </a:r>
            <a:r>
              <a:rPr lang="en-US" sz="1450" b="1" dirty="0">
                <a:solidFill>
                  <a:schemeClr val="tx1"/>
                </a:solidFill>
              </a:rPr>
              <a:t>par langue</a:t>
            </a:r>
            <a:r>
              <a:rPr lang="en-US" sz="1450" dirty="0">
                <a:solidFill>
                  <a:schemeClr val="tx1"/>
                </a:solidFill>
              </a:rPr>
              <a:t> et par type de texte (propre, abîmé).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6245352" y="1463040"/>
            <a:ext cx="5394960" cy="3703320"/>
          </a:xfrm>
          <a:prstGeom prst="roundRect">
            <a:avLst>
              <a:gd name="adj" fmla="val 1975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6473952" y="16459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ClipboardCheck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05472" y="1645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Comment le faire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377440"/>
            <a:ext cx="4846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Construire un </a:t>
            </a:r>
            <a:r>
              <a:rPr lang="en-US" sz="1450" b="1" dirty="0">
                <a:solidFill>
                  <a:schemeClr val="tx1"/>
                </a:solidFill>
              </a:rPr>
              <a:t>jeu de questions étiquetées</a:t>
            </a:r>
            <a:r>
              <a:rPr lang="en-US" sz="1450" dirty="0">
                <a:solidFill>
                  <a:schemeClr val="tx1"/>
                </a:solidFill>
              </a:rPr>
              <a:t> avec les agents qui répondent aux usagers.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Inclure des questions </a:t>
            </a:r>
            <a:r>
              <a:rPr lang="en-US" sz="1450" b="1" dirty="0">
                <a:solidFill>
                  <a:schemeClr val="tx1"/>
                </a:solidFill>
              </a:rPr>
              <a:t>reformulées</a:t>
            </a:r>
            <a:r>
              <a:rPr lang="en-US" sz="1450" dirty="0">
                <a:solidFill>
                  <a:schemeClr val="tx1"/>
                </a:solidFill>
              </a:rPr>
              <a:t>, avec fautes, en langues locales.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Garder le jeu </a:t>
            </a:r>
            <a:r>
              <a:rPr lang="en-US" sz="1450" b="1" dirty="0">
                <a:solidFill>
                  <a:schemeClr val="tx1"/>
                </a:solidFill>
              </a:rPr>
              <a:t>hors de tout réglage</a:t>
            </a:r>
            <a:r>
              <a:rPr lang="en-US" sz="1450" dirty="0">
                <a:solidFill>
                  <a:schemeClr val="tx1"/>
                </a:solidFill>
              </a:rPr>
              <a:t> de seuil.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Relire les </a:t>
            </a:r>
            <a:r>
              <a:rPr lang="en-US" sz="1450" b="1" dirty="0">
                <a:solidFill>
                  <a:schemeClr val="tx1"/>
                </a:solidFill>
              </a:rPr>
              <a:t>erreurs</a:t>
            </a:r>
            <a:r>
              <a:rPr lang="en-US" sz="1450" dirty="0">
                <a:solidFill>
                  <a:schemeClr val="tx1"/>
                </a:solidFill>
              </a:rPr>
              <a:t> : elles dictent les améliorations.</a:t>
            </a:r>
            <a:endParaRPr lang="en-US" sz="1450" dirty="0"/>
          </a:p>
        </p:txBody>
      </p:sp>
      <p:sp>
        <p:nvSpPr>
          <p:cNvPr id="1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À reten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un jeu de 50 à 100 questions bien choisies vaut mieux que des milliers de questions artificielles.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Et pour les langues togolaises ?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63040"/>
            <a:ext cx="2656332" cy="310896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GlobeAfrica" descr="FaGlobeAfr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Couverture variable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33472"/>
            <a:ext cx="22905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Certaines langues africaines sont couvertes : NLLB-200 traduit notamment l’éwé et le fon. Beaucoup d’autres ne le sont pas.</a:t>
            </a:r>
            <a:endParaRPr lang="en-US" sz="1350" dirty="0"/>
          </a:p>
        </p:txBody>
      </p:sp>
      <p:sp>
        <p:nvSpPr>
          <p:cNvPr id="9" name="Carte"/>
          <p:cNvSpPr/>
          <p:nvPr/>
        </p:nvSpPr>
        <p:spPr>
          <a:xfrm>
            <a:off x="3360420" y="1463040"/>
            <a:ext cx="2656332" cy="310896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354330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Language" descr="FaLangu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030" y="177165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330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Modèles africains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3543300" y="2633472"/>
            <a:ext cx="22905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AfroXLMR, AfriBERTa : encodeurs entraînés sur des langues africaines. Vérifier la liste des langues.</a:t>
            </a:r>
            <a:endParaRPr lang="en-US" sz="1350" dirty="0"/>
          </a:p>
        </p:txBody>
      </p:sp>
      <p:sp>
        <p:nvSpPr>
          <p:cNvPr id="14" name="Carte"/>
          <p:cNvSpPr/>
          <p:nvPr/>
        </p:nvSpPr>
        <p:spPr>
          <a:xfrm>
            <a:off x="6172200" y="1463040"/>
            <a:ext cx="2656332" cy="310896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635508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Database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7716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5508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Corpus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6355080" y="2633472"/>
            <a:ext cx="22905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Collecter, nettoyer et partager des textes est le levier principal. Voir Masakhane pour la communauté.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983980" y="1463040"/>
            <a:ext cx="2656332" cy="3108960"/>
          </a:xfrm>
          <a:prstGeom prst="roundRect">
            <a:avLst>
              <a:gd name="adj" fmla="val 27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916686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ipboardCheck" descr="Fa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590" y="177165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66860" y="2267712"/>
            <a:ext cx="2290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chemeClr val="accent1"/>
                </a:solidFill>
              </a:rPr>
              <a:t>Évaluer chez soi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9166860" y="2633472"/>
            <a:ext cx="22905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 petit jeu de test annoté localement vaut mieux que tout benchmark général.</a:t>
            </a:r>
            <a:endParaRPr lang="en-US" sz="1350" dirty="0"/>
          </a:p>
        </p:txBody>
      </p:sp>
      <p:sp>
        <p:nvSpPr>
          <p:cNvPr id="24" name="À reteni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mage 4" descr="À reteni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49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ne présumez jamais qu’un modèle fonctionne dans votre langue : mesurez, et documentez les limites.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Données et responsabilité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faire</a:t>
            </a:r>
            <a:endParaRPr lang="en-US" sz="1600" dirty="0"/>
          </a:p>
        </p:txBody>
      </p:sp>
      <p:sp>
        <p:nvSpPr>
          <p:cNvPr id="6" name="Carte"/>
          <p:cNvSpPr/>
          <p:nvPr/>
        </p:nvSpPr>
        <p:spPr>
          <a:xfrm>
            <a:off x="6199632" y="1371600"/>
            <a:ext cx="544068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371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À éviter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548640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685800" y="22219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 FaCheck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318004"/>
            <a:ext cx="192024" cy="19202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34440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Héberger localement ou pseudonymiser avant tout envoi vers une API externe</a:t>
            </a:r>
            <a:endParaRPr lang="en-US" sz="1400" dirty="0"/>
          </a:p>
        </p:txBody>
      </p:sp>
      <p:sp>
        <p:nvSpPr>
          <p:cNvPr id="12" name="Carte"/>
          <p:cNvSpPr/>
          <p:nvPr/>
        </p:nvSpPr>
        <p:spPr>
          <a:xfrm>
            <a:off x="6199632" y="20116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6336792" y="22219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cône FaTimes" descr="FaTim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804" y="2318004"/>
            <a:ext cx="192024" cy="1920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85432" y="20116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Envoyer des textes d’usagers à un service tiers sans cadre ni protection</a:t>
            </a:r>
            <a:endParaRPr lang="en-US" sz="1400" dirty="0"/>
          </a:p>
        </p:txBody>
      </p:sp>
      <p:sp>
        <p:nvSpPr>
          <p:cNvPr id="16" name="Carte"/>
          <p:cNvSpPr/>
          <p:nvPr/>
        </p:nvSpPr>
        <p:spPr>
          <a:xfrm>
            <a:off x="548640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685800" y="31363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 FaCheck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2324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Versionner le modèle, la version et les paramètres d’encodage</a:t>
            </a:r>
            <a:endParaRPr lang="en-US" sz="1400" dirty="0"/>
          </a:p>
        </p:txBody>
      </p:sp>
      <p:sp>
        <p:nvSpPr>
          <p:cNvPr id="20" name="Carte"/>
          <p:cNvSpPr/>
          <p:nvPr/>
        </p:nvSpPr>
        <p:spPr>
          <a:xfrm>
            <a:off x="6199632" y="29260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6336792" y="31363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cône FaTimes" descr="FaTim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804" y="3232404"/>
            <a:ext cx="192024" cy="19202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85432" y="29260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Changer de modèle sans réindexer les documents</a:t>
            </a:r>
            <a:endParaRPr lang="en-US" sz="1400" dirty="0"/>
          </a:p>
        </p:txBody>
      </p:sp>
      <p:sp>
        <p:nvSpPr>
          <p:cNvPr id="24" name="Carte"/>
          <p:cNvSpPr/>
          <p:nvPr/>
        </p:nvSpPr>
        <p:spPr>
          <a:xfrm>
            <a:off x="548640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Check" descr="Fa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146804"/>
            <a:ext cx="192024" cy="19202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34440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Mesurer par langue, par type de texte et par groupe d’usagers</a:t>
            </a:r>
            <a:endParaRPr lang="en-US" sz="1400" dirty="0"/>
          </a:p>
        </p:txBody>
      </p:sp>
      <p:sp>
        <p:nvSpPr>
          <p:cNvPr id="28" name="Carte"/>
          <p:cNvSpPr/>
          <p:nvPr/>
        </p:nvSpPr>
        <p:spPr>
          <a:xfrm>
            <a:off x="6199632" y="38404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Pastille"/>
          <p:cNvSpPr/>
          <p:nvPr/>
        </p:nvSpPr>
        <p:spPr>
          <a:xfrm>
            <a:off x="6336792" y="4050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0" name="Icône FaTimes" descr="FaTim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804" y="4146804"/>
            <a:ext cx="192024" cy="19202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85432" y="38404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contenter d’une moyenne globale</a:t>
            </a:r>
            <a:endParaRPr lang="en-US" sz="1400" dirty="0"/>
          </a:p>
        </p:txBody>
      </p:sp>
      <p:sp>
        <p:nvSpPr>
          <p:cNvPr id="32" name="Carte"/>
          <p:cNvSpPr/>
          <p:nvPr/>
        </p:nvSpPr>
        <p:spPr>
          <a:xfrm>
            <a:off x="548640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Pastille"/>
          <p:cNvSpPr/>
          <p:nvPr/>
        </p:nvSpPr>
        <p:spPr>
          <a:xfrm>
            <a:off x="685800" y="49651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ône FaCheck" descr="Fa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" y="5061204"/>
            <a:ext cx="192024" cy="19202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234440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Prévoir un seuil, un refus explicite et une relecture humaine</a:t>
            </a:r>
            <a:endParaRPr lang="en-US" sz="1400" dirty="0"/>
          </a:p>
        </p:txBody>
      </p:sp>
      <p:sp>
        <p:nvSpPr>
          <p:cNvPr id="36" name="Carte"/>
          <p:cNvSpPr/>
          <p:nvPr/>
        </p:nvSpPr>
        <p:spPr>
          <a:xfrm>
            <a:off x="6199632" y="4754880"/>
            <a:ext cx="5440680" cy="804672"/>
          </a:xfrm>
          <a:prstGeom prst="roundRect">
            <a:avLst>
              <a:gd name="adj" fmla="val 90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astille"/>
          <p:cNvSpPr/>
          <p:nvPr/>
        </p:nvSpPr>
        <p:spPr>
          <a:xfrm>
            <a:off x="6336792" y="49651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8" name="Icône FaTimes" descr="FaTim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2804" y="5061204"/>
            <a:ext cx="192024" cy="192024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885432" y="4754880"/>
            <a:ext cx="4663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Laisser un score décider seul d’un droit ou d’une aide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Le TP : recherche sémantique sur des fiches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Google Colab, un GPU n’est pas nécessaire. 16 fiches et 9 questions fictives. Internet requis pour télécharger le modèle.</a:t>
            </a:r>
            <a:endParaRPr lang="en-US" sz="1600" dirty="0"/>
          </a:p>
        </p:txBody>
      </p:sp>
      <p:sp>
        <p:nvSpPr>
          <p:cNvPr id="5" name="Carte"/>
          <p:cNvSpPr/>
          <p:nvPr/>
        </p:nvSpPr>
        <p:spPr>
          <a:xfrm>
            <a:off x="54864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éro 1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Encoder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Transformer des phrases en vecteurs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336042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Pastille"/>
          <p:cNvSpPr/>
          <p:nvPr/>
        </p:nvSpPr>
        <p:spPr>
          <a:xfrm>
            <a:off x="354330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éro 2"/>
          <p:cNvSpPr txBox="1"/>
          <p:nvPr/>
        </p:nvSpPr>
        <p:spPr>
          <a:xfrm>
            <a:off x="35433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13766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Comparer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4330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Matrice de similarités</a:t>
            </a:r>
            <a:endParaRPr lang="en-US" sz="1350" dirty="0"/>
          </a:p>
        </p:txBody>
      </p:sp>
      <p:sp>
        <p:nvSpPr>
          <p:cNvPr id="15" name="Carte"/>
          <p:cNvSpPr/>
          <p:nvPr/>
        </p:nvSpPr>
        <p:spPr>
          <a:xfrm>
            <a:off x="617220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"/>
          <p:cNvSpPr/>
          <p:nvPr/>
        </p:nvSpPr>
        <p:spPr>
          <a:xfrm>
            <a:off x="6355080" y="2240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3"/>
          <p:cNvSpPr txBox="1"/>
          <p:nvPr/>
        </p:nvSpPr>
        <p:spPr>
          <a:xfrm>
            <a:off x="6355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Chercher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Fonction de recherche sémantique</a:t>
            </a:r>
            <a:endParaRPr lang="en-US" sz="1350" dirty="0"/>
          </a:p>
        </p:txBody>
      </p:sp>
      <p:sp>
        <p:nvSpPr>
          <p:cNvPr id="20" name="Carte"/>
          <p:cNvSpPr/>
          <p:nvPr/>
        </p:nvSpPr>
        <p:spPr>
          <a:xfrm>
            <a:off x="8983980" y="205740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9166860" y="22402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uméro 4"/>
          <p:cNvSpPr txBox="1"/>
          <p:nvPr/>
        </p:nvSpPr>
        <p:spPr>
          <a:xfrm>
            <a:off x="91668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61220" y="224028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Mesurer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166860" y="283464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Comparer avec la recherche par mots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54864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Numéro 5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Seuil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Dire « je ne sais pas »</a:t>
            </a:r>
            <a:endParaRPr lang="en-US" sz="1350" dirty="0"/>
          </a:p>
        </p:txBody>
      </p:sp>
      <p:sp>
        <p:nvSpPr>
          <p:cNvPr id="30" name="Carte"/>
          <p:cNvSpPr/>
          <p:nvPr/>
        </p:nvSpPr>
        <p:spPr>
          <a:xfrm>
            <a:off x="336042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Pastille"/>
          <p:cNvSpPr/>
          <p:nvPr/>
        </p:nvSpPr>
        <p:spPr>
          <a:xfrm>
            <a:off x="3543300" y="38862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2" name="Numéro 6"/>
          <p:cNvSpPr txBox="1"/>
          <p:nvPr/>
        </p:nvSpPr>
        <p:spPr>
          <a:xfrm>
            <a:off x="35433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13766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Visualiser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54330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Carte 2D des fiches</a:t>
            </a:r>
            <a:endParaRPr lang="en-US" sz="1350" dirty="0"/>
          </a:p>
        </p:txBody>
      </p:sp>
      <p:sp>
        <p:nvSpPr>
          <p:cNvPr id="35" name="Carte"/>
          <p:cNvSpPr/>
          <p:nvPr/>
        </p:nvSpPr>
        <p:spPr>
          <a:xfrm>
            <a:off x="6172200" y="3703320"/>
            <a:ext cx="2656332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Pastille"/>
          <p:cNvSpPr/>
          <p:nvPr/>
        </p:nvSpPr>
        <p:spPr>
          <a:xfrm>
            <a:off x="635508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Numéro 7"/>
          <p:cNvSpPr txBox="1"/>
          <p:nvPr/>
        </p:nvSpPr>
        <p:spPr>
          <a:xfrm>
            <a:off x="6355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886200"/>
            <a:ext cx="17419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Tokens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355080" y="4480560"/>
            <a:ext cx="22905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Découpage et fautes</a:t>
            </a:r>
            <a:endParaRPr lang="en-US" sz="1350" dirty="0"/>
          </a:p>
        </p:txBody>
      </p:sp>
      <p:sp>
        <p:nvSpPr>
          <p:cNvPr id="40" name="À retenir"/>
          <p:cNvSpPr/>
          <p:nvPr/>
        </p:nvSpPr>
        <p:spPr>
          <a:xfrm>
            <a:off x="548640" y="5303520"/>
            <a:ext cx="11091672" cy="822960"/>
          </a:xfrm>
          <a:prstGeom prst="roundRect">
            <a:avLst>
              <a:gd name="adj" fmla="val 8889"/>
            </a:avLst>
          </a:prstGeom>
          <a:solidFill>
            <a:schemeClr val="accent3">
              <a:alpha val="2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0" descr="À reteni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32120"/>
            <a:ext cx="365760" cy="36576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371600" y="5303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À retenir : </a:t>
            </a:r>
            <a:r>
              <a:rPr lang="en-US" sz="1500" dirty="0">
                <a:solidFill>
                  <a:schemeClr val="tx1"/>
                </a:solidFill>
              </a:rPr>
              <a:t>travail en binôme recommandé. Les cellules « À vous » contiennent des ____ à remplacer ; le formateur dispose d’une version corrigée.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Démarrer le TP sur Google Colab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TP NOTEBOOK</a:t>
            </a:r>
            <a:endParaRPr lang="en-US" sz="1200" dirty="0"/>
          </a:p>
        </p:txBody>
      </p:sp>
      <p:sp>
        <p:nvSpPr>
          <p:cNvPr id="4" name="Pastille"/>
          <p:cNvSpPr/>
          <p:nvPr/>
        </p:nvSpPr>
        <p:spPr>
          <a:xfrm>
            <a:off x="548640" y="14996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éro 1"/>
          <p:cNvSpPr txBox="1"/>
          <p:nvPr/>
        </p:nvSpPr>
        <p:spPr>
          <a:xfrm>
            <a:off x="548640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63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Ouvrir le notebook fourni par le formateur (ou importer le fichier .ipynb dans Colab).</a:t>
            </a:r>
            <a:endParaRPr lang="en-US" sz="1500" dirty="0"/>
          </a:p>
        </p:txBody>
      </p:sp>
      <p:sp>
        <p:nvSpPr>
          <p:cNvPr id="7" name="Pastille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éro 2"/>
          <p:cNvSpPr txBox="1"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377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Menu « Fichier » &gt; « Enregistrer une copie dans Drive ».</a:t>
            </a:r>
            <a:endParaRPr lang="en-US" sz="1500" dirty="0"/>
          </a:p>
        </p:txBody>
      </p:sp>
      <p:sp>
        <p:nvSpPr>
          <p:cNvPr id="10" name="Pastille"/>
          <p:cNvSpPr/>
          <p:nvPr/>
        </p:nvSpPr>
        <p:spPr>
          <a:xfrm>
            <a:off x="548640" y="33284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éro 3"/>
          <p:cNvSpPr txBox="1"/>
          <p:nvPr/>
        </p:nvSpPr>
        <p:spPr>
          <a:xfrm>
            <a:off x="548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2918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Exécuter chaque cellule avec Maj + Entrée, </a:t>
            </a:r>
            <a:r>
              <a:rPr lang="en-US" sz="1500" b="1" dirty="0">
                <a:solidFill>
                  <a:schemeClr val="tx1"/>
                </a:solidFill>
              </a:rPr>
              <a:t>dans l’ordre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3" name="Pastille"/>
          <p:cNvSpPr/>
          <p:nvPr/>
        </p:nvSpPr>
        <p:spPr>
          <a:xfrm>
            <a:off x="548640" y="42428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4"/>
          <p:cNvSpPr txBox="1"/>
          <p:nvPr/>
        </p:nvSpPr>
        <p:spPr>
          <a:xfrm>
            <a:off x="548640" y="4242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206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Remplacer les ____ des cellules « À vous », puis exécuter.</a:t>
            </a:r>
            <a:endParaRPr lang="en-US" sz="1500" dirty="0"/>
          </a:p>
        </p:txBody>
      </p:sp>
      <p:sp>
        <p:nvSpPr>
          <p:cNvPr id="16" name="Pastille"/>
          <p:cNvSpPr/>
          <p:nvPr/>
        </p:nvSpPr>
        <p:spPr>
          <a:xfrm>
            <a:off x="548640" y="51572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5"/>
          <p:cNvSpPr txBox="1"/>
          <p:nvPr/>
        </p:nvSpPr>
        <p:spPr>
          <a:xfrm>
            <a:off x="54864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120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cas d’erreur : lire la dernière ligne du message.</a:t>
            </a:r>
            <a:endParaRPr lang="en-US" sz="1500" dirty="0"/>
          </a:p>
        </p:txBody>
      </p:sp>
      <p:sp>
        <p:nvSpPr>
          <p:cNvPr id="19" name="Carte"/>
          <p:cNvSpPr/>
          <p:nvPr/>
        </p:nvSpPr>
        <p:spPr>
          <a:xfrm>
            <a:off x="7315200" y="1463040"/>
            <a:ext cx="4325112" cy="4480560"/>
          </a:xfrm>
          <a:prstGeom prst="roundRect">
            <a:avLst>
              <a:gd name="adj" fmla="val 169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543800" y="16916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loud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390" y="1840230"/>
            <a:ext cx="297180" cy="2971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321040" y="1691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À savoir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2514600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compte Google est nécessaire.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première cellule installe les outils et télécharge le modèle : quelques minutes.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Aucun GPU requis pour ce module.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 données sont fictives.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Six idées à retenir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MODULE 2  ·  TRANSFORMERS ET EMBEDDINGS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FaMapMarker" descr="FaMapMa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Un texte = un vecteur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Les embeddings portent le sens</a:t>
            </a:r>
            <a:endParaRPr lang="en-US" sz="1450" dirty="0"/>
          </a:p>
        </p:txBody>
      </p:sp>
      <p:sp>
        <p:nvSpPr>
          <p:cNvPr id="9" name="Carte"/>
          <p:cNvSpPr/>
          <p:nvPr/>
        </p:nvSpPr>
        <p:spPr>
          <a:xfrm>
            <a:off x="429768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"/>
          <p:cNvSpPr/>
          <p:nvPr/>
        </p:nvSpPr>
        <p:spPr>
          <a:xfrm>
            <a:off x="4526280" y="17373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FaSearch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Chercher par le sens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Encoder une fois, comparer à chaque requête</a:t>
            </a:r>
            <a:endParaRPr lang="en-US" sz="1450" dirty="0"/>
          </a:p>
        </p:txBody>
      </p:sp>
      <p:sp>
        <p:nvSpPr>
          <p:cNvPr id="14" name="Carte"/>
          <p:cNvSpPr/>
          <p:nvPr/>
        </p:nvSpPr>
        <p:spPr>
          <a:xfrm>
            <a:off x="8046720" y="150876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"/>
          <p:cNvSpPr/>
          <p:nvPr/>
        </p:nvSpPr>
        <p:spPr>
          <a:xfrm>
            <a:off x="8275320" y="1737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FaBalanceScale" descr="FaBalance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19088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753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Calibrer un seuil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Prévoir « aucune réponse »</a:t>
            </a:r>
            <a:endParaRPr lang="en-US" sz="1450" dirty="0"/>
          </a:p>
        </p:txBody>
      </p:sp>
      <p:sp>
        <p:nvSpPr>
          <p:cNvPr id="19" name="Carte"/>
          <p:cNvSpPr/>
          <p:nvPr/>
        </p:nvSpPr>
        <p:spPr>
          <a:xfrm>
            <a:off x="54864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FaCut" descr="FaCu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414909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Penser en tokens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Fautes et langues locales coûtent plus</a:t>
            </a:r>
            <a:endParaRPr lang="en-US" sz="1450" dirty="0"/>
          </a:p>
        </p:txBody>
      </p:sp>
      <p:sp>
        <p:nvSpPr>
          <p:cNvPr id="24" name="Carte"/>
          <p:cNvSpPr/>
          <p:nvPr/>
        </p:nvSpPr>
        <p:spPr>
          <a:xfrm>
            <a:off x="429768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"/>
          <p:cNvSpPr/>
          <p:nvPr/>
        </p:nvSpPr>
        <p:spPr>
          <a:xfrm>
            <a:off x="4526280" y="39776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ône FaEye" descr="FaEy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14909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2628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L’attention fait le contexte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Un vecteur par token et par contexte</a:t>
            </a:r>
            <a:endParaRPr lang="en-US" sz="1450" dirty="0"/>
          </a:p>
        </p:txBody>
      </p:sp>
      <p:sp>
        <p:nvSpPr>
          <p:cNvPr id="29" name="Carte"/>
          <p:cNvSpPr/>
          <p:nvPr/>
        </p:nvSpPr>
        <p:spPr>
          <a:xfrm>
            <a:off x="8046720" y="3749040"/>
            <a:ext cx="3593592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"/>
          <p:cNvSpPr/>
          <p:nvPr/>
        </p:nvSpPr>
        <p:spPr>
          <a:xfrm>
            <a:off x="8275320" y="3977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FaClipboardCheck" descr="FaClipboard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14909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275320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Mesurer sur vos données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5212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Jeu de test local et par langue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1 à 2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Qu’est-ce qu’un embedding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Une matrice creuse de comptages de mots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vecteur dense de nombres qui représente le sens d’un mot, d’une phrase ou d’un document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Une règle de nettoyage du texte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hash du document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2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mesure compare deux embeddings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La distance de Levenshtein sur les chaînes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Le nombre de tokens communs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La taille du vocabulaire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La similarité cosinus (proximité de direction entre deux vecteurs)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3 à 4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 quoi un embedding diffère-t-il d’un sac de mots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 est plus grand et plus creux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ne fonctionne qu’en anglais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 est compact (centaines de dimensions) et deux textes de sens proche ont des vecteurs proches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Il ignore le sens et ne garde que l’orthographe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Pourquoi les Transformers utilisent-ils des tokens de sous-mots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mot inconnu est découpé en morceaux connus, au lieu d’être perdu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Pour compresser les fichiers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Parce que les mots entiers sont interdits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Pour supprimer les accents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5 à 6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5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Quelle est la bonne séquence pour une recherche sémantique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Encoder la requête seulement, puis chercher les mots exacts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Encoder les documents une fois, encoder la requête, comparer, garder les k plus proches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Réentraîner le modèle à chaque requête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Trier les documents par ordre alphabétique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6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Certains modèles (famille e5) demandent des préfixes « query: » et « passage: ». Pourquoi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Pour chiffrer le texte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Pour accélérer l’affichage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Ils ont été entraînés avec ces préfixes : les omettre dégrade la qualité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C’est une simple convention d’affichage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7 à 8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7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fait le mécanisme d’attention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 supprime les tokens rares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traduit chaque token indépendamment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Il trie les tokens par ordre alphabétique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Pour chaque token, il pondère les autres tokens de la phrase afin d’obtenir une représentation contextuelle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8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Quel type de modèle choisir pour classer ou encoder des textes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Un décodeur seul, uniquement pour générer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Un compresseur de fichiers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Un encodeur (famille BERT)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Un modèle d’images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questions 9 à 10 sur 10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9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Votre modèle accepte au maximum 512 tokens. Que se passe-t-il pour un long document ?</a:t>
            </a:r>
            <a:endParaRPr lang="en-US" sz="1600" dirty="0"/>
          </a:p>
        </p:txBody>
      </p:sp>
      <p:sp>
        <p:nvSpPr>
          <p:cNvPr id="8" name="Carte"/>
          <p:cNvSpPr/>
          <p:nvPr/>
        </p:nvSpPr>
        <p:spPr>
          <a:xfrm>
            <a:off x="137160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0876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Il est tronqué : il faut le découper en passages (chunks) avant l’encodage</a:t>
            </a:r>
            <a:endParaRPr lang="en-US" sz="1300" dirty="0"/>
          </a:p>
        </p:txBody>
      </p:sp>
      <p:sp>
        <p:nvSpPr>
          <p:cNvPr id="10" name="Carte"/>
          <p:cNvSpPr/>
          <p:nvPr/>
        </p:nvSpPr>
        <p:spPr>
          <a:xfrm>
            <a:off x="6492240" y="214884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2148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Il est résumé automatiquement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137160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Le modèle ralentit mais lit tout</a:t>
            </a:r>
            <a:endParaRPr lang="en-US" sz="1300" dirty="0"/>
          </a:p>
        </p:txBody>
      </p:sp>
      <p:sp>
        <p:nvSpPr>
          <p:cNvPr id="14" name="Carte"/>
          <p:cNvSpPr/>
          <p:nvPr/>
        </p:nvSpPr>
        <p:spPr>
          <a:xfrm>
            <a:off x="6492240" y="271576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71576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Le modèle refuse de démarrer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3749040"/>
            <a:ext cx="11091672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10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8404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Avant d’adopter un modèle multilingue pour une langue locale, que faut-il faire ?</a:t>
            </a:r>
            <a:endParaRPr lang="en-US" sz="1600" dirty="0"/>
          </a:p>
        </p:txBody>
      </p:sp>
      <p:sp>
        <p:nvSpPr>
          <p:cNvPr id="20" name="Carte"/>
          <p:cNvSpPr/>
          <p:nvPr/>
        </p:nvSpPr>
        <p:spPr>
          <a:xfrm>
            <a:off x="137160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   </a:t>
            </a:r>
            <a:r>
              <a:rPr lang="en-US" sz="1300" dirty="0">
                <a:solidFill>
                  <a:schemeClr val="tx1"/>
                </a:solidFill>
              </a:rPr>
              <a:t>Lui faire confiance : « multilingue » signifie « toutes les langues »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6492240" y="4526280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29400" y="4526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   </a:t>
            </a:r>
            <a:r>
              <a:rPr lang="en-US" sz="1300" dirty="0">
                <a:solidFill>
                  <a:schemeClr val="tx1"/>
                </a:solidFill>
              </a:rPr>
              <a:t>Traduire d’abord tout votre corpus en anglais</a:t>
            </a:r>
            <a:endParaRPr lang="en-US" sz="1300" dirty="0"/>
          </a:p>
        </p:txBody>
      </p:sp>
      <p:sp>
        <p:nvSpPr>
          <p:cNvPr id="24" name="Carte"/>
          <p:cNvSpPr/>
          <p:nvPr/>
        </p:nvSpPr>
        <p:spPr>
          <a:xfrm>
            <a:off x="137160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   </a:t>
            </a:r>
            <a:r>
              <a:rPr lang="en-US" sz="1300" dirty="0">
                <a:solidFill>
                  <a:schemeClr val="tx1"/>
                </a:solidFill>
              </a:rPr>
              <a:t>Choisir le plus petit modèle</a:t>
            </a:r>
            <a:endParaRPr lang="en-US" sz="1300" dirty="0"/>
          </a:p>
        </p:txBody>
      </p:sp>
      <p:sp>
        <p:nvSpPr>
          <p:cNvPr id="26" name="Carte"/>
          <p:cNvSpPr/>
          <p:nvPr/>
        </p:nvSpPr>
        <p:spPr>
          <a:xfrm>
            <a:off x="6492240" y="5093208"/>
            <a:ext cx="4983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50932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   </a:t>
            </a:r>
            <a:r>
              <a:rPr lang="en-US" sz="1300" dirty="0">
                <a:solidFill>
                  <a:schemeClr val="tx1"/>
                </a:solidFill>
              </a:rPr>
              <a:t>Vérifier la couverture de la langue et mesurer ses résultats sur vos propres données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(1/2)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1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Un vecteur dense de nombres qui représente le sens d’un mot, d’une phrase ou d’un document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Contrairement au sac de mots (creux, très grand), un embedding est compact (quelques centaines de dimensions) et porte du sens.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2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La similarité cosinus (proximité de direction entre deux vecteurs)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Avec des vecteurs normalisés, un simple produit scalaire donne cette similarité : plus elle est élevée, plus les sens sont proches.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3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Il est compact (centaines de dimensions) et deux textes de sens proche ont des vecteurs proches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sac de mots a une colonne par mot du vocabulaire et aucun lien de sens entre elles.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4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Un mot inconnu est découpé en morceaux connus, au lieu d’être perdu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BPE ou WordPiece gardent un vocabulaire raisonnable tout en couvrant les mots rares, fautes et néologismes.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5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B : </a:t>
            </a:r>
            <a:r>
              <a:rPr lang="en-US" sz="1300" b="1" dirty="0">
                <a:solidFill>
                  <a:schemeClr val="tx1"/>
                </a:solidFill>
              </a:rPr>
              <a:t>Encoder les documents une fois, encoder la requête, comparer, garder les k plus proches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embeddings des documents se calculent à l’avance et se stockent : seule la requête est encodée à la volée.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Quiz de sortie · corrigé (2/2)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QUIZ DE SORTIE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371600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"/>
          <p:cNvSpPr/>
          <p:nvPr/>
        </p:nvSpPr>
        <p:spPr>
          <a:xfrm>
            <a:off x="731520" y="1591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6"/>
          <p:cNvSpPr txBox="1"/>
          <p:nvPr/>
        </p:nvSpPr>
        <p:spPr>
          <a:xfrm>
            <a:off x="731520" y="1591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371600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Ils ont été entraînés avec ces préfixes : les omettre dégrade la qualité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Il faut suivre la fiche du modèle : format d’entrée, normalisation, longueur maximale.</a:t>
            </a:r>
            <a:endParaRPr lang="en-US" sz="1300" dirty="0"/>
          </a:p>
        </p:txBody>
      </p:sp>
      <p:sp>
        <p:nvSpPr>
          <p:cNvPr id="8" name="Carte"/>
          <p:cNvSpPr/>
          <p:nvPr/>
        </p:nvSpPr>
        <p:spPr>
          <a:xfrm>
            <a:off x="548640" y="2322576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Pastille"/>
          <p:cNvSpPr/>
          <p:nvPr/>
        </p:nvSpPr>
        <p:spPr>
          <a:xfrm>
            <a:off x="731520" y="254203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éro 7"/>
          <p:cNvSpPr txBox="1"/>
          <p:nvPr/>
        </p:nvSpPr>
        <p:spPr>
          <a:xfrm>
            <a:off x="7315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322576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Pour chaque token, il pondère les autres tokens de la phrase afin d’obtenir une représentation contextuelle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 même mot reçoit ainsi des représentations différentes selon le contexte (« avocat » du fruit ou du tribunal).</a:t>
            </a:r>
            <a:endParaRPr lang="en-US" sz="1300" dirty="0"/>
          </a:p>
        </p:txBody>
      </p:sp>
      <p:sp>
        <p:nvSpPr>
          <p:cNvPr id="12" name="Carte"/>
          <p:cNvSpPr/>
          <p:nvPr/>
        </p:nvSpPr>
        <p:spPr>
          <a:xfrm>
            <a:off x="548640" y="3273552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"/>
          <p:cNvSpPr/>
          <p:nvPr/>
        </p:nvSpPr>
        <p:spPr>
          <a:xfrm>
            <a:off x="731520" y="3493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éro 8"/>
          <p:cNvSpPr txBox="1"/>
          <p:nvPr/>
        </p:nvSpPr>
        <p:spPr>
          <a:xfrm>
            <a:off x="731520" y="3493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73552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C : </a:t>
            </a:r>
            <a:r>
              <a:rPr lang="en-US" sz="1300" b="1" dirty="0">
                <a:solidFill>
                  <a:schemeClr val="tx1"/>
                </a:solidFill>
              </a:rPr>
              <a:t>Un encodeur (famille BERT)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Les encodeurs produisent de bonnes représentations ; les décodeurs (famille GPT) sont conçus pour générer du texte.</a:t>
            </a:r>
            <a:endParaRPr lang="en-US" sz="1300" dirty="0"/>
          </a:p>
        </p:txBody>
      </p:sp>
      <p:sp>
        <p:nvSpPr>
          <p:cNvPr id="16" name="Carte"/>
          <p:cNvSpPr/>
          <p:nvPr/>
        </p:nvSpPr>
        <p:spPr>
          <a:xfrm>
            <a:off x="548640" y="4224528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Pastille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éro 9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224528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A : </a:t>
            </a:r>
            <a:r>
              <a:rPr lang="en-US" sz="1300" b="1" dirty="0">
                <a:solidFill>
                  <a:schemeClr val="tx1"/>
                </a:solidFill>
              </a:rPr>
              <a:t>Il est tronqué : il faut le découper en passages (chunks) avant l’encodage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troncature fait perdre silencieusement la fin du texte. C’est la raison d’être du découpage en passages.</a:t>
            </a:r>
            <a:endParaRPr lang="en-US" sz="1300" dirty="0"/>
          </a:p>
        </p:txBody>
      </p:sp>
      <p:sp>
        <p:nvSpPr>
          <p:cNvPr id="20" name="Carte"/>
          <p:cNvSpPr/>
          <p:nvPr/>
        </p:nvSpPr>
        <p:spPr>
          <a:xfrm>
            <a:off x="548640" y="5175504"/>
            <a:ext cx="11091672" cy="859536"/>
          </a:xfrm>
          <a:prstGeom prst="roundRect">
            <a:avLst>
              <a:gd name="adj" fmla="val 85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astille"/>
          <p:cNvSpPr/>
          <p:nvPr/>
        </p:nvSpPr>
        <p:spPr>
          <a:xfrm>
            <a:off x="731520" y="5394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10"/>
          <p:cNvSpPr txBox="1"/>
          <p:nvPr/>
        </p:nvSpPr>
        <p:spPr>
          <a:xfrm>
            <a:off x="731520" y="5394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175504"/>
            <a:ext cx="10149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Réponse D : </a:t>
            </a:r>
            <a:r>
              <a:rPr lang="en-US" sz="1300" b="1" dirty="0">
                <a:solidFill>
                  <a:schemeClr val="tx1"/>
                </a:solidFill>
              </a:rPr>
              <a:t>Vérifier la couverture de la langue et mesurer ses résultats sur vos propres données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La couverture varie beaucoup d’une langue à l’autre : seule une évaluation sur vos textes tranche.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92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Glossaire</a:t>
            </a:r>
            <a:endParaRPr lang="en-US" sz="3000" dirty="0"/>
          </a:p>
        </p:txBody>
      </p:sp>
      <p:sp>
        <p:nvSpPr>
          <p:cNvPr id="3" name="Module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ANNEXE  ·  GLOSSAIRE</a:t>
            </a:r>
            <a:endParaRPr lang="en-US" sz="1200" dirty="0"/>
          </a:p>
        </p:txBody>
      </p:sp>
      <p:sp>
        <p:nvSpPr>
          <p:cNvPr id="4" name="Carte"/>
          <p:cNvSpPr/>
          <p:nvPr/>
        </p:nvSpPr>
        <p:spPr>
          <a:xfrm>
            <a:off x="54864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Embedding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Vecteur dense qui représente le sens d’un texte</a:t>
            </a:r>
            <a:endParaRPr lang="en-US" sz="1350" dirty="0"/>
          </a:p>
        </p:txBody>
      </p:sp>
      <p:sp>
        <p:nvSpPr>
          <p:cNvPr id="7" name="Carte"/>
          <p:cNvSpPr/>
          <p:nvPr/>
        </p:nvSpPr>
        <p:spPr>
          <a:xfrm>
            <a:off x="429768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Similarité cosinus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Mesure de proximité de direction entre deux vecteurs</a:t>
            </a:r>
            <a:endParaRPr lang="en-US" sz="1350" dirty="0"/>
          </a:p>
        </p:txBody>
      </p:sp>
      <p:sp>
        <p:nvSpPr>
          <p:cNvPr id="10" name="Carte"/>
          <p:cNvSpPr/>
          <p:nvPr/>
        </p:nvSpPr>
        <p:spPr>
          <a:xfrm>
            <a:off x="8046720" y="14173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5270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Recherche sémantique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928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Retrouver des documents par le sens plutôt que par les mots</a:t>
            </a:r>
            <a:endParaRPr lang="en-US" sz="1350" dirty="0"/>
          </a:p>
        </p:txBody>
      </p:sp>
      <p:sp>
        <p:nvSpPr>
          <p:cNvPr id="13" name="Carte"/>
          <p:cNvSpPr/>
          <p:nvPr/>
        </p:nvSpPr>
        <p:spPr>
          <a:xfrm>
            <a:off x="54864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Token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Unité manipulée par le modèle : mot ou sous-mot</a:t>
            </a:r>
            <a:endParaRPr lang="en-US" sz="1350" dirty="0"/>
          </a:p>
        </p:txBody>
      </p:sp>
      <p:sp>
        <p:nvSpPr>
          <p:cNvPr id="16" name="Carte"/>
          <p:cNvSpPr/>
          <p:nvPr/>
        </p:nvSpPr>
        <p:spPr>
          <a:xfrm>
            <a:off x="429768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Attention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Mécanisme qui pondère les autres tokens pour chaque token</a:t>
            </a:r>
            <a:endParaRPr lang="en-US" sz="1350" dirty="0"/>
          </a:p>
        </p:txBody>
      </p:sp>
      <p:sp>
        <p:nvSpPr>
          <p:cNvPr id="19" name="Carte"/>
          <p:cNvSpPr/>
          <p:nvPr/>
        </p:nvSpPr>
        <p:spPr>
          <a:xfrm>
            <a:off x="8046720" y="30175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1272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Encodeur / décodeur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34930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Famille de modèles qui représente / qui génère du texte</a:t>
            </a:r>
            <a:endParaRPr lang="en-US" sz="1350" dirty="0"/>
          </a:p>
        </p:txBody>
      </p:sp>
      <p:sp>
        <p:nvSpPr>
          <p:cNvPr id="22" name="Carte"/>
          <p:cNvSpPr/>
          <p:nvPr/>
        </p:nvSpPr>
        <p:spPr>
          <a:xfrm>
            <a:off x="54864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Zero-shot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Classer sans exemple, à partir des libellés seuls</a:t>
            </a:r>
            <a:endParaRPr lang="en-US" sz="1350" dirty="0"/>
          </a:p>
        </p:txBody>
      </p:sp>
      <p:sp>
        <p:nvSpPr>
          <p:cNvPr id="25" name="Carte"/>
          <p:cNvSpPr/>
          <p:nvPr/>
        </p:nvSpPr>
        <p:spPr>
          <a:xfrm>
            <a:off x="429768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Seuil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Valeur de score en dessous de laquelle on refuse de répondre</a:t>
            </a:r>
            <a:endParaRPr lang="en-US" sz="1350" dirty="0"/>
          </a:p>
        </p:txBody>
      </p:sp>
      <p:sp>
        <p:nvSpPr>
          <p:cNvPr id="28" name="Carte"/>
          <p:cNvSpPr/>
          <p:nvPr/>
        </p:nvSpPr>
        <p:spPr>
          <a:xfrm>
            <a:off x="8046720" y="4617720"/>
            <a:ext cx="359359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0" y="47274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Rappel@k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5093208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La bonne réponse figure-t-elle parmi les k premières 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et à bientôt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Prochain module : Fine-tuning, LoRA et QLoRA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Adapter un modèle sans tout réentraîner  ·  Projet #TOGO AI Lab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">
  <a:themeElements>
    <a:clrScheme name="TAL">
      <a:dk1>
        <a:srgbClr val="1B2B27"/>
      </a:dk1>
      <a:lt1>
        <a:srgbClr val="FFFFFF"/>
      </a:lt1>
      <a:dk2>
        <a:srgbClr val="0B4A38"/>
      </a:dk2>
      <a:lt2>
        <a:srgbClr val="E8F3EE"/>
      </a:lt2>
      <a:accent1>
        <a:srgbClr val="006A4E"/>
      </a:accent1>
      <a:accent2>
        <a:srgbClr val="2F6386"/>
      </a:accent2>
      <a:accent3>
        <a:srgbClr val="FFCF11"/>
      </a:accent3>
      <a:accent4>
        <a:srgbClr val="C9211E"/>
      </a:accent4>
      <a:accent5>
        <a:srgbClr val="DCEBE5"/>
      </a:accent5>
      <a:accent6>
        <a:srgbClr val="5B6B66"/>
      </a:accent6>
      <a:hlink>
        <a:srgbClr val="2F6386"/>
      </a:hlink>
      <a:folHlink>
        <a:srgbClr val="5B6B66"/>
      </a:folHlink>
    </a:clrScheme>
    <a:fontScheme name="T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Togo AI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· Transformers et embeddings (IT)</dc:title>
  <dc:subject>PptxGenJS Presentation</dc:subject>
  <dc:creator>Togo AI Lab</dc:creator>
  <cp:lastModifiedBy>Togo AI Lab</cp:lastModifiedBy>
  <cp:revision>1</cp:revision>
  <dcterms:created xsi:type="dcterms:W3CDTF">2026-10-19T20:43:24Z</dcterms:created>
  <dcterms:modified xsi:type="dcterms:W3CDTF">2026-10-19T20:43:24Z</dcterms:modified>
</cp:coreProperties>
</file>