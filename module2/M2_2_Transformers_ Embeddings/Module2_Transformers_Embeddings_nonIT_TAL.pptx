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0d04cdd1-d1fd-0e50-d4b2-422cb9d3ec94}">
          <p14:sldIdLst>
            <p14:sldId id="256"/>
            <p14:sldId id="257"/>
          </p14:sldIdLst>
        </p14:section>
        <p14:section name="Ouverture" id="{6a703091-802a-e84e-057e-39ac53892398}">
          <p14:sldIdLst/>
        </p14:section>
        <p14:section name="Introduction" id="{13e62021-9328-e9fa-9d16-b806c6212fcf}">
          <p14:sldIdLst>
            <p14:sldId id="258"/>
          </p14:sldIdLst>
        </p14:section>
        <p14:section name="Embeddings" id="{dba066e3-2a02-ddb1-051c-d2a64a446997}">
          <p14:sldIdLst>
            <p14:sldId id="259"/>
            <p14:sldId id="260"/>
            <p14:sldId id="261"/>
            <p14:sldId id="262"/>
            <p14:sldId id="263"/>
          </p14:sldIdLst>
        </p14:section>
        <p14:section name="Transformers" id="{a85bf144-feb0-f010-1230-95afb03fb78d}">
          <p14:sldIdLst>
            <p14:sldId id="264"/>
            <p14:sldId id="265"/>
            <p14:sldId id="266"/>
            <p14:sldId id="267"/>
            <p14:sldId id="268"/>
          </p14:sldIdLst>
        </p14:section>
        <p14:section name="Limites" id="{eae7c565-c5d2-e454-18dc-70ff9bc3c263}">
          <p14:sldIdLst>
            <p14:sldId id="269"/>
            <p14:sldId id="270"/>
          </p14:sldIdLst>
        </p14:section>
        <p14:section name="Responsabilité" id="{e2e4d598-4091-0742-6900-9fc06e86bd5a}">
          <p14:sldIdLst>
            <p14:sldId id="271"/>
          </p14:sldIdLst>
        </p14:section>
        <p14:section name="Atelier" id="{a5dcc1da-bec2-b6fb-4f97-dbc6be911ac2}">
          <p14:sldIdLst>
            <p14:sldId id="272"/>
            <p14:sldId id="273"/>
          </p14:sldIdLst>
        </p14:section>
        <p14:section name="Conclusion" id="{dea2a04c-feaf-308f-0f47-ea3968a010b7}">
          <p14:sldIdLst>
            <p14:sldId id="274"/>
          </p14:sldIdLst>
        </p14:section>
        <p14:section name="Quiz de sortie" id="{1fec14c9-bc2c-ccdc-e648-fc502098c963}">
          <p14:sldIdLst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Annexes" id="{c86e9506-7862-a533-9848-fd658a463456}">
          <p14:sldIdLst>
            <p14:sldId id="282"/>
          </p14:sldIdLst>
        </p14:section>
        <p14:section name="Clôture" id="{dcbb2b3c-7b03-e04c-b08d-5cda23d1c5a7}">
          <p14:sldIdLst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Rappeler le fil rouge : au module 1, la machine comptait les mots. Aujourd’hui elle apprend à placer les mots selon leur sens. Pas de formule ni de code dans cette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Partir d’un vécu : une recherche qui n’a rien donné parce que le mot exact manquait.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parler de dimensions. Dire simplement : plus de deux nombres, parce que le sens est plus riche qu’un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Demander quel usage serait le plus utile dans leur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Laisser les participants répondre à la question avant d’expliquer. Montrer que nous aussi, nous « donnons de l’attention » aux bons mots.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Distribuer les livrets. Former les groupes. Le déroulé complet est dans la partie formateur du livret.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7eb70312-33b9-5800-bcbf-7d42fc26875c/scratchpad/ppt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283464" cy="411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Togo AI Lab  ·  Formation IA  ·  Module 2 · Transformers et embeddings  ·  Version non-IT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48840" y="63276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RÉPUBLIQUE TOGOLAISE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2148840" y="6556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Ministère de l’Efficacité du Service Public et de la Transformation Numérique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TOGO AI LAB  ·  FORMATION IA  ·  MODULE 2 SUR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Transformers et embeddings : comment la machine capte le sens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Version non-IT : sans code, sans mathématiques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Projet #TOGO AI Lab  ·  Octobre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Au programme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PROGRAMME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Lightbulb" descr="Fa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945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46888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Comprendre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Des mots aux « adresses », la recherche par le sens, l’attention et les familles de modèles</a:t>
            </a:r>
            <a:endParaRPr lang="en-US" sz="1450" dirty="0"/>
          </a:p>
        </p:txBody>
      </p:sp>
      <p:sp>
        <p:nvSpPr>
          <p:cNvPr id="10" name="Carte"/>
          <p:cNvSpPr/>
          <p:nvPr/>
        </p:nvSpPr>
        <p:spPr>
          <a:xfrm>
            <a:off x="429768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4526280" y="16459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PuzzlePiece" descr="FaPuzzlePie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179451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21792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2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Pratiquer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Atelier « La carte des mots » : vous placez, cherchez et lisez comme une machine</a:t>
            </a:r>
            <a:endParaRPr lang="en-US" sz="1450" dirty="0"/>
          </a:p>
        </p:txBody>
      </p:sp>
      <p:sp>
        <p:nvSpPr>
          <p:cNvPr id="16" name="Carte"/>
          <p:cNvSpPr/>
          <p:nvPr/>
        </p:nvSpPr>
        <p:spPr>
          <a:xfrm>
            <a:off x="804672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827532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ône FaClipboardCheck" descr="FaClipboar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179451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96696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3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Vérifier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827532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Quiz de sortie de 10 questions, corrigé en commun</a:t>
            </a:r>
            <a:endParaRPr lang="en-US" sz="1450" dirty="0"/>
          </a:p>
        </p:txBody>
      </p:sp>
      <p:sp>
        <p:nvSpPr>
          <p:cNvPr id="22" name="Carte"/>
          <p:cNvSpPr/>
          <p:nvPr/>
        </p:nvSpPr>
        <p:spPr>
          <a:xfrm>
            <a:off x="548640" y="4297680"/>
            <a:ext cx="11091672" cy="1783080"/>
          </a:xfrm>
          <a:prstGeom prst="roundRect">
            <a:avLst>
              <a:gd name="adj" fmla="val 410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77240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À la fin du module, vous saurez :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77240" y="480060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expliquer avec vos mots ce qu’est un embedding et à quoi il sert 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décrire l’idée d’attention et la différence entre modèles « lecteurs » et « écrivains » 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citer les limites des Transformers : erreurs inventées, langues peu dotées, données sensibles.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Ce que le sac de mots ne sait pas faire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Question au groupe : si vous cherchez un document avec vos mots à vous, retrouvez-vous toujours ce que vous cherchez ? Pourquoi ?</a:t>
            </a:r>
            <a:endParaRPr lang="en-US" sz="17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2656332" cy="30175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Language" descr="FaLangu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54889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04495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Les synonymes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410712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 docteur » et « médecin » sont deux mots sans lien pour un comptage.</a:t>
            </a:r>
            <a:endParaRPr lang="en-US" sz="1400" dirty="0"/>
          </a:p>
        </p:txBody>
      </p:sp>
      <p:sp>
        <p:nvSpPr>
          <p:cNvPr id="10" name="Carte"/>
          <p:cNvSpPr/>
          <p:nvPr/>
        </p:nvSpPr>
        <p:spPr>
          <a:xfrm>
            <a:off x="3360420" y="2240280"/>
            <a:ext cx="2656332" cy="30175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3543300" y="24231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QuestionCircle" descr="FaQuestion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254889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43300" y="304495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Le contexte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543300" y="3410712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 avocat » : fruit ou métier ? Le comptage ne le sait pas.</a:t>
            </a:r>
            <a:endParaRPr lang="en-US" sz="1400" dirty="0"/>
          </a:p>
        </p:txBody>
      </p:sp>
      <p:sp>
        <p:nvSpPr>
          <p:cNvPr id="15" name="Carte"/>
          <p:cNvSpPr/>
          <p:nvPr/>
        </p:nvSpPr>
        <p:spPr>
          <a:xfrm>
            <a:off x="6172200" y="2240280"/>
            <a:ext cx="2656332" cy="30175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astille"/>
          <p:cNvSpPr/>
          <p:nvPr/>
        </p:nvSpPr>
        <p:spPr>
          <a:xfrm>
            <a:off x="6355080" y="2423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ône FaSortAmountDown" descr="FaSortAmountDow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254889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55080" y="304495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L’ordre des mots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3410712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 le chien mord l’homme » et « l’homme mord le chien » donnent le même sac.</a:t>
            </a:r>
            <a:endParaRPr lang="en-US" sz="1400" dirty="0"/>
          </a:p>
        </p:txBody>
      </p:sp>
      <p:sp>
        <p:nvSpPr>
          <p:cNvPr id="20" name="Carte"/>
          <p:cNvSpPr/>
          <p:nvPr/>
        </p:nvSpPr>
        <p:spPr>
          <a:xfrm>
            <a:off x="8983980" y="2240280"/>
            <a:ext cx="2656332" cy="30175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9166860" y="24231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ône FaGlobeAfrica" descr="FaGlobeAfri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254889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166860" y="304495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Les reformulations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9166860" y="3410712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 Où vacciner mon bébé ? » et « Calendrier des vaccins du nourrisson » ne partagent aucun mot.</a:t>
            </a:r>
            <a:endParaRPr lang="en-US" sz="1400" dirty="0"/>
          </a:p>
        </p:txBody>
      </p:sp>
      <p:sp>
        <p:nvSpPr>
          <p:cNvPr id="25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ce module présente la réponse moderne à ces limites : les embeddings et les Transformers.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Un embedding, c’est une adresse pour un mot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Analogie : sur une carte, les villes proches se trouvent à des adresses proches. Pour les mots, c’est pareil : on leur donne une adresse sur une « carte du sens ».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77240" y="24231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GlobeAfrica" descr="FaGlobeAfri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57175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La carte des villes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Lomé et Kpalimé sont proches. Lomé et Dapaong sont plus éloignées. L’adresse est faite de deux nombres : latitude et longitude.</a:t>
            </a:r>
            <a:endParaRPr lang="en-US" sz="1500" dirty="0"/>
          </a:p>
        </p:txBody>
      </p:sp>
      <p:sp>
        <p:nvSpPr>
          <p:cNvPr id="10" name="Carte"/>
          <p:cNvSpPr/>
          <p:nvPr/>
        </p:nvSpPr>
        <p:spPr>
          <a:xfrm>
            <a:off x="6199632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6428232" y="24231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Language" descr="FaLangu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822" y="257175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05472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La carte des mots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6428232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« médecin » et « docteur » sont proches. « médecin » et « passeport » sont éloignés. L’adresse est une suite de nombres, souvent plusieurs centaines.</a:t>
            </a:r>
            <a:endParaRPr lang="en-US" sz="1500" dirty="0"/>
          </a:p>
        </p:txBody>
      </p:sp>
      <p:sp>
        <p:nvSpPr>
          <p:cNvPr id="15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À reten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un embedding, c’est la suite de nombres qui donne l’adresse d’un mot (ou d’une phrase) sur la carte du sens.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De la phrase à son adresse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Une machine apprend à placer chaque phrase sur la carte du sens, en s’appuyant sur d’énormes quantités de textes lus.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42062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50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Une phrase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« Où faire vacciner mon bébé ? »</a:t>
            </a:r>
            <a:endParaRPr lang="en-US" sz="1500" dirty="0"/>
          </a:p>
        </p:txBody>
      </p:sp>
      <p:sp>
        <p:nvSpPr>
          <p:cNvPr id="8" name="Carte"/>
          <p:cNvSpPr/>
          <p:nvPr/>
        </p:nvSpPr>
        <p:spPr>
          <a:xfrm>
            <a:off x="5029200" y="2788920"/>
            <a:ext cx="2130552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2788920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Le modèle calcule l’adresse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0632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159752" y="30632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2" name="Carte"/>
          <p:cNvSpPr/>
          <p:nvPr/>
        </p:nvSpPr>
        <p:spPr>
          <a:xfrm>
            <a:off x="7434072" y="2240280"/>
            <a:ext cx="4206240" cy="2286000"/>
          </a:xfrm>
          <a:prstGeom prst="roundRect">
            <a:avLst>
              <a:gd name="adj" fmla="val 32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2350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Son adresse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662672" y="27889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Une suite de nombres : 0,12 ; −0,40 ; 0,87 ; …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(plusieurs centaines)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7091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Les nombres n’ont pas de sens pour nous. Ce qui compte : deux phrases de même sens reçoivent des adresses voisines.</a:t>
            </a:r>
            <a:endParaRPr lang="en-US" sz="1500" dirty="0"/>
          </a:p>
        </p:txBody>
      </p:sp>
      <p:sp>
        <p:nvSpPr>
          <p:cNvPr id="16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on ne lit pas les nombres : on compare les adresses pour savoir si deux textes se ressemblent.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Ce que la carte révèle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2656332" cy="292608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Check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Des voisins de sens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22905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 médecin », « docteur », « infirmier » forment un même quartier.</a:t>
            </a:r>
            <a:endParaRPr lang="en-US" sz="1400" dirty="0"/>
          </a:p>
        </p:txBody>
      </p:sp>
      <p:sp>
        <p:nvSpPr>
          <p:cNvPr id="9" name="Carte"/>
          <p:cNvSpPr/>
          <p:nvPr/>
        </p:nvSpPr>
        <p:spPr>
          <a:xfrm>
            <a:off x="3360420" y="1463040"/>
            <a:ext cx="2656332" cy="292608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354330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Times" descr="FaTim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330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Des mots éloignés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43300" y="2633472"/>
            <a:ext cx="22905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 médecin » et « passeport » sont sur des quartiers différents.</a:t>
            </a:r>
            <a:endParaRPr lang="en-US" sz="1400" dirty="0"/>
          </a:p>
        </p:txBody>
      </p:sp>
      <p:sp>
        <p:nvSpPr>
          <p:cNvPr id="14" name="Carte"/>
          <p:cNvSpPr/>
          <p:nvPr/>
        </p:nvSpPr>
        <p:spPr>
          <a:xfrm>
            <a:off x="6172200" y="1463040"/>
            <a:ext cx="2656332" cy="292608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6355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CommentDots" descr="FaCommentDo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Des phrases voisines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633472"/>
            <a:ext cx="22905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 J’ai mal à la tête » est proche de « Je souffre de migraines ».</a:t>
            </a:r>
            <a:endParaRPr lang="en-US" sz="1400" dirty="0"/>
          </a:p>
        </p:txBody>
      </p:sp>
      <p:sp>
        <p:nvSpPr>
          <p:cNvPr id="19" name="Carte"/>
          <p:cNvSpPr/>
          <p:nvPr/>
        </p:nvSpPr>
        <p:spPr>
          <a:xfrm>
            <a:off x="8983980" y="1463040"/>
            <a:ext cx="2656332" cy="292608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91668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GlobeAfrica" descr="FaGlobeAfri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177165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6686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Plusieurs langues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166860" y="2633472"/>
            <a:ext cx="22905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Dans les modèles multilingues, une phrase et sa traduction ont des adresses proches.</a:t>
            </a:r>
            <a:endParaRPr lang="en-US" sz="1400" dirty="0"/>
          </a:p>
        </p:txBody>
      </p:sp>
      <p:sp>
        <p:nvSpPr>
          <p:cNvPr id="2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la carte est apprise à partir des textes : ce que le modèle n’a jamais lu, il le place mal.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Chercher par le sens, pas par les mots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Analogie : un bibliothécaire expérimenté comprend votre besoin même si vous n’employez pas les mots du catalogue.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77240" y="24231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Search" descr="Fa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57175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Recherche par mots-clés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 cherche les documents qui contiennent les mêmes mots que la question. Si le mot exact manque, rien n’est trouvé.</a:t>
            </a:r>
            <a:endParaRPr lang="en-US" sz="1500" dirty="0"/>
          </a:p>
        </p:txBody>
      </p:sp>
      <p:sp>
        <p:nvSpPr>
          <p:cNvPr id="10" name="Carte"/>
          <p:cNvSpPr/>
          <p:nvPr/>
        </p:nvSpPr>
        <p:spPr>
          <a:xfrm>
            <a:off x="6199632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6428232" y="24231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Lightbulb" descr="FaLightbul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822" y="257175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05472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Recherche par le sens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6428232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 place la question et les documents sur la carte, puis on prend les plus proches. Les mots peuvent différer.</a:t>
            </a:r>
            <a:endParaRPr lang="en-US" sz="1500" dirty="0"/>
          </a:p>
        </p:txBody>
      </p:sp>
      <p:sp>
        <p:nvSpPr>
          <p:cNvPr id="15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À reten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cette recherche par le sens est la base des moteurs de recherche modernes et du module 5 (RAG).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À quoi servent les embeddings ?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Search" descr="Fa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Rechercher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Retrouver les documents qui répondent à une question, même sans mots communs.</a:t>
            </a:r>
            <a:endParaRPr lang="en-US" sz="1400" dirty="0"/>
          </a:p>
        </p:txBody>
      </p:sp>
      <p:sp>
        <p:nvSpPr>
          <p:cNvPr id="9" name="Carte"/>
          <p:cNvSpPr/>
          <p:nvPr/>
        </p:nvSpPr>
        <p:spPr>
          <a:xfrm>
            <a:off x="336042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354330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PuzzlePiece" descr="FaPuzzlePie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330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Regrouper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4330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Rassembler automatiquement les messages qui parlent du même sujet.</a:t>
            </a:r>
            <a:endParaRPr lang="en-US" sz="1400" dirty="0"/>
          </a:p>
        </p:txBody>
      </p:sp>
      <p:sp>
        <p:nvSpPr>
          <p:cNvPr id="14" name="Carte"/>
          <p:cNvSpPr/>
          <p:nvPr/>
        </p:nvSpPr>
        <p:spPr>
          <a:xfrm>
            <a:off x="617220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6355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ClipboardCheck" descr="FaClipboar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Détecter les doublons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Repérer deux demandes quasi identiques formulées autrement.</a:t>
            </a:r>
            <a:endParaRPr lang="en-US" sz="1400" dirty="0"/>
          </a:p>
        </p:txBody>
      </p:sp>
      <p:sp>
        <p:nvSpPr>
          <p:cNvPr id="19" name="Carte"/>
          <p:cNvSpPr/>
          <p:nvPr/>
        </p:nvSpPr>
        <p:spPr>
          <a:xfrm>
            <a:off x="898398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91668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Inbox" descr="FaInbox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177165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6686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Router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16686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Orienter un courrier vers le bon service selon son sens.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Deuxième idée : l’attention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554480"/>
            <a:ext cx="11091672" cy="219456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55448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Pour comprendre un mot, il faut regarder les mots autour.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1480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« Il a pris un avocat » : le fruit ou le métier ? Tout dépend des autres mots.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C’est exactement ce que fait un Transformer : chaque mot « regarde » les autres et décide lesquels comptent pour lui.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 sac de mots, lui, traite chaque mot seul.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L’attention : un exemple concret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Phrase : « Le médecin a rassuré l’infirmière parce qu’elle était inquiète. » Qui est « elle » ?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77240" y="24231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Eye" descr="FaE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57175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Sans attention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 mot « elle » est lu seul. La machine ne sait pas à qui il se rapporte.</a:t>
            </a:r>
            <a:endParaRPr lang="en-US" sz="1500" dirty="0"/>
          </a:p>
        </p:txBody>
      </p:sp>
      <p:sp>
        <p:nvSpPr>
          <p:cNvPr id="10" name="Carte"/>
          <p:cNvSpPr/>
          <p:nvPr/>
        </p:nvSpPr>
        <p:spPr>
          <a:xfrm>
            <a:off x="6199632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6428232" y="24231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Lightbulb" descr="FaLightbul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822" y="257175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05472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Avec attention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6428232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« elle » regarde les autres mots, pèse leur importance et se relie à « l’infirmière ». Son sens est précisé par le contexte.</a:t>
            </a:r>
            <a:endParaRPr lang="en-US" sz="1500" dirty="0"/>
          </a:p>
        </p:txBody>
      </p:sp>
      <p:sp>
        <p:nvSpPr>
          <p:cNvPr id="15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À reten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l’attention relie les mots entre eux : c’est elle qui donne aux Transformers leur compréhension du contexte.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Le voyage d’une phrase dans un Transformer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Une phrase traverse plusieurs étapes. L’attention est répétée plusieurs fois, comme on relit un texte pour mieux le comprendre.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1255471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FileAlt" descr="FaF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2631" y="26060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La phrase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Texte reçu, tel quel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510942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1" name="Carte"/>
          <p:cNvSpPr/>
          <p:nvPr/>
        </p:nvSpPr>
        <p:spPr>
          <a:xfrm>
            <a:off x="2830982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stille"/>
          <p:cNvSpPr/>
          <p:nvPr/>
        </p:nvSpPr>
        <p:spPr>
          <a:xfrm>
            <a:off x="3537814" y="24688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cône FaCut" descr="FaCu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974" y="26060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22422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Découpage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2940710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 morceaux appelés tokens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793285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7" name="Carte"/>
          <p:cNvSpPr/>
          <p:nvPr/>
        </p:nvSpPr>
        <p:spPr>
          <a:xfrm>
            <a:off x="5113325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Pastille"/>
          <p:cNvSpPr/>
          <p:nvPr/>
        </p:nvSpPr>
        <p:spPr>
          <a:xfrm>
            <a:off x="5820156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ône FaMapMarker" descr="FaMapMark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316" y="26060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04765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Adresses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5223053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Chaque morceau reçoit une adresse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7075627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23" name="Carte"/>
          <p:cNvSpPr/>
          <p:nvPr/>
        </p:nvSpPr>
        <p:spPr>
          <a:xfrm>
            <a:off x="7395667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Pastille"/>
          <p:cNvSpPr/>
          <p:nvPr/>
        </p:nvSpPr>
        <p:spPr>
          <a:xfrm>
            <a:off x="8102498" y="24688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cône FaEye" descr="FaEy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658" y="260604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87107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Attention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7505395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 morceaux se regardent entre eux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9357970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29" name="Carte"/>
          <p:cNvSpPr/>
          <p:nvPr/>
        </p:nvSpPr>
        <p:spPr>
          <a:xfrm>
            <a:off x="9678010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10384841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cône FaCheck" descr="Fa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2001" y="260604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769450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Résultat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9787738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Classer, traduire, répondre</a:t>
            </a:r>
            <a:endParaRPr lang="en-US" sz="1300" dirty="0"/>
          </a:p>
        </p:txBody>
      </p:sp>
      <p:sp>
        <p:nvSpPr>
          <p:cNvPr id="34" name="À retenir"/>
          <p:cNvSpPr/>
          <p:nvPr/>
        </p:nvSpPr>
        <p:spPr>
          <a:xfrm>
            <a:off x="548640" y="539496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Image 5" descr="À reteni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577840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371600" y="5394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le Transformer enrichit chaque mot avec le contexte, étape après étape.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Trois familles de modèles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3593592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Book" descr="Fa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Les lecteurs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32278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Ils lisent et comprennent. Pour classer, chercher, repérer des informations. Exemple : BERT et ses cousins.</a:t>
            </a:r>
            <a:endParaRPr lang="en-US" sz="1450" dirty="0"/>
          </a:p>
        </p:txBody>
      </p:sp>
      <p:sp>
        <p:nvSpPr>
          <p:cNvPr id="9" name="Carte"/>
          <p:cNvSpPr/>
          <p:nvPr/>
        </p:nvSpPr>
        <p:spPr>
          <a:xfrm>
            <a:off x="4297680" y="1463040"/>
            <a:ext cx="3593592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CommentDots" descr="FaCommentDo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Les écrivains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633472"/>
            <a:ext cx="32278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Ils rédigent la suite d’un texte, mot après mot. Ce sont les assistants conversationnels et les grands modèles de langage.</a:t>
            </a:r>
            <a:endParaRPr lang="en-US" sz="1450" dirty="0"/>
          </a:p>
        </p:txBody>
      </p:sp>
      <p:sp>
        <p:nvSpPr>
          <p:cNvPr id="14" name="Carte"/>
          <p:cNvSpPr/>
          <p:nvPr/>
        </p:nvSpPr>
        <p:spPr>
          <a:xfrm>
            <a:off x="8046720" y="1463040"/>
            <a:ext cx="3593592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Language" descr="FaLangu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Les traducteurs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633472"/>
            <a:ext cx="32278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Ils lisent un texte puis en écrivent un autre : traduction, résumé.</a:t>
            </a:r>
            <a:endParaRPr lang="en-US" sz="1450" dirty="0"/>
          </a:p>
        </p:txBody>
      </p:sp>
      <p:sp>
        <p:nvSpPr>
          <p:cNvPr id="19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mage 3" descr="À reteni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le bon choix dépend de la tâche : comprendre, générer ou transformer un texte.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Pré-entraîner, puis adapter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Analogie : un élève lit toute la bibliothèque (culture générale), puis apprend un métier précis (spécialisation).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77240" y="24231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Book" descr="Fa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57175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Le pré-entraînement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 modèle lit d’énormes quantités de textes. Il apprend la langue, le monde, les liens entre les mots. C’est long et coûteux.</a:t>
            </a:r>
            <a:endParaRPr lang="en-US" sz="1500" dirty="0"/>
          </a:p>
        </p:txBody>
      </p:sp>
      <p:sp>
        <p:nvSpPr>
          <p:cNvPr id="10" name="Carte"/>
          <p:cNvSpPr/>
          <p:nvPr/>
        </p:nvSpPr>
        <p:spPr>
          <a:xfrm>
            <a:off x="6199632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6428232" y="24231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PuzzlePiece" descr="FaPuzzlePie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822" y="257175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05472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L’adaptation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6428232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 l’ajuste à notre besoin avec quelques milliers d’exemples : trier des courriers, repérer des maladies. C’est le sujet du module 3.</a:t>
            </a:r>
            <a:endParaRPr lang="en-US" sz="1500" dirty="0"/>
          </a:p>
        </p:txBody>
      </p:sp>
      <p:sp>
        <p:nvSpPr>
          <p:cNvPr id="15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À reten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on ne repart presque jamais de zéro : on adapte un modèle déjà pré-entraîné.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Ce que les Transformers font bien, et moins bien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5394960" cy="3703320"/>
          </a:xfrm>
          <a:prstGeom prst="roundRect">
            <a:avLst>
              <a:gd name="adj" fmla="val 19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Check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45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Atouts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Contexte</a:t>
            </a:r>
            <a:r>
              <a:rPr lang="en-US" sz="1450" dirty="0">
                <a:solidFill>
                  <a:schemeClr val="tx1"/>
                </a:solidFill>
              </a:rPr>
              <a:t> : ils lèvent beaucoup d’ambiguïtés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Synonymes</a:t>
            </a:r>
            <a:r>
              <a:rPr lang="en-US" sz="1450" dirty="0">
                <a:solidFill>
                  <a:schemeClr val="tx1"/>
                </a:solidFill>
              </a:rPr>
              <a:t> : ils retrouvent le sens malgré les mots différents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Peu d’exemples suffisent</a:t>
            </a:r>
            <a:r>
              <a:rPr lang="en-US" sz="1450" dirty="0">
                <a:solidFill>
                  <a:schemeClr val="tx1"/>
                </a:solidFill>
              </a:rPr>
              <a:t> pour adapter un modèle pré-entraîné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Plusieurs langues</a:t>
            </a:r>
            <a:r>
              <a:rPr lang="en-US" sz="1450" dirty="0">
                <a:solidFill>
                  <a:schemeClr val="tx1"/>
                </a:solidFill>
              </a:rPr>
              <a:t> pour les modèles multilingues</a:t>
            </a:r>
            <a:endParaRPr lang="en-US" sz="1450" dirty="0"/>
          </a:p>
        </p:txBody>
      </p:sp>
      <p:sp>
        <p:nvSpPr>
          <p:cNvPr id="9" name="Carte"/>
          <p:cNvSpPr/>
          <p:nvPr/>
        </p:nvSpPr>
        <p:spPr>
          <a:xfrm>
            <a:off x="6245352" y="1463040"/>
            <a:ext cx="5394960" cy="3703320"/>
          </a:xfrm>
          <a:prstGeom prst="roundRect">
            <a:avLst>
              <a:gd name="adj" fmla="val 197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6473952" y="1645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ExclamationTriangle" descr="FaExclamationTriang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17830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05472" y="1645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Précautions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519672" y="237744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Hallucinations</a:t>
            </a:r>
            <a:r>
              <a:rPr lang="en-US" sz="1450" dirty="0">
                <a:solidFill>
                  <a:schemeClr val="tx1"/>
                </a:solidFill>
              </a:rPr>
              <a:t> : un texte fluide peut être faux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Biais</a:t>
            </a:r>
            <a:r>
              <a:rPr lang="en-US" sz="1450" dirty="0">
                <a:solidFill>
                  <a:schemeClr val="tx1"/>
                </a:solidFill>
              </a:rPr>
              <a:t> : les préjugés des textes d’origine se retrouvent dans le modèle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Langues peu dotées</a:t>
            </a:r>
            <a:r>
              <a:rPr lang="en-US" sz="1450" dirty="0">
                <a:solidFill>
                  <a:schemeClr val="tx1"/>
                </a:solidFill>
              </a:rPr>
              <a:t> : moins de textes vus, moins de fiabilité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Coût</a:t>
            </a:r>
            <a:r>
              <a:rPr lang="en-US" sz="1450" dirty="0">
                <a:solidFill>
                  <a:schemeClr val="tx1"/>
                </a:solidFill>
              </a:rPr>
              <a:t> : calcul et énergie importants pour les gros modèles</a:t>
            </a:r>
            <a:endParaRPr lang="en-US" sz="1450" dirty="0"/>
          </a:p>
        </p:txBody>
      </p:sp>
      <p:sp>
        <p:nvSpPr>
          <p:cNvPr id="1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À reten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un modèle fluide n’est pas un modèle fiable : vérifier reste indispensable.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Et pour nos langues togolaises ?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2656332" cy="30175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GlobeAfrica" descr="FaGlobeAfri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Peu de textes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Les modèles généraux ont lu peu de textes en éwé, kabiyè ou autres langues locales.</a:t>
            </a:r>
            <a:endParaRPr lang="en-US" sz="1400" dirty="0"/>
          </a:p>
        </p:txBody>
      </p:sp>
      <p:sp>
        <p:nvSpPr>
          <p:cNvPr id="9" name="Carte"/>
          <p:cNvSpPr/>
          <p:nvPr/>
        </p:nvSpPr>
        <p:spPr>
          <a:xfrm>
            <a:off x="3360420" y="1463040"/>
            <a:ext cx="2656332" cy="30175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354330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SpellCheck" descr="FaSpell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330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Orthographes variées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43300" y="2633472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Les graphies ne sont pas toujours fixées : une même langue s’écrit de plusieurs façons.</a:t>
            </a:r>
            <a:endParaRPr lang="en-US" sz="1400" dirty="0"/>
          </a:p>
        </p:txBody>
      </p:sp>
      <p:sp>
        <p:nvSpPr>
          <p:cNvPr id="14" name="Carte"/>
          <p:cNvSpPr/>
          <p:nvPr/>
        </p:nvSpPr>
        <p:spPr>
          <a:xfrm>
            <a:off x="6172200" y="1463040"/>
            <a:ext cx="2656332" cy="30175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6355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Database" descr="Fa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Le rôle des corpus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633472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Collecter et partager des textes de qualité est la clé pour de meilleurs modèles.</a:t>
            </a:r>
            <a:endParaRPr lang="en-US" sz="1400" dirty="0"/>
          </a:p>
        </p:txBody>
      </p:sp>
      <p:sp>
        <p:nvSpPr>
          <p:cNvPr id="19" name="Carte"/>
          <p:cNvSpPr/>
          <p:nvPr/>
        </p:nvSpPr>
        <p:spPr>
          <a:xfrm>
            <a:off x="8983980" y="1463040"/>
            <a:ext cx="2656332" cy="30175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91668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Users" descr="Fa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177165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6686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Les locuteurs d’abord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166860" y="2633472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Impliquer les communautés : ce sont elles qui savent ce qui est juste.</a:t>
            </a:r>
            <a:endParaRPr lang="en-US" sz="1400" dirty="0"/>
          </a:p>
        </p:txBody>
      </p:sp>
      <p:sp>
        <p:nvSpPr>
          <p:cNvPr id="2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plus il y a de textes de qualité dans une langue, mieux les modèles la comprennent.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Utiliser ces outils de façon responsable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faire</a:t>
            </a:r>
            <a:endParaRPr lang="en-US" sz="1600" dirty="0"/>
          </a:p>
        </p:txBody>
      </p:sp>
      <p:sp>
        <p:nvSpPr>
          <p:cNvPr id="6" name="Carte"/>
          <p:cNvSpPr/>
          <p:nvPr/>
        </p:nvSpPr>
        <p:spPr>
          <a:xfrm>
            <a:off x="6199632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28232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éviter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548640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685800" y="22219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ône FaCheck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2318004"/>
            <a:ext cx="192024" cy="19202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34440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Anonymiser ou ne pas inclure de données personnelles dans un outil en ligne</a:t>
            </a:r>
            <a:endParaRPr lang="en-US" sz="1400" dirty="0"/>
          </a:p>
        </p:txBody>
      </p:sp>
      <p:sp>
        <p:nvSpPr>
          <p:cNvPr id="12" name="Carte"/>
          <p:cNvSpPr/>
          <p:nvPr/>
        </p:nvSpPr>
        <p:spPr>
          <a:xfrm>
            <a:off x="6199632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6336792" y="22219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Icône FaTimes" descr="FaTim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804" y="2318004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885432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Coller un dossier de patient ou un courrier d’usager dans un assistant public</a:t>
            </a:r>
            <a:endParaRPr lang="en-US" sz="1400" dirty="0"/>
          </a:p>
        </p:txBody>
      </p:sp>
      <p:sp>
        <p:nvSpPr>
          <p:cNvPr id="16" name="Carte"/>
          <p:cNvSpPr/>
          <p:nvPr/>
        </p:nvSpPr>
        <p:spPr>
          <a:xfrm>
            <a:off x="548640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685800" y="31363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ône FaCheck" descr="Fa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232404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34440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Vérifier les réponses importantes à partir d’une source fiable</a:t>
            </a:r>
            <a:endParaRPr lang="en-US" sz="1400" dirty="0"/>
          </a:p>
        </p:txBody>
      </p:sp>
      <p:sp>
        <p:nvSpPr>
          <p:cNvPr id="20" name="Carte"/>
          <p:cNvSpPr/>
          <p:nvPr/>
        </p:nvSpPr>
        <p:spPr>
          <a:xfrm>
            <a:off x="6199632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6336792" y="31363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2" name="Icône FaTimes" descr="FaTim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804" y="3232404"/>
            <a:ext cx="192024" cy="19202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85432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Recopier telle quelle une réponse sans la contrôler</a:t>
            </a:r>
            <a:endParaRPr lang="en-US" sz="1400" dirty="0"/>
          </a:p>
        </p:txBody>
      </p:sp>
      <p:sp>
        <p:nvSpPr>
          <p:cNvPr id="24" name="Carte"/>
          <p:cNvSpPr/>
          <p:nvPr/>
        </p:nvSpPr>
        <p:spPr>
          <a:xfrm>
            <a:off x="548640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685800" y="40507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Check" descr="Fa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4146804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34440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Tester l’outil avec des exemples dans nos langues locales</a:t>
            </a:r>
            <a:endParaRPr lang="en-US" sz="1400" dirty="0"/>
          </a:p>
        </p:txBody>
      </p:sp>
      <p:sp>
        <p:nvSpPr>
          <p:cNvPr id="28" name="Carte"/>
          <p:cNvSpPr/>
          <p:nvPr/>
        </p:nvSpPr>
        <p:spPr>
          <a:xfrm>
            <a:off x="6199632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Pastille"/>
          <p:cNvSpPr/>
          <p:nvPr/>
        </p:nvSpPr>
        <p:spPr>
          <a:xfrm>
            <a:off x="6336792" y="4050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0" name="Icône FaTimes" descr="FaTim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804" y="4146804"/>
            <a:ext cx="192024" cy="19202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85432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Supposer qu’il fonctionne aussi bien partout</a:t>
            </a:r>
            <a:endParaRPr lang="en-US" sz="1400" dirty="0"/>
          </a:p>
        </p:txBody>
      </p:sp>
      <p:sp>
        <p:nvSpPr>
          <p:cNvPr id="32" name="Carte"/>
          <p:cNvSpPr/>
          <p:nvPr/>
        </p:nvSpPr>
        <p:spPr>
          <a:xfrm>
            <a:off x="548640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Pastille"/>
          <p:cNvSpPr/>
          <p:nvPr/>
        </p:nvSpPr>
        <p:spPr>
          <a:xfrm>
            <a:off x="685800" y="49651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cône FaCheck" descr="Fa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" y="5061204"/>
            <a:ext cx="192024" cy="19202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234440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Garder une personne responsable des décisions</a:t>
            </a:r>
            <a:endParaRPr lang="en-US" sz="1400" dirty="0"/>
          </a:p>
        </p:txBody>
      </p:sp>
      <p:sp>
        <p:nvSpPr>
          <p:cNvPr id="36" name="Carte"/>
          <p:cNvSpPr/>
          <p:nvPr/>
        </p:nvSpPr>
        <p:spPr>
          <a:xfrm>
            <a:off x="6199632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Pastille"/>
          <p:cNvSpPr/>
          <p:nvPr/>
        </p:nvSpPr>
        <p:spPr>
          <a:xfrm>
            <a:off x="6336792" y="49651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8" name="Icône FaTimes" descr="FaTim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2804" y="5061204"/>
            <a:ext cx="192024" cy="19202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885432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Laisser la machine décider seule d’un droit ou d’une aide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Place à l’atelier : « La carte des mots »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En groupes de 3 ou 4, avec des cartes, des feutres et votre livret. Aucun ordinateur.</a:t>
            </a:r>
            <a:endParaRPr lang="en-US" sz="17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3593592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MapMarker" descr="FaMapMar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54889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04495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Atelier 1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410712"/>
            <a:ext cx="32278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Placer des mots sur une carte selon leur sens, et comparer avec les autres groupes.</a:t>
            </a:r>
            <a:endParaRPr lang="en-US" sz="1450" dirty="0"/>
          </a:p>
        </p:txBody>
      </p:sp>
      <p:sp>
        <p:nvSpPr>
          <p:cNvPr id="10" name="Carte"/>
          <p:cNvSpPr/>
          <p:nvPr/>
        </p:nvSpPr>
        <p:spPr>
          <a:xfrm>
            <a:off x="4297680" y="2240280"/>
            <a:ext cx="3593592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4480560" y="24231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Search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254889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80560" y="304495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Atelier 2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480560" y="3410712"/>
            <a:ext cx="32278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Chercher par le sens : retrouver les bonnes fiches malgré des mots différents.</a:t>
            </a:r>
            <a:endParaRPr lang="en-US" sz="1450" dirty="0"/>
          </a:p>
        </p:txBody>
      </p:sp>
      <p:sp>
        <p:nvSpPr>
          <p:cNvPr id="15" name="Carte"/>
          <p:cNvSpPr/>
          <p:nvPr/>
        </p:nvSpPr>
        <p:spPr>
          <a:xfrm>
            <a:off x="8046720" y="2240280"/>
            <a:ext cx="3593592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astille"/>
          <p:cNvSpPr/>
          <p:nvPr/>
        </p:nvSpPr>
        <p:spPr>
          <a:xfrm>
            <a:off x="8229600" y="2423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ône FaEye" descr="FaEy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254889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29600" y="304495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Atelier 3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0" y="3410712"/>
            <a:ext cx="32278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Jouer l’attention : surligner les mots qui aident à comprendre un autre mot.</a:t>
            </a:r>
            <a:endParaRPr lang="en-US" sz="1450" dirty="0"/>
          </a:p>
        </p:txBody>
      </p:sp>
      <p:sp>
        <p:nvSpPr>
          <p:cNvPr id="20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mage 3" descr="À reteni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règle du jeu : vous êtes la machine. Vous ne cherchez pas des mots identiques, vous cherchez des idées proches.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Consigne de l’atelier 1 : la carte des mots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ATELIER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2656332" cy="34747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73152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Pastille"/>
          <p:cNvSpPr/>
          <p:nvPr/>
        </p:nvSpPr>
        <p:spPr>
          <a:xfrm>
            <a:off x="2473452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ône FaMapMarker" descr="FaMapMar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0612" y="1737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2286000"/>
            <a:ext cx="22905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Placer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063240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Posez 12 cartes de mots sur la grande feuille : les mots de sens proche côte à côte.</a:t>
            </a:r>
            <a:endParaRPr lang="en-US" sz="1450" dirty="0"/>
          </a:p>
        </p:txBody>
      </p:sp>
      <p:sp>
        <p:nvSpPr>
          <p:cNvPr id="11" name="Carte"/>
          <p:cNvSpPr/>
          <p:nvPr/>
        </p:nvSpPr>
        <p:spPr>
          <a:xfrm>
            <a:off x="3360420" y="1463040"/>
            <a:ext cx="2656332" cy="34747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stille"/>
          <p:cNvSpPr/>
          <p:nvPr/>
        </p:nvSpPr>
        <p:spPr>
          <a:xfrm>
            <a:off x="3543300" y="16459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Numéro 2"/>
          <p:cNvSpPr txBox="1"/>
          <p:nvPr/>
        </p:nvSpPr>
        <p:spPr>
          <a:xfrm>
            <a:off x="354330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Pastille"/>
          <p:cNvSpPr/>
          <p:nvPr/>
        </p:nvSpPr>
        <p:spPr>
          <a:xfrm>
            <a:off x="5285232" y="1600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cône FaUsers" descr="Fa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92" y="17373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543300" y="2286000"/>
            <a:ext cx="22905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Comparer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3543300" y="3063240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Chaque groupe visite la carte d’un autre groupe : quels voisinages diffèrent ?</a:t>
            </a:r>
            <a:endParaRPr lang="en-US" sz="1450" dirty="0"/>
          </a:p>
        </p:txBody>
      </p:sp>
      <p:sp>
        <p:nvSpPr>
          <p:cNvPr id="18" name="Carte"/>
          <p:cNvSpPr/>
          <p:nvPr/>
        </p:nvSpPr>
        <p:spPr>
          <a:xfrm>
            <a:off x="6172200" y="1463040"/>
            <a:ext cx="2656332" cy="34747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astille"/>
          <p:cNvSpPr/>
          <p:nvPr/>
        </p:nvSpPr>
        <p:spPr>
          <a:xfrm>
            <a:off x="6355080" y="1645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Numéro 3"/>
          <p:cNvSpPr txBox="1"/>
          <p:nvPr/>
        </p:nvSpPr>
        <p:spPr>
          <a:xfrm>
            <a:off x="63550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Pastille"/>
          <p:cNvSpPr/>
          <p:nvPr/>
        </p:nvSpPr>
        <p:spPr>
          <a:xfrm>
            <a:off x="8097012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cône FaQuestionCircle" descr="FaQuestion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4172" y="173736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355080" y="2286000"/>
            <a:ext cx="22905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Discuter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6355080" y="3063240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Pourquoi « banque » (argent) et « banque » (rivière) posent-ils problème ?</a:t>
            </a:r>
            <a:endParaRPr lang="en-US" sz="1450" dirty="0"/>
          </a:p>
        </p:txBody>
      </p:sp>
      <p:sp>
        <p:nvSpPr>
          <p:cNvPr id="25" name="Carte"/>
          <p:cNvSpPr/>
          <p:nvPr/>
        </p:nvSpPr>
        <p:spPr>
          <a:xfrm>
            <a:off x="8983980" y="1463040"/>
            <a:ext cx="2656332" cy="34747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Pastille"/>
          <p:cNvSpPr/>
          <p:nvPr/>
        </p:nvSpPr>
        <p:spPr>
          <a:xfrm>
            <a:off x="9166860" y="16459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Numéro 4"/>
          <p:cNvSpPr txBox="1"/>
          <p:nvPr/>
        </p:nvSpPr>
        <p:spPr>
          <a:xfrm>
            <a:off x="916686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Pastille"/>
          <p:cNvSpPr/>
          <p:nvPr/>
        </p:nvSpPr>
        <p:spPr>
          <a:xfrm>
            <a:off x="10908792" y="1600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Icône FaCheck" descr="Fa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5952" y="173736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166860" y="2286000"/>
            <a:ext cx="22905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Conclure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9166860" y="3063240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Notez trois règles que vous avez appliquées pour placer les mots.</a:t>
            </a:r>
            <a:endParaRPr lang="en-US" sz="1450" dirty="0"/>
          </a:p>
        </p:txBody>
      </p:sp>
      <p:sp>
        <p:nvSpPr>
          <p:cNvPr id="32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3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rapporteur par groupe : présentez votre carte en une courte intervention.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Six idées à retenir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MapMarker" descr="FaMapMar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9088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Un embedding est une adresse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Il place un mot ou une phrase sur la carte du sens</a:t>
            </a:r>
            <a:endParaRPr lang="en-US" sz="1450" dirty="0"/>
          </a:p>
        </p:txBody>
      </p:sp>
      <p:sp>
        <p:nvSpPr>
          <p:cNvPr id="9" name="Carte"/>
          <p:cNvSpPr/>
          <p:nvPr/>
        </p:nvSpPr>
        <p:spPr>
          <a:xfrm>
            <a:off x="429768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526280" y="17373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Search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19088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Chercher par le sens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Retrouver sans les mêmes mots</a:t>
            </a:r>
            <a:endParaRPr lang="en-US" sz="1450" dirty="0"/>
          </a:p>
        </p:txBody>
      </p:sp>
      <p:sp>
        <p:nvSpPr>
          <p:cNvPr id="14" name="Carte"/>
          <p:cNvSpPr/>
          <p:nvPr/>
        </p:nvSpPr>
        <p:spPr>
          <a:xfrm>
            <a:off x="804672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7532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Eye" descr="FaEy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190881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7532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Le contexte par l’attention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Chaque mot regarde les autres</a:t>
            </a:r>
            <a:endParaRPr lang="en-US" sz="1450" dirty="0"/>
          </a:p>
        </p:txBody>
      </p:sp>
      <p:sp>
        <p:nvSpPr>
          <p:cNvPr id="19" name="Carte"/>
          <p:cNvSpPr/>
          <p:nvPr/>
        </p:nvSpPr>
        <p:spPr>
          <a:xfrm>
            <a:off x="54864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77240" y="3977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Book" descr="FaBoo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14909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Lecteurs et écrivains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Comprendre ou générer : la tâche décide</a:t>
            </a:r>
            <a:endParaRPr lang="en-US" sz="1450" dirty="0"/>
          </a:p>
        </p:txBody>
      </p:sp>
      <p:sp>
        <p:nvSpPr>
          <p:cNvPr id="24" name="Carte"/>
          <p:cNvSpPr/>
          <p:nvPr/>
        </p:nvSpPr>
        <p:spPr>
          <a:xfrm>
            <a:off x="429768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526280" y="3977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ExclamationTriangle" descr="FaExclamationTriang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730" y="4149090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2628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Fluide n’est pas fiable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Vérifier les réponses importantes</a:t>
            </a:r>
            <a:endParaRPr lang="en-US" sz="1450" dirty="0"/>
          </a:p>
        </p:txBody>
      </p:sp>
      <p:sp>
        <p:nvSpPr>
          <p:cNvPr id="29" name="Carte"/>
          <p:cNvSpPr/>
          <p:nvPr/>
        </p:nvSpPr>
        <p:spPr>
          <a:xfrm>
            <a:off x="804672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75320" y="3977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UserShield" descr="FaUserShiel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70" y="4149090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7532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Protéger les données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Rien de sensible dans un outil public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1 à 2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Qu’est-ce qu’un « embedding »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Un nouveau format de fichier pour stocker des textes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Un dictionnaire de traduction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Une suite de nombres qui place un mot ou une phrase sur une « carte du sens »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Un correcteur d’orthographe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2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Sur la carte des mots, « médecin » et « docteur » sont…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Proches l’un de l’autre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Très éloignés, car ils ne s’écrivent pas pareil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Au même endroit que « passeport »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Absents de la carte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3 à 4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3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 permet une recherche « par le sens »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Retrouver uniquement les textes qui contiennent exactement les mêmes mots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Corriger les fautes de l’utilisateur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Traduire la question en anglais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Retrouver « Calendrier vaccinal des nourrissons » à partir de « Où faire vacciner mon bébé ? »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4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Pourquoi le sac de mots confond-il « avocat » (le fruit) et « avocat » (le métier)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Parce qu’il ne connaît pas le français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Il compte les mots sans tenir compte du contexte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Parce que le mot est trop long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Parce qu’il corrige automatiquement les mots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5 à 6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5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À quoi sert l’« attention » dans un Transformer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À attirer l’attention de l’utilisateur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À supprimer les mots inutiles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À accélérer l’impression des documents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À laisser chaque mot regarder les autres mots de la phrase pour préciser son sens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6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 modèle de type « lecteur » (encodeur) sert surtout à…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Rédiger de longs textes originaux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Imprimer des documents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Comprendre et classer des textes, ou les transformer en adresses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Stocker des mots de passe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7 à 8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7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 assistant qui rédige des textes (modèle « écrivain ») peut parfois…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Inventer une information fausse avec beaucoup d’aplomb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Refuser de répondre à toute question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Se tromper uniquement en anglais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Corriger automatiquement ses propres erreurs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8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Qu’est-ce qu’un modèle « pré-entraîné »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Un modèle qui n’a encore rien appris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Un modèle qui a déjà lu une énorme quantité de textes avant d’être adapté à une tâche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Un modèle réservé aux images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Un modèle qui ne peut plus être modifié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9 à 10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9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Pourquoi un modèle généraliste fonctionne-t-il parfois mal dans une langue togolaise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Parce que les langues togolaises sont trop difficiles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Parce qu’il ne reconnaît que les majuscules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Il a vu très peu de textes dans cette langue pendant son apprentissage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Parce qu’il est trop récent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10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Avant de coller le dossier d’un patient dans un assistant en ligne public, que faut-il faire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Rien, c’est sans danger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Le traduire en anglais d’abord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Le mettre en majuscules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Ne pas le faire sans cadre et autorisation : protéger ou anonymiser les données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corrigé (1/2)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910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73152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371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Une suite de nombres qui place un mot ou une phrase sur une « carte du sens 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Chaque mot ou phrase reçoit une « adresse » (des nombres) : deux textes de sens proche ont des adresses proches.</a:t>
            </a:r>
            <a:endParaRPr lang="en-US" sz="1300" dirty="0"/>
          </a:p>
        </p:txBody>
      </p:sp>
      <p:sp>
        <p:nvSpPr>
          <p:cNvPr id="8" name="Carte"/>
          <p:cNvSpPr/>
          <p:nvPr/>
        </p:nvSpPr>
        <p:spPr>
          <a:xfrm>
            <a:off x="548640" y="2322576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731520" y="25420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éro 2"/>
          <p:cNvSpPr txBox="1"/>
          <p:nvPr/>
        </p:nvSpPr>
        <p:spPr>
          <a:xfrm>
            <a:off x="7315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22576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A : </a:t>
            </a:r>
            <a:r>
              <a:rPr lang="en-US" sz="1300" b="1" dirty="0">
                <a:solidFill>
                  <a:schemeClr val="tx1"/>
                </a:solidFill>
              </a:rPr>
              <a:t>Proches l’un de l’autre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carte regroupe les mots de sens voisin, même s’ils s’écrivent différemment. C’est ce que le sac de mots ne savait pas faire.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548640" y="3273552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731520" y="34930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éro 3"/>
          <p:cNvSpPr txBox="1"/>
          <p:nvPr/>
        </p:nvSpPr>
        <p:spPr>
          <a:xfrm>
            <a:off x="73152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73552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Retrouver « Calendrier vaccinal des nourrissons » à partir de « Où faire vacciner mon bébé ? 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 mots diffèrent, mais le sens est voisin : les deux textes ont des adresses proches sur la carte.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4224528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444398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4"/>
          <p:cNvSpPr txBox="1"/>
          <p:nvPr/>
        </p:nvSpPr>
        <p:spPr>
          <a:xfrm>
            <a:off x="73152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224528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B : </a:t>
            </a:r>
            <a:r>
              <a:rPr lang="en-US" sz="1300" b="1" dirty="0">
                <a:solidFill>
                  <a:schemeClr val="tx1"/>
                </a:solidFill>
              </a:rPr>
              <a:t>Il compte les mots sans tenir compte du contexte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 contexte (« plaider », « salade »…) fait la différence : c’est précisément ce que l’attention apporte.</a:t>
            </a:r>
            <a:endParaRPr lang="en-US" sz="1300" dirty="0"/>
          </a:p>
        </p:txBody>
      </p:sp>
      <p:sp>
        <p:nvSpPr>
          <p:cNvPr id="20" name="Carte"/>
          <p:cNvSpPr/>
          <p:nvPr/>
        </p:nvSpPr>
        <p:spPr>
          <a:xfrm>
            <a:off x="548640" y="5175504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731520" y="5394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éro 5"/>
          <p:cNvSpPr txBox="1"/>
          <p:nvPr/>
        </p:nvSpPr>
        <p:spPr>
          <a:xfrm>
            <a:off x="731520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175504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À laisser chaque mot regarder les autres mots de la phrase pour préciser son sens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Dans « elle était inquiète », l’attention relie « elle » à la bonne personne de la phrase.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corrigé (2/2)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910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6"/>
          <p:cNvSpPr txBox="1"/>
          <p:nvPr/>
        </p:nvSpPr>
        <p:spPr>
          <a:xfrm>
            <a:off x="73152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371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Comprendre et classer des textes, ou les transformer en adresses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 lecteurs (BERT et cousins) excellent pour classer, rechercher, repérer des informations.</a:t>
            </a:r>
            <a:endParaRPr lang="en-US" sz="1300" dirty="0"/>
          </a:p>
        </p:txBody>
      </p:sp>
      <p:sp>
        <p:nvSpPr>
          <p:cNvPr id="8" name="Carte"/>
          <p:cNvSpPr/>
          <p:nvPr/>
        </p:nvSpPr>
        <p:spPr>
          <a:xfrm>
            <a:off x="548640" y="2322576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731520" y="25420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éro 7"/>
          <p:cNvSpPr txBox="1"/>
          <p:nvPr/>
        </p:nvSpPr>
        <p:spPr>
          <a:xfrm>
            <a:off x="7315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22576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A : </a:t>
            </a:r>
            <a:r>
              <a:rPr lang="en-US" sz="1300" b="1" dirty="0">
                <a:solidFill>
                  <a:schemeClr val="tx1"/>
                </a:solidFill>
              </a:rPr>
              <a:t>Inventer une information fausse avec beaucoup d’aplomb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 appelle cela une « hallucination » : le texte est fluide, mais le contenu peut être faux. Il faut vérifier.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548640" y="3273552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731520" y="34930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éro 8"/>
          <p:cNvSpPr txBox="1"/>
          <p:nvPr/>
        </p:nvSpPr>
        <p:spPr>
          <a:xfrm>
            <a:off x="73152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73552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B : </a:t>
            </a:r>
            <a:r>
              <a:rPr lang="en-US" sz="1300" b="1" dirty="0">
                <a:solidFill>
                  <a:schemeClr val="tx1"/>
                </a:solidFill>
              </a:rPr>
              <a:t>Un modèle qui a déjà lu une énorme quantité de textes avant d’être adapté à une tâche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Comme un élève qui a lu toute la bibliothèque avant d’apprendre un métier précis.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4224528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444398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9"/>
          <p:cNvSpPr txBox="1"/>
          <p:nvPr/>
        </p:nvSpPr>
        <p:spPr>
          <a:xfrm>
            <a:off x="73152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9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224528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Il a vu très peu de textes dans cette langue pendant son apprentissage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Peu de textes écrits disponibles = peu d’exemples vus = résultats moins fiables. C’est un enjeu de données.</a:t>
            </a:r>
            <a:endParaRPr lang="en-US" sz="1300" dirty="0"/>
          </a:p>
        </p:txBody>
      </p:sp>
      <p:sp>
        <p:nvSpPr>
          <p:cNvPr id="20" name="Carte"/>
          <p:cNvSpPr/>
          <p:nvPr/>
        </p:nvSpPr>
        <p:spPr>
          <a:xfrm>
            <a:off x="548640" y="5175504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731520" y="5394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éro 10"/>
          <p:cNvSpPr txBox="1"/>
          <p:nvPr/>
        </p:nvSpPr>
        <p:spPr>
          <a:xfrm>
            <a:off x="731520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175504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Ne pas le faire sans cadre et autorisation : protéger ou anonymiser les données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Ce que vous collez peut quitter votre cadre de protection. Les données personnelles et de santé exigent des règles claires.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Glossaire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ANNEXE  ·  GLOSSAIRE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Embedding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Suite de nombres qui donne l’adresse d’un mot ou d’une phrase sur la carte du sens</a:t>
            </a:r>
            <a:endParaRPr lang="en-US" sz="1350" dirty="0"/>
          </a:p>
        </p:txBody>
      </p:sp>
      <p:sp>
        <p:nvSpPr>
          <p:cNvPr id="7" name="Carte"/>
          <p:cNvSpPr/>
          <p:nvPr/>
        </p:nvSpPr>
        <p:spPr>
          <a:xfrm>
            <a:off x="429768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Attention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Mécanisme par lequel chaque mot regarde les autres pour préciser son sens</a:t>
            </a:r>
            <a:endParaRPr lang="en-US" sz="1350" dirty="0"/>
          </a:p>
        </p:txBody>
      </p:sp>
      <p:sp>
        <p:nvSpPr>
          <p:cNvPr id="10" name="Carte"/>
          <p:cNvSpPr/>
          <p:nvPr/>
        </p:nvSpPr>
        <p:spPr>
          <a:xfrm>
            <a:off x="804672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Transformer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Famille de modèles fondée sur l’attention, à la base des assistants modernes</a:t>
            </a:r>
            <a:endParaRPr lang="en-US" sz="1350" dirty="0"/>
          </a:p>
        </p:txBody>
      </p:sp>
      <p:sp>
        <p:nvSpPr>
          <p:cNvPr id="13" name="Carte"/>
          <p:cNvSpPr/>
          <p:nvPr/>
        </p:nvSpPr>
        <p:spPr>
          <a:xfrm>
            <a:off x="54864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Pré-entraîné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Modèle ayant déjà lu une grande quantité de textes avant d’être adapté</a:t>
            </a:r>
            <a:endParaRPr lang="en-US" sz="1350" dirty="0"/>
          </a:p>
        </p:txBody>
      </p:sp>
      <p:sp>
        <p:nvSpPr>
          <p:cNvPr id="16" name="Carte"/>
          <p:cNvSpPr/>
          <p:nvPr/>
        </p:nvSpPr>
        <p:spPr>
          <a:xfrm>
            <a:off x="429768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Recherche sémantique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Recherche par le sens plutôt que par les mots exacts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804672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Token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Morceau de texte manipulé par le modèle</a:t>
            </a:r>
            <a:endParaRPr lang="en-US" sz="1350" dirty="0"/>
          </a:p>
        </p:txBody>
      </p:sp>
      <p:sp>
        <p:nvSpPr>
          <p:cNvPr id="22" name="Carte"/>
          <p:cNvSpPr/>
          <p:nvPr/>
        </p:nvSpPr>
        <p:spPr>
          <a:xfrm>
            <a:off x="54864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Hallucination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Information fausse présentée avec aplomb par un modèle</a:t>
            </a:r>
            <a:endParaRPr lang="en-US" sz="1350" dirty="0"/>
          </a:p>
        </p:txBody>
      </p:sp>
      <p:sp>
        <p:nvSpPr>
          <p:cNvPr id="25" name="Carte"/>
          <p:cNvSpPr/>
          <p:nvPr/>
        </p:nvSpPr>
        <p:spPr>
          <a:xfrm>
            <a:off x="429768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056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Biais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Préjugé hérité des textes d’apprentissage</a:t>
            </a:r>
            <a:endParaRPr lang="en-US" sz="1350" dirty="0"/>
          </a:p>
        </p:txBody>
      </p:sp>
      <p:sp>
        <p:nvSpPr>
          <p:cNvPr id="28" name="Carte"/>
          <p:cNvSpPr/>
          <p:nvPr/>
        </p:nvSpPr>
        <p:spPr>
          <a:xfrm>
            <a:off x="804672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Multilingue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Modèle entraîné sur plusieurs langues à la fois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Merci et à bientôt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Prochain module : Fine-tuning, LoRA et QLoRA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Adapter un modèle à nos besoins sans tout recommencer  ·  Projet #TOGO AI Lab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L">
  <a:themeElements>
    <a:clrScheme name="TAL">
      <a:dk1>
        <a:srgbClr val="1B2B27"/>
      </a:dk1>
      <a:lt1>
        <a:srgbClr val="FFFFFF"/>
      </a:lt1>
      <a:dk2>
        <a:srgbClr val="0B4A38"/>
      </a:dk2>
      <a:lt2>
        <a:srgbClr val="E8F3EE"/>
      </a:lt2>
      <a:accent1>
        <a:srgbClr val="006A4E"/>
      </a:accent1>
      <a:accent2>
        <a:srgbClr val="2F6386"/>
      </a:accent2>
      <a:accent3>
        <a:srgbClr val="FFCF11"/>
      </a:accent3>
      <a:accent4>
        <a:srgbClr val="C9211E"/>
      </a:accent4>
      <a:accent5>
        <a:srgbClr val="DCEBE5"/>
      </a:accent5>
      <a:accent6>
        <a:srgbClr val="5B6B66"/>
      </a:accent6>
      <a:hlink>
        <a:srgbClr val="2F6386"/>
      </a:hlink>
      <a:folHlink>
        <a:srgbClr val="5B6B66"/>
      </a:folHlink>
    </a:clrScheme>
    <a:fontScheme name="T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Togo AI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 · Transformers et embeddings (non-IT)</dc:title>
  <dc:subject>PptxGenJS Presentation</dc:subject>
  <dc:creator>Togo AI Lab</dc:creator>
  <cp:lastModifiedBy>Togo AI Lab</cp:lastModifiedBy>
  <cp:revision>1</cp:revision>
  <dcterms:created xsi:type="dcterms:W3CDTF">2026-10-19T20:43:24Z</dcterms:created>
  <dcterms:modified xsi:type="dcterms:W3CDTF">2026-10-19T20:43:24Z</dcterms:modified>
</cp:coreProperties>
</file>