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9971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fr-F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mbria" panose="02040503050406030204" pitchFamily="18" charset="0"/>
              <a:ea typeface="Cambria" panose="02040503050406030204" pitchFamily="18" charset="0"/>
            </a:endParaRPr>
          </a:p>
        </p:txBody>
      </p:sp>
      <p:sp>
        <p:nvSpPr>
          <p:cNvPr id="3" name="TextBox 2"/>
          <p:cNvSpPr txBox="1"/>
          <p:nvPr/>
        </p:nvSpPr>
        <p:spPr>
          <a:xfrm>
            <a:off x="914400" y="731520"/>
            <a:ext cx="10058400" cy="250838"/>
          </a:xfrm>
          <a:prstGeom prst="rect">
            <a:avLst/>
          </a:prstGeom>
          <a:noFill/>
        </p:spPr>
        <p:txBody>
          <a:bodyPr wrap="square" lIns="45720" tIns="27432" rIns="45720" bIns="27432" anchor="t">
            <a:spAutoFit/>
          </a:bodyPr>
          <a:lstStyle/>
          <a:p>
            <a:pPr algn="l">
              <a:lnSpc>
                <a:spcPct val="105000"/>
              </a:lnSpc>
            </a:pPr>
            <a:r>
              <a:rPr sz="1300" b="1" i="0" dirty="0">
                <a:solidFill>
                  <a:srgbClr val="E0A526"/>
                </a:solidFill>
                <a:latin typeface="Cambria" panose="02040503050406030204" pitchFamily="18" charset="0"/>
                <a:ea typeface="Cambria" panose="02040503050406030204" pitchFamily="18" charset="0"/>
              </a:rPr>
              <a:t>FORMATION INTERMÉDIAIRE ET AVANCÉE EN IA POUR LES FEMMES CHERCHEURES · VOLET NON-IT</a:t>
            </a:r>
          </a:p>
        </p:txBody>
      </p:sp>
      <p:sp>
        <p:nvSpPr>
          <p:cNvPr id="4" name="TextBox 3"/>
          <p:cNvSpPr txBox="1"/>
          <p:nvPr/>
        </p:nvSpPr>
        <p:spPr>
          <a:xfrm>
            <a:off x="914400" y="1463040"/>
            <a:ext cx="10789920" cy="716928"/>
          </a:xfrm>
          <a:prstGeom prst="rect">
            <a:avLst/>
          </a:prstGeom>
          <a:noFill/>
        </p:spPr>
        <p:txBody>
          <a:bodyPr wrap="square" lIns="45720" tIns="27432" rIns="45720" bIns="27432" anchor="t">
            <a:spAutoFit/>
          </a:bodyPr>
          <a:lstStyle/>
          <a:p>
            <a:pPr algn="l">
              <a:lnSpc>
                <a:spcPct val="105000"/>
              </a:lnSpc>
            </a:pPr>
            <a:r>
              <a:rPr sz="4400" b="1" i="0" dirty="0">
                <a:solidFill>
                  <a:srgbClr val="FFFFFF"/>
                </a:solidFill>
                <a:latin typeface="Cambria" panose="02040503050406030204" pitchFamily="18" charset="0"/>
                <a:ea typeface="Cambria" panose="02040503050406030204" pitchFamily="18" charset="0"/>
              </a:rPr>
              <a:t>IA pour la recherche </a:t>
            </a:r>
            <a:r>
              <a:rPr sz="4400" b="1" i="0" dirty="0" err="1">
                <a:solidFill>
                  <a:srgbClr val="FFFFFF"/>
                </a:solidFill>
                <a:latin typeface="Cambria" panose="02040503050406030204" pitchFamily="18" charset="0"/>
                <a:ea typeface="Cambria" panose="02040503050406030204" pitchFamily="18" charset="0"/>
              </a:rPr>
              <a:t>documentaire</a:t>
            </a:r>
            <a:endParaRPr sz="4400" b="1" i="0" dirty="0">
              <a:solidFill>
                <a:srgbClr val="FFFFFF"/>
              </a:solidFill>
              <a:latin typeface="Cambria" panose="02040503050406030204" pitchFamily="18" charset="0"/>
              <a:ea typeface="Cambria" panose="02040503050406030204" pitchFamily="18" charset="0"/>
            </a:endParaRPr>
          </a:p>
        </p:txBody>
      </p:sp>
      <p:sp>
        <p:nvSpPr>
          <p:cNvPr id="5" name="TextBox 4"/>
          <p:cNvSpPr txBox="1"/>
          <p:nvPr/>
        </p:nvSpPr>
        <p:spPr>
          <a:xfrm>
            <a:off x="914400" y="2743200"/>
            <a:ext cx="10058400" cy="446276"/>
          </a:xfrm>
          <a:prstGeom prst="rect">
            <a:avLst/>
          </a:prstGeom>
          <a:noFill/>
        </p:spPr>
        <p:txBody>
          <a:bodyPr wrap="square" lIns="45720" tIns="27432" rIns="45720" bIns="27432" anchor="t">
            <a:spAutoFit/>
          </a:bodyPr>
          <a:lstStyle/>
          <a:p>
            <a:pPr algn="l">
              <a:lnSpc>
                <a:spcPct val="105000"/>
              </a:lnSpc>
            </a:pPr>
            <a:r>
              <a:rPr sz="2600" b="0" i="0" dirty="0" err="1">
                <a:solidFill>
                  <a:srgbClr val="E8F1F3"/>
                </a:solidFill>
                <a:latin typeface="Cambria" panose="02040503050406030204" pitchFamily="18" charset="0"/>
                <a:ea typeface="Cambria" panose="02040503050406030204" pitchFamily="18" charset="0"/>
              </a:rPr>
              <a:t>Outils</a:t>
            </a:r>
            <a:r>
              <a:rPr sz="2600" b="0" i="0" dirty="0">
                <a:solidFill>
                  <a:srgbClr val="E8F1F3"/>
                </a:solidFill>
                <a:latin typeface="Cambria" panose="02040503050406030204" pitchFamily="18" charset="0"/>
                <a:ea typeface="Cambria" panose="02040503050406030204" pitchFamily="18" charset="0"/>
              </a:rPr>
              <a:t> IA pour la revue de </a:t>
            </a:r>
            <a:r>
              <a:rPr sz="2600" b="0" i="0" dirty="0" err="1">
                <a:solidFill>
                  <a:srgbClr val="E8F1F3"/>
                </a:solidFill>
                <a:latin typeface="Cambria" panose="02040503050406030204" pitchFamily="18" charset="0"/>
                <a:ea typeface="Cambria" panose="02040503050406030204" pitchFamily="18" charset="0"/>
              </a:rPr>
              <a:t>littérature</a:t>
            </a:r>
            <a:r>
              <a:rPr sz="2600" b="0" i="0" dirty="0">
                <a:solidFill>
                  <a:srgbClr val="E8F1F3"/>
                </a:solidFill>
                <a:latin typeface="Cambria" panose="02040503050406030204" pitchFamily="18" charset="0"/>
                <a:ea typeface="Cambria" panose="02040503050406030204" pitchFamily="18" charset="0"/>
              </a:rPr>
              <a:t> et </a:t>
            </a:r>
            <a:r>
              <a:rPr sz="2600" b="0" i="0" dirty="0" err="1">
                <a:solidFill>
                  <a:srgbClr val="E8F1F3"/>
                </a:solidFill>
                <a:latin typeface="Cambria" panose="02040503050406030204" pitchFamily="18" charset="0"/>
                <a:ea typeface="Cambria" panose="02040503050406030204" pitchFamily="18" charset="0"/>
              </a:rPr>
              <a:t>synthèse</a:t>
            </a:r>
            <a:r>
              <a:rPr sz="2600" b="0" i="0" dirty="0">
                <a:solidFill>
                  <a:srgbClr val="E8F1F3"/>
                </a:solidFill>
                <a:latin typeface="Cambria" panose="02040503050406030204" pitchFamily="18" charset="0"/>
                <a:ea typeface="Cambria" panose="02040503050406030204" pitchFamily="18" charset="0"/>
              </a:rPr>
              <a:t> </a:t>
            </a:r>
            <a:r>
              <a:rPr sz="2600" b="0" i="0" dirty="0" err="1">
                <a:solidFill>
                  <a:srgbClr val="E8F1F3"/>
                </a:solidFill>
                <a:latin typeface="Cambria" panose="02040503050406030204" pitchFamily="18" charset="0"/>
                <a:ea typeface="Cambria" panose="02040503050406030204" pitchFamily="18" charset="0"/>
              </a:rPr>
              <a:t>assistée</a:t>
            </a:r>
            <a:endParaRPr sz="2600" b="0" i="0" dirty="0">
              <a:solidFill>
                <a:srgbClr val="E8F1F3"/>
              </a:solidFill>
              <a:latin typeface="Cambria" panose="02040503050406030204" pitchFamily="18" charset="0"/>
              <a:ea typeface="Cambria" panose="02040503050406030204" pitchFamily="18" charset="0"/>
            </a:endParaRPr>
          </a:p>
        </p:txBody>
      </p:sp>
      <p:sp>
        <p:nvSpPr>
          <p:cNvPr id="6" name="TextBox 5"/>
          <p:cNvSpPr txBox="1"/>
          <p:nvPr/>
        </p:nvSpPr>
        <p:spPr>
          <a:xfrm>
            <a:off x="914400" y="3749039"/>
            <a:ext cx="10058400" cy="326051"/>
          </a:xfrm>
          <a:prstGeom prst="rect">
            <a:avLst/>
          </a:prstGeom>
          <a:noFill/>
        </p:spPr>
        <p:txBody>
          <a:bodyPr wrap="square" lIns="45720" tIns="27432" rIns="45720" bIns="27432" anchor="t">
            <a:spAutoFit/>
          </a:bodyPr>
          <a:lstStyle/>
          <a:p>
            <a:pPr algn="l">
              <a:lnSpc>
                <a:spcPct val="105000"/>
              </a:lnSpc>
            </a:pPr>
            <a:r>
              <a:rPr sz="1800" b="0" i="0" dirty="0">
                <a:solidFill>
                  <a:srgbClr val="E0A526"/>
                </a:solidFill>
                <a:latin typeface="Cambria" panose="02040503050406030204" pitchFamily="18" charset="0"/>
                <a:ea typeface="Cambria" panose="02040503050406030204" pitchFamily="18" charset="0"/>
              </a:rPr>
              <a:t>Semantic Scholar · Connected Papers · Elicit · PICO(S) · PRISMA 2020</a:t>
            </a:r>
          </a:p>
        </p:txBody>
      </p:sp>
      <p:sp>
        <p:nvSpPr>
          <p:cNvPr id="7" name="TextBox 6"/>
          <p:cNvSpPr txBox="1"/>
          <p:nvPr/>
        </p:nvSpPr>
        <p:spPr>
          <a:xfrm>
            <a:off x="914400" y="4937760"/>
            <a:ext cx="10058400" cy="813043"/>
          </a:xfrm>
          <a:prstGeom prst="rect">
            <a:avLst/>
          </a:prstGeom>
          <a:noFill/>
        </p:spPr>
        <p:txBody>
          <a:bodyPr wrap="square" lIns="45720" tIns="27432" rIns="45720" bIns="27432" anchor="t">
            <a:spAutoFit/>
          </a:bodyPr>
          <a:lstStyle/>
          <a:p>
            <a:pPr algn="l">
              <a:lnSpc>
                <a:spcPct val="105000"/>
              </a:lnSpc>
            </a:pPr>
            <a:r>
              <a:rPr sz="1600" b="0" i="0" dirty="0">
                <a:solidFill>
                  <a:srgbClr val="FFFFFF"/>
                </a:solidFill>
                <a:latin typeface="Cambria" panose="02040503050406030204" pitchFamily="18" charset="0"/>
                <a:ea typeface="Cambria" panose="02040503050406030204" pitchFamily="18" charset="0"/>
              </a:rPr>
              <a:t>Module M2-nonIT · Jour 2</a:t>
            </a:r>
          </a:p>
          <a:p>
            <a:pPr algn="l">
              <a:lnSpc>
                <a:spcPct val="105000"/>
              </a:lnSpc>
            </a:pPr>
            <a:r>
              <a:rPr sz="1600" b="0" i="0" dirty="0" err="1">
                <a:solidFill>
                  <a:srgbClr val="FFFFFF"/>
                </a:solidFill>
                <a:latin typeface="Cambria" panose="02040503050406030204" pitchFamily="18" charset="0"/>
                <a:ea typeface="Cambria" panose="02040503050406030204" pitchFamily="18" charset="0"/>
              </a:rPr>
              <a:t>Formatrice</a:t>
            </a:r>
            <a:r>
              <a:rPr sz="1600" b="0" i="0" dirty="0">
                <a:solidFill>
                  <a:srgbClr val="FFFFFF"/>
                </a:solidFill>
                <a:latin typeface="Cambria" panose="02040503050406030204" pitchFamily="18" charset="0"/>
                <a:ea typeface="Cambria" panose="02040503050406030204" pitchFamily="18" charset="0"/>
              </a:rPr>
              <a:t> : </a:t>
            </a:r>
            <a:r>
              <a:rPr sz="1600" b="0" i="0" dirty="0" err="1">
                <a:solidFill>
                  <a:srgbClr val="FFFFFF"/>
                </a:solidFill>
                <a:latin typeface="Cambria" panose="02040503050406030204" pitchFamily="18" charset="0"/>
                <a:ea typeface="Cambria" panose="02040503050406030204" pitchFamily="18" charset="0"/>
              </a:rPr>
              <a:t>Ahoéfa</a:t>
            </a:r>
            <a:r>
              <a:rPr sz="1600" b="0" i="0" dirty="0">
                <a:solidFill>
                  <a:srgbClr val="FFFFFF"/>
                </a:solidFill>
                <a:latin typeface="Cambria" panose="02040503050406030204" pitchFamily="18" charset="0"/>
                <a:ea typeface="Cambria" panose="02040503050406030204" pitchFamily="18" charset="0"/>
              </a:rPr>
              <a:t> Gaëlle-Fernanda ATTIKPO</a:t>
            </a:r>
          </a:p>
          <a:p>
            <a:pPr algn="l">
              <a:lnSpc>
                <a:spcPct val="105000"/>
              </a:lnSpc>
            </a:pPr>
            <a:r>
              <a:rPr sz="1600" b="0" i="0" dirty="0">
                <a:solidFill>
                  <a:srgbClr val="FFFFFF"/>
                </a:solidFill>
                <a:latin typeface="Cambria" panose="02040503050406030204" pitchFamily="18" charset="0"/>
                <a:ea typeface="Cambria" panose="02040503050406030204" pitchFamily="18" charset="0"/>
              </a:rPr>
              <a:t>Université de Lomé – </a:t>
            </a:r>
            <a:r>
              <a:rPr sz="1600" b="0" i="0" dirty="0" err="1">
                <a:solidFill>
                  <a:srgbClr val="FFFFFF"/>
                </a:solidFill>
                <a:latin typeface="Cambria" panose="02040503050406030204" pitchFamily="18" charset="0"/>
                <a:ea typeface="Cambria" panose="02040503050406030204" pitchFamily="18" charset="0"/>
              </a:rPr>
              <a:t>UniPod</a:t>
            </a:r>
            <a:r>
              <a:rPr sz="1600" b="0" i="0" dirty="0">
                <a:solidFill>
                  <a:srgbClr val="FFFFFF"/>
                </a:solidFill>
                <a:latin typeface="Cambria" panose="02040503050406030204" pitchFamily="18" charset="0"/>
                <a:ea typeface="Cambria" panose="02040503050406030204" pitchFamily="18" charset="0"/>
              </a:rPr>
              <a:t> · </a:t>
            </a:r>
            <a:r>
              <a:rPr sz="1600" b="0" i="0" dirty="0" err="1">
                <a:solidFill>
                  <a:srgbClr val="FFFFFF"/>
                </a:solidFill>
                <a:latin typeface="Cambria" panose="02040503050406030204" pitchFamily="18" charset="0"/>
                <a:ea typeface="Cambria" panose="02040503050406030204" pitchFamily="18" charset="0"/>
              </a:rPr>
              <a:t>ProDigiT</a:t>
            </a:r>
            <a:r>
              <a:rPr sz="1600" b="0" i="0" dirty="0">
                <a:solidFill>
                  <a:srgbClr val="FFFFFF"/>
                </a:solidFill>
                <a:latin typeface="Cambria" panose="02040503050406030204" pitchFamily="18" charset="0"/>
                <a:ea typeface="Cambria" panose="02040503050406030204" pitchFamily="18" charset="0"/>
              </a:rPr>
              <a:t> / Togo AI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OUVERTURE</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dirty="0" err="1">
                <a:solidFill>
                  <a:srgbClr val="0B3C49"/>
                </a:solidFill>
                <a:latin typeface="Georgia"/>
              </a:rPr>
              <a:t>Votre</a:t>
            </a:r>
            <a:r>
              <a:rPr sz="3000" b="1" i="0" dirty="0">
                <a:solidFill>
                  <a:srgbClr val="0B3C49"/>
                </a:solidFill>
                <a:latin typeface="Georgia"/>
              </a:rPr>
              <a:t> </a:t>
            </a:r>
            <a:r>
              <a:rPr sz="3000" b="1" i="0" dirty="0" err="1">
                <a:solidFill>
                  <a:srgbClr val="0B3C49"/>
                </a:solidFill>
                <a:latin typeface="Georgia"/>
              </a:rPr>
              <a:t>formatrice</a:t>
            </a:r>
            <a:endParaRPr sz="3000" b="1" i="0" dirty="0">
              <a:solidFill>
                <a:srgbClr val="0B3C49"/>
              </a:solidFill>
              <a:latin typeface="Georgia"/>
            </a:endParaRP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a:t>
            </a:r>
          </a:p>
        </p:txBody>
      </p:sp>
      <p:sp>
        <p:nvSpPr>
          <p:cNvPr id="13" name="TextBox 12"/>
          <p:cNvSpPr txBox="1"/>
          <p:nvPr/>
        </p:nvSpPr>
        <p:spPr>
          <a:xfrm>
            <a:off x="502920" y="1417320"/>
            <a:ext cx="10972800" cy="548640"/>
          </a:xfrm>
          <a:prstGeom prst="rect">
            <a:avLst/>
          </a:prstGeom>
          <a:noFill/>
        </p:spPr>
        <p:txBody>
          <a:bodyPr wrap="square" lIns="45720" tIns="27432" rIns="45720" bIns="27432" anchor="t">
            <a:spAutoFit/>
          </a:bodyPr>
          <a:lstStyle/>
          <a:p>
            <a:pPr algn="l">
              <a:lnSpc>
                <a:spcPct val="105000"/>
              </a:lnSpc>
            </a:pPr>
            <a:r>
              <a:rPr sz="2400" b="1" i="0" dirty="0" err="1">
                <a:solidFill>
                  <a:srgbClr val="1F7A8C"/>
                </a:solidFill>
                <a:latin typeface="Georgia"/>
              </a:rPr>
              <a:t>Ahoéfa</a:t>
            </a:r>
            <a:r>
              <a:rPr sz="2400" b="1" i="0" dirty="0">
                <a:solidFill>
                  <a:srgbClr val="1F7A8C"/>
                </a:solidFill>
                <a:latin typeface="Georgia"/>
              </a:rPr>
              <a:t> Gaëlle-Fernanda ATTIKPO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OBJECTIFS DE LA JOURNÉE</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dirty="0">
                <a:solidFill>
                  <a:srgbClr val="0B3C49"/>
                </a:solidFill>
                <a:latin typeface="Georgia"/>
              </a:rPr>
              <a:t>À 17h00, vous </a:t>
            </a:r>
            <a:r>
              <a:rPr sz="3000" b="1" i="0" dirty="0" err="1">
                <a:solidFill>
                  <a:srgbClr val="0B3C49"/>
                </a:solidFill>
                <a:latin typeface="Georgia"/>
              </a:rPr>
              <a:t>saurez</a:t>
            </a:r>
            <a:r>
              <a:rPr sz="3000" b="1" i="0" dirty="0">
                <a:solidFill>
                  <a:srgbClr val="0B3C49"/>
                </a:solidFill>
                <a:latin typeface="Georgia"/>
              </a:rPr>
              <a:t>…</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a:t>
            </a:r>
          </a:p>
        </p:txBody>
      </p:sp>
      <p:sp>
        <p:nvSpPr>
          <p:cNvPr id="13" name="Rectangle 12"/>
          <p:cNvSpPr/>
          <p:nvPr/>
        </p:nvSpPr>
        <p:spPr>
          <a:xfrm>
            <a:off x="502920" y="1508760"/>
            <a:ext cx="10424160" cy="5486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1508760"/>
            <a:ext cx="9966960" cy="548640"/>
          </a:xfrm>
          <a:prstGeom prst="rect">
            <a:avLst/>
          </a:prstGeom>
          <a:noFill/>
        </p:spPr>
        <p:txBody>
          <a:bodyPr wrap="square" lIns="45720" tIns="27432" rIns="45720" bIns="27432" anchor="ctr">
            <a:spAutoFit/>
          </a:bodyPr>
          <a:lstStyle/>
          <a:p>
            <a:pPr algn="l">
              <a:lnSpc>
                <a:spcPct val="105000"/>
              </a:lnSpc>
            </a:pPr>
            <a:r>
              <a:rPr sz="1700" b="0" i="0" dirty="0" err="1">
                <a:solidFill>
                  <a:srgbClr val="222B30"/>
                </a:solidFill>
                <a:latin typeface="Calibri"/>
              </a:rPr>
              <a:t>Formuler</a:t>
            </a:r>
            <a:r>
              <a:rPr sz="1700" b="0" i="0" dirty="0">
                <a:solidFill>
                  <a:srgbClr val="222B30"/>
                </a:solidFill>
                <a:latin typeface="Calibri"/>
              </a:rPr>
              <a:t> </a:t>
            </a:r>
            <a:r>
              <a:rPr sz="1700" b="0" i="0" dirty="0" err="1">
                <a:solidFill>
                  <a:srgbClr val="222B30"/>
                </a:solidFill>
                <a:latin typeface="Calibri"/>
              </a:rPr>
              <a:t>votre</a:t>
            </a:r>
            <a:r>
              <a:rPr sz="1700" b="0" i="0" dirty="0">
                <a:solidFill>
                  <a:srgbClr val="222B30"/>
                </a:solidFill>
                <a:latin typeface="Calibri"/>
              </a:rPr>
              <a:t> question avec PICO(S) </a:t>
            </a:r>
            <a:r>
              <a:rPr sz="1700" b="0" i="0" dirty="0" err="1">
                <a:solidFill>
                  <a:srgbClr val="222B30"/>
                </a:solidFill>
                <a:latin typeface="Calibri"/>
              </a:rPr>
              <a:t>ou</a:t>
            </a:r>
            <a:r>
              <a:rPr sz="1700" b="0" i="0" dirty="0">
                <a:solidFill>
                  <a:srgbClr val="222B30"/>
                </a:solidFill>
                <a:latin typeface="Calibri"/>
              </a:rPr>
              <a:t> </a:t>
            </a:r>
            <a:r>
              <a:rPr sz="1700" b="0" i="0" dirty="0" err="1">
                <a:solidFill>
                  <a:srgbClr val="222B30"/>
                </a:solidFill>
                <a:latin typeface="Calibri"/>
              </a:rPr>
              <a:t>une</a:t>
            </a:r>
            <a:r>
              <a:rPr sz="1700" b="0" i="0" dirty="0">
                <a:solidFill>
                  <a:srgbClr val="222B30"/>
                </a:solidFill>
                <a:latin typeface="Calibri"/>
              </a:rPr>
              <a:t> </a:t>
            </a:r>
            <a:r>
              <a:rPr sz="1700" b="0" i="0" dirty="0" err="1">
                <a:solidFill>
                  <a:srgbClr val="222B30"/>
                </a:solidFill>
                <a:latin typeface="Calibri"/>
              </a:rPr>
              <a:t>variante</a:t>
            </a:r>
            <a:r>
              <a:rPr sz="1700" b="0" i="0" dirty="0">
                <a:solidFill>
                  <a:srgbClr val="222B30"/>
                </a:solidFill>
                <a:latin typeface="Calibri"/>
              </a:rPr>
              <a:t> </a:t>
            </a:r>
            <a:r>
              <a:rPr sz="1700" b="0" i="0" dirty="0" err="1">
                <a:solidFill>
                  <a:srgbClr val="222B30"/>
                </a:solidFill>
                <a:latin typeface="Calibri"/>
              </a:rPr>
              <a:t>adaptée</a:t>
            </a:r>
            <a:r>
              <a:rPr sz="1700" b="0" i="0" dirty="0">
                <a:solidFill>
                  <a:srgbClr val="222B30"/>
                </a:solidFill>
                <a:latin typeface="Calibri"/>
              </a:rPr>
              <a:t> à </a:t>
            </a:r>
            <a:r>
              <a:rPr sz="1700" b="0" i="0" dirty="0" err="1">
                <a:solidFill>
                  <a:srgbClr val="222B30"/>
                </a:solidFill>
                <a:latin typeface="Calibri"/>
              </a:rPr>
              <a:t>votre</a:t>
            </a:r>
            <a:r>
              <a:rPr sz="1700" b="0" i="0" dirty="0">
                <a:solidFill>
                  <a:srgbClr val="222B30"/>
                </a:solidFill>
                <a:latin typeface="Calibri"/>
              </a:rPr>
              <a:t> discipline</a:t>
            </a:r>
          </a:p>
        </p:txBody>
      </p:sp>
      <p:sp>
        <p:nvSpPr>
          <p:cNvPr id="15" name="Chevron 14"/>
          <p:cNvSpPr/>
          <p:nvPr/>
        </p:nvSpPr>
        <p:spPr>
          <a:xfrm>
            <a:off x="11064240" y="1554480"/>
            <a:ext cx="548640" cy="457200"/>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1</a:t>
            </a:r>
          </a:p>
        </p:txBody>
      </p:sp>
      <p:sp>
        <p:nvSpPr>
          <p:cNvPr id="16" name="Rectangle 15"/>
          <p:cNvSpPr/>
          <p:nvPr/>
        </p:nvSpPr>
        <p:spPr>
          <a:xfrm>
            <a:off x="502920" y="2176272"/>
            <a:ext cx="10424160" cy="5486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176272"/>
            <a:ext cx="9966960" cy="5486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La traduire en équation de recherche bilingue (FR / EN)</a:t>
            </a:r>
          </a:p>
        </p:txBody>
      </p:sp>
      <p:sp>
        <p:nvSpPr>
          <p:cNvPr id="18" name="Chevron 17"/>
          <p:cNvSpPr/>
          <p:nvPr/>
        </p:nvSpPr>
        <p:spPr>
          <a:xfrm>
            <a:off x="11064240" y="2221991"/>
            <a:ext cx="548640" cy="457200"/>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1</a:t>
            </a:r>
          </a:p>
        </p:txBody>
      </p:sp>
      <p:sp>
        <p:nvSpPr>
          <p:cNvPr id="19" name="Rectangle 18"/>
          <p:cNvSpPr/>
          <p:nvPr/>
        </p:nvSpPr>
        <p:spPr>
          <a:xfrm>
            <a:off x="502920" y="2843784"/>
            <a:ext cx="10424160" cy="5486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2843784"/>
            <a:ext cx="9966960" cy="5486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Explorer la littérature avec Semantic Scholar et Connected Papers, de façon traçable</a:t>
            </a:r>
          </a:p>
        </p:txBody>
      </p:sp>
      <p:sp>
        <p:nvSpPr>
          <p:cNvPr id="21" name="Chevron 20"/>
          <p:cNvSpPr/>
          <p:nvPr/>
        </p:nvSpPr>
        <p:spPr>
          <a:xfrm>
            <a:off x="11064240" y="2889503"/>
            <a:ext cx="548640" cy="457200"/>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2</a:t>
            </a:r>
          </a:p>
        </p:txBody>
      </p:sp>
      <p:sp>
        <p:nvSpPr>
          <p:cNvPr id="22" name="Rectangle 21"/>
          <p:cNvSpPr/>
          <p:nvPr/>
        </p:nvSpPr>
        <p:spPr>
          <a:xfrm>
            <a:off x="502920" y="3511296"/>
            <a:ext cx="10424160" cy="5486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3511296"/>
            <a:ext cx="9966960" cy="5486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Cribler et extraire avec Elicit, et renseigner le diagramme PRISMA 2020</a:t>
            </a:r>
          </a:p>
        </p:txBody>
      </p:sp>
      <p:sp>
        <p:nvSpPr>
          <p:cNvPr id="24" name="Chevron 23"/>
          <p:cNvSpPr/>
          <p:nvPr/>
        </p:nvSpPr>
        <p:spPr>
          <a:xfrm>
            <a:off x="11064240" y="3557015"/>
            <a:ext cx="548640" cy="457200"/>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3</a:t>
            </a:r>
          </a:p>
        </p:txBody>
      </p:sp>
      <p:sp>
        <p:nvSpPr>
          <p:cNvPr id="25" name="Rectangle 24"/>
          <p:cNvSpPr/>
          <p:nvPr/>
        </p:nvSpPr>
        <p:spPr>
          <a:xfrm>
            <a:off x="502920" y="4178808"/>
            <a:ext cx="10424160" cy="5486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4178808"/>
            <a:ext cx="9966960" cy="5486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Rédiger une synthèse assistée vérifiée et une note méthodologique</a:t>
            </a:r>
          </a:p>
        </p:txBody>
      </p:sp>
      <p:sp>
        <p:nvSpPr>
          <p:cNvPr id="27" name="Chevron 26"/>
          <p:cNvSpPr/>
          <p:nvPr/>
        </p:nvSpPr>
        <p:spPr>
          <a:xfrm>
            <a:off x="11064240" y="4224528"/>
            <a:ext cx="548640" cy="457200"/>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4</a:t>
            </a:r>
          </a:p>
        </p:txBody>
      </p:sp>
      <p:sp>
        <p:nvSpPr>
          <p:cNvPr id="28" name="Rectangle 27"/>
          <p:cNvSpPr/>
          <p:nvPr/>
        </p:nvSpPr>
        <p:spPr>
          <a:xfrm>
            <a:off x="502920" y="4846320"/>
            <a:ext cx="10424160" cy="5486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4846320"/>
            <a:ext cx="9966960" cy="5486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Repérer les biais (dont de genre) et respecter l'intégrité scientifique</a:t>
            </a:r>
          </a:p>
        </p:txBody>
      </p:sp>
      <p:sp>
        <p:nvSpPr>
          <p:cNvPr id="30" name="Chevron 29"/>
          <p:cNvSpPr/>
          <p:nvPr/>
        </p:nvSpPr>
        <p:spPr>
          <a:xfrm>
            <a:off x="11064240" y="4892040"/>
            <a:ext cx="548640" cy="457200"/>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5</a:t>
            </a:r>
          </a:p>
        </p:txBody>
      </p:sp>
      <p:sp>
        <p:nvSpPr>
          <p:cNvPr id="31" name="Rectangle 30"/>
          <p:cNvSpPr/>
          <p:nvPr/>
        </p:nvSpPr>
        <p:spPr>
          <a:xfrm>
            <a:off x="502920" y="5513831"/>
            <a:ext cx="10424160" cy="5486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5513831"/>
            <a:ext cx="9966960" cy="5486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Planifier la valorisation de la synthèse dans votre projet de recherche</a:t>
            </a:r>
          </a:p>
        </p:txBody>
      </p:sp>
      <p:sp>
        <p:nvSpPr>
          <p:cNvPr id="33" name="Chevron 32"/>
          <p:cNvSpPr/>
          <p:nvPr/>
        </p:nvSpPr>
        <p:spPr>
          <a:xfrm>
            <a:off x="11064240" y="5559551"/>
            <a:ext cx="548640" cy="457200"/>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OUVERTURE</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Le programme de la journée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4</a:t>
            </a:r>
          </a:p>
        </p:txBody>
      </p:sp>
      <p:graphicFrame>
        <p:nvGraphicFramePr>
          <p:cNvPr id="13" name="Table 12"/>
          <p:cNvGraphicFramePr>
            <a:graphicFrameLocks noGrp="1"/>
          </p:cNvGraphicFramePr>
          <p:nvPr/>
        </p:nvGraphicFramePr>
        <p:xfrm>
          <a:off x="502920" y="1371600"/>
          <a:ext cx="11155680" cy="5148072"/>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65176">
                <a:tc>
                  <a:txBody>
                    <a:bodyPr/>
                    <a:lstStyle/>
                    <a:p>
                      <a:r>
                        <a:rPr sz="1050" b="1" i="0">
                          <a:solidFill>
                            <a:srgbClr val="FFFFFF"/>
                          </a:solidFill>
                          <a:latin typeface="Calibri"/>
                        </a:rPr>
                        <a:t>Horaire</a:t>
                      </a:r>
                    </a:p>
                  </a:txBody>
                  <a:tcPr marL="64008" marR="64008" marT="27432" marB="27432">
                    <a:solidFill>
                      <a:srgbClr val="0B3C49"/>
                    </a:solidFill>
                  </a:tcPr>
                </a:tc>
                <a:tc>
                  <a:txBody>
                    <a:bodyPr/>
                    <a:lstStyle/>
                    <a:p>
                      <a:r>
                        <a:rPr sz="1050" b="1" i="0">
                          <a:solidFill>
                            <a:srgbClr val="FFFFFF"/>
                          </a:solidFill>
                          <a:latin typeface="Calibri"/>
                        </a:rPr>
                        <a:t>Séquence</a:t>
                      </a:r>
                    </a:p>
                  </a:txBody>
                  <a:tcPr marL="64008" marR="64008" marT="27432" marB="27432">
                    <a:solidFill>
                      <a:srgbClr val="0B3C49"/>
                    </a:solidFill>
                  </a:tcPr>
                </a:tc>
                <a:tc>
                  <a:txBody>
                    <a:bodyPr/>
                    <a:lstStyle/>
                    <a:p>
                      <a:r>
                        <a:rPr sz="1050" b="1" i="0">
                          <a:solidFill>
                            <a:srgbClr val="FFFFFF"/>
                          </a:solidFill>
                          <a:latin typeface="Calibri"/>
                        </a:rPr>
                        <a:t>Phase</a:t>
                      </a:r>
                    </a:p>
                  </a:txBody>
                  <a:tcPr marL="64008" marR="64008" marT="27432" marB="27432">
                    <a:solidFill>
                      <a:srgbClr val="0B3C49"/>
                    </a:solidFill>
                  </a:tcPr>
                </a:tc>
                <a:extLst>
                  <a:ext uri="{0D108BD9-81ED-4DB2-BD59-A6C34878D82A}">
                    <a16:rowId xmlns:a16="http://schemas.microsoft.com/office/drawing/2014/main" val="10000"/>
                  </a:ext>
                </a:extLst>
              </a:tr>
              <a:tr h="265176">
                <a:tc>
                  <a:txBody>
                    <a:bodyPr/>
                    <a:lstStyle/>
                    <a:p>
                      <a:r>
                        <a:rPr sz="1050" b="0" i="0">
                          <a:solidFill>
                            <a:srgbClr val="222B30"/>
                          </a:solidFill>
                          <a:latin typeface="Calibri"/>
                        </a:rPr>
                        <a:t>08h00 – 08h30</a:t>
                      </a:r>
                    </a:p>
                  </a:txBody>
                  <a:tcPr marL="64008" marR="64008" marT="27432" marB="27432">
                    <a:solidFill>
                      <a:srgbClr val="FFFFFF"/>
                    </a:solidFill>
                  </a:tcPr>
                </a:tc>
                <a:tc>
                  <a:txBody>
                    <a:bodyPr/>
                    <a:lstStyle/>
                    <a:p>
                      <a:r>
                        <a:rPr sz="1050" b="0" i="0">
                          <a:solidFill>
                            <a:srgbClr val="222B30"/>
                          </a:solidFill>
                          <a:latin typeface="Calibri"/>
                        </a:rPr>
                        <a:t>Accueil, émargement, test de positionnement (5 questions),…</a:t>
                      </a:r>
                    </a:p>
                  </a:txBody>
                  <a:tcPr marL="64008" marR="64008" marT="27432" marB="27432">
                    <a:solidFill>
                      <a:srgbClr val="FFFFFF"/>
                    </a:solidFill>
                  </a:tcPr>
                </a:tc>
                <a:tc>
                  <a:txBody>
                    <a:bodyPr/>
                    <a:lstStyle/>
                    <a:p>
                      <a:r>
                        <a:rPr sz="1050" b="0" i="0">
                          <a:solidFill>
                            <a:srgbClr val="222B30"/>
                          </a:solidFill>
                          <a:latin typeface="Calibri"/>
                        </a:rPr>
                        <a:t>Ouverture</a:t>
                      </a:r>
                    </a:p>
                  </a:txBody>
                  <a:tcPr marL="64008" marR="64008" marT="27432" marB="27432">
                    <a:solidFill>
                      <a:srgbClr val="FFFFFF"/>
                    </a:solidFill>
                  </a:tcPr>
                </a:tc>
                <a:extLst>
                  <a:ext uri="{0D108BD9-81ED-4DB2-BD59-A6C34878D82A}">
                    <a16:rowId xmlns:a16="http://schemas.microsoft.com/office/drawing/2014/main" val="10001"/>
                  </a:ext>
                </a:extLst>
              </a:tr>
              <a:tr h="265176">
                <a:tc>
                  <a:txBody>
                    <a:bodyPr/>
                    <a:lstStyle/>
                    <a:p>
                      <a:r>
                        <a:rPr sz="1050" b="0" i="0">
                          <a:solidFill>
                            <a:srgbClr val="222B30"/>
                          </a:solidFill>
                          <a:latin typeface="Calibri"/>
                        </a:rPr>
                        <a:t>08h30 – 09h00</a:t>
                      </a:r>
                    </a:p>
                  </a:txBody>
                  <a:tcPr marL="64008" marR="64008" marT="27432" marB="27432">
                    <a:solidFill>
                      <a:srgbClr val="E8F1F3"/>
                    </a:solidFill>
                  </a:tcPr>
                </a:tc>
                <a:tc>
                  <a:txBody>
                    <a:bodyPr/>
                    <a:lstStyle/>
                    <a:p>
                      <a:r>
                        <a:rPr sz="1050" b="0" i="0">
                          <a:solidFill>
                            <a:srgbClr val="222B30"/>
                          </a:solidFill>
                          <a:latin typeface="Calibri"/>
                        </a:rPr>
                        <a:t>Capsule 0 – Le fil rouge : CRISP-DM adapté à la revue de…</a:t>
                      </a:r>
                    </a:p>
                  </a:txBody>
                  <a:tcPr marL="64008" marR="64008" marT="27432" marB="27432">
                    <a:solidFill>
                      <a:srgbClr val="E8F1F3"/>
                    </a:solidFill>
                  </a:tcPr>
                </a:tc>
                <a:tc>
                  <a:txBody>
                    <a:bodyPr/>
                    <a:lstStyle/>
                    <a:p>
                      <a:r>
                        <a:rPr sz="1050" b="0" i="0">
                          <a:solidFill>
                            <a:srgbClr val="222B30"/>
                          </a:solidFill>
                          <a:latin typeface="Calibri"/>
                        </a:rPr>
                        <a:t>Toutes</a:t>
                      </a:r>
                    </a:p>
                  </a:txBody>
                  <a:tcPr marL="64008" marR="64008" marT="27432" marB="27432">
                    <a:solidFill>
                      <a:srgbClr val="E8F1F3"/>
                    </a:solidFill>
                  </a:tcPr>
                </a:tc>
                <a:extLst>
                  <a:ext uri="{0D108BD9-81ED-4DB2-BD59-A6C34878D82A}">
                    <a16:rowId xmlns:a16="http://schemas.microsoft.com/office/drawing/2014/main" val="10002"/>
                  </a:ext>
                </a:extLst>
              </a:tr>
              <a:tr h="265176">
                <a:tc>
                  <a:txBody>
                    <a:bodyPr/>
                    <a:lstStyle/>
                    <a:p>
                      <a:r>
                        <a:rPr sz="1050" b="0" i="0">
                          <a:solidFill>
                            <a:srgbClr val="222B30"/>
                          </a:solidFill>
                          <a:latin typeface="Calibri"/>
                        </a:rPr>
                        <a:t>09h00 – 09h25</a:t>
                      </a:r>
                    </a:p>
                  </a:txBody>
                  <a:tcPr marL="64008" marR="64008" marT="27432" marB="27432">
                    <a:solidFill>
                      <a:srgbClr val="FFFFFF"/>
                    </a:solidFill>
                  </a:tcPr>
                </a:tc>
                <a:tc>
                  <a:txBody>
                    <a:bodyPr/>
                    <a:lstStyle/>
                    <a:p>
                      <a:r>
                        <a:rPr sz="1050" b="0" i="0">
                          <a:solidFill>
                            <a:srgbClr val="222B30"/>
                          </a:solidFill>
                          <a:latin typeface="Calibri"/>
                        </a:rPr>
                        <a:t>Capsule 1 – Types de revues ; PICO(S) et ses variantes (PEO, PECO,…</a:t>
                      </a:r>
                    </a:p>
                  </a:txBody>
                  <a:tcPr marL="64008" marR="64008" marT="27432" marB="27432">
                    <a:solidFill>
                      <a:srgbClr val="FFFFFF"/>
                    </a:solidFill>
                  </a:tcPr>
                </a:tc>
                <a:tc>
                  <a:txBody>
                    <a:bodyPr/>
                    <a:lstStyle/>
                    <a:p>
                      <a:r>
                        <a:rPr sz="1050" b="0" i="0">
                          <a:solidFill>
                            <a:srgbClr val="222B30"/>
                          </a:solidFill>
                          <a:latin typeface="Calibri"/>
                        </a:rPr>
                        <a:t>1. Compréhension du besoin</a:t>
                      </a:r>
                    </a:p>
                  </a:txBody>
                  <a:tcPr marL="64008" marR="64008" marT="27432" marB="27432">
                    <a:solidFill>
                      <a:srgbClr val="FFFFFF"/>
                    </a:solidFill>
                  </a:tcPr>
                </a:tc>
                <a:extLst>
                  <a:ext uri="{0D108BD9-81ED-4DB2-BD59-A6C34878D82A}">
                    <a16:rowId xmlns:a16="http://schemas.microsoft.com/office/drawing/2014/main" val="10003"/>
                  </a:ext>
                </a:extLst>
              </a:tr>
              <a:tr h="265176">
                <a:tc>
                  <a:txBody>
                    <a:bodyPr/>
                    <a:lstStyle/>
                    <a:p>
                      <a:r>
                        <a:rPr sz="1050" b="0" i="0">
                          <a:solidFill>
                            <a:srgbClr val="222B30"/>
                          </a:solidFill>
                          <a:latin typeface="Calibri"/>
                        </a:rPr>
                        <a:t>09h25 – 10h05</a:t>
                      </a:r>
                    </a:p>
                  </a:txBody>
                  <a:tcPr marL="64008" marR="64008" marT="27432" marB="27432">
                    <a:solidFill>
                      <a:srgbClr val="E8F1F3"/>
                    </a:solidFill>
                  </a:tcPr>
                </a:tc>
                <a:tc>
                  <a:txBody>
                    <a:bodyPr/>
                    <a:lstStyle/>
                    <a:p>
                      <a:r>
                        <a:rPr sz="1050" b="0" i="0">
                          <a:solidFill>
                            <a:srgbClr val="222B30"/>
                          </a:solidFill>
                          <a:latin typeface="Calibri"/>
                        </a:rPr>
                        <a:t>Exercice 1 – De mon sujet à ma question PICO(S) et à mon équation…</a:t>
                      </a:r>
                    </a:p>
                  </a:txBody>
                  <a:tcPr marL="64008" marR="64008" marT="27432" marB="27432">
                    <a:solidFill>
                      <a:srgbClr val="E8F1F3"/>
                    </a:solidFill>
                  </a:tcPr>
                </a:tc>
                <a:tc>
                  <a:txBody>
                    <a:bodyPr/>
                    <a:lstStyle/>
                    <a:p>
                      <a:r>
                        <a:rPr sz="1050" b="0" i="0">
                          <a:solidFill>
                            <a:srgbClr val="222B30"/>
                          </a:solidFill>
                          <a:latin typeface="Calibri"/>
                        </a:rPr>
                        <a:t>1. Compréhension du besoin</a:t>
                      </a:r>
                    </a:p>
                  </a:txBody>
                  <a:tcPr marL="64008" marR="64008" marT="27432" marB="27432">
                    <a:solidFill>
                      <a:srgbClr val="E8F1F3"/>
                    </a:solidFill>
                  </a:tcPr>
                </a:tc>
                <a:extLst>
                  <a:ext uri="{0D108BD9-81ED-4DB2-BD59-A6C34878D82A}">
                    <a16:rowId xmlns:a16="http://schemas.microsoft.com/office/drawing/2014/main" val="10004"/>
                  </a:ext>
                </a:extLst>
              </a:tr>
              <a:tr h="265176">
                <a:tc>
                  <a:txBody>
                    <a:bodyPr/>
                    <a:lstStyle/>
                    <a:p>
                      <a:r>
                        <a:rPr sz="1050" b="0" i="0">
                          <a:solidFill>
                            <a:srgbClr val="222B30"/>
                          </a:solidFill>
                          <a:latin typeface="Calibri"/>
                        </a:rPr>
                        <a:t>10h05 – 10h20</a:t>
                      </a:r>
                    </a:p>
                  </a:txBody>
                  <a:tcPr marL="64008" marR="64008" marT="27432" marB="27432">
                    <a:solidFill>
                      <a:srgbClr val="FFFFFF"/>
                    </a:solidFill>
                  </a:tcPr>
                </a:tc>
                <a:tc>
                  <a:txBody>
                    <a:bodyPr/>
                    <a:lstStyle/>
                    <a:p>
                      <a:r>
                        <a:rPr sz="1050" b="0" i="0">
                          <a:solidFill>
                            <a:srgbClr val="222B30"/>
                          </a:solidFill>
                          <a:latin typeface="Calibri"/>
                        </a:rPr>
                        <a:t>Démonstration – Semantic Scholar pas à pas (recherche, filtres,…</a:t>
                      </a:r>
                    </a:p>
                  </a:txBody>
                  <a:tcPr marL="64008" marR="64008" marT="27432" marB="27432">
                    <a:solidFill>
                      <a:srgbClr val="FFFFFF"/>
                    </a:solidFill>
                  </a:tcPr>
                </a:tc>
                <a:tc>
                  <a:txBody>
                    <a:bodyPr/>
                    <a:lstStyle/>
                    <a:p>
                      <a:r>
                        <a:rPr sz="1050" b="0" i="0">
                          <a:solidFill>
                            <a:srgbClr val="222B30"/>
                          </a:solidFill>
                          <a:latin typeface="Calibri"/>
                        </a:rPr>
                        <a:t>2. Exploration</a:t>
                      </a:r>
                    </a:p>
                  </a:txBody>
                  <a:tcPr marL="64008" marR="64008" marT="27432" marB="27432">
                    <a:solidFill>
                      <a:srgbClr val="FFFFFF"/>
                    </a:solidFill>
                  </a:tcPr>
                </a:tc>
                <a:extLst>
                  <a:ext uri="{0D108BD9-81ED-4DB2-BD59-A6C34878D82A}">
                    <a16:rowId xmlns:a16="http://schemas.microsoft.com/office/drawing/2014/main" val="10005"/>
                  </a:ext>
                </a:extLst>
              </a:tr>
              <a:tr h="265176">
                <a:tc>
                  <a:txBody>
                    <a:bodyPr/>
                    <a:lstStyle/>
                    <a:p>
                      <a:r>
                        <a:rPr sz="1050" b="0" i="0">
                          <a:solidFill>
                            <a:srgbClr val="222B30"/>
                          </a:solidFill>
                          <a:latin typeface="Calibri"/>
                        </a:rPr>
                        <a:t>10h20 – 10h35</a:t>
                      </a:r>
                    </a:p>
                  </a:txBody>
                  <a:tcPr marL="64008" marR="64008" marT="27432" marB="27432">
                    <a:solidFill>
                      <a:srgbClr val="E8F1F3"/>
                    </a:solidFill>
                  </a:tcPr>
                </a:tc>
                <a:tc>
                  <a:txBody>
                    <a:bodyPr/>
                    <a:lstStyle/>
                    <a:p>
                      <a:r>
                        <a:rPr sz="1050" b="0" i="0">
                          <a:solidFill>
                            <a:srgbClr val="222B30"/>
                          </a:solidFill>
                          <a:latin typeface="Calibri"/>
                        </a:rPr>
                        <a:t>Pause</a:t>
                      </a:r>
                    </a:p>
                  </a:txBody>
                  <a:tcPr marL="64008" marR="64008" marT="27432" marB="27432">
                    <a:solidFill>
                      <a:srgbClr val="E8F1F3"/>
                    </a:solidFill>
                  </a:tcPr>
                </a:tc>
                <a:tc>
                  <a:txBody>
                    <a:bodyPr/>
                    <a:lstStyle/>
                    <a:p>
                      <a:r>
                        <a:rPr sz="1050" b="0" i="0">
                          <a:solidFill>
                            <a:srgbClr val="222B30"/>
                          </a:solidFill>
                          <a:latin typeface="Calibri"/>
                        </a:rPr>
                        <a:t>—</a:t>
                      </a:r>
                    </a:p>
                  </a:txBody>
                  <a:tcPr marL="64008" marR="64008" marT="27432" marB="27432">
                    <a:solidFill>
                      <a:srgbClr val="E8F1F3"/>
                    </a:solidFill>
                  </a:tcPr>
                </a:tc>
                <a:extLst>
                  <a:ext uri="{0D108BD9-81ED-4DB2-BD59-A6C34878D82A}">
                    <a16:rowId xmlns:a16="http://schemas.microsoft.com/office/drawing/2014/main" val="10006"/>
                  </a:ext>
                </a:extLst>
              </a:tr>
              <a:tr h="265176">
                <a:tc>
                  <a:txBody>
                    <a:bodyPr/>
                    <a:lstStyle/>
                    <a:p>
                      <a:r>
                        <a:rPr sz="1050" b="0" i="0">
                          <a:solidFill>
                            <a:srgbClr val="222B30"/>
                          </a:solidFill>
                          <a:latin typeface="Calibri"/>
                        </a:rPr>
                        <a:t>10h35 – 10h50</a:t>
                      </a:r>
                    </a:p>
                  </a:txBody>
                  <a:tcPr marL="64008" marR="64008" marT="27432" marB="27432">
                    <a:solidFill>
                      <a:srgbClr val="FFFFFF"/>
                    </a:solidFill>
                  </a:tcPr>
                </a:tc>
                <a:tc>
                  <a:txBody>
                    <a:bodyPr/>
                    <a:lstStyle/>
                    <a:p>
                      <a:r>
                        <a:rPr sz="1050" b="0" i="0">
                          <a:solidFill>
                            <a:srgbClr val="222B30"/>
                          </a:solidFill>
                          <a:latin typeface="Calibri"/>
                        </a:rPr>
                        <a:t>Démonstration – Connected Papers pas à pas (graphe, Prior /…</a:t>
                      </a:r>
                    </a:p>
                  </a:txBody>
                  <a:tcPr marL="64008" marR="64008" marT="27432" marB="27432">
                    <a:solidFill>
                      <a:srgbClr val="FFFFFF"/>
                    </a:solidFill>
                  </a:tcPr>
                </a:tc>
                <a:tc>
                  <a:txBody>
                    <a:bodyPr/>
                    <a:lstStyle/>
                    <a:p>
                      <a:r>
                        <a:rPr sz="1050" b="0" i="0">
                          <a:solidFill>
                            <a:srgbClr val="222B30"/>
                          </a:solidFill>
                          <a:latin typeface="Calibri"/>
                        </a:rPr>
                        <a:t>2. Exploration</a:t>
                      </a:r>
                    </a:p>
                  </a:txBody>
                  <a:tcPr marL="64008" marR="64008" marT="27432" marB="27432">
                    <a:solidFill>
                      <a:srgbClr val="FFFFFF"/>
                    </a:solidFill>
                  </a:tcPr>
                </a:tc>
                <a:extLst>
                  <a:ext uri="{0D108BD9-81ED-4DB2-BD59-A6C34878D82A}">
                    <a16:rowId xmlns:a16="http://schemas.microsoft.com/office/drawing/2014/main" val="10007"/>
                  </a:ext>
                </a:extLst>
              </a:tr>
              <a:tr h="265176">
                <a:tc>
                  <a:txBody>
                    <a:bodyPr/>
                    <a:lstStyle/>
                    <a:p>
                      <a:r>
                        <a:rPr sz="1050" b="0" i="0">
                          <a:solidFill>
                            <a:srgbClr val="222B30"/>
                          </a:solidFill>
                          <a:latin typeface="Calibri"/>
                        </a:rPr>
                        <a:t>10h50 – 11h50</a:t>
                      </a:r>
                    </a:p>
                  </a:txBody>
                  <a:tcPr marL="64008" marR="64008" marT="27432" marB="27432">
                    <a:solidFill>
                      <a:srgbClr val="E8F1F3"/>
                    </a:solidFill>
                  </a:tcPr>
                </a:tc>
                <a:tc>
                  <a:txBody>
                    <a:bodyPr/>
                    <a:lstStyle/>
                    <a:p>
                      <a:r>
                        <a:rPr sz="1050" b="0" i="0">
                          <a:solidFill>
                            <a:srgbClr val="222B30"/>
                          </a:solidFill>
                          <a:latin typeface="Calibri"/>
                        </a:rPr>
                        <a:t>Exercice 2 – Cartographier le paysage bibliographique de mon sujet…</a:t>
                      </a:r>
                    </a:p>
                  </a:txBody>
                  <a:tcPr marL="64008" marR="64008" marT="27432" marB="27432">
                    <a:solidFill>
                      <a:srgbClr val="E8F1F3"/>
                    </a:solidFill>
                  </a:tcPr>
                </a:tc>
                <a:tc>
                  <a:txBody>
                    <a:bodyPr/>
                    <a:lstStyle/>
                    <a:p>
                      <a:r>
                        <a:rPr sz="1050" b="0" i="0">
                          <a:solidFill>
                            <a:srgbClr val="222B30"/>
                          </a:solidFill>
                          <a:latin typeface="Calibri"/>
                        </a:rPr>
                        <a:t>2. Exploration</a:t>
                      </a:r>
                    </a:p>
                  </a:txBody>
                  <a:tcPr marL="64008" marR="64008" marT="27432" marB="27432">
                    <a:solidFill>
                      <a:srgbClr val="E8F1F3"/>
                    </a:solidFill>
                  </a:tcPr>
                </a:tc>
                <a:extLst>
                  <a:ext uri="{0D108BD9-81ED-4DB2-BD59-A6C34878D82A}">
                    <a16:rowId xmlns:a16="http://schemas.microsoft.com/office/drawing/2014/main" val="10008"/>
                  </a:ext>
                </a:extLst>
              </a:tr>
              <a:tr h="265176">
                <a:tc>
                  <a:txBody>
                    <a:bodyPr/>
                    <a:lstStyle/>
                    <a:p>
                      <a:r>
                        <a:rPr sz="1050" b="0" i="0">
                          <a:solidFill>
                            <a:srgbClr val="222B30"/>
                          </a:solidFill>
                          <a:latin typeface="Calibri"/>
                        </a:rPr>
                        <a:t>11h50 – 12h30</a:t>
                      </a:r>
                    </a:p>
                  </a:txBody>
                  <a:tcPr marL="64008" marR="64008" marT="27432" marB="27432">
                    <a:solidFill>
                      <a:srgbClr val="FFFFFF"/>
                    </a:solidFill>
                  </a:tcPr>
                </a:tc>
                <a:tc>
                  <a:txBody>
                    <a:bodyPr/>
                    <a:lstStyle/>
                    <a:p>
                      <a:r>
                        <a:rPr sz="1050" b="0" i="0">
                          <a:solidFill>
                            <a:srgbClr val="222B30"/>
                          </a:solidFill>
                          <a:latin typeface="Calibri"/>
                        </a:rPr>
                        <a:t>Capsule 2 – PRISMA 2020 : diagramme de flux, criblage, motifs…</a:t>
                      </a:r>
                    </a:p>
                  </a:txBody>
                  <a:tcPr marL="64008" marR="64008" marT="27432" marB="27432">
                    <a:solidFill>
                      <a:srgbClr val="FFFFFF"/>
                    </a:solidFill>
                  </a:tcPr>
                </a:tc>
                <a:tc>
                  <a:txBody>
                    <a:bodyPr/>
                    <a:lstStyle/>
                    <a:p>
                      <a:r>
                        <a:rPr sz="1050" b="0" i="0">
                          <a:solidFill>
                            <a:srgbClr val="222B30"/>
                          </a:solidFill>
                          <a:latin typeface="Calibri"/>
                        </a:rPr>
                        <a:t>3. Préparation</a:t>
                      </a:r>
                    </a:p>
                  </a:txBody>
                  <a:tcPr marL="64008" marR="64008" marT="27432" marB="27432">
                    <a:solidFill>
                      <a:srgbClr val="FFFFFF"/>
                    </a:solidFill>
                  </a:tcPr>
                </a:tc>
                <a:extLst>
                  <a:ext uri="{0D108BD9-81ED-4DB2-BD59-A6C34878D82A}">
                    <a16:rowId xmlns:a16="http://schemas.microsoft.com/office/drawing/2014/main" val="10009"/>
                  </a:ext>
                </a:extLst>
              </a:tr>
              <a:tr h="265176">
                <a:tc>
                  <a:txBody>
                    <a:bodyPr/>
                    <a:lstStyle/>
                    <a:p>
                      <a:r>
                        <a:rPr sz="1050" b="0" i="0">
                          <a:solidFill>
                            <a:srgbClr val="222B30"/>
                          </a:solidFill>
                          <a:latin typeface="Calibri"/>
                        </a:rPr>
                        <a:t>12h30 – 13h30</a:t>
                      </a:r>
                    </a:p>
                  </a:txBody>
                  <a:tcPr marL="64008" marR="64008" marT="27432" marB="27432">
                    <a:solidFill>
                      <a:srgbClr val="E8F1F3"/>
                    </a:solidFill>
                  </a:tcPr>
                </a:tc>
                <a:tc>
                  <a:txBody>
                    <a:bodyPr/>
                    <a:lstStyle/>
                    <a:p>
                      <a:r>
                        <a:rPr sz="1050" b="0" i="0">
                          <a:solidFill>
                            <a:srgbClr val="222B30"/>
                          </a:solidFill>
                          <a:latin typeface="Calibri"/>
                        </a:rPr>
                        <a:t>Déjeuner</a:t>
                      </a:r>
                    </a:p>
                  </a:txBody>
                  <a:tcPr marL="64008" marR="64008" marT="27432" marB="27432">
                    <a:solidFill>
                      <a:srgbClr val="E8F1F3"/>
                    </a:solidFill>
                  </a:tcPr>
                </a:tc>
                <a:tc>
                  <a:txBody>
                    <a:bodyPr/>
                    <a:lstStyle/>
                    <a:p>
                      <a:r>
                        <a:rPr sz="1050" b="0" i="0">
                          <a:solidFill>
                            <a:srgbClr val="222B30"/>
                          </a:solidFill>
                          <a:latin typeface="Calibri"/>
                        </a:rPr>
                        <a:t>—</a:t>
                      </a:r>
                    </a:p>
                  </a:txBody>
                  <a:tcPr marL="64008" marR="64008" marT="27432" marB="27432">
                    <a:solidFill>
                      <a:srgbClr val="E8F1F3"/>
                    </a:solidFill>
                  </a:tcPr>
                </a:tc>
                <a:extLst>
                  <a:ext uri="{0D108BD9-81ED-4DB2-BD59-A6C34878D82A}">
                    <a16:rowId xmlns:a16="http://schemas.microsoft.com/office/drawing/2014/main" val="10010"/>
                  </a:ext>
                </a:extLst>
              </a:tr>
              <a:tr h="265176">
                <a:tc>
                  <a:txBody>
                    <a:bodyPr/>
                    <a:lstStyle/>
                    <a:p>
                      <a:r>
                        <a:rPr sz="1050" b="0" i="0">
                          <a:solidFill>
                            <a:srgbClr val="222B30"/>
                          </a:solidFill>
                          <a:latin typeface="Calibri"/>
                        </a:rPr>
                        <a:t>13h30 – 14h20</a:t>
                      </a:r>
                    </a:p>
                  </a:txBody>
                  <a:tcPr marL="64008" marR="64008" marT="27432" marB="27432">
                    <a:solidFill>
                      <a:srgbClr val="FFFFFF"/>
                    </a:solidFill>
                  </a:tcPr>
                </a:tc>
                <a:tc>
                  <a:txBody>
                    <a:bodyPr/>
                    <a:lstStyle/>
                    <a:p>
                      <a:r>
                        <a:rPr sz="1050" b="0" i="0">
                          <a:solidFill>
                            <a:srgbClr val="222B30"/>
                          </a:solidFill>
                          <a:latin typeface="Calibri"/>
                        </a:rPr>
                        <a:t>Exercice 3 – Cribler et extraire avec Elicit, vérifier dans les…</a:t>
                      </a:r>
                    </a:p>
                  </a:txBody>
                  <a:tcPr marL="64008" marR="64008" marT="27432" marB="27432">
                    <a:solidFill>
                      <a:srgbClr val="FFFFFF"/>
                    </a:solidFill>
                  </a:tcPr>
                </a:tc>
                <a:tc>
                  <a:txBody>
                    <a:bodyPr/>
                    <a:lstStyle/>
                    <a:p>
                      <a:r>
                        <a:rPr sz="1050" b="0" i="0">
                          <a:solidFill>
                            <a:srgbClr val="222B30"/>
                          </a:solidFill>
                          <a:latin typeface="Calibri"/>
                        </a:rPr>
                        <a:t>3. Préparation</a:t>
                      </a:r>
                    </a:p>
                  </a:txBody>
                  <a:tcPr marL="64008" marR="64008" marT="27432" marB="27432">
                    <a:solidFill>
                      <a:srgbClr val="FFFFFF"/>
                    </a:solidFill>
                  </a:tcPr>
                </a:tc>
                <a:extLst>
                  <a:ext uri="{0D108BD9-81ED-4DB2-BD59-A6C34878D82A}">
                    <a16:rowId xmlns:a16="http://schemas.microsoft.com/office/drawing/2014/main" val="10011"/>
                  </a:ext>
                </a:extLst>
              </a:tr>
              <a:tr h="265176">
                <a:tc>
                  <a:txBody>
                    <a:bodyPr/>
                    <a:lstStyle/>
                    <a:p>
                      <a:r>
                        <a:rPr sz="1050" b="0" i="0">
                          <a:solidFill>
                            <a:srgbClr val="222B30"/>
                          </a:solidFill>
                          <a:latin typeface="Calibri"/>
                        </a:rPr>
                        <a:t>14h20 – 14h40</a:t>
                      </a:r>
                    </a:p>
                  </a:txBody>
                  <a:tcPr marL="64008" marR="64008" marT="27432" marB="27432">
                    <a:solidFill>
                      <a:srgbClr val="E8F1F3"/>
                    </a:solidFill>
                  </a:tcPr>
                </a:tc>
                <a:tc>
                  <a:txBody>
                    <a:bodyPr/>
                    <a:lstStyle/>
                    <a:p>
                      <a:r>
                        <a:rPr sz="1050" b="0" i="0">
                          <a:solidFill>
                            <a:srgbClr val="222B30"/>
                          </a:solidFill>
                          <a:latin typeface="Calibri"/>
                        </a:rPr>
                        <a:t>Capsule 3 – La synthèse assistée : narrative (SWiM), thématique,…</a:t>
                      </a:r>
                    </a:p>
                  </a:txBody>
                  <a:tcPr marL="64008" marR="64008" marT="27432" marB="27432">
                    <a:solidFill>
                      <a:srgbClr val="E8F1F3"/>
                    </a:solidFill>
                  </a:tcPr>
                </a:tc>
                <a:tc>
                  <a:txBody>
                    <a:bodyPr/>
                    <a:lstStyle/>
                    <a:p>
                      <a:r>
                        <a:rPr sz="1050" b="0" i="0">
                          <a:solidFill>
                            <a:srgbClr val="222B30"/>
                          </a:solidFill>
                          <a:latin typeface="Calibri"/>
                        </a:rPr>
                        <a:t>4. Modélisation</a:t>
                      </a:r>
                    </a:p>
                  </a:txBody>
                  <a:tcPr marL="64008" marR="64008" marT="27432" marB="27432">
                    <a:solidFill>
                      <a:srgbClr val="E8F1F3"/>
                    </a:solidFill>
                  </a:tcPr>
                </a:tc>
                <a:extLst>
                  <a:ext uri="{0D108BD9-81ED-4DB2-BD59-A6C34878D82A}">
                    <a16:rowId xmlns:a16="http://schemas.microsoft.com/office/drawing/2014/main" val="10012"/>
                  </a:ext>
                </a:extLst>
              </a:tr>
              <a:tr h="265176">
                <a:tc>
                  <a:txBody>
                    <a:bodyPr/>
                    <a:lstStyle/>
                    <a:p>
                      <a:r>
                        <a:rPr sz="1050" b="0" i="0">
                          <a:solidFill>
                            <a:srgbClr val="222B30"/>
                          </a:solidFill>
                          <a:latin typeface="Calibri"/>
                        </a:rPr>
                        <a:t>14h40 – 15h05</a:t>
                      </a:r>
                    </a:p>
                  </a:txBody>
                  <a:tcPr marL="64008" marR="64008" marT="27432" marB="27432">
                    <a:solidFill>
                      <a:srgbClr val="FFFFFF"/>
                    </a:solidFill>
                  </a:tcPr>
                </a:tc>
                <a:tc>
                  <a:txBody>
                    <a:bodyPr/>
                    <a:lstStyle/>
                    <a:p>
                      <a:r>
                        <a:rPr sz="1050" b="0" i="0">
                          <a:solidFill>
                            <a:srgbClr val="222B30"/>
                          </a:solidFill>
                          <a:latin typeface="Calibri"/>
                        </a:rPr>
                        <a:t>Capsule 4 – Qualité, biais (dont biais de genre), hallucinations…</a:t>
                      </a:r>
                    </a:p>
                  </a:txBody>
                  <a:tcPr marL="64008" marR="64008" marT="27432" marB="27432">
                    <a:solidFill>
                      <a:srgbClr val="FFFFFF"/>
                    </a:solidFill>
                  </a:tcPr>
                </a:tc>
                <a:tc>
                  <a:txBody>
                    <a:bodyPr/>
                    <a:lstStyle/>
                    <a:p>
                      <a:r>
                        <a:rPr sz="1050" b="0" i="0">
                          <a:solidFill>
                            <a:srgbClr val="222B30"/>
                          </a:solidFill>
                          <a:latin typeface="Calibri"/>
                        </a:rPr>
                        <a:t>5. Évaluation</a:t>
                      </a:r>
                    </a:p>
                  </a:txBody>
                  <a:tcPr marL="64008" marR="64008" marT="27432" marB="27432">
                    <a:solidFill>
                      <a:srgbClr val="FFFFFF"/>
                    </a:solidFill>
                  </a:tcPr>
                </a:tc>
                <a:extLst>
                  <a:ext uri="{0D108BD9-81ED-4DB2-BD59-A6C34878D82A}">
                    <a16:rowId xmlns:a16="http://schemas.microsoft.com/office/drawing/2014/main" val="10013"/>
                  </a:ext>
                </a:extLst>
              </a:tr>
              <a:tr h="265176">
                <a:tc>
                  <a:txBody>
                    <a:bodyPr/>
                    <a:lstStyle/>
                    <a:p>
                      <a:r>
                        <a:rPr sz="1050" b="0" i="0">
                          <a:solidFill>
                            <a:srgbClr val="222B30"/>
                          </a:solidFill>
                          <a:latin typeface="Calibri"/>
                        </a:rPr>
                        <a:t>15h05 – 15h20</a:t>
                      </a:r>
                    </a:p>
                  </a:txBody>
                  <a:tcPr marL="64008" marR="64008" marT="27432" marB="27432">
                    <a:solidFill>
                      <a:srgbClr val="E8F1F3"/>
                    </a:solidFill>
                  </a:tcPr>
                </a:tc>
                <a:tc>
                  <a:txBody>
                    <a:bodyPr/>
                    <a:lstStyle/>
                    <a:p>
                      <a:r>
                        <a:rPr sz="1050" b="0" i="0">
                          <a:solidFill>
                            <a:srgbClr val="222B30"/>
                          </a:solidFill>
                          <a:latin typeface="Calibri"/>
                        </a:rPr>
                        <a:t>Pause</a:t>
                      </a:r>
                    </a:p>
                  </a:txBody>
                  <a:tcPr marL="64008" marR="64008" marT="27432" marB="27432">
                    <a:solidFill>
                      <a:srgbClr val="E8F1F3"/>
                    </a:solidFill>
                  </a:tcPr>
                </a:tc>
                <a:tc>
                  <a:txBody>
                    <a:bodyPr/>
                    <a:lstStyle/>
                    <a:p>
                      <a:r>
                        <a:rPr sz="1050" b="0" i="0">
                          <a:solidFill>
                            <a:srgbClr val="222B30"/>
                          </a:solidFill>
                          <a:latin typeface="Calibri"/>
                        </a:rPr>
                        <a:t>—</a:t>
                      </a:r>
                    </a:p>
                  </a:txBody>
                  <a:tcPr marL="64008" marR="64008" marT="27432" marB="27432">
                    <a:solidFill>
                      <a:srgbClr val="E8F1F3"/>
                    </a:solidFill>
                  </a:tcPr>
                </a:tc>
                <a:extLst>
                  <a:ext uri="{0D108BD9-81ED-4DB2-BD59-A6C34878D82A}">
                    <a16:rowId xmlns:a16="http://schemas.microsoft.com/office/drawing/2014/main" val="10014"/>
                  </a:ext>
                </a:extLst>
              </a:tr>
              <a:tr h="265176">
                <a:tc>
                  <a:txBody>
                    <a:bodyPr/>
                    <a:lstStyle/>
                    <a:p>
                      <a:r>
                        <a:rPr sz="1050" b="0" i="0">
                          <a:solidFill>
                            <a:srgbClr val="222B30"/>
                          </a:solidFill>
                          <a:latin typeface="Calibri"/>
                        </a:rPr>
                        <a:t>15h20 – 16h15</a:t>
                      </a:r>
                    </a:p>
                  </a:txBody>
                  <a:tcPr marL="64008" marR="64008" marT="27432" marB="27432">
                    <a:solidFill>
                      <a:srgbClr val="FFFFFF"/>
                    </a:solidFill>
                  </a:tcPr>
                </a:tc>
                <a:tc>
                  <a:txBody>
                    <a:bodyPr/>
                    <a:lstStyle/>
                    <a:p>
                      <a:r>
                        <a:rPr sz="1050" b="0" i="0">
                          <a:solidFill>
                            <a:srgbClr val="222B30"/>
                          </a:solidFill>
                          <a:latin typeface="Calibri"/>
                        </a:rPr>
                        <a:t>Exercice 4 – Synthèse assistée, audit qualité-éthique et plan de…</a:t>
                      </a:r>
                    </a:p>
                  </a:txBody>
                  <a:tcPr marL="64008" marR="64008" marT="27432" marB="27432">
                    <a:solidFill>
                      <a:srgbClr val="FFFFFF"/>
                    </a:solidFill>
                  </a:tcPr>
                </a:tc>
                <a:tc>
                  <a:txBody>
                    <a:bodyPr/>
                    <a:lstStyle/>
                    <a:p>
                      <a:r>
                        <a:rPr sz="1050" b="0" i="0">
                          <a:solidFill>
                            <a:srgbClr val="222B30"/>
                          </a:solidFill>
                          <a:latin typeface="Calibri"/>
                        </a:rPr>
                        <a:t>4-5-6. Modélisation, évaluation, déploiement</a:t>
                      </a:r>
                    </a:p>
                  </a:txBody>
                  <a:tcPr marL="64008" marR="64008" marT="27432" marB="27432">
                    <a:solidFill>
                      <a:srgbClr val="FFFFFF"/>
                    </a:solidFill>
                  </a:tcPr>
                </a:tc>
                <a:extLst>
                  <a:ext uri="{0D108BD9-81ED-4DB2-BD59-A6C34878D82A}">
                    <a16:rowId xmlns:a16="http://schemas.microsoft.com/office/drawing/2014/main" val="10015"/>
                  </a:ext>
                </a:extLst>
              </a:tr>
              <a:tr h="265176">
                <a:tc>
                  <a:txBody>
                    <a:bodyPr/>
                    <a:lstStyle/>
                    <a:p>
                      <a:r>
                        <a:rPr sz="1050" b="0" i="0">
                          <a:solidFill>
                            <a:srgbClr val="222B30"/>
                          </a:solidFill>
                          <a:latin typeface="Calibri"/>
                        </a:rPr>
                        <a:t>16h15 – 16h35</a:t>
                      </a:r>
                    </a:p>
                  </a:txBody>
                  <a:tcPr marL="64008" marR="64008" marT="27432" marB="27432">
                    <a:solidFill>
                      <a:srgbClr val="E8F1F3"/>
                    </a:solidFill>
                  </a:tcPr>
                </a:tc>
                <a:tc>
                  <a:txBody>
                    <a:bodyPr/>
                    <a:lstStyle/>
                    <a:p>
                      <a:r>
                        <a:rPr sz="1050" b="0" i="0">
                          <a:solidFill>
                            <a:srgbClr val="222B30"/>
                          </a:solidFill>
                          <a:latin typeface="Calibri"/>
                        </a:rPr>
                        <a:t>Restitution croisée en galerie : un livrable par groupe, retours…</a:t>
                      </a:r>
                    </a:p>
                  </a:txBody>
                  <a:tcPr marL="64008" marR="64008" marT="27432" marB="27432">
                    <a:solidFill>
                      <a:srgbClr val="E8F1F3"/>
                    </a:solidFill>
                  </a:tcPr>
                </a:tc>
                <a:tc>
                  <a:txBody>
                    <a:bodyPr/>
                    <a:lstStyle/>
                    <a:p>
                      <a:r>
                        <a:rPr sz="1050" b="0" i="0">
                          <a:solidFill>
                            <a:srgbClr val="222B30"/>
                          </a:solidFill>
                          <a:latin typeface="Calibri"/>
                        </a:rPr>
                        <a:t>6. Déploiement</a:t>
                      </a:r>
                    </a:p>
                  </a:txBody>
                  <a:tcPr marL="64008" marR="64008" marT="27432" marB="27432">
                    <a:solidFill>
                      <a:srgbClr val="E8F1F3"/>
                    </a:solidFill>
                  </a:tcPr>
                </a:tc>
                <a:extLst>
                  <a:ext uri="{0D108BD9-81ED-4DB2-BD59-A6C34878D82A}">
                    <a16:rowId xmlns:a16="http://schemas.microsoft.com/office/drawing/2014/main" val="10016"/>
                  </a:ext>
                </a:extLst>
              </a:tr>
              <a:tr h="265176">
                <a:tc>
                  <a:txBody>
                    <a:bodyPr/>
                    <a:lstStyle/>
                    <a:p>
                      <a:r>
                        <a:rPr sz="1050" b="0" i="0">
                          <a:solidFill>
                            <a:srgbClr val="222B30"/>
                          </a:solidFill>
                          <a:latin typeface="Calibri"/>
                        </a:rPr>
                        <a:t>16h35 – 16h55</a:t>
                      </a:r>
                    </a:p>
                  </a:txBody>
                  <a:tcPr marL="64008" marR="64008" marT="27432" marB="27432">
                    <a:solidFill>
                      <a:srgbClr val="FFFFFF"/>
                    </a:solidFill>
                  </a:tcPr>
                </a:tc>
                <a:tc>
                  <a:txBody>
                    <a:bodyPr/>
                    <a:lstStyle/>
                    <a:p>
                      <a:r>
                        <a:rPr sz="1050" b="0" i="0">
                          <a:solidFill>
                            <a:srgbClr val="222B30"/>
                          </a:solidFill>
                          <a:latin typeface="Calibri"/>
                        </a:rPr>
                        <a:t>Quiz d'évaluation des acquis (12 questions)</a:t>
                      </a:r>
                    </a:p>
                  </a:txBody>
                  <a:tcPr marL="64008" marR="64008" marT="27432" marB="27432">
                    <a:solidFill>
                      <a:srgbClr val="FFFFFF"/>
                    </a:solidFill>
                  </a:tcPr>
                </a:tc>
                <a:tc>
                  <a:txBody>
                    <a:bodyPr/>
                    <a:lstStyle/>
                    <a:p>
                      <a:r>
                        <a:rPr sz="1050" b="0" i="0">
                          <a:solidFill>
                            <a:srgbClr val="222B30"/>
                          </a:solidFill>
                          <a:latin typeface="Calibri"/>
                        </a:rPr>
                        <a:t>Évaluation</a:t>
                      </a:r>
                    </a:p>
                  </a:txBody>
                  <a:tcPr marL="64008" marR="64008" marT="27432" marB="27432">
                    <a:solidFill>
                      <a:srgbClr val="FFFFFF"/>
                    </a:solidFill>
                  </a:tcPr>
                </a:tc>
                <a:extLst>
                  <a:ext uri="{0D108BD9-81ED-4DB2-BD59-A6C34878D82A}">
                    <a16:rowId xmlns:a16="http://schemas.microsoft.com/office/drawing/2014/main" val="10017"/>
                  </a:ext>
                </a:extLst>
              </a:tr>
              <a:tr h="265176">
                <a:tc>
                  <a:txBody>
                    <a:bodyPr/>
                    <a:lstStyle/>
                    <a:p>
                      <a:r>
                        <a:rPr sz="1050" b="0" i="0">
                          <a:solidFill>
                            <a:srgbClr val="222B30"/>
                          </a:solidFill>
                          <a:latin typeface="Calibri"/>
                        </a:rPr>
                        <a:t>16h55 – 17h00</a:t>
                      </a:r>
                    </a:p>
                  </a:txBody>
                  <a:tcPr marL="64008" marR="64008" marT="27432" marB="27432">
                    <a:solidFill>
                      <a:srgbClr val="E8F1F3"/>
                    </a:solidFill>
                  </a:tcPr>
                </a:tc>
                <a:tc>
                  <a:txBody>
                    <a:bodyPr/>
                    <a:lstStyle/>
                    <a:p>
                      <a:r>
                        <a:rPr sz="1050" b="0" i="0">
                          <a:solidFill>
                            <a:srgbClr val="222B30"/>
                          </a:solidFill>
                          <a:latin typeface="Calibri"/>
                        </a:rPr>
                        <a:t>Questionnaire à chaud, clôture, passerelle vers J3, J4 et J5</a:t>
                      </a:r>
                    </a:p>
                  </a:txBody>
                  <a:tcPr marL="64008" marR="64008" marT="27432" marB="27432">
                    <a:solidFill>
                      <a:srgbClr val="E8F1F3"/>
                    </a:solidFill>
                  </a:tcPr>
                </a:tc>
                <a:tc>
                  <a:txBody>
                    <a:bodyPr/>
                    <a:lstStyle/>
                    <a:p>
                      <a:r>
                        <a:rPr sz="1050" b="0" i="0">
                          <a:solidFill>
                            <a:srgbClr val="222B30"/>
                          </a:solidFill>
                          <a:latin typeface="Calibri"/>
                        </a:rPr>
                        <a:t>Clôture</a:t>
                      </a:r>
                    </a:p>
                  </a:txBody>
                  <a:tcPr marL="64008" marR="64008" marT="27432" marB="27432">
                    <a:solidFill>
                      <a:srgbClr val="E8F1F3"/>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OUVERTURE · PROFIL DU GROUPE (D'APRÈS VOS CV)</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Qui est dans la salle ?</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5</a:t>
            </a:r>
          </a:p>
        </p:txBody>
      </p:sp>
      <p:sp>
        <p:nvSpPr>
          <p:cNvPr id="13" name="Rectangle 12"/>
          <p:cNvSpPr/>
          <p:nvPr/>
        </p:nvSpPr>
        <p:spPr>
          <a:xfrm>
            <a:off x="502920" y="1417320"/>
            <a:ext cx="3694176" cy="1450848"/>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17320"/>
            <a:ext cx="82296" cy="145084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08760"/>
            <a:ext cx="3419856"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G1 · 11 participantes</a:t>
            </a:r>
          </a:p>
        </p:txBody>
      </p:sp>
      <p:sp>
        <p:nvSpPr>
          <p:cNvPr id="16" name="TextBox 15"/>
          <p:cNvSpPr txBox="1"/>
          <p:nvPr/>
        </p:nvSpPr>
        <p:spPr>
          <a:xfrm>
            <a:off x="685800" y="1988820"/>
            <a:ext cx="3419856" cy="902208"/>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Santé clinique, santé publique et psychologie de la santé</a:t>
            </a:r>
          </a:p>
        </p:txBody>
      </p:sp>
      <p:sp>
        <p:nvSpPr>
          <p:cNvPr id="17" name="Rectangle 16"/>
          <p:cNvSpPr/>
          <p:nvPr/>
        </p:nvSpPr>
        <p:spPr>
          <a:xfrm>
            <a:off x="4398264" y="1417320"/>
            <a:ext cx="3694176" cy="1450848"/>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98264" y="1417320"/>
            <a:ext cx="82296" cy="145084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81144" y="1508760"/>
            <a:ext cx="3419856"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G2 · 10 participantes</a:t>
            </a:r>
          </a:p>
        </p:txBody>
      </p:sp>
      <p:sp>
        <p:nvSpPr>
          <p:cNvPr id="20" name="TextBox 19"/>
          <p:cNvSpPr txBox="1"/>
          <p:nvPr/>
        </p:nvSpPr>
        <p:spPr>
          <a:xfrm>
            <a:off x="4581144" y="1988820"/>
            <a:ext cx="3419856" cy="902208"/>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Sciences biomédicales, pharmacie, biologie et nutrition</a:t>
            </a:r>
          </a:p>
        </p:txBody>
      </p:sp>
      <p:sp>
        <p:nvSpPr>
          <p:cNvPr id="21" name="Rectangle 20"/>
          <p:cNvSpPr/>
          <p:nvPr/>
        </p:nvSpPr>
        <p:spPr>
          <a:xfrm>
            <a:off x="502920" y="3069336"/>
            <a:ext cx="3694176" cy="1450848"/>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3069336"/>
            <a:ext cx="82296" cy="145084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3160776"/>
            <a:ext cx="3419856"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G3 · 11 participantes</a:t>
            </a:r>
          </a:p>
        </p:txBody>
      </p:sp>
      <p:sp>
        <p:nvSpPr>
          <p:cNvPr id="24" name="TextBox 23"/>
          <p:cNvSpPr txBox="1"/>
          <p:nvPr/>
        </p:nvSpPr>
        <p:spPr>
          <a:xfrm>
            <a:off x="685800" y="3640836"/>
            <a:ext cx="3419856" cy="902208"/>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Environnement, climat, agriculture et géographie</a:t>
            </a:r>
          </a:p>
        </p:txBody>
      </p:sp>
      <p:sp>
        <p:nvSpPr>
          <p:cNvPr id="25" name="Rectangle 24"/>
          <p:cNvSpPr/>
          <p:nvPr/>
        </p:nvSpPr>
        <p:spPr>
          <a:xfrm>
            <a:off x="4398264" y="3069336"/>
            <a:ext cx="3694176" cy="1450848"/>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398264" y="3069336"/>
            <a:ext cx="82296" cy="145084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81144" y="3160776"/>
            <a:ext cx="3419856"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G4 · 9 participantes</a:t>
            </a:r>
          </a:p>
        </p:txBody>
      </p:sp>
      <p:sp>
        <p:nvSpPr>
          <p:cNvPr id="28" name="TextBox 27"/>
          <p:cNvSpPr txBox="1"/>
          <p:nvPr/>
        </p:nvSpPr>
        <p:spPr>
          <a:xfrm>
            <a:off x="4581144" y="3640836"/>
            <a:ext cx="3419856" cy="902208"/>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Économie, gestion et droit</a:t>
            </a:r>
          </a:p>
        </p:txBody>
      </p:sp>
      <p:sp>
        <p:nvSpPr>
          <p:cNvPr id="29" name="Rectangle 28"/>
          <p:cNvSpPr/>
          <p:nvPr/>
        </p:nvSpPr>
        <p:spPr>
          <a:xfrm>
            <a:off x="502920" y="4721352"/>
            <a:ext cx="3694176" cy="1450848"/>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4721352"/>
            <a:ext cx="82296" cy="145084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4812791"/>
            <a:ext cx="3419856"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G5 · 10 participantes</a:t>
            </a:r>
          </a:p>
        </p:txBody>
      </p:sp>
      <p:sp>
        <p:nvSpPr>
          <p:cNvPr id="32" name="TextBox 31"/>
          <p:cNvSpPr txBox="1"/>
          <p:nvPr/>
        </p:nvSpPr>
        <p:spPr>
          <a:xfrm>
            <a:off x="685800" y="5292852"/>
            <a:ext cx="3419856" cy="902208"/>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Lettres, langues, histoire et patrimoine</a:t>
            </a:r>
          </a:p>
        </p:txBody>
      </p:sp>
      <p:sp>
        <p:nvSpPr>
          <p:cNvPr id="33" name="Rectangle 32"/>
          <p:cNvSpPr/>
          <p:nvPr/>
        </p:nvSpPr>
        <p:spPr>
          <a:xfrm>
            <a:off x="4398264" y="4721352"/>
            <a:ext cx="3694176" cy="1450848"/>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98264" y="4721352"/>
            <a:ext cx="82296" cy="145084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81144" y="4812791"/>
            <a:ext cx="3419856"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G6 · 11 participantes</a:t>
            </a:r>
          </a:p>
        </p:txBody>
      </p:sp>
      <p:sp>
        <p:nvSpPr>
          <p:cNvPr id="36" name="TextBox 35"/>
          <p:cNvSpPr txBox="1"/>
          <p:nvPr/>
        </p:nvSpPr>
        <p:spPr>
          <a:xfrm>
            <a:off x="4581144" y="5292852"/>
            <a:ext cx="3419856" cy="902208"/>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Sociologie, anthropologie, éducation et travail social</a:t>
            </a:r>
          </a:p>
        </p:txBody>
      </p:sp>
      <p:sp>
        <p:nvSpPr>
          <p:cNvPr id="37" name="TextBox 36"/>
          <p:cNvSpPr txBox="1"/>
          <p:nvPr/>
        </p:nvSpPr>
        <p:spPr>
          <a:xfrm>
            <a:off x="8412480" y="1417320"/>
            <a:ext cx="3291840" cy="365760"/>
          </a:xfrm>
          <a:prstGeom prst="rect">
            <a:avLst/>
          </a:prstGeom>
          <a:noFill/>
        </p:spPr>
        <p:txBody>
          <a:bodyPr wrap="square" lIns="45720" tIns="27432" rIns="45720" bIns="27432" anchor="t">
            <a:spAutoFit/>
          </a:bodyPr>
          <a:lstStyle/>
          <a:p>
            <a:pPr algn="l">
              <a:lnSpc>
                <a:spcPct val="105000"/>
              </a:lnSpc>
            </a:pPr>
            <a:r>
              <a:rPr sz="1700" b="1" i="0">
                <a:solidFill>
                  <a:srgbClr val="0B3C49"/>
                </a:solidFill>
                <a:latin typeface="Calibri"/>
              </a:rPr>
              <a:t>Niveaux</a:t>
            </a:r>
          </a:p>
        </p:txBody>
      </p:sp>
      <p:sp>
        <p:nvSpPr>
          <p:cNvPr id="38" name="Rectangle 37"/>
          <p:cNvSpPr/>
          <p:nvPr/>
        </p:nvSpPr>
        <p:spPr>
          <a:xfrm>
            <a:off x="8412480" y="2286000"/>
            <a:ext cx="3200400" cy="29260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412480" y="2286000"/>
            <a:ext cx="464574" cy="29260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412480" y="1874519"/>
            <a:ext cx="3291840" cy="411480"/>
          </a:xfrm>
          <a:prstGeom prst="rect">
            <a:avLst/>
          </a:prstGeom>
          <a:noFill/>
        </p:spPr>
        <p:txBody>
          <a:bodyPr wrap="square" lIns="45720" tIns="27432" rIns="45720" bIns="27432" anchor="t">
            <a:spAutoFit/>
          </a:bodyPr>
          <a:lstStyle/>
          <a:p>
            <a:pPr algn="l">
              <a:lnSpc>
                <a:spcPct val="105000"/>
              </a:lnSpc>
            </a:pPr>
            <a:r>
              <a:rPr sz="1250" b="0" i="0">
                <a:solidFill>
                  <a:srgbClr val="222B30"/>
                </a:solidFill>
                <a:latin typeface="Calibri"/>
              </a:rPr>
              <a:t>Enseignantes-chercheures confirmées : 9</a:t>
            </a:r>
          </a:p>
        </p:txBody>
      </p:sp>
      <p:sp>
        <p:nvSpPr>
          <p:cNvPr id="41" name="Rectangle 40"/>
          <p:cNvSpPr/>
          <p:nvPr/>
        </p:nvSpPr>
        <p:spPr>
          <a:xfrm>
            <a:off x="8412480" y="3337560"/>
            <a:ext cx="3200400" cy="29260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412480" y="3337560"/>
            <a:ext cx="1238864" cy="29260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412480" y="2926079"/>
            <a:ext cx="3291840" cy="411480"/>
          </a:xfrm>
          <a:prstGeom prst="rect">
            <a:avLst/>
          </a:prstGeom>
          <a:noFill/>
        </p:spPr>
        <p:txBody>
          <a:bodyPr wrap="square" lIns="45720" tIns="27432" rIns="45720" bIns="27432" anchor="t">
            <a:spAutoFit/>
          </a:bodyPr>
          <a:lstStyle/>
          <a:p>
            <a:pPr algn="l">
              <a:lnSpc>
                <a:spcPct val="105000"/>
              </a:lnSpc>
            </a:pPr>
            <a:r>
              <a:rPr sz="1250" b="0" i="0">
                <a:solidFill>
                  <a:srgbClr val="222B30"/>
                </a:solidFill>
                <a:latin typeface="Calibri"/>
              </a:rPr>
              <a:t>Docteures, assistantes et maîtres-assistantes : 24</a:t>
            </a:r>
          </a:p>
        </p:txBody>
      </p:sp>
      <p:sp>
        <p:nvSpPr>
          <p:cNvPr id="44" name="Rectangle 43"/>
          <p:cNvSpPr/>
          <p:nvPr/>
        </p:nvSpPr>
        <p:spPr>
          <a:xfrm>
            <a:off x="8412480" y="4389120"/>
            <a:ext cx="3200400" cy="29260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412480" y="4389120"/>
            <a:ext cx="722670" cy="29260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12480" y="3977639"/>
            <a:ext cx="3291840" cy="411480"/>
          </a:xfrm>
          <a:prstGeom prst="rect">
            <a:avLst/>
          </a:prstGeom>
          <a:noFill/>
        </p:spPr>
        <p:txBody>
          <a:bodyPr wrap="square" lIns="45720" tIns="27432" rIns="45720" bIns="27432" anchor="t">
            <a:spAutoFit/>
          </a:bodyPr>
          <a:lstStyle/>
          <a:p>
            <a:pPr algn="l">
              <a:lnSpc>
                <a:spcPct val="105000"/>
              </a:lnSpc>
            </a:pPr>
            <a:r>
              <a:rPr sz="1250" b="0" i="0">
                <a:solidFill>
                  <a:srgbClr val="222B30"/>
                </a:solidFill>
                <a:latin typeface="Calibri"/>
              </a:rPr>
              <a:t>Doctorantes : 14</a:t>
            </a:r>
          </a:p>
        </p:txBody>
      </p:sp>
      <p:sp>
        <p:nvSpPr>
          <p:cNvPr id="47" name="Rectangle 46"/>
          <p:cNvSpPr/>
          <p:nvPr/>
        </p:nvSpPr>
        <p:spPr>
          <a:xfrm>
            <a:off x="8412480" y="5440680"/>
            <a:ext cx="3200400" cy="29260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412480" y="5440680"/>
            <a:ext cx="774290" cy="29260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12480" y="5029200"/>
            <a:ext cx="3291840" cy="411480"/>
          </a:xfrm>
          <a:prstGeom prst="rect">
            <a:avLst/>
          </a:prstGeom>
          <a:noFill/>
        </p:spPr>
        <p:txBody>
          <a:bodyPr wrap="square" lIns="45720" tIns="27432" rIns="45720" bIns="27432" anchor="t">
            <a:spAutoFit/>
          </a:bodyPr>
          <a:lstStyle/>
          <a:p>
            <a:pPr algn="l">
              <a:lnSpc>
                <a:spcPct val="105000"/>
              </a:lnSpc>
            </a:pPr>
            <a:r>
              <a:rPr sz="1250" b="0" i="0">
                <a:solidFill>
                  <a:srgbClr val="222B30"/>
                </a:solidFill>
                <a:latin typeface="Calibri"/>
              </a:rPr>
              <a:t>Étudiantes : 15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CAPSULE 0</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Pourquoi l'IA change la revue de littérature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6</a:t>
            </a:r>
          </a:p>
        </p:txBody>
      </p:sp>
      <p:sp>
        <p:nvSpPr>
          <p:cNvPr id="13" name="Rectangle 12"/>
          <p:cNvSpPr/>
          <p:nvPr/>
        </p:nvSpPr>
        <p:spPr>
          <a:xfrm>
            <a:off x="502920" y="1463040"/>
            <a:ext cx="5440680" cy="4663440"/>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54480"/>
            <a:ext cx="5029200" cy="457200"/>
          </a:xfrm>
          <a:prstGeom prst="rect">
            <a:avLst/>
          </a:prstGeom>
          <a:noFill/>
        </p:spPr>
        <p:txBody>
          <a:bodyPr wrap="square" lIns="45720" tIns="27432" rIns="45720" bIns="27432" anchor="t">
            <a:spAutoFit/>
          </a:bodyPr>
          <a:lstStyle/>
          <a:p>
            <a:pPr algn="l">
              <a:lnSpc>
                <a:spcPct val="105000"/>
              </a:lnSpc>
            </a:pPr>
            <a:r>
              <a:rPr sz="2000" b="1" i="0">
                <a:solidFill>
                  <a:srgbClr val="1F7A8C"/>
                </a:solidFill>
                <a:latin typeface="Calibri"/>
              </a:rPr>
              <a:t>Ce que l'IA apporte</a:t>
            </a:r>
          </a:p>
        </p:txBody>
      </p:sp>
      <p:sp>
        <p:nvSpPr>
          <p:cNvPr id="15" name="TextBox 14"/>
          <p:cNvSpPr txBox="1"/>
          <p:nvPr/>
        </p:nvSpPr>
        <p:spPr>
          <a:xfrm>
            <a:off x="731520" y="2103120"/>
            <a:ext cx="5029200" cy="3931920"/>
          </a:xfrm>
          <a:prstGeom prst="rect">
            <a:avLst/>
          </a:prstGeom>
          <a:noFill/>
        </p:spPr>
        <p:txBody>
          <a:bodyPr wrap="square">
            <a:spAutoFit/>
          </a:bodyPr>
          <a:lstStyle/>
          <a:p>
            <a:pPr>
              <a:lnSpc>
                <a:spcPct val="105000"/>
              </a:lnSpc>
              <a:spcAft>
                <a:spcPts val="600"/>
              </a:spcAft>
            </a:pPr>
            <a:r>
              <a:rPr sz="1200">
                <a:solidFill>
                  <a:srgbClr val="E0A526"/>
                </a:solidFill>
                <a:latin typeface="Calibri"/>
              </a:rPr>
              <a:t>■  </a:t>
            </a:r>
            <a:r>
              <a:rPr sz="1600" b="0" i="0">
                <a:solidFill>
                  <a:srgbClr val="222B30"/>
                </a:solidFill>
                <a:latin typeface="Calibri"/>
              </a:rPr>
              <a:t>Des millions d'articles interrogeables en langage naturel</a:t>
            </a:r>
          </a:p>
          <a:p>
            <a:pPr>
              <a:lnSpc>
                <a:spcPct val="105000"/>
              </a:lnSpc>
              <a:spcAft>
                <a:spcPts val="600"/>
              </a:spcAft>
            </a:pPr>
            <a:r>
              <a:rPr sz="1200">
                <a:solidFill>
                  <a:srgbClr val="E0A526"/>
                </a:solidFill>
                <a:latin typeface="Calibri"/>
              </a:rPr>
              <a:t>■  </a:t>
            </a:r>
            <a:r>
              <a:rPr sz="1600" b="0" i="0">
                <a:solidFill>
                  <a:srgbClr val="222B30"/>
                </a:solidFill>
                <a:latin typeface="Calibri"/>
              </a:rPr>
              <a:t>Des cartes visuelles pour voir un champ en un coup d'œil</a:t>
            </a:r>
          </a:p>
          <a:p>
            <a:pPr>
              <a:lnSpc>
                <a:spcPct val="105000"/>
              </a:lnSpc>
              <a:spcAft>
                <a:spcPts val="600"/>
              </a:spcAft>
            </a:pPr>
            <a:r>
              <a:rPr sz="1200">
                <a:solidFill>
                  <a:srgbClr val="E0A526"/>
                </a:solidFill>
                <a:latin typeface="Calibri"/>
              </a:rPr>
              <a:t>■  </a:t>
            </a:r>
            <a:r>
              <a:rPr sz="1600" b="0" i="0">
                <a:solidFill>
                  <a:srgbClr val="222B30"/>
                </a:solidFill>
                <a:latin typeface="Calibri"/>
              </a:rPr>
              <a:t>Une extraction rapide dans des tableaux</a:t>
            </a:r>
          </a:p>
          <a:p>
            <a:pPr>
              <a:lnSpc>
                <a:spcPct val="105000"/>
              </a:lnSpc>
              <a:spcAft>
                <a:spcPts val="600"/>
              </a:spcAft>
            </a:pPr>
            <a:r>
              <a:rPr sz="1200">
                <a:solidFill>
                  <a:srgbClr val="E0A526"/>
                </a:solidFill>
                <a:latin typeface="Calibri"/>
              </a:rPr>
              <a:t>■  </a:t>
            </a:r>
            <a:r>
              <a:rPr sz="1600" b="0" i="0">
                <a:solidFill>
                  <a:srgbClr val="222B30"/>
                </a:solidFill>
                <a:latin typeface="Calibri"/>
              </a:rPr>
              <a:t>Des résumés pour trier plus vite</a:t>
            </a:r>
          </a:p>
          <a:p>
            <a:pPr>
              <a:lnSpc>
                <a:spcPct val="105000"/>
              </a:lnSpc>
              <a:spcAft>
                <a:spcPts val="600"/>
              </a:spcAft>
            </a:pPr>
            <a:r>
              <a:rPr sz="1200">
                <a:solidFill>
                  <a:srgbClr val="E0A526"/>
                </a:solidFill>
                <a:latin typeface="Calibri"/>
              </a:rPr>
              <a:t>■  </a:t>
            </a:r>
            <a:r>
              <a:rPr sz="1600" b="0" i="0">
                <a:solidFill>
                  <a:srgbClr val="222B30"/>
                </a:solidFill>
                <a:latin typeface="Calibri"/>
              </a:rPr>
              <a:t>Plus de temps pour l'analyse critique</a:t>
            </a:r>
          </a:p>
        </p:txBody>
      </p:sp>
      <p:sp>
        <p:nvSpPr>
          <p:cNvPr id="16" name="Rectangle 15"/>
          <p:cNvSpPr/>
          <p:nvPr/>
        </p:nvSpPr>
        <p:spPr>
          <a:xfrm>
            <a:off x="6263640" y="1463040"/>
            <a:ext cx="5440680" cy="4663440"/>
          </a:xfrm>
          <a:prstGeom prst="rect">
            <a:avLst/>
          </a:prstGeom>
          <a:solidFill>
            <a:srgbClr val="FFFFFF"/>
          </a:solidFill>
          <a:ln w="15875">
            <a:solidFill>
              <a:srgbClr val="9B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554480"/>
            <a:ext cx="5029200" cy="457200"/>
          </a:xfrm>
          <a:prstGeom prst="rect">
            <a:avLst/>
          </a:prstGeom>
          <a:noFill/>
        </p:spPr>
        <p:txBody>
          <a:bodyPr wrap="square" lIns="45720" tIns="27432" rIns="45720" bIns="27432" anchor="t">
            <a:spAutoFit/>
          </a:bodyPr>
          <a:lstStyle/>
          <a:p>
            <a:pPr algn="l">
              <a:lnSpc>
                <a:spcPct val="105000"/>
              </a:lnSpc>
            </a:pPr>
            <a:r>
              <a:rPr sz="2000" b="1" i="0">
                <a:solidFill>
                  <a:srgbClr val="9B1C1C"/>
                </a:solidFill>
                <a:latin typeface="Calibri"/>
              </a:rPr>
              <a:t>Ce qu'il faut surveiller</a:t>
            </a:r>
          </a:p>
        </p:txBody>
      </p:sp>
      <p:sp>
        <p:nvSpPr>
          <p:cNvPr id="18" name="TextBox 17"/>
          <p:cNvSpPr txBox="1"/>
          <p:nvPr/>
        </p:nvSpPr>
        <p:spPr>
          <a:xfrm>
            <a:off x="6492240" y="2103120"/>
            <a:ext cx="5029200" cy="3931920"/>
          </a:xfrm>
          <a:prstGeom prst="rect">
            <a:avLst/>
          </a:prstGeom>
          <a:noFill/>
        </p:spPr>
        <p:txBody>
          <a:bodyPr wrap="square">
            <a:spAutoFit/>
          </a:bodyPr>
          <a:lstStyle/>
          <a:p>
            <a:pPr>
              <a:lnSpc>
                <a:spcPct val="105000"/>
              </a:lnSpc>
              <a:spcAft>
                <a:spcPts val="600"/>
              </a:spcAft>
            </a:pPr>
            <a:r>
              <a:rPr sz="1200">
                <a:solidFill>
                  <a:srgbClr val="E0A526"/>
                </a:solidFill>
                <a:latin typeface="Calibri"/>
              </a:rPr>
              <a:t>■  </a:t>
            </a:r>
            <a:r>
              <a:rPr sz="1600" b="0" i="0">
                <a:solidFill>
                  <a:srgbClr val="222B30"/>
                </a:solidFill>
                <a:latin typeface="Calibri"/>
              </a:rPr>
              <a:t>Références et chiffres inventés (hallucinations)</a:t>
            </a:r>
          </a:p>
          <a:p>
            <a:pPr>
              <a:lnSpc>
                <a:spcPct val="105000"/>
              </a:lnSpc>
              <a:spcAft>
                <a:spcPts val="600"/>
              </a:spcAft>
            </a:pPr>
            <a:r>
              <a:rPr sz="1200">
                <a:solidFill>
                  <a:srgbClr val="E0A526"/>
                </a:solidFill>
                <a:latin typeface="Calibri"/>
              </a:rPr>
              <a:t>■  </a:t>
            </a:r>
            <a:r>
              <a:rPr sz="1600" b="0" i="0">
                <a:solidFill>
                  <a:srgbClr val="222B30"/>
                </a:solidFill>
                <a:latin typeface="Calibri"/>
              </a:rPr>
              <a:t>Revues africaines et francophones mal indexées</a:t>
            </a:r>
          </a:p>
          <a:p>
            <a:pPr>
              <a:lnSpc>
                <a:spcPct val="105000"/>
              </a:lnSpc>
              <a:spcAft>
                <a:spcPts val="600"/>
              </a:spcAft>
            </a:pPr>
            <a:r>
              <a:rPr sz="1200">
                <a:solidFill>
                  <a:srgbClr val="E0A526"/>
                </a:solidFill>
                <a:latin typeface="Calibri"/>
              </a:rPr>
              <a:t>■  </a:t>
            </a:r>
            <a:r>
              <a:rPr sz="1600" b="0" i="0">
                <a:solidFill>
                  <a:srgbClr val="222B30"/>
                </a:solidFill>
                <a:latin typeface="Calibri"/>
              </a:rPr>
              <a:t>Biais de genre et de popularité dans les citations</a:t>
            </a:r>
          </a:p>
          <a:p>
            <a:pPr>
              <a:lnSpc>
                <a:spcPct val="105000"/>
              </a:lnSpc>
              <a:spcAft>
                <a:spcPts val="600"/>
              </a:spcAft>
            </a:pPr>
            <a:r>
              <a:rPr sz="1200">
                <a:solidFill>
                  <a:srgbClr val="E0A526"/>
                </a:solidFill>
                <a:latin typeface="Calibri"/>
              </a:rPr>
              <a:t>■  </a:t>
            </a:r>
            <a:r>
              <a:rPr sz="1600" b="0" i="0">
                <a:solidFill>
                  <a:srgbClr val="222B30"/>
                </a:solidFill>
                <a:latin typeface="Calibri"/>
              </a:rPr>
              <a:t>Résultats qui changent d'un jour à l'autre</a:t>
            </a:r>
          </a:p>
          <a:p>
            <a:pPr>
              <a:lnSpc>
                <a:spcPct val="105000"/>
              </a:lnSpc>
              <a:spcAft>
                <a:spcPts val="600"/>
              </a:spcAft>
            </a:pPr>
            <a:r>
              <a:rPr sz="1200">
                <a:solidFill>
                  <a:srgbClr val="E0A526"/>
                </a:solidFill>
                <a:latin typeface="Calibri"/>
              </a:rPr>
              <a:t>■  </a:t>
            </a:r>
            <a:r>
              <a:rPr sz="1600" b="0" i="0">
                <a:solidFill>
                  <a:srgbClr val="222B30"/>
                </a:solidFill>
                <a:latin typeface="Calibri"/>
              </a:rPr>
              <a:t>Données sensibles exposées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CAPSULE 0 · MÉTHODE DE LA JOURNÉE</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Le fil rouge : CRISP-DM adapté à la revue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7</a:t>
            </a:r>
          </a:p>
        </p:txBody>
      </p:sp>
      <p:sp>
        <p:nvSpPr>
          <p:cNvPr id="13" name="Rounded Rectangle 12"/>
          <p:cNvSpPr/>
          <p:nvPr/>
        </p:nvSpPr>
        <p:spPr>
          <a:xfrm>
            <a:off x="914400" y="1600200"/>
            <a:ext cx="2971800" cy="1783080"/>
          </a:xfrm>
          <a:prstGeom prst="roundRect">
            <a:avLst>
              <a:gd name="adj" fmla="val 10000"/>
            </a:avLst>
          </a:prstGeom>
          <a:solidFill>
            <a:srgbClr val="E8F1F3"/>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51560" y="1737360"/>
            <a:ext cx="502920" cy="5029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i="0">
                <a:solidFill>
                  <a:srgbClr val="0B3C49"/>
                </a:solidFill>
                <a:latin typeface="Calibri"/>
              </a:rPr>
              <a:t>1</a:t>
            </a:r>
          </a:p>
        </p:txBody>
      </p:sp>
      <p:sp>
        <p:nvSpPr>
          <p:cNvPr id="15" name="TextBox 14"/>
          <p:cNvSpPr txBox="1"/>
          <p:nvPr/>
        </p:nvSpPr>
        <p:spPr>
          <a:xfrm>
            <a:off x="1645920" y="1709928"/>
            <a:ext cx="2194560" cy="594360"/>
          </a:xfrm>
          <a:prstGeom prst="rect">
            <a:avLst/>
          </a:prstGeom>
          <a:noFill/>
        </p:spPr>
        <p:txBody>
          <a:bodyPr wrap="square" lIns="45720" tIns="27432" rIns="45720" bIns="27432" anchor="ctr">
            <a:spAutoFit/>
          </a:bodyPr>
          <a:lstStyle/>
          <a:p>
            <a:pPr algn="l">
              <a:lnSpc>
                <a:spcPct val="105000"/>
              </a:lnSpc>
            </a:pPr>
            <a:r>
              <a:rPr sz="1200" b="1" i="0">
                <a:solidFill>
                  <a:srgbClr val="6B7C82"/>
                </a:solidFill>
                <a:latin typeface="Calibri"/>
              </a:rPr>
              <a:t>Business Understanding</a:t>
            </a:r>
          </a:p>
        </p:txBody>
      </p:sp>
      <p:sp>
        <p:nvSpPr>
          <p:cNvPr id="16" name="TextBox 15"/>
          <p:cNvSpPr txBox="1"/>
          <p:nvPr/>
        </p:nvSpPr>
        <p:spPr>
          <a:xfrm>
            <a:off x="1097280" y="2331720"/>
            <a:ext cx="2651760" cy="457200"/>
          </a:xfrm>
          <a:prstGeom prst="rect">
            <a:avLst/>
          </a:prstGeom>
          <a:noFill/>
        </p:spPr>
        <p:txBody>
          <a:bodyPr wrap="square" lIns="45720" tIns="27432" rIns="45720" bIns="27432" anchor="t">
            <a:spAutoFit/>
          </a:bodyPr>
          <a:lstStyle/>
          <a:p>
            <a:pPr algn="l">
              <a:lnSpc>
                <a:spcPct val="105000"/>
              </a:lnSpc>
            </a:pPr>
            <a:r>
              <a:rPr sz="1800" b="1" i="0">
                <a:solidFill>
                  <a:srgbClr val="0B3C49"/>
                </a:solidFill>
                <a:latin typeface="Calibri"/>
              </a:rPr>
              <a:t>Compréhension du besoin</a:t>
            </a:r>
          </a:p>
        </p:txBody>
      </p:sp>
      <p:sp>
        <p:nvSpPr>
          <p:cNvPr id="17" name="TextBox 16"/>
          <p:cNvSpPr txBox="1"/>
          <p:nvPr/>
        </p:nvSpPr>
        <p:spPr>
          <a:xfrm>
            <a:off x="1097280" y="2743200"/>
            <a:ext cx="2651760" cy="59436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Question PICO(S)</a:t>
            </a:r>
          </a:p>
        </p:txBody>
      </p:sp>
      <p:sp>
        <p:nvSpPr>
          <p:cNvPr id="18" name="Rounded Rectangle 17"/>
          <p:cNvSpPr/>
          <p:nvPr/>
        </p:nvSpPr>
        <p:spPr>
          <a:xfrm>
            <a:off x="4617720" y="1600200"/>
            <a:ext cx="2971800" cy="1783080"/>
          </a:xfrm>
          <a:prstGeom prst="roundRect">
            <a:avLst>
              <a:gd name="adj" fmla="val 10000"/>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754880" y="1737360"/>
            <a:ext cx="502920" cy="5029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i="0">
                <a:solidFill>
                  <a:srgbClr val="0B3C49"/>
                </a:solidFill>
                <a:latin typeface="Calibri"/>
              </a:rPr>
              <a:t>2</a:t>
            </a:r>
          </a:p>
        </p:txBody>
      </p:sp>
      <p:sp>
        <p:nvSpPr>
          <p:cNvPr id="20" name="TextBox 19"/>
          <p:cNvSpPr txBox="1"/>
          <p:nvPr/>
        </p:nvSpPr>
        <p:spPr>
          <a:xfrm>
            <a:off x="5349240" y="1709928"/>
            <a:ext cx="2194560" cy="594360"/>
          </a:xfrm>
          <a:prstGeom prst="rect">
            <a:avLst/>
          </a:prstGeom>
          <a:noFill/>
        </p:spPr>
        <p:txBody>
          <a:bodyPr wrap="square" lIns="45720" tIns="27432" rIns="45720" bIns="27432" anchor="ctr">
            <a:spAutoFit/>
          </a:bodyPr>
          <a:lstStyle/>
          <a:p>
            <a:pPr algn="l">
              <a:lnSpc>
                <a:spcPct val="105000"/>
              </a:lnSpc>
            </a:pPr>
            <a:r>
              <a:rPr sz="1200" b="1" i="0">
                <a:solidFill>
                  <a:srgbClr val="6B7C82"/>
                </a:solidFill>
                <a:latin typeface="Calibri"/>
              </a:rPr>
              <a:t>Data Understanding</a:t>
            </a:r>
          </a:p>
        </p:txBody>
      </p:sp>
      <p:sp>
        <p:nvSpPr>
          <p:cNvPr id="21" name="TextBox 20"/>
          <p:cNvSpPr txBox="1"/>
          <p:nvPr/>
        </p:nvSpPr>
        <p:spPr>
          <a:xfrm>
            <a:off x="4800600" y="2331720"/>
            <a:ext cx="2651760" cy="457200"/>
          </a:xfrm>
          <a:prstGeom prst="rect">
            <a:avLst/>
          </a:prstGeom>
          <a:noFill/>
        </p:spPr>
        <p:txBody>
          <a:bodyPr wrap="square" lIns="45720" tIns="27432" rIns="45720" bIns="27432" anchor="t">
            <a:spAutoFit/>
          </a:bodyPr>
          <a:lstStyle/>
          <a:p>
            <a:pPr algn="l">
              <a:lnSpc>
                <a:spcPct val="105000"/>
              </a:lnSpc>
            </a:pPr>
            <a:r>
              <a:rPr sz="1800" b="1" i="0">
                <a:solidFill>
                  <a:srgbClr val="0B3C49"/>
                </a:solidFill>
                <a:latin typeface="Calibri"/>
              </a:rPr>
              <a:t>Exploration</a:t>
            </a:r>
          </a:p>
        </p:txBody>
      </p:sp>
      <p:sp>
        <p:nvSpPr>
          <p:cNvPr id="22" name="TextBox 21"/>
          <p:cNvSpPr txBox="1"/>
          <p:nvPr/>
        </p:nvSpPr>
        <p:spPr>
          <a:xfrm>
            <a:off x="4800600" y="2743200"/>
            <a:ext cx="2651760" cy="59436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Paysage bibliographique</a:t>
            </a:r>
          </a:p>
        </p:txBody>
      </p:sp>
      <p:sp>
        <p:nvSpPr>
          <p:cNvPr id="23" name="Rounded Rectangle 22"/>
          <p:cNvSpPr/>
          <p:nvPr/>
        </p:nvSpPr>
        <p:spPr>
          <a:xfrm>
            <a:off x="8321040" y="1600200"/>
            <a:ext cx="2971800" cy="1783080"/>
          </a:xfrm>
          <a:prstGeom prst="roundRect">
            <a:avLst>
              <a:gd name="adj" fmla="val 10000"/>
            </a:avLst>
          </a:prstGeom>
          <a:solidFill>
            <a:srgbClr val="E8F1F3"/>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458200" y="1737360"/>
            <a:ext cx="502920" cy="5029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i="0">
                <a:solidFill>
                  <a:srgbClr val="0B3C49"/>
                </a:solidFill>
                <a:latin typeface="Calibri"/>
              </a:rPr>
              <a:t>3</a:t>
            </a:r>
          </a:p>
        </p:txBody>
      </p:sp>
      <p:sp>
        <p:nvSpPr>
          <p:cNvPr id="25" name="TextBox 24"/>
          <p:cNvSpPr txBox="1"/>
          <p:nvPr/>
        </p:nvSpPr>
        <p:spPr>
          <a:xfrm>
            <a:off x="9052560" y="1709928"/>
            <a:ext cx="2194560" cy="594360"/>
          </a:xfrm>
          <a:prstGeom prst="rect">
            <a:avLst/>
          </a:prstGeom>
          <a:noFill/>
        </p:spPr>
        <p:txBody>
          <a:bodyPr wrap="square" lIns="45720" tIns="27432" rIns="45720" bIns="27432" anchor="ctr">
            <a:spAutoFit/>
          </a:bodyPr>
          <a:lstStyle/>
          <a:p>
            <a:pPr algn="l">
              <a:lnSpc>
                <a:spcPct val="105000"/>
              </a:lnSpc>
            </a:pPr>
            <a:r>
              <a:rPr sz="1200" b="1" i="0">
                <a:solidFill>
                  <a:srgbClr val="6B7C82"/>
                </a:solidFill>
                <a:latin typeface="Calibri"/>
              </a:rPr>
              <a:t>Data Preparation</a:t>
            </a:r>
          </a:p>
        </p:txBody>
      </p:sp>
      <p:sp>
        <p:nvSpPr>
          <p:cNvPr id="26" name="TextBox 25"/>
          <p:cNvSpPr txBox="1"/>
          <p:nvPr/>
        </p:nvSpPr>
        <p:spPr>
          <a:xfrm>
            <a:off x="8503919" y="2331720"/>
            <a:ext cx="2651760" cy="457200"/>
          </a:xfrm>
          <a:prstGeom prst="rect">
            <a:avLst/>
          </a:prstGeom>
          <a:noFill/>
        </p:spPr>
        <p:txBody>
          <a:bodyPr wrap="square" lIns="45720" tIns="27432" rIns="45720" bIns="27432" anchor="t">
            <a:spAutoFit/>
          </a:bodyPr>
          <a:lstStyle/>
          <a:p>
            <a:pPr algn="l">
              <a:lnSpc>
                <a:spcPct val="105000"/>
              </a:lnSpc>
            </a:pPr>
            <a:r>
              <a:rPr sz="1800" b="1" i="0">
                <a:solidFill>
                  <a:srgbClr val="0B3C49"/>
                </a:solidFill>
                <a:latin typeface="Calibri"/>
              </a:rPr>
              <a:t>Préparation</a:t>
            </a:r>
          </a:p>
        </p:txBody>
      </p:sp>
      <p:sp>
        <p:nvSpPr>
          <p:cNvPr id="27" name="TextBox 26"/>
          <p:cNvSpPr txBox="1"/>
          <p:nvPr/>
        </p:nvSpPr>
        <p:spPr>
          <a:xfrm>
            <a:off x="8503919" y="2743200"/>
            <a:ext cx="2651760" cy="59436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Criblage, sélection, extraction</a:t>
            </a:r>
          </a:p>
        </p:txBody>
      </p:sp>
      <p:sp>
        <p:nvSpPr>
          <p:cNvPr id="28" name="Rounded Rectangle 27"/>
          <p:cNvSpPr/>
          <p:nvPr/>
        </p:nvSpPr>
        <p:spPr>
          <a:xfrm>
            <a:off x="8321040" y="4160520"/>
            <a:ext cx="2971800" cy="1783080"/>
          </a:xfrm>
          <a:prstGeom prst="roundRect">
            <a:avLst>
              <a:gd name="adj" fmla="val 10000"/>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458200" y="4297680"/>
            <a:ext cx="502920" cy="5029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i="0">
                <a:solidFill>
                  <a:srgbClr val="0B3C49"/>
                </a:solidFill>
                <a:latin typeface="Calibri"/>
              </a:rPr>
              <a:t>4</a:t>
            </a:r>
          </a:p>
        </p:txBody>
      </p:sp>
      <p:sp>
        <p:nvSpPr>
          <p:cNvPr id="30" name="TextBox 29"/>
          <p:cNvSpPr txBox="1"/>
          <p:nvPr/>
        </p:nvSpPr>
        <p:spPr>
          <a:xfrm>
            <a:off x="9052560" y="4270248"/>
            <a:ext cx="2194560" cy="594360"/>
          </a:xfrm>
          <a:prstGeom prst="rect">
            <a:avLst/>
          </a:prstGeom>
          <a:noFill/>
        </p:spPr>
        <p:txBody>
          <a:bodyPr wrap="square" lIns="45720" tIns="27432" rIns="45720" bIns="27432" anchor="ctr">
            <a:spAutoFit/>
          </a:bodyPr>
          <a:lstStyle/>
          <a:p>
            <a:pPr algn="l">
              <a:lnSpc>
                <a:spcPct val="105000"/>
              </a:lnSpc>
            </a:pPr>
            <a:r>
              <a:rPr sz="1200" b="1" i="0">
                <a:solidFill>
                  <a:srgbClr val="6B7C82"/>
                </a:solidFill>
                <a:latin typeface="Calibri"/>
              </a:rPr>
              <a:t>Modeling</a:t>
            </a:r>
          </a:p>
        </p:txBody>
      </p:sp>
      <p:sp>
        <p:nvSpPr>
          <p:cNvPr id="31" name="TextBox 30"/>
          <p:cNvSpPr txBox="1"/>
          <p:nvPr/>
        </p:nvSpPr>
        <p:spPr>
          <a:xfrm>
            <a:off x="8503919" y="4892040"/>
            <a:ext cx="2651760" cy="457200"/>
          </a:xfrm>
          <a:prstGeom prst="rect">
            <a:avLst/>
          </a:prstGeom>
          <a:noFill/>
        </p:spPr>
        <p:txBody>
          <a:bodyPr wrap="square" lIns="45720" tIns="27432" rIns="45720" bIns="27432" anchor="t">
            <a:spAutoFit/>
          </a:bodyPr>
          <a:lstStyle/>
          <a:p>
            <a:pPr algn="l">
              <a:lnSpc>
                <a:spcPct val="105000"/>
              </a:lnSpc>
            </a:pPr>
            <a:r>
              <a:rPr sz="1800" b="1" i="0">
                <a:solidFill>
                  <a:srgbClr val="0B3C49"/>
                </a:solidFill>
                <a:latin typeface="Calibri"/>
              </a:rPr>
              <a:t>Modélisation</a:t>
            </a:r>
          </a:p>
        </p:txBody>
      </p:sp>
      <p:sp>
        <p:nvSpPr>
          <p:cNvPr id="32" name="TextBox 31"/>
          <p:cNvSpPr txBox="1"/>
          <p:nvPr/>
        </p:nvSpPr>
        <p:spPr>
          <a:xfrm>
            <a:off x="8503919" y="5303520"/>
            <a:ext cx="2651760" cy="59436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Synthèse assistée, note méthodologique</a:t>
            </a:r>
          </a:p>
        </p:txBody>
      </p:sp>
      <p:sp>
        <p:nvSpPr>
          <p:cNvPr id="33" name="Rounded Rectangle 32"/>
          <p:cNvSpPr/>
          <p:nvPr/>
        </p:nvSpPr>
        <p:spPr>
          <a:xfrm>
            <a:off x="4617720" y="4160520"/>
            <a:ext cx="2971800" cy="1783080"/>
          </a:xfrm>
          <a:prstGeom prst="roundRect">
            <a:avLst>
              <a:gd name="adj" fmla="val 10000"/>
            </a:avLst>
          </a:prstGeom>
          <a:solidFill>
            <a:srgbClr val="E8F1F3"/>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754880" y="4297680"/>
            <a:ext cx="502920" cy="5029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i="0">
                <a:solidFill>
                  <a:srgbClr val="0B3C49"/>
                </a:solidFill>
                <a:latin typeface="Calibri"/>
              </a:rPr>
              <a:t>5</a:t>
            </a:r>
          </a:p>
        </p:txBody>
      </p:sp>
      <p:sp>
        <p:nvSpPr>
          <p:cNvPr id="35" name="TextBox 34"/>
          <p:cNvSpPr txBox="1"/>
          <p:nvPr/>
        </p:nvSpPr>
        <p:spPr>
          <a:xfrm>
            <a:off x="5349240" y="4270248"/>
            <a:ext cx="2194560" cy="594360"/>
          </a:xfrm>
          <a:prstGeom prst="rect">
            <a:avLst/>
          </a:prstGeom>
          <a:noFill/>
        </p:spPr>
        <p:txBody>
          <a:bodyPr wrap="square" lIns="45720" tIns="27432" rIns="45720" bIns="27432" anchor="ctr">
            <a:spAutoFit/>
          </a:bodyPr>
          <a:lstStyle/>
          <a:p>
            <a:pPr algn="l">
              <a:lnSpc>
                <a:spcPct val="105000"/>
              </a:lnSpc>
            </a:pPr>
            <a:r>
              <a:rPr sz="1200" b="1" i="0">
                <a:solidFill>
                  <a:srgbClr val="6B7C82"/>
                </a:solidFill>
                <a:latin typeface="Calibri"/>
              </a:rPr>
              <a:t>Evaluation</a:t>
            </a:r>
          </a:p>
        </p:txBody>
      </p:sp>
      <p:sp>
        <p:nvSpPr>
          <p:cNvPr id="36" name="TextBox 35"/>
          <p:cNvSpPr txBox="1"/>
          <p:nvPr/>
        </p:nvSpPr>
        <p:spPr>
          <a:xfrm>
            <a:off x="4800600" y="4892040"/>
            <a:ext cx="2651760" cy="457200"/>
          </a:xfrm>
          <a:prstGeom prst="rect">
            <a:avLst/>
          </a:prstGeom>
          <a:noFill/>
        </p:spPr>
        <p:txBody>
          <a:bodyPr wrap="square" lIns="45720" tIns="27432" rIns="45720" bIns="27432" anchor="t">
            <a:spAutoFit/>
          </a:bodyPr>
          <a:lstStyle/>
          <a:p>
            <a:pPr algn="l">
              <a:lnSpc>
                <a:spcPct val="105000"/>
              </a:lnSpc>
            </a:pPr>
            <a:r>
              <a:rPr sz="1800" b="1" i="0">
                <a:solidFill>
                  <a:srgbClr val="0B3C49"/>
                </a:solidFill>
                <a:latin typeface="Calibri"/>
              </a:rPr>
              <a:t>Évaluation</a:t>
            </a:r>
          </a:p>
        </p:txBody>
      </p:sp>
      <p:sp>
        <p:nvSpPr>
          <p:cNvPr id="37" name="TextBox 36"/>
          <p:cNvSpPr txBox="1"/>
          <p:nvPr/>
        </p:nvSpPr>
        <p:spPr>
          <a:xfrm>
            <a:off x="4800600" y="5303520"/>
            <a:ext cx="2651760" cy="59436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Qualité PRISMA, biais, intégrité</a:t>
            </a:r>
          </a:p>
        </p:txBody>
      </p:sp>
      <p:sp>
        <p:nvSpPr>
          <p:cNvPr id="38" name="Rounded Rectangle 37"/>
          <p:cNvSpPr/>
          <p:nvPr/>
        </p:nvSpPr>
        <p:spPr>
          <a:xfrm>
            <a:off x="914400" y="4160520"/>
            <a:ext cx="2971800" cy="1783080"/>
          </a:xfrm>
          <a:prstGeom prst="roundRect">
            <a:avLst>
              <a:gd name="adj" fmla="val 10000"/>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051560" y="4297680"/>
            <a:ext cx="502920" cy="5029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i="0">
                <a:solidFill>
                  <a:srgbClr val="0B3C49"/>
                </a:solidFill>
                <a:latin typeface="Calibri"/>
              </a:rPr>
              <a:t>6</a:t>
            </a:r>
          </a:p>
        </p:txBody>
      </p:sp>
      <p:sp>
        <p:nvSpPr>
          <p:cNvPr id="40" name="TextBox 39"/>
          <p:cNvSpPr txBox="1"/>
          <p:nvPr/>
        </p:nvSpPr>
        <p:spPr>
          <a:xfrm>
            <a:off x="1645920" y="4270248"/>
            <a:ext cx="2194560" cy="594360"/>
          </a:xfrm>
          <a:prstGeom prst="rect">
            <a:avLst/>
          </a:prstGeom>
          <a:noFill/>
        </p:spPr>
        <p:txBody>
          <a:bodyPr wrap="square" lIns="45720" tIns="27432" rIns="45720" bIns="27432" anchor="ctr">
            <a:spAutoFit/>
          </a:bodyPr>
          <a:lstStyle/>
          <a:p>
            <a:pPr algn="l">
              <a:lnSpc>
                <a:spcPct val="105000"/>
              </a:lnSpc>
            </a:pPr>
            <a:r>
              <a:rPr sz="1200" b="1" i="0">
                <a:solidFill>
                  <a:srgbClr val="6B7C82"/>
                </a:solidFill>
                <a:latin typeface="Calibri"/>
              </a:rPr>
              <a:t>Deployment</a:t>
            </a:r>
          </a:p>
        </p:txBody>
      </p:sp>
      <p:sp>
        <p:nvSpPr>
          <p:cNvPr id="41" name="TextBox 40"/>
          <p:cNvSpPr txBox="1"/>
          <p:nvPr/>
        </p:nvSpPr>
        <p:spPr>
          <a:xfrm>
            <a:off x="1097280" y="4892040"/>
            <a:ext cx="2651760" cy="457200"/>
          </a:xfrm>
          <a:prstGeom prst="rect">
            <a:avLst/>
          </a:prstGeom>
          <a:noFill/>
        </p:spPr>
        <p:txBody>
          <a:bodyPr wrap="square" lIns="45720" tIns="27432" rIns="45720" bIns="27432" anchor="t">
            <a:spAutoFit/>
          </a:bodyPr>
          <a:lstStyle/>
          <a:p>
            <a:pPr algn="l">
              <a:lnSpc>
                <a:spcPct val="105000"/>
              </a:lnSpc>
            </a:pPr>
            <a:r>
              <a:rPr sz="1800" b="1" i="0">
                <a:solidFill>
                  <a:srgbClr val="0B3C49"/>
                </a:solidFill>
                <a:latin typeface="Calibri"/>
              </a:rPr>
              <a:t>Déploiement</a:t>
            </a:r>
          </a:p>
        </p:txBody>
      </p:sp>
      <p:sp>
        <p:nvSpPr>
          <p:cNvPr id="42" name="TextBox 41"/>
          <p:cNvSpPr txBox="1"/>
          <p:nvPr/>
        </p:nvSpPr>
        <p:spPr>
          <a:xfrm>
            <a:off x="1097280" y="5303520"/>
            <a:ext cx="2651760" cy="59436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Valorisation dans le projet</a:t>
            </a:r>
          </a:p>
        </p:txBody>
      </p:sp>
      <p:sp>
        <p:nvSpPr>
          <p:cNvPr id="43" name="Right Arrow 42"/>
          <p:cNvSpPr/>
          <p:nvPr/>
        </p:nvSpPr>
        <p:spPr>
          <a:xfrm>
            <a:off x="3931920" y="2322576"/>
            <a:ext cx="640080" cy="329184"/>
          </a:xfrm>
          <a:prstGeom prst="right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ight Arrow 43"/>
          <p:cNvSpPr/>
          <p:nvPr/>
        </p:nvSpPr>
        <p:spPr>
          <a:xfrm>
            <a:off x="7635240" y="2322576"/>
            <a:ext cx="640080" cy="329184"/>
          </a:xfrm>
          <a:prstGeom prst="right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own Arrow 44"/>
          <p:cNvSpPr/>
          <p:nvPr/>
        </p:nvSpPr>
        <p:spPr>
          <a:xfrm>
            <a:off x="9646920" y="3429000"/>
            <a:ext cx="329184" cy="685800"/>
          </a:xfrm>
          <a:prstGeom prst="down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Left Arrow 45"/>
          <p:cNvSpPr/>
          <p:nvPr/>
        </p:nvSpPr>
        <p:spPr>
          <a:xfrm>
            <a:off x="7635240" y="4882896"/>
            <a:ext cx="640080" cy="329184"/>
          </a:xfrm>
          <a:prstGeom prst="left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Left Arrow 46"/>
          <p:cNvSpPr/>
          <p:nvPr/>
        </p:nvSpPr>
        <p:spPr>
          <a:xfrm>
            <a:off x="3931920" y="4882896"/>
            <a:ext cx="640080" cy="329184"/>
          </a:xfrm>
          <a:prstGeom prst="left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3977639" y="3493008"/>
            <a:ext cx="4297680" cy="548640"/>
          </a:xfrm>
          <a:prstGeom prst="roundRect">
            <a:avLst>
              <a:gd name="adj" fmla="val 30000"/>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1" i="0">
                <a:solidFill>
                  <a:srgbClr val="0B3C49"/>
                </a:solidFill>
                <a:latin typeface="Calibri"/>
              </a:rPr>
              <a:t>↺ On peut toujours revenir à une phase précédente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CAPSULE 0</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Une phase, une question, un outil, un livrable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8</a:t>
            </a:r>
          </a:p>
        </p:txBody>
      </p:sp>
      <p:graphicFrame>
        <p:nvGraphicFramePr>
          <p:cNvPr id="13" name="Table 12"/>
          <p:cNvGraphicFramePr>
            <a:graphicFrameLocks noGrp="1"/>
          </p:cNvGraphicFramePr>
          <p:nvPr/>
        </p:nvGraphicFramePr>
        <p:xfrm>
          <a:off x="502920" y="1463040"/>
          <a:ext cx="11201400" cy="4608576"/>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658368">
                <a:tc>
                  <a:txBody>
                    <a:bodyPr/>
                    <a:lstStyle/>
                    <a:p>
                      <a:r>
                        <a:rPr sz="1400" b="1" i="0">
                          <a:solidFill>
                            <a:srgbClr val="FFFFFF"/>
                          </a:solidFill>
                          <a:latin typeface="Calibri"/>
                        </a:rPr>
                        <a:t>Phase</a:t>
                      </a:r>
                    </a:p>
                  </a:txBody>
                  <a:tcPr marL="64008" marR="64008" marT="27432" marB="27432">
                    <a:solidFill>
                      <a:srgbClr val="0B3C49"/>
                    </a:solidFill>
                  </a:tcPr>
                </a:tc>
                <a:tc>
                  <a:txBody>
                    <a:bodyPr/>
                    <a:lstStyle/>
                    <a:p>
                      <a:r>
                        <a:rPr sz="1400" b="1" i="0">
                          <a:solidFill>
                            <a:srgbClr val="FFFFFF"/>
                          </a:solidFill>
                          <a:latin typeface="Calibri"/>
                        </a:rPr>
                        <a:t>Question clé</a:t>
                      </a:r>
                    </a:p>
                  </a:txBody>
                  <a:tcPr marL="64008" marR="64008" marT="27432" marB="27432">
                    <a:solidFill>
                      <a:srgbClr val="0B3C49"/>
                    </a:solidFill>
                  </a:tcPr>
                </a:tc>
                <a:tc>
                  <a:txBody>
                    <a:bodyPr/>
                    <a:lstStyle/>
                    <a:p>
                      <a:r>
                        <a:rPr sz="1400" b="1" i="0">
                          <a:solidFill>
                            <a:srgbClr val="FFFFFF"/>
                          </a:solidFill>
                          <a:latin typeface="Calibri"/>
                        </a:rPr>
                        <a:t>Outils</a:t>
                      </a:r>
                    </a:p>
                  </a:txBody>
                  <a:tcPr marL="64008" marR="64008" marT="27432" marB="27432">
                    <a:solidFill>
                      <a:srgbClr val="0B3C49"/>
                    </a:solidFill>
                  </a:tcPr>
                </a:tc>
                <a:tc>
                  <a:txBody>
                    <a:bodyPr/>
                    <a:lstStyle/>
                    <a:p>
                      <a:r>
                        <a:rPr sz="1400" b="1" i="0">
                          <a:solidFill>
                            <a:srgbClr val="FFFFFF"/>
                          </a:solidFill>
                          <a:latin typeface="Calibri"/>
                        </a:rPr>
                        <a:t>Livrable</a:t>
                      </a:r>
                    </a:p>
                  </a:txBody>
                  <a:tcPr marL="64008" marR="64008" marT="27432" marB="27432">
                    <a:solidFill>
                      <a:srgbClr val="0B3C49"/>
                    </a:solidFill>
                  </a:tcPr>
                </a:tc>
                <a:extLst>
                  <a:ext uri="{0D108BD9-81ED-4DB2-BD59-A6C34878D82A}">
                    <a16:rowId xmlns:a16="http://schemas.microsoft.com/office/drawing/2014/main" val="10000"/>
                  </a:ext>
                </a:extLst>
              </a:tr>
              <a:tr h="658368">
                <a:tc>
                  <a:txBody>
                    <a:bodyPr/>
                    <a:lstStyle/>
                    <a:p>
                      <a:r>
                        <a:rPr sz="1400" b="0" i="0">
                          <a:solidFill>
                            <a:srgbClr val="222B30"/>
                          </a:solidFill>
                          <a:latin typeface="Calibri"/>
                        </a:rPr>
                        <a:t>1. Compréhension</a:t>
                      </a:r>
                    </a:p>
                  </a:txBody>
                  <a:tcPr marL="64008" marR="64008" marT="27432" marB="27432">
                    <a:solidFill>
                      <a:srgbClr val="FFFFFF"/>
                    </a:solidFill>
                  </a:tcPr>
                </a:tc>
                <a:tc>
                  <a:txBody>
                    <a:bodyPr/>
                    <a:lstStyle/>
                    <a:p>
                      <a:r>
                        <a:rPr sz="1400" b="0" i="0">
                          <a:solidFill>
                            <a:srgbClr val="222B30"/>
                          </a:solidFill>
                          <a:latin typeface="Calibri"/>
                        </a:rPr>
                        <a:t>Qu'est-ce que je cherche exactement ?</a:t>
                      </a:r>
                    </a:p>
                  </a:txBody>
                  <a:tcPr marL="64008" marR="64008" marT="27432" marB="27432">
                    <a:solidFill>
                      <a:srgbClr val="FFFFFF"/>
                    </a:solidFill>
                  </a:tcPr>
                </a:tc>
                <a:tc>
                  <a:txBody>
                    <a:bodyPr/>
                    <a:lstStyle/>
                    <a:p>
                      <a:r>
                        <a:rPr sz="1400" b="0" i="0">
                          <a:solidFill>
                            <a:srgbClr val="222B30"/>
                          </a:solidFill>
                          <a:latin typeface="Calibri"/>
                        </a:rPr>
                        <a:t>PICO(S), PEO, PCC, SPIDER</a:t>
                      </a:r>
                    </a:p>
                  </a:txBody>
                  <a:tcPr marL="64008" marR="64008" marT="27432" marB="27432">
                    <a:solidFill>
                      <a:srgbClr val="FFFFFF"/>
                    </a:solidFill>
                  </a:tcPr>
                </a:tc>
                <a:tc>
                  <a:txBody>
                    <a:bodyPr/>
                    <a:lstStyle/>
                    <a:p>
                      <a:r>
                        <a:rPr sz="1400" b="0" i="0">
                          <a:solidFill>
                            <a:srgbClr val="222B30"/>
                          </a:solidFill>
                          <a:latin typeface="Calibri"/>
                        </a:rPr>
                        <a:t>Fiche-question + équation</a:t>
                      </a:r>
                    </a:p>
                  </a:txBody>
                  <a:tcPr marL="64008" marR="64008" marT="27432" marB="27432">
                    <a:solidFill>
                      <a:srgbClr val="FFFFFF"/>
                    </a:solidFill>
                  </a:tcPr>
                </a:tc>
                <a:extLst>
                  <a:ext uri="{0D108BD9-81ED-4DB2-BD59-A6C34878D82A}">
                    <a16:rowId xmlns:a16="http://schemas.microsoft.com/office/drawing/2014/main" val="10001"/>
                  </a:ext>
                </a:extLst>
              </a:tr>
              <a:tr h="658368">
                <a:tc>
                  <a:txBody>
                    <a:bodyPr/>
                    <a:lstStyle/>
                    <a:p>
                      <a:r>
                        <a:rPr sz="1400" b="0" i="0">
                          <a:solidFill>
                            <a:srgbClr val="222B30"/>
                          </a:solidFill>
                          <a:latin typeface="Calibri"/>
                        </a:rPr>
                        <a:t>2. Exploration</a:t>
                      </a:r>
                    </a:p>
                  </a:txBody>
                  <a:tcPr marL="64008" marR="64008" marT="27432" marB="27432">
                    <a:solidFill>
                      <a:srgbClr val="E8F1F3"/>
                    </a:solidFill>
                  </a:tcPr>
                </a:tc>
                <a:tc>
                  <a:txBody>
                    <a:bodyPr/>
                    <a:lstStyle/>
                    <a:p>
                      <a:r>
                        <a:rPr sz="1400" b="0" i="0">
                          <a:solidFill>
                            <a:srgbClr val="222B30"/>
                          </a:solidFill>
                          <a:latin typeface="Calibri"/>
                        </a:rPr>
                        <a:t>Que dit la littérature ? Où sont les trous ?</a:t>
                      </a:r>
                    </a:p>
                  </a:txBody>
                  <a:tcPr marL="64008" marR="64008" marT="27432" marB="27432">
                    <a:solidFill>
                      <a:srgbClr val="E8F1F3"/>
                    </a:solidFill>
                  </a:tcPr>
                </a:tc>
                <a:tc>
                  <a:txBody>
                    <a:bodyPr/>
                    <a:lstStyle/>
                    <a:p>
                      <a:r>
                        <a:rPr sz="1400" b="0" i="0">
                          <a:solidFill>
                            <a:srgbClr val="222B30"/>
                          </a:solidFill>
                          <a:latin typeface="Calibri"/>
                        </a:rPr>
                        <a:t>Semantic Scholar, Connected Papers</a:t>
                      </a:r>
                    </a:p>
                  </a:txBody>
                  <a:tcPr marL="64008" marR="64008" marT="27432" marB="27432">
                    <a:solidFill>
                      <a:srgbClr val="E8F1F3"/>
                    </a:solidFill>
                  </a:tcPr>
                </a:tc>
                <a:tc>
                  <a:txBody>
                    <a:bodyPr/>
                    <a:lstStyle/>
                    <a:p>
                      <a:r>
                        <a:rPr sz="1400" b="0" i="0">
                          <a:solidFill>
                            <a:srgbClr val="222B30"/>
                          </a:solidFill>
                          <a:latin typeface="Calibri"/>
                        </a:rPr>
                        <a:t>Journal de recherche + carte</a:t>
                      </a:r>
                    </a:p>
                  </a:txBody>
                  <a:tcPr marL="64008" marR="64008" marT="27432" marB="27432">
                    <a:solidFill>
                      <a:srgbClr val="E8F1F3"/>
                    </a:solidFill>
                  </a:tcPr>
                </a:tc>
                <a:extLst>
                  <a:ext uri="{0D108BD9-81ED-4DB2-BD59-A6C34878D82A}">
                    <a16:rowId xmlns:a16="http://schemas.microsoft.com/office/drawing/2014/main" val="10002"/>
                  </a:ext>
                </a:extLst>
              </a:tr>
              <a:tr h="658368">
                <a:tc>
                  <a:txBody>
                    <a:bodyPr/>
                    <a:lstStyle/>
                    <a:p>
                      <a:r>
                        <a:rPr sz="1400" b="0" i="0">
                          <a:solidFill>
                            <a:srgbClr val="222B30"/>
                          </a:solidFill>
                          <a:latin typeface="Calibri"/>
                        </a:rPr>
                        <a:t>3. Préparation</a:t>
                      </a:r>
                    </a:p>
                  </a:txBody>
                  <a:tcPr marL="64008" marR="64008" marT="27432" marB="27432">
                    <a:solidFill>
                      <a:srgbClr val="FFFFFF"/>
                    </a:solidFill>
                  </a:tcPr>
                </a:tc>
                <a:tc>
                  <a:txBody>
                    <a:bodyPr/>
                    <a:lstStyle/>
                    <a:p>
                      <a:r>
                        <a:rPr sz="1400" b="0" i="0">
                          <a:solidFill>
                            <a:srgbClr val="222B30"/>
                          </a:solidFill>
                          <a:latin typeface="Calibri"/>
                        </a:rPr>
                        <a:t>Que je garde ? Qu'en extrais-je ?</a:t>
                      </a:r>
                    </a:p>
                  </a:txBody>
                  <a:tcPr marL="64008" marR="64008" marT="27432" marB="27432">
                    <a:solidFill>
                      <a:srgbClr val="FFFFFF"/>
                    </a:solidFill>
                  </a:tcPr>
                </a:tc>
                <a:tc>
                  <a:txBody>
                    <a:bodyPr/>
                    <a:lstStyle/>
                    <a:p>
                      <a:r>
                        <a:rPr sz="1400" b="0" i="0">
                          <a:solidFill>
                            <a:srgbClr val="222B30"/>
                          </a:solidFill>
                          <a:latin typeface="Calibri"/>
                        </a:rPr>
                        <a:t>Elicit, Zotero, PRISMA 2020</a:t>
                      </a:r>
                    </a:p>
                  </a:txBody>
                  <a:tcPr marL="64008" marR="64008" marT="27432" marB="27432">
                    <a:solidFill>
                      <a:srgbClr val="FFFFFF"/>
                    </a:solidFill>
                  </a:tcPr>
                </a:tc>
                <a:tc>
                  <a:txBody>
                    <a:bodyPr/>
                    <a:lstStyle/>
                    <a:p>
                      <a:r>
                        <a:rPr sz="1400" b="0" i="0">
                          <a:solidFill>
                            <a:srgbClr val="222B30"/>
                          </a:solidFill>
                          <a:latin typeface="Calibri"/>
                        </a:rPr>
                        <a:t>Tableau d'extraction + effectifs</a:t>
                      </a:r>
                    </a:p>
                  </a:txBody>
                  <a:tcPr marL="64008" marR="64008" marT="27432" marB="27432">
                    <a:solidFill>
                      <a:srgbClr val="FFFFFF"/>
                    </a:solidFill>
                  </a:tcPr>
                </a:tc>
                <a:extLst>
                  <a:ext uri="{0D108BD9-81ED-4DB2-BD59-A6C34878D82A}">
                    <a16:rowId xmlns:a16="http://schemas.microsoft.com/office/drawing/2014/main" val="10003"/>
                  </a:ext>
                </a:extLst>
              </a:tr>
              <a:tr h="658368">
                <a:tc>
                  <a:txBody>
                    <a:bodyPr/>
                    <a:lstStyle/>
                    <a:p>
                      <a:r>
                        <a:rPr sz="1400" b="0" i="0">
                          <a:solidFill>
                            <a:srgbClr val="222B30"/>
                          </a:solidFill>
                          <a:latin typeface="Calibri"/>
                        </a:rPr>
                        <a:t>4. Modélisation</a:t>
                      </a:r>
                    </a:p>
                  </a:txBody>
                  <a:tcPr marL="64008" marR="64008" marT="27432" marB="27432">
                    <a:solidFill>
                      <a:srgbClr val="E8F1F3"/>
                    </a:solidFill>
                  </a:tcPr>
                </a:tc>
                <a:tc>
                  <a:txBody>
                    <a:bodyPr/>
                    <a:lstStyle/>
                    <a:p>
                      <a:r>
                        <a:rPr sz="1400" b="0" i="0">
                          <a:solidFill>
                            <a:srgbClr val="222B30"/>
                          </a:solidFill>
                          <a:latin typeface="Calibri"/>
                        </a:rPr>
                        <a:t>Que m'apprend l'ensemble ?</a:t>
                      </a:r>
                    </a:p>
                  </a:txBody>
                  <a:tcPr marL="64008" marR="64008" marT="27432" marB="27432">
                    <a:solidFill>
                      <a:srgbClr val="E8F1F3"/>
                    </a:solidFill>
                  </a:tcPr>
                </a:tc>
                <a:tc>
                  <a:txBody>
                    <a:bodyPr/>
                    <a:lstStyle/>
                    <a:p>
                      <a:r>
                        <a:rPr sz="1400" b="0" i="0">
                          <a:solidFill>
                            <a:srgbClr val="222B30"/>
                          </a:solidFill>
                          <a:latin typeface="Calibri"/>
                        </a:rPr>
                        <a:t>Synthèse narrative, thématique</a:t>
                      </a:r>
                    </a:p>
                  </a:txBody>
                  <a:tcPr marL="64008" marR="64008" marT="27432" marB="27432">
                    <a:solidFill>
                      <a:srgbClr val="E8F1F3"/>
                    </a:solidFill>
                  </a:tcPr>
                </a:tc>
                <a:tc>
                  <a:txBody>
                    <a:bodyPr/>
                    <a:lstStyle/>
                    <a:p>
                      <a:r>
                        <a:rPr sz="1400" b="0" i="0">
                          <a:solidFill>
                            <a:srgbClr val="222B30"/>
                          </a:solidFill>
                          <a:latin typeface="Calibri"/>
                        </a:rPr>
                        <a:t>Synthèse de 300 à 500 mots</a:t>
                      </a:r>
                    </a:p>
                  </a:txBody>
                  <a:tcPr marL="64008" marR="64008" marT="27432" marB="27432">
                    <a:solidFill>
                      <a:srgbClr val="E8F1F3"/>
                    </a:solidFill>
                  </a:tcPr>
                </a:tc>
                <a:extLst>
                  <a:ext uri="{0D108BD9-81ED-4DB2-BD59-A6C34878D82A}">
                    <a16:rowId xmlns:a16="http://schemas.microsoft.com/office/drawing/2014/main" val="10004"/>
                  </a:ext>
                </a:extLst>
              </a:tr>
              <a:tr h="658368">
                <a:tc>
                  <a:txBody>
                    <a:bodyPr/>
                    <a:lstStyle/>
                    <a:p>
                      <a:r>
                        <a:rPr sz="1400" b="0" i="0">
                          <a:solidFill>
                            <a:srgbClr val="222B30"/>
                          </a:solidFill>
                          <a:latin typeface="Calibri"/>
                        </a:rPr>
                        <a:t>5. Évaluation</a:t>
                      </a:r>
                    </a:p>
                  </a:txBody>
                  <a:tcPr marL="64008" marR="64008" marT="27432" marB="27432">
                    <a:solidFill>
                      <a:srgbClr val="FFFFFF"/>
                    </a:solidFill>
                  </a:tcPr>
                </a:tc>
                <a:tc>
                  <a:txBody>
                    <a:bodyPr/>
                    <a:lstStyle/>
                    <a:p>
                      <a:r>
                        <a:rPr sz="1400" b="0" i="0">
                          <a:solidFill>
                            <a:srgbClr val="222B30"/>
                          </a:solidFill>
                          <a:latin typeface="Calibri"/>
                        </a:rPr>
                        <a:t>Puis-je avoir confiance ?</a:t>
                      </a:r>
                    </a:p>
                  </a:txBody>
                  <a:tcPr marL="64008" marR="64008" marT="27432" marB="27432">
                    <a:solidFill>
                      <a:srgbClr val="FFFFFF"/>
                    </a:solidFill>
                  </a:tcPr>
                </a:tc>
                <a:tc>
                  <a:txBody>
                    <a:bodyPr/>
                    <a:lstStyle/>
                    <a:p>
                      <a:r>
                        <a:rPr sz="1400" b="0" i="0">
                          <a:solidFill>
                            <a:srgbClr val="222B30"/>
                          </a:solidFill>
                          <a:latin typeface="Calibri"/>
                        </a:rPr>
                        <a:t>PRISMA, CASP, MMAT, grille genre</a:t>
                      </a:r>
                    </a:p>
                  </a:txBody>
                  <a:tcPr marL="64008" marR="64008" marT="27432" marB="27432">
                    <a:solidFill>
                      <a:srgbClr val="FFFFFF"/>
                    </a:solidFill>
                  </a:tcPr>
                </a:tc>
                <a:tc>
                  <a:txBody>
                    <a:bodyPr/>
                    <a:lstStyle/>
                    <a:p>
                      <a:r>
                        <a:rPr sz="1400" b="0" i="0">
                          <a:solidFill>
                            <a:srgbClr val="222B30"/>
                          </a:solidFill>
                          <a:latin typeface="Calibri"/>
                        </a:rPr>
                        <a:t>Grille d'audit + déclaration IA</a:t>
                      </a:r>
                    </a:p>
                  </a:txBody>
                  <a:tcPr marL="64008" marR="64008" marT="27432" marB="27432">
                    <a:solidFill>
                      <a:srgbClr val="FFFFFF"/>
                    </a:solidFill>
                  </a:tcPr>
                </a:tc>
                <a:extLst>
                  <a:ext uri="{0D108BD9-81ED-4DB2-BD59-A6C34878D82A}">
                    <a16:rowId xmlns:a16="http://schemas.microsoft.com/office/drawing/2014/main" val="10005"/>
                  </a:ext>
                </a:extLst>
              </a:tr>
              <a:tr h="658368">
                <a:tc>
                  <a:txBody>
                    <a:bodyPr/>
                    <a:lstStyle/>
                    <a:p>
                      <a:r>
                        <a:rPr sz="1400" b="0" i="0">
                          <a:solidFill>
                            <a:srgbClr val="222B30"/>
                          </a:solidFill>
                          <a:latin typeface="Calibri"/>
                        </a:rPr>
                        <a:t>6. Déploiement</a:t>
                      </a:r>
                    </a:p>
                  </a:txBody>
                  <a:tcPr marL="64008" marR="64008" marT="27432" marB="27432">
                    <a:solidFill>
                      <a:srgbClr val="E8F1F3"/>
                    </a:solidFill>
                  </a:tcPr>
                </a:tc>
                <a:tc>
                  <a:txBody>
                    <a:bodyPr/>
                    <a:lstStyle/>
                    <a:p>
                      <a:r>
                        <a:rPr sz="1400" b="0" i="0">
                          <a:solidFill>
                            <a:srgbClr val="222B30"/>
                          </a:solidFill>
                          <a:latin typeface="Calibri"/>
                        </a:rPr>
                        <a:t>À quoi cela va-t-il servir ?</a:t>
                      </a:r>
                    </a:p>
                  </a:txBody>
                  <a:tcPr marL="64008" marR="64008" marT="27432" marB="27432">
                    <a:solidFill>
                      <a:srgbClr val="E8F1F3"/>
                    </a:solidFill>
                  </a:tcPr>
                </a:tc>
                <a:tc>
                  <a:txBody>
                    <a:bodyPr/>
                    <a:lstStyle/>
                    <a:p>
                      <a:r>
                        <a:rPr sz="1400" b="0" i="0">
                          <a:solidFill>
                            <a:srgbClr val="222B30"/>
                          </a:solidFill>
                          <a:latin typeface="Calibri"/>
                        </a:rPr>
                        <a:t>Plan de valorisation, ORCID</a:t>
                      </a:r>
                    </a:p>
                  </a:txBody>
                  <a:tcPr marL="64008" marR="64008" marT="27432" marB="27432">
                    <a:solidFill>
                      <a:srgbClr val="E8F1F3"/>
                    </a:solidFill>
                  </a:tcPr>
                </a:tc>
                <a:tc>
                  <a:txBody>
                    <a:bodyPr/>
                    <a:lstStyle/>
                    <a:p>
                      <a:r>
                        <a:rPr sz="1400" b="0" i="0">
                          <a:solidFill>
                            <a:srgbClr val="222B30"/>
                          </a:solidFill>
                          <a:latin typeface="Calibri"/>
                        </a:rPr>
                        <a:t>Plan en 3 actions</a:t>
                      </a:r>
                    </a:p>
                  </a:txBody>
                  <a:tcPr marL="64008" marR="64008" marT="27432" marB="27432">
                    <a:solidFill>
                      <a:srgbClr val="E8F1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CAPSULE 0</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Notre cas de démonstration commun</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9</a:t>
            </a:r>
          </a:p>
        </p:txBody>
      </p:sp>
      <p:sp>
        <p:nvSpPr>
          <p:cNvPr id="13" name="Rounded Rectangle 12"/>
          <p:cNvSpPr/>
          <p:nvPr/>
        </p:nvSpPr>
        <p:spPr>
          <a:xfrm>
            <a:off x="502920" y="1463040"/>
            <a:ext cx="11155680" cy="1097280"/>
          </a:xfrm>
          <a:prstGeom prst="roundRect">
            <a:avLst>
              <a:gd name="adj" fmla="val 10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i="0">
                <a:solidFill>
                  <a:srgbClr val="FFFFFF"/>
                </a:solidFill>
                <a:latin typeface="Georgia"/>
              </a:rPr>
              <a:t>« Freins et leviers de la carrière des femmes chercheures en Afrique subsaharienne »</a:t>
            </a:r>
          </a:p>
        </p:txBody>
      </p:sp>
      <p:sp>
        <p:nvSpPr>
          <p:cNvPr id="14" name="Rectangle 13"/>
          <p:cNvSpPr/>
          <p:nvPr/>
        </p:nvSpPr>
        <p:spPr>
          <a:xfrm>
            <a:off x="502920" y="2834640"/>
            <a:ext cx="3584448" cy="32918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834640"/>
            <a:ext cx="82296" cy="329184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2926080"/>
            <a:ext cx="3310128"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Le corpus</a:t>
            </a:r>
          </a:p>
        </p:txBody>
      </p:sp>
      <p:sp>
        <p:nvSpPr>
          <p:cNvPr id="17" name="TextBox 16"/>
          <p:cNvSpPr txBox="1"/>
          <p:nvPr/>
        </p:nvSpPr>
        <p:spPr>
          <a:xfrm>
            <a:off x="685800" y="3429000"/>
            <a:ext cx="3310128" cy="2743200"/>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Pack commun : 12 articles réels en accès libre (Afrique de l'Ouest, Togo, Mali, Cameroun, Kenya, Afrique du Sud), dont 5 en français.</a:t>
            </a:r>
          </a:p>
        </p:txBody>
      </p:sp>
      <p:sp>
        <p:nvSpPr>
          <p:cNvPr id="18" name="Rectangle 17"/>
          <p:cNvSpPr/>
          <p:nvPr/>
        </p:nvSpPr>
        <p:spPr>
          <a:xfrm>
            <a:off x="4288536" y="2834640"/>
            <a:ext cx="3584448" cy="32918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88536" y="2834640"/>
            <a:ext cx="82296" cy="329184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71416" y="2926080"/>
            <a:ext cx="3310128"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L'article d'origine</a:t>
            </a:r>
          </a:p>
        </p:txBody>
      </p:sp>
      <p:sp>
        <p:nvSpPr>
          <p:cNvPr id="21" name="TextBox 20"/>
          <p:cNvSpPr txBox="1"/>
          <p:nvPr/>
        </p:nvSpPr>
        <p:spPr>
          <a:xfrm>
            <a:off x="4471416" y="3429000"/>
            <a:ext cx="3310128" cy="2743200"/>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Sougou N. M. et al. (2022), Barriers of West African women scientists in their research and academic careers, PLoS ONE. DOI : 10.1371/journal.pone.0265413</a:t>
            </a:r>
          </a:p>
        </p:txBody>
      </p:sp>
      <p:sp>
        <p:nvSpPr>
          <p:cNvPr id="22" name="Rectangle 21"/>
          <p:cNvSpPr/>
          <p:nvPr/>
        </p:nvSpPr>
        <p:spPr>
          <a:xfrm>
            <a:off x="8074152" y="2834640"/>
            <a:ext cx="3584448" cy="329184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74152" y="2834640"/>
            <a:ext cx="82296" cy="329184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57031" y="2926080"/>
            <a:ext cx="3310128"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Pourquoi ce cas</a:t>
            </a:r>
          </a:p>
        </p:txBody>
      </p:sp>
      <p:sp>
        <p:nvSpPr>
          <p:cNvPr id="25" name="TextBox 24"/>
          <p:cNvSpPr txBox="1"/>
          <p:nvPr/>
        </p:nvSpPr>
        <p:spPr>
          <a:xfrm>
            <a:off x="8257031" y="3429000"/>
            <a:ext cx="3310128" cy="2743200"/>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Il parle à toutes les disciplines, il mêle études qualitatives et quantitatives, et il met la question du genre au cœur de la méthode.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2743200" cy="2377440"/>
          </a:xfrm>
          <a:prstGeom prst="rect">
            <a:avLst/>
          </a:prstGeom>
          <a:noFill/>
        </p:spPr>
        <p:txBody>
          <a:bodyPr wrap="square" lIns="45720" tIns="27432" rIns="45720" bIns="27432" anchor="t">
            <a:spAutoFit/>
          </a:bodyPr>
          <a:lstStyle/>
          <a:p>
            <a:pPr algn="l">
              <a:lnSpc>
                <a:spcPct val="105000"/>
              </a:lnSpc>
            </a:pPr>
            <a:r>
              <a:rPr sz="17000" b="1" i="0">
                <a:solidFill>
                  <a:srgbClr val="E0A526"/>
                </a:solidFill>
                <a:latin typeface="Georgia"/>
              </a:rPr>
              <a:t>1</a:t>
            </a:r>
          </a:p>
        </p:txBody>
      </p:sp>
      <p:sp>
        <p:nvSpPr>
          <p:cNvPr id="3" name="TextBox 2"/>
          <p:cNvSpPr txBox="1"/>
          <p:nvPr/>
        </p:nvSpPr>
        <p:spPr>
          <a:xfrm>
            <a:off x="3291840" y="1234440"/>
            <a:ext cx="8229600" cy="365760"/>
          </a:xfrm>
          <a:prstGeom prst="rect">
            <a:avLst/>
          </a:prstGeom>
          <a:noFill/>
        </p:spPr>
        <p:txBody>
          <a:bodyPr wrap="square" lIns="45720" tIns="27432" rIns="45720" bIns="27432" anchor="t">
            <a:spAutoFit/>
          </a:bodyPr>
          <a:lstStyle/>
          <a:p>
            <a:pPr algn="l">
              <a:lnSpc>
                <a:spcPct val="105000"/>
              </a:lnSpc>
            </a:pPr>
            <a:r>
              <a:rPr sz="1300" b="1" i="0">
                <a:solidFill>
                  <a:srgbClr val="E0A526"/>
                </a:solidFill>
                <a:latin typeface="Calibri"/>
              </a:rPr>
              <a:t>PHASE 1 · CRISP-DM : BUSINESS UNDERSTANDING</a:t>
            </a:r>
          </a:p>
        </p:txBody>
      </p:sp>
      <p:sp>
        <p:nvSpPr>
          <p:cNvPr id="4" name="TextBox 3"/>
          <p:cNvSpPr txBox="1"/>
          <p:nvPr/>
        </p:nvSpPr>
        <p:spPr>
          <a:xfrm>
            <a:off x="3291840" y="1645920"/>
            <a:ext cx="8412480" cy="1280160"/>
          </a:xfrm>
          <a:prstGeom prst="rect">
            <a:avLst/>
          </a:prstGeom>
          <a:noFill/>
        </p:spPr>
        <p:txBody>
          <a:bodyPr wrap="square" lIns="45720" tIns="27432" rIns="45720" bIns="27432" anchor="t">
            <a:spAutoFit/>
          </a:bodyPr>
          <a:lstStyle/>
          <a:p>
            <a:pPr algn="l">
              <a:lnSpc>
                <a:spcPct val="105000"/>
              </a:lnSpc>
            </a:pPr>
            <a:r>
              <a:rPr sz="4400" b="1" i="0">
                <a:solidFill>
                  <a:srgbClr val="FFFFFF"/>
                </a:solidFill>
                <a:latin typeface="Georgia"/>
              </a:rPr>
              <a:t>Compréhension du besoin</a:t>
            </a:r>
          </a:p>
        </p:txBody>
      </p:sp>
      <p:sp>
        <p:nvSpPr>
          <p:cNvPr id="5" name="TextBox 4"/>
          <p:cNvSpPr txBox="1"/>
          <p:nvPr/>
        </p:nvSpPr>
        <p:spPr>
          <a:xfrm>
            <a:off x="3291840" y="2697480"/>
            <a:ext cx="8412480" cy="731520"/>
          </a:xfrm>
          <a:prstGeom prst="rect">
            <a:avLst/>
          </a:prstGeom>
          <a:noFill/>
        </p:spPr>
        <p:txBody>
          <a:bodyPr wrap="square" lIns="45720" tIns="27432" rIns="45720" bIns="27432" anchor="t">
            <a:spAutoFit/>
          </a:bodyPr>
          <a:lstStyle/>
          <a:p>
            <a:pPr algn="l">
              <a:lnSpc>
                <a:spcPct val="105000"/>
              </a:lnSpc>
            </a:pPr>
            <a:r>
              <a:rPr sz="2200" b="0" i="0">
                <a:solidFill>
                  <a:srgbClr val="E8F1F3"/>
                </a:solidFill>
                <a:latin typeface="Calibri"/>
              </a:rPr>
              <a:t>Formuler la question de recherche avec PICO(S)</a:t>
            </a:r>
          </a:p>
        </p:txBody>
      </p:sp>
      <p:sp>
        <p:nvSpPr>
          <p:cNvPr id="6" name="Rounded Rectangle 5"/>
          <p:cNvSpPr/>
          <p:nvPr/>
        </p:nvSpPr>
        <p:spPr>
          <a:xfrm>
            <a:off x="3291840" y="3794760"/>
            <a:ext cx="8138160" cy="960120"/>
          </a:xfrm>
          <a:prstGeom prst="roundRect">
            <a:avLst>
              <a:gd name="adj" fmla="val 12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700" b="1" i="0">
                <a:solidFill>
                  <a:srgbClr val="FFFFFF"/>
                </a:solidFill>
                <a:latin typeface="Calibri"/>
              </a:rPr>
              <a:t>Question clé :</a:t>
            </a:r>
            <a:r>
              <a:rPr sz="1700" b="0" i="0">
                <a:solidFill>
                  <a:srgbClr val="FFFFFF"/>
                </a:solidFill>
                <a:latin typeface="Calibri"/>
              </a:rPr>
              <a:t> Qu'est-ce que je cherche exactement, et pourquoi ?</a:t>
            </a:r>
          </a:p>
        </p:txBody>
      </p:sp>
      <p:sp>
        <p:nvSpPr>
          <p:cNvPr id="7" name="TextBox 6"/>
          <p:cNvSpPr txBox="1"/>
          <p:nvPr/>
        </p:nvSpPr>
        <p:spPr>
          <a:xfrm>
            <a:off x="3291840" y="4983480"/>
            <a:ext cx="8138160" cy="548640"/>
          </a:xfrm>
          <a:prstGeom prst="rect">
            <a:avLst/>
          </a:prstGeom>
          <a:noFill/>
        </p:spPr>
        <p:txBody>
          <a:bodyPr wrap="square" lIns="45720" tIns="27432" rIns="45720" bIns="27432" anchor="t">
            <a:spAutoFit/>
          </a:bodyPr>
          <a:lstStyle/>
          <a:p>
            <a:pPr algn="l">
              <a:lnSpc>
                <a:spcPct val="105000"/>
              </a:lnSpc>
            </a:pPr>
            <a:r>
              <a:rPr sz="1600" b="0" i="0">
                <a:solidFill>
                  <a:srgbClr val="E0A526"/>
                </a:solidFill>
                <a:latin typeface="Calibri"/>
              </a:rPr>
              <a:t>Livrable : fiche-question + équation de recherche (Exercice 1)</a:t>
            </a:r>
          </a:p>
        </p:txBody>
      </p:sp>
      <p:sp>
        <p:nvSpPr>
          <p:cNvPr id="8" name="Chevron 7"/>
          <p:cNvSpPr/>
          <p:nvPr/>
        </p:nvSpPr>
        <p:spPr>
          <a:xfrm>
            <a:off x="3291840" y="5852160"/>
            <a:ext cx="1261872" cy="384048"/>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0B3C49"/>
                </a:solidFill>
                <a:latin typeface="Calibri"/>
              </a:rPr>
              <a:t>1</a:t>
            </a:r>
          </a:p>
        </p:txBody>
      </p:sp>
      <p:sp>
        <p:nvSpPr>
          <p:cNvPr id="9" name="Chevron 8"/>
          <p:cNvSpPr/>
          <p:nvPr/>
        </p:nvSpPr>
        <p:spPr>
          <a:xfrm>
            <a:off x="46634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2</a:t>
            </a:r>
          </a:p>
        </p:txBody>
      </p:sp>
      <p:sp>
        <p:nvSpPr>
          <p:cNvPr id="10" name="Chevron 9"/>
          <p:cNvSpPr/>
          <p:nvPr/>
        </p:nvSpPr>
        <p:spPr>
          <a:xfrm>
            <a:off x="60350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3</a:t>
            </a:r>
          </a:p>
        </p:txBody>
      </p:sp>
      <p:sp>
        <p:nvSpPr>
          <p:cNvPr id="11" name="Chevron 10"/>
          <p:cNvSpPr/>
          <p:nvPr/>
        </p:nvSpPr>
        <p:spPr>
          <a:xfrm>
            <a:off x="74066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4</a:t>
            </a:r>
          </a:p>
        </p:txBody>
      </p:sp>
      <p:sp>
        <p:nvSpPr>
          <p:cNvPr id="12" name="Chevron 11"/>
          <p:cNvSpPr/>
          <p:nvPr/>
        </p:nvSpPr>
        <p:spPr>
          <a:xfrm>
            <a:off x="87782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5</a:t>
            </a:r>
          </a:p>
        </p:txBody>
      </p:sp>
      <p:sp>
        <p:nvSpPr>
          <p:cNvPr id="13" name="Chevron 12"/>
          <p:cNvSpPr/>
          <p:nvPr/>
        </p:nvSpPr>
        <p:spPr>
          <a:xfrm>
            <a:off x="10149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1 · COMPRÉHENSION DU BESOIN · BUSINESS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Quel type de revue pour quel besoin ?</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11</a:t>
            </a:r>
          </a:p>
        </p:txBody>
      </p:sp>
      <p:graphicFrame>
        <p:nvGraphicFramePr>
          <p:cNvPr id="13" name="Table 12"/>
          <p:cNvGraphicFramePr>
            <a:graphicFrameLocks noGrp="1"/>
          </p:cNvGraphicFramePr>
          <p:nvPr/>
        </p:nvGraphicFramePr>
        <p:xfrm>
          <a:off x="502920" y="1463040"/>
          <a:ext cx="11155680" cy="457200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914400">
                <a:tc>
                  <a:txBody>
                    <a:bodyPr/>
                    <a:lstStyle/>
                    <a:p>
                      <a:r>
                        <a:rPr sz="1400" b="1" i="0">
                          <a:solidFill>
                            <a:srgbClr val="FFFFFF"/>
                          </a:solidFill>
                          <a:latin typeface="Calibri"/>
                        </a:rPr>
                        <a:t>Type</a:t>
                      </a:r>
                    </a:p>
                  </a:txBody>
                  <a:tcPr marL="64008" marR="64008" marT="27432" marB="27432">
                    <a:solidFill>
                      <a:srgbClr val="0B3C49"/>
                    </a:solidFill>
                  </a:tcPr>
                </a:tc>
                <a:tc>
                  <a:txBody>
                    <a:bodyPr/>
                    <a:lstStyle/>
                    <a:p>
                      <a:r>
                        <a:rPr sz="1400" b="1" i="0">
                          <a:solidFill>
                            <a:srgbClr val="FFFFFF"/>
                          </a:solidFill>
                          <a:latin typeface="Calibri"/>
                        </a:rPr>
                        <a:t>Objectif</a:t>
                      </a:r>
                    </a:p>
                  </a:txBody>
                  <a:tcPr marL="64008" marR="64008" marT="27432" marB="27432">
                    <a:solidFill>
                      <a:srgbClr val="0B3C49"/>
                    </a:solidFill>
                  </a:tcPr>
                </a:tc>
                <a:tc>
                  <a:txBody>
                    <a:bodyPr/>
                    <a:lstStyle/>
                    <a:p>
                      <a:r>
                        <a:rPr sz="1400" b="1" i="0">
                          <a:solidFill>
                            <a:srgbClr val="FFFFFF"/>
                          </a:solidFill>
                          <a:latin typeface="Calibri"/>
                        </a:rPr>
                        <a:t>Exigence</a:t>
                      </a:r>
                    </a:p>
                  </a:txBody>
                  <a:tcPr marL="64008" marR="64008" marT="27432" marB="27432">
                    <a:solidFill>
                      <a:srgbClr val="0B3C49"/>
                    </a:solidFill>
                  </a:tcPr>
                </a:tc>
                <a:tc>
                  <a:txBody>
                    <a:bodyPr/>
                    <a:lstStyle/>
                    <a:p>
                      <a:r>
                        <a:rPr sz="1400" b="1" i="0">
                          <a:solidFill>
                            <a:srgbClr val="FFFFFF"/>
                          </a:solidFill>
                          <a:latin typeface="Calibri"/>
                        </a:rPr>
                        <a:t>Pour qui, quand ?</a:t>
                      </a:r>
                    </a:p>
                  </a:txBody>
                  <a:tcPr marL="64008" marR="64008" marT="27432" marB="27432">
                    <a:solidFill>
                      <a:srgbClr val="0B3C49"/>
                    </a:solidFill>
                  </a:tcPr>
                </a:tc>
                <a:extLst>
                  <a:ext uri="{0D108BD9-81ED-4DB2-BD59-A6C34878D82A}">
                    <a16:rowId xmlns:a16="http://schemas.microsoft.com/office/drawing/2014/main" val="10000"/>
                  </a:ext>
                </a:extLst>
              </a:tr>
              <a:tr h="914400">
                <a:tc>
                  <a:txBody>
                    <a:bodyPr/>
                    <a:lstStyle/>
                    <a:p>
                      <a:r>
                        <a:rPr sz="1400" b="0" i="0">
                          <a:solidFill>
                            <a:srgbClr val="222B30"/>
                          </a:solidFill>
                          <a:latin typeface="Calibri"/>
                        </a:rPr>
                        <a:t>Narrative</a:t>
                      </a:r>
                    </a:p>
                  </a:txBody>
                  <a:tcPr marL="64008" marR="64008" marT="27432" marB="27432">
                    <a:solidFill>
                      <a:srgbClr val="FFFFFF"/>
                    </a:solidFill>
                  </a:tcPr>
                </a:tc>
                <a:tc>
                  <a:txBody>
                    <a:bodyPr/>
                    <a:lstStyle/>
                    <a:p>
                      <a:r>
                        <a:rPr sz="1400" b="0" i="0">
                          <a:solidFill>
                            <a:srgbClr val="222B30"/>
                          </a:solidFill>
                          <a:latin typeface="Calibri"/>
                        </a:rPr>
                        <a:t>Faire le point sur un thème</a:t>
                      </a:r>
                    </a:p>
                  </a:txBody>
                  <a:tcPr marL="64008" marR="64008" marT="27432" marB="27432">
                    <a:solidFill>
                      <a:srgbClr val="FFFFFF"/>
                    </a:solidFill>
                  </a:tcPr>
                </a:tc>
                <a:tc>
                  <a:txBody>
                    <a:bodyPr/>
                    <a:lstStyle/>
                    <a:p>
                      <a:r>
                        <a:rPr sz="1400" b="0" i="0">
                          <a:solidFill>
                            <a:srgbClr val="222B30"/>
                          </a:solidFill>
                          <a:latin typeface="Calibri"/>
                        </a:rPr>
                        <a:t>Souple, peu reproductible</a:t>
                      </a:r>
                    </a:p>
                  </a:txBody>
                  <a:tcPr marL="64008" marR="64008" marT="27432" marB="27432">
                    <a:solidFill>
                      <a:srgbClr val="FFFFFF"/>
                    </a:solidFill>
                  </a:tcPr>
                </a:tc>
                <a:tc>
                  <a:txBody>
                    <a:bodyPr/>
                    <a:lstStyle/>
                    <a:p>
                      <a:r>
                        <a:rPr sz="1400" b="0" i="0">
                          <a:solidFill>
                            <a:srgbClr val="222B30"/>
                          </a:solidFill>
                          <a:latin typeface="Calibri"/>
                        </a:rPr>
                        <a:t>Introduction d'article, cours, premier état de l'art</a:t>
                      </a:r>
                    </a:p>
                  </a:txBody>
                  <a:tcPr marL="64008" marR="64008" marT="27432" marB="27432">
                    <a:solidFill>
                      <a:srgbClr val="FFFFFF"/>
                    </a:solidFill>
                  </a:tcPr>
                </a:tc>
                <a:extLst>
                  <a:ext uri="{0D108BD9-81ED-4DB2-BD59-A6C34878D82A}">
                    <a16:rowId xmlns:a16="http://schemas.microsoft.com/office/drawing/2014/main" val="10001"/>
                  </a:ext>
                </a:extLst>
              </a:tr>
              <a:tr h="914400">
                <a:tc>
                  <a:txBody>
                    <a:bodyPr/>
                    <a:lstStyle/>
                    <a:p>
                      <a:r>
                        <a:rPr sz="1400" b="0" i="0">
                          <a:solidFill>
                            <a:srgbClr val="222B30"/>
                          </a:solidFill>
                          <a:latin typeface="Calibri"/>
                        </a:rPr>
                        <a:t>Systématique</a:t>
                      </a:r>
                    </a:p>
                  </a:txBody>
                  <a:tcPr marL="64008" marR="64008" marT="27432" marB="27432">
                    <a:solidFill>
                      <a:srgbClr val="E8F1F3"/>
                    </a:solidFill>
                  </a:tcPr>
                </a:tc>
                <a:tc>
                  <a:txBody>
                    <a:bodyPr/>
                    <a:lstStyle/>
                    <a:p>
                      <a:r>
                        <a:rPr sz="1400" b="0" i="0">
                          <a:solidFill>
                            <a:srgbClr val="222B30"/>
                          </a:solidFill>
                          <a:latin typeface="Calibri"/>
                        </a:rPr>
                        <a:t>Répondre à une question précise</a:t>
                      </a:r>
                    </a:p>
                  </a:txBody>
                  <a:tcPr marL="64008" marR="64008" marT="27432" marB="27432">
                    <a:solidFill>
                      <a:srgbClr val="E8F1F3"/>
                    </a:solidFill>
                  </a:tcPr>
                </a:tc>
                <a:tc>
                  <a:txBody>
                    <a:bodyPr/>
                    <a:lstStyle/>
                    <a:p>
                      <a:r>
                        <a:rPr sz="1400" b="0" i="0">
                          <a:solidFill>
                            <a:srgbClr val="222B30"/>
                          </a:solidFill>
                          <a:latin typeface="Calibri"/>
                        </a:rPr>
                        <a:t>Protocole, recherche exhaustive, double criblage, PRISMA 2020</a:t>
                      </a:r>
                    </a:p>
                  </a:txBody>
                  <a:tcPr marL="64008" marR="64008" marT="27432" marB="27432">
                    <a:solidFill>
                      <a:srgbClr val="E8F1F3"/>
                    </a:solidFill>
                  </a:tcPr>
                </a:tc>
                <a:tc>
                  <a:txBody>
                    <a:bodyPr/>
                    <a:lstStyle/>
                    <a:p>
                      <a:r>
                        <a:rPr sz="1400" b="0" i="0">
                          <a:solidFill>
                            <a:srgbClr val="222B30"/>
                          </a:solidFill>
                          <a:latin typeface="Calibri"/>
                        </a:rPr>
                        <a:t>Efficacité, prévalence, facteurs associés (santé, éducation, économie)</a:t>
                      </a:r>
                    </a:p>
                  </a:txBody>
                  <a:tcPr marL="64008" marR="64008" marT="27432" marB="27432">
                    <a:solidFill>
                      <a:srgbClr val="E8F1F3"/>
                    </a:solidFill>
                  </a:tcPr>
                </a:tc>
                <a:extLst>
                  <a:ext uri="{0D108BD9-81ED-4DB2-BD59-A6C34878D82A}">
                    <a16:rowId xmlns:a16="http://schemas.microsoft.com/office/drawing/2014/main" val="10002"/>
                  </a:ext>
                </a:extLst>
              </a:tr>
              <a:tr h="914400">
                <a:tc>
                  <a:txBody>
                    <a:bodyPr/>
                    <a:lstStyle/>
                    <a:p>
                      <a:r>
                        <a:rPr sz="1400" b="0" i="0">
                          <a:solidFill>
                            <a:srgbClr val="222B30"/>
                          </a:solidFill>
                          <a:latin typeface="Calibri"/>
                        </a:rPr>
                        <a:t>De portée (scoping)</a:t>
                      </a:r>
                    </a:p>
                  </a:txBody>
                  <a:tcPr marL="64008" marR="64008" marT="27432" marB="27432">
                    <a:solidFill>
                      <a:srgbClr val="FFFFFF"/>
                    </a:solidFill>
                  </a:tcPr>
                </a:tc>
                <a:tc>
                  <a:txBody>
                    <a:bodyPr/>
                    <a:lstStyle/>
                    <a:p>
                      <a:r>
                        <a:rPr sz="1400" b="0" i="0">
                          <a:solidFill>
                            <a:srgbClr val="222B30"/>
                          </a:solidFill>
                          <a:latin typeface="Calibri"/>
                        </a:rPr>
                        <a:t>Cartographier un champ et ses lacunes</a:t>
                      </a:r>
                    </a:p>
                  </a:txBody>
                  <a:tcPr marL="64008" marR="64008" marT="27432" marB="27432">
                    <a:solidFill>
                      <a:srgbClr val="FFFFFF"/>
                    </a:solidFill>
                  </a:tcPr>
                </a:tc>
                <a:tc>
                  <a:txBody>
                    <a:bodyPr/>
                    <a:lstStyle/>
                    <a:p>
                      <a:r>
                        <a:rPr sz="1400" b="0" i="0">
                          <a:solidFill>
                            <a:srgbClr val="222B30"/>
                          </a:solidFill>
                          <a:latin typeface="Calibri"/>
                        </a:rPr>
                        <a:t>Protocole, PRISMA-ScR, qualité facultative</a:t>
                      </a:r>
                    </a:p>
                  </a:txBody>
                  <a:tcPr marL="64008" marR="64008" marT="27432" marB="27432">
                    <a:solidFill>
                      <a:srgbClr val="FFFFFF"/>
                    </a:solidFill>
                  </a:tcPr>
                </a:tc>
                <a:tc>
                  <a:txBody>
                    <a:bodyPr/>
                    <a:lstStyle/>
                    <a:p>
                      <a:r>
                        <a:rPr sz="1400" b="0" i="0">
                          <a:solidFill>
                            <a:srgbClr val="222B30"/>
                          </a:solidFill>
                          <a:latin typeface="Calibri"/>
                        </a:rPr>
                        <a:t>Champs dispersés : SHS, droit, histoire, politiques publiques</a:t>
                      </a:r>
                    </a:p>
                  </a:txBody>
                  <a:tcPr marL="64008" marR="64008" marT="27432" marB="27432">
                    <a:solidFill>
                      <a:srgbClr val="FFFFFF"/>
                    </a:solidFill>
                  </a:tcPr>
                </a:tc>
                <a:extLst>
                  <a:ext uri="{0D108BD9-81ED-4DB2-BD59-A6C34878D82A}">
                    <a16:rowId xmlns:a16="http://schemas.microsoft.com/office/drawing/2014/main" val="10003"/>
                  </a:ext>
                </a:extLst>
              </a:tr>
              <a:tr h="914400">
                <a:tc>
                  <a:txBody>
                    <a:bodyPr/>
                    <a:lstStyle/>
                    <a:p>
                      <a:r>
                        <a:rPr sz="1400" b="0" i="0">
                          <a:solidFill>
                            <a:srgbClr val="222B30"/>
                          </a:solidFill>
                          <a:latin typeface="Calibri"/>
                        </a:rPr>
                        <a:t>Rapide</a:t>
                      </a:r>
                    </a:p>
                  </a:txBody>
                  <a:tcPr marL="64008" marR="64008" marT="27432" marB="27432">
                    <a:solidFill>
                      <a:srgbClr val="E8F1F3"/>
                    </a:solidFill>
                  </a:tcPr>
                </a:tc>
                <a:tc>
                  <a:txBody>
                    <a:bodyPr/>
                    <a:lstStyle/>
                    <a:p>
                      <a:r>
                        <a:rPr sz="1400" b="0" i="0">
                          <a:solidFill>
                            <a:srgbClr val="222B30"/>
                          </a:solidFill>
                          <a:latin typeface="Calibri"/>
                        </a:rPr>
                        <a:t>Éclairer une décision vite</a:t>
                      </a:r>
                    </a:p>
                  </a:txBody>
                  <a:tcPr marL="64008" marR="64008" marT="27432" marB="27432">
                    <a:solidFill>
                      <a:srgbClr val="E8F1F3"/>
                    </a:solidFill>
                  </a:tcPr>
                </a:tc>
                <a:tc>
                  <a:txBody>
                    <a:bodyPr/>
                    <a:lstStyle/>
                    <a:p>
                      <a:r>
                        <a:rPr sz="1400" b="0" i="0">
                          <a:solidFill>
                            <a:srgbClr val="222B30"/>
                          </a:solidFill>
                          <a:latin typeface="Calibri"/>
                        </a:rPr>
                        <a:t>Méthode systématique simplifiée et déclarée</a:t>
                      </a:r>
                    </a:p>
                  </a:txBody>
                  <a:tcPr marL="64008" marR="64008" marT="27432" marB="27432">
                    <a:solidFill>
                      <a:srgbClr val="E8F1F3"/>
                    </a:solidFill>
                  </a:tcPr>
                </a:tc>
                <a:tc>
                  <a:txBody>
                    <a:bodyPr/>
                    <a:lstStyle/>
                    <a:p>
                      <a:r>
                        <a:rPr sz="1400" b="0" i="0">
                          <a:solidFill>
                            <a:srgbClr val="222B30"/>
                          </a:solidFill>
                          <a:latin typeface="Calibri"/>
                        </a:rPr>
                        <a:t>Note pour un ministère, une ONG, un projet</a:t>
                      </a:r>
                    </a:p>
                  </a:txBody>
                  <a:tcPr marL="64008" marR="64008" marT="27432" marB="27432">
                    <a:solidFill>
                      <a:srgbClr val="E8F1F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1 · COMPRÉHENSION DU BESOIN · BUSINESS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PICO(S) décortiqué sur notre cas commun</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12</a:t>
            </a:r>
          </a:p>
        </p:txBody>
      </p:sp>
      <p:sp>
        <p:nvSpPr>
          <p:cNvPr id="13" name="Rounded Rectangle 12"/>
          <p:cNvSpPr/>
          <p:nvPr/>
        </p:nvSpPr>
        <p:spPr>
          <a:xfrm>
            <a:off x="502920" y="1508760"/>
            <a:ext cx="2103120" cy="1051560"/>
          </a:xfrm>
          <a:prstGeom prst="roundRect">
            <a:avLst>
              <a:gd name="adj" fmla="val 10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4400" b="1" i="0">
                <a:solidFill>
                  <a:srgbClr val="FFFFFF"/>
                </a:solidFill>
                <a:latin typeface="Georgia"/>
              </a:rPr>
              <a:t>P</a:t>
            </a:r>
          </a:p>
        </p:txBody>
      </p:sp>
      <p:sp>
        <p:nvSpPr>
          <p:cNvPr id="14" name="TextBox 13"/>
          <p:cNvSpPr txBox="1"/>
          <p:nvPr/>
        </p:nvSpPr>
        <p:spPr>
          <a:xfrm>
            <a:off x="502920" y="2651760"/>
            <a:ext cx="2103120" cy="411480"/>
          </a:xfrm>
          <a:prstGeom prst="rect">
            <a:avLst/>
          </a:prstGeom>
          <a:noFill/>
        </p:spPr>
        <p:txBody>
          <a:bodyPr wrap="square" lIns="45720" tIns="27432" rIns="45720" bIns="27432" anchor="t">
            <a:spAutoFit/>
          </a:bodyPr>
          <a:lstStyle/>
          <a:p>
            <a:pPr algn="ctr">
              <a:lnSpc>
                <a:spcPct val="105000"/>
              </a:lnSpc>
            </a:pPr>
            <a:r>
              <a:rPr sz="1500" b="1" i="0">
                <a:solidFill>
                  <a:srgbClr val="0B3C49"/>
                </a:solidFill>
                <a:latin typeface="Calibri"/>
              </a:rPr>
              <a:t>Population</a:t>
            </a:r>
          </a:p>
        </p:txBody>
      </p:sp>
      <p:sp>
        <p:nvSpPr>
          <p:cNvPr id="15" name="Rectangle 14"/>
          <p:cNvSpPr/>
          <p:nvPr/>
        </p:nvSpPr>
        <p:spPr>
          <a:xfrm>
            <a:off x="502920" y="3108960"/>
            <a:ext cx="2103120" cy="14173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154680"/>
            <a:ext cx="1920240" cy="1325880"/>
          </a:xfrm>
          <a:prstGeom prst="rect">
            <a:avLst/>
          </a:prstGeom>
          <a:noFill/>
        </p:spPr>
        <p:txBody>
          <a:bodyPr wrap="square" lIns="45720" tIns="27432" rIns="45720" bIns="27432" anchor="ctr">
            <a:spAutoFit/>
          </a:bodyPr>
          <a:lstStyle/>
          <a:p>
            <a:pPr algn="ctr">
              <a:lnSpc>
                <a:spcPct val="105000"/>
              </a:lnSpc>
            </a:pPr>
            <a:r>
              <a:rPr sz="1350" b="0" i="0">
                <a:solidFill>
                  <a:srgbClr val="222B30"/>
                </a:solidFill>
                <a:latin typeface="Calibri"/>
              </a:rPr>
              <a:t>Femmes enseignantes-chercheures et doctorantes d'Afrique subsaharienne</a:t>
            </a:r>
          </a:p>
        </p:txBody>
      </p:sp>
      <p:sp>
        <p:nvSpPr>
          <p:cNvPr id="17" name="Rounded Rectangle 16"/>
          <p:cNvSpPr/>
          <p:nvPr/>
        </p:nvSpPr>
        <p:spPr>
          <a:xfrm>
            <a:off x="2770632" y="1508760"/>
            <a:ext cx="2103120" cy="1051560"/>
          </a:xfrm>
          <a:prstGeom prst="roundRect">
            <a:avLst>
              <a:gd name="adj" fmla="val 10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4400" b="1" i="0">
                <a:solidFill>
                  <a:srgbClr val="FFFFFF"/>
                </a:solidFill>
                <a:latin typeface="Georgia"/>
              </a:rPr>
              <a:t>I</a:t>
            </a:r>
          </a:p>
        </p:txBody>
      </p:sp>
      <p:sp>
        <p:nvSpPr>
          <p:cNvPr id="18" name="TextBox 17"/>
          <p:cNvSpPr txBox="1"/>
          <p:nvPr/>
        </p:nvSpPr>
        <p:spPr>
          <a:xfrm>
            <a:off x="2770632" y="2651760"/>
            <a:ext cx="2103120" cy="411480"/>
          </a:xfrm>
          <a:prstGeom prst="rect">
            <a:avLst/>
          </a:prstGeom>
          <a:noFill/>
        </p:spPr>
        <p:txBody>
          <a:bodyPr wrap="square" lIns="45720" tIns="27432" rIns="45720" bIns="27432" anchor="t">
            <a:spAutoFit/>
          </a:bodyPr>
          <a:lstStyle/>
          <a:p>
            <a:pPr algn="ctr">
              <a:lnSpc>
                <a:spcPct val="105000"/>
              </a:lnSpc>
            </a:pPr>
            <a:r>
              <a:rPr sz="1500" b="1" i="0">
                <a:solidFill>
                  <a:srgbClr val="0B3C49"/>
                </a:solidFill>
                <a:latin typeface="Calibri"/>
              </a:rPr>
              <a:t>Intervention / exposition</a:t>
            </a:r>
          </a:p>
        </p:txBody>
      </p:sp>
      <p:sp>
        <p:nvSpPr>
          <p:cNvPr id="19" name="Rectangle 18"/>
          <p:cNvSpPr/>
          <p:nvPr/>
        </p:nvSpPr>
        <p:spPr>
          <a:xfrm>
            <a:off x="2770632" y="3108960"/>
            <a:ext cx="2103120" cy="14173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862072" y="3154680"/>
            <a:ext cx="1920240" cy="1325880"/>
          </a:xfrm>
          <a:prstGeom prst="rect">
            <a:avLst/>
          </a:prstGeom>
          <a:noFill/>
        </p:spPr>
        <p:txBody>
          <a:bodyPr wrap="square" lIns="45720" tIns="27432" rIns="45720" bIns="27432" anchor="ctr">
            <a:spAutoFit/>
          </a:bodyPr>
          <a:lstStyle/>
          <a:p>
            <a:pPr algn="ctr">
              <a:lnSpc>
                <a:spcPct val="105000"/>
              </a:lnSpc>
            </a:pPr>
            <a:r>
              <a:rPr sz="1350" b="0" i="0">
                <a:solidFill>
                  <a:srgbClr val="222B30"/>
                </a:solidFill>
                <a:latin typeface="Calibri"/>
              </a:rPr>
              <a:t>Mentorat, charges de care, politiques institutionnelles</a:t>
            </a:r>
          </a:p>
        </p:txBody>
      </p:sp>
      <p:sp>
        <p:nvSpPr>
          <p:cNvPr id="21" name="Rounded Rectangle 20"/>
          <p:cNvSpPr/>
          <p:nvPr/>
        </p:nvSpPr>
        <p:spPr>
          <a:xfrm>
            <a:off x="5038344" y="1508760"/>
            <a:ext cx="2103120" cy="1051560"/>
          </a:xfrm>
          <a:prstGeom prst="roundRect">
            <a:avLst>
              <a:gd name="adj" fmla="val 10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4400" b="1" i="0">
                <a:solidFill>
                  <a:srgbClr val="FFFFFF"/>
                </a:solidFill>
                <a:latin typeface="Georgia"/>
              </a:rPr>
              <a:t>C</a:t>
            </a:r>
          </a:p>
        </p:txBody>
      </p:sp>
      <p:sp>
        <p:nvSpPr>
          <p:cNvPr id="22" name="TextBox 21"/>
          <p:cNvSpPr txBox="1"/>
          <p:nvPr/>
        </p:nvSpPr>
        <p:spPr>
          <a:xfrm>
            <a:off x="5038344" y="2651760"/>
            <a:ext cx="2103120" cy="411480"/>
          </a:xfrm>
          <a:prstGeom prst="rect">
            <a:avLst/>
          </a:prstGeom>
          <a:noFill/>
        </p:spPr>
        <p:txBody>
          <a:bodyPr wrap="square" lIns="45720" tIns="27432" rIns="45720" bIns="27432" anchor="t">
            <a:spAutoFit/>
          </a:bodyPr>
          <a:lstStyle/>
          <a:p>
            <a:pPr algn="ctr">
              <a:lnSpc>
                <a:spcPct val="105000"/>
              </a:lnSpc>
            </a:pPr>
            <a:r>
              <a:rPr sz="1500" b="1" i="0">
                <a:solidFill>
                  <a:srgbClr val="0B3C49"/>
                </a:solidFill>
                <a:latin typeface="Calibri"/>
              </a:rPr>
              <a:t>Comparaison</a:t>
            </a:r>
          </a:p>
        </p:txBody>
      </p:sp>
      <p:sp>
        <p:nvSpPr>
          <p:cNvPr id="23" name="Rectangle 22"/>
          <p:cNvSpPr/>
          <p:nvPr/>
        </p:nvSpPr>
        <p:spPr>
          <a:xfrm>
            <a:off x="5038344" y="3108960"/>
            <a:ext cx="2103120" cy="14173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29783" y="3154680"/>
            <a:ext cx="1920240" cy="1325880"/>
          </a:xfrm>
          <a:prstGeom prst="rect">
            <a:avLst/>
          </a:prstGeom>
          <a:noFill/>
        </p:spPr>
        <p:txBody>
          <a:bodyPr wrap="square" lIns="45720" tIns="27432" rIns="45720" bIns="27432" anchor="ctr">
            <a:spAutoFit/>
          </a:bodyPr>
          <a:lstStyle/>
          <a:p>
            <a:pPr algn="ctr">
              <a:lnSpc>
                <a:spcPct val="105000"/>
              </a:lnSpc>
            </a:pPr>
            <a:r>
              <a:rPr sz="1350" b="0" i="0">
                <a:solidFill>
                  <a:srgbClr val="222B30"/>
                </a:solidFill>
                <a:latin typeface="Calibri"/>
              </a:rPr>
              <a:t>Collègues masculins ; absence de mentorat</a:t>
            </a:r>
          </a:p>
        </p:txBody>
      </p:sp>
      <p:sp>
        <p:nvSpPr>
          <p:cNvPr id="25" name="Rounded Rectangle 24"/>
          <p:cNvSpPr/>
          <p:nvPr/>
        </p:nvSpPr>
        <p:spPr>
          <a:xfrm>
            <a:off x="7306055" y="1508760"/>
            <a:ext cx="2103120" cy="1051560"/>
          </a:xfrm>
          <a:prstGeom prst="roundRect">
            <a:avLst>
              <a:gd name="adj" fmla="val 10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4400" b="1" i="0">
                <a:solidFill>
                  <a:srgbClr val="FFFFFF"/>
                </a:solidFill>
                <a:latin typeface="Georgia"/>
              </a:rPr>
              <a:t>O</a:t>
            </a:r>
          </a:p>
        </p:txBody>
      </p:sp>
      <p:sp>
        <p:nvSpPr>
          <p:cNvPr id="26" name="TextBox 25"/>
          <p:cNvSpPr txBox="1"/>
          <p:nvPr/>
        </p:nvSpPr>
        <p:spPr>
          <a:xfrm>
            <a:off x="7306055" y="2651760"/>
            <a:ext cx="2103120" cy="411480"/>
          </a:xfrm>
          <a:prstGeom prst="rect">
            <a:avLst/>
          </a:prstGeom>
          <a:noFill/>
        </p:spPr>
        <p:txBody>
          <a:bodyPr wrap="square" lIns="45720" tIns="27432" rIns="45720" bIns="27432" anchor="t">
            <a:spAutoFit/>
          </a:bodyPr>
          <a:lstStyle/>
          <a:p>
            <a:pPr algn="ctr">
              <a:lnSpc>
                <a:spcPct val="105000"/>
              </a:lnSpc>
            </a:pPr>
            <a:r>
              <a:rPr sz="1500" b="1" i="0">
                <a:solidFill>
                  <a:srgbClr val="0B3C49"/>
                </a:solidFill>
                <a:latin typeface="Calibri"/>
              </a:rPr>
              <a:t>Outcome</a:t>
            </a:r>
          </a:p>
        </p:txBody>
      </p:sp>
      <p:sp>
        <p:nvSpPr>
          <p:cNvPr id="27" name="Rectangle 26"/>
          <p:cNvSpPr/>
          <p:nvPr/>
        </p:nvSpPr>
        <p:spPr>
          <a:xfrm>
            <a:off x="7306055" y="3108960"/>
            <a:ext cx="2103120" cy="14173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97496" y="3154680"/>
            <a:ext cx="1920240" cy="1325880"/>
          </a:xfrm>
          <a:prstGeom prst="rect">
            <a:avLst/>
          </a:prstGeom>
          <a:noFill/>
        </p:spPr>
        <p:txBody>
          <a:bodyPr wrap="square" lIns="45720" tIns="27432" rIns="45720" bIns="27432" anchor="ctr">
            <a:spAutoFit/>
          </a:bodyPr>
          <a:lstStyle/>
          <a:p>
            <a:pPr algn="ctr">
              <a:lnSpc>
                <a:spcPct val="105000"/>
              </a:lnSpc>
            </a:pPr>
            <a:r>
              <a:rPr sz="1350" b="0" i="0">
                <a:solidFill>
                  <a:srgbClr val="222B30"/>
                </a:solidFill>
                <a:latin typeface="Calibri"/>
              </a:rPr>
              <a:t>Progression de carrière, publications, postes de direction</a:t>
            </a:r>
          </a:p>
        </p:txBody>
      </p:sp>
      <p:sp>
        <p:nvSpPr>
          <p:cNvPr id="29" name="Rounded Rectangle 28"/>
          <p:cNvSpPr/>
          <p:nvPr/>
        </p:nvSpPr>
        <p:spPr>
          <a:xfrm>
            <a:off x="9573768" y="1508760"/>
            <a:ext cx="2103120" cy="1051560"/>
          </a:xfrm>
          <a:prstGeom prst="roundRect">
            <a:avLst>
              <a:gd name="adj" fmla="val 1000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4400" b="1" i="0">
                <a:solidFill>
                  <a:srgbClr val="0B3C49"/>
                </a:solidFill>
                <a:latin typeface="Georgia"/>
              </a:rPr>
              <a:t>S</a:t>
            </a:r>
          </a:p>
        </p:txBody>
      </p:sp>
      <p:sp>
        <p:nvSpPr>
          <p:cNvPr id="30" name="TextBox 29"/>
          <p:cNvSpPr txBox="1"/>
          <p:nvPr/>
        </p:nvSpPr>
        <p:spPr>
          <a:xfrm>
            <a:off x="9573768" y="2651760"/>
            <a:ext cx="2103120" cy="411480"/>
          </a:xfrm>
          <a:prstGeom prst="rect">
            <a:avLst/>
          </a:prstGeom>
          <a:noFill/>
        </p:spPr>
        <p:txBody>
          <a:bodyPr wrap="square" lIns="45720" tIns="27432" rIns="45720" bIns="27432" anchor="t">
            <a:spAutoFit/>
          </a:bodyPr>
          <a:lstStyle/>
          <a:p>
            <a:pPr algn="ctr">
              <a:lnSpc>
                <a:spcPct val="105000"/>
              </a:lnSpc>
            </a:pPr>
            <a:r>
              <a:rPr sz="1500" b="1" i="0">
                <a:solidFill>
                  <a:srgbClr val="0B3C49"/>
                </a:solidFill>
                <a:latin typeface="Calibri"/>
              </a:rPr>
              <a:t>Study design</a:t>
            </a:r>
          </a:p>
        </p:txBody>
      </p:sp>
      <p:sp>
        <p:nvSpPr>
          <p:cNvPr id="31" name="Rectangle 30"/>
          <p:cNvSpPr/>
          <p:nvPr/>
        </p:nvSpPr>
        <p:spPr>
          <a:xfrm>
            <a:off x="9573768" y="3108960"/>
            <a:ext cx="2103120" cy="14173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665208" y="3154680"/>
            <a:ext cx="1920240" cy="1325880"/>
          </a:xfrm>
          <a:prstGeom prst="rect">
            <a:avLst/>
          </a:prstGeom>
          <a:noFill/>
        </p:spPr>
        <p:txBody>
          <a:bodyPr wrap="square" lIns="45720" tIns="27432" rIns="45720" bIns="27432" anchor="ctr">
            <a:spAutoFit/>
          </a:bodyPr>
          <a:lstStyle/>
          <a:p>
            <a:pPr algn="ctr">
              <a:lnSpc>
                <a:spcPct val="105000"/>
              </a:lnSpc>
            </a:pPr>
            <a:r>
              <a:rPr sz="1350" b="0" i="0">
                <a:solidFill>
                  <a:srgbClr val="222B30"/>
                </a:solidFill>
                <a:latin typeface="Calibri"/>
              </a:rPr>
              <a:t>Études qualitatives, mixtes, enquêtes transversales</a:t>
            </a:r>
          </a:p>
        </p:txBody>
      </p:sp>
      <p:sp>
        <p:nvSpPr>
          <p:cNvPr id="33" name="Rounded Rectangle 32"/>
          <p:cNvSpPr/>
          <p:nvPr/>
        </p:nvSpPr>
        <p:spPr>
          <a:xfrm>
            <a:off x="502920" y="4754880"/>
            <a:ext cx="11155680" cy="1417320"/>
          </a:xfrm>
          <a:prstGeom prst="roundRect">
            <a:avLst>
              <a:gd name="adj" fmla="val 8000"/>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500" b="1" i="0">
                <a:solidFill>
                  <a:srgbClr val="222B30"/>
                </a:solidFill>
                <a:latin typeface="Calibri"/>
              </a:rPr>
              <a:t>Question :</a:t>
            </a:r>
            <a:r>
              <a:rPr sz="1500" b="0" i="0">
                <a:solidFill>
                  <a:srgbClr val="222B30"/>
                </a:solidFill>
                <a:latin typeface="Calibri"/>
              </a:rPr>
              <a:t> chez les femmes enseignantes-chercheures d'Afrique subsaharienne, quels facteurs (mentorat, care, politiques institutionnelles) sont associés à la progression de carrière, comparativement à leurs collègues masculins, d'après les études qualitatives, mixtes et transversales publiées depuis 2010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1 · COMPRÉHENSION DU BESOIN · BUSINESS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Une variante pour chaque discipline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13</a:t>
            </a:r>
          </a:p>
        </p:txBody>
      </p:sp>
      <p:graphicFrame>
        <p:nvGraphicFramePr>
          <p:cNvPr id="13" name="Table 12"/>
          <p:cNvGraphicFramePr>
            <a:graphicFrameLocks noGrp="1"/>
          </p:cNvGraphicFramePr>
          <p:nvPr/>
        </p:nvGraphicFramePr>
        <p:xfrm>
          <a:off x="502920" y="1463040"/>
          <a:ext cx="11155680" cy="49377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822960">
                <a:tc>
                  <a:txBody>
                    <a:bodyPr/>
                    <a:lstStyle/>
                    <a:p>
                      <a:r>
                        <a:rPr sz="1400" b="1" i="0">
                          <a:solidFill>
                            <a:srgbClr val="FFFFFF"/>
                          </a:solidFill>
                          <a:latin typeface="Calibri"/>
                        </a:rPr>
                        <a:t>Cadre</a:t>
                      </a:r>
                    </a:p>
                  </a:txBody>
                  <a:tcPr marL="64008" marR="64008" marT="27432" marB="27432">
                    <a:solidFill>
                      <a:srgbClr val="0B3C49"/>
                    </a:solidFill>
                  </a:tcPr>
                </a:tc>
                <a:tc>
                  <a:txBody>
                    <a:bodyPr/>
                    <a:lstStyle/>
                    <a:p>
                      <a:r>
                        <a:rPr sz="1400" b="1" i="0">
                          <a:solidFill>
                            <a:srgbClr val="FFFFFF"/>
                          </a:solidFill>
                          <a:latin typeface="Calibri"/>
                        </a:rPr>
                        <a:t>Éléments</a:t>
                      </a:r>
                    </a:p>
                  </a:txBody>
                  <a:tcPr marL="64008" marR="64008" marT="27432" marB="27432">
                    <a:solidFill>
                      <a:srgbClr val="0B3C49"/>
                    </a:solidFill>
                  </a:tcPr>
                </a:tc>
                <a:tc>
                  <a:txBody>
                    <a:bodyPr/>
                    <a:lstStyle/>
                    <a:p>
                      <a:r>
                        <a:rPr sz="1400" b="1" i="0">
                          <a:solidFill>
                            <a:srgbClr val="FFFFFF"/>
                          </a:solidFill>
                          <a:latin typeface="Calibri"/>
                        </a:rPr>
                        <a:t>Disciplines de la salle</a:t>
                      </a:r>
                    </a:p>
                  </a:txBody>
                  <a:tcPr marL="64008" marR="64008" marT="27432" marB="27432">
                    <a:solidFill>
                      <a:srgbClr val="0B3C49"/>
                    </a:solidFill>
                  </a:tcPr>
                </a:tc>
                <a:extLst>
                  <a:ext uri="{0D108BD9-81ED-4DB2-BD59-A6C34878D82A}">
                    <a16:rowId xmlns:a16="http://schemas.microsoft.com/office/drawing/2014/main" val="10000"/>
                  </a:ext>
                </a:extLst>
              </a:tr>
              <a:tr h="822960">
                <a:tc>
                  <a:txBody>
                    <a:bodyPr/>
                    <a:lstStyle/>
                    <a:p>
                      <a:r>
                        <a:rPr sz="1400" b="0" i="0">
                          <a:solidFill>
                            <a:srgbClr val="222B30"/>
                          </a:solidFill>
                          <a:latin typeface="Calibri"/>
                        </a:rPr>
                        <a:t>PICO(S)</a:t>
                      </a:r>
                    </a:p>
                  </a:txBody>
                  <a:tcPr marL="64008" marR="64008" marT="27432" marB="27432">
                    <a:solidFill>
                      <a:srgbClr val="FFFFFF"/>
                    </a:solidFill>
                  </a:tcPr>
                </a:tc>
                <a:tc>
                  <a:txBody>
                    <a:bodyPr/>
                    <a:lstStyle/>
                    <a:p>
                      <a:r>
                        <a:rPr sz="1400" b="0" i="0">
                          <a:solidFill>
                            <a:srgbClr val="222B30"/>
                          </a:solidFill>
                          <a:latin typeface="Calibri"/>
                        </a:rPr>
                        <a:t>Population, Intervention, Comparaison, Outcome, Study design</a:t>
                      </a:r>
                    </a:p>
                  </a:txBody>
                  <a:tcPr marL="64008" marR="64008" marT="27432" marB="27432">
                    <a:solidFill>
                      <a:srgbClr val="FFFFFF"/>
                    </a:solidFill>
                  </a:tcPr>
                </a:tc>
                <a:tc>
                  <a:txBody>
                    <a:bodyPr/>
                    <a:lstStyle/>
                    <a:p>
                      <a:r>
                        <a:rPr sz="1400" b="0" i="0">
                          <a:solidFill>
                            <a:srgbClr val="222B30"/>
                          </a:solidFill>
                          <a:latin typeface="Calibri"/>
                        </a:rPr>
                        <a:t>Médecine, pédiatrie, pharmacie, nutrition, évaluation de programmes éducatifs</a:t>
                      </a:r>
                    </a:p>
                  </a:txBody>
                  <a:tcPr marL="64008" marR="64008" marT="27432" marB="27432">
                    <a:solidFill>
                      <a:srgbClr val="FFFFFF"/>
                    </a:solidFill>
                  </a:tcPr>
                </a:tc>
                <a:extLst>
                  <a:ext uri="{0D108BD9-81ED-4DB2-BD59-A6C34878D82A}">
                    <a16:rowId xmlns:a16="http://schemas.microsoft.com/office/drawing/2014/main" val="10001"/>
                  </a:ext>
                </a:extLst>
              </a:tr>
              <a:tr h="822960">
                <a:tc>
                  <a:txBody>
                    <a:bodyPr/>
                    <a:lstStyle/>
                    <a:p>
                      <a:r>
                        <a:rPr sz="1400" b="0" i="0">
                          <a:solidFill>
                            <a:srgbClr val="222B30"/>
                          </a:solidFill>
                          <a:latin typeface="Calibri"/>
                        </a:rPr>
                        <a:t>PECO</a:t>
                      </a:r>
                    </a:p>
                  </a:txBody>
                  <a:tcPr marL="64008" marR="64008" marT="27432" marB="27432">
                    <a:solidFill>
                      <a:srgbClr val="E8F1F3"/>
                    </a:solidFill>
                  </a:tcPr>
                </a:tc>
                <a:tc>
                  <a:txBody>
                    <a:bodyPr/>
                    <a:lstStyle/>
                    <a:p>
                      <a:r>
                        <a:rPr sz="1400" b="0" i="0">
                          <a:solidFill>
                            <a:srgbClr val="222B30"/>
                          </a:solidFill>
                          <a:latin typeface="Calibri"/>
                        </a:rPr>
                        <a:t>Population, Exposition, Comparaison, Outcome</a:t>
                      </a:r>
                    </a:p>
                  </a:txBody>
                  <a:tcPr marL="64008" marR="64008" marT="27432" marB="27432">
                    <a:solidFill>
                      <a:srgbClr val="E8F1F3"/>
                    </a:solidFill>
                  </a:tcPr>
                </a:tc>
                <a:tc>
                  <a:txBody>
                    <a:bodyPr/>
                    <a:lstStyle/>
                    <a:p>
                      <a:r>
                        <a:rPr sz="1400" b="0" i="0">
                          <a:solidFill>
                            <a:srgbClr val="222B30"/>
                          </a:solidFill>
                          <a:latin typeface="Calibri"/>
                        </a:rPr>
                        <a:t>Chimie de l'eau, pesticides, toxicologie, épidémiologie</a:t>
                      </a:r>
                    </a:p>
                  </a:txBody>
                  <a:tcPr marL="64008" marR="64008" marT="27432" marB="27432">
                    <a:solidFill>
                      <a:srgbClr val="E8F1F3"/>
                    </a:solidFill>
                  </a:tcPr>
                </a:tc>
                <a:extLst>
                  <a:ext uri="{0D108BD9-81ED-4DB2-BD59-A6C34878D82A}">
                    <a16:rowId xmlns:a16="http://schemas.microsoft.com/office/drawing/2014/main" val="10002"/>
                  </a:ext>
                </a:extLst>
              </a:tr>
              <a:tr h="822960">
                <a:tc>
                  <a:txBody>
                    <a:bodyPr/>
                    <a:lstStyle/>
                    <a:p>
                      <a:r>
                        <a:rPr sz="1400" b="0" i="0">
                          <a:solidFill>
                            <a:srgbClr val="222B30"/>
                          </a:solidFill>
                          <a:latin typeface="Calibri"/>
                        </a:rPr>
                        <a:t>PEO</a:t>
                      </a:r>
                    </a:p>
                  </a:txBody>
                  <a:tcPr marL="64008" marR="64008" marT="27432" marB="27432">
                    <a:solidFill>
                      <a:srgbClr val="FFFFFF"/>
                    </a:solidFill>
                  </a:tcPr>
                </a:tc>
                <a:tc>
                  <a:txBody>
                    <a:bodyPr/>
                    <a:lstStyle/>
                    <a:p>
                      <a:r>
                        <a:rPr sz="1400" b="0" i="0">
                          <a:solidFill>
                            <a:srgbClr val="222B30"/>
                          </a:solidFill>
                          <a:latin typeface="Calibri"/>
                        </a:rPr>
                        <a:t>Population, Exposition, Outcome</a:t>
                      </a:r>
                    </a:p>
                  </a:txBody>
                  <a:tcPr marL="64008" marR="64008" marT="27432" marB="27432">
                    <a:solidFill>
                      <a:srgbClr val="FFFFFF"/>
                    </a:solidFill>
                  </a:tcPr>
                </a:tc>
                <a:tc>
                  <a:txBody>
                    <a:bodyPr/>
                    <a:lstStyle/>
                    <a:p>
                      <a:r>
                        <a:rPr sz="1400" b="0" i="0">
                          <a:solidFill>
                            <a:srgbClr val="222B30"/>
                          </a:solidFill>
                          <a:latin typeface="Calibri"/>
                        </a:rPr>
                        <a:t>Psychologie, sociologie, géographie, économie (facteurs associés)</a:t>
                      </a:r>
                    </a:p>
                  </a:txBody>
                  <a:tcPr marL="64008" marR="64008" marT="27432" marB="27432">
                    <a:solidFill>
                      <a:srgbClr val="FFFFFF"/>
                    </a:solidFill>
                  </a:tcPr>
                </a:tc>
                <a:extLst>
                  <a:ext uri="{0D108BD9-81ED-4DB2-BD59-A6C34878D82A}">
                    <a16:rowId xmlns:a16="http://schemas.microsoft.com/office/drawing/2014/main" val="10003"/>
                  </a:ext>
                </a:extLst>
              </a:tr>
              <a:tr h="822960">
                <a:tc>
                  <a:txBody>
                    <a:bodyPr/>
                    <a:lstStyle/>
                    <a:p>
                      <a:r>
                        <a:rPr sz="1400" b="0" i="0">
                          <a:solidFill>
                            <a:srgbClr val="222B30"/>
                          </a:solidFill>
                          <a:latin typeface="Calibri"/>
                        </a:rPr>
                        <a:t>PCC</a:t>
                      </a:r>
                    </a:p>
                  </a:txBody>
                  <a:tcPr marL="64008" marR="64008" marT="27432" marB="27432">
                    <a:solidFill>
                      <a:srgbClr val="E8F1F3"/>
                    </a:solidFill>
                  </a:tcPr>
                </a:tc>
                <a:tc>
                  <a:txBody>
                    <a:bodyPr/>
                    <a:lstStyle/>
                    <a:p>
                      <a:r>
                        <a:rPr sz="1400" b="0" i="0">
                          <a:solidFill>
                            <a:srgbClr val="222B30"/>
                          </a:solidFill>
                          <a:latin typeface="Calibri"/>
                        </a:rPr>
                        <a:t>Population, Concept, Contexte</a:t>
                      </a:r>
                    </a:p>
                  </a:txBody>
                  <a:tcPr marL="64008" marR="64008" marT="27432" marB="27432">
                    <a:solidFill>
                      <a:srgbClr val="E8F1F3"/>
                    </a:solidFill>
                  </a:tcPr>
                </a:tc>
                <a:tc>
                  <a:txBody>
                    <a:bodyPr/>
                    <a:lstStyle/>
                    <a:p>
                      <a:r>
                        <a:rPr sz="1400" b="0" i="0">
                          <a:solidFill>
                            <a:srgbClr val="222B30"/>
                          </a:solidFill>
                          <a:latin typeface="Calibri"/>
                        </a:rPr>
                        <a:t>Revues de portée : droit, histoire, lettres, patrimoine, politiques publiques</a:t>
                      </a:r>
                    </a:p>
                  </a:txBody>
                  <a:tcPr marL="64008" marR="64008" marT="27432" marB="27432">
                    <a:solidFill>
                      <a:srgbClr val="E8F1F3"/>
                    </a:solidFill>
                  </a:tcPr>
                </a:tc>
                <a:extLst>
                  <a:ext uri="{0D108BD9-81ED-4DB2-BD59-A6C34878D82A}">
                    <a16:rowId xmlns:a16="http://schemas.microsoft.com/office/drawing/2014/main" val="10004"/>
                  </a:ext>
                </a:extLst>
              </a:tr>
              <a:tr h="822960">
                <a:tc>
                  <a:txBody>
                    <a:bodyPr/>
                    <a:lstStyle/>
                    <a:p>
                      <a:r>
                        <a:rPr sz="1400" b="0" i="0">
                          <a:solidFill>
                            <a:srgbClr val="222B30"/>
                          </a:solidFill>
                          <a:latin typeface="Calibri"/>
                        </a:rPr>
                        <a:t>SPIDER</a:t>
                      </a:r>
                    </a:p>
                  </a:txBody>
                  <a:tcPr marL="64008" marR="64008" marT="27432" marB="27432">
                    <a:solidFill>
                      <a:srgbClr val="FFFFFF"/>
                    </a:solidFill>
                  </a:tcPr>
                </a:tc>
                <a:tc>
                  <a:txBody>
                    <a:bodyPr/>
                    <a:lstStyle/>
                    <a:p>
                      <a:r>
                        <a:rPr sz="1400" b="0" i="0">
                          <a:solidFill>
                            <a:srgbClr val="222B30"/>
                          </a:solidFill>
                          <a:latin typeface="Calibri"/>
                        </a:rPr>
                        <a:t>Sample, Phenomenon of Interest, Design, Evaluation, Research type</a:t>
                      </a:r>
                    </a:p>
                  </a:txBody>
                  <a:tcPr marL="64008" marR="64008" marT="27432" marB="27432">
                    <a:solidFill>
                      <a:srgbClr val="FFFFFF"/>
                    </a:solidFill>
                  </a:tcPr>
                </a:tc>
                <a:tc>
                  <a:txBody>
                    <a:bodyPr/>
                    <a:lstStyle/>
                    <a:p>
                      <a:r>
                        <a:rPr sz="1400" b="0" i="0">
                          <a:solidFill>
                            <a:srgbClr val="222B30"/>
                          </a:solidFill>
                          <a:latin typeface="Calibri"/>
                        </a:rPr>
                        <a:t>Recherche qualitative : anthropologie, sociologie, psychologie clinique</a:t>
                      </a:r>
                    </a:p>
                  </a:txBody>
                  <a:tcPr marL="64008" marR="64008" marT="27432" marB="27432">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1 · COMPRÉHENSION DU BESOIN · BUSINESS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Des questions tirées de vos thèmes de recherche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14</a:t>
            </a:r>
          </a:p>
        </p:txBody>
      </p:sp>
      <p:sp>
        <p:nvSpPr>
          <p:cNvPr id="13" name="Rectangle 12"/>
          <p:cNvSpPr/>
          <p:nvPr/>
        </p:nvSpPr>
        <p:spPr>
          <a:xfrm>
            <a:off x="502920" y="1417320"/>
            <a:ext cx="3584448" cy="227685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17320"/>
            <a:ext cx="82296" cy="227685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08760"/>
            <a:ext cx="3310128" cy="457200"/>
          </a:xfrm>
          <a:prstGeom prst="rect">
            <a:avLst/>
          </a:prstGeom>
          <a:noFill/>
        </p:spPr>
        <p:txBody>
          <a:bodyPr wrap="square" lIns="45720" tIns="27432" rIns="45720" bIns="27432" anchor="t">
            <a:spAutoFit/>
          </a:bodyPr>
          <a:lstStyle/>
          <a:p>
            <a:pPr algn="l">
              <a:lnSpc>
                <a:spcPct val="105000"/>
              </a:lnSpc>
            </a:pPr>
            <a:r>
              <a:rPr sz="1350" b="1" i="0">
                <a:solidFill>
                  <a:srgbClr val="0B3C49"/>
                </a:solidFill>
                <a:latin typeface="Calibri"/>
              </a:rPr>
              <a:t>Santé clinique · PICO(S)</a:t>
            </a:r>
          </a:p>
        </p:txBody>
      </p:sp>
      <p:sp>
        <p:nvSpPr>
          <p:cNvPr id="16" name="TextBox 15"/>
          <p:cNvSpPr txBox="1"/>
          <p:nvPr/>
        </p:nvSpPr>
        <p:spPr>
          <a:xfrm>
            <a:off x="685800" y="1954530"/>
            <a:ext cx="3310128" cy="1728216"/>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Planification familiale du post-partum en Afrique de l'Ouest</a:t>
            </a:r>
          </a:p>
        </p:txBody>
      </p:sp>
      <p:sp>
        <p:nvSpPr>
          <p:cNvPr id="17" name="Rectangle 16"/>
          <p:cNvSpPr/>
          <p:nvPr/>
        </p:nvSpPr>
        <p:spPr>
          <a:xfrm>
            <a:off x="4288536" y="1417320"/>
            <a:ext cx="3584448" cy="227685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88536" y="1417320"/>
            <a:ext cx="82296" cy="227685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1416" y="1508760"/>
            <a:ext cx="3310128" cy="457200"/>
          </a:xfrm>
          <a:prstGeom prst="rect">
            <a:avLst/>
          </a:prstGeom>
          <a:noFill/>
        </p:spPr>
        <p:txBody>
          <a:bodyPr wrap="square" lIns="45720" tIns="27432" rIns="45720" bIns="27432" anchor="t">
            <a:spAutoFit/>
          </a:bodyPr>
          <a:lstStyle/>
          <a:p>
            <a:pPr algn="l">
              <a:lnSpc>
                <a:spcPct val="105000"/>
              </a:lnSpc>
            </a:pPr>
            <a:r>
              <a:rPr sz="1350" b="1" i="0">
                <a:solidFill>
                  <a:srgbClr val="0B3C49"/>
                </a:solidFill>
                <a:latin typeface="Calibri"/>
              </a:rPr>
              <a:t>Sciences biomédicales · PICO(S) préclinique</a:t>
            </a:r>
          </a:p>
        </p:txBody>
      </p:sp>
      <p:sp>
        <p:nvSpPr>
          <p:cNvPr id="20" name="TextBox 19"/>
          <p:cNvSpPr txBox="1"/>
          <p:nvPr/>
        </p:nvSpPr>
        <p:spPr>
          <a:xfrm>
            <a:off x="4471416" y="1954530"/>
            <a:ext cx="3310128" cy="1728216"/>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Plantes médicinales antidiabétiques de la pharmacopée ouest-africaine</a:t>
            </a:r>
          </a:p>
        </p:txBody>
      </p:sp>
      <p:sp>
        <p:nvSpPr>
          <p:cNvPr id="21" name="Rectangle 20"/>
          <p:cNvSpPr/>
          <p:nvPr/>
        </p:nvSpPr>
        <p:spPr>
          <a:xfrm>
            <a:off x="8074152" y="1417320"/>
            <a:ext cx="3584448" cy="227685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417320"/>
            <a:ext cx="82296" cy="227685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1508760"/>
            <a:ext cx="3310128" cy="457200"/>
          </a:xfrm>
          <a:prstGeom prst="rect">
            <a:avLst/>
          </a:prstGeom>
          <a:noFill/>
        </p:spPr>
        <p:txBody>
          <a:bodyPr wrap="square" lIns="45720" tIns="27432" rIns="45720" bIns="27432" anchor="t">
            <a:spAutoFit/>
          </a:bodyPr>
          <a:lstStyle/>
          <a:p>
            <a:pPr algn="l">
              <a:lnSpc>
                <a:spcPct val="105000"/>
              </a:lnSpc>
            </a:pPr>
            <a:r>
              <a:rPr sz="1350" b="1" i="0">
                <a:solidFill>
                  <a:srgbClr val="0B3C49"/>
                </a:solidFill>
                <a:latin typeface="Calibri"/>
              </a:rPr>
              <a:t>Environnement · PECO</a:t>
            </a:r>
          </a:p>
        </p:txBody>
      </p:sp>
      <p:sp>
        <p:nvSpPr>
          <p:cNvPr id="24" name="TextBox 23"/>
          <p:cNvSpPr txBox="1"/>
          <p:nvPr/>
        </p:nvSpPr>
        <p:spPr>
          <a:xfrm>
            <a:off x="8257031" y="1954530"/>
            <a:ext cx="3310128" cy="1728216"/>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Pesticides et contamination des eaux en zone agricole</a:t>
            </a:r>
          </a:p>
        </p:txBody>
      </p:sp>
      <p:sp>
        <p:nvSpPr>
          <p:cNvPr id="25" name="Rectangle 24"/>
          <p:cNvSpPr/>
          <p:nvPr/>
        </p:nvSpPr>
        <p:spPr>
          <a:xfrm>
            <a:off x="502920" y="3895344"/>
            <a:ext cx="3584448" cy="227685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3895344"/>
            <a:ext cx="82296" cy="227685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986784"/>
            <a:ext cx="3310128" cy="457200"/>
          </a:xfrm>
          <a:prstGeom prst="rect">
            <a:avLst/>
          </a:prstGeom>
          <a:noFill/>
        </p:spPr>
        <p:txBody>
          <a:bodyPr wrap="square" lIns="45720" tIns="27432" rIns="45720" bIns="27432" anchor="t">
            <a:spAutoFit/>
          </a:bodyPr>
          <a:lstStyle/>
          <a:p>
            <a:pPr algn="l">
              <a:lnSpc>
                <a:spcPct val="105000"/>
              </a:lnSpc>
            </a:pPr>
            <a:r>
              <a:rPr sz="1350" b="1" i="0">
                <a:solidFill>
                  <a:srgbClr val="0B3C49"/>
                </a:solidFill>
                <a:latin typeface="Calibri"/>
              </a:rPr>
              <a:t>Économie · PICO(S)</a:t>
            </a:r>
          </a:p>
        </p:txBody>
      </p:sp>
      <p:sp>
        <p:nvSpPr>
          <p:cNvPr id="28" name="TextBox 27"/>
          <p:cNvSpPr txBox="1"/>
          <p:nvPr/>
        </p:nvSpPr>
        <p:spPr>
          <a:xfrm>
            <a:off x="685800" y="4432554"/>
            <a:ext cx="3310128" cy="1728216"/>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Autonomisation économique des femmes et pauvreté en temps</a:t>
            </a:r>
          </a:p>
        </p:txBody>
      </p:sp>
      <p:sp>
        <p:nvSpPr>
          <p:cNvPr id="29" name="Rectangle 28"/>
          <p:cNvSpPr/>
          <p:nvPr/>
        </p:nvSpPr>
        <p:spPr>
          <a:xfrm>
            <a:off x="4288536" y="3895344"/>
            <a:ext cx="3584448" cy="227685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88536" y="3895344"/>
            <a:ext cx="82296" cy="227685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71416" y="3986784"/>
            <a:ext cx="3310128" cy="457200"/>
          </a:xfrm>
          <a:prstGeom prst="rect">
            <a:avLst/>
          </a:prstGeom>
          <a:noFill/>
        </p:spPr>
        <p:txBody>
          <a:bodyPr wrap="square" lIns="45720" tIns="27432" rIns="45720" bIns="27432" anchor="t">
            <a:spAutoFit/>
          </a:bodyPr>
          <a:lstStyle/>
          <a:p>
            <a:pPr algn="l">
              <a:lnSpc>
                <a:spcPct val="105000"/>
              </a:lnSpc>
            </a:pPr>
            <a:r>
              <a:rPr sz="1350" b="1" i="0">
                <a:solidFill>
                  <a:srgbClr val="0B3C49"/>
                </a:solidFill>
                <a:latin typeface="Calibri"/>
              </a:rPr>
              <a:t>Lettres · PCC</a:t>
            </a:r>
          </a:p>
        </p:txBody>
      </p:sp>
      <p:sp>
        <p:nvSpPr>
          <p:cNvPr id="32" name="TextBox 31"/>
          <p:cNvSpPr txBox="1"/>
          <p:nvPr/>
        </p:nvSpPr>
        <p:spPr>
          <a:xfrm>
            <a:off x="4471416" y="4432554"/>
            <a:ext cx="3310128" cy="1728216"/>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Représentations féministes dans le roman africain anglophone</a:t>
            </a:r>
          </a:p>
        </p:txBody>
      </p:sp>
      <p:sp>
        <p:nvSpPr>
          <p:cNvPr id="33" name="Rectangle 32"/>
          <p:cNvSpPr/>
          <p:nvPr/>
        </p:nvSpPr>
        <p:spPr>
          <a:xfrm>
            <a:off x="8074152" y="3895344"/>
            <a:ext cx="3584448" cy="227685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74152" y="3895344"/>
            <a:ext cx="82296" cy="227685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57031" y="3986784"/>
            <a:ext cx="3310128" cy="457200"/>
          </a:xfrm>
          <a:prstGeom prst="rect">
            <a:avLst/>
          </a:prstGeom>
          <a:noFill/>
        </p:spPr>
        <p:txBody>
          <a:bodyPr wrap="square" lIns="45720" tIns="27432" rIns="45720" bIns="27432" anchor="t">
            <a:spAutoFit/>
          </a:bodyPr>
          <a:lstStyle/>
          <a:p>
            <a:pPr algn="l">
              <a:lnSpc>
                <a:spcPct val="105000"/>
              </a:lnSpc>
            </a:pPr>
            <a:r>
              <a:rPr sz="1350" b="1" i="0">
                <a:solidFill>
                  <a:srgbClr val="0B3C49"/>
                </a:solidFill>
                <a:latin typeface="Calibri"/>
              </a:rPr>
              <a:t>Sociologie · PICO(S)</a:t>
            </a:r>
          </a:p>
        </p:txBody>
      </p:sp>
      <p:sp>
        <p:nvSpPr>
          <p:cNvPr id="36" name="TextBox 35"/>
          <p:cNvSpPr txBox="1"/>
          <p:nvPr/>
        </p:nvSpPr>
        <p:spPr>
          <a:xfrm>
            <a:off x="8257031" y="4432554"/>
            <a:ext cx="3310128" cy="1728216"/>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Violences de genre en milieu scolaire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1 · COMPRÉHENSION DU BESOIN · BUSINESS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De la question à l'équation de recherche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15</a:t>
            </a:r>
          </a:p>
        </p:txBody>
      </p:sp>
      <p:sp>
        <p:nvSpPr>
          <p:cNvPr id="13" name="Rounded Rectangle 12"/>
          <p:cNvSpPr/>
          <p:nvPr/>
        </p:nvSpPr>
        <p:spPr>
          <a:xfrm>
            <a:off x="502920" y="1554480"/>
            <a:ext cx="3383280" cy="2011680"/>
          </a:xfrm>
          <a:prstGeom prst="roundRect">
            <a:avLst>
              <a:gd name="adj" fmla="val 8000"/>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1627632"/>
            <a:ext cx="3108960" cy="365760"/>
          </a:xfrm>
          <a:prstGeom prst="rect">
            <a:avLst/>
          </a:prstGeom>
          <a:noFill/>
        </p:spPr>
        <p:txBody>
          <a:bodyPr wrap="square" lIns="45720" tIns="27432" rIns="45720" bIns="27432" anchor="t">
            <a:spAutoFit/>
          </a:bodyPr>
          <a:lstStyle/>
          <a:p>
            <a:pPr algn="l">
              <a:lnSpc>
                <a:spcPct val="105000"/>
              </a:lnSpc>
            </a:pPr>
            <a:r>
              <a:rPr sz="1500" b="1" i="0">
                <a:solidFill>
                  <a:srgbClr val="1F7A8C"/>
                </a:solidFill>
                <a:latin typeface="Calibri"/>
              </a:rPr>
              <a:t>Bloc P</a:t>
            </a:r>
          </a:p>
        </p:txBody>
      </p:sp>
      <p:sp>
        <p:nvSpPr>
          <p:cNvPr id="15" name="TextBox 14"/>
          <p:cNvSpPr txBox="1"/>
          <p:nvPr/>
        </p:nvSpPr>
        <p:spPr>
          <a:xfrm>
            <a:off x="640080" y="2011680"/>
            <a:ext cx="3108960" cy="146304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"women researchers" OR "women academics" OR "female scientists" OR « femmes chercheures »</a:t>
            </a:r>
          </a:p>
        </p:txBody>
      </p:sp>
      <p:sp>
        <p:nvSpPr>
          <p:cNvPr id="16" name="Oval 15"/>
          <p:cNvSpPr/>
          <p:nvPr/>
        </p:nvSpPr>
        <p:spPr>
          <a:xfrm>
            <a:off x="3931920" y="2286000"/>
            <a:ext cx="411480" cy="54864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000" b="1" i="0">
                <a:solidFill>
                  <a:srgbClr val="0B3C49"/>
                </a:solidFill>
                <a:latin typeface="Calibri"/>
              </a:rPr>
              <a:t>ET</a:t>
            </a:r>
          </a:p>
        </p:txBody>
      </p:sp>
      <p:sp>
        <p:nvSpPr>
          <p:cNvPr id="17" name="Rounded Rectangle 16"/>
          <p:cNvSpPr/>
          <p:nvPr/>
        </p:nvSpPr>
        <p:spPr>
          <a:xfrm>
            <a:off x="4389120" y="1554480"/>
            <a:ext cx="3383280" cy="2011680"/>
          </a:xfrm>
          <a:prstGeom prst="roundRect">
            <a:avLst>
              <a:gd name="adj" fmla="val 8000"/>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26280" y="1627632"/>
            <a:ext cx="3108960" cy="365760"/>
          </a:xfrm>
          <a:prstGeom prst="rect">
            <a:avLst/>
          </a:prstGeom>
          <a:noFill/>
        </p:spPr>
        <p:txBody>
          <a:bodyPr wrap="square" lIns="45720" tIns="27432" rIns="45720" bIns="27432" anchor="t">
            <a:spAutoFit/>
          </a:bodyPr>
          <a:lstStyle/>
          <a:p>
            <a:pPr algn="l">
              <a:lnSpc>
                <a:spcPct val="105000"/>
              </a:lnSpc>
            </a:pPr>
            <a:r>
              <a:rPr sz="1500" b="1" i="0">
                <a:solidFill>
                  <a:srgbClr val="1F7A8C"/>
                </a:solidFill>
                <a:latin typeface="Calibri"/>
              </a:rPr>
              <a:t>Bloc I/O</a:t>
            </a:r>
          </a:p>
        </p:txBody>
      </p:sp>
      <p:sp>
        <p:nvSpPr>
          <p:cNvPr id="19" name="TextBox 18"/>
          <p:cNvSpPr txBox="1"/>
          <p:nvPr/>
        </p:nvSpPr>
        <p:spPr>
          <a:xfrm>
            <a:off x="4526280" y="2011680"/>
            <a:ext cx="3108960" cy="146304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career OR promotion OR leadership OR mentoring OR « carrière »</a:t>
            </a:r>
          </a:p>
        </p:txBody>
      </p:sp>
      <p:sp>
        <p:nvSpPr>
          <p:cNvPr id="20" name="Oval 19"/>
          <p:cNvSpPr/>
          <p:nvPr/>
        </p:nvSpPr>
        <p:spPr>
          <a:xfrm>
            <a:off x="7818120" y="2286000"/>
            <a:ext cx="411480" cy="54864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000" b="1" i="0">
                <a:solidFill>
                  <a:srgbClr val="0B3C49"/>
                </a:solidFill>
                <a:latin typeface="Calibri"/>
              </a:rPr>
              <a:t>ET</a:t>
            </a:r>
          </a:p>
        </p:txBody>
      </p:sp>
      <p:sp>
        <p:nvSpPr>
          <p:cNvPr id="21" name="Rounded Rectangle 20"/>
          <p:cNvSpPr/>
          <p:nvPr/>
        </p:nvSpPr>
        <p:spPr>
          <a:xfrm>
            <a:off x="8275320" y="1554480"/>
            <a:ext cx="3383280" cy="2011680"/>
          </a:xfrm>
          <a:prstGeom prst="roundRect">
            <a:avLst>
              <a:gd name="adj" fmla="val 8000"/>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1627632"/>
            <a:ext cx="3108960" cy="365760"/>
          </a:xfrm>
          <a:prstGeom prst="rect">
            <a:avLst/>
          </a:prstGeom>
          <a:noFill/>
        </p:spPr>
        <p:txBody>
          <a:bodyPr wrap="square" lIns="45720" tIns="27432" rIns="45720" bIns="27432" anchor="t">
            <a:spAutoFit/>
          </a:bodyPr>
          <a:lstStyle/>
          <a:p>
            <a:pPr algn="l">
              <a:lnSpc>
                <a:spcPct val="105000"/>
              </a:lnSpc>
            </a:pPr>
            <a:r>
              <a:rPr sz="1500" b="1" i="0">
                <a:solidFill>
                  <a:srgbClr val="1F7A8C"/>
                </a:solidFill>
                <a:latin typeface="Calibri"/>
              </a:rPr>
              <a:t>Bloc contexte</a:t>
            </a:r>
          </a:p>
        </p:txBody>
      </p:sp>
      <p:sp>
        <p:nvSpPr>
          <p:cNvPr id="23" name="TextBox 22"/>
          <p:cNvSpPr txBox="1"/>
          <p:nvPr/>
        </p:nvSpPr>
        <p:spPr>
          <a:xfrm>
            <a:off x="8412480" y="2011680"/>
            <a:ext cx="3108960" cy="1463040"/>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Africa OR "sub-Saharan" OR "West Africa" OR Togo OR Afrique</a:t>
            </a:r>
          </a:p>
        </p:txBody>
      </p:sp>
      <p:sp>
        <p:nvSpPr>
          <p:cNvPr id="24" name="TextBox 23"/>
          <p:cNvSpPr txBox="1"/>
          <p:nvPr/>
        </p:nvSpPr>
        <p:spPr>
          <a:xfrm>
            <a:off x="502920" y="3886200"/>
            <a:ext cx="11155680" cy="2377440"/>
          </a:xfrm>
          <a:prstGeom prst="rect">
            <a:avLst/>
          </a:prstGeom>
          <a:noFill/>
        </p:spPr>
        <p:txBody>
          <a:bodyPr wrap="square">
            <a:spAutoFit/>
          </a:bodyPr>
          <a:lstStyle/>
          <a:p>
            <a:pPr>
              <a:lnSpc>
                <a:spcPct val="105000"/>
              </a:lnSpc>
              <a:spcAft>
                <a:spcPts val="600"/>
              </a:spcAft>
            </a:pPr>
            <a:r>
              <a:rPr sz="1200">
                <a:solidFill>
                  <a:srgbClr val="E0A526"/>
                </a:solidFill>
                <a:latin typeface="Calibri"/>
              </a:rPr>
              <a:t>■  </a:t>
            </a:r>
            <a:r>
              <a:rPr sz="1600" b="1" i="0">
                <a:solidFill>
                  <a:srgbClr val="222B30"/>
                </a:solidFill>
                <a:latin typeface="Calibri"/>
              </a:rPr>
              <a:t>OR</a:t>
            </a:r>
            <a:r>
              <a:rPr sz="1600" b="0" i="0">
                <a:solidFill>
                  <a:srgbClr val="222B30"/>
                </a:solidFill>
                <a:latin typeface="Calibri"/>
              </a:rPr>
              <a:t> dans un bloc = synonymes (on élargit) · </a:t>
            </a:r>
            <a:r>
              <a:rPr sz="1600" b="1" i="0">
                <a:solidFill>
                  <a:srgbClr val="222B30"/>
                </a:solidFill>
                <a:latin typeface="Calibri"/>
              </a:rPr>
              <a:t>AND</a:t>
            </a:r>
            <a:r>
              <a:rPr sz="1600" b="0" i="0">
                <a:solidFill>
                  <a:srgbClr val="222B30"/>
                </a:solidFill>
                <a:latin typeface="Calibri"/>
              </a:rPr>
              <a:t> entre blocs (on restreint) · </a:t>
            </a:r>
            <a:r>
              <a:rPr sz="1600" b="1" i="0">
                <a:solidFill>
                  <a:srgbClr val="222B30"/>
                </a:solidFill>
                <a:latin typeface="Calibri"/>
              </a:rPr>
              <a:t>NOT</a:t>
            </a:r>
            <a:r>
              <a:rPr sz="1600" b="0" i="0">
                <a:solidFill>
                  <a:srgbClr val="222B30"/>
                </a:solidFill>
                <a:latin typeface="Calibri"/>
              </a:rPr>
              <a:t> avec prudence</a:t>
            </a:r>
          </a:p>
          <a:p>
            <a:pPr>
              <a:lnSpc>
                <a:spcPct val="105000"/>
              </a:lnSpc>
              <a:spcAft>
                <a:spcPts val="600"/>
              </a:spcAft>
            </a:pPr>
            <a:r>
              <a:rPr sz="1200">
                <a:solidFill>
                  <a:srgbClr val="E0A526"/>
                </a:solidFill>
                <a:latin typeface="Calibri"/>
              </a:rPr>
              <a:t>■  </a:t>
            </a:r>
            <a:r>
              <a:rPr sz="1600" b="0" i="0">
                <a:solidFill>
                  <a:srgbClr val="222B30"/>
                </a:solidFill>
                <a:latin typeface="Calibri"/>
              </a:rPr>
              <a:t>Guillemets pour les expressions exactes, troncature quand elle est acceptée : wom*n, scien*</a:t>
            </a:r>
          </a:p>
          <a:p>
            <a:pPr>
              <a:lnSpc>
                <a:spcPct val="105000"/>
              </a:lnSpc>
              <a:spcAft>
                <a:spcPts val="600"/>
              </a:spcAft>
            </a:pPr>
            <a:r>
              <a:rPr sz="1200">
                <a:solidFill>
                  <a:srgbClr val="E0A526"/>
                </a:solidFill>
                <a:latin typeface="Calibri"/>
              </a:rPr>
              <a:t>■  </a:t>
            </a:r>
            <a:r>
              <a:rPr sz="1600" b="0" i="0">
                <a:solidFill>
                  <a:srgbClr val="222B30"/>
                </a:solidFill>
                <a:latin typeface="Calibri"/>
              </a:rPr>
              <a:t>Toujours en </a:t>
            </a:r>
            <a:r>
              <a:rPr sz="1600" b="1" i="0">
                <a:solidFill>
                  <a:srgbClr val="222B30"/>
                </a:solidFill>
                <a:latin typeface="Calibri"/>
              </a:rPr>
              <a:t>français et en anglais</a:t>
            </a:r>
            <a:r>
              <a:rPr sz="1600" b="0" i="0">
                <a:solidFill>
                  <a:srgbClr val="222B30"/>
                </a:solidFill>
                <a:latin typeface="Calibri"/>
              </a:rPr>
              <a:t> ; ajouter les thésaurus : MeSH (santé), AGROVOC (agriculture), Thésaurus de l'UNESCO</a:t>
            </a:r>
          </a:p>
          <a:p>
            <a:pPr>
              <a:lnSpc>
                <a:spcPct val="105000"/>
              </a:lnSpc>
              <a:spcAft>
                <a:spcPts val="600"/>
              </a:spcAft>
            </a:pPr>
            <a:r>
              <a:rPr sz="1200">
                <a:solidFill>
                  <a:srgbClr val="E0A526"/>
                </a:solidFill>
                <a:latin typeface="Calibri"/>
              </a:rPr>
              <a:t>■  </a:t>
            </a:r>
            <a:r>
              <a:rPr sz="1600" b="0" i="0">
                <a:solidFill>
                  <a:srgbClr val="222B30"/>
                </a:solidFill>
                <a:latin typeface="Calibri"/>
              </a:rPr>
              <a:t>Tester, noter le nombre de résultats, ajuster : tout va dans le journal de recherche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EXERCICE 1 · 40 MIN · 09H25 – 10H05</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De mon sujet à ma question PICO(S)</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16</a:t>
            </a:r>
          </a:p>
        </p:txBody>
      </p:sp>
      <p:sp>
        <p:nvSpPr>
          <p:cNvPr id="13" name="Oval 12"/>
          <p:cNvSpPr/>
          <p:nvPr/>
        </p:nvSpPr>
        <p:spPr>
          <a:xfrm>
            <a:off x="502920" y="1463040"/>
            <a:ext cx="1188720" cy="11887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i="0">
                <a:solidFill>
                  <a:srgbClr val="0B3C49"/>
                </a:solidFill>
                <a:latin typeface="Georgia"/>
              </a:rPr>
              <a:t>EX.</a:t>
            </a:r>
          </a:p>
          <a:p>
            <a:pPr algn="ctr"/>
            <a:r>
              <a:rPr sz="2200" b="1" i="0">
                <a:solidFill>
                  <a:srgbClr val="0B3C49"/>
                </a:solidFill>
                <a:latin typeface="Georgia"/>
              </a:rPr>
              <a:t>1</a:t>
            </a:r>
          </a:p>
        </p:txBody>
      </p:sp>
      <p:sp>
        <p:nvSpPr>
          <p:cNvPr id="14" name="TextBox 13"/>
          <p:cNvSpPr txBox="1"/>
          <p:nvPr/>
        </p:nvSpPr>
        <p:spPr>
          <a:xfrm>
            <a:off x="1965960" y="1463040"/>
            <a:ext cx="5943600" cy="365760"/>
          </a:xfrm>
          <a:prstGeom prst="rect">
            <a:avLst/>
          </a:prstGeom>
          <a:noFill/>
        </p:spPr>
        <p:txBody>
          <a:bodyPr wrap="square" lIns="45720" tIns="27432" rIns="45720" bIns="27432" anchor="t">
            <a:spAutoFit/>
          </a:bodyPr>
          <a:lstStyle/>
          <a:p>
            <a:pPr algn="l">
              <a:lnSpc>
                <a:spcPct val="105000"/>
              </a:lnSpc>
            </a:pPr>
            <a:r>
              <a:rPr sz="1500" b="1" i="0">
                <a:solidFill>
                  <a:srgbClr val="1F7A8C"/>
                </a:solidFill>
                <a:latin typeface="Calibri"/>
              </a:rPr>
              <a:t>Consignes (niveau Base)</a:t>
            </a:r>
          </a:p>
        </p:txBody>
      </p:sp>
      <p:sp>
        <p:nvSpPr>
          <p:cNvPr id="15" name="Oval 14"/>
          <p:cNvSpPr/>
          <p:nvPr/>
        </p:nvSpPr>
        <p:spPr>
          <a:xfrm>
            <a:off x="1965960" y="192938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6" name="TextBox 15"/>
          <p:cNvSpPr txBox="1"/>
          <p:nvPr/>
        </p:nvSpPr>
        <p:spPr>
          <a:xfrm>
            <a:off x="2560320" y="1874519"/>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Choisir le cadre adapté (PICO(S), PECO, PEO, PCC, SPIDER)</a:t>
            </a:r>
          </a:p>
        </p:txBody>
      </p:sp>
      <p:sp>
        <p:nvSpPr>
          <p:cNvPr id="17" name="Oval 16"/>
          <p:cNvSpPr/>
          <p:nvPr/>
        </p:nvSpPr>
        <p:spPr>
          <a:xfrm>
            <a:off x="1965960" y="254203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8" name="TextBox 17"/>
          <p:cNvSpPr txBox="1"/>
          <p:nvPr/>
        </p:nvSpPr>
        <p:spPr>
          <a:xfrm>
            <a:off x="2560320" y="2487168"/>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Remplir chaque élément avec précision</a:t>
            </a:r>
          </a:p>
        </p:txBody>
      </p:sp>
      <p:sp>
        <p:nvSpPr>
          <p:cNvPr id="19" name="Oval 18"/>
          <p:cNvSpPr/>
          <p:nvPr/>
        </p:nvSpPr>
        <p:spPr>
          <a:xfrm>
            <a:off x="1965960" y="315467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20" name="TextBox 19"/>
          <p:cNvSpPr txBox="1"/>
          <p:nvPr/>
        </p:nvSpPr>
        <p:spPr>
          <a:xfrm>
            <a:off x="2560320" y="3099815"/>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Écrire la question en une phrase</a:t>
            </a:r>
          </a:p>
        </p:txBody>
      </p:sp>
      <p:sp>
        <p:nvSpPr>
          <p:cNvPr id="21" name="Oval 20"/>
          <p:cNvSpPr/>
          <p:nvPr/>
        </p:nvSpPr>
        <p:spPr>
          <a:xfrm>
            <a:off x="1965960" y="376732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2" name="TextBox 21"/>
          <p:cNvSpPr txBox="1"/>
          <p:nvPr/>
        </p:nvSpPr>
        <p:spPr>
          <a:xfrm>
            <a:off x="2560320" y="3712464"/>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Fixer 3 critères d'inclusion et 3 d'exclusion</a:t>
            </a:r>
          </a:p>
        </p:txBody>
      </p:sp>
      <p:sp>
        <p:nvSpPr>
          <p:cNvPr id="23" name="Oval 22"/>
          <p:cNvSpPr/>
          <p:nvPr/>
        </p:nvSpPr>
        <p:spPr>
          <a:xfrm>
            <a:off x="1965960" y="437997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4" name="TextBox 23"/>
          <p:cNvSpPr txBox="1"/>
          <p:nvPr/>
        </p:nvSpPr>
        <p:spPr>
          <a:xfrm>
            <a:off x="2560320" y="4325112"/>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Construire l'équation bilingue</a:t>
            </a:r>
          </a:p>
        </p:txBody>
      </p:sp>
      <p:sp>
        <p:nvSpPr>
          <p:cNvPr id="25" name="Oval 24"/>
          <p:cNvSpPr/>
          <p:nvPr/>
        </p:nvSpPr>
        <p:spPr>
          <a:xfrm>
            <a:off x="1965960" y="499262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6</a:t>
            </a:r>
          </a:p>
        </p:txBody>
      </p:sp>
      <p:sp>
        <p:nvSpPr>
          <p:cNvPr id="26" name="TextBox 25"/>
          <p:cNvSpPr txBox="1"/>
          <p:nvPr/>
        </p:nvSpPr>
        <p:spPr>
          <a:xfrm>
            <a:off x="2560320" y="4937760"/>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Relecture croisée en binôme (15 min)</a:t>
            </a:r>
          </a:p>
        </p:txBody>
      </p:sp>
      <p:sp>
        <p:nvSpPr>
          <p:cNvPr id="27" name="Rectangle 26"/>
          <p:cNvSpPr/>
          <p:nvPr/>
        </p:nvSpPr>
        <p:spPr>
          <a:xfrm>
            <a:off x="8275320" y="1463040"/>
            <a:ext cx="3429000" cy="2286000"/>
          </a:xfrm>
          <a:prstGeom prst="rect">
            <a:avLst/>
          </a:prstGeom>
          <a:solidFill>
            <a:srgbClr val="FFFFFF"/>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80" y="153619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Livrable</a:t>
            </a:r>
          </a:p>
        </p:txBody>
      </p:sp>
      <p:sp>
        <p:nvSpPr>
          <p:cNvPr id="29" name="TextBox 28"/>
          <p:cNvSpPr txBox="1"/>
          <p:nvPr/>
        </p:nvSpPr>
        <p:spPr>
          <a:xfrm>
            <a:off x="8412480" y="1901952"/>
            <a:ext cx="3200400" cy="182880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Fiche-question complète : cadre, éléments, question, critères d'éligibilité, équation testée.
Grille : 4 points.</a:t>
            </a:r>
          </a:p>
        </p:txBody>
      </p:sp>
      <p:sp>
        <p:nvSpPr>
          <p:cNvPr id="30" name="Rectangle 29"/>
          <p:cNvSpPr/>
          <p:nvPr/>
        </p:nvSpPr>
        <p:spPr>
          <a:xfrm>
            <a:off x="8275320" y="3931920"/>
            <a:ext cx="3429000" cy="2240280"/>
          </a:xfrm>
          <a:prstGeom prst="rect">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0" y="400507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Niveau Défi</a:t>
            </a:r>
          </a:p>
        </p:txBody>
      </p:sp>
      <p:sp>
        <p:nvSpPr>
          <p:cNvPr id="32" name="TextBox 31"/>
          <p:cNvSpPr txBox="1"/>
          <p:nvPr/>
        </p:nvSpPr>
        <p:spPr>
          <a:xfrm>
            <a:off x="8412480" y="4370832"/>
            <a:ext cx="3200400" cy="178308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Ajouter les termes d'un thésaurus · tester dans Google Scholar ou PubMed · faire critiquer sa question par un assistant IA et noter ce que l'on garde.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2743200" cy="2377440"/>
          </a:xfrm>
          <a:prstGeom prst="rect">
            <a:avLst/>
          </a:prstGeom>
          <a:noFill/>
        </p:spPr>
        <p:txBody>
          <a:bodyPr wrap="square" lIns="45720" tIns="27432" rIns="45720" bIns="27432" anchor="t">
            <a:spAutoFit/>
          </a:bodyPr>
          <a:lstStyle/>
          <a:p>
            <a:pPr algn="l">
              <a:lnSpc>
                <a:spcPct val="105000"/>
              </a:lnSpc>
            </a:pPr>
            <a:r>
              <a:rPr sz="17000" b="1" i="0">
                <a:solidFill>
                  <a:srgbClr val="E0A526"/>
                </a:solidFill>
                <a:latin typeface="Georgia"/>
              </a:rPr>
              <a:t>2</a:t>
            </a:r>
          </a:p>
        </p:txBody>
      </p:sp>
      <p:sp>
        <p:nvSpPr>
          <p:cNvPr id="3" name="TextBox 2"/>
          <p:cNvSpPr txBox="1"/>
          <p:nvPr/>
        </p:nvSpPr>
        <p:spPr>
          <a:xfrm>
            <a:off x="3291840" y="1234440"/>
            <a:ext cx="8229600" cy="365760"/>
          </a:xfrm>
          <a:prstGeom prst="rect">
            <a:avLst/>
          </a:prstGeom>
          <a:noFill/>
        </p:spPr>
        <p:txBody>
          <a:bodyPr wrap="square" lIns="45720" tIns="27432" rIns="45720" bIns="27432" anchor="t">
            <a:spAutoFit/>
          </a:bodyPr>
          <a:lstStyle/>
          <a:p>
            <a:pPr algn="l">
              <a:lnSpc>
                <a:spcPct val="105000"/>
              </a:lnSpc>
            </a:pPr>
            <a:r>
              <a:rPr sz="1300" b="1" i="0">
                <a:solidFill>
                  <a:srgbClr val="E0A526"/>
                </a:solidFill>
                <a:latin typeface="Calibri"/>
              </a:rPr>
              <a:t>PHASE 2 · CRISP-DM : DATA UNDERSTANDING</a:t>
            </a:r>
          </a:p>
        </p:txBody>
      </p:sp>
      <p:sp>
        <p:nvSpPr>
          <p:cNvPr id="4" name="TextBox 3"/>
          <p:cNvSpPr txBox="1"/>
          <p:nvPr/>
        </p:nvSpPr>
        <p:spPr>
          <a:xfrm>
            <a:off x="3291840" y="1645920"/>
            <a:ext cx="8412480" cy="1280160"/>
          </a:xfrm>
          <a:prstGeom prst="rect">
            <a:avLst/>
          </a:prstGeom>
          <a:noFill/>
        </p:spPr>
        <p:txBody>
          <a:bodyPr wrap="square" lIns="45720" tIns="27432" rIns="45720" bIns="27432" anchor="t">
            <a:spAutoFit/>
          </a:bodyPr>
          <a:lstStyle/>
          <a:p>
            <a:pPr algn="l">
              <a:lnSpc>
                <a:spcPct val="105000"/>
              </a:lnSpc>
            </a:pPr>
            <a:r>
              <a:rPr sz="4400" b="1" i="0">
                <a:solidFill>
                  <a:srgbClr val="FFFFFF"/>
                </a:solidFill>
                <a:latin typeface="Georgia"/>
              </a:rPr>
              <a:t>Exploration</a:t>
            </a:r>
          </a:p>
        </p:txBody>
      </p:sp>
      <p:sp>
        <p:nvSpPr>
          <p:cNvPr id="5" name="TextBox 4"/>
          <p:cNvSpPr txBox="1"/>
          <p:nvPr/>
        </p:nvSpPr>
        <p:spPr>
          <a:xfrm>
            <a:off x="3291840" y="2697480"/>
            <a:ext cx="8412480" cy="731520"/>
          </a:xfrm>
          <a:prstGeom prst="rect">
            <a:avLst/>
          </a:prstGeom>
          <a:noFill/>
        </p:spPr>
        <p:txBody>
          <a:bodyPr wrap="square" lIns="45720" tIns="27432" rIns="45720" bIns="27432" anchor="t">
            <a:spAutoFit/>
          </a:bodyPr>
          <a:lstStyle/>
          <a:p>
            <a:pPr algn="l">
              <a:lnSpc>
                <a:spcPct val="105000"/>
              </a:lnSpc>
            </a:pPr>
            <a:r>
              <a:rPr sz="2200" b="0" i="0">
                <a:solidFill>
                  <a:srgbClr val="E8F1F3"/>
                </a:solidFill>
                <a:latin typeface="Calibri"/>
              </a:rPr>
              <a:t>Explorer le paysage bibliographique avec les outils IA</a:t>
            </a:r>
          </a:p>
        </p:txBody>
      </p:sp>
      <p:sp>
        <p:nvSpPr>
          <p:cNvPr id="6" name="Rounded Rectangle 5"/>
          <p:cNvSpPr/>
          <p:nvPr/>
        </p:nvSpPr>
        <p:spPr>
          <a:xfrm>
            <a:off x="3291840" y="3794760"/>
            <a:ext cx="8138160" cy="960120"/>
          </a:xfrm>
          <a:prstGeom prst="roundRect">
            <a:avLst>
              <a:gd name="adj" fmla="val 12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700" b="1" i="0">
                <a:solidFill>
                  <a:srgbClr val="FFFFFF"/>
                </a:solidFill>
                <a:latin typeface="Calibri"/>
              </a:rPr>
              <a:t>Question clé :</a:t>
            </a:r>
            <a:r>
              <a:rPr sz="1700" b="0" i="0">
                <a:solidFill>
                  <a:srgbClr val="FFFFFF"/>
                </a:solidFill>
                <a:latin typeface="Calibri"/>
              </a:rPr>
              <a:t> Que dit la littérature, qui publie, où sont les trous ?</a:t>
            </a:r>
          </a:p>
        </p:txBody>
      </p:sp>
      <p:sp>
        <p:nvSpPr>
          <p:cNvPr id="7" name="TextBox 6"/>
          <p:cNvSpPr txBox="1"/>
          <p:nvPr/>
        </p:nvSpPr>
        <p:spPr>
          <a:xfrm>
            <a:off x="3291840" y="4983480"/>
            <a:ext cx="8138160" cy="548640"/>
          </a:xfrm>
          <a:prstGeom prst="rect">
            <a:avLst/>
          </a:prstGeom>
          <a:noFill/>
        </p:spPr>
        <p:txBody>
          <a:bodyPr wrap="square" lIns="45720" tIns="27432" rIns="45720" bIns="27432" anchor="t">
            <a:spAutoFit/>
          </a:bodyPr>
          <a:lstStyle/>
          <a:p>
            <a:pPr algn="l">
              <a:lnSpc>
                <a:spcPct val="105000"/>
              </a:lnSpc>
            </a:pPr>
            <a:r>
              <a:rPr sz="1600" b="0" i="0">
                <a:solidFill>
                  <a:srgbClr val="E0A526"/>
                </a:solidFill>
                <a:latin typeface="Calibri"/>
              </a:rPr>
              <a:t>Livrable : journal de recherche + carte annotée + références candidates (Exercice 2)</a:t>
            </a:r>
          </a:p>
        </p:txBody>
      </p:sp>
      <p:sp>
        <p:nvSpPr>
          <p:cNvPr id="8" name="Chevron 7"/>
          <p:cNvSpPr/>
          <p:nvPr/>
        </p:nvSpPr>
        <p:spPr>
          <a:xfrm>
            <a:off x="3291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1</a:t>
            </a:r>
          </a:p>
        </p:txBody>
      </p:sp>
      <p:sp>
        <p:nvSpPr>
          <p:cNvPr id="9" name="Chevron 8"/>
          <p:cNvSpPr/>
          <p:nvPr/>
        </p:nvSpPr>
        <p:spPr>
          <a:xfrm>
            <a:off x="4663440" y="5852160"/>
            <a:ext cx="1261872" cy="384048"/>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0B3C49"/>
                </a:solidFill>
                <a:latin typeface="Calibri"/>
              </a:rPr>
              <a:t>2</a:t>
            </a:r>
          </a:p>
        </p:txBody>
      </p:sp>
      <p:sp>
        <p:nvSpPr>
          <p:cNvPr id="10" name="Chevron 9"/>
          <p:cNvSpPr/>
          <p:nvPr/>
        </p:nvSpPr>
        <p:spPr>
          <a:xfrm>
            <a:off x="60350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3</a:t>
            </a:r>
          </a:p>
        </p:txBody>
      </p:sp>
      <p:sp>
        <p:nvSpPr>
          <p:cNvPr id="11" name="Chevron 10"/>
          <p:cNvSpPr/>
          <p:nvPr/>
        </p:nvSpPr>
        <p:spPr>
          <a:xfrm>
            <a:off x="74066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4</a:t>
            </a:r>
          </a:p>
        </p:txBody>
      </p:sp>
      <p:sp>
        <p:nvSpPr>
          <p:cNvPr id="12" name="Chevron 11"/>
          <p:cNvSpPr/>
          <p:nvPr/>
        </p:nvSpPr>
        <p:spPr>
          <a:xfrm>
            <a:off x="87782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5</a:t>
            </a:r>
          </a:p>
        </p:txBody>
      </p:sp>
      <p:sp>
        <p:nvSpPr>
          <p:cNvPr id="13" name="Chevron 12"/>
          <p:cNvSpPr/>
          <p:nvPr/>
        </p:nvSpPr>
        <p:spPr>
          <a:xfrm>
            <a:off x="10149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2 · EXPLORATION · DATA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Semantic Scholar en bref</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18</a:t>
            </a:r>
          </a:p>
        </p:txBody>
      </p:sp>
      <p:sp>
        <p:nvSpPr>
          <p:cNvPr id="13" name="Rectangle 12"/>
          <p:cNvSpPr/>
          <p:nvPr/>
        </p:nvSpPr>
        <p:spPr>
          <a:xfrm>
            <a:off x="502920" y="1463040"/>
            <a:ext cx="5477255"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54480"/>
            <a:ext cx="5202936" cy="457200"/>
          </a:xfrm>
          <a:prstGeom prst="rect">
            <a:avLst/>
          </a:prstGeom>
          <a:noFill/>
        </p:spPr>
        <p:txBody>
          <a:bodyPr wrap="square" lIns="45720" tIns="27432" rIns="45720" bIns="27432" anchor="t">
            <a:spAutoFit/>
          </a:bodyPr>
          <a:lstStyle/>
          <a:p>
            <a:pPr algn="l">
              <a:lnSpc>
                <a:spcPct val="105000"/>
              </a:lnSpc>
            </a:pPr>
            <a:r>
              <a:rPr sz="1700" b="1" i="0">
                <a:solidFill>
                  <a:srgbClr val="0B3C49"/>
                </a:solidFill>
                <a:latin typeface="Calibri"/>
              </a:rPr>
              <a:t>Ce que c'est</a:t>
            </a:r>
          </a:p>
        </p:txBody>
      </p:sp>
      <p:sp>
        <p:nvSpPr>
          <p:cNvPr id="16" name="TextBox 15"/>
          <p:cNvSpPr txBox="1"/>
          <p:nvPr/>
        </p:nvSpPr>
        <p:spPr>
          <a:xfrm>
            <a:off x="685800" y="2080260"/>
            <a:ext cx="5202936" cy="1682495"/>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Un moteur académique gratuit (Allen Institute for AI) qui indexe plus de 200 millions de publications de toutes disciplines.</a:t>
            </a:r>
          </a:p>
        </p:txBody>
      </p:sp>
      <p:sp>
        <p:nvSpPr>
          <p:cNvPr id="17" name="Rectangle 16"/>
          <p:cNvSpPr/>
          <p:nvPr/>
        </p:nvSpPr>
        <p:spPr>
          <a:xfrm>
            <a:off x="6181343" y="1463040"/>
            <a:ext cx="5477255"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81343"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64223" y="1554480"/>
            <a:ext cx="5202936" cy="457200"/>
          </a:xfrm>
          <a:prstGeom prst="rect">
            <a:avLst/>
          </a:prstGeom>
          <a:noFill/>
        </p:spPr>
        <p:txBody>
          <a:bodyPr wrap="square" lIns="45720" tIns="27432" rIns="45720" bIns="27432" anchor="t">
            <a:spAutoFit/>
          </a:bodyPr>
          <a:lstStyle/>
          <a:p>
            <a:pPr algn="l">
              <a:lnSpc>
                <a:spcPct val="105000"/>
              </a:lnSpc>
            </a:pPr>
            <a:r>
              <a:rPr sz="1700" b="1" i="0">
                <a:solidFill>
                  <a:srgbClr val="0B3C49"/>
                </a:solidFill>
                <a:latin typeface="Calibri"/>
              </a:rPr>
              <a:t>Ses atouts IA</a:t>
            </a:r>
          </a:p>
        </p:txBody>
      </p:sp>
      <p:sp>
        <p:nvSpPr>
          <p:cNvPr id="20" name="TextBox 19"/>
          <p:cNvSpPr txBox="1"/>
          <p:nvPr/>
        </p:nvSpPr>
        <p:spPr>
          <a:xfrm>
            <a:off x="6364223" y="2080260"/>
            <a:ext cx="5202936" cy="1682495"/>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TLDR (résumé d'une phrase), citations « Highly Influential », recommandations (Research Feeds), lecteur Semantic Reader.</a:t>
            </a:r>
          </a:p>
        </p:txBody>
      </p:sp>
      <p:sp>
        <p:nvSpPr>
          <p:cNvPr id="21" name="Rectangle 20"/>
          <p:cNvSpPr/>
          <p:nvPr/>
        </p:nvSpPr>
        <p:spPr>
          <a:xfrm>
            <a:off x="502920" y="3895344"/>
            <a:ext cx="5477255"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3986783"/>
            <a:ext cx="5202936" cy="457200"/>
          </a:xfrm>
          <a:prstGeom prst="rect">
            <a:avLst/>
          </a:prstGeom>
          <a:noFill/>
        </p:spPr>
        <p:txBody>
          <a:bodyPr wrap="square" lIns="45720" tIns="27432" rIns="45720" bIns="27432" anchor="t">
            <a:spAutoFit/>
          </a:bodyPr>
          <a:lstStyle/>
          <a:p>
            <a:pPr algn="l">
              <a:lnSpc>
                <a:spcPct val="105000"/>
              </a:lnSpc>
            </a:pPr>
            <a:r>
              <a:rPr sz="1700" b="1" i="0">
                <a:solidFill>
                  <a:srgbClr val="0B3C49"/>
                </a:solidFill>
                <a:latin typeface="Calibri"/>
              </a:rPr>
              <a:t>Ses limites</a:t>
            </a:r>
          </a:p>
        </p:txBody>
      </p:sp>
      <p:sp>
        <p:nvSpPr>
          <p:cNvPr id="24" name="TextBox 23"/>
          <p:cNvSpPr txBox="1"/>
          <p:nvPr/>
        </p:nvSpPr>
        <p:spPr>
          <a:xfrm>
            <a:off x="685800" y="4512564"/>
            <a:ext cx="5202936" cy="1682495"/>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Revues africaines et francophones moins bien couvertes ; TLDR parfois absent ou simplificateur ; booléens mal gérés.</a:t>
            </a:r>
          </a:p>
        </p:txBody>
      </p:sp>
      <p:sp>
        <p:nvSpPr>
          <p:cNvPr id="25" name="Rectangle 24"/>
          <p:cNvSpPr/>
          <p:nvPr/>
        </p:nvSpPr>
        <p:spPr>
          <a:xfrm>
            <a:off x="6181343" y="3895344"/>
            <a:ext cx="5477255"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81343"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64223" y="3986783"/>
            <a:ext cx="5202936" cy="457200"/>
          </a:xfrm>
          <a:prstGeom prst="rect">
            <a:avLst/>
          </a:prstGeom>
          <a:noFill/>
        </p:spPr>
        <p:txBody>
          <a:bodyPr wrap="square" lIns="45720" tIns="27432" rIns="45720" bIns="27432" anchor="t">
            <a:spAutoFit/>
          </a:bodyPr>
          <a:lstStyle/>
          <a:p>
            <a:pPr algn="l">
              <a:lnSpc>
                <a:spcPct val="105000"/>
              </a:lnSpc>
            </a:pPr>
            <a:r>
              <a:rPr sz="1700" b="1" i="0">
                <a:solidFill>
                  <a:srgbClr val="0B3C49"/>
                </a:solidFill>
                <a:latin typeface="Calibri"/>
              </a:rPr>
              <a:t>Usage du jour</a:t>
            </a:r>
          </a:p>
        </p:txBody>
      </p:sp>
      <p:sp>
        <p:nvSpPr>
          <p:cNvPr id="28" name="TextBox 27"/>
          <p:cNvSpPr txBox="1"/>
          <p:nvPr/>
        </p:nvSpPr>
        <p:spPr>
          <a:xfrm>
            <a:off x="6364223" y="4512564"/>
            <a:ext cx="5202936" cy="1682495"/>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Lancer des requêtes FR / EN, filtrer, lire les fiches, sauvegarder dans la Library, exporter vers Zotero, créer une alerte.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2 · EXPLORATION · DATA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Semantic Scholar · démonstration pas à pas</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19</a:t>
            </a:r>
          </a:p>
        </p:txBody>
      </p:sp>
      <p:sp>
        <p:nvSpPr>
          <p:cNvPr id="13" name="Oval 12"/>
          <p:cNvSpPr/>
          <p:nvPr/>
        </p:nvSpPr>
        <p:spPr>
          <a:xfrm>
            <a:off x="502920" y="151790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4" name="TextBox 13"/>
          <p:cNvSpPr txBox="1"/>
          <p:nvPr/>
        </p:nvSpPr>
        <p:spPr>
          <a:xfrm>
            <a:off x="1097280" y="1463040"/>
            <a:ext cx="6355079" cy="603504"/>
          </a:xfrm>
          <a:prstGeom prst="rect">
            <a:avLst/>
          </a:prstGeom>
          <a:noFill/>
        </p:spPr>
        <p:txBody>
          <a:bodyPr wrap="square" lIns="45720" tIns="27432" rIns="45720" bIns="27432" anchor="ctr">
            <a:spAutoFit/>
          </a:bodyPr>
          <a:lstStyle/>
          <a:p>
            <a:pPr algn="l">
              <a:lnSpc>
                <a:spcPct val="105000"/>
              </a:lnSpc>
            </a:pPr>
            <a:r>
              <a:rPr sz="1600" b="1" i="0">
                <a:solidFill>
                  <a:srgbClr val="222B30"/>
                </a:solidFill>
                <a:latin typeface="Calibri"/>
              </a:rPr>
              <a:t>Sign In</a:t>
            </a:r>
            <a:r>
              <a:rPr sz="1600" b="0" i="0">
                <a:solidFill>
                  <a:srgbClr val="222B30"/>
                </a:solidFill>
                <a:latin typeface="Calibri"/>
              </a:rPr>
              <a:t> sur semanticscholar.org (compte gratuit)</a:t>
            </a:r>
          </a:p>
        </p:txBody>
      </p:sp>
      <p:sp>
        <p:nvSpPr>
          <p:cNvPr id="15" name="Oval 14"/>
          <p:cNvSpPr/>
          <p:nvPr/>
        </p:nvSpPr>
        <p:spPr>
          <a:xfrm>
            <a:off x="502920" y="2194560"/>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6" name="TextBox 15"/>
          <p:cNvSpPr txBox="1"/>
          <p:nvPr/>
        </p:nvSpPr>
        <p:spPr>
          <a:xfrm>
            <a:off x="1097280" y="2139696"/>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Taper 3 à 6 mots-clés en anglais, puis refaire en français</a:t>
            </a:r>
          </a:p>
        </p:txBody>
      </p:sp>
      <p:sp>
        <p:nvSpPr>
          <p:cNvPr id="17" name="Oval 16"/>
          <p:cNvSpPr/>
          <p:nvPr/>
        </p:nvSpPr>
        <p:spPr>
          <a:xfrm>
            <a:off x="502920" y="287121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18" name="TextBox 17"/>
          <p:cNvSpPr txBox="1"/>
          <p:nvPr/>
        </p:nvSpPr>
        <p:spPr>
          <a:xfrm>
            <a:off x="1097280" y="2816352"/>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Filtrer : </a:t>
            </a:r>
            <a:r>
              <a:rPr sz="1600" b="1" i="0">
                <a:solidFill>
                  <a:srgbClr val="222B30"/>
                </a:solidFill>
                <a:latin typeface="Calibri"/>
              </a:rPr>
              <a:t>Fields of Study</a:t>
            </a:r>
            <a:r>
              <a:rPr sz="1600" b="0" i="0">
                <a:solidFill>
                  <a:srgbClr val="222B30"/>
                </a:solidFill>
                <a:latin typeface="Calibri"/>
              </a:rPr>
              <a:t>, </a:t>
            </a:r>
            <a:r>
              <a:rPr sz="1600" b="1" i="0">
                <a:solidFill>
                  <a:srgbClr val="222B30"/>
                </a:solidFill>
                <a:latin typeface="Calibri"/>
              </a:rPr>
              <a:t>Date Range</a:t>
            </a:r>
            <a:r>
              <a:rPr sz="1600" b="0" i="0">
                <a:solidFill>
                  <a:srgbClr val="222B30"/>
                </a:solidFill>
                <a:latin typeface="Calibri"/>
              </a:rPr>
              <a:t>, </a:t>
            </a:r>
            <a:r>
              <a:rPr sz="1600" b="1" i="0">
                <a:solidFill>
                  <a:srgbClr val="222B30"/>
                </a:solidFill>
                <a:latin typeface="Calibri"/>
              </a:rPr>
              <a:t>Has PDF</a:t>
            </a:r>
            <a:r>
              <a:rPr sz="1600" b="0" i="0">
                <a:solidFill>
                  <a:srgbClr val="222B30"/>
                </a:solidFill>
                <a:latin typeface="Calibri"/>
              </a:rPr>
              <a:t>, </a:t>
            </a:r>
            <a:r>
              <a:rPr sz="1600" b="1" i="0">
                <a:solidFill>
                  <a:srgbClr val="222B30"/>
                </a:solidFill>
                <a:latin typeface="Calibri"/>
              </a:rPr>
              <a:t>Publication Type</a:t>
            </a:r>
          </a:p>
        </p:txBody>
      </p:sp>
      <p:sp>
        <p:nvSpPr>
          <p:cNvPr id="19" name="Oval 18"/>
          <p:cNvSpPr/>
          <p:nvPr/>
        </p:nvSpPr>
        <p:spPr>
          <a:xfrm>
            <a:off x="502920" y="354787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0" name="TextBox 19"/>
          <p:cNvSpPr txBox="1"/>
          <p:nvPr/>
        </p:nvSpPr>
        <p:spPr>
          <a:xfrm>
            <a:off x="1097280" y="3493008"/>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Trier : </a:t>
            </a:r>
            <a:r>
              <a:rPr sz="1600" b="1" i="0">
                <a:solidFill>
                  <a:srgbClr val="222B30"/>
                </a:solidFill>
                <a:latin typeface="Calibri"/>
              </a:rPr>
              <a:t>Relevance</a:t>
            </a:r>
            <a:r>
              <a:rPr sz="1600" b="0" i="0">
                <a:solidFill>
                  <a:srgbClr val="222B30"/>
                </a:solidFill>
                <a:latin typeface="Calibri"/>
              </a:rPr>
              <a:t>, </a:t>
            </a:r>
            <a:r>
              <a:rPr sz="1600" b="1" i="0">
                <a:solidFill>
                  <a:srgbClr val="222B30"/>
                </a:solidFill>
                <a:latin typeface="Calibri"/>
              </a:rPr>
              <a:t>Citation Count</a:t>
            </a:r>
            <a:r>
              <a:rPr sz="1600" b="0" i="0">
                <a:solidFill>
                  <a:srgbClr val="222B30"/>
                </a:solidFill>
                <a:latin typeface="Calibri"/>
              </a:rPr>
              <a:t> ou </a:t>
            </a:r>
            <a:r>
              <a:rPr sz="1600" b="1" i="0">
                <a:solidFill>
                  <a:srgbClr val="222B30"/>
                </a:solidFill>
                <a:latin typeface="Calibri"/>
              </a:rPr>
              <a:t>Most Recent</a:t>
            </a:r>
          </a:p>
        </p:txBody>
      </p:sp>
      <p:sp>
        <p:nvSpPr>
          <p:cNvPr id="21" name="Oval 20"/>
          <p:cNvSpPr/>
          <p:nvPr/>
        </p:nvSpPr>
        <p:spPr>
          <a:xfrm>
            <a:off x="502920" y="422452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2" name="TextBox 21"/>
          <p:cNvSpPr txBox="1"/>
          <p:nvPr/>
        </p:nvSpPr>
        <p:spPr>
          <a:xfrm>
            <a:off x="1097280" y="4169664"/>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Ouvrir une fiche, lire le </a:t>
            </a:r>
            <a:r>
              <a:rPr sz="1600" b="1" i="0">
                <a:solidFill>
                  <a:srgbClr val="222B30"/>
                </a:solidFill>
                <a:latin typeface="Calibri"/>
              </a:rPr>
              <a:t>TLDR</a:t>
            </a:r>
            <a:r>
              <a:rPr sz="1600" b="0" i="0">
                <a:solidFill>
                  <a:srgbClr val="222B30"/>
                </a:solidFill>
                <a:latin typeface="Calibri"/>
              </a:rPr>
              <a:t> puis le résumé original</a:t>
            </a:r>
          </a:p>
        </p:txBody>
      </p:sp>
      <p:sp>
        <p:nvSpPr>
          <p:cNvPr id="23" name="Oval 22"/>
          <p:cNvSpPr/>
          <p:nvPr/>
        </p:nvSpPr>
        <p:spPr>
          <a:xfrm>
            <a:off x="502920" y="490118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6</a:t>
            </a:r>
          </a:p>
        </p:txBody>
      </p:sp>
      <p:sp>
        <p:nvSpPr>
          <p:cNvPr id="24" name="TextBox 23"/>
          <p:cNvSpPr txBox="1"/>
          <p:nvPr/>
        </p:nvSpPr>
        <p:spPr>
          <a:xfrm>
            <a:off x="1097280" y="4846320"/>
            <a:ext cx="6355079" cy="603504"/>
          </a:xfrm>
          <a:prstGeom prst="rect">
            <a:avLst/>
          </a:prstGeom>
          <a:noFill/>
        </p:spPr>
        <p:txBody>
          <a:bodyPr wrap="square" lIns="45720" tIns="27432" rIns="45720" bIns="27432" anchor="ctr">
            <a:spAutoFit/>
          </a:bodyPr>
          <a:lstStyle/>
          <a:p>
            <a:pPr algn="l">
              <a:lnSpc>
                <a:spcPct val="105000"/>
              </a:lnSpc>
            </a:pPr>
            <a:r>
              <a:rPr sz="1600" b="1" i="0">
                <a:solidFill>
                  <a:srgbClr val="222B30"/>
                </a:solidFill>
                <a:latin typeface="Calibri"/>
              </a:rPr>
              <a:t>Save</a:t>
            </a:r>
            <a:r>
              <a:rPr sz="1600" b="0" i="0">
                <a:solidFill>
                  <a:srgbClr val="222B30"/>
                </a:solidFill>
                <a:latin typeface="Calibri"/>
              </a:rPr>
              <a:t> dans un dossier de la Library ; </a:t>
            </a:r>
            <a:r>
              <a:rPr sz="1600" b="1" i="0">
                <a:solidFill>
                  <a:srgbClr val="222B30"/>
                </a:solidFill>
                <a:latin typeface="Calibri"/>
              </a:rPr>
              <a:t>Cite</a:t>
            </a:r>
            <a:r>
              <a:rPr sz="1600" b="0" i="0">
                <a:solidFill>
                  <a:srgbClr val="222B30"/>
                </a:solidFill>
                <a:latin typeface="Calibri"/>
              </a:rPr>
              <a:t> → BibTeX ou Zotero</a:t>
            </a:r>
          </a:p>
        </p:txBody>
      </p:sp>
      <p:sp>
        <p:nvSpPr>
          <p:cNvPr id="25" name="Oval 24"/>
          <p:cNvSpPr/>
          <p:nvPr/>
        </p:nvSpPr>
        <p:spPr>
          <a:xfrm>
            <a:off x="502920" y="557783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7</a:t>
            </a:r>
          </a:p>
        </p:txBody>
      </p:sp>
      <p:sp>
        <p:nvSpPr>
          <p:cNvPr id="26" name="TextBox 25"/>
          <p:cNvSpPr txBox="1"/>
          <p:nvPr/>
        </p:nvSpPr>
        <p:spPr>
          <a:xfrm>
            <a:off x="1097280" y="5522975"/>
            <a:ext cx="6355079" cy="603504"/>
          </a:xfrm>
          <a:prstGeom prst="rect">
            <a:avLst/>
          </a:prstGeom>
          <a:noFill/>
        </p:spPr>
        <p:txBody>
          <a:bodyPr wrap="square" lIns="45720" tIns="27432" rIns="45720" bIns="27432" anchor="ctr">
            <a:spAutoFit/>
          </a:bodyPr>
          <a:lstStyle/>
          <a:p>
            <a:pPr algn="l">
              <a:lnSpc>
                <a:spcPct val="105000"/>
              </a:lnSpc>
            </a:pPr>
            <a:r>
              <a:rPr sz="1600" b="1" i="0">
                <a:solidFill>
                  <a:srgbClr val="222B30"/>
                </a:solidFill>
                <a:latin typeface="Calibri"/>
              </a:rPr>
              <a:t>Create Alert</a:t>
            </a:r>
            <a:r>
              <a:rPr sz="1600" b="0" i="0">
                <a:solidFill>
                  <a:srgbClr val="222B30"/>
                </a:solidFill>
                <a:latin typeface="Calibri"/>
              </a:rPr>
              <a:t> pour suivre un article ou un auteur</a:t>
            </a:r>
          </a:p>
        </p:txBody>
      </p:sp>
      <p:sp>
        <p:nvSpPr>
          <p:cNvPr id="27" name="Rectangle 26"/>
          <p:cNvSpPr/>
          <p:nvPr/>
        </p:nvSpPr>
        <p:spPr>
          <a:xfrm>
            <a:off x="7863840" y="1463040"/>
            <a:ext cx="3794760" cy="4663440"/>
          </a:xfrm>
          <a:prstGeom prst="rect">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0" y="1554480"/>
            <a:ext cx="3474720"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Requête du cas commun</a:t>
            </a:r>
          </a:p>
        </p:txBody>
      </p:sp>
      <p:sp>
        <p:nvSpPr>
          <p:cNvPr id="29" name="TextBox 28"/>
          <p:cNvSpPr txBox="1"/>
          <p:nvPr/>
        </p:nvSpPr>
        <p:spPr>
          <a:xfrm>
            <a:off x="8046720" y="2011680"/>
            <a:ext cx="3474720" cy="4023360"/>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women academics career Africa</a:t>
            </a:r>
          </a:p>
          <a:p>
            <a:pPr algn="l">
              <a:lnSpc>
                <a:spcPct val="105000"/>
              </a:lnSpc>
            </a:pPr>
            <a:endParaRPr sz="1400" b="0" i="0">
              <a:solidFill>
                <a:srgbClr val="222B30"/>
              </a:solidFill>
              <a:latin typeface="Calibri"/>
            </a:endParaRPr>
          </a:p>
          <a:p>
            <a:pPr algn="l">
              <a:lnSpc>
                <a:spcPct val="105000"/>
              </a:lnSpc>
            </a:pPr>
            <a:r>
              <a:rPr sz="1400" b="0" i="0">
                <a:solidFill>
                  <a:srgbClr val="222B30"/>
                </a:solidFill>
                <a:latin typeface="Calibri"/>
              </a:rPr>
              <a:t>femmes enseignantes-chercheures carrière Afrique</a:t>
            </a:r>
          </a:p>
          <a:p>
            <a:pPr algn="l">
              <a:lnSpc>
                <a:spcPct val="105000"/>
              </a:lnSpc>
            </a:pPr>
            <a:endParaRPr sz="1400" b="0" i="0">
              <a:solidFill>
                <a:srgbClr val="222B30"/>
              </a:solidFill>
              <a:latin typeface="Calibri"/>
            </a:endParaRPr>
          </a:p>
          <a:p>
            <a:pPr algn="l">
              <a:lnSpc>
                <a:spcPct val="105000"/>
              </a:lnSpc>
            </a:pPr>
            <a:r>
              <a:rPr sz="1400" b="0" i="0">
                <a:solidFill>
                  <a:srgbClr val="222B30"/>
                </a:solidFill>
                <a:latin typeface="Calibri"/>
              </a:rPr>
              <a:t>Filtres : 2010 – 2026, Has PDF</a:t>
            </a:r>
          </a:p>
          <a:p>
            <a:pPr algn="l">
              <a:lnSpc>
                <a:spcPct val="105000"/>
              </a:lnSpc>
            </a:pPr>
            <a:endParaRPr sz="1400" b="0" i="0">
              <a:solidFill>
                <a:srgbClr val="222B30"/>
              </a:solidFill>
              <a:latin typeface="Calibri"/>
            </a:endParaRPr>
          </a:p>
          <a:p>
            <a:pPr algn="l">
              <a:lnSpc>
                <a:spcPct val="105000"/>
              </a:lnSpc>
            </a:pPr>
            <a:r>
              <a:rPr sz="1400" b="0" i="0">
                <a:solidFill>
                  <a:srgbClr val="222B30"/>
                </a:solidFill>
                <a:latin typeface="Calibri"/>
              </a:rPr>
              <a:t>→ noter le nombre de résultats de chaque requête dans le journal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2 · EXPLORATION · DATA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Lire une fiche article dans Semantic Scholar</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20</a:t>
            </a:r>
          </a:p>
        </p:txBody>
      </p:sp>
      <p:sp>
        <p:nvSpPr>
          <p:cNvPr id="13" name="Rectangle 12"/>
          <p:cNvSpPr/>
          <p:nvPr/>
        </p:nvSpPr>
        <p:spPr>
          <a:xfrm>
            <a:off x="502920"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TLDR</a:t>
            </a:r>
          </a:p>
        </p:txBody>
      </p:sp>
      <p:sp>
        <p:nvSpPr>
          <p:cNvPr id="16" name="TextBox 15"/>
          <p:cNvSpPr txBox="1"/>
          <p:nvPr/>
        </p:nvSpPr>
        <p:spPr>
          <a:xfrm>
            <a:off x="685800"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Résumé d'une phrase généré par IA. À comparer au résumé des auteurs avant toute utilisation.</a:t>
            </a:r>
          </a:p>
        </p:txBody>
      </p:sp>
      <p:sp>
        <p:nvSpPr>
          <p:cNvPr id="17" name="Rectangle 16"/>
          <p:cNvSpPr/>
          <p:nvPr/>
        </p:nvSpPr>
        <p:spPr>
          <a:xfrm>
            <a:off x="4288536"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88536"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1416"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Citations · Highly Influential</a:t>
            </a:r>
          </a:p>
        </p:txBody>
      </p:sp>
      <p:sp>
        <p:nvSpPr>
          <p:cNvPr id="20" name="TextBox 19"/>
          <p:cNvSpPr txBox="1"/>
          <p:nvPr/>
        </p:nvSpPr>
        <p:spPr>
          <a:xfrm>
            <a:off x="4471416"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Repère les travaux qui s'appuient fortement sur l'article : utile pour suivre une idée dans le temps.</a:t>
            </a:r>
          </a:p>
        </p:txBody>
      </p:sp>
      <p:sp>
        <p:nvSpPr>
          <p:cNvPr id="21" name="Rectangle 20"/>
          <p:cNvSpPr/>
          <p:nvPr/>
        </p:nvSpPr>
        <p:spPr>
          <a:xfrm>
            <a:off x="8074152"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References</a:t>
            </a:r>
          </a:p>
        </p:txBody>
      </p:sp>
      <p:sp>
        <p:nvSpPr>
          <p:cNvPr id="24" name="TextBox 23"/>
          <p:cNvSpPr txBox="1"/>
          <p:nvPr/>
        </p:nvSpPr>
        <p:spPr>
          <a:xfrm>
            <a:off x="8257031"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Les sources de l'article : remonter aux travaux fondateurs.</a:t>
            </a:r>
          </a:p>
        </p:txBody>
      </p:sp>
      <p:sp>
        <p:nvSpPr>
          <p:cNvPr id="25" name="Rectangle 24"/>
          <p:cNvSpPr/>
          <p:nvPr/>
        </p:nvSpPr>
        <p:spPr>
          <a:xfrm>
            <a:off x="502920"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Related papers / Research Feeds</a:t>
            </a:r>
          </a:p>
        </p:txBody>
      </p:sp>
      <p:sp>
        <p:nvSpPr>
          <p:cNvPr id="28" name="TextBox 27"/>
          <p:cNvSpPr txBox="1"/>
          <p:nvPr/>
        </p:nvSpPr>
        <p:spPr>
          <a:xfrm>
            <a:off x="685800"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Recommandations à partir de vos lectures : découvrir sans chercher.</a:t>
            </a:r>
          </a:p>
        </p:txBody>
      </p:sp>
      <p:sp>
        <p:nvSpPr>
          <p:cNvPr id="29" name="Rectangle 28"/>
          <p:cNvSpPr/>
          <p:nvPr/>
        </p:nvSpPr>
        <p:spPr>
          <a:xfrm>
            <a:off x="4288536"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88536"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71416"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Save · Cite · Export</a:t>
            </a:r>
          </a:p>
        </p:txBody>
      </p:sp>
      <p:sp>
        <p:nvSpPr>
          <p:cNvPr id="32" name="TextBox 31"/>
          <p:cNvSpPr txBox="1"/>
          <p:nvPr/>
        </p:nvSpPr>
        <p:spPr>
          <a:xfrm>
            <a:off x="4471416"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Bibliothèque personnelle par dossiers, formats de citation, BibTeX, connecteur Zotero.</a:t>
            </a:r>
          </a:p>
        </p:txBody>
      </p:sp>
      <p:sp>
        <p:nvSpPr>
          <p:cNvPr id="33" name="Rectangle 32"/>
          <p:cNvSpPr/>
          <p:nvPr/>
        </p:nvSpPr>
        <p:spPr>
          <a:xfrm>
            <a:off x="8074152"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74152"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57031"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Claim Author Page</a:t>
            </a:r>
          </a:p>
        </p:txBody>
      </p:sp>
      <p:sp>
        <p:nvSpPr>
          <p:cNvPr id="36" name="TextBox 35"/>
          <p:cNvSpPr txBox="1"/>
          <p:nvPr/>
        </p:nvSpPr>
        <p:spPr>
          <a:xfrm>
            <a:off x="8257031"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Revendiquer et corriger sa page auteur : un geste simple pour la visibilité des chercheures.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2 · EXPLORATION · DATA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Connected Papers · le principe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21</a:t>
            </a:r>
          </a:p>
        </p:txBody>
      </p:sp>
      <p:cxnSp>
        <p:nvCxnSpPr>
          <p:cNvPr id="13" name="Connector 12"/>
          <p:cNvCxnSpPr/>
          <p:nvPr/>
        </p:nvCxnSpPr>
        <p:spPr>
          <a:xfrm flipH="1" flipV="1">
            <a:off x="1371600" y="2697480"/>
            <a:ext cx="1737360" cy="1097280"/>
          </a:xfrm>
          <a:prstGeom prst="line">
            <a:avLst/>
          </a:prstGeom>
          <a:ln w="19050">
            <a:solidFill>
              <a:srgbClr val="C5D3D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97279" y="3794760"/>
            <a:ext cx="2011681" cy="731520"/>
          </a:xfrm>
          <a:prstGeom prst="line">
            <a:avLst/>
          </a:prstGeom>
          <a:ln w="19050">
            <a:solidFill>
              <a:srgbClr val="C5D3D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108960" y="2514600"/>
            <a:ext cx="1554480" cy="1280160"/>
          </a:xfrm>
          <a:prstGeom prst="line">
            <a:avLst/>
          </a:prstGeom>
          <a:ln w="19050">
            <a:solidFill>
              <a:srgbClr val="C5D3D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108960" y="3794760"/>
            <a:ext cx="2011680" cy="822960"/>
          </a:xfrm>
          <a:prstGeom prst="line">
            <a:avLst/>
          </a:prstGeom>
          <a:ln w="19050">
            <a:solidFill>
              <a:srgbClr val="C5D3D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743200" y="3794760"/>
            <a:ext cx="365760" cy="1554480"/>
          </a:xfrm>
          <a:prstGeom prst="line">
            <a:avLst/>
          </a:prstGeom>
          <a:ln w="19050">
            <a:solidFill>
              <a:srgbClr val="C5D3D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108960" y="1783080"/>
            <a:ext cx="822960" cy="2011680"/>
          </a:xfrm>
          <a:prstGeom prst="line">
            <a:avLst/>
          </a:prstGeom>
          <a:ln w="19050">
            <a:solidFill>
              <a:srgbClr val="C5D3D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194560" y="1691640"/>
            <a:ext cx="914400" cy="2103120"/>
          </a:xfrm>
          <a:prstGeom prst="line">
            <a:avLst/>
          </a:prstGeom>
          <a:ln w="19050">
            <a:solidFill>
              <a:srgbClr val="C5D3D8"/>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697479" y="3383280"/>
            <a:ext cx="822960" cy="822960"/>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20140" y="2446020"/>
            <a:ext cx="502920" cy="502920"/>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91539" y="4320540"/>
            <a:ext cx="411480" cy="411480"/>
          </a:xfrm>
          <a:prstGeom prst="ellipse">
            <a:avLst/>
          </a:prstGeom>
          <a:solidFill>
            <a:srgbClr val="6B7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343400" y="2194560"/>
            <a:ext cx="640080" cy="640080"/>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937759" y="4434840"/>
            <a:ext cx="365760" cy="36576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468880" y="5074920"/>
            <a:ext cx="548640" cy="548640"/>
          </a:xfrm>
          <a:prstGeom prst="ellipse">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771900" y="1623060"/>
            <a:ext cx="320040" cy="320040"/>
          </a:xfrm>
          <a:prstGeom prst="ellipse">
            <a:avLst/>
          </a:prstGeom>
          <a:solidFill>
            <a:srgbClr val="6B7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011679" y="1508760"/>
            <a:ext cx="365760" cy="36576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194560" y="4251960"/>
            <a:ext cx="1828800" cy="365760"/>
          </a:xfrm>
          <a:prstGeom prst="rect">
            <a:avLst/>
          </a:prstGeom>
          <a:noFill/>
        </p:spPr>
        <p:txBody>
          <a:bodyPr wrap="square" lIns="45720" tIns="27432" rIns="45720" bIns="27432" anchor="t">
            <a:spAutoFit/>
          </a:bodyPr>
          <a:lstStyle/>
          <a:p>
            <a:pPr algn="ctr">
              <a:lnSpc>
                <a:spcPct val="105000"/>
              </a:lnSpc>
            </a:pPr>
            <a:r>
              <a:rPr sz="1200" b="1" i="0">
                <a:solidFill>
                  <a:srgbClr val="0B3C49"/>
                </a:solidFill>
                <a:latin typeface="Calibri"/>
              </a:rPr>
              <a:t>article d'origine</a:t>
            </a:r>
          </a:p>
        </p:txBody>
      </p:sp>
      <p:sp>
        <p:nvSpPr>
          <p:cNvPr id="29" name="Rectangle 28"/>
          <p:cNvSpPr/>
          <p:nvPr/>
        </p:nvSpPr>
        <p:spPr>
          <a:xfrm>
            <a:off x="6400800" y="1463040"/>
            <a:ext cx="5257800" cy="1014983"/>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00800" y="1463040"/>
            <a:ext cx="82296" cy="1014983"/>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0" y="1554480"/>
            <a:ext cx="4983480"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Taille du cercle</a:t>
            </a:r>
          </a:p>
        </p:txBody>
      </p:sp>
      <p:sp>
        <p:nvSpPr>
          <p:cNvPr id="32" name="TextBox 31"/>
          <p:cNvSpPr txBox="1"/>
          <p:nvPr/>
        </p:nvSpPr>
        <p:spPr>
          <a:xfrm>
            <a:off x="6583680" y="2034540"/>
            <a:ext cx="4983480" cy="466343"/>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Nombre de citations</a:t>
            </a:r>
          </a:p>
        </p:txBody>
      </p:sp>
      <p:sp>
        <p:nvSpPr>
          <p:cNvPr id="33" name="Rectangle 32"/>
          <p:cNvSpPr/>
          <p:nvPr/>
        </p:nvSpPr>
        <p:spPr>
          <a:xfrm>
            <a:off x="6400800" y="2679191"/>
            <a:ext cx="5257800" cy="1014983"/>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00800" y="2679191"/>
            <a:ext cx="82296" cy="1014983"/>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0" y="2770632"/>
            <a:ext cx="4983480"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Couleur</a:t>
            </a:r>
          </a:p>
        </p:txBody>
      </p:sp>
      <p:sp>
        <p:nvSpPr>
          <p:cNvPr id="36" name="TextBox 35"/>
          <p:cNvSpPr txBox="1"/>
          <p:nvPr/>
        </p:nvSpPr>
        <p:spPr>
          <a:xfrm>
            <a:off x="6583680" y="3250691"/>
            <a:ext cx="4983480" cy="466343"/>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Année de publication (foncé = récent)</a:t>
            </a:r>
          </a:p>
        </p:txBody>
      </p:sp>
      <p:sp>
        <p:nvSpPr>
          <p:cNvPr id="37" name="Rectangle 36"/>
          <p:cNvSpPr/>
          <p:nvPr/>
        </p:nvSpPr>
        <p:spPr>
          <a:xfrm>
            <a:off x="6400800" y="3895344"/>
            <a:ext cx="5257800" cy="1014983"/>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00800" y="3895344"/>
            <a:ext cx="82296" cy="1014983"/>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80" y="3986783"/>
            <a:ext cx="4983480"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Distance</a:t>
            </a:r>
          </a:p>
        </p:txBody>
      </p:sp>
      <p:sp>
        <p:nvSpPr>
          <p:cNvPr id="40" name="TextBox 39"/>
          <p:cNvSpPr txBox="1"/>
          <p:nvPr/>
        </p:nvSpPr>
        <p:spPr>
          <a:xfrm>
            <a:off x="6583680" y="4466844"/>
            <a:ext cx="4983480" cy="466343"/>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Degré de similarité (co-citation et couplage bibliographique)</a:t>
            </a:r>
          </a:p>
        </p:txBody>
      </p:sp>
      <p:sp>
        <p:nvSpPr>
          <p:cNvPr id="41" name="Rectangle 40"/>
          <p:cNvSpPr/>
          <p:nvPr/>
        </p:nvSpPr>
        <p:spPr>
          <a:xfrm>
            <a:off x="6400800" y="5111496"/>
            <a:ext cx="5257800" cy="1014983"/>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400800" y="5111496"/>
            <a:ext cx="82296" cy="1014983"/>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83680" y="5202936"/>
            <a:ext cx="4983480"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Attention</a:t>
            </a:r>
          </a:p>
        </p:txBody>
      </p:sp>
      <p:sp>
        <p:nvSpPr>
          <p:cNvPr id="44" name="TextBox 43"/>
          <p:cNvSpPr txBox="1"/>
          <p:nvPr/>
        </p:nvSpPr>
        <p:spPr>
          <a:xfrm>
            <a:off x="6583680" y="5682996"/>
            <a:ext cx="4983480" cy="466343"/>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Proches ne veut pas dire « qui se citent » ; absents ne veut pas dire « inexistants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2 · EXPLORATION · DATA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Connected Papers · démonstration pas à pas</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22</a:t>
            </a:r>
          </a:p>
        </p:txBody>
      </p:sp>
      <p:sp>
        <p:nvSpPr>
          <p:cNvPr id="13" name="Oval 12"/>
          <p:cNvSpPr/>
          <p:nvPr/>
        </p:nvSpPr>
        <p:spPr>
          <a:xfrm>
            <a:off x="502920" y="151790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4" name="TextBox 13"/>
          <p:cNvSpPr txBox="1"/>
          <p:nvPr/>
        </p:nvSpPr>
        <p:spPr>
          <a:xfrm>
            <a:off x="1097280" y="1463040"/>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Coller le titre, le DOI ou le lien Semantic Scholar d'un article clé</a:t>
            </a:r>
          </a:p>
        </p:txBody>
      </p:sp>
      <p:sp>
        <p:nvSpPr>
          <p:cNvPr id="15" name="Oval 14"/>
          <p:cNvSpPr/>
          <p:nvPr/>
        </p:nvSpPr>
        <p:spPr>
          <a:xfrm>
            <a:off x="502920" y="2194560"/>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6" name="TextBox 15"/>
          <p:cNvSpPr txBox="1"/>
          <p:nvPr/>
        </p:nvSpPr>
        <p:spPr>
          <a:xfrm>
            <a:off x="1097280" y="2139696"/>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Choisir l'article et cliquer sur </a:t>
            </a:r>
            <a:r>
              <a:rPr sz="1600" b="1" i="0">
                <a:solidFill>
                  <a:srgbClr val="222B30"/>
                </a:solidFill>
                <a:latin typeface="Calibri"/>
              </a:rPr>
              <a:t>Build a graph</a:t>
            </a:r>
          </a:p>
        </p:txBody>
      </p:sp>
      <p:sp>
        <p:nvSpPr>
          <p:cNvPr id="17" name="Oval 16"/>
          <p:cNvSpPr/>
          <p:nvPr/>
        </p:nvSpPr>
        <p:spPr>
          <a:xfrm>
            <a:off x="502920" y="287121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18" name="TextBox 17"/>
          <p:cNvSpPr txBox="1"/>
          <p:nvPr/>
        </p:nvSpPr>
        <p:spPr>
          <a:xfrm>
            <a:off x="1097280" y="2816352"/>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Repérer les </a:t>
            </a:r>
            <a:r>
              <a:rPr sz="1600" b="1" i="0">
                <a:solidFill>
                  <a:srgbClr val="222B30"/>
                </a:solidFill>
                <a:latin typeface="Calibri"/>
              </a:rPr>
              <a:t>grappes</a:t>
            </a:r>
            <a:r>
              <a:rPr sz="1600" b="0" i="0">
                <a:solidFill>
                  <a:srgbClr val="222B30"/>
                </a:solidFill>
                <a:latin typeface="Calibri"/>
              </a:rPr>
              <a:t> (sous-thèmes) et les gros cercles</a:t>
            </a:r>
          </a:p>
        </p:txBody>
      </p:sp>
      <p:sp>
        <p:nvSpPr>
          <p:cNvPr id="19" name="Oval 18"/>
          <p:cNvSpPr/>
          <p:nvPr/>
        </p:nvSpPr>
        <p:spPr>
          <a:xfrm>
            <a:off x="502920" y="354787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0" name="TextBox 19"/>
          <p:cNvSpPr txBox="1"/>
          <p:nvPr/>
        </p:nvSpPr>
        <p:spPr>
          <a:xfrm>
            <a:off x="1097280" y="3493008"/>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Cliquer sur un cercle : résumé et lien à droite</a:t>
            </a:r>
          </a:p>
        </p:txBody>
      </p:sp>
      <p:sp>
        <p:nvSpPr>
          <p:cNvPr id="21" name="Oval 20"/>
          <p:cNvSpPr/>
          <p:nvPr/>
        </p:nvSpPr>
        <p:spPr>
          <a:xfrm>
            <a:off x="502920" y="422452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2" name="TextBox 21"/>
          <p:cNvSpPr txBox="1"/>
          <p:nvPr/>
        </p:nvSpPr>
        <p:spPr>
          <a:xfrm>
            <a:off x="1097280" y="4169664"/>
            <a:ext cx="6355079" cy="603504"/>
          </a:xfrm>
          <a:prstGeom prst="rect">
            <a:avLst/>
          </a:prstGeom>
          <a:noFill/>
        </p:spPr>
        <p:txBody>
          <a:bodyPr wrap="square" lIns="45720" tIns="27432" rIns="45720" bIns="27432" anchor="ctr">
            <a:spAutoFit/>
          </a:bodyPr>
          <a:lstStyle/>
          <a:p>
            <a:pPr algn="l">
              <a:lnSpc>
                <a:spcPct val="105000"/>
              </a:lnSpc>
            </a:pPr>
            <a:r>
              <a:rPr sz="1600" b="1" i="0">
                <a:solidFill>
                  <a:srgbClr val="222B30"/>
                </a:solidFill>
                <a:latin typeface="Calibri"/>
              </a:rPr>
              <a:t>Prior works</a:t>
            </a:r>
            <a:r>
              <a:rPr sz="1600" b="0" i="0">
                <a:solidFill>
                  <a:srgbClr val="222B30"/>
                </a:solidFill>
                <a:latin typeface="Calibri"/>
              </a:rPr>
              <a:t> : les travaux fondateurs</a:t>
            </a:r>
          </a:p>
        </p:txBody>
      </p:sp>
      <p:sp>
        <p:nvSpPr>
          <p:cNvPr id="23" name="Oval 22"/>
          <p:cNvSpPr/>
          <p:nvPr/>
        </p:nvSpPr>
        <p:spPr>
          <a:xfrm>
            <a:off x="502920" y="490118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6</a:t>
            </a:r>
          </a:p>
        </p:txBody>
      </p:sp>
      <p:sp>
        <p:nvSpPr>
          <p:cNvPr id="24" name="TextBox 23"/>
          <p:cNvSpPr txBox="1"/>
          <p:nvPr/>
        </p:nvSpPr>
        <p:spPr>
          <a:xfrm>
            <a:off x="1097280" y="4846320"/>
            <a:ext cx="6355079" cy="603504"/>
          </a:xfrm>
          <a:prstGeom prst="rect">
            <a:avLst/>
          </a:prstGeom>
          <a:noFill/>
        </p:spPr>
        <p:txBody>
          <a:bodyPr wrap="square" lIns="45720" tIns="27432" rIns="45720" bIns="27432" anchor="ctr">
            <a:spAutoFit/>
          </a:bodyPr>
          <a:lstStyle/>
          <a:p>
            <a:pPr algn="l">
              <a:lnSpc>
                <a:spcPct val="105000"/>
              </a:lnSpc>
            </a:pPr>
            <a:r>
              <a:rPr sz="1600" b="1" i="0">
                <a:solidFill>
                  <a:srgbClr val="222B30"/>
                </a:solidFill>
                <a:latin typeface="Calibri"/>
              </a:rPr>
              <a:t>Derivative works</a:t>
            </a:r>
            <a:r>
              <a:rPr sz="1600" b="0" i="0">
                <a:solidFill>
                  <a:srgbClr val="222B30"/>
                </a:solidFill>
                <a:latin typeface="Calibri"/>
              </a:rPr>
              <a:t> : les travaux récents, souvent des revues</a:t>
            </a:r>
          </a:p>
        </p:txBody>
      </p:sp>
      <p:sp>
        <p:nvSpPr>
          <p:cNvPr id="25" name="Oval 24"/>
          <p:cNvSpPr/>
          <p:nvPr/>
        </p:nvSpPr>
        <p:spPr>
          <a:xfrm>
            <a:off x="502920" y="557783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7</a:t>
            </a:r>
          </a:p>
        </p:txBody>
      </p:sp>
      <p:sp>
        <p:nvSpPr>
          <p:cNvPr id="26" name="TextBox 25"/>
          <p:cNvSpPr txBox="1"/>
          <p:nvPr/>
        </p:nvSpPr>
        <p:spPr>
          <a:xfrm>
            <a:off x="1097280" y="5522975"/>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Sauvegarder, capturer, annoter pour le journal</a:t>
            </a:r>
          </a:p>
        </p:txBody>
      </p:sp>
      <p:sp>
        <p:nvSpPr>
          <p:cNvPr id="27" name="Rectangle 26"/>
          <p:cNvSpPr/>
          <p:nvPr/>
        </p:nvSpPr>
        <p:spPr>
          <a:xfrm>
            <a:off x="7863840" y="1463040"/>
            <a:ext cx="3794760" cy="1420367"/>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863840" y="1463040"/>
            <a:ext cx="82296" cy="1420367"/>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19" y="1554480"/>
            <a:ext cx="3520440"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Prior works</a:t>
            </a:r>
          </a:p>
        </p:txBody>
      </p:sp>
      <p:sp>
        <p:nvSpPr>
          <p:cNvPr id="30" name="TextBox 29"/>
          <p:cNvSpPr txBox="1"/>
          <p:nvPr/>
        </p:nvSpPr>
        <p:spPr>
          <a:xfrm>
            <a:off x="8046719" y="2034540"/>
            <a:ext cx="3520440" cy="871727"/>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Cités par beaucoup d'articles du graphe : les classiques à lire en premier.</a:t>
            </a:r>
          </a:p>
        </p:txBody>
      </p:sp>
      <p:sp>
        <p:nvSpPr>
          <p:cNvPr id="31" name="Rectangle 30"/>
          <p:cNvSpPr/>
          <p:nvPr/>
        </p:nvSpPr>
        <p:spPr>
          <a:xfrm>
            <a:off x="7863840" y="3084575"/>
            <a:ext cx="3794760" cy="1420367"/>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863840" y="3084575"/>
            <a:ext cx="82296" cy="1420367"/>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19" y="3176016"/>
            <a:ext cx="3520440"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Derivative works</a:t>
            </a:r>
          </a:p>
        </p:txBody>
      </p:sp>
      <p:sp>
        <p:nvSpPr>
          <p:cNvPr id="34" name="TextBox 33"/>
          <p:cNvSpPr txBox="1"/>
          <p:nvPr/>
        </p:nvSpPr>
        <p:spPr>
          <a:xfrm>
            <a:off x="8046719" y="3656075"/>
            <a:ext cx="3520440" cy="871727"/>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Citent beaucoup d'articles du graphe : l'état de l'art récent.</a:t>
            </a:r>
          </a:p>
        </p:txBody>
      </p:sp>
      <p:sp>
        <p:nvSpPr>
          <p:cNvPr id="35" name="Rectangle 34"/>
          <p:cNvSpPr/>
          <p:nvPr/>
        </p:nvSpPr>
        <p:spPr>
          <a:xfrm>
            <a:off x="7863840" y="4706112"/>
            <a:ext cx="3794760" cy="1420367"/>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863840" y="4706112"/>
            <a:ext cx="82296" cy="1420367"/>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46719" y="4797551"/>
            <a:ext cx="3520440"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Quota gratuit</a:t>
            </a:r>
          </a:p>
        </p:txBody>
      </p:sp>
      <p:sp>
        <p:nvSpPr>
          <p:cNvPr id="38" name="TextBox 37"/>
          <p:cNvSpPr txBox="1"/>
          <p:nvPr/>
        </p:nvSpPr>
        <p:spPr>
          <a:xfrm>
            <a:off x="8046719" y="5277612"/>
            <a:ext cx="3520440" cy="871727"/>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Nombre de graphes limité par mois : choisir ses articles d'origine avec soin.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2 · EXPLORATION · DATA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Ce que les outils ne voient pas</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23</a:t>
            </a:r>
          </a:p>
        </p:txBody>
      </p:sp>
      <p:sp>
        <p:nvSpPr>
          <p:cNvPr id="13" name="Rectangle 12"/>
          <p:cNvSpPr/>
          <p:nvPr/>
        </p:nvSpPr>
        <p:spPr>
          <a:xfrm>
            <a:off x="502920" y="1463040"/>
            <a:ext cx="5486400" cy="4663440"/>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54480"/>
            <a:ext cx="5120640" cy="457200"/>
          </a:xfrm>
          <a:prstGeom prst="rect">
            <a:avLst/>
          </a:prstGeom>
          <a:noFill/>
        </p:spPr>
        <p:txBody>
          <a:bodyPr wrap="square" lIns="45720" tIns="27432" rIns="45720" bIns="27432" anchor="t">
            <a:spAutoFit/>
          </a:bodyPr>
          <a:lstStyle/>
          <a:p>
            <a:pPr algn="l">
              <a:lnSpc>
                <a:spcPct val="105000"/>
              </a:lnSpc>
            </a:pPr>
            <a:r>
              <a:rPr sz="1800" b="1" i="0">
                <a:solidFill>
                  <a:srgbClr val="1F7A8C"/>
                </a:solidFill>
                <a:latin typeface="Calibri"/>
              </a:rPr>
              <a:t>Compléter systématiquement avec</a:t>
            </a:r>
          </a:p>
        </p:txBody>
      </p:sp>
      <p:sp>
        <p:nvSpPr>
          <p:cNvPr id="15" name="TextBox 14"/>
          <p:cNvSpPr txBox="1"/>
          <p:nvPr/>
        </p:nvSpPr>
        <p:spPr>
          <a:xfrm>
            <a:off x="731520" y="2057400"/>
            <a:ext cx="5120640" cy="4023360"/>
          </a:xfrm>
          <a:prstGeom prst="rect">
            <a:avLst/>
          </a:prstGeom>
          <a:noFill/>
        </p:spPr>
        <p:txBody>
          <a:bodyPr wrap="square">
            <a:spAutoFit/>
          </a:bodyPr>
          <a:lstStyle/>
          <a:p>
            <a:pPr>
              <a:lnSpc>
                <a:spcPct val="105000"/>
              </a:lnSpc>
              <a:spcAft>
                <a:spcPts val="600"/>
              </a:spcAft>
            </a:pPr>
            <a:r>
              <a:rPr sz="1100">
                <a:solidFill>
                  <a:srgbClr val="E0A526"/>
                </a:solidFill>
                <a:latin typeface="Calibri"/>
              </a:rPr>
              <a:t>■  </a:t>
            </a:r>
            <a:r>
              <a:rPr sz="1500" b="1" i="0">
                <a:solidFill>
                  <a:srgbClr val="222B30"/>
                </a:solidFill>
                <a:latin typeface="Calibri"/>
              </a:rPr>
              <a:t>AJOL</a:t>
            </a:r>
            <a:r>
              <a:rPr sz="1500" b="0" i="0">
                <a:solidFill>
                  <a:srgbClr val="222B30"/>
                </a:solidFill>
                <a:latin typeface="Calibri"/>
              </a:rPr>
              <a:t> – African Journals Online</a:t>
            </a:r>
          </a:p>
          <a:p>
            <a:pPr>
              <a:lnSpc>
                <a:spcPct val="105000"/>
              </a:lnSpc>
              <a:spcAft>
                <a:spcPts val="600"/>
              </a:spcAft>
            </a:pPr>
            <a:r>
              <a:rPr sz="1100">
                <a:solidFill>
                  <a:srgbClr val="E0A526"/>
                </a:solidFill>
                <a:latin typeface="Calibri"/>
              </a:rPr>
              <a:t>■  </a:t>
            </a:r>
            <a:r>
              <a:rPr sz="1500" b="1" i="0">
                <a:solidFill>
                  <a:srgbClr val="222B30"/>
                </a:solidFill>
                <a:latin typeface="Calibri"/>
              </a:rPr>
              <a:t>HAL</a:t>
            </a:r>
            <a:r>
              <a:rPr sz="1500" b="0" i="0">
                <a:solidFill>
                  <a:srgbClr val="222B30"/>
                </a:solidFill>
                <a:latin typeface="Calibri"/>
              </a:rPr>
              <a:t>, Persée, Cairn, Érudit (francophone)</a:t>
            </a:r>
          </a:p>
          <a:p>
            <a:pPr>
              <a:lnSpc>
                <a:spcPct val="105000"/>
              </a:lnSpc>
              <a:spcAft>
                <a:spcPts val="600"/>
              </a:spcAft>
            </a:pPr>
            <a:r>
              <a:rPr sz="1100">
                <a:solidFill>
                  <a:srgbClr val="E0A526"/>
                </a:solidFill>
                <a:latin typeface="Calibri"/>
              </a:rPr>
              <a:t>■  </a:t>
            </a:r>
            <a:r>
              <a:rPr sz="1500" b="1" i="0">
                <a:solidFill>
                  <a:srgbClr val="222B30"/>
                </a:solidFill>
                <a:latin typeface="Calibri"/>
              </a:rPr>
              <a:t>Google Scholar</a:t>
            </a:r>
            <a:r>
              <a:rPr sz="1500" b="0" i="0">
                <a:solidFill>
                  <a:srgbClr val="222B30"/>
                </a:solidFill>
                <a:latin typeface="Calibri"/>
              </a:rPr>
              <a:t> (en français)</a:t>
            </a:r>
          </a:p>
          <a:p>
            <a:pPr>
              <a:lnSpc>
                <a:spcPct val="105000"/>
              </a:lnSpc>
              <a:spcAft>
                <a:spcPts val="600"/>
              </a:spcAft>
            </a:pPr>
            <a:r>
              <a:rPr sz="1100">
                <a:solidFill>
                  <a:srgbClr val="E0A526"/>
                </a:solidFill>
                <a:latin typeface="Calibri"/>
              </a:rPr>
              <a:t>■  </a:t>
            </a:r>
            <a:r>
              <a:rPr sz="1500" b="1" i="0">
                <a:solidFill>
                  <a:srgbClr val="222B30"/>
                </a:solidFill>
                <a:latin typeface="Calibri"/>
              </a:rPr>
              <a:t>PubMed</a:t>
            </a:r>
            <a:r>
              <a:rPr sz="1500" b="0" i="0">
                <a:solidFill>
                  <a:srgbClr val="222B30"/>
                </a:solidFill>
                <a:latin typeface="Calibri"/>
              </a:rPr>
              <a:t>, AGRIS, RePEc, Juricaf selon la discipline</a:t>
            </a:r>
          </a:p>
          <a:p>
            <a:pPr>
              <a:lnSpc>
                <a:spcPct val="105000"/>
              </a:lnSpc>
              <a:spcAft>
                <a:spcPts val="600"/>
              </a:spcAft>
            </a:pPr>
            <a:r>
              <a:rPr sz="1100">
                <a:solidFill>
                  <a:srgbClr val="E0A526"/>
                </a:solidFill>
                <a:latin typeface="Calibri"/>
              </a:rPr>
              <a:t>■  </a:t>
            </a:r>
            <a:r>
              <a:rPr sz="1500" b="0" i="0">
                <a:solidFill>
                  <a:srgbClr val="222B30"/>
                </a:solidFill>
                <a:latin typeface="Calibri"/>
              </a:rPr>
              <a:t>Thèses, mémoires et revues CAMES des universités de Lomé et de Kara</a:t>
            </a:r>
          </a:p>
        </p:txBody>
      </p:sp>
      <p:sp>
        <p:nvSpPr>
          <p:cNvPr id="16" name="Rounded Rectangle 15"/>
          <p:cNvSpPr/>
          <p:nvPr/>
        </p:nvSpPr>
        <p:spPr>
          <a:xfrm>
            <a:off x="6263640" y="1463040"/>
            <a:ext cx="5394960" cy="4663440"/>
          </a:xfrm>
          <a:prstGeom prst="roundRect">
            <a:avLst>
              <a:gd name="adj" fmla="val 5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1600200"/>
            <a:ext cx="4937760" cy="548640"/>
          </a:xfrm>
          <a:prstGeom prst="rect">
            <a:avLst/>
          </a:prstGeom>
          <a:noFill/>
        </p:spPr>
        <p:txBody>
          <a:bodyPr wrap="square" lIns="45720" tIns="27432" rIns="45720" bIns="27432" anchor="t">
            <a:spAutoFit/>
          </a:bodyPr>
          <a:lstStyle/>
          <a:p>
            <a:pPr algn="l">
              <a:lnSpc>
                <a:spcPct val="105000"/>
              </a:lnSpc>
            </a:pPr>
            <a:r>
              <a:rPr sz="2600" b="1" i="0">
                <a:solidFill>
                  <a:srgbClr val="E0A526"/>
                </a:solidFill>
                <a:latin typeface="Georgia"/>
              </a:rPr>
              <a:t>Suis-je visible ?</a:t>
            </a:r>
          </a:p>
        </p:txBody>
      </p:sp>
      <p:sp>
        <p:nvSpPr>
          <p:cNvPr id="18" name="TextBox 17"/>
          <p:cNvSpPr txBox="1"/>
          <p:nvPr/>
        </p:nvSpPr>
        <p:spPr>
          <a:xfrm>
            <a:off x="6492240" y="2240280"/>
            <a:ext cx="4937760" cy="3840480"/>
          </a:xfrm>
          <a:prstGeom prst="rect">
            <a:avLst/>
          </a:prstGeom>
          <a:noFill/>
        </p:spPr>
        <p:txBody>
          <a:bodyPr wrap="square" lIns="45720" tIns="27432" rIns="45720" bIns="27432" anchor="t">
            <a:spAutoFit/>
          </a:bodyPr>
          <a:lstStyle/>
          <a:p>
            <a:pPr algn="l">
              <a:lnSpc>
                <a:spcPct val="105000"/>
              </a:lnSpc>
            </a:pPr>
            <a:r>
              <a:rPr sz="1600" b="0" i="0">
                <a:solidFill>
                  <a:srgbClr val="FFFFFF"/>
                </a:solidFill>
                <a:latin typeface="Calibri"/>
              </a:rPr>
              <a:t>1. Cherchez votre nom dans Semantic Scholar.</a:t>
            </a:r>
          </a:p>
          <a:p>
            <a:pPr algn="l">
              <a:lnSpc>
                <a:spcPct val="105000"/>
              </a:lnSpc>
            </a:pPr>
            <a:r>
              <a:rPr sz="1600" b="0" i="0">
                <a:solidFill>
                  <a:srgbClr val="FFFFFF"/>
                </a:solidFill>
                <a:latin typeface="Calibri"/>
              </a:rPr>
              <a:t>2. Cherchez une revue où vous publiez.</a:t>
            </a:r>
          </a:p>
          <a:p>
            <a:pPr algn="l">
              <a:lnSpc>
                <a:spcPct val="105000"/>
              </a:lnSpc>
            </a:pPr>
            <a:r>
              <a:rPr sz="1600" b="0" i="0">
                <a:solidFill>
                  <a:srgbClr val="FFFFFF"/>
                </a:solidFill>
                <a:latin typeface="Calibri"/>
              </a:rPr>
              <a:t>3. Notez ce qui est indexé, ce qui manque.</a:t>
            </a:r>
          </a:p>
          <a:p>
            <a:pPr algn="l">
              <a:lnSpc>
                <a:spcPct val="105000"/>
              </a:lnSpc>
            </a:pPr>
            <a:endParaRPr sz="1600" b="0" i="0">
              <a:solidFill>
                <a:srgbClr val="FFFFFF"/>
              </a:solidFill>
              <a:latin typeface="Calibri"/>
            </a:endParaRPr>
          </a:p>
          <a:p>
            <a:pPr algn="l">
              <a:lnSpc>
                <a:spcPct val="105000"/>
              </a:lnSpc>
            </a:pPr>
            <a:r>
              <a:rPr sz="1600" b="0" i="0">
                <a:solidFill>
                  <a:srgbClr val="FFFFFF"/>
                </a:solidFill>
                <a:latin typeface="Calibri"/>
              </a:rPr>
              <a:t>Absente ? Créez un </a:t>
            </a:r>
            <a:r>
              <a:rPr sz="1600" b="1" i="0">
                <a:solidFill>
                  <a:srgbClr val="FFFFFF"/>
                </a:solidFill>
                <a:latin typeface="Calibri"/>
              </a:rPr>
              <a:t>ORCID</a:t>
            </a:r>
            <a:r>
              <a:rPr sz="1600" b="0" i="0">
                <a:solidFill>
                  <a:srgbClr val="FFFFFF"/>
                </a:solidFill>
                <a:latin typeface="Calibri"/>
              </a:rPr>
              <a:t>, déposez sur </a:t>
            </a:r>
            <a:r>
              <a:rPr sz="1600" b="1" i="0">
                <a:solidFill>
                  <a:srgbClr val="FFFFFF"/>
                </a:solidFill>
                <a:latin typeface="Calibri"/>
              </a:rPr>
              <a:t>HAL</a:t>
            </a:r>
            <a:r>
              <a:rPr sz="1600" b="0" i="0">
                <a:solidFill>
                  <a:srgbClr val="FFFFFF"/>
                </a:solidFill>
                <a:latin typeface="Calibri"/>
              </a:rPr>
              <a:t>, revendiquez votre page auteur. La visibilité des chercheures africaines est aussi un enjeu de genre.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2 · EXPLORATION · DATA UNDERSTANDING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Le journal de recherche : la mémoire de votre revue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24</a:t>
            </a:r>
          </a:p>
        </p:txBody>
      </p:sp>
      <p:graphicFrame>
        <p:nvGraphicFramePr>
          <p:cNvPr id="13" name="Table 12"/>
          <p:cNvGraphicFramePr>
            <a:graphicFrameLocks noGrp="1"/>
          </p:cNvGraphicFramePr>
          <p:nvPr/>
        </p:nvGraphicFramePr>
        <p:xfrm>
          <a:off x="502920" y="1508760"/>
          <a:ext cx="11201400" cy="36576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731520">
                <a:tc>
                  <a:txBody>
                    <a:bodyPr/>
                    <a:lstStyle/>
                    <a:p>
                      <a:r>
                        <a:rPr sz="1250" b="1" i="0">
                          <a:solidFill>
                            <a:srgbClr val="FFFFFF"/>
                          </a:solidFill>
                          <a:latin typeface="Calibri"/>
                        </a:rPr>
                        <a:t>Date</a:t>
                      </a:r>
                    </a:p>
                  </a:txBody>
                  <a:tcPr marL="64008" marR="64008" marT="27432" marB="27432">
                    <a:solidFill>
                      <a:srgbClr val="0B3C49"/>
                    </a:solidFill>
                  </a:tcPr>
                </a:tc>
                <a:tc>
                  <a:txBody>
                    <a:bodyPr/>
                    <a:lstStyle/>
                    <a:p>
                      <a:r>
                        <a:rPr sz="1250" b="1" i="0">
                          <a:solidFill>
                            <a:srgbClr val="FFFFFF"/>
                          </a:solidFill>
                          <a:latin typeface="Calibri"/>
                        </a:rPr>
                        <a:t>Outil</a:t>
                      </a:r>
                    </a:p>
                  </a:txBody>
                  <a:tcPr marL="64008" marR="64008" marT="27432" marB="27432">
                    <a:solidFill>
                      <a:srgbClr val="0B3C49"/>
                    </a:solidFill>
                  </a:tcPr>
                </a:tc>
                <a:tc>
                  <a:txBody>
                    <a:bodyPr/>
                    <a:lstStyle/>
                    <a:p>
                      <a:r>
                        <a:rPr sz="1250" b="1" i="0">
                          <a:solidFill>
                            <a:srgbClr val="FFFFFF"/>
                          </a:solidFill>
                          <a:latin typeface="Calibri"/>
                        </a:rPr>
                        <a:t>Requête ou prompt exact</a:t>
                      </a:r>
                    </a:p>
                  </a:txBody>
                  <a:tcPr marL="64008" marR="64008" marT="27432" marB="27432">
                    <a:solidFill>
                      <a:srgbClr val="0B3C49"/>
                    </a:solidFill>
                  </a:tcPr>
                </a:tc>
                <a:tc>
                  <a:txBody>
                    <a:bodyPr/>
                    <a:lstStyle/>
                    <a:p>
                      <a:r>
                        <a:rPr sz="1250" b="1" i="0">
                          <a:solidFill>
                            <a:srgbClr val="FFFFFF"/>
                          </a:solidFill>
                          <a:latin typeface="Calibri"/>
                        </a:rPr>
                        <a:t>Filtres</a:t>
                      </a:r>
                    </a:p>
                  </a:txBody>
                  <a:tcPr marL="64008" marR="64008" marT="27432" marB="27432">
                    <a:solidFill>
                      <a:srgbClr val="0B3C49"/>
                    </a:solidFill>
                  </a:tcPr>
                </a:tc>
                <a:tc>
                  <a:txBody>
                    <a:bodyPr/>
                    <a:lstStyle/>
                    <a:p>
                      <a:r>
                        <a:rPr sz="1250" b="1" i="0">
                          <a:solidFill>
                            <a:srgbClr val="FFFFFF"/>
                          </a:solidFill>
                          <a:latin typeface="Calibri"/>
                        </a:rPr>
                        <a:t>Résultats</a:t>
                      </a:r>
                    </a:p>
                  </a:txBody>
                  <a:tcPr marL="64008" marR="64008" marT="27432" marB="27432">
                    <a:solidFill>
                      <a:srgbClr val="0B3C49"/>
                    </a:solidFill>
                  </a:tcPr>
                </a:tc>
                <a:tc>
                  <a:txBody>
                    <a:bodyPr/>
                    <a:lstStyle/>
                    <a:p>
                      <a:r>
                        <a:rPr sz="1250" b="1" i="0">
                          <a:solidFill>
                            <a:srgbClr val="FFFFFF"/>
                          </a:solidFill>
                          <a:latin typeface="Calibri"/>
                        </a:rPr>
                        <a:t>Retenus</a:t>
                      </a:r>
                    </a:p>
                  </a:txBody>
                  <a:tcPr marL="64008" marR="64008" marT="27432" marB="27432">
                    <a:solidFill>
                      <a:srgbClr val="0B3C49"/>
                    </a:solidFill>
                  </a:tcPr>
                </a:tc>
                <a:tc>
                  <a:txBody>
                    <a:bodyPr/>
                    <a:lstStyle/>
                    <a:p>
                      <a:r>
                        <a:rPr sz="1250" b="1" i="0">
                          <a:solidFill>
                            <a:srgbClr val="FFFFFF"/>
                          </a:solidFill>
                          <a:latin typeface="Calibri"/>
                        </a:rPr>
                        <a:t>Remarques</a:t>
                      </a:r>
                    </a:p>
                  </a:txBody>
                  <a:tcPr marL="64008" marR="64008" marT="27432" marB="27432">
                    <a:solidFill>
                      <a:srgbClr val="0B3C49"/>
                    </a:solidFill>
                  </a:tcPr>
                </a:tc>
                <a:extLst>
                  <a:ext uri="{0D108BD9-81ED-4DB2-BD59-A6C34878D82A}">
                    <a16:rowId xmlns:a16="http://schemas.microsoft.com/office/drawing/2014/main" val="10000"/>
                  </a:ext>
                </a:extLst>
              </a:tr>
              <a:tr h="731520">
                <a:tc>
                  <a:txBody>
                    <a:bodyPr/>
                    <a:lstStyle/>
                    <a:p>
                      <a:r>
                        <a:rPr sz="1250" b="0" i="0">
                          <a:solidFill>
                            <a:srgbClr val="222B30"/>
                          </a:solidFill>
                          <a:latin typeface="Calibri"/>
                        </a:rPr>
                        <a:t>[date]</a:t>
                      </a:r>
                    </a:p>
                  </a:txBody>
                  <a:tcPr marL="64008" marR="64008" marT="27432" marB="27432">
                    <a:solidFill>
                      <a:srgbClr val="FFFFFF"/>
                    </a:solidFill>
                  </a:tcPr>
                </a:tc>
                <a:tc>
                  <a:txBody>
                    <a:bodyPr/>
                    <a:lstStyle/>
                    <a:p>
                      <a:r>
                        <a:rPr sz="1250" b="0" i="0">
                          <a:solidFill>
                            <a:srgbClr val="222B30"/>
                          </a:solidFill>
                          <a:latin typeface="Calibri"/>
                        </a:rPr>
                        <a:t>Semantic Scholar</a:t>
                      </a:r>
                    </a:p>
                  </a:txBody>
                  <a:tcPr marL="64008" marR="64008" marT="27432" marB="27432">
                    <a:solidFill>
                      <a:srgbClr val="FFFFFF"/>
                    </a:solidFill>
                  </a:tcPr>
                </a:tc>
                <a:tc>
                  <a:txBody>
                    <a:bodyPr/>
                    <a:lstStyle/>
                    <a:p>
                      <a:r>
                        <a:rPr sz="1250" b="0" i="0">
                          <a:solidFill>
                            <a:srgbClr val="222B30"/>
                          </a:solidFill>
                          <a:latin typeface="Calibri"/>
                        </a:rPr>
                        <a:t>women academics career Africa</a:t>
                      </a:r>
                    </a:p>
                  </a:txBody>
                  <a:tcPr marL="64008" marR="64008" marT="27432" marB="27432">
                    <a:solidFill>
                      <a:srgbClr val="FFFFFF"/>
                    </a:solidFill>
                  </a:tcPr>
                </a:tc>
                <a:tc>
                  <a:txBody>
                    <a:bodyPr/>
                    <a:lstStyle/>
                    <a:p>
                      <a:r>
                        <a:rPr sz="1250" b="0" i="0">
                          <a:solidFill>
                            <a:srgbClr val="222B30"/>
                          </a:solidFill>
                          <a:latin typeface="Calibri"/>
                        </a:rPr>
                        <a:t>2010-2026, Has PDF</a:t>
                      </a:r>
                    </a:p>
                  </a:txBody>
                  <a:tcPr marL="64008" marR="64008" marT="27432" marB="27432">
                    <a:solidFill>
                      <a:srgbClr val="FFFFFF"/>
                    </a:solidFill>
                  </a:tcPr>
                </a:tc>
                <a:tc>
                  <a:txBody>
                    <a:bodyPr/>
                    <a:lstStyle/>
                    <a:p>
                      <a:r>
                        <a:rPr sz="1250" b="0" i="0">
                          <a:solidFill>
                            <a:srgbClr val="222B30"/>
                          </a:solidFill>
                          <a:latin typeface="Calibri"/>
                        </a:rPr>
                        <a:t>…</a:t>
                      </a:r>
                    </a:p>
                  </a:txBody>
                  <a:tcPr marL="64008" marR="64008" marT="27432" marB="27432">
                    <a:solidFill>
                      <a:srgbClr val="FFFFFF"/>
                    </a:solidFill>
                  </a:tcPr>
                </a:tc>
                <a:tc>
                  <a:txBody>
                    <a:bodyPr/>
                    <a:lstStyle/>
                    <a:p>
                      <a:r>
                        <a:rPr sz="1250" b="0" i="0">
                          <a:solidFill>
                            <a:srgbClr val="222B30"/>
                          </a:solidFill>
                          <a:latin typeface="Calibri"/>
                        </a:rPr>
                        <a:t>12</a:t>
                      </a:r>
                    </a:p>
                  </a:txBody>
                  <a:tcPr marL="64008" marR="64008" marT="27432" marB="27432">
                    <a:solidFill>
                      <a:srgbClr val="FFFFFF"/>
                    </a:solidFill>
                  </a:tcPr>
                </a:tc>
                <a:tc>
                  <a:txBody>
                    <a:bodyPr/>
                    <a:lstStyle/>
                    <a:p>
                      <a:r>
                        <a:rPr sz="1250" b="0" i="0">
                          <a:solidFill>
                            <a:srgbClr val="222B30"/>
                          </a:solidFill>
                          <a:latin typeface="Calibri"/>
                        </a:rPr>
                        <a:t>TLDR absent pour 4</a:t>
                      </a:r>
                    </a:p>
                  </a:txBody>
                  <a:tcPr marL="64008" marR="64008" marT="27432" marB="27432">
                    <a:solidFill>
                      <a:srgbClr val="FFFFFF"/>
                    </a:solidFill>
                  </a:tcPr>
                </a:tc>
                <a:extLst>
                  <a:ext uri="{0D108BD9-81ED-4DB2-BD59-A6C34878D82A}">
                    <a16:rowId xmlns:a16="http://schemas.microsoft.com/office/drawing/2014/main" val="10001"/>
                  </a:ext>
                </a:extLst>
              </a:tr>
              <a:tr h="731520">
                <a:tc>
                  <a:txBody>
                    <a:bodyPr/>
                    <a:lstStyle/>
                    <a:p>
                      <a:r>
                        <a:rPr sz="1250" b="0" i="0">
                          <a:solidFill>
                            <a:srgbClr val="222B30"/>
                          </a:solidFill>
                          <a:latin typeface="Calibri"/>
                        </a:rPr>
                        <a:t>[date]</a:t>
                      </a:r>
                    </a:p>
                  </a:txBody>
                  <a:tcPr marL="64008" marR="64008" marT="27432" marB="27432">
                    <a:solidFill>
                      <a:srgbClr val="E8F1F3"/>
                    </a:solidFill>
                  </a:tcPr>
                </a:tc>
                <a:tc>
                  <a:txBody>
                    <a:bodyPr/>
                    <a:lstStyle/>
                    <a:p>
                      <a:r>
                        <a:rPr sz="1250" b="0" i="0">
                          <a:solidFill>
                            <a:srgbClr val="222B30"/>
                          </a:solidFill>
                          <a:latin typeface="Calibri"/>
                        </a:rPr>
                        <a:t>Semantic Scholar</a:t>
                      </a:r>
                    </a:p>
                  </a:txBody>
                  <a:tcPr marL="64008" marR="64008" marT="27432" marB="27432">
                    <a:solidFill>
                      <a:srgbClr val="E8F1F3"/>
                    </a:solidFill>
                  </a:tcPr>
                </a:tc>
                <a:tc>
                  <a:txBody>
                    <a:bodyPr/>
                    <a:lstStyle/>
                    <a:p>
                      <a:r>
                        <a:rPr sz="1250" b="0" i="0">
                          <a:solidFill>
                            <a:srgbClr val="222B30"/>
                          </a:solidFill>
                          <a:latin typeface="Calibri"/>
                        </a:rPr>
                        <a:t>femmes enseignantes-chercheures carrière Afrique</a:t>
                      </a:r>
                    </a:p>
                  </a:txBody>
                  <a:tcPr marL="64008" marR="64008" marT="27432" marB="27432">
                    <a:solidFill>
                      <a:srgbClr val="E8F1F3"/>
                    </a:solidFill>
                  </a:tcPr>
                </a:tc>
                <a:tc>
                  <a:txBody>
                    <a:bodyPr/>
                    <a:lstStyle/>
                    <a:p>
                      <a:r>
                        <a:rPr sz="1250" b="0" i="0">
                          <a:solidFill>
                            <a:srgbClr val="222B30"/>
                          </a:solidFill>
                          <a:latin typeface="Calibri"/>
                        </a:rPr>
                        <a:t>2010-2026</a:t>
                      </a:r>
                    </a:p>
                  </a:txBody>
                  <a:tcPr marL="64008" marR="64008" marT="27432" marB="27432">
                    <a:solidFill>
                      <a:srgbClr val="E8F1F3"/>
                    </a:solidFill>
                  </a:tcPr>
                </a:tc>
                <a:tc>
                  <a:txBody>
                    <a:bodyPr/>
                    <a:lstStyle/>
                    <a:p>
                      <a:r>
                        <a:rPr sz="1250" b="0" i="0">
                          <a:solidFill>
                            <a:srgbClr val="222B30"/>
                          </a:solidFill>
                          <a:latin typeface="Calibri"/>
                        </a:rPr>
                        <a:t>…</a:t>
                      </a:r>
                    </a:p>
                  </a:txBody>
                  <a:tcPr marL="64008" marR="64008" marT="27432" marB="27432">
                    <a:solidFill>
                      <a:srgbClr val="E8F1F3"/>
                    </a:solidFill>
                  </a:tcPr>
                </a:tc>
                <a:tc>
                  <a:txBody>
                    <a:bodyPr/>
                    <a:lstStyle/>
                    <a:p>
                      <a:r>
                        <a:rPr sz="1250" b="0" i="0">
                          <a:solidFill>
                            <a:srgbClr val="222B30"/>
                          </a:solidFill>
                          <a:latin typeface="Calibri"/>
                        </a:rPr>
                        <a:t>3</a:t>
                      </a:r>
                    </a:p>
                  </a:txBody>
                  <a:tcPr marL="64008" marR="64008" marT="27432" marB="27432">
                    <a:solidFill>
                      <a:srgbClr val="E8F1F3"/>
                    </a:solidFill>
                  </a:tcPr>
                </a:tc>
                <a:tc>
                  <a:txBody>
                    <a:bodyPr/>
                    <a:lstStyle/>
                    <a:p>
                      <a:r>
                        <a:rPr sz="1250" b="0" i="0">
                          <a:solidFill>
                            <a:srgbClr val="222B30"/>
                          </a:solidFill>
                          <a:latin typeface="Calibri"/>
                        </a:rPr>
                        <a:t>Résultats très différents</a:t>
                      </a:r>
                    </a:p>
                  </a:txBody>
                  <a:tcPr marL="64008" marR="64008" marT="27432" marB="27432">
                    <a:solidFill>
                      <a:srgbClr val="E8F1F3"/>
                    </a:solidFill>
                  </a:tcPr>
                </a:tc>
                <a:extLst>
                  <a:ext uri="{0D108BD9-81ED-4DB2-BD59-A6C34878D82A}">
                    <a16:rowId xmlns:a16="http://schemas.microsoft.com/office/drawing/2014/main" val="10002"/>
                  </a:ext>
                </a:extLst>
              </a:tr>
              <a:tr h="731520">
                <a:tc>
                  <a:txBody>
                    <a:bodyPr/>
                    <a:lstStyle/>
                    <a:p>
                      <a:r>
                        <a:rPr sz="1250" b="0" i="0">
                          <a:solidFill>
                            <a:srgbClr val="222B30"/>
                          </a:solidFill>
                          <a:latin typeface="Calibri"/>
                        </a:rPr>
                        <a:t>[date]</a:t>
                      </a:r>
                    </a:p>
                  </a:txBody>
                  <a:tcPr marL="64008" marR="64008" marT="27432" marB="27432">
                    <a:solidFill>
                      <a:srgbClr val="FFFFFF"/>
                    </a:solidFill>
                  </a:tcPr>
                </a:tc>
                <a:tc>
                  <a:txBody>
                    <a:bodyPr/>
                    <a:lstStyle/>
                    <a:p>
                      <a:r>
                        <a:rPr sz="1250" b="0" i="0">
                          <a:solidFill>
                            <a:srgbClr val="222B30"/>
                          </a:solidFill>
                          <a:latin typeface="Calibri"/>
                        </a:rPr>
                        <a:t>Connected Papers</a:t>
                      </a:r>
                    </a:p>
                  </a:txBody>
                  <a:tcPr marL="64008" marR="64008" marT="27432" marB="27432">
                    <a:solidFill>
                      <a:srgbClr val="FFFFFF"/>
                    </a:solidFill>
                  </a:tcPr>
                </a:tc>
                <a:tc>
                  <a:txBody>
                    <a:bodyPr/>
                    <a:lstStyle/>
                    <a:p>
                      <a:r>
                        <a:rPr sz="1250" b="0" i="0">
                          <a:solidFill>
                            <a:srgbClr val="222B30"/>
                          </a:solidFill>
                          <a:latin typeface="Calibri"/>
                        </a:rPr>
                        <a:t>DOI 10.1371/journal.pone.0265413</a:t>
                      </a:r>
                    </a:p>
                  </a:txBody>
                  <a:tcPr marL="64008" marR="64008" marT="27432" marB="27432">
                    <a:solidFill>
                      <a:srgbClr val="FFFFFF"/>
                    </a:solidFill>
                  </a:tcPr>
                </a:tc>
                <a:tc>
                  <a:txBody>
                    <a:bodyPr/>
                    <a:lstStyle/>
                    <a:p>
                      <a:r>
                        <a:rPr sz="1250" b="0" i="0">
                          <a:solidFill>
                            <a:srgbClr val="222B30"/>
                          </a:solidFill>
                          <a:latin typeface="Calibri"/>
                        </a:rPr>
                        <a:t>—</a:t>
                      </a:r>
                    </a:p>
                  </a:txBody>
                  <a:tcPr marL="64008" marR="64008" marT="27432" marB="27432">
                    <a:solidFill>
                      <a:srgbClr val="FFFFFF"/>
                    </a:solidFill>
                  </a:tcPr>
                </a:tc>
                <a:tc>
                  <a:txBody>
                    <a:bodyPr/>
                    <a:lstStyle/>
                    <a:p>
                      <a:r>
                        <a:rPr sz="1250" b="0" i="0">
                          <a:solidFill>
                            <a:srgbClr val="222B30"/>
                          </a:solidFill>
                          <a:latin typeface="Calibri"/>
                        </a:rPr>
                        <a:t>≈ 40 nœuds</a:t>
                      </a:r>
                    </a:p>
                  </a:txBody>
                  <a:tcPr marL="64008" marR="64008" marT="27432" marB="27432">
                    <a:solidFill>
                      <a:srgbClr val="FFFFFF"/>
                    </a:solidFill>
                  </a:tcPr>
                </a:tc>
                <a:tc>
                  <a:txBody>
                    <a:bodyPr/>
                    <a:lstStyle/>
                    <a:p>
                      <a:r>
                        <a:rPr sz="1250" b="0" i="0">
                          <a:solidFill>
                            <a:srgbClr val="222B30"/>
                          </a:solidFill>
                          <a:latin typeface="Calibri"/>
                        </a:rPr>
                        <a:t>6</a:t>
                      </a:r>
                    </a:p>
                  </a:txBody>
                  <a:tcPr marL="64008" marR="64008" marT="27432" marB="27432">
                    <a:solidFill>
                      <a:srgbClr val="FFFFFF"/>
                    </a:solidFill>
                  </a:tcPr>
                </a:tc>
                <a:tc>
                  <a:txBody>
                    <a:bodyPr/>
                    <a:lstStyle/>
                    <a:p>
                      <a:r>
                        <a:rPr sz="1250" b="0" i="0">
                          <a:solidFill>
                            <a:srgbClr val="222B30"/>
                          </a:solidFill>
                          <a:latin typeface="Calibri"/>
                        </a:rPr>
                        <a:t>2 grappes : care / mentorat</a:t>
                      </a:r>
                    </a:p>
                  </a:txBody>
                  <a:tcPr marL="64008" marR="64008" marT="27432" marB="27432">
                    <a:solidFill>
                      <a:srgbClr val="FFFFFF"/>
                    </a:solidFill>
                  </a:tcPr>
                </a:tc>
                <a:extLst>
                  <a:ext uri="{0D108BD9-81ED-4DB2-BD59-A6C34878D82A}">
                    <a16:rowId xmlns:a16="http://schemas.microsoft.com/office/drawing/2014/main" val="10003"/>
                  </a:ext>
                </a:extLst>
              </a:tr>
              <a:tr h="731520">
                <a:tc>
                  <a:txBody>
                    <a:bodyPr/>
                    <a:lstStyle/>
                    <a:p>
                      <a:r>
                        <a:rPr sz="1250" b="0" i="0">
                          <a:solidFill>
                            <a:srgbClr val="222B30"/>
                          </a:solidFill>
                          <a:latin typeface="Calibri"/>
                        </a:rPr>
                        <a:t>[date]</a:t>
                      </a:r>
                    </a:p>
                  </a:txBody>
                  <a:tcPr marL="64008" marR="64008" marT="27432" marB="27432">
                    <a:solidFill>
                      <a:srgbClr val="E8F1F3"/>
                    </a:solidFill>
                  </a:tcPr>
                </a:tc>
                <a:tc>
                  <a:txBody>
                    <a:bodyPr/>
                    <a:lstStyle/>
                    <a:p>
                      <a:r>
                        <a:rPr sz="1250" b="0" i="0">
                          <a:solidFill>
                            <a:srgbClr val="222B30"/>
                          </a:solidFill>
                          <a:latin typeface="Calibri"/>
                        </a:rPr>
                        <a:t>AJOL</a:t>
                      </a:r>
                    </a:p>
                  </a:txBody>
                  <a:tcPr marL="64008" marR="64008" marT="27432" marB="27432">
                    <a:solidFill>
                      <a:srgbClr val="E8F1F3"/>
                    </a:solidFill>
                  </a:tcPr>
                </a:tc>
                <a:tc>
                  <a:txBody>
                    <a:bodyPr/>
                    <a:lstStyle/>
                    <a:p>
                      <a:r>
                        <a:rPr sz="1250" b="0" i="0">
                          <a:solidFill>
                            <a:srgbClr val="222B30"/>
                          </a:solidFill>
                          <a:latin typeface="Calibri"/>
                        </a:rPr>
                        <a:t>équation bloc P AND bloc contexte</a:t>
                      </a:r>
                    </a:p>
                  </a:txBody>
                  <a:tcPr marL="64008" marR="64008" marT="27432" marB="27432">
                    <a:solidFill>
                      <a:srgbClr val="E8F1F3"/>
                    </a:solidFill>
                  </a:tcPr>
                </a:tc>
                <a:tc>
                  <a:txBody>
                    <a:bodyPr/>
                    <a:lstStyle/>
                    <a:p>
                      <a:r>
                        <a:rPr sz="1250" b="0" i="0">
                          <a:solidFill>
                            <a:srgbClr val="222B30"/>
                          </a:solidFill>
                          <a:latin typeface="Calibri"/>
                        </a:rPr>
                        <a:t>—</a:t>
                      </a:r>
                    </a:p>
                  </a:txBody>
                  <a:tcPr marL="64008" marR="64008" marT="27432" marB="27432">
                    <a:solidFill>
                      <a:srgbClr val="E8F1F3"/>
                    </a:solidFill>
                  </a:tcPr>
                </a:tc>
                <a:tc>
                  <a:txBody>
                    <a:bodyPr/>
                    <a:lstStyle/>
                    <a:p>
                      <a:r>
                        <a:rPr sz="1250" b="0" i="0">
                          <a:solidFill>
                            <a:srgbClr val="222B30"/>
                          </a:solidFill>
                          <a:latin typeface="Calibri"/>
                        </a:rPr>
                        <a:t>…</a:t>
                      </a:r>
                    </a:p>
                  </a:txBody>
                  <a:tcPr marL="64008" marR="64008" marT="27432" marB="27432">
                    <a:solidFill>
                      <a:srgbClr val="E8F1F3"/>
                    </a:solidFill>
                  </a:tcPr>
                </a:tc>
                <a:tc>
                  <a:txBody>
                    <a:bodyPr/>
                    <a:lstStyle/>
                    <a:p>
                      <a:r>
                        <a:rPr sz="1250" b="0" i="0">
                          <a:solidFill>
                            <a:srgbClr val="222B30"/>
                          </a:solidFill>
                          <a:latin typeface="Calibri"/>
                        </a:rPr>
                        <a:t>2</a:t>
                      </a:r>
                    </a:p>
                  </a:txBody>
                  <a:tcPr marL="64008" marR="64008" marT="27432" marB="27432">
                    <a:solidFill>
                      <a:srgbClr val="E8F1F3"/>
                    </a:solidFill>
                  </a:tcPr>
                </a:tc>
                <a:tc>
                  <a:txBody>
                    <a:bodyPr/>
                    <a:lstStyle/>
                    <a:p>
                      <a:r>
                        <a:rPr sz="1250" b="0" i="0">
                          <a:solidFill>
                            <a:srgbClr val="222B30"/>
                          </a:solidFill>
                          <a:latin typeface="Calibri"/>
                        </a:rPr>
                        <a:t>Revues absentes de S2</a:t>
                      </a:r>
                    </a:p>
                  </a:txBody>
                  <a:tcPr marL="64008" marR="64008" marT="27432" marB="27432">
                    <a:solidFill>
                      <a:srgbClr val="E8F1F3"/>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502920" y="5394960"/>
            <a:ext cx="11155680" cy="731520"/>
          </a:xfrm>
          <a:prstGeom prst="rect">
            <a:avLst/>
          </a:prstGeom>
          <a:noFill/>
        </p:spPr>
        <p:txBody>
          <a:bodyPr wrap="square" lIns="45720" tIns="27432" rIns="45720" bIns="27432" anchor="t">
            <a:spAutoFit/>
          </a:bodyPr>
          <a:lstStyle/>
          <a:p>
            <a:pPr algn="l">
              <a:lnSpc>
                <a:spcPct val="105000"/>
              </a:lnSpc>
            </a:pPr>
            <a:r>
              <a:rPr sz="1300" b="0" i="1">
                <a:solidFill>
                  <a:srgbClr val="6B7C82"/>
                </a:solidFill>
                <a:latin typeface="Calibri"/>
              </a:rPr>
              <a:t>Exemple illustratif : les effectifs « … » seront ceux observés le jour de la démonstration.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EXERCICE 2 · 60 MIN · 10H50 – 11H50</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Cartographier le paysage de mon sujet</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25</a:t>
            </a:r>
          </a:p>
        </p:txBody>
      </p:sp>
      <p:sp>
        <p:nvSpPr>
          <p:cNvPr id="13" name="Oval 12"/>
          <p:cNvSpPr/>
          <p:nvPr/>
        </p:nvSpPr>
        <p:spPr>
          <a:xfrm>
            <a:off x="502920" y="1463040"/>
            <a:ext cx="1188720" cy="11887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i="0">
                <a:solidFill>
                  <a:srgbClr val="0B3C49"/>
                </a:solidFill>
                <a:latin typeface="Georgia"/>
              </a:rPr>
              <a:t>EX.</a:t>
            </a:r>
          </a:p>
          <a:p>
            <a:pPr algn="ctr"/>
            <a:r>
              <a:rPr sz="2200" b="1" i="0">
                <a:solidFill>
                  <a:srgbClr val="0B3C49"/>
                </a:solidFill>
                <a:latin typeface="Georgia"/>
              </a:rPr>
              <a:t>2</a:t>
            </a:r>
          </a:p>
        </p:txBody>
      </p:sp>
      <p:sp>
        <p:nvSpPr>
          <p:cNvPr id="14" name="TextBox 13"/>
          <p:cNvSpPr txBox="1"/>
          <p:nvPr/>
        </p:nvSpPr>
        <p:spPr>
          <a:xfrm>
            <a:off x="1965960" y="1463040"/>
            <a:ext cx="5943600" cy="365760"/>
          </a:xfrm>
          <a:prstGeom prst="rect">
            <a:avLst/>
          </a:prstGeom>
          <a:noFill/>
        </p:spPr>
        <p:txBody>
          <a:bodyPr wrap="square" lIns="45720" tIns="27432" rIns="45720" bIns="27432" anchor="t">
            <a:spAutoFit/>
          </a:bodyPr>
          <a:lstStyle/>
          <a:p>
            <a:pPr algn="l">
              <a:lnSpc>
                <a:spcPct val="105000"/>
              </a:lnSpc>
            </a:pPr>
            <a:r>
              <a:rPr sz="1500" b="1" i="0">
                <a:solidFill>
                  <a:srgbClr val="1F7A8C"/>
                </a:solidFill>
                <a:latin typeface="Calibri"/>
              </a:rPr>
              <a:t>Consignes (niveau Base)</a:t>
            </a:r>
          </a:p>
        </p:txBody>
      </p:sp>
      <p:sp>
        <p:nvSpPr>
          <p:cNvPr id="15" name="Oval 14"/>
          <p:cNvSpPr/>
          <p:nvPr/>
        </p:nvSpPr>
        <p:spPr>
          <a:xfrm>
            <a:off x="1965960" y="192938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6" name="TextBox 15"/>
          <p:cNvSpPr txBox="1"/>
          <p:nvPr/>
        </p:nvSpPr>
        <p:spPr>
          <a:xfrm>
            <a:off x="2560320" y="1874519"/>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Semantic Scholar : 3 requêtes FR / EN, 2 filtres, 5 fiches lues</a:t>
            </a:r>
          </a:p>
        </p:txBody>
      </p:sp>
      <p:sp>
        <p:nvSpPr>
          <p:cNvPr id="17" name="Oval 16"/>
          <p:cNvSpPr/>
          <p:nvPr/>
        </p:nvSpPr>
        <p:spPr>
          <a:xfrm>
            <a:off x="1965960" y="254203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8" name="TextBox 17"/>
          <p:cNvSpPr txBox="1"/>
          <p:nvPr/>
        </p:nvSpPr>
        <p:spPr>
          <a:xfrm>
            <a:off x="2560320" y="2487168"/>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Comparer TLDR et résumé original</a:t>
            </a:r>
          </a:p>
        </p:txBody>
      </p:sp>
      <p:sp>
        <p:nvSpPr>
          <p:cNvPr id="19" name="Oval 18"/>
          <p:cNvSpPr/>
          <p:nvPr/>
        </p:nvSpPr>
        <p:spPr>
          <a:xfrm>
            <a:off x="1965960" y="315467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20" name="TextBox 19"/>
          <p:cNvSpPr txBox="1"/>
          <p:nvPr/>
        </p:nvSpPr>
        <p:spPr>
          <a:xfrm>
            <a:off x="2560320" y="3099815"/>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Connected Papers : graphe sur l'article le plus central</a:t>
            </a:r>
          </a:p>
        </p:txBody>
      </p:sp>
      <p:sp>
        <p:nvSpPr>
          <p:cNvPr id="21" name="Oval 20"/>
          <p:cNvSpPr/>
          <p:nvPr/>
        </p:nvSpPr>
        <p:spPr>
          <a:xfrm>
            <a:off x="1965960" y="376732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2" name="TextBox 21"/>
          <p:cNvSpPr txBox="1"/>
          <p:nvPr/>
        </p:nvSpPr>
        <p:spPr>
          <a:xfrm>
            <a:off x="2560320" y="3712464"/>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Identifier 2 grappes, 1 Prior, 1 Derivative work</a:t>
            </a:r>
          </a:p>
        </p:txBody>
      </p:sp>
      <p:sp>
        <p:nvSpPr>
          <p:cNvPr id="23" name="Oval 22"/>
          <p:cNvSpPr/>
          <p:nvPr/>
        </p:nvSpPr>
        <p:spPr>
          <a:xfrm>
            <a:off x="1965960" y="437997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4" name="TextBox 23"/>
          <p:cNvSpPr txBox="1"/>
          <p:nvPr/>
        </p:nvSpPr>
        <p:spPr>
          <a:xfrm>
            <a:off x="2560320" y="4325112"/>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Importer 10 à 15 références dans Zotero</a:t>
            </a:r>
          </a:p>
        </p:txBody>
      </p:sp>
      <p:sp>
        <p:nvSpPr>
          <p:cNvPr id="25" name="Oval 24"/>
          <p:cNvSpPr/>
          <p:nvPr/>
        </p:nvSpPr>
        <p:spPr>
          <a:xfrm>
            <a:off x="1965960" y="499262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6</a:t>
            </a:r>
          </a:p>
        </p:txBody>
      </p:sp>
      <p:sp>
        <p:nvSpPr>
          <p:cNvPr id="26" name="TextBox 25"/>
          <p:cNvSpPr txBox="1"/>
          <p:nvPr/>
        </p:nvSpPr>
        <p:spPr>
          <a:xfrm>
            <a:off x="2560320" y="4937760"/>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Test « Suis-je visible ? »</a:t>
            </a:r>
          </a:p>
        </p:txBody>
      </p:sp>
      <p:sp>
        <p:nvSpPr>
          <p:cNvPr id="27" name="Rectangle 26"/>
          <p:cNvSpPr/>
          <p:nvPr/>
        </p:nvSpPr>
        <p:spPr>
          <a:xfrm>
            <a:off x="8275320" y="1463040"/>
            <a:ext cx="3429000" cy="2286000"/>
          </a:xfrm>
          <a:prstGeom prst="rect">
            <a:avLst/>
          </a:prstGeom>
          <a:solidFill>
            <a:srgbClr val="FFFFFF"/>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80" y="153619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Livrable</a:t>
            </a:r>
          </a:p>
        </p:txBody>
      </p:sp>
      <p:sp>
        <p:nvSpPr>
          <p:cNvPr id="29" name="TextBox 28"/>
          <p:cNvSpPr txBox="1"/>
          <p:nvPr/>
        </p:nvSpPr>
        <p:spPr>
          <a:xfrm>
            <a:off x="8412480" y="1901952"/>
            <a:ext cx="3200400" cy="182880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Journal de recherche daté · graphe annoté · 10 à 15 références candidates · réponse « Suis-je visible ? ».
Grille : 5 points.</a:t>
            </a:r>
          </a:p>
        </p:txBody>
      </p:sp>
      <p:sp>
        <p:nvSpPr>
          <p:cNvPr id="30" name="Rectangle 29"/>
          <p:cNvSpPr/>
          <p:nvPr/>
        </p:nvSpPr>
        <p:spPr>
          <a:xfrm>
            <a:off x="8275320" y="3931920"/>
            <a:ext cx="3429000" cy="2240280"/>
          </a:xfrm>
          <a:prstGeom prst="rect">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0" y="400507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Niveau Défi</a:t>
            </a:r>
          </a:p>
        </p:txBody>
      </p:sp>
      <p:sp>
        <p:nvSpPr>
          <p:cNvPr id="32" name="TextBox 31"/>
          <p:cNvSpPr txBox="1"/>
          <p:nvPr/>
        </p:nvSpPr>
        <p:spPr>
          <a:xfrm>
            <a:off x="8412480" y="4370832"/>
            <a:ext cx="3200400" cy="178308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Source complémentaire de votre discipline (AJOL, PubMed, AGRIS, Juricaf, Persée…) · graphe multi-origines · compter les premières autrices et les institutions africaines parmi les 10 plus cités.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2743200" cy="2377440"/>
          </a:xfrm>
          <a:prstGeom prst="rect">
            <a:avLst/>
          </a:prstGeom>
          <a:noFill/>
        </p:spPr>
        <p:txBody>
          <a:bodyPr wrap="square" lIns="45720" tIns="27432" rIns="45720" bIns="27432" anchor="t">
            <a:spAutoFit/>
          </a:bodyPr>
          <a:lstStyle/>
          <a:p>
            <a:pPr algn="l">
              <a:lnSpc>
                <a:spcPct val="105000"/>
              </a:lnSpc>
            </a:pPr>
            <a:r>
              <a:rPr sz="17000" b="1" i="0">
                <a:solidFill>
                  <a:srgbClr val="E0A526"/>
                </a:solidFill>
                <a:latin typeface="Georgia"/>
              </a:rPr>
              <a:t>3</a:t>
            </a:r>
          </a:p>
        </p:txBody>
      </p:sp>
      <p:sp>
        <p:nvSpPr>
          <p:cNvPr id="3" name="TextBox 2"/>
          <p:cNvSpPr txBox="1"/>
          <p:nvPr/>
        </p:nvSpPr>
        <p:spPr>
          <a:xfrm>
            <a:off x="3291840" y="1234440"/>
            <a:ext cx="8229600" cy="365760"/>
          </a:xfrm>
          <a:prstGeom prst="rect">
            <a:avLst/>
          </a:prstGeom>
          <a:noFill/>
        </p:spPr>
        <p:txBody>
          <a:bodyPr wrap="square" lIns="45720" tIns="27432" rIns="45720" bIns="27432" anchor="t">
            <a:spAutoFit/>
          </a:bodyPr>
          <a:lstStyle/>
          <a:p>
            <a:pPr algn="l">
              <a:lnSpc>
                <a:spcPct val="105000"/>
              </a:lnSpc>
            </a:pPr>
            <a:r>
              <a:rPr sz="1300" b="1" i="0">
                <a:solidFill>
                  <a:srgbClr val="E0A526"/>
                </a:solidFill>
                <a:latin typeface="Calibri"/>
              </a:rPr>
              <a:t>PHASE 3 · CRISP-DM : DATA PREPARATION</a:t>
            </a:r>
          </a:p>
        </p:txBody>
      </p:sp>
      <p:sp>
        <p:nvSpPr>
          <p:cNvPr id="4" name="TextBox 3"/>
          <p:cNvSpPr txBox="1"/>
          <p:nvPr/>
        </p:nvSpPr>
        <p:spPr>
          <a:xfrm>
            <a:off x="3291840" y="1645920"/>
            <a:ext cx="8412480" cy="1280160"/>
          </a:xfrm>
          <a:prstGeom prst="rect">
            <a:avLst/>
          </a:prstGeom>
          <a:noFill/>
        </p:spPr>
        <p:txBody>
          <a:bodyPr wrap="square" lIns="45720" tIns="27432" rIns="45720" bIns="27432" anchor="t">
            <a:spAutoFit/>
          </a:bodyPr>
          <a:lstStyle/>
          <a:p>
            <a:pPr algn="l">
              <a:lnSpc>
                <a:spcPct val="105000"/>
              </a:lnSpc>
            </a:pPr>
            <a:r>
              <a:rPr sz="4400" b="1" i="0">
                <a:solidFill>
                  <a:srgbClr val="FFFFFF"/>
                </a:solidFill>
                <a:latin typeface="Georgia"/>
              </a:rPr>
              <a:t>Préparation</a:t>
            </a:r>
          </a:p>
        </p:txBody>
      </p:sp>
      <p:sp>
        <p:nvSpPr>
          <p:cNvPr id="5" name="TextBox 4"/>
          <p:cNvSpPr txBox="1"/>
          <p:nvPr/>
        </p:nvSpPr>
        <p:spPr>
          <a:xfrm>
            <a:off x="3291840" y="2697480"/>
            <a:ext cx="8412480" cy="731520"/>
          </a:xfrm>
          <a:prstGeom prst="rect">
            <a:avLst/>
          </a:prstGeom>
          <a:noFill/>
        </p:spPr>
        <p:txBody>
          <a:bodyPr wrap="square" lIns="45720" tIns="27432" rIns="45720" bIns="27432" anchor="t">
            <a:spAutoFit/>
          </a:bodyPr>
          <a:lstStyle/>
          <a:p>
            <a:pPr algn="l">
              <a:lnSpc>
                <a:spcPct val="105000"/>
              </a:lnSpc>
            </a:pPr>
            <a:r>
              <a:rPr sz="2200" b="0" i="0">
                <a:solidFill>
                  <a:srgbClr val="E8F1F3"/>
                </a:solidFill>
                <a:latin typeface="Calibri"/>
              </a:rPr>
              <a:t>Criblage, sélection et extraction des sources</a:t>
            </a:r>
          </a:p>
        </p:txBody>
      </p:sp>
      <p:sp>
        <p:nvSpPr>
          <p:cNvPr id="6" name="Rounded Rectangle 5"/>
          <p:cNvSpPr/>
          <p:nvPr/>
        </p:nvSpPr>
        <p:spPr>
          <a:xfrm>
            <a:off x="3291840" y="3794760"/>
            <a:ext cx="8138160" cy="960120"/>
          </a:xfrm>
          <a:prstGeom prst="roundRect">
            <a:avLst>
              <a:gd name="adj" fmla="val 12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700" b="1" i="0">
                <a:solidFill>
                  <a:srgbClr val="FFFFFF"/>
                </a:solidFill>
                <a:latin typeface="Calibri"/>
              </a:rPr>
              <a:t>Question clé :</a:t>
            </a:r>
            <a:r>
              <a:rPr sz="1700" b="0" i="0">
                <a:solidFill>
                  <a:srgbClr val="FFFFFF"/>
                </a:solidFill>
                <a:latin typeface="Calibri"/>
              </a:rPr>
              <a:t> Quelles sources je garde, et quelles données j'en tire ?</a:t>
            </a:r>
          </a:p>
        </p:txBody>
      </p:sp>
      <p:sp>
        <p:nvSpPr>
          <p:cNvPr id="7" name="TextBox 6"/>
          <p:cNvSpPr txBox="1"/>
          <p:nvPr/>
        </p:nvSpPr>
        <p:spPr>
          <a:xfrm>
            <a:off x="3291840" y="4983480"/>
            <a:ext cx="8138160" cy="548640"/>
          </a:xfrm>
          <a:prstGeom prst="rect">
            <a:avLst/>
          </a:prstGeom>
          <a:noFill/>
        </p:spPr>
        <p:txBody>
          <a:bodyPr wrap="square" lIns="45720" tIns="27432" rIns="45720" bIns="27432" anchor="t">
            <a:spAutoFit/>
          </a:bodyPr>
          <a:lstStyle/>
          <a:p>
            <a:pPr algn="l">
              <a:lnSpc>
                <a:spcPct val="105000"/>
              </a:lnSpc>
            </a:pPr>
            <a:r>
              <a:rPr sz="1600" b="0" i="0">
                <a:solidFill>
                  <a:srgbClr val="E0A526"/>
                </a:solidFill>
                <a:latin typeface="Calibri"/>
              </a:rPr>
              <a:t>Livrable : décisions de criblage, tableau d'extraction, effectifs PRISMA (Exercice 3)</a:t>
            </a:r>
          </a:p>
        </p:txBody>
      </p:sp>
      <p:sp>
        <p:nvSpPr>
          <p:cNvPr id="8" name="Chevron 7"/>
          <p:cNvSpPr/>
          <p:nvPr/>
        </p:nvSpPr>
        <p:spPr>
          <a:xfrm>
            <a:off x="3291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1</a:t>
            </a:r>
          </a:p>
        </p:txBody>
      </p:sp>
      <p:sp>
        <p:nvSpPr>
          <p:cNvPr id="9" name="Chevron 8"/>
          <p:cNvSpPr/>
          <p:nvPr/>
        </p:nvSpPr>
        <p:spPr>
          <a:xfrm>
            <a:off x="46634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2</a:t>
            </a:r>
          </a:p>
        </p:txBody>
      </p:sp>
      <p:sp>
        <p:nvSpPr>
          <p:cNvPr id="10" name="Chevron 9"/>
          <p:cNvSpPr/>
          <p:nvPr/>
        </p:nvSpPr>
        <p:spPr>
          <a:xfrm>
            <a:off x="6035040" y="5852160"/>
            <a:ext cx="1261872" cy="384048"/>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0B3C49"/>
                </a:solidFill>
                <a:latin typeface="Calibri"/>
              </a:rPr>
              <a:t>3</a:t>
            </a:r>
          </a:p>
        </p:txBody>
      </p:sp>
      <p:sp>
        <p:nvSpPr>
          <p:cNvPr id="11" name="Chevron 10"/>
          <p:cNvSpPr/>
          <p:nvPr/>
        </p:nvSpPr>
        <p:spPr>
          <a:xfrm>
            <a:off x="74066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4</a:t>
            </a:r>
          </a:p>
        </p:txBody>
      </p:sp>
      <p:sp>
        <p:nvSpPr>
          <p:cNvPr id="12" name="Chevron 11"/>
          <p:cNvSpPr/>
          <p:nvPr/>
        </p:nvSpPr>
        <p:spPr>
          <a:xfrm>
            <a:off x="87782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5</a:t>
            </a:r>
          </a:p>
        </p:txBody>
      </p:sp>
      <p:sp>
        <p:nvSpPr>
          <p:cNvPr id="13" name="Chevron 12"/>
          <p:cNvSpPr/>
          <p:nvPr/>
        </p:nvSpPr>
        <p:spPr>
          <a:xfrm>
            <a:off x="10149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3 · PRÉPARATION · DATA PREPARATION</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PRISMA 2020 · le diagramme de flux</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27</a:t>
            </a:r>
          </a:p>
        </p:txBody>
      </p:sp>
      <p:sp>
        <p:nvSpPr>
          <p:cNvPr id="13" name="Rectangle 12"/>
          <p:cNvSpPr/>
          <p:nvPr/>
        </p:nvSpPr>
        <p:spPr>
          <a:xfrm>
            <a:off x="502920" y="1508760"/>
            <a:ext cx="502920" cy="1051560"/>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i="0">
                <a:solidFill>
                  <a:srgbClr val="FFFFFF"/>
                </a:solidFill>
                <a:latin typeface="Calibri"/>
              </a:rPr>
              <a:t>I</a:t>
            </a:r>
          </a:p>
        </p:txBody>
      </p:sp>
      <p:sp>
        <p:nvSpPr>
          <p:cNvPr id="14" name="TextBox 13"/>
          <p:cNvSpPr txBox="1"/>
          <p:nvPr/>
        </p:nvSpPr>
        <p:spPr>
          <a:xfrm>
            <a:off x="1097280" y="1508760"/>
            <a:ext cx="1737360" cy="457200"/>
          </a:xfrm>
          <a:prstGeom prst="rect">
            <a:avLst/>
          </a:prstGeom>
          <a:noFill/>
        </p:spPr>
        <p:txBody>
          <a:bodyPr wrap="square" lIns="45720" tIns="27432" rIns="45720" bIns="27432" anchor="t">
            <a:spAutoFit/>
          </a:bodyPr>
          <a:lstStyle/>
          <a:p>
            <a:pPr algn="l">
              <a:lnSpc>
                <a:spcPct val="105000"/>
              </a:lnSpc>
            </a:pPr>
            <a:r>
              <a:rPr sz="1400" b="1" i="0">
                <a:solidFill>
                  <a:srgbClr val="0B3C49"/>
                </a:solidFill>
                <a:latin typeface="Calibri"/>
              </a:rPr>
              <a:t>Identification</a:t>
            </a:r>
          </a:p>
        </p:txBody>
      </p:sp>
      <p:sp>
        <p:nvSpPr>
          <p:cNvPr id="15" name="Rectangle 14"/>
          <p:cNvSpPr/>
          <p:nvPr/>
        </p:nvSpPr>
        <p:spPr>
          <a:xfrm>
            <a:off x="502920" y="2788920"/>
            <a:ext cx="502920" cy="2011680"/>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i="0">
                <a:solidFill>
                  <a:srgbClr val="FFFFFF"/>
                </a:solidFill>
                <a:latin typeface="Calibri"/>
              </a:rPr>
              <a:t>S</a:t>
            </a:r>
          </a:p>
        </p:txBody>
      </p:sp>
      <p:sp>
        <p:nvSpPr>
          <p:cNvPr id="16" name="TextBox 15"/>
          <p:cNvSpPr txBox="1"/>
          <p:nvPr/>
        </p:nvSpPr>
        <p:spPr>
          <a:xfrm>
            <a:off x="1097280" y="2788920"/>
            <a:ext cx="1737360" cy="457200"/>
          </a:xfrm>
          <a:prstGeom prst="rect">
            <a:avLst/>
          </a:prstGeom>
          <a:noFill/>
        </p:spPr>
        <p:txBody>
          <a:bodyPr wrap="square" lIns="45720" tIns="27432" rIns="45720" bIns="27432" anchor="t">
            <a:spAutoFit/>
          </a:bodyPr>
          <a:lstStyle/>
          <a:p>
            <a:pPr algn="l">
              <a:lnSpc>
                <a:spcPct val="105000"/>
              </a:lnSpc>
            </a:pPr>
            <a:r>
              <a:rPr sz="1400" b="1" i="0">
                <a:solidFill>
                  <a:srgbClr val="0B3C49"/>
                </a:solidFill>
                <a:latin typeface="Calibri"/>
              </a:rPr>
              <a:t>Sélection</a:t>
            </a:r>
          </a:p>
        </p:txBody>
      </p:sp>
      <p:sp>
        <p:nvSpPr>
          <p:cNvPr id="17" name="Rectangle 16"/>
          <p:cNvSpPr/>
          <p:nvPr/>
        </p:nvSpPr>
        <p:spPr>
          <a:xfrm>
            <a:off x="502920" y="5074920"/>
            <a:ext cx="502920" cy="1051560"/>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i="0">
                <a:solidFill>
                  <a:srgbClr val="FFFFFF"/>
                </a:solidFill>
                <a:latin typeface="Calibri"/>
              </a:rPr>
              <a:t>I</a:t>
            </a:r>
          </a:p>
        </p:txBody>
      </p:sp>
      <p:sp>
        <p:nvSpPr>
          <p:cNvPr id="18" name="TextBox 17"/>
          <p:cNvSpPr txBox="1"/>
          <p:nvPr/>
        </p:nvSpPr>
        <p:spPr>
          <a:xfrm>
            <a:off x="1097280" y="5074920"/>
            <a:ext cx="1737360" cy="457200"/>
          </a:xfrm>
          <a:prstGeom prst="rect">
            <a:avLst/>
          </a:prstGeom>
          <a:noFill/>
        </p:spPr>
        <p:txBody>
          <a:bodyPr wrap="square" lIns="45720" tIns="27432" rIns="45720" bIns="27432" anchor="t">
            <a:spAutoFit/>
          </a:bodyPr>
          <a:lstStyle/>
          <a:p>
            <a:pPr algn="l">
              <a:lnSpc>
                <a:spcPct val="105000"/>
              </a:lnSpc>
            </a:pPr>
            <a:r>
              <a:rPr sz="1400" b="1" i="0">
                <a:solidFill>
                  <a:srgbClr val="0B3C49"/>
                </a:solidFill>
                <a:latin typeface="Calibri"/>
              </a:rPr>
              <a:t>Inclusion</a:t>
            </a:r>
          </a:p>
        </p:txBody>
      </p:sp>
      <p:sp>
        <p:nvSpPr>
          <p:cNvPr id="19" name="Rectangle 18"/>
          <p:cNvSpPr/>
          <p:nvPr/>
        </p:nvSpPr>
        <p:spPr>
          <a:xfrm>
            <a:off x="2743200" y="1508760"/>
            <a:ext cx="3931920" cy="868680"/>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0" i="0">
                <a:solidFill>
                  <a:srgbClr val="222B30"/>
                </a:solidFill>
                <a:latin typeface="Calibri"/>
              </a:rPr>
              <a:t>Enregistrements identifiés</a:t>
            </a:r>
          </a:p>
          <a:p>
            <a:pPr algn="ctr"/>
            <a:r>
              <a:rPr sz="1300" b="0" i="0">
                <a:solidFill>
                  <a:srgbClr val="222B30"/>
                </a:solidFill>
                <a:latin typeface="Calibri"/>
              </a:rPr>
              <a:t>bases (n = …) · registres (n = …)</a:t>
            </a:r>
          </a:p>
        </p:txBody>
      </p:sp>
      <p:sp>
        <p:nvSpPr>
          <p:cNvPr id="20" name="Rectangle 19"/>
          <p:cNvSpPr/>
          <p:nvPr/>
        </p:nvSpPr>
        <p:spPr>
          <a:xfrm>
            <a:off x="2743200" y="2788920"/>
            <a:ext cx="3931920" cy="868680"/>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0" i="0">
                <a:solidFill>
                  <a:srgbClr val="222B30"/>
                </a:solidFill>
                <a:latin typeface="Calibri"/>
              </a:rPr>
              <a:t>Enregistrements criblés</a:t>
            </a:r>
          </a:p>
          <a:p>
            <a:pPr algn="ctr"/>
            <a:r>
              <a:rPr sz="1300" b="0" i="0">
                <a:solidFill>
                  <a:srgbClr val="222B30"/>
                </a:solidFill>
                <a:latin typeface="Calibri"/>
              </a:rPr>
              <a:t>sur titre et résumé (n = …)</a:t>
            </a:r>
          </a:p>
        </p:txBody>
      </p:sp>
      <p:sp>
        <p:nvSpPr>
          <p:cNvPr id="21" name="Rectangle 20"/>
          <p:cNvSpPr/>
          <p:nvPr/>
        </p:nvSpPr>
        <p:spPr>
          <a:xfrm>
            <a:off x="2743200" y="3840480"/>
            <a:ext cx="3931920" cy="868680"/>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0" i="0">
                <a:solidFill>
                  <a:srgbClr val="222B30"/>
                </a:solidFill>
                <a:latin typeface="Calibri"/>
              </a:rPr>
              <a:t>Textes intégraux évalués</a:t>
            </a:r>
          </a:p>
          <a:p>
            <a:pPr algn="ctr"/>
            <a:r>
              <a:rPr sz="1300" b="0" i="0">
                <a:solidFill>
                  <a:srgbClr val="222B30"/>
                </a:solidFill>
                <a:latin typeface="Calibri"/>
              </a:rPr>
              <a:t>pour l'éligibilité (n = …)</a:t>
            </a:r>
          </a:p>
        </p:txBody>
      </p:sp>
      <p:sp>
        <p:nvSpPr>
          <p:cNvPr id="22" name="Rectangle 21"/>
          <p:cNvSpPr/>
          <p:nvPr/>
        </p:nvSpPr>
        <p:spPr>
          <a:xfrm>
            <a:off x="2743200" y="5074920"/>
            <a:ext cx="3931920" cy="868680"/>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0" i="0">
                <a:solidFill>
                  <a:srgbClr val="222B30"/>
                </a:solidFill>
                <a:latin typeface="Calibri"/>
              </a:rPr>
              <a:t>Études incluses</a:t>
            </a:r>
          </a:p>
          <a:p>
            <a:pPr algn="ctr"/>
            <a:r>
              <a:rPr sz="1300" b="0" i="0">
                <a:solidFill>
                  <a:srgbClr val="222B30"/>
                </a:solidFill>
                <a:latin typeface="Calibri"/>
              </a:rPr>
              <a:t>dans la revue (n = …)</a:t>
            </a:r>
          </a:p>
        </p:txBody>
      </p:sp>
      <p:sp>
        <p:nvSpPr>
          <p:cNvPr id="23" name="Rectangle 22"/>
          <p:cNvSpPr/>
          <p:nvPr/>
        </p:nvSpPr>
        <p:spPr>
          <a:xfrm>
            <a:off x="7315200" y="1508760"/>
            <a:ext cx="4343400" cy="868680"/>
          </a:xfrm>
          <a:prstGeom prst="rect">
            <a:avLst/>
          </a:prstGeom>
          <a:solidFill>
            <a:srgbClr val="FBF3E0"/>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0" i="0">
                <a:solidFill>
                  <a:srgbClr val="222B30"/>
                </a:solidFill>
                <a:latin typeface="Calibri"/>
              </a:rPr>
              <a:t>Retirés avant criblage</a:t>
            </a:r>
          </a:p>
          <a:p>
            <a:pPr algn="ctr"/>
            <a:r>
              <a:rPr sz="1300" b="0" i="0">
                <a:solidFill>
                  <a:srgbClr val="222B30"/>
                </a:solidFill>
                <a:latin typeface="Calibri"/>
              </a:rPr>
              <a:t>doublons (n = …) · outils automatiques (n = …)</a:t>
            </a:r>
          </a:p>
        </p:txBody>
      </p:sp>
      <p:sp>
        <p:nvSpPr>
          <p:cNvPr id="24" name="Right Arrow 23"/>
          <p:cNvSpPr/>
          <p:nvPr/>
        </p:nvSpPr>
        <p:spPr>
          <a:xfrm>
            <a:off x="6720840" y="1810512"/>
            <a:ext cx="548640" cy="274320"/>
          </a:xfrm>
          <a:prstGeom prst="right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0" y="2788920"/>
            <a:ext cx="4343400" cy="868680"/>
          </a:xfrm>
          <a:prstGeom prst="rect">
            <a:avLst/>
          </a:prstGeom>
          <a:solidFill>
            <a:srgbClr val="FBF3E0"/>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0" i="0">
                <a:solidFill>
                  <a:srgbClr val="222B30"/>
                </a:solidFill>
                <a:latin typeface="Calibri"/>
              </a:rPr>
              <a:t>Exclus</a:t>
            </a:r>
          </a:p>
          <a:p>
            <a:pPr algn="ctr"/>
            <a:r>
              <a:rPr sz="1300" b="0" i="0">
                <a:solidFill>
                  <a:srgbClr val="222B30"/>
                </a:solidFill>
                <a:latin typeface="Calibri"/>
              </a:rPr>
              <a:t>(n = …)</a:t>
            </a:r>
          </a:p>
        </p:txBody>
      </p:sp>
      <p:sp>
        <p:nvSpPr>
          <p:cNvPr id="26" name="Right Arrow 25"/>
          <p:cNvSpPr/>
          <p:nvPr/>
        </p:nvSpPr>
        <p:spPr>
          <a:xfrm>
            <a:off x="6720840" y="3090672"/>
            <a:ext cx="548640" cy="274320"/>
          </a:xfrm>
          <a:prstGeom prst="right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315200" y="3840480"/>
            <a:ext cx="4343400" cy="868680"/>
          </a:xfrm>
          <a:prstGeom prst="rect">
            <a:avLst/>
          </a:prstGeom>
          <a:solidFill>
            <a:srgbClr val="FBF3E0"/>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b="0" i="0">
                <a:solidFill>
                  <a:srgbClr val="222B30"/>
                </a:solidFill>
                <a:latin typeface="Calibri"/>
              </a:rPr>
              <a:t>Exclus avec motifs</a:t>
            </a:r>
          </a:p>
          <a:p>
            <a:pPr algn="ctr"/>
            <a:r>
              <a:rPr sz="1300" b="0" i="0">
                <a:solidFill>
                  <a:srgbClr val="222B30"/>
                </a:solidFill>
                <a:latin typeface="Calibri"/>
              </a:rPr>
              <a:t>motif 1 (n = …) · motif 2 (n = …)</a:t>
            </a:r>
          </a:p>
        </p:txBody>
      </p:sp>
      <p:sp>
        <p:nvSpPr>
          <p:cNvPr id="28" name="Right Arrow 27"/>
          <p:cNvSpPr/>
          <p:nvPr/>
        </p:nvSpPr>
        <p:spPr>
          <a:xfrm>
            <a:off x="6720840" y="4142232"/>
            <a:ext cx="548640" cy="274320"/>
          </a:xfrm>
          <a:prstGeom prst="rightArrow">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Down Arrow 28"/>
          <p:cNvSpPr/>
          <p:nvPr/>
        </p:nvSpPr>
        <p:spPr>
          <a:xfrm>
            <a:off x="4572000" y="2423160"/>
            <a:ext cx="274320" cy="329184"/>
          </a:xfrm>
          <a:prstGeom prst="downArrow">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Down Arrow 29"/>
          <p:cNvSpPr/>
          <p:nvPr/>
        </p:nvSpPr>
        <p:spPr>
          <a:xfrm>
            <a:off x="4572000" y="3685032"/>
            <a:ext cx="274320" cy="329184"/>
          </a:xfrm>
          <a:prstGeom prst="downArrow">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wn Arrow 30"/>
          <p:cNvSpPr/>
          <p:nvPr/>
        </p:nvSpPr>
        <p:spPr>
          <a:xfrm>
            <a:off x="4572000" y="4736592"/>
            <a:ext cx="274320" cy="329184"/>
          </a:xfrm>
          <a:prstGeom prst="downArrow">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3 · PRÉPARATION · DATA PREPARATION</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Le criblage en pratique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28</a:t>
            </a:r>
          </a:p>
        </p:txBody>
      </p:sp>
      <p:sp>
        <p:nvSpPr>
          <p:cNvPr id="13" name="Rectangle 12"/>
          <p:cNvSpPr/>
          <p:nvPr/>
        </p:nvSpPr>
        <p:spPr>
          <a:xfrm>
            <a:off x="502920"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1. Critères avant tout</a:t>
            </a:r>
          </a:p>
        </p:txBody>
      </p:sp>
      <p:sp>
        <p:nvSpPr>
          <p:cNvPr id="16" name="TextBox 15"/>
          <p:cNvSpPr txBox="1"/>
          <p:nvPr/>
        </p:nvSpPr>
        <p:spPr>
          <a:xfrm>
            <a:off x="685800"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Les critères d'éligibilité de la phase 1 s'appliquent mot pour mot. Un doute ? « À revoir », pas « inclure ».</a:t>
            </a:r>
          </a:p>
        </p:txBody>
      </p:sp>
      <p:sp>
        <p:nvSpPr>
          <p:cNvPr id="17" name="Rectangle 16"/>
          <p:cNvSpPr/>
          <p:nvPr/>
        </p:nvSpPr>
        <p:spPr>
          <a:xfrm>
            <a:off x="4288536"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88536"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1416"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2. Deux niveaux</a:t>
            </a:r>
          </a:p>
        </p:txBody>
      </p:sp>
      <p:sp>
        <p:nvSpPr>
          <p:cNvPr id="20" name="TextBox 19"/>
          <p:cNvSpPr txBox="1"/>
          <p:nvPr/>
        </p:nvSpPr>
        <p:spPr>
          <a:xfrm>
            <a:off x="4471416"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Titre et résumé d'abord, texte intégral ensuite. Chaque exclusion au texte intégral a un motif écrit.</a:t>
            </a:r>
          </a:p>
        </p:txBody>
      </p:sp>
      <p:sp>
        <p:nvSpPr>
          <p:cNvPr id="21" name="Rectangle 20"/>
          <p:cNvSpPr/>
          <p:nvPr/>
        </p:nvSpPr>
        <p:spPr>
          <a:xfrm>
            <a:off x="8074152"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3. À deux, c'est mieux</a:t>
            </a:r>
          </a:p>
        </p:txBody>
      </p:sp>
      <p:sp>
        <p:nvSpPr>
          <p:cNvPr id="24" name="TextBox 23"/>
          <p:cNvSpPr txBox="1"/>
          <p:nvPr/>
        </p:nvSpPr>
        <p:spPr>
          <a:xfrm>
            <a:off x="8257031"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Double criblage indépendant puis discussion des désaccords. En atelier : votre binôme.</a:t>
            </a:r>
          </a:p>
        </p:txBody>
      </p:sp>
      <p:sp>
        <p:nvSpPr>
          <p:cNvPr id="25" name="Rectangle 24"/>
          <p:cNvSpPr/>
          <p:nvPr/>
        </p:nvSpPr>
        <p:spPr>
          <a:xfrm>
            <a:off x="502920"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4. Outils</a:t>
            </a:r>
          </a:p>
        </p:txBody>
      </p:sp>
      <p:sp>
        <p:nvSpPr>
          <p:cNvPr id="28" name="TextBox 27"/>
          <p:cNvSpPr txBox="1"/>
          <p:nvPr/>
        </p:nvSpPr>
        <p:spPr>
          <a:xfrm>
            <a:off x="685800"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Zotero pour dédoublonner, Rayyan pour cribler à plusieurs (gratuit), Elicit pour pré-trier.</a:t>
            </a:r>
          </a:p>
        </p:txBody>
      </p:sp>
      <p:sp>
        <p:nvSpPr>
          <p:cNvPr id="29" name="Rectangle 28"/>
          <p:cNvSpPr/>
          <p:nvPr/>
        </p:nvSpPr>
        <p:spPr>
          <a:xfrm>
            <a:off x="4288536"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88536"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71416"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5. Déclarer l'automatisation</a:t>
            </a:r>
          </a:p>
        </p:txBody>
      </p:sp>
      <p:sp>
        <p:nvSpPr>
          <p:cNvPr id="32" name="TextBox 31"/>
          <p:cNvSpPr txBox="1"/>
          <p:nvPr/>
        </p:nvSpPr>
        <p:spPr>
          <a:xfrm>
            <a:off x="4471416"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 12 enregistrements exclus par Elicit puis vérifiés manuellement » : PRISMA 2020 le demande.</a:t>
            </a:r>
          </a:p>
        </p:txBody>
      </p:sp>
      <p:sp>
        <p:nvSpPr>
          <p:cNvPr id="33" name="Rectangle 32"/>
          <p:cNvSpPr/>
          <p:nvPr/>
        </p:nvSpPr>
        <p:spPr>
          <a:xfrm>
            <a:off x="8074152"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74152"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57031"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6. Compter</a:t>
            </a:r>
          </a:p>
        </p:txBody>
      </p:sp>
      <p:sp>
        <p:nvSpPr>
          <p:cNvPr id="36" name="TextBox 35"/>
          <p:cNvSpPr txBox="1"/>
          <p:nvPr/>
        </p:nvSpPr>
        <p:spPr>
          <a:xfrm>
            <a:off x="8257031"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Chaque étape alimente le diagramme : les effectifs doivent s'additionner.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3 · PRÉPARATION · DATA PREPARATION</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Elicit (1/2) · trouver et cribler</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29</a:t>
            </a:r>
          </a:p>
        </p:txBody>
      </p:sp>
      <p:sp>
        <p:nvSpPr>
          <p:cNvPr id="13" name="Oval 12"/>
          <p:cNvSpPr/>
          <p:nvPr/>
        </p:nvSpPr>
        <p:spPr>
          <a:xfrm>
            <a:off x="502920" y="151790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4" name="TextBox 13"/>
          <p:cNvSpPr txBox="1"/>
          <p:nvPr/>
        </p:nvSpPr>
        <p:spPr>
          <a:xfrm>
            <a:off x="1097280" y="1463040"/>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Se connecter sur </a:t>
            </a:r>
            <a:r>
              <a:rPr sz="1600" b="1" i="0">
                <a:solidFill>
                  <a:srgbClr val="222B30"/>
                </a:solidFill>
                <a:latin typeface="Calibri"/>
              </a:rPr>
              <a:t>elicit.com</a:t>
            </a:r>
          </a:p>
        </p:txBody>
      </p:sp>
      <p:sp>
        <p:nvSpPr>
          <p:cNvPr id="15" name="Oval 14"/>
          <p:cNvSpPr/>
          <p:nvPr/>
        </p:nvSpPr>
        <p:spPr>
          <a:xfrm>
            <a:off x="502920" y="2194560"/>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6" name="TextBox 15"/>
          <p:cNvSpPr txBox="1"/>
          <p:nvPr/>
        </p:nvSpPr>
        <p:spPr>
          <a:xfrm>
            <a:off x="1097280" y="2139696"/>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Poser la </a:t>
            </a:r>
            <a:r>
              <a:rPr sz="1600" b="1" i="0">
                <a:solidFill>
                  <a:srgbClr val="222B30"/>
                </a:solidFill>
                <a:latin typeface="Calibri"/>
              </a:rPr>
              <a:t>question complète en anglais</a:t>
            </a:r>
          </a:p>
        </p:txBody>
      </p:sp>
      <p:sp>
        <p:nvSpPr>
          <p:cNvPr id="17" name="Oval 16"/>
          <p:cNvSpPr/>
          <p:nvPr/>
        </p:nvSpPr>
        <p:spPr>
          <a:xfrm>
            <a:off x="502920" y="287121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18" name="TextBox 17"/>
          <p:cNvSpPr txBox="1"/>
          <p:nvPr/>
        </p:nvSpPr>
        <p:spPr>
          <a:xfrm>
            <a:off x="1097280" y="2816352"/>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Lire la courte synthèse des premiers articles… avec prudence</a:t>
            </a:r>
          </a:p>
        </p:txBody>
      </p:sp>
      <p:sp>
        <p:nvSpPr>
          <p:cNvPr id="19" name="Oval 18"/>
          <p:cNvSpPr/>
          <p:nvPr/>
        </p:nvSpPr>
        <p:spPr>
          <a:xfrm>
            <a:off x="502920" y="354787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0" name="TextBox 19"/>
          <p:cNvSpPr txBox="1"/>
          <p:nvPr/>
        </p:nvSpPr>
        <p:spPr>
          <a:xfrm>
            <a:off x="1097280" y="3493008"/>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Appliquer les </a:t>
            </a:r>
            <a:r>
              <a:rPr sz="1600" b="1" i="0">
                <a:solidFill>
                  <a:srgbClr val="222B30"/>
                </a:solidFill>
                <a:latin typeface="Calibri"/>
              </a:rPr>
              <a:t>filtres</a:t>
            </a:r>
            <a:r>
              <a:rPr sz="1600" b="0" i="0">
                <a:solidFill>
                  <a:srgbClr val="222B30"/>
                </a:solidFill>
                <a:latin typeface="Calibri"/>
              </a:rPr>
              <a:t> : période, type d'étude, texte intégral</a:t>
            </a:r>
          </a:p>
        </p:txBody>
      </p:sp>
      <p:sp>
        <p:nvSpPr>
          <p:cNvPr id="21" name="Oval 20"/>
          <p:cNvSpPr/>
          <p:nvPr/>
        </p:nvSpPr>
        <p:spPr>
          <a:xfrm>
            <a:off x="502920" y="422452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2" name="TextBox 21"/>
          <p:cNvSpPr txBox="1"/>
          <p:nvPr/>
        </p:nvSpPr>
        <p:spPr>
          <a:xfrm>
            <a:off x="1097280" y="4169664"/>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Décider </a:t>
            </a:r>
            <a:r>
              <a:rPr sz="1600" b="1" i="0">
                <a:solidFill>
                  <a:srgbClr val="222B30"/>
                </a:solidFill>
                <a:latin typeface="Calibri"/>
              </a:rPr>
              <a:t>inclure / exclure / à revoir</a:t>
            </a:r>
            <a:r>
              <a:rPr sz="1600" b="0" i="0">
                <a:solidFill>
                  <a:srgbClr val="222B30"/>
                </a:solidFill>
                <a:latin typeface="Calibri"/>
              </a:rPr>
              <a:t> selon vos critères</a:t>
            </a:r>
          </a:p>
        </p:txBody>
      </p:sp>
      <p:sp>
        <p:nvSpPr>
          <p:cNvPr id="23" name="Oval 22"/>
          <p:cNvSpPr/>
          <p:nvPr/>
        </p:nvSpPr>
        <p:spPr>
          <a:xfrm>
            <a:off x="502920" y="490118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6</a:t>
            </a:r>
          </a:p>
        </p:txBody>
      </p:sp>
      <p:sp>
        <p:nvSpPr>
          <p:cNvPr id="24" name="TextBox 23"/>
          <p:cNvSpPr txBox="1"/>
          <p:nvPr/>
        </p:nvSpPr>
        <p:spPr>
          <a:xfrm>
            <a:off x="1097280" y="4846320"/>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Noter le </a:t>
            </a:r>
            <a:r>
              <a:rPr sz="1600" b="1" i="0">
                <a:solidFill>
                  <a:srgbClr val="222B30"/>
                </a:solidFill>
                <a:latin typeface="Calibri"/>
              </a:rPr>
              <a:t>motif</a:t>
            </a:r>
            <a:r>
              <a:rPr sz="1600" b="0" i="0">
                <a:solidFill>
                  <a:srgbClr val="222B30"/>
                </a:solidFill>
                <a:latin typeface="Calibri"/>
              </a:rPr>
              <a:t> de chaque exclusion</a:t>
            </a:r>
          </a:p>
        </p:txBody>
      </p:sp>
      <p:sp>
        <p:nvSpPr>
          <p:cNvPr id="25" name="Oval 24"/>
          <p:cNvSpPr/>
          <p:nvPr/>
        </p:nvSpPr>
        <p:spPr>
          <a:xfrm>
            <a:off x="502920" y="557783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7</a:t>
            </a:r>
          </a:p>
        </p:txBody>
      </p:sp>
      <p:sp>
        <p:nvSpPr>
          <p:cNvPr id="26" name="TextBox 25"/>
          <p:cNvSpPr txBox="1"/>
          <p:nvPr/>
        </p:nvSpPr>
        <p:spPr>
          <a:xfrm>
            <a:off x="1097280" y="5522975"/>
            <a:ext cx="6355079" cy="603504"/>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Ajouter vos propres </a:t>
            </a:r>
            <a:r>
              <a:rPr sz="1600" b="1" i="0">
                <a:solidFill>
                  <a:srgbClr val="222B30"/>
                </a:solidFill>
                <a:latin typeface="Calibri"/>
              </a:rPr>
              <a:t>PDF</a:t>
            </a:r>
            <a:r>
              <a:rPr sz="1600" b="0" i="0">
                <a:solidFill>
                  <a:srgbClr val="222B30"/>
                </a:solidFill>
                <a:latin typeface="Calibri"/>
              </a:rPr>
              <a:t> en accès libre</a:t>
            </a:r>
          </a:p>
        </p:txBody>
      </p:sp>
      <p:sp>
        <p:nvSpPr>
          <p:cNvPr id="27" name="Rectangle 26"/>
          <p:cNvSpPr/>
          <p:nvPr/>
        </p:nvSpPr>
        <p:spPr>
          <a:xfrm>
            <a:off x="7863840" y="1463040"/>
            <a:ext cx="3794760" cy="4663440"/>
          </a:xfrm>
          <a:prstGeom prst="rect">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046720" y="1554480"/>
            <a:ext cx="3474720"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Question du cas commun</a:t>
            </a:r>
          </a:p>
        </p:txBody>
      </p:sp>
      <p:sp>
        <p:nvSpPr>
          <p:cNvPr id="29" name="TextBox 28"/>
          <p:cNvSpPr txBox="1"/>
          <p:nvPr/>
        </p:nvSpPr>
        <p:spPr>
          <a:xfrm>
            <a:off x="8046720" y="2011680"/>
            <a:ext cx="3474720" cy="4023360"/>
          </a:xfrm>
          <a:prstGeom prst="rect">
            <a:avLst/>
          </a:prstGeom>
          <a:noFill/>
        </p:spPr>
        <p:txBody>
          <a:bodyPr wrap="square" lIns="45720" tIns="27432" rIns="45720" bIns="27432" anchor="t">
            <a:spAutoFit/>
          </a:bodyPr>
          <a:lstStyle/>
          <a:p>
            <a:pPr algn="l">
              <a:lnSpc>
                <a:spcPct val="105000"/>
              </a:lnSpc>
            </a:pPr>
            <a:r>
              <a:rPr sz="1500" b="0" i="0">
                <a:solidFill>
                  <a:srgbClr val="222B30"/>
                </a:solidFill>
                <a:latin typeface="Calibri"/>
              </a:rPr>
              <a:t>What factors affect the career progression of women academics in sub-Saharan Africa?</a:t>
            </a:r>
          </a:p>
          <a:p>
            <a:pPr algn="l">
              <a:lnSpc>
                <a:spcPct val="105000"/>
              </a:lnSpc>
            </a:pPr>
            <a:endParaRPr sz="1500" b="0" i="0">
              <a:solidFill>
                <a:srgbClr val="222B30"/>
              </a:solidFill>
              <a:latin typeface="Calibri"/>
            </a:endParaRPr>
          </a:p>
          <a:p>
            <a:pPr algn="l">
              <a:lnSpc>
                <a:spcPct val="105000"/>
              </a:lnSpc>
            </a:pPr>
            <a:r>
              <a:rPr sz="1500" b="0" i="0">
                <a:solidFill>
                  <a:srgbClr val="222B30"/>
                </a:solidFill>
                <a:latin typeface="Calibri"/>
              </a:rPr>
              <a:t>Elicit cherche dans le corpus de Semantic Scholar : les mêmes trous de couverture s'appliquent.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3 · PRÉPARATION · DATA PREPARATION</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Elicit (2/2) · extraire et vérifier</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30</a:t>
            </a:r>
          </a:p>
        </p:txBody>
      </p:sp>
      <p:sp>
        <p:nvSpPr>
          <p:cNvPr id="13" name="Oval 12"/>
          <p:cNvSpPr/>
          <p:nvPr/>
        </p:nvSpPr>
        <p:spPr>
          <a:xfrm>
            <a:off x="502920" y="151790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4" name="TextBox 13"/>
          <p:cNvSpPr txBox="1"/>
          <p:nvPr/>
        </p:nvSpPr>
        <p:spPr>
          <a:xfrm>
            <a:off x="1097280" y="1463040"/>
            <a:ext cx="5806440" cy="685800"/>
          </a:xfrm>
          <a:prstGeom prst="rect">
            <a:avLst/>
          </a:prstGeom>
          <a:noFill/>
        </p:spPr>
        <p:txBody>
          <a:bodyPr wrap="square" lIns="45720" tIns="27432" rIns="45720" bIns="27432" anchor="ctr">
            <a:spAutoFit/>
          </a:bodyPr>
          <a:lstStyle/>
          <a:p>
            <a:pPr algn="l">
              <a:lnSpc>
                <a:spcPct val="105000"/>
              </a:lnSpc>
            </a:pPr>
            <a:r>
              <a:rPr sz="1600" b="1" i="0">
                <a:solidFill>
                  <a:srgbClr val="222B30"/>
                </a:solidFill>
                <a:latin typeface="Calibri"/>
              </a:rPr>
              <a:t>Add columns</a:t>
            </a:r>
            <a:r>
              <a:rPr sz="1600" b="0" i="0">
                <a:solidFill>
                  <a:srgbClr val="222B30"/>
                </a:solidFill>
                <a:latin typeface="Calibri"/>
              </a:rPr>
              <a:t> : Population, Study design, Region, Main findings, Limitations</a:t>
            </a:r>
          </a:p>
        </p:txBody>
      </p:sp>
      <p:sp>
        <p:nvSpPr>
          <p:cNvPr id="15" name="Oval 14"/>
          <p:cNvSpPr/>
          <p:nvPr/>
        </p:nvSpPr>
        <p:spPr>
          <a:xfrm>
            <a:off x="502920" y="227685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6" name="TextBox 15"/>
          <p:cNvSpPr txBox="1"/>
          <p:nvPr/>
        </p:nvSpPr>
        <p:spPr>
          <a:xfrm>
            <a:off x="1097280" y="2221992"/>
            <a:ext cx="5806440" cy="685800"/>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Créer une </a:t>
            </a:r>
            <a:r>
              <a:rPr sz="1600" b="1" i="0">
                <a:solidFill>
                  <a:srgbClr val="222B30"/>
                </a:solidFill>
                <a:latin typeface="Calibri"/>
              </a:rPr>
              <a:t>colonne personnalisée</a:t>
            </a:r>
            <a:r>
              <a:rPr sz="1600" b="0" i="0">
                <a:solidFill>
                  <a:srgbClr val="222B30"/>
                </a:solidFill>
                <a:latin typeface="Calibri"/>
              </a:rPr>
              <a:t> : « Sex/gender of participants reported? »</a:t>
            </a:r>
          </a:p>
        </p:txBody>
      </p:sp>
      <p:sp>
        <p:nvSpPr>
          <p:cNvPr id="17" name="Oval 16"/>
          <p:cNvSpPr/>
          <p:nvPr/>
        </p:nvSpPr>
        <p:spPr>
          <a:xfrm>
            <a:off x="502920" y="303580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18" name="TextBox 17"/>
          <p:cNvSpPr txBox="1"/>
          <p:nvPr/>
        </p:nvSpPr>
        <p:spPr>
          <a:xfrm>
            <a:off x="1097280" y="2980944"/>
            <a:ext cx="5806440" cy="685800"/>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Cliquer sur une cellule : lire le </a:t>
            </a:r>
            <a:r>
              <a:rPr sz="1600" b="1" i="0">
                <a:solidFill>
                  <a:srgbClr val="222B30"/>
                </a:solidFill>
                <a:latin typeface="Calibri"/>
              </a:rPr>
              <a:t>passage source</a:t>
            </a:r>
            <a:r>
              <a:rPr sz="1600" b="0" i="0">
                <a:solidFill>
                  <a:srgbClr val="222B30"/>
                </a:solidFill>
                <a:latin typeface="Calibri"/>
              </a:rPr>
              <a:t> surligné</a:t>
            </a:r>
          </a:p>
        </p:txBody>
      </p:sp>
      <p:sp>
        <p:nvSpPr>
          <p:cNvPr id="19" name="Oval 18"/>
          <p:cNvSpPr/>
          <p:nvPr/>
        </p:nvSpPr>
        <p:spPr>
          <a:xfrm>
            <a:off x="502920" y="379475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0" name="TextBox 19"/>
          <p:cNvSpPr txBox="1"/>
          <p:nvPr/>
        </p:nvSpPr>
        <p:spPr>
          <a:xfrm>
            <a:off x="1097280" y="3739896"/>
            <a:ext cx="5806440" cy="685800"/>
          </a:xfrm>
          <a:prstGeom prst="rect">
            <a:avLst/>
          </a:prstGeom>
          <a:noFill/>
        </p:spPr>
        <p:txBody>
          <a:bodyPr wrap="square" lIns="45720" tIns="27432" rIns="45720" bIns="27432" anchor="ctr">
            <a:spAutoFit/>
          </a:bodyPr>
          <a:lstStyle/>
          <a:p>
            <a:pPr algn="l">
              <a:lnSpc>
                <a:spcPct val="105000"/>
              </a:lnSpc>
            </a:pPr>
            <a:r>
              <a:rPr sz="1600" b="0" i="0">
                <a:solidFill>
                  <a:srgbClr val="222B30"/>
                </a:solidFill>
                <a:latin typeface="Calibri"/>
              </a:rPr>
              <a:t>Vérifier ce passage </a:t>
            </a:r>
            <a:r>
              <a:rPr sz="1600" b="1" i="0">
                <a:solidFill>
                  <a:srgbClr val="222B30"/>
                </a:solidFill>
                <a:latin typeface="Calibri"/>
              </a:rPr>
              <a:t>dans le PDF</a:t>
            </a:r>
          </a:p>
        </p:txBody>
      </p:sp>
      <p:sp>
        <p:nvSpPr>
          <p:cNvPr id="21" name="Oval 20"/>
          <p:cNvSpPr/>
          <p:nvPr/>
        </p:nvSpPr>
        <p:spPr>
          <a:xfrm>
            <a:off x="502920" y="455371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2" name="TextBox 21"/>
          <p:cNvSpPr txBox="1"/>
          <p:nvPr/>
        </p:nvSpPr>
        <p:spPr>
          <a:xfrm>
            <a:off x="1097280" y="4498848"/>
            <a:ext cx="5806440" cy="685800"/>
          </a:xfrm>
          <a:prstGeom prst="rect">
            <a:avLst/>
          </a:prstGeom>
          <a:noFill/>
        </p:spPr>
        <p:txBody>
          <a:bodyPr wrap="square" lIns="45720" tIns="27432" rIns="45720" bIns="27432" anchor="ctr">
            <a:spAutoFit/>
          </a:bodyPr>
          <a:lstStyle/>
          <a:p>
            <a:pPr algn="l">
              <a:lnSpc>
                <a:spcPct val="105000"/>
              </a:lnSpc>
            </a:pPr>
            <a:r>
              <a:rPr sz="1600" b="1" i="0">
                <a:solidFill>
                  <a:srgbClr val="222B30"/>
                </a:solidFill>
                <a:latin typeface="Calibri"/>
              </a:rPr>
              <a:t>Export</a:t>
            </a:r>
            <a:r>
              <a:rPr sz="1600" b="0" i="0">
                <a:solidFill>
                  <a:srgbClr val="222B30"/>
                </a:solidFill>
                <a:latin typeface="Calibri"/>
              </a:rPr>
              <a:t> : CSV pour le tableur, BibTeX / RIS pour Zotero</a:t>
            </a:r>
          </a:p>
        </p:txBody>
      </p:sp>
      <p:sp>
        <p:nvSpPr>
          <p:cNvPr id="23" name="Rounded Rectangle 22"/>
          <p:cNvSpPr/>
          <p:nvPr/>
        </p:nvSpPr>
        <p:spPr>
          <a:xfrm>
            <a:off x="7269480" y="1463040"/>
            <a:ext cx="4389120" cy="4663440"/>
          </a:xfrm>
          <a:prstGeom prst="roundRect">
            <a:avLst>
              <a:gd name="adj" fmla="val 5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1600200"/>
            <a:ext cx="3931920" cy="548640"/>
          </a:xfrm>
          <a:prstGeom prst="rect">
            <a:avLst/>
          </a:prstGeom>
          <a:noFill/>
        </p:spPr>
        <p:txBody>
          <a:bodyPr wrap="square" lIns="45720" tIns="27432" rIns="45720" bIns="27432" anchor="t">
            <a:spAutoFit/>
          </a:bodyPr>
          <a:lstStyle/>
          <a:p>
            <a:pPr algn="l">
              <a:lnSpc>
                <a:spcPct val="105000"/>
              </a:lnSpc>
            </a:pPr>
            <a:r>
              <a:rPr sz="1900" b="1" i="0">
                <a:solidFill>
                  <a:srgbClr val="E0A526"/>
                </a:solidFill>
                <a:latin typeface="Georgia"/>
              </a:rPr>
              <a:t>La règle des 3 vérifications</a:t>
            </a:r>
          </a:p>
        </p:txBody>
      </p:sp>
      <p:sp>
        <p:nvSpPr>
          <p:cNvPr id="25" name="TextBox 24"/>
          <p:cNvSpPr txBox="1"/>
          <p:nvPr/>
        </p:nvSpPr>
        <p:spPr>
          <a:xfrm>
            <a:off x="7498079" y="2377440"/>
            <a:ext cx="3931920" cy="3657600"/>
          </a:xfrm>
          <a:prstGeom prst="rect">
            <a:avLst/>
          </a:prstGeom>
          <a:noFill/>
        </p:spPr>
        <p:txBody>
          <a:bodyPr wrap="square" lIns="45720" tIns="27432" rIns="45720" bIns="27432" anchor="t">
            <a:spAutoFit/>
          </a:bodyPr>
          <a:lstStyle/>
          <a:p>
            <a:pPr algn="l">
              <a:lnSpc>
                <a:spcPct val="105000"/>
              </a:lnSpc>
            </a:pPr>
            <a:r>
              <a:rPr sz="1500" b="1" i="0">
                <a:solidFill>
                  <a:srgbClr val="FFFFFF"/>
                </a:solidFill>
                <a:latin typeface="Calibri"/>
              </a:rPr>
              <a:t>1. La source existe</a:t>
            </a:r>
          </a:p>
          <a:p>
            <a:pPr algn="l">
              <a:lnSpc>
                <a:spcPct val="105000"/>
              </a:lnSpc>
            </a:pPr>
            <a:r>
              <a:rPr sz="1500" b="0" i="0">
                <a:solidFill>
                  <a:srgbClr val="FFFFFF"/>
                </a:solidFill>
                <a:latin typeface="Calibri"/>
              </a:rPr>
              <a:t>titre et DOI vérifiés sur doi.org</a:t>
            </a:r>
          </a:p>
          <a:p>
            <a:pPr algn="l">
              <a:lnSpc>
                <a:spcPct val="105000"/>
              </a:lnSpc>
            </a:pPr>
            <a:endParaRPr sz="1500" b="0" i="0">
              <a:solidFill>
                <a:srgbClr val="FFFFFF"/>
              </a:solidFill>
              <a:latin typeface="Calibri"/>
            </a:endParaRPr>
          </a:p>
          <a:p>
            <a:pPr algn="l">
              <a:lnSpc>
                <a:spcPct val="105000"/>
              </a:lnSpc>
            </a:pPr>
            <a:r>
              <a:rPr sz="1500" b="1" i="0">
                <a:solidFill>
                  <a:srgbClr val="FFFFFF"/>
                </a:solidFill>
                <a:latin typeface="Calibri"/>
              </a:rPr>
              <a:t>2. La cellule est fidèle</a:t>
            </a:r>
          </a:p>
          <a:p>
            <a:pPr algn="l">
              <a:lnSpc>
                <a:spcPct val="105000"/>
              </a:lnSpc>
            </a:pPr>
            <a:r>
              <a:rPr sz="1500" b="0" i="0">
                <a:solidFill>
                  <a:srgbClr val="FFFFFF"/>
                </a:solidFill>
                <a:latin typeface="Calibri"/>
              </a:rPr>
              <a:t>la phrase citée dit bien cela</a:t>
            </a:r>
          </a:p>
          <a:p>
            <a:pPr algn="l">
              <a:lnSpc>
                <a:spcPct val="105000"/>
              </a:lnSpc>
            </a:pPr>
            <a:endParaRPr sz="1500" b="0" i="0">
              <a:solidFill>
                <a:srgbClr val="FFFFFF"/>
              </a:solidFill>
              <a:latin typeface="Calibri"/>
            </a:endParaRPr>
          </a:p>
          <a:p>
            <a:pPr algn="l">
              <a:lnSpc>
                <a:spcPct val="105000"/>
              </a:lnSpc>
            </a:pPr>
            <a:r>
              <a:rPr sz="1500" b="1" i="0">
                <a:solidFill>
                  <a:srgbClr val="FFFFFF"/>
                </a:solidFill>
                <a:latin typeface="Calibri"/>
              </a:rPr>
              <a:t>3. Rien ne manque</a:t>
            </a:r>
          </a:p>
          <a:p>
            <a:pPr algn="l">
              <a:lnSpc>
                <a:spcPct val="105000"/>
              </a:lnSpc>
            </a:pPr>
            <a:r>
              <a:rPr sz="1500" b="0" i="0">
                <a:solidFill>
                  <a:srgbClr val="FFFFFF"/>
                </a:solidFill>
                <a:latin typeface="Calibri"/>
              </a:rPr>
              <a:t>limite, sous-groupe ou résultat négatif oublié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EXERCICE 3 · 50 MIN · 13H30 – 14H20</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Cribler et extraire avec Elicit</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31</a:t>
            </a:r>
          </a:p>
        </p:txBody>
      </p:sp>
      <p:sp>
        <p:nvSpPr>
          <p:cNvPr id="13" name="Oval 12"/>
          <p:cNvSpPr/>
          <p:nvPr/>
        </p:nvSpPr>
        <p:spPr>
          <a:xfrm>
            <a:off x="502920" y="1463040"/>
            <a:ext cx="1188720" cy="11887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i="0">
                <a:solidFill>
                  <a:srgbClr val="0B3C49"/>
                </a:solidFill>
                <a:latin typeface="Georgia"/>
              </a:rPr>
              <a:t>EX.</a:t>
            </a:r>
          </a:p>
          <a:p>
            <a:pPr algn="ctr"/>
            <a:r>
              <a:rPr sz="2200" b="1" i="0">
                <a:solidFill>
                  <a:srgbClr val="0B3C49"/>
                </a:solidFill>
                <a:latin typeface="Georgia"/>
              </a:rPr>
              <a:t>3</a:t>
            </a:r>
          </a:p>
        </p:txBody>
      </p:sp>
      <p:sp>
        <p:nvSpPr>
          <p:cNvPr id="14" name="TextBox 13"/>
          <p:cNvSpPr txBox="1"/>
          <p:nvPr/>
        </p:nvSpPr>
        <p:spPr>
          <a:xfrm>
            <a:off x="1965960" y="1463040"/>
            <a:ext cx="5943600" cy="365760"/>
          </a:xfrm>
          <a:prstGeom prst="rect">
            <a:avLst/>
          </a:prstGeom>
          <a:noFill/>
        </p:spPr>
        <p:txBody>
          <a:bodyPr wrap="square" lIns="45720" tIns="27432" rIns="45720" bIns="27432" anchor="t">
            <a:spAutoFit/>
          </a:bodyPr>
          <a:lstStyle/>
          <a:p>
            <a:pPr algn="l">
              <a:lnSpc>
                <a:spcPct val="105000"/>
              </a:lnSpc>
            </a:pPr>
            <a:r>
              <a:rPr sz="1500" b="1" i="0">
                <a:solidFill>
                  <a:srgbClr val="1F7A8C"/>
                </a:solidFill>
                <a:latin typeface="Calibri"/>
              </a:rPr>
              <a:t>Consignes (niveau Base)</a:t>
            </a:r>
          </a:p>
        </p:txBody>
      </p:sp>
      <p:sp>
        <p:nvSpPr>
          <p:cNvPr id="15" name="Oval 14"/>
          <p:cNvSpPr/>
          <p:nvPr/>
        </p:nvSpPr>
        <p:spPr>
          <a:xfrm>
            <a:off x="1965960" y="192938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6" name="TextBox 15"/>
          <p:cNvSpPr txBox="1"/>
          <p:nvPr/>
        </p:nvSpPr>
        <p:spPr>
          <a:xfrm>
            <a:off x="2560320" y="1874519"/>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Poser sa question dans Elicit, ajouter ses PDF</a:t>
            </a:r>
          </a:p>
        </p:txBody>
      </p:sp>
      <p:sp>
        <p:nvSpPr>
          <p:cNvPr id="17" name="Oval 16"/>
          <p:cNvSpPr/>
          <p:nvPr/>
        </p:nvSpPr>
        <p:spPr>
          <a:xfrm>
            <a:off x="1965960" y="254203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8" name="TextBox 17"/>
          <p:cNvSpPr txBox="1"/>
          <p:nvPr/>
        </p:nvSpPr>
        <p:spPr>
          <a:xfrm>
            <a:off x="2560320" y="2487168"/>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Cribler 15 à 20 références avec motifs</a:t>
            </a:r>
          </a:p>
        </p:txBody>
      </p:sp>
      <p:sp>
        <p:nvSpPr>
          <p:cNvPr id="19" name="Oval 18"/>
          <p:cNvSpPr/>
          <p:nvPr/>
        </p:nvSpPr>
        <p:spPr>
          <a:xfrm>
            <a:off x="1965960" y="315467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20" name="TextBox 19"/>
          <p:cNvSpPr txBox="1"/>
          <p:nvPr/>
        </p:nvSpPr>
        <p:spPr>
          <a:xfrm>
            <a:off x="2560320" y="3099815"/>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Extraire 10 sources × 6 colonnes (dont 1 disciplinaire)</a:t>
            </a:r>
          </a:p>
        </p:txBody>
      </p:sp>
      <p:sp>
        <p:nvSpPr>
          <p:cNvPr id="21" name="Oval 20"/>
          <p:cNvSpPr/>
          <p:nvPr/>
        </p:nvSpPr>
        <p:spPr>
          <a:xfrm>
            <a:off x="1965960" y="376732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2" name="TextBox 21"/>
          <p:cNvSpPr txBox="1"/>
          <p:nvPr/>
        </p:nvSpPr>
        <p:spPr>
          <a:xfrm>
            <a:off x="2560320" y="3712464"/>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Vérifier 3 cellules dans les PDF</a:t>
            </a:r>
          </a:p>
        </p:txBody>
      </p:sp>
      <p:sp>
        <p:nvSpPr>
          <p:cNvPr id="23" name="Oval 22"/>
          <p:cNvSpPr/>
          <p:nvPr/>
        </p:nvSpPr>
        <p:spPr>
          <a:xfrm>
            <a:off x="1965960" y="437997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4" name="TextBox 23"/>
          <p:cNvSpPr txBox="1"/>
          <p:nvPr/>
        </p:nvSpPr>
        <p:spPr>
          <a:xfrm>
            <a:off x="2560320" y="4325112"/>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Remplir les effectifs PRISMA</a:t>
            </a:r>
          </a:p>
        </p:txBody>
      </p:sp>
      <p:sp>
        <p:nvSpPr>
          <p:cNvPr id="25" name="Oval 24"/>
          <p:cNvSpPr/>
          <p:nvPr/>
        </p:nvSpPr>
        <p:spPr>
          <a:xfrm>
            <a:off x="1965960" y="499262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6</a:t>
            </a:r>
          </a:p>
        </p:txBody>
      </p:sp>
      <p:sp>
        <p:nvSpPr>
          <p:cNvPr id="26" name="TextBox 25"/>
          <p:cNvSpPr txBox="1"/>
          <p:nvPr/>
        </p:nvSpPr>
        <p:spPr>
          <a:xfrm>
            <a:off x="2560320" y="4937760"/>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Exporter en CSV ; tenir le journal des erreurs</a:t>
            </a:r>
          </a:p>
        </p:txBody>
      </p:sp>
      <p:sp>
        <p:nvSpPr>
          <p:cNvPr id="27" name="Rectangle 26"/>
          <p:cNvSpPr/>
          <p:nvPr/>
        </p:nvSpPr>
        <p:spPr>
          <a:xfrm>
            <a:off x="8275320" y="1463040"/>
            <a:ext cx="3429000" cy="2286000"/>
          </a:xfrm>
          <a:prstGeom prst="rect">
            <a:avLst/>
          </a:prstGeom>
          <a:solidFill>
            <a:srgbClr val="FFFFFF"/>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80" y="153619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Livrable</a:t>
            </a:r>
          </a:p>
        </p:txBody>
      </p:sp>
      <p:sp>
        <p:nvSpPr>
          <p:cNvPr id="29" name="TextBox 28"/>
          <p:cNvSpPr txBox="1"/>
          <p:nvPr/>
        </p:nvSpPr>
        <p:spPr>
          <a:xfrm>
            <a:off x="8412480" y="1901952"/>
            <a:ext cx="3200400" cy="182880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Décisions de criblage · tableau d'extraction · 3 vérifications · effectifs PRISMA · journal des erreurs de l'IA.
Grille : 5 points.</a:t>
            </a:r>
          </a:p>
        </p:txBody>
      </p:sp>
      <p:sp>
        <p:nvSpPr>
          <p:cNvPr id="30" name="Rectangle 29"/>
          <p:cNvSpPr/>
          <p:nvPr/>
        </p:nvSpPr>
        <p:spPr>
          <a:xfrm>
            <a:off x="8275320" y="3931920"/>
            <a:ext cx="3429000" cy="2240280"/>
          </a:xfrm>
          <a:prstGeom prst="rect">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0" y="400507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Niveau Défi</a:t>
            </a:r>
          </a:p>
        </p:txBody>
      </p:sp>
      <p:sp>
        <p:nvSpPr>
          <p:cNvPr id="32" name="TextBox 31"/>
          <p:cNvSpPr txBox="1"/>
          <p:nvPr/>
        </p:nvSpPr>
        <p:spPr>
          <a:xfrm>
            <a:off x="8412480" y="4370832"/>
            <a:ext cx="3200400" cy="178308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Double criblage à l'aveugle avec le binôme et calcul des accords · colonne « résultats ventilés par sexe ? » (SAGER) · comparer décisions d'Elicit et décisions humaines.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2743200" cy="2377440"/>
          </a:xfrm>
          <a:prstGeom prst="rect">
            <a:avLst/>
          </a:prstGeom>
          <a:noFill/>
        </p:spPr>
        <p:txBody>
          <a:bodyPr wrap="square" lIns="45720" tIns="27432" rIns="45720" bIns="27432" anchor="t">
            <a:spAutoFit/>
          </a:bodyPr>
          <a:lstStyle/>
          <a:p>
            <a:pPr algn="l">
              <a:lnSpc>
                <a:spcPct val="105000"/>
              </a:lnSpc>
            </a:pPr>
            <a:r>
              <a:rPr sz="17000" b="1" i="0">
                <a:solidFill>
                  <a:srgbClr val="E0A526"/>
                </a:solidFill>
                <a:latin typeface="Georgia"/>
              </a:rPr>
              <a:t>4</a:t>
            </a:r>
          </a:p>
        </p:txBody>
      </p:sp>
      <p:sp>
        <p:nvSpPr>
          <p:cNvPr id="3" name="TextBox 2"/>
          <p:cNvSpPr txBox="1"/>
          <p:nvPr/>
        </p:nvSpPr>
        <p:spPr>
          <a:xfrm>
            <a:off x="3291840" y="1234440"/>
            <a:ext cx="8229600" cy="365760"/>
          </a:xfrm>
          <a:prstGeom prst="rect">
            <a:avLst/>
          </a:prstGeom>
          <a:noFill/>
        </p:spPr>
        <p:txBody>
          <a:bodyPr wrap="square" lIns="45720" tIns="27432" rIns="45720" bIns="27432" anchor="t">
            <a:spAutoFit/>
          </a:bodyPr>
          <a:lstStyle/>
          <a:p>
            <a:pPr algn="l">
              <a:lnSpc>
                <a:spcPct val="105000"/>
              </a:lnSpc>
            </a:pPr>
            <a:r>
              <a:rPr sz="1300" b="1" i="0">
                <a:solidFill>
                  <a:srgbClr val="E0A526"/>
                </a:solidFill>
                <a:latin typeface="Calibri"/>
              </a:rPr>
              <a:t>PHASE 4 · CRISP-DM : MODELING</a:t>
            </a:r>
          </a:p>
        </p:txBody>
      </p:sp>
      <p:sp>
        <p:nvSpPr>
          <p:cNvPr id="4" name="TextBox 3"/>
          <p:cNvSpPr txBox="1"/>
          <p:nvPr/>
        </p:nvSpPr>
        <p:spPr>
          <a:xfrm>
            <a:off x="3291840" y="1645920"/>
            <a:ext cx="8412480" cy="1280160"/>
          </a:xfrm>
          <a:prstGeom prst="rect">
            <a:avLst/>
          </a:prstGeom>
          <a:noFill/>
        </p:spPr>
        <p:txBody>
          <a:bodyPr wrap="square" lIns="45720" tIns="27432" rIns="45720" bIns="27432" anchor="t">
            <a:spAutoFit/>
          </a:bodyPr>
          <a:lstStyle/>
          <a:p>
            <a:pPr algn="l">
              <a:lnSpc>
                <a:spcPct val="105000"/>
              </a:lnSpc>
            </a:pPr>
            <a:r>
              <a:rPr sz="4400" b="1" i="0">
                <a:solidFill>
                  <a:srgbClr val="FFFFFF"/>
                </a:solidFill>
                <a:latin typeface="Georgia"/>
              </a:rPr>
              <a:t>Modélisation</a:t>
            </a:r>
          </a:p>
        </p:txBody>
      </p:sp>
      <p:sp>
        <p:nvSpPr>
          <p:cNvPr id="5" name="TextBox 4"/>
          <p:cNvSpPr txBox="1"/>
          <p:nvPr/>
        </p:nvSpPr>
        <p:spPr>
          <a:xfrm>
            <a:off x="3291840" y="2697480"/>
            <a:ext cx="8412480" cy="731520"/>
          </a:xfrm>
          <a:prstGeom prst="rect">
            <a:avLst/>
          </a:prstGeom>
          <a:noFill/>
        </p:spPr>
        <p:txBody>
          <a:bodyPr wrap="square" lIns="45720" tIns="27432" rIns="45720" bIns="27432" anchor="t">
            <a:spAutoFit/>
          </a:bodyPr>
          <a:lstStyle/>
          <a:p>
            <a:pPr algn="l">
              <a:lnSpc>
                <a:spcPct val="105000"/>
              </a:lnSpc>
            </a:pPr>
            <a:r>
              <a:rPr sz="2200" b="0" i="0">
                <a:solidFill>
                  <a:srgbClr val="E8F1F3"/>
                </a:solidFill>
                <a:latin typeface="Calibri"/>
              </a:rPr>
              <a:t>Synthèse assistée par IA et note méthodologique</a:t>
            </a:r>
          </a:p>
        </p:txBody>
      </p:sp>
      <p:sp>
        <p:nvSpPr>
          <p:cNvPr id="6" name="Rounded Rectangle 5"/>
          <p:cNvSpPr/>
          <p:nvPr/>
        </p:nvSpPr>
        <p:spPr>
          <a:xfrm>
            <a:off x="3291840" y="3794760"/>
            <a:ext cx="8138160" cy="960120"/>
          </a:xfrm>
          <a:prstGeom prst="roundRect">
            <a:avLst>
              <a:gd name="adj" fmla="val 12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700" b="1" i="0">
                <a:solidFill>
                  <a:srgbClr val="FFFFFF"/>
                </a:solidFill>
                <a:latin typeface="Calibri"/>
              </a:rPr>
              <a:t>Question clé :</a:t>
            </a:r>
            <a:r>
              <a:rPr sz="1700" b="0" i="0">
                <a:solidFill>
                  <a:srgbClr val="FFFFFF"/>
                </a:solidFill>
                <a:latin typeface="Calibri"/>
              </a:rPr>
              <a:t> Qu'est-ce que l'ensemble des sources nous apprend ?</a:t>
            </a:r>
          </a:p>
        </p:txBody>
      </p:sp>
      <p:sp>
        <p:nvSpPr>
          <p:cNvPr id="7" name="TextBox 6"/>
          <p:cNvSpPr txBox="1"/>
          <p:nvPr/>
        </p:nvSpPr>
        <p:spPr>
          <a:xfrm>
            <a:off x="3291840" y="4983480"/>
            <a:ext cx="8138160" cy="548640"/>
          </a:xfrm>
          <a:prstGeom prst="rect">
            <a:avLst/>
          </a:prstGeom>
          <a:noFill/>
        </p:spPr>
        <p:txBody>
          <a:bodyPr wrap="square" lIns="45720" tIns="27432" rIns="45720" bIns="27432" anchor="t">
            <a:spAutoFit/>
          </a:bodyPr>
          <a:lstStyle/>
          <a:p>
            <a:pPr algn="l">
              <a:lnSpc>
                <a:spcPct val="105000"/>
              </a:lnSpc>
            </a:pPr>
            <a:r>
              <a:rPr sz="1600" b="0" i="0">
                <a:solidFill>
                  <a:srgbClr val="E0A526"/>
                </a:solidFill>
                <a:latin typeface="Calibri"/>
              </a:rPr>
              <a:t>Livrable : synthèse de 300 à 500 mots, sourcée et vérifiée (Exercice 4)</a:t>
            </a:r>
          </a:p>
        </p:txBody>
      </p:sp>
      <p:sp>
        <p:nvSpPr>
          <p:cNvPr id="8" name="Chevron 7"/>
          <p:cNvSpPr/>
          <p:nvPr/>
        </p:nvSpPr>
        <p:spPr>
          <a:xfrm>
            <a:off x="3291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1</a:t>
            </a:r>
          </a:p>
        </p:txBody>
      </p:sp>
      <p:sp>
        <p:nvSpPr>
          <p:cNvPr id="9" name="Chevron 8"/>
          <p:cNvSpPr/>
          <p:nvPr/>
        </p:nvSpPr>
        <p:spPr>
          <a:xfrm>
            <a:off x="46634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2</a:t>
            </a:r>
          </a:p>
        </p:txBody>
      </p:sp>
      <p:sp>
        <p:nvSpPr>
          <p:cNvPr id="10" name="Chevron 9"/>
          <p:cNvSpPr/>
          <p:nvPr/>
        </p:nvSpPr>
        <p:spPr>
          <a:xfrm>
            <a:off x="60350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3</a:t>
            </a:r>
          </a:p>
        </p:txBody>
      </p:sp>
      <p:sp>
        <p:nvSpPr>
          <p:cNvPr id="11" name="Chevron 10"/>
          <p:cNvSpPr/>
          <p:nvPr/>
        </p:nvSpPr>
        <p:spPr>
          <a:xfrm>
            <a:off x="7406640" y="5852160"/>
            <a:ext cx="1261872" cy="384048"/>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0B3C49"/>
                </a:solidFill>
                <a:latin typeface="Calibri"/>
              </a:rPr>
              <a:t>4</a:t>
            </a:r>
          </a:p>
        </p:txBody>
      </p:sp>
      <p:sp>
        <p:nvSpPr>
          <p:cNvPr id="12" name="Chevron 11"/>
          <p:cNvSpPr/>
          <p:nvPr/>
        </p:nvSpPr>
        <p:spPr>
          <a:xfrm>
            <a:off x="87782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5</a:t>
            </a:r>
          </a:p>
        </p:txBody>
      </p:sp>
      <p:sp>
        <p:nvSpPr>
          <p:cNvPr id="13" name="Chevron 12"/>
          <p:cNvSpPr/>
          <p:nvPr/>
        </p:nvSpPr>
        <p:spPr>
          <a:xfrm>
            <a:off x="10149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4 · MODÉLISATION · MODELING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Trois façons de synthétiser</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33</a:t>
            </a:r>
          </a:p>
        </p:txBody>
      </p:sp>
      <p:sp>
        <p:nvSpPr>
          <p:cNvPr id="13" name="Rectangle 12"/>
          <p:cNvSpPr/>
          <p:nvPr/>
        </p:nvSpPr>
        <p:spPr>
          <a:xfrm>
            <a:off x="502920" y="1463040"/>
            <a:ext cx="3584448" cy="292608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63040"/>
            <a:ext cx="82296" cy="292608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54480"/>
            <a:ext cx="3310128"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Synthèse narrative structurée</a:t>
            </a:r>
          </a:p>
        </p:txBody>
      </p:sp>
      <p:sp>
        <p:nvSpPr>
          <p:cNvPr id="16" name="TextBox 15"/>
          <p:cNvSpPr txBox="1"/>
          <p:nvPr/>
        </p:nvSpPr>
        <p:spPr>
          <a:xfrm>
            <a:off x="685800" y="2057400"/>
            <a:ext cx="3310128" cy="2377440"/>
          </a:xfrm>
          <a:prstGeom prst="rect">
            <a:avLst/>
          </a:prstGeom>
          <a:noFill/>
        </p:spPr>
        <p:txBody>
          <a:bodyPr wrap="square" lIns="45720" tIns="27432" rIns="45720" bIns="27432" anchor="t">
            <a:spAutoFit/>
          </a:bodyPr>
          <a:lstStyle/>
          <a:p>
            <a:pPr algn="l">
              <a:lnSpc>
                <a:spcPct val="105000"/>
              </a:lnSpc>
            </a:pPr>
            <a:r>
              <a:rPr sz="1450" b="0" i="0">
                <a:solidFill>
                  <a:srgbClr val="222B30"/>
                </a:solidFill>
                <a:latin typeface="Calibri"/>
              </a:rPr>
              <a:t>Regrouper les études par thème ou par type et décrire les tendances. Recommandation SWiM pour la rendre transparente.</a:t>
            </a:r>
          </a:p>
        </p:txBody>
      </p:sp>
      <p:sp>
        <p:nvSpPr>
          <p:cNvPr id="17" name="Rectangle 16"/>
          <p:cNvSpPr/>
          <p:nvPr/>
        </p:nvSpPr>
        <p:spPr>
          <a:xfrm>
            <a:off x="4288536" y="1463040"/>
            <a:ext cx="3584448" cy="292608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88536" y="1463040"/>
            <a:ext cx="82296" cy="292608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1416" y="1554480"/>
            <a:ext cx="3310128"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Synthèse thématique</a:t>
            </a:r>
          </a:p>
        </p:txBody>
      </p:sp>
      <p:sp>
        <p:nvSpPr>
          <p:cNvPr id="20" name="TextBox 19"/>
          <p:cNvSpPr txBox="1"/>
          <p:nvPr/>
        </p:nvSpPr>
        <p:spPr>
          <a:xfrm>
            <a:off x="4471416" y="2057400"/>
            <a:ext cx="3310128" cy="2377440"/>
          </a:xfrm>
          <a:prstGeom prst="rect">
            <a:avLst/>
          </a:prstGeom>
          <a:noFill/>
        </p:spPr>
        <p:txBody>
          <a:bodyPr wrap="square" lIns="45720" tIns="27432" rIns="45720" bIns="27432" anchor="t">
            <a:spAutoFit/>
          </a:bodyPr>
          <a:lstStyle/>
          <a:p>
            <a:pPr algn="l">
              <a:lnSpc>
                <a:spcPct val="105000"/>
              </a:lnSpc>
            </a:pPr>
            <a:r>
              <a:rPr sz="1450" b="0" i="0">
                <a:solidFill>
                  <a:srgbClr val="222B30"/>
                </a:solidFill>
                <a:latin typeface="Calibri"/>
              </a:rPr>
              <a:t>Coder les résultats des études qualitatives, construire des thèmes descriptifs puis analytiques (Thomas et Harden).</a:t>
            </a:r>
          </a:p>
        </p:txBody>
      </p:sp>
      <p:sp>
        <p:nvSpPr>
          <p:cNvPr id="21" name="Rectangle 20"/>
          <p:cNvSpPr/>
          <p:nvPr/>
        </p:nvSpPr>
        <p:spPr>
          <a:xfrm>
            <a:off x="8074152" y="1463040"/>
            <a:ext cx="3584448" cy="292608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463040"/>
            <a:ext cx="82296" cy="292608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1554480"/>
            <a:ext cx="3310128"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Matrice de synthèse</a:t>
            </a:r>
          </a:p>
        </p:txBody>
      </p:sp>
      <p:sp>
        <p:nvSpPr>
          <p:cNvPr id="24" name="TextBox 23"/>
          <p:cNvSpPr txBox="1"/>
          <p:nvPr/>
        </p:nvSpPr>
        <p:spPr>
          <a:xfrm>
            <a:off x="8257031" y="2057400"/>
            <a:ext cx="3310128" cy="2377440"/>
          </a:xfrm>
          <a:prstGeom prst="rect">
            <a:avLst/>
          </a:prstGeom>
          <a:noFill/>
        </p:spPr>
        <p:txBody>
          <a:bodyPr wrap="square" lIns="45720" tIns="27432" rIns="45720" bIns="27432" anchor="t">
            <a:spAutoFit/>
          </a:bodyPr>
          <a:lstStyle/>
          <a:p>
            <a:pPr algn="l">
              <a:lnSpc>
                <a:spcPct val="105000"/>
              </a:lnSpc>
            </a:pPr>
            <a:r>
              <a:rPr sz="1450" b="0" i="0">
                <a:solidFill>
                  <a:srgbClr val="222B30"/>
                </a:solidFill>
                <a:latin typeface="Calibri"/>
              </a:rPr>
              <a:t>Une ligne par étude, une colonne par dimension (contexte, méthode, résultats, limites) : le socle de tout texte.</a:t>
            </a:r>
          </a:p>
        </p:txBody>
      </p:sp>
      <p:sp>
        <p:nvSpPr>
          <p:cNvPr id="25" name="Rounded Rectangle 24"/>
          <p:cNvSpPr/>
          <p:nvPr/>
        </p:nvSpPr>
        <p:spPr>
          <a:xfrm>
            <a:off x="502920" y="4663440"/>
            <a:ext cx="11155680" cy="146304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i="0">
                <a:solidFill>
                  <a:srgbClr val="FFFFFF"/>
                </a:solidFill>
                <a:latin typeface="Calibri"/>
              </a:rPr>
              <a:t>L'IA propose, vous vérifiez.</a:t>
            </a:r>
          </a:p>
          <a:p>
            <a:pPr algn="ctr"/>
            <a:r>
              <a:rPr sz="1800" b="0" i="0">
                <a:solidFill>
                  <a:srgbClr val="FFFFFF"/>
                </a:solidFill>
                <a:latin typeface="Calibri"/>
              </a:rPr>
              <a:t>On part toujours du tableau d'extraction vérifié, jamais d'une nouvelle recherche du chatbot.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4 · MODÉLISATION · MODELING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Du tableau au texte : la méthode en 5 étapes</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34</a:t>
            </a:r>
          </a:p>
        </p:txBody>
      </p:sp>
      <p:sp>
        <p:nvSpPr>
          <p:cNvPr id="13" name="Oval 12"/>
          <p:cNvSpPr/>
          <p:nvPr/>
        </p:nvSpPr>
        <p:spPr>
          <a:xfrm>
            <a:off x="502920" y="151790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4" name="TextBox 13"/>
          <p:cNvSpPr txBox="1"/>
          <p:nvPr/>
        </p:nvSpPr>
        <p:spPr>
          <a:xfrm>
            <a:off x="1097280" y="1463040"/>
            <a:ext cx="5166359" cy="731520"/>
          </a:xfrm>
          <a:prstGeom prst="rect">
            <a:avLst/>
          </a:prstGeom>
          <a:noFill/>
        </p:spPr>
        <p:txBody>
          <a:bodyPr wrap="square" lIns="45720" tIns="27432" rIns="45720" bIns="27432" anchor="ctr">
            <a:spAutoFit/>
          </a:bodyPr>
          <a:lstStyle/>
          <a:p>
            <a:pPr algn="l">
              <a:lnSpc>
                <a:spcPct val="105000"/>
              </a:lnSpc>
            </a:pPr>
            <a:r>
              <a:rPr sz="1550" b="0" i="0">
                <a:solidFill>
                  <a:srgbClr val="222B30"/>
                </a:solidFill>
                <a:latin typeface="Calibri"/>
              </a:rPr>
              <a:t>Partir du </a:t>
            </a:r>
            <a:r>
              <a:rPr sz="1550" b="1" i="0">
                <a:solidFill>
                  <a:srgbClr val="222B30"/>
                </a:solidFill>
                <a:latin typeface="Calibri"/>
              </a:rPr>
              <a:t>tableau d'extraction vérifié</a:t>
            </a:r>
          </a:p>
        </p:txBody>
      </p:sp>
      <p:sp>
        <p:nvSpPr>
          <p:cNvPr id="15" name="Oval 14"/>
          <p:cNvSpPr/>
          <p:nvPr/>
        </p:nvSpPr>
        <p:spPr>
          <a:xfrm>
            <a:off x="502920" y="232257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6" name="TextBox 15"/>
          <p:cNvSpPr txBox="1"/>
          <p:nvPr/>
        </p:nvSpPr>
        <p:spPr>
          <a:xfrm>
            <a:off x="1097280" y="2267712"/>
            <a:ext cx="5166359" cy="731520"/>
          </a:xfrm>
          <a:prstGeom prst="rect">
            <a:avLst/>
          </a:prstGeom>
          <a:noFill/>
        </p:spPr>
        <p:txBody>
          <a:bodyPr wrap="square" lIns="45720" tIns="27432" rIns="45720" bIns="27432" anchor="ctr">
            <a:spAutoFit/>
          </a:bodyPr>
          <a:lstStyle/>
          <a:p>
            <a:pPr algn="l">
              <a:lnSpc>
                <a:spcPct val="105000"/>
              </a:lnSpc>
            </a:pPr>
            <a:r>
              <a:rPr sz="1550" b="0" i="0">
                <a:solidFill>
                  <a:srgbClr val="222B30"/>
                </a:solidFill>
                <a:latin typeface="Calibri"/>
              </a:rPr>
              <a:t>Demander un </a:t>
            </a:r>
            <a:r>
              <a:rPr sz="1550" b="1" i="0">
                <a:solidFill>
                  <a:srgbClr val="222B30"/>
                </a:solidFill>
                <a:latin typeface="Calibri"/>
              </a:rPr>
              <a:t>plan</a:t>
            </a:r>
            <a:r>
              <a:rPr sz="1550" b="0" i="0">
                <a:solidFill>
                  <a:srgbClr val="222B30"/>
                </a:solidFill>
                <a:latin typeface="Calibri"/>
              </a:rPr>
              <a:t> (thèmes, convergences, divergences), pas un texte final</a:t>
            </a:r>
          </a:p>
        </p:txBody>
      </p:sp>
      <p:sp>
        <p:nvSpPr>
          <p:cNvPr id="17" name="Oval 16"/>
          <p:cNvSpPr/>
          <p:nvPr/>
        </p:nvSpPr>
        <p:spPr>
          <a:xfrm>
            <a:off x="502920" y="312724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18" name="TextBox 17"/>
          <p:cNvSpPr txBox="1"/>
          <p:nvPr/>
        </p:nvSpPr>
        <p:spPr>
          <a:xfrm>
            <a:off x="1097280" y="3072384"/>
            <a:ext cx="5166359" cy="731520"/>
          </a:xfrm>
          <a:prstGeom prst="rect">
            <a:avLst/>
          </a:prstGeom>
          <a:noFill/>
        </p:spPr>
        <p:txBody>
          <a:bodyPr wrap="square" lIns="45720" tIns="27432" rIns="45720" bIns="27432" anchor="ctr">
            <a:spAutoFit/>
          </a:bodyPr>
          <a:lstStyle/>
          <a:p>
            <a:pPr algn="l">
              <a:lnSpc>
                <a:spcPct val="105000"/>
              </a:lnSpc>
            </a:pPr>
            <a:r>
              <a:rPr sz="1550" b="0" i="0">
                <a:solidFill>
                  <a:srgbClr val="222B30"/>
                </a:solidFill>
                <a:latin typeface="Calibri"/>
              </a:rPr>
              <a:t>Rédiger section par section : </a:t>
            </a:r>
            <a:r>
              <a:rPr sz="1550" b="1" i="0">
                <a:solidFill>
                  <a:srgbClr val="222B30"/>
                </a:solidFill>
                <a:latin typeface="Calibri"/>
              </a:rPr>
              <a:t>une référence par affirmation</a:t>
            </a:r>
          </a:p>
        </p:txBody>
      </p:sp>
      <p:sp>
        <p:nvSpPr>
          <p:cNvPr id="19" name="Oval 18"/>
          <p:cNvSpPr/>
          <p:nvPr/>
        </p:nvSpPr>
        <p:spPr>
          <a:xfrm>
            <a:off x="502920" y="3931920"/>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0" name="TextBox 19"/>
          <p:cNvSpPr txBox="1"/>
          <p:nvPr/>
        </p:nvSpPr>
        <p:spPr>
          <a:xfrm>
            <a:off x="1097280" y="3877056"/>
            <a:ext cx="5166359" cy="731520"/>
          </a:xfrm>
          <a:prstGeom prst="rect">
            <a:avLst/>
          </a:prstGeom>
          <a:noFill/>
        </p:spPr>
        <p:txBody>
          <a:bodyPr wrap="square" lIns="45720" tIns="27432" rIns="45720" bIns="27432" anchor="ctr">
            <a:spAutoFit/>
          </a:bodyPr>
          <a:lstStyle/>
          <a:p>
            <a:pPr algn="l">
              <a:lnSpc>
                <a:spcPct val="105000"/>
              </a:lnSpc>
            </a:pPr>
            <a:r>
              <a:rPr sz="1550" b="1" i="0">
                <a:solidFill>
                  <a:srgbClr val="222B30"/>
                </a:solidFill>
                <a:latin typeface="Calibri"/>
              </a:rPr>
              <a:t>Contrôler chaque phrase</a:t>
            </a:r>
            <a:r>
              <a:rPr sz="1550" b="0" i="0">
                <a:solidFill>
                  <a:srgbClr val="222B30"/>
                </a:solidFill>
                <a:latin typeface="Calibri"/>
              </a:rPr>
              <a:t> contre le tableau et le PDF</a:t>
            </a:r>
          </a:p>
        </p:txBody>
      </p:sp>
      <p:sp>
        <p:nvSpPr>
          <p:cNvPr id="21" name="Oval 20"/>
          <p:cNvSpPr/>
          <p:nvPr/>
        </p:nvSpPr>
        <p:spPr>
          <a:xfrm>
            <a:off x="502920" y="473659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2" name="TextBox 21"/>
          <p:cNvSpPr txBox="1"/>
          <p:nvPr/>
        </p:nvSpPr>
        <p:spPr>
          <a:xfrm>
            <a:off x="1097280" y="4681728"/>
            <a:ext cx="5166359" cy="731520"/>
          </a:xfrm>
          <a:prstGeom prst="rect">
            <a:avLst/>
          </a:prstGeom>
          <a:noFill/>
        </p:spPr>
        <p:txBody>
          <a:bodyPr wrap="square" lIns="45720" tIns="27432" rIns="45720" bIns="27432" anchor="ctr">
            <a:spAutoFit/>
          </a:bodyPr>
          <a:lstStyle/>
          <a:p>
            <a:pPr algn="l">
              <a:lnSpc>
                <a:spcPct val="105000"/>
              </a:lnSpc>
            </a:pPr>
            <a:r>
              <a:rPr sz="1550" b="0" i="0">
                <a:solidFill>
                  <a:srgbClr val="222B30"/>
                </a:solidFill>
                <a:latin typeface="Calibri"/>
              </a:rPr>
              <a:t>Ajouter </a:t>
            </a:r>
            <a:r>
              <a:rPr sz="1550" b="1" i="0">
                <a:solidFill>
                  <a:srgbClr val="222B30"/>
                </a:solidFill>
                <a:latin typeface="Calibri"/>
              </a:rPr>
              <a:t>votre analyse</a:t>
            </a:r>
            <a:r>
              <a:rPr sz="1550" b="0" i="0">
                <a:solidFill>
                  <a:srgbClr val="222B30"/>
                </a:solidFill>
                <a:latin typeface="Calibri"/>
              </a:rPr>
              <a:t> : limites, lacunes, contexte togolais</a:t>
            </a:r>
          </a:p>
        </p:txBody>
      </p:sp>
      <p:sp>
        <p:nvSpPr>
          <p:cNvPr id="23" name="Rectangle 22"/>
          <p:cNvSpPr/>
          <p:nvPr/>
        </p:nvSpPr>
        <p:spPr>
          <a:xfrm>
            <a:off x="6537960" y="1463040"/>
            <a:ext cx="5120640" cy="4663440"/>
          </a:xfrm>
          <a:prstGeom prst="rect">
            <a:avLst/>
          </a:prstGeom>
          <a:solidFill>
            <a:srgbClr val="FBF3E0"/>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20840" y="1554480"/>
            <a:ext cx="4754880"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Prompt traçable (modèle)</a:t>
            </a:r>
          </a:p>
        </p:txBody>
      </p:sp>
      <p:sp>
        <p:nvSpPr>
          <p:cNvPr id="25" name="TextBox 24"/>
          <p:cNvSpPr txBox="1"/>
          <p:nvPr/>
        </p:nvSpPr>
        <p:spPr>
          <a:xfrm>
            <a:off x="6720840" y="2011680"/>
            <a:ext cx="4754880" cy="4023360"/>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 Tu es assistante de recherche en [discipline]. Voici un tableau d'extraction de [n] études. </a:t>
            </a:r>
            <a:r>
              <a:rPr sz="1400" b="1" i="0">
                <a:solidFill>
                  <a:srgbClr val="222B30"/>
                </a:solidFill>
                <a:latin typeface="Calibri"/>
              </a:rPr>
              <a:t>Utilise uniquement ces informations.</a:t>
            </a:r>
            <a:r>
              <a:rPr sz="1400" b="0" i="0">
                <a:solidFill>
                  <a:srgbClr val="222B30"/>
                </a:solidFill>
                <a:latin typeface="Calibri"/>
              </a:rPr>
              <a:t> Propose un plan de synthèse en 3 à 5 thèmes. Pour chaque thème, indique les études qui le soutiennent (auteur, année) et les divergences. Signale ce qui manque (pays, populations, méthodes). </a:t>
            </a:r>
            <a:r>
              <a:rPr sz="1400" b="1" i="0">
                <a:solidFill>
                  <a:srgbClr val="222B30"/>
                </a:solidFill>
                <a:latin typeface="Calibri"/>
              </a:rPr>
              <a:t>N'invente aucune référence.</a:t>
            </a:r>
            <a:r>
              <a:rPr sz="1400" b="0" i="0">
                <a:solidFill>
                  <a:srgbClr val="222B30"/>
                </a:solidFill>
                <a:latin typeface="Calibri"/>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4 · MODÉLISATION · MODELING</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La note méthodologique en 8 rubriques</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35</a:t>
            </a:r>
          </a:p>
        </p:txBody>
      </p:sp>
      <p:sp>
        <p:nvSpPr>
          <p:cNvPr id="13" name="Rectangle 12"/>
          <p:cNvSpPr/>
          <p:nvPr/>
        </p:nvSpPr>
        <p:spPr>
          <a:xfrm>
            <a:off x="502920" y="1463040"/>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1. Question et cadre</a:t>
            </a:r>
          </a:p>
        </p:txBody>
      </p:sp>
      <p:sp>
        <p:nvSpPr>
          <p:cNvPr id="16" name="TextBox 15"/>
          <p:cNvSpPr txBox="1"/>
          <p:nvPr/>
        </p:nvSpPr>
        <p:spPr>
          <a:xfrm>
            <a:off x="685800" y="2034540"/>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PICO(S) ou variante</a:t>
            </a:r>
          </a:p>
        </p:txBody>
      </p:sp>
      <p:sp>
        <p:nvSpPr>
          <p:cNvPr id="17" name="Rectangle 16"/>
          <p:cNvSpPr/>
          <p:nvPr/>
        </p:nvSpPr>
        <p:spPr>
          <a:xfrm>
            <a:off x="3342132" y="1463040"/>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42132"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25012"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2. Sources et dates</a:t>
            </a:r>
          </a:p>
        </p:txBody>
      </p:sp>
      <p:sp>
        <p:nvSpPr>
          <p:cNvPr id="20" name="TextBox 19"/>
          <p:cNvSpPr txBox="1"/>
          <p:nvPr/>
        </p:nvSpPr>
        <p:spPr>
          <a:xfrm>
            <a:off x="3525012" y="2034540"/>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équations, renvoi au journal</a:t>
            </a:r>
          </a:p>
        </p:txBody>
      </p:sp>
      <p:sp>
        <p:nvSpPr>
          <p:cNvPr id="21" name="Rectangle 20"/>
          <p:cNvSpPr/>
          <p:nvPr/>
        </p:nvSpPr>
        <p:spPr>
          <a:xfrm>
            <a:off x="6181344" y="1463040"/>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81344"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64224"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3. Sélection</a:t>
            </a:r>
          </a:p>
        </p:txBody>
      </p:sp>
      <p:sp>
        <p:nvSpPr>
          <p:cNvPr id="24" name="TextBox 23"/>
          <p:cNvSpPr txBox="1"/>
          <p:nvPr/>
        </p:nvSpPr>
        <p:spPr>
          <a:xfrm>
            <a:off x="6364224" y="2034540"/>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critères et diagramme PRISMA</a:t>
            </a:r>
          </a:p>
        </p:txBody>
      </p:sp>
      <p:sp>
        <p:nvSpPr>
          <p:cNvPr id="25" name="Rectangle 24"/>
          <p:cNvSpPr/>
          <p:nvPr/>
        </p:nvSpPr>
        <p:spPr>
          <a:xfrm>
            <a:off x="9020556" y="1463040"/>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20556"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03436"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4. Extraction</a:t>
            </a:r>
          </a:p>
        </p:txBody>
      </p:sp>
      <p:sp>
        <p:nvSpPr>
          <p:cNvPr id="28" name="TextBox 27"/>
          <p:cNvSpPr txBox="1"/>
          <p:nvPr/>
        </p:nvSpPr>
        <p:spPr>
          <a:xfrm>
            <a:off x="9203436" y="2034540"/>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données et outils (dont IA, versions, dates)</a:t>
            </a:r>
          </a:p>
        </p:txBody>
      </p:sp>
      <p:sp>
        <p:nvSpPr>
          <p:cNvPr id="29" name="Rectangle 28"/>
          <p:cNvSpPr/>
          <p:nvPr/>
        </p:nvSpPr>
        <p:spPr>
          <a:xfrm>
            <a:off x="502920" y="3895344"/>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986783"/>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5. Qualité et biais</a:t>
            </a:r>
          </a:p>
        </p:txBody>
      </p:sp>
      <p:sp>
        <p:nvSpPr>
          <p:cNvPr id="32" name="TextBox 31"/>
          <p:cNvSpPr txBox="1"/>
          <p:nvPr/>
        </p:nvSpPr>
        <p:spPr>
          <a:xfrm>
            <a:off x="685800" y="4466844"/>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outil d'évaluation, biais repérés</a:t>
            </a:r>
          </a:p>
        </p:txBody>
      </p:sp>
      <p:sp>
        <p:nvSpPr>
          <p:cNvPr id="33" name="Rectangle 32"/>
          <p:cNvSpPr/>
          <p:nvPr/>
        </p:nvSpPr>
        <p:spPr>
          <a:xfrm>
            <a:off x="3342132" y="3895344"/>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42132"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525012" y="3986783"/>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6. Résultats</a:t>
            </a:r>
          </a:p>
        </p:txBody>
      </p:sp>
      <p:sp>
        <p:nvSpPr>
          <p:cNvPr id="36" name="TextBox 35"/>
          <p:cNvSpPr txBox="1"/>
          <p:nvPr/>
        </p:nvSpPr>
        <p:spPr>
          <a:xfrm>
            <a:off x="3525012" y="4466844"/>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synthèse des thèmes</a:t>
            </a:r>
          </a:p>
        </p:txBody>
      </p:sp>
      <p:sp>
        <p:nvSpPr>
          <p:cNvPr id="37" name="Rectangle 36"/>
          <p:cNvSpPr/>
          <p:nvPr/>
        </p:nvSpPr>
        <p:spPr>
          <a:xfrm>
            <a:off x="6181344" y="3895344"/>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181344"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64224" y="3986783"/>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7. Limites</a:t>
            </a:r>
          </a:p>
        </p:txBody>
      </p:sp>
      <p:sp>
        <p:nvSpPr>
          <p:cNvPr id="40" name="TextBox 39"/>
          <p:cNvSpPr txBox="1"/>
          <p:nvPr/>
        </p:nvSpPr>
        <p:spPr>
          <a:xfrm>
            <a:off x="6364224" y="4466844"/>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dont limites des outils IA</a:t>
            </a:r>
          </a:p>
        </p:txBody>
      </p:sp>
      <p:sp>
        <p:nvSpPr>
          <p:cNvPr id="41" name="Rectangle 40"/>
          <p:cNvSpPr/>
          <p:nvPr/>
        </p:nvSpPr>
        <p:spPr>
          <a:xfrm>
            <a:off x="9020556" y="3895344"/>
            <a:ext cx="2638044"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20556"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203436" y="3986783"/>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8. Déclaration</a:t>
            </a:r>
          </a:p>
        </p:txBody>
      </p:sp>
      <p:sp>
        <p:nvSpPr>
          <p:cNvPr id="44" name="TextBox 43"/>
          <p:cNvSpPr txBox="1"/>
          <p:nvPr/>
        </p:nvSpPr>
        <p:spPr>
          <a:xfrm>
            <a:off x="9203436" y="4466844"/>
            <a:ext cx="2363724"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usage de l'IA, responsabilité de l'autrice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2743200" cy="2377440"/>
          </a:xfrm>
          <a:prstGeom prst="rect">
            <a:avLst/>
          </a:prstGeom>
          <a:noFill/>
        </p:spPr>
        <p:txBody>
          <a:bodyPr wrap="square" lIns="45720" tIns="27432" rIns="45720" bIns="27432" anchor="t">
            <a:spAutoFit/>
          </a:bodyPr>
          <a:lstStyle/>
          <a:p>
            <a:pPr algn="l">
              <a:lnSpc>
                <a:spcPct val="105000"/>
              </a:lnSpc>
            </a:pPr>
            <a:r>
              <a:rPr sz="17000" b="1" i="0">
                <a:solidFill>
                  <a:srgbClr val="E0A526"/>
                </a:solidFill>
                <a:latin typeface="Georgia"/>
              </a:rPr>
              <a:t>5</a:t>
            </a:r>
          </a:p>
        </p:txBody>
      </p:sp>
      <p:sp>
        <p:nvSpPr>
          <p:cNvPr id="3" name="TextBox 2"/>
          <p:cNvSpPr txBox="1"/>
          <p:nvPr/>
        </p:nvSpPr>
        <p:spPr>
          <a:xfrm>
            <a:off x="3291840" y="1234440"/>
            <a:ext cx="8229600" cy="365760"/>
          </a:xfrm>
          <a:prstGeom prst="rect">
            <a:avLst/>
          </a:prstGeom>
          <a:noFill/>
        </p:spPr>
        <p:txBody>
          <a:bodyPr wrap="square" lIns="45720" tIns="27432" rIns="45720" bIns="27432" anchor="t">
            <a:spAutoFit/>
          </a:bodyPr>
          <a:lstStyle/>
          <a:p>
            <a:pPr algn="l">
              <a:lnSpc>
                <a:spcPct val="105000"/>
              </a:lnSpc>
            </a:pPr>
            <a:r>
              <a:rPr sz="1300" b="1" i="0">
                <a:solidFill>
                  <a:srgbClr val="E0A526"/>
                </a:solidFill>
                <a:latin typeface="Calibri"/>
              </a:rPr>
              <a:t>PHASE 5 · CRISP-DM : EVALUATION</a:t>
            </a:r>
          </a:p>
        </p:txBody>
      </p:sp>
      <p:sp>
        <p:nvSpPr>
          <p:cNvPr id="4" name="TextBox 3"/>
          <p:cNvSpPr txBox="1"/>
          <p:nvPr/>
        </p:nvSpPr>
        <p:spPr>
          <a:xfrm>
            <a:off x="3291840" y="1645920"/>
            <a:ext cx="8412480" cy="1280160"/>
          </a:xfrm>
          <a:prstGeom prst="rect">
            <a:avLst/>
          </a:prstGeom>
          <a:noFill/>
        </p:spPr>
        <p:txBody>
          <a:bodyPr wrap="square" lIns="45720" tIns="27432" rIns="45720" bIns="27432" anchor="t">
            <a:spAutoFit/>
          </a:bodyPr>
          <a:lstStyle/>
          <a:p>
            <a:pPr algn="l">
              <a:lnSpc>
                <a:spcPct val="105000"/>
              </a:lnSpc>
            </a:pPr>
            <a:r>
              <a:rPr sz="4400" b="1" i="0">
                <a:solidFill>
                  <a:srgbClr val="FFFFFF"/>
                </a:solidFill>
                <a:latin typeface="Georgia"/>
              </a:rPr>
              <a:t>Évaluation</a:t>
            </a:r>
          </a:p>
        </p:txBody>
      </p:sp>
      <p:sp>
        <p:nvSpPr>
          <p:cNvPr id="5" name="TextBox 4"/>
          <p:cNvSpPr txBox="1"/>
          <p:nvPr/>
        </p:nvSpPr>
        <p:spPr>
          <a:xfrm>
            <a:off x="3291840" y="2697480"/>
            <a:ext cx="8412480" cy="731520"/>
          </a:xfrm>
          <a:prstGeom prst="rect">
            <a:avLst/>
          </a:prstGeom>
          <a:noFill/>
        </p:spPr>
        <p:txBody>
          <a:bodyPr wrap="square" lIns="45720" tIns="27432" rIns="45720" bIns="27432" anchor="t">
            <a:spAutoFit/>
          </a:bodyPr>
          <a:lstStyle/>
          <a:p>
            <a:pPr algn="l">
              <a:lnSpc>
                <a:spcPct val="105000"/>
              </a:lnSpc>
            </a:pPr>
            <a:r>
              <a:rPr sz="2200" b="0" i="0">
                <a:solidFill>
                  <a:srgbClr val="E8F1F3"/>
                </a:solidFill>
                <a:latin typeface="Calibri"/>
              </a:rPr>
              <a:t>Qualité selon PRISMA, biais et intégrité scientifique</a:t>
            </a:r>
          </a:p>
        </p:txBody>
      </p:sp>
      <p:sp>
        <p:nvSpPr>
          <p:cNvPr id="6" name="Rounded Rectangle 5"/>
          <p:cNvSpPr/>
          <p:nvPr/>
        </p:nvSpPr>
        <p:spPr>
          <a:xfrm>
            <a:off x="3291840" y="3794760"/>
            <a:ext cx="8138160" cy="960120"/>
          </a:xfrm>
          <a:prstGeom prst="roundRect">
            <a:avLst>
              <a:gd name="adj" fmla="val 12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700" b="1" i="0">
                <a:solidFill>
                  <a:srgbClr val="FFFFFF"/>
                </a:solidFill>
                <a:latin typeface="Calibri"/>
              </a:rPr>
              <a:t>Question clé :</a:t>
            </a:r>
            <a:r>
              <a:rPr sz="1700" b="0" i="0">
                <a:solidFill>
                  <a:srgbClr val="FFFFFF"/>
                </a:solidFill>
                <a:latin typeface="Calibri"/>
              </a:rPr>
              <a:t> Puis-je avoir confiance dans ce résultat et dans ma démarche ?</a:t>
            </a:r>
          </a:p>
        </p:txBody>
      </p:sp>
      <p:sp>
        <p:nvSpPr>
          <p:cNvPr id="7" name="TextBox 6"/>
          <p:cNvSpPr txBox="1"/>
          <p:nvPr/>
        </p:nvSpPr>
        <p:spPr>
          <a:xfrm>
            <a:off x="3291840" y="4983480"/>
            <a:ext cx="8138160" cy="548640"/>
          </a:xfrm>
          <a:prstGeom prst="rect">
            <a:avLst/>
          </a:prstGeom>
          <a:noFill/>
        </p:spPr>
        <p:txBody>
          <a:bodyPr wrap="square" lIns="45720" tIns="27432" rIns="45720" bIns="27432" anchor="t">
            <a:spAutoFit/>
          </a:bodyPr>
          <a:lstStyle/>
          <a:p>
            <a:pPr algn="l">
              <a:lnSpc>
                <a:spcPct val="105000"/>
              </a:lnSpc>
            </a:pPr>
            <a:r>
              <a:rPr sz="1600" b="0" i="0">
                <a:solidFill>
                  <a:srgbClr val="E0A526"/>
                </a:solidFill>
                <a:latin typeface="Calibri"/>
              </a:rPr>
              <a:t>Livrable : grille d'audit qualité – biais – genre + déclaration d'usage de l'IA (Exercice 4)</a:t>
            </a:r>
          </a:p>
        </p:txBody>
      </p:sp>
      <p:sp>
        <p:nvSpPr>
          <p:cNvPr id="8" name="Chevron 7"/>
          <p:cNvSpPr/>
          <p:nvPr/>
        </p:nvSpPr>
        <p:spPr>
          <a:xfrm>
            <a:off x="3291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1</a:t>
            </a:r>
          </a:p>
        </p:txBody>
      </p:sp>
      <p:sp>
        <p:nvSpPr>
          <p:cNvPr id="9" name="Chevron 8"/>
          <p:cNvSpPr/>
          <p:nvPr/>
        </p:nvSpPr>
        <p:spPr>
          <a:xfrm>
            <a:off x="46634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2</a:t>
            </a:r>
          </a:p>
        </p:txBody>
      </p:sp>
      <p:sp>
        <p:nvSpPr>
          <p:cNvPr id="10" name="Chevron 9"/>
          <p:cNvSpPr/>
          <p:nvPr/>
        </p:nvSpPr>
        <p:spPr>
          <a:xfrm>
            <a:off x="60350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3</a:t>
            </a:r>
          </a:p>
        </p:txBody>
      </p:sp>
      <p:sp>
        <p:nvSpPr>
          <p:cNvPr id="11" name="Chevron 10"/>
          <p:cNvSpPr/>
          <p:nvPr/>
        </p:nvSpPr>
        <p:spPr>
          <a:xfrm>
            <a:off x="74066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4</a:t>
            </a:r>
          </a:p>
        </p:txBody>
      </p:sp>
      <p:sp>
        <p:nvSpPr>
          <p:cNvPr id="12" name="Chevron 11"/>
          <p:cNvSpPr/>
          <p:nvPr/>
        </p:nvSpPr>
        <p:spPr>
          <a:xfrm>
            <a:off x="8778240" y="5852160"/>
            <a:ext cx="1261872" cy="384048"/>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0B3C49"/>
                </a:solidFill>
                <a:latin typeface="Calibri"/>
              </a:rPr>
              <a:t>5</a:t>
            </a:r>
          </a:p>
        </p:txBody>
      </p:sp>
      <p:sp>
        <p:nvSpPr>
          <p:cNvPr id="13" name="Chevron 12"/>
          <p:cNvSpPr/>
          <p:nvPr/>
        </p:nvSpPr>
        <p:spPr>
          <a:xfrm>
            <a:off x="10149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5 · ÉVALUATION · EVALUATION</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Évaluer la qualité des sources</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37</a:t>
            </a:r>
          </a:p>
        </p:txBody>
      </p:sp>
      <p:graphicFrame>
        <p:nvGraphicFramePr>
          <p:cNvPr id="13" name="Table 12"/>
          <p:cNvGraphicFramePr>
            <a:graphicFrameLocks noGrp="1"/>
          </p:cNvGraphicFramePr>
          <p:nvPr/>
        </p:nvGraphicFramePr>
        <p:xfrm>
          <a:off x="502920" y="1463040"/>
          <a:ext cx="11155680" cy="4828032"/>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603504">
                <a:tc>
                  <a:txBody>
                    <a:bodyPr/>
                    <a:lstStyle/>
                    <a:p>
                      <a:r>
                        <a:rPr sz="1400" b="1" i="0">
                          <a:solidFill>
                            <a:srgbClr val="FFFFFF"/>
                          </a:solidFill>
                          <a:latin typeface="Calibri"/>
                        </a:rPr>
                        <a:t>Type d'étude</a:t>
                      </a:r>
                    </a:p>
                  </a:txBody>
                  <a:tcPr marL="64008" marR="64008" marT="27432" marB="27432">
                    <a:solidFill>
                      <a:srgbClr val="0B3C49"/>
                    </a:solidFill>
                  </a:tcPr>
                </a:tc>
                <a:tc>
                  <a:txBody>
                    <a:bodyPr/>
                    <a:lstStyle/>
                    <a:p>
                      <a:r>
                        <a:rPr sz="1400" b="1" i="0">
                          <a:solidFill>
                            <a:srgbClr val="FFFFFF"/>
                          </a:solidFill>
                          <a:latin typeface="Calibri"/>
                        </a:rPr>
                        <a:t>Outil d'évaluation</a:t>
                      </a:r>
                    </a:p>
                  </a:txBody>
                  <a:tcPr marL="64008" marR="64008" marT="27432" marB="27432">
                    <a:solidFill>
                      <a:srgbClr val="0B3C49"/>
                    </a:solidFill>
                  </a:tcPr>
                </a:tc>
                <a:tc>
                  <a:txBody>
                    <a:bodyPr/>
                    <a:lstStyle/>
                    <a:p>
                      <a:r>
                        <a:rPr sz="1400" b="1" i="0">
                          <a:solidFill>
                            <a:srgbClr val="FFFFFF"/>
                          </a:solidFill>
                          <a:latin typeface="Calibri"/>
                        </a:rPr>
                        <a:t>Groupes concernés</a:t>
                      </a:r>
                    </a:p>
                  </a:txBody>
                  <a:tcPr marL="64008" marR="64008" marT="27432" marB="27432">
                    <a:solidFill>
                      <a:srgbClr val="0B3C49"/>
                    </a:solidFill>
                  </a:tcPr>
                </a:tc>
                <a:extLst>
                  <a:ext uri="{0D108BD9-81ED-4DB2-BD59-A6C34878D82A}">
                    <a16:rowId xmlns:a16="http://schemas.microsoft.com/office/drawing/2014/main" val="10000"/>
                  </a:ext>
                </a:extLst>
              </a:tr>
              <a:tr h="603504">
                <a:tc>
                  <a:txBody>
                    <a:bodyPr/>
                    <a:lstStyle/>
                    <a:p>
                      <a:r>
                        <a:rPr sz="1400" b="0" i="0">
                          <a:solidFill>
                            <a:srgbClr val="222B30"/>
                          </a:solidFill>
                          <a:latin typeface="Calibri"/>
                        </a:rPr>
                        <a:t>Essais randomisés</a:t>
                      </a:r>
                    </a:p>
                  </a:txBody>
                  <a:tcPr marL="64008" marR="64008" marT="27432" marB="27432">
                    <a:solidFill>
                      <a:srgbClr val="FFFFFF"/>
                    </a:solidFill>
                  </a:tcPr>
                </a:tc>
                <a:tc>
                  <a:txBody>
                    <a:bodyPr/>
                    <a:lstStyle/>
                    <a:p>
                      <a:r>
                        <a:rPr sz="1400" b="0" i="0">
                          <a:solidFill>
                            <a:srgbClr val="222B30"/>
                          </a:solidFill>
                          <a:latin typeface="Calibri"/>
                        </a:rPr>
                        <a:t>RoB 2 (Cochrane)</a:t>
                      </a:r>
                    </a:p>
                  </a:txBody>
                  <a:tcPr marL="64008" marR="64008" marT="27432" marB="27432">
                    <a:solidFill>
                      <a:srgbClr val="FFFFFF"/>
                    </a:solidFill>
                  </a:tcPr>
                </a:tc>
                <a:tc>
                  <a:txBody>
                    <a:bodyPr/>
                    <a:lstStyle/>
                    <a:p>
                      <a:r>
                        <a:rPr sz="1400" b="0" i="0">
                          <a:solidFill>
                            <a:srgbClr val="222B30"/>
                          </a:solidFill>
                          <a:latin typeface="Calibri"/>
                        </a:rPr>
                        <a:t>Santé, nutrition, éducation</a:t>
                      </a:r>
                    </a:p>
                  </a:txBody>
                  <a:tcPr marL="64008" marR="64008" marT="27432" marB="27432">
                    <a:solidFill>
                      <a:srgbClr val="FFFFFF"/>
                    </a:solidFill>
                  </a:tcPr>
                </a:tc>
                <a:extLst>
                  <a:ext uri="{0D108BD9-81ED-4DB2-BD59-A6C34878D82A}">
                    <a16:rowId xmlns:a16="http://schemas.microsoft.com/office/drawing/2014/main" val="10001"/>
                  </a:ext>
                </a:extLst>
              </a:tr>
              <a:tr h="603504">
                <a:tc>
                  <a:txBody>
                    <a:bodyPr/>
                    <a:lstStyle/>
                    <a:p>
                      <a:r>
                        <a:rPr sz="1400" b="0" i="0">
                          <a:solidFill>
                            <a:srgbClr val="222B30"/>
                          </a:solidFill>
                          <a:latin typeface="Calibri"/>
                        </a:rPr>
                        <a:t>Interventions non randomisées</a:t>
                      </a:r>
                    </a:p>
                  </a:txBody>
                  <a:tcPr marL="64008" marR="64008" marT="27432" marB="27432">
                    <a:solidFill>
                      <a:srgbClr val="E8F1F3"/>
                    </a:solidFill>
                  </a:tcPr>
                </a:tc>
                <a:tc>
                  <a:txBody>
                    <a:bodyPr/>
                    <a:lstStyle/>
                    <a:p>
                      <a:r>
                        <a:rPr sz="1400" b="0" i="0">
                          <a:solidFill>
                            <a:srgbClr val="222B30"/>
                          </a:solidFill>
                          <a:latin typeface="Calibri"/>
                        </a:rPr>
                        <a:t>ROBINS-I</a:t>
                      </a:r>
                    </a:p>
                  </a:txBody>
                  <a:tcPr marL="64008" marR="64008" marT="27432" marB="27432">
                    <a:solidFill>
                      <a:srgbClr val="E8F1F3"/>
                    </a:solidFill>
                  </a:tcPr>
                </a:tc>
                <a:tc>
                  <a:txBody>
                    <a:bodyPr/>
                    <a:lstStyle/>
                    <a:p>
                      <a:r>
                        <a:rPr sz="1400" b="0" i="0">
                          <a:solidFill>
                            <a:srgbClr val="222B30"/>
                          </a:solidFill>
                          <a:latin typeface="Calibri"/>
                        </a:rPr>
                        <a:t>Santé publique, programmes sociaux</a:t>
                      </a:r>
                    </a:p>
                  </a:txBody>
                  <a:tcPr marL="64008" marR="64008" marT="27432" marB="27432">
                    <a:solidFill>
                      <a:srgbClr val="E8F1F3"/>
                    </a:solidFill>
                  </a:tcPr>
                </a:tc>
                <a:extLst>
                  <a:ext uri="{0D108BD9-81ED-4DB2-BD59-A6C34878D82A}">
                    <a16:rowId xmlns:a16="http://schemas.microsoft.com/office/drawing/2014/main" val="10002"/>
                  </a:ext>
                </a:extLst>
              </a:tr>
              <a:tr h="603504">
                <a:tc>
                  <a:txBody>
                    <a:bodyPr/>
                    <a:lstStyle/>
                    <a:p>
                      <a:r>
                        <a:rPr sz="1400" b="0" i="0">
                          <a:solidFill>
                            <a:srgbClr val="222B30"/>
                          </a:solidFill>
                          <a:latin typeface="Calibri"/>
                        </a:rPr>
                        <a:t>Études qualitatives</a:t>
                      </a:r>
                    </a:p>
                  </a:txBody>
                  <a:tcPr marL="64008" marR="64008" marT="27432" marB="27432">
                    <a:solidFill>
                      <a:srgbClr val="FFFFFF"/>
                    </a:solidFill>
                  </a:tcPr>
                </a:tc>
                <a:tc>
                  <a:txBody>
                    <a:bodyPr/>
                    <a:lstStyle/>
                    <a:p>
                      <a:r>
                        <a:rPr sz="1400" b="0" i="0">
                          <a:solidFill>
                            <a:srgbClr val="222B30"/>
                          </a:solidFill>
                          <a:latin typeface="Calibri"/>
                        </a:rPr>
                        <a:t>CASP Qualitative, JBI</a:t>
                      </a:r>
                    </a:p>
                  </a:txBody>
                  <a:tcPr marL="64008" marR="64008" marT="27432" marB="27432">
                    <a:solidFill>
                      <a:srgbClr val="FFFFFF"/>
                    </a:solidFill>
                  </a:tcPr>
                </a:tc>
                <a:tc>
                  <a:txBody>
                    <a:bodyPr/>
                    <a:lstStyle/>
                    <a:p>
                      <a:r>
                        <a:rPr sz="1400" b="0" i="0">
                          <a:solidFill>
                            <a:srgbClr val="222B30"/>
                          </a:solidFill>
                          <a:latin typeface="Calibri"/>
                        </a:rPr>
                        <a:t>Socio, anthropo, psychologie, histoire orale</a:t>
                      </a:r>
                    </a:p>
                  </a:txBody>
                  <a:tcPr marL="64008" marR="64008" marT="27432" marB="27432">
                    <a:solidFill>
                      <a:srgbClr val="FFFFFF"/>
                    </a:solidFill>
                  </a:tcPr>
                </a:tc>
                <a:extLst>
                  <a:ext uri="{0D108BD9-81ED-4DB2-BD59-A6C34878D82A}">
                    <a16:rowId xmlns:a16="http://schemas.microsoft.com/office/drawing/2014/main" val="10003"/>
                  </a:ext>
                </a:extLst>
              </a:tr>
              <a:tr h="603504">
                <a:tc>
                  <a:txBody>
                    <a:bodyPr/>
                    <a:lstStyle/>
                    <a:p>
                      <a:r>
                        <a:rPr sz="1400" b="0" i="0">
                          <a:solidFill>
                            <a:srgbClr val="222B30"/>
                          </a:solidFill>
                          <a:latin typeface="Calibri"/>
                        </a:rPr>
                        <a:t>Études mixtes</a:t>
                      </a:r>
                    </a:p>
                  </a:txBody>
                  <a:tcPr marL="64008" marR="64008" marT="27432" marB="27432">
                    <a:solidFill>
                      <a:srgbClr val="E8F1F3"/>
                    </a:solidFill>
                  </a:tcPr>
                </a:tc>
                <a:tc>
                  <a:txBody>
                    <a:bodyPr/>
                    <a:lstStyle/>
                    <a:p>
                      <a:r>
                        <a:rPr sz="1400" b="0" i="0">
                          <a:solidFill>
                            <a:srgbClr val="222B30"/>
                          </a:solidFill>
                          <a:latin typeface="Calibri"/>
                        </a:rPr>
                        <a:t>MMAT</a:t>
                      </a:r>
                    </a:p>
                  </a:txBody>
                  <a:tcPr marL="64008" marR="64008" marT="27432" marB="27432">
                    <a:solidFill>
                      <a:srgbClr val="E8F1F3"/>
                    </a:solidFill>
                  </a:tcPr>
                </a:tc>
                <a:tc>
                  <a:txBody>
                    <a:bodyPr/>
                    <a:lstStyle/>
                    <a:p>
                      <a:r>
                        <a:rPr sz="1400" b="0" i="0">
                          <a:solidFill>
                            <a:srgbClr val="222B30"/>
                          </a:solidFill>
                          <a:latin typeface="Calibri"/>
                        </a:rPr>
                        <a:t>SHS, éducation, développement</a:t>
                      </a:r>
                    </a:p>
                  </a:txBody>
                  <a:tcPr marL="64008" marR="64008" marT="27432" marB="27432">
                    <a:solidFill>
                      <a:srgbClr val="E8F1F3"/>
                    </a:solidFill>
                  </a:tcPr>
                </a:tc>
                <a:extLst>
                  <a:ext uri="{0D108BD9-81ED-4DB2-BD59-A6C34878D82A}">
                    <a16:rowId xmlns:a16="http://schemas.microsoft.com/office/drawing/2014/main" val="10004"/>
                  </a:ext>
                </a:extLst>
              </a:tr>
              <a:tr h="603504">
                <a:tc>
                  <a:txBody>
                    <a:bodyPr/>
                    <a:lstStyle/>
                    <a:p>
                      <a:r>
                        <a:rPr sz="1400" b="0" i="0">
                          <a:solidFill>
                            <a:srgbClr val="222B30"/>
                          </a:solidFill>
                          <a:latin typeface="Calibri"/>
                        </a:rPr>
                        <a:t>Transversales, prévalence</a:t>
                      </a:r>
                    </a:p>
                  </a:txBody>
                  <a:tcPr marL="64008" marR="64008" marT="27432" marB="27432">
                    <a:solidFill>
                      <a:srgbClr val="FFFFFF"/>
                    </a:solidFill>
                  </a:tcPr>
                </a:tc>
                <a:tc>
                  <a:txBody>
                    <a:bodyPr/>
                    <a:lstStyle/>
                    <a:p>
                      <a:r>
                        <a:rPr sz="1400" b="0" i="0">
                          <a:solidFill>
                            <a:srgbClr val="222B30"/>
                          </a:solidFill>
                          <a:latin typeface="Calibri"/>
                        </a:rPr>
                        <a:t>Check-lists JBI</a:t>
                      </a:r>
                    </a:p>
                  </a:txBody>
                  <a:tcPr marL="64008" marR="64008" marT="27432" marB="27432">
                    <a:solidFill>
                      <a:srgbClr val="FFFFFF"/>
                    </a:solidFill>
                  </a:tcPr>
                </a:tc>
                <a:tc>
                  <a:txBody>
                    <a:bodyPr/>
                    <a:lstStyle/>
                    <a:p>
                      <a:r>
                        <a:rPr sz="1400" b="0" i="0">
                          <a:solidFill>
                            <a:srgbClr val="222B30"/>
                          </a:solidFill>
                          <a:latin typeface="Calibri"/>
                        </a:rPr>
                        <a:t>Santé, environnement, économie</a:t>
                      </a:r>
                    </a:p>
                  </a:txBody>
                  <a:tcPr marL="64008" marR="64008" marT="27432" marB="27432">
                    <a:solidFill>
                      <a:srgbClr val="FFFFFF"/>
                    </a:solidFill>
                  </a:tcPr>
                </a:tc>
                <a:extLst>
                  <a:ext uri="{0D108BD9-81ED-4DB2-BD59-A6C34878D82A}">
                    <a16:rowId xmlns:a16="http://schemas.microsoft.com/office/drawing/2014/main" val="10005"/>
                  </a:ext>
                </a:extLst>
              </a:tr>
              <a:tr h="603504">
                <a:tc>
                  <a:txBody>
                    <a:bodyPr/>
                    <a:lstStyle/>
                    <a:p>
                      <a:r>
                        <a:rPr sz="1400" b="0" i="0">
                          <a:solidFill>
                            <a:srgbClr val="222B30"/>
                          </a:solidFill>
                          <a:latin typeface="Calibri"/>
                        </a:rPr>
                        <a:t>Expérimentations animales</a:t>
                      </a:r>
                    </a:p>
                  </a:txBody>
                  <a:tcPr marL="64008" marR="64008" marT="27432" marB="27432">
                    <a:solidFill>
                      <a:srgbClr val="E8F1F3"/>
                    </a:solidFill>
                  </a:tcPr>
                </a:tc>
                <a:tc>
                  <a:txBody>
                    <a:bodyPr/>
                    <a:lstStyle/>
                    <a:p>
                      <a:r>
                        <a:rPr sz="1400" b="0" i="0">
                          <a:solidFill>
                            <a:srgbClr val="222B30"/>
                          </a:solidFill>
                          <a:latin typeface="Calibri"/>
                        </a:rPr>
                        <a:t>SYRCLE</a:t>
                      </a:r>
                    </a:p>
                  </a:txBody>
                  <a:tcPr marL="64008" marR="64008" marT="27432" marB="27432">
                    <a:solidFill>
                      <a:srgbClr val="E8F1F3"/>
                    </a:solidFill>
                  </a:tcPr>
                </a:tc>
                <a:tc>
                  <a:txBody>
                    <a:bodyPr/>
                    <a:lstStyle/>
                    <a:p>
                      <a:r>
                        <a:rPr sz="1400" b="0" i="0">
                          <a:solidFill>
                            <a:srgbClr val="222B30"/>
                          </a:solidFill>
                          <a:latin typeface="Calibri"/>
                        </a:rPr>
                        <a:t>Pharmacologie, biomédical</a:t>
                      </a:r>
                    </a:p>
                  </a:txBody>
                  <a:tcPr marL="64008" marR="64008" marT="27432" marB="27432">
                    <a:solidFill>
                      <a:srgbClr val="E8F1F3"/>
                    </a:solidFill>
                  </a:tcPr>
                </a:tc>
                <a:extLst>
                  <a:ext uri="{0D108BD9-81ED-4DB2-BD59-A6C34878D82A}">
                    <a16:rowId xmlns:a16="http://schemas.microsoft.com/office/drawing/2014/main" val="10006"/>
                  </a:ext>
                </a:extLst>
              </a:tr>
              <a:tr h="603504">
                <a:tc>
                  <a:txBody>
                    <a:bodyPr/>
                    <a:lstStyle/>
                    <a:p>
                      <a:r>
                        <a:rPr sz="1400" b="0" i="0">
                          <a:solidFill>
                            <a:srgbClr val="222B30"/>
                          </a:solidFill>
                          <a:latin typeface="Calibri"/>
                        </a:rPr>
                        <a:t>Confiance dans le corps de preuves</a:t>
                      </a:r>
                    </a:p>
                  </a:txBody>
                  <a:tcPr marL="64008" marR="64008" marT="27432" marB="27432">
                    <a:solidFill>
                      <a:srgbClr val="FFFFFF"/>
                    </a:solidFill>
                  </a:tcPr>
                </a:tc>
                <a:tc>
                  <a:txBody>
                    <a:bodyPr/>
                    <a:lstStyle/>
                    <a:p>
                      <a:r>
                        <a:rPr sz="1400" b="0" i="0">
                          <a:solidFill>
                            <a:srgbClr val="222B30"/>
                          </a:solidFill>
                          <a:latin typeface="Calibri"/>
                        </a:rPr>
                        <a:t>GRADE · GRADE-CERQual</a:t>
                      </a:r>
                    </a:p>
                  </a:txBody>
                  <a:tcPr marL="64008" marR="64008" marT="27432" marB="27432">
                    <a:solidFill>
                      <a:srgbClr val="FFFFFF"/>
                    </a:solidFill>
                  </a:tcPr>
                </a:tc>
                <a:tc>
                  <a:txBody>
                    <a:bodyPr/>
                    <a:lstStyle/>
                    <a:p>
                      <a:r>
                        <a:rPr sz="1400" b="0" i="0">
                          <a:solidFill>
                            <a:srgbClr val="222B30"/>
                          </a:solidFill>
                          <a:latin typeface="Calibri"/>
                        </a:rPr>
                        <a:t>Toutes</a:t>
                      </a:r>
                    </a:p>
                  </a:txBody>
                  <a:tcPr marL="64008" marR="64008" marT="27432" marB="27432">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5 · ÉVALUATION · EVALUATION</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Biais des outils… et biais de genre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38</a:t>
            </a:r>
          </a:p>
        </p:txBody>
      </p:sp>
      <p:sp>
        <p:nvSpPr>
          <p:cNvPr id="13" name="Rectangle 12"/>
          <p:cNvSpPr/>
          <p:nvPr/>
        </p:nvSpPr>
        <p:spPr>
          <a:xfrm>
            <a:off x="502920"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Couverture</a:t>
            </a:r>
          </a:p>
        </p:txBody>
      </p:sp>
      <p:sp>
        <p:nvSpPr>
          <p:cNvPr id="16" name="TextBox 15"/>
          <p:cNvSpPr txBox="1"/>
          <p:nvPr/>
        </p:nvSpPr>
        <p:spPr>
          <a:xfrm>
            <a:off x="685800"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Revues africaines, thèses et travaux en français sous-indexés → compléter avec AJOL, HAL, Google Scholar.</a:t>
            </a:r>
          </a:p>
        </p:txBody>
      </p:sp>
      <p:sp>
        <p:nvSpPr>
          <p:cNvPr id="17" name="Rectangle 16"/>
          <p:cNvSpPr/>
          <p:nvPr/>
        </p:nvSpPr>
        <p:spPr>
          <a:xfrm>
            <a:off x="4288536"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88536"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71416"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Langue</a:t>
            </a:r>
          </a:p>
        </p:txBody>
      </p:sp>
      <p:sp>
        <p:nvSpPr>
          <p:cNvPr id="20" name="TextBox 19"/>
          <p:cNvSpPr txBox="1"/>
          <p:nvPr/>
        </p:nvSpPr>
        <p:spPr>
          <a:xfrm>
            <a:off x="4471416"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Résultats presque tous en anglais → chercher en français, l'inclure dans les critères.</a:t>
            </a:r>
          </a:p>
        </p:txBody>
      </p:sp>
      <p:sp>
        <p:nvSpPr>
          <p:cNvPr id="21" name="Rectangle 20"/>
          <p:cNvSpPr/>
          <p:nvPr/>
        </p:nvSpPr>
        <p:spPr>
          <a:xfrm>
            <a:off x="8074152" y="1463040"/>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74152" y="1463040"/>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1554480"/>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Popularité (effet Matthieu)</a:t>
            </a:r>
          </a:p>
        </p:txBody>
      </p:sp>
      <p:sp>
        <p:nvSpPr>
          <p:cNvPr id="24" name="TextBox 23"/>
          <p:cNvSpPr txBox="1"/>
          <p:nvPr/>
        </p:nvSpPr>
        <p:spPr>
          <a:xfrm>
            <a:off x="8257031" y="2034540"/>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Les plus cités remontent toujours → trier aussi par date, explorer les articles isolés.</a:t>
            </a:r>
          </a:p>
        </p:txBody>
      </p:sp>
      <p:sp>
        <p:nvSpPr>
          <p:cNvPr id="25" name="Rectangle 24"/>
          <p:cNvSpPr/>
          <p:nvPr/>
        </p:nvSpPr>
        <p:spPr>
          <a:xfrm>
            <a:off x="502920"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Genre (effet Matilda)</a:t>
            </a:r>
          </a:p>
        </p:txBody>
      </p:sp>
      <p:sp>
        <p:nvSpPr>
          <p:cNvPr id="28" name="TextBox 27"/>
          <p:cNvSpPr txBox="1"/>
          <p:nvPr/>
        </p:nvSpPr>
        <p:spPr>
          <a:xfrm>
            <a:off x="685800"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Autrices moins citées, donc moins recommandées → compter la part d'autrices dans son corpus.</a:t>
            </a:r>
          </a:p>
        </p:txBody>
      </p:sp>
      <p:sp>
        <p:nvSpPr>
          <p:cNvPr id="29" name="Rectangle 28"/>
          <p:cNvSpPr/>
          <p:nvPr/>
        </p:nvSpPr>
        <p:spPr>
          <a:xfrm>
            <a:off x="4288536"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88536"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71416"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Données non ventilées</a:t>
            </a:r>
          </a:p>
        </p:txBody>
      </p:sp>
      <p:sp>
        <p:nvSpPr>
          <p:cNvPr id="32" name="TextBox 31"/>
          <p:cNvSpPr txBox="1"/>
          <p:nvPr/>
        </p:nvSpPr>
        <p:spPr>
          <a:xfrm>
            <a:off x="4471416"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Études qui ignorent le sexe ou le genre → colonne SAGER, signaler l'absence.</a:t>
            </a:r>
          </a:p>
        </p:txBody>
      </p:sp>
      <p:sp>
        <p:nvSpPr>
          <p:cNvPr id="33" name="Rectangle 32"/>
          <p:cNvSpPr/>
          <p:nvPr/>
        </p:nvSpPr>
        <p:spPr>
          <a:xfrm>
            <a:off x="8074152" y="3895344"/>
            <a:ext cx="3584448" cy="2231136"/>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74152" y="3895344"/>
            <a:ext cx="82296" cy="2231136"/>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57031" y="3986783"/>
            <a:ext cx="3310128"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Publication</a:t>
            </a:r>
          </a:p>
        </p:txBody>
      </p:sp>
      <p:sp>
        <p:nvSpPr>
          <p:cNvPr id="36" name="TextBox 35"/>
          <p:cNvSpPr txBox="1"/>
          <p:nvPr/>
        </p:nvSpPr>
        <p:spPr>
          <a:xfrm>
            <a:off x="8257031" y="4466844"/>
            <a:ext cx="3310128" cy="1682495"/>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Résultats « positifs » surreprésentés → littérature grise, registres, rapports.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5 · ÉVALUATION · EVALUATION</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Hallucinations et intégrité scientifique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39</a:t>
            </a:r>
          </a:p>
        </p:txBody>
      </p:sp>
      <p:sp>
        <p:nvSpPr>
          <p:cNvPr id="13" name="Rectangle 12"/>
          <p:cNvSpPr/>
          <p:nvPr/>
        </p:nvSpPr>
        <p:spPr>
          <a:xfrm>
            <a:off x="502920" y="1463040"/>
            <a:ext cx="5486400" cy="4663440"/>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54480"/>
            <a:ext cx="5120640" cy="457200"/>
          </a:xfrm>
          <a:prstGeom prst="rect">
            <a:avLst/>
          </a:prstGeom>
          <a:noFill/>
        </p:spPr>
        <p:txBody>
          <a:bodyPr wrap="square" lIns="45720" tIns="27432" rIns="45720" bIns="27432" anchor="t">
            <a:spAutoFit/>
          </a:bodyPr>
          <a:lstStyle/>
          <a:p>
            <a:pPr algn="l">
              <a:lnSpc>
                <a:spcPct val="105000"/>
              </a:lnSpc>
            </a:pPr>
            <a:r>
              <a:rPr sz="1800" b="1" i="0">
                <a:solidFill>
                  <a:srgbClr val="1F7A8C"/>
                </a:solidFill>
                <a:latin typeface="Calibri"/>
              </a:rPr>
              <a:t>Six règles non négociables</a:t>
            </a:r>
          </a:p>
        </p:txBody>
      </p:sp>
      <p:sp>
        <p:nvSpPr>
          <p:cNvPr id="15" name="TextBox 14"/>
          <p:cNvSpPr txBox="1"/>
          <p:nvPr/>
        </p:nvSpPr>
        <p:spPr>
          <a:xfrm>
            <a:off x="731520" y="2057400"/>
            <a:ext cx="5120640" cy="4023360"/>
          </a:xfrm>
          <a:prstGeom prst="rect">
            <a:avLst/>
          </a:prstGeom>
          <a:noFill/>
        </p:spPr>
        <p:txBody>
          <a:bodyPr wrap="square">
            <a:spAutoFit/>
          </a:bodyPr>
          <a:lstStyle/>
          <a:p>
            <a:pPr>
              <a:lnSpc>
                <a:spcPct val="105000"/>
              </a:lnSpc>
              <a:spcAft>
                <a:spcPts val="600"/>
              </a:spcAft>
            </a:pPr>
            <a:r>
              <a:rPr sz="1150">
                <a:solidFill>
                  <a:srgbClr val="E0A526"/>
                </a:solidFill>
                <a:latin typeface="Calibri"/>
              </a:rPr>
              <a:t>■  </a:t>
            </a:r>
            <a:r>
              <a:rPr sz="1550" b="0" i="0">
                <a:solidFill>
                  <a:srgbClr val="222B30"/>
                </a:solidFill>
                <a:latin typeface="Calibri"/>
              </a:rPr>
              <a:t>Toute référence est vérifiée par son </a:t>
            </a:r>
            <a:r>
              <a:rPr sz="1550" b="1" i="0">
                <a:solidFill>
                  <a:srgbClr val="222B30"/>
                </a:solidFill>
                <a:latin typeface="Calibri"/>
              </a:rPr>
              <a:t>DOI</a:t>
            </a:r>
          </a:p>
          <a:p>
            <a:pPr>
              <a:lnSpc>
                <a:spcPct val="105000"/>
              </a:lnSpc>
              <a:spcAft>
                <a:spcPts val="600"/>
              </a:spcAft>
            </a:pPr>
            <a:r>
              <a:rPr sz="1150">
                <a:solidFill>
                  <a:srgbClr val="E0A526"/>
                </a:solidFill>
                <a:latin typeface="Calibri"/>
              </a:rPr>
              <a:t>■  </a:t>
            </a:r>
            <a:r>
              <a:rPr sz="1550" b="0" i="0">
                <a:solidFill>
                  <a:srgbClr val="222B30"/>
                </a:solidFill>
                <a:latin typeface="Calibri"/>
              </a:rPr>
              <a:t>On ne cite que ce qu'on a </a:t>
            </a:r>
            <a:r>
              <a:rPr sz="1550" b="1" i="0">
                <a:solidFill>
                  <a:srgbClr val="222B30"/>
                </a:solidFill>
                <a:latin typeface="Calibri"/>
              </a:rPr>
              <a:t>lu</a:t>
            </a:r>
          </a:p>
          <a:p>
            <a:pPr>
              <a:lnSpc>
                <a:spcPct val="105000"/>
              </a:lnSpc>
              <a:spcAft>
                <a:spcPts val="600"/>
              </a:spcAft>
            </a:pPr>
            <a:r>
              <a:rPr sz="1150">
                <a:solidFill>
                  <a:srgbClr val="E0A526"/>
                </a:solidFill>
                <a:latin typeface="Calibri"/>
              </a:rPr>
              <a:t>■  </a:t>
            </a:r>
            <a:r>
              <a:rPr sz="1550" b="0" i="0">
                <a:solidFill>
                  <a:srgbClr val="222B30"/>
                </a:solidFill>
                <a:latin typeface="Calibri"/>
              </a:rPr>
              <a:t>L'IA n'est </a:t>
            </a:r>
            <a:r>
              <a:rPr sz="1550" b="1" i="0">
                <a:solidFill>
                  <a:srgbClr val="222B30"/>
                </a:solidFill>
                <a:latin typeface="Calibri"/>
              </a:rPr>
              <a:t>jamais autrice</a:t>
            </a:r>
          </a:p>
          <a:p>
            <a:pPr>
              <a:lnSpc>
                <a:spcPct val="105000"/>
              </a:lnSpc>
              <a:spcAft>
                <a:spcPts val="600"/>
              </a:spcAft>
            </a:pPr>
            <a:r>
              <a:rPr sz="1150">
                <a:solidFill>
                  <a:srgbClr val="E0A526"/>
                </a:solidFill>
                <a:latin typeface="Calibri"/>
              </a:rPr>
              <a:t>■  </a:t>
            </a:r>
            <a:r>
              <a:rPr sz="1550" b="0" i="0">
                <a:solidFill>
                  <a:srgbClr val="222B30"/>
                </a:solidFill>
                <a:latin typeface="Calibri"/>
              </a:rPr>
              <a:t>Tout usage de l'IA se </a:t>
            </a:r>
            <a:r>
              <a:rPr sz="1550" b="1" i="0">
                <a:solidFill>
                  <a:srgbClr val="222B30"/>
                </a:solidFill>
                <a:latin typeface="Calibri"/>
              </a:rPr>
              <a:t>déclare</a:t>
            </a:r>
          </a:p>
          <a:p>
            <a:pPr>
              <a:lnSpc>
                <a:spcPct val="105000"/>
              </a:lnSpc>
              <a:spcAft>
                <a:spcPts val="600"/>
              </a:spcAft>
            </a:pPr>
            <a:r>
              <a:rPr sz="1150">
                <a:solidFill>
                  <a:srgbClr val="E0A526"/>
                </a:solidFill>
                <a:latin typeface="Calibri"/>
              </a:rPr>
              <a:t>■  </a:t>
            </a:r>
            <a:r>
              <a:rPr sz="1550" b="1" i="0">
                <a:solidFill>
                  <a:srgbClr val="222B30"/>
                </a:solidFill>
                <a:latin typeface="Calibri"/>
              </a:rPr>
              <a:t>Aucune donnée sensible</a:t>
            </a:r>
            <a:r>
              <a:rPr sz="1550" b="0" i="0">
                <a:solidFill>
                  <a:srgbClr val="222B30"/>
                </a:solidFill>
                <a:latin typeface="Calibri"/>
              </a:rPr>
              <a:t> dans un outil grand public</a:t>
            </a:r>
          </a:p>
          <a:p>
            <a:pPr>
              <a:lnSpc>
                <a:spcPct val="105000"/>
              </a:lnSpc>
              <a:spcAft>
                <a:spcPts val="600"/>
              </a:spcAft>
            </a:pPr>
            <a:r>
              <a:rPr sz="1150">
                <a:solidFill>
                  <a:srgbClr val="E0A526"/>
                </a:solidFill>
                <a:latin typeface="Calibri"/>
              </a:rPr>
              <a:t>■  </a:t>
            </a:r>
            <a:r>
              <a:rPr sz="1550" b="0" i="0">
                <a:solidFill>
                  <a:srgbClr val="222B30"/>
                </a:solidFill>
                <a:latin typeface="Calibri"/>
              </a:rPr>
              <a:t>La chercheure reste </a:t>
            </a:r>
            <a:r>
              <a:rPr sz="1550" b="1" i="0">
                <a:solidFill>
                  <a:srgbClr val="222B30"/>
                </a:solidFill>
                <a:latin typeface="Calibri"/>
              </a:rPr>
              <a:t>responsable</a:t>
            </a:r>
            <a:r>
              <a:rPr sz="1550" b="0" i="0">
                <a:solidFill>
                  <a:srgbClr val="222B30"/>
                </a:solidFill>
                <a:latin typeface="Calibri"/>
              </a:rPr>
              <a:t> de chaque phrase</a:t>
            </a:r>
          </a:p>
        </p:txBody>
      </p:sp>
      <p:sp>
        <p:nvSpPr>
          <p:cNvPr id="16" name="Rectangle 15"/>
          <p:cNvSpPr/>
          <p:nvPr/>
        </p:nvSpPr>
        <p:spPr>
          <a:xfrm>
            <a:off x="6263640" y="1463040"/>
            <a:ext cx="5394960" cy="4663440"/>
          </a:xfrm>
          <a:prstGeom prst="rect">
            <a:avLst/>
          </a:prstGeom>
          <a:solidFill>
            <a:srgbClr val="FBF3E0"/>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1554480"/>
            <a:ext cx="5029200"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Déclaration d'usage de l'IA (modèle)</a:t>
            </a:r>
          </a:p>
        </p:txBody>
      </p:sp>
      <p:sp>
        <p:nvSpPr>
          <p:cNvPr id="18" name="TextBox 17"/>
          <p:cNvSpPr txBox="1"/>
          <p:nvPr/>
        </p:nvSpPr>
        <p:spPr>
          <a:xfrm>
            <a:off x="6446520" y="2011680"/>
            <a:ext cx="5029200" cy="4023360"/>
          </a:xfrm>
          <a:prstGeom prst="rect">
            <a:avLst/>
          </a:prstGeom>
          <a:noFill/>
        </p:spPr>
        <p:txBody>
          <a:bodyPr wrap="square" lIns="45720" tIns="27432" rIns="45720" bIns="27432" anchor="t">
            <a:spAutoFit/>
          </a:bodyPr>
          <a:lstStyle/>
          <a:p>
            <a:pPr algn="l">
              <a:lnSpc>
                <a:spcPct val="105000"/>
              </a:lnSpc>
            </a:pPr>
            <a:r>
              <a:rPr sz="1400" b="0" i="0">
                <a:solidFill>
                  <a:srgbClr val="222B30"/>
                </a:solidFill>
                <a:latin typeface="Calibri"/>
              </a:rPr>
              <a:t>« Semantic Scholar et Connected Papers ont été utilisés le [date] pour l'exploration bibliographique, et Elicit (version gratuite, consultée le [date]) pour le criblage préliminaire et l'extraction. Toutes les références ont été vérifiées par leur DOI et toutes les données extraites contrôlées dans le texte intégral par l'autrice, qui assume l'entière responsabilité du texte.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EXERCICE 4 · 55 MIN · 15H20 – 16H15</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Synthèse assistée, audit et valorisation</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40</a:t>
            </a:r>
          </a:p>
        </p:txBody>
      </p:sp>
      <p:sp>
        <p:nvSpPr>
          <p:cNvPr id="13" name="Oval 12"/>
          <p:cNvSpPr/>
          <p:nvPr/>
        </p:nvSpPr>
        <p:spPr>
          <a:xfrm>
            <a:off x="502920" y="1463040"/>
            <a:ext cx="1188720" cy="118872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i="0">
                <a:solidFill>
                  <a:srgbClr val="0B3C49"/>
                </a:solidFill>
                <a:latin typeface="Georgia"/>
              </a:rPr>
              <a:t>EX.</a:t>
            </a:r>
          </a:p>
          <a:p>
            <a:pPr algn="ctr"/>
            <a:r>
              <a:rPr sz="2200" b="1" i="0">
                <a:solidFill>
                  <a:srgbClr val="0B3C49"/>
                </a:solidFill>
                <a:latin typeface="Georgia"/>
              </a:rPr>
              <a:t>4</a:t>
            </a:r>
          </a:p>
        </p:txBody>
      </p:sp>
      <p:sp>
        <p:nvSpPr>
          <p:cNvPr id="14" name="TextBox 13"/>
          <p:cNvSpPr txBox="1"/>
          <p:nvPr/>
        </p:nvSpPr>
        <p:spPr>
          <a:xfrm>
            <a:off x="1965960" y="1463040"/>
            <a:ext cx="5943600" cy="365760"/>
          </a:xfrm>
          <a:prstGeom prst="rect">
            <a:avLst/>
          </a:prstGeom>
          <a:noFill/>
        </p:spPr>
        <p:txBody>
          <a:bodyPr wrap="square" lIns="45720" tIns="27432" rIns="45720" bIns="27432" anchor="t">
            <a:spAutoFit/>
          </a:bodyPr>
          <a:lstStyle/>
          <a:p>
            <a:pPr algn="l">
              <a:lnSpc>
                <a:spcPct val="105000"/>
              </a:lnSpc>
            </a:pPr>
            <a:r>
              <a:rPr sz="1500" b="1" i="0">
                <a:solidFill>
                  <a:srgbClr val="1F7A8C"/>
                </a:solidFill>
                <a:latin typeface="Calibri"/>
              </a:rPr>
              <a:t>Consignes (niveau Base)</a:t>
            </a:r>
          </a:p>
        </p:txBody>
      </p:sp>
      <p:sp>
        <p:nvSpPr>
          <p:cNvPr id="15" name="Oval 14"/>
          <p:cNvSpPr/>
          <p:nvPr/>
        </p:nvSpPr>
        <p:spPr>
          <a:xfrm>
            <a:off x="1965960" y="192938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6" name="TextBox 15"/>
          <p:cNvSpPr txBox="1"/>
          <p:nvPr/>
        </p:nvSpPr>
        <p:spPr>
          <a:xfrm>
            <a:off x="2560320" y="1874519"/>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Plan de synthèse demandé à l'IA à partir de votre tableau</a:t>
            </a:r>
          </a:p>
        </p:txBody>
      </p:sp>
      <p:sp>
        <p:nvSpPr>
          <p:cNvPr id="17" name="Oval 16"/>
          <p:cNvSpPr/>
          <p:nvPr/>
        </p:nvSpPr>
        <p:spPr>
          <a:xfrm>
            <a:off x="1965960" y="254203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8" name="TextBox 17"/>
          <p:cNvSpPr txBox="1"/>
          <p:nvPr/>
        </p:nvSpPr>
        <p:spPr>
          <a:xfrm>
            <a:off x="2560320" y="2487168"/>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Synthèse de 300 à 500 mots, une source par affirmation</a:t>
            </a:r>
          </a:p>
        </p:txBody>
      </p:sp>
      <p:sp>
        <p:nvSpPr>
          <p:cNvPr id="19" name="Oval 18"/>
          <p:cNvSpPr/>
          <p:nvPr/>
        </p:nvSpPr>
        <p:spPr>
          <a:xfrm>
            <a:off x="1965960" y="3154679"/>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20" name="TextBox 19"/>
          <p:cNvSpPr txBox="1"/>
          <p:nvPr/>
        </p:nvSpPr>
        <p:spPr>
          <a:xfrm>
            <a:off x="2560320" y="3099815"/>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Votre analyse : contexte, lacunes, apport</a:t>
            </a:r>
          </a:p>
        </p:txBody>
      </p:sp>
      <p:sp>
        <p:nvSpPr>
          <p:cNvPr id="21" name="Oval 20"/>
          <p:cNvSpPr/>
          <p:nvPr/>
        </p:nvSpPr>
        <p:spPr>
          <a:xfrm>
            <a:off x="1965960" y="3767328"/>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2" name="TextBox 21"/>
          <p:cNvSpPr txBox="1"/>
          <p:nvPr/>
        </p:nvSpPr>
        <p:spPr>
          <a:xfrm>
            <a:off x="2560320" y="3712464"/>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Grille d'audit : qualité, biais, genre, intégrité</a:t>
            </a:r>
          </a:p>
        </p:txBody>
      </p:sp>
      <p:sp>
        <p:nvSpPr>
          <p:cNvPr id="23" name="Oval 22"/>
          <p:cNvSpPr/>
          <p:nvPr/>
        </p:nvSpPr>
        <p:spPr>
          <a:xfrm>
            <a:off x="1965960" y="437997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4" name="TextBox 23"/>
          <p:cNvSpPr txBox="1"/>
          <p:nvPr/>
        </p:nvSpPr>
        <p:spPr>
          <a:xfrm>
            <a:off x="2560320" y="4325112"/>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Déclaration d'usage de l'IA</a:t>
            </a:r>
          </a:p>
        </p:txBody>
      </p:sp>
      <p:sp>
        <p:nvSpPr>
          <p:cNvPr id="25" name="Oval 24"/>
          <p:cNvSpPr/>
          <p:nvPr/>
        </p:nvSpPr>
        <p:spPr>
          <a:xfrm>
            <a:off x="1965960" y="499262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6</a:t>
            </a:r>
          </a:p>
        </p:txBody>
      </p:sp>
      <p:sp>
        <p:nvSpPr>
          <p:cNvPr id="26" name="TextBox 25"/>
          <p:cNvSpPr txBox="1"/>
          <p:nvPr/>
        </p:nvSpPr>
        <p:spPr>
          <a:xfrm>
            <a:off x="2560320" y="4937760"/>
            <a:ext cx="5440679" cy="566928"/>
          </a:xfrm>
          <a:prstGeom prst="rect">
            <a:avLst/>
          </a:prstGeom>
          <a:noFill/>
        </p:spPr>
        <p:txBody>
          <a:bodyPr wrap="square" lIns="45720" tIns="27432" rIns="45720" bIns="27432" anchor="ctr">
            <a:spAutoFit/>
          </a:bodyPr>
          <a:lstStyle/>
          <a:p>
            <a:pPr algn="l">
              <a:lnSpc>
                <a:spcPct val="105000"/>
              </a:lnSpc>
            </a:pPr>
            <a:r>
              <a:rPr sz="1400" b="0" i="0">
                <a:solidFill>
                  <a:srgbClr val="222B30"/>
                </a:solidFill>
                <a:latin typeface="Calibri"/>
              </a:rPr>
              <a:t>Plan de valorisation en 3 actions datées</a:t>
            </a:r>
          </a:p>
        </p:txBody>
      </p:sp>
      <p:sp>
        <p:nvSpPr>
          <p:cNvPr id="27" name="Rectangle 26"/>
          <p:cNvSpPr/>
          <p:nvPr/>
        </p:nvSpPr>
        <p:spPr>
          <a:xfrm>
            <a:off x="8275320" y="1463040"/>
            <a:ext cx="3429000" cy="2286000"/>
          </a:xfrm>
          <a:prstGeom prst="rect">
            <a:avLst/>
          </a:prstGeom>
          <a:solidFill>
            <a:srgbClr val="FFFFFF"/>
          </a:solidFill>
          <a:ln w="15875">
            <a:solidFill>
              <a:srgbClr val="E0A5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80" y="153619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Livrable</a:t>
            </a:r>
          </a:p>
        </p:txBody>
      </p:sp>
      <p:sp>
        <p:nvSpPr>
          <p:cNvPr id="29" name="TextBox 28"/>
          <p:cNvSpPr txBox="1"/>
          <p:nvPr/>
        </p:nvSpPr>
        <p:spPr>
          <a:xfrm>
            <a:off x="8412480" y="1901952"/>
            <a:ext cx="3200400" cy="182880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Note méthodologique de 1 à 2 pages : synthèse, grille d'audit, déclaration, plan de valorisation.
Grille : 6 points.</a:t>
            </a:r>
          </a:p>
        </p:txBody>
      </p:sp>
      <p:sp>
        <p:nvSpPr>
          <p:cNvPr id="30" name="Rectangle 29"/>
          <p:cNvSpPr/>
          <p:nvPr/>
        </p:nvSpPr>
        <p:spPr>
          <a:xfrm>
            <a:off x="8275320" y="3931920"/>
            <a:ext cx="3429000" cy="2240280"/>
          </a:xfrm>
          <a:prstGeom prst="rect">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0" y="4005072"/>
            <a:ext cx="3200400" cy="36576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Niveau Défi</a:t>
            </a:r>
          </a:p>
        </p:txBody>
      </p:sp>
      <p:sp>
        <p:nvSpPr>
          <p:cNvPr id="32" name="TextBox 31"/>
          <p:cNvSpPr txBox="1"/>
          <p:nvPr/>
        </p:nvSpPr>
        <p:spPr>
          <a:xfrm>
            <a:off x="8412480" y="4370832"/>
            <a:ext cx="3200400" cy="1783080"/>
          </a:xfrm>
          <a:prstGeom prst="rect">
            <a:avLst/>
          </a:prstGeom>
          <a:noFill/>
        </p:spPr>
        <p:txBody>
          <a:bodyPr wrap="square" lIns="45720" tIns="27432" rIns="45720" bIns="27432" anchor="t">
            <a:spAutoFit/>
          </a:bodyPr>
          <a:lstStyle/>
          <a:p>
            <a:pPr algn="l">
              <a:lnSpc>
                <a:spcPct val="105000"/>
              </a:lnSpc>
            </a:pPr>
            <a:r>
              <a:rPr sz="1300" b="0" i="0">
                <a:solidFill>
                  <a:srgbClr val="222B30"/>
                </a:solidFill>
                <a:latin typeface="Calibri"/>
              </a:rPr>
              <a:t>Évaluer 2 études (CASP, MMAT, JBI, RoB 2, SYRCLE) · comparer un paragraphe produit sans puis avec le tableau · rédiger la section Méthodes alignée sur PRISMA 2020.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TextBox 1"/>
          <p:cNvSpPr txBox="1"/>
          <p:nvPr/>
        </p:nvSpPr>
        <p:spPr>
          <a:xfrm>
            <a:off x="731520" y="822960"/>
            <a:ext cx="2743200" cy="2377440"/>
          </a:xfrm>
          <a:prstGeom prst="rect">
            <a:avLst/>
          </a:prstGeom>
          <a:noFill/>
        </p:spPr>
        <p:txBody>
          <a:bodyPr wrap="square" lIns="45720" tIns="27432" rIns="45720" bIns="27432" anchor="t">
            <a:spAutoFit/>
          </a:bodyPr>
          <a:lstStyle/>
          <a:p>
            <a:pPr algn="l">
              <a:lnSpc>
                <a:spcPct val="105000"/>
              </a:lnSpc>
            </a:pPr>
            <a:r>
              <a:rPr sz="17000" b="1" i="0">
                <a:solidFill>
                  <a:srgbClr val="E0A526"/>
                </a:solidFill>
                <a:latin typeface="Georgia"/>
              </a:rPr>
              <a:t>6</a:t>
            </a:r>
          </a:p>
        </p:txBody>
      </p:sp>
      <p:sp>
        <p:nvSpPr>
          <p:cNvPr id="3" name="TextBox 2"/>
          <p:cNvSpPr txBox="1"/>
          <p:nvPr/>
        </p:nvSpPr>
        <p:spPr>
          <a:xfrm>
            <a:off x="3291840" y="1234440"/>
            <a:ext cx="8229600" cy="365760"/>
          </a:xfrm>
          <a:prstGeom prst="rect">
            <a:avLst/>
          </a:prstGeom>
          <a:noFill/>
        </p:spPr>
        <p:txBody>
          <a:bodyPr wrap="square" lIns="45720" tIns="27432" rIns="45720" bIns="27432" anchor="t">
            <a:spAutoFit/>
          </a:bodyPr>
          <a:lstStyle/>
          <a:p>
            <a:pPr algn="l">
              <a:lnSpc>
                <a:spcPct val="105000"/>
              </a:lnSpc>
            </a:pPr>
            <a:r>
              <a:rPr sz="1300" b="1" i="0">
                <a:solidFill>
                  <a:srgbClr val="E0A526"/>
                </a:solidFill>
                <a:latin typeface="Calibri"/>
              </a:rPr>
              <a:t>PHASE 6 · CRISP-DM : DEPLOYMENT</a:t>
            </a:r>
          </a:p>
        </p:txBody>
      </p:sp>
      <p:sp>
        <p:nvSpPr>
          <p:cNvPr id="4" name="TextBox 3"/>
          <p:cNvSpPr txBox="1"/>
          <p:nvPr/>
        </p:nvSpPr>
        <p:spPr>
          <a:xfrm>
            <a:off x="3291840" y="1645920"/>
            <a:ext cx="8412480" cy="1280160"/>
          </a:xfrm>
          <a:prstGeom prst="rect">
            <a:avLst/>
          </a:prstGeom>
          <a:noFill/>
        </p:spPr>
        <p:txBody>
          <a:bodyPr wrap="square" lIns="45720" tIns="27432" rIns="45720" bIns="27432" anchor="t">
            <a:spAutoFit/>
          </a:bodyPr>
          <a:lstStyle/>
          <a:p>
            <a:pPr algn="l">
              <a:lnSpc>
                <a:spcPct val="105000"/>
              </a:lnSpc>
            </a:pPr>
            <a:r>
              <a:rPr sz="4400" b="1" i="0">
                <a:solidFill>
                  <a:srgbClr val="FFFFFF"/>
                </a:solidFill>
                <a:latin typeface="Georgia"/>
              </a:rPr>
              <a:t>Déploiement</a:t>
            </a:r>
          </a:p>
        </p:txBody>
      </p:sp>
      <p:sp>
        <p:nvSpPr>
          <p:cNvPr id="5" name="TextBox 4"/>
          <p:cNvSpPr txBox="1"/>
          <p:nvPr/>
        </p:nvSpPr>
        <p:spPr>
          <a:xfrm>
            <a:off x="3291840" y="2697480"/>
            <a:ext cx="8412480" cy="731520"/>
          </a:xfrm>
          <a:prstGeom prst="rect">
            <a:avLst/>
          </a:prstGeom>
          <a:noFill/>
        </p:spPr>
        <p:txBody>
          <a:bodyPr wrap="square" lIns="45720" tIns="27432" rIns="45720" bIns="27432" anchor="t">
            <a:spAutoFit/>
          </a:bodyPr>
          <a:lstStyle/>
          <a:p>
            <a:pPr algn="l">
              <a:lnSpc>
                <a:spcPct val="105000"/>
              </a:lnSpc>
            </a:pPr>
            <a:r>
              <a:rPr sz="2200" b="0" i="0">
                <a:solidFill>
                  <a:srgbClr val="E8F1F3"/>
                </a:solidFill>
                <a:latin typeface="Calibri"/>
              </a:rPr>
              <a:t>Valoriser la synthèse dans votre projet de recherche</a:t>
            </a:r>
          </a:p>
        </p:txBody>
      </p:sp>
      <p:sp>
        <p:nvSpPr>
          <p:cNvPr id="6" name="Rounded Rectangle 5"/>
          <p:cNvSpPr/>
          <p:nvPr/>
        </p:nvSpPr>
        <p:spPr>
          <a:xfrm>
            <a:off x="3291840" y="3794760"/>
            <a:ext cx="8138160" cy="960120"/>
          </a:xfrm>
          <a:prstGeom prst="roundRect">
            <a:avLst>
              <a:gd name="adj" fmla="val 12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l"/>
            <a:r>
              <a:rPr sz="1700" b="1" i="0">
                <a:solidFill>
                  <a:srgbClr val="FFFFFF"/>
                </a:solidFill>
                <a:latin typeface="Calibri"/>
              </a:rPr>
              <a:t>Question clé :</a:t>
            </a:r>
            <a:r>
              <a:rPr sz="1700" b="0" i="0">
                <a:solidFill>
                  <a:srgbClr val="FFFFFF"/>
                </a:solidFill>
                <a:latin typeface="Calibri"/>
              </a:rPr>
              <a:t> Où et comment cette synthèse sera-t-elle utile ?</a:t>
            </a:r>
          </a:p>
        </p:txBody>
      </p:sp>
      <p:sp>
        <p:nvSpPr>
          <p:cNvPr id="7" name="TextBox 6"/>
          <p:cNvSpPr txBox="1"/>
          <p:nvPr/>
        </p:nvSpPr>
        <p:spPr>
          <a:xfrm>
            <a:off x="3291840" y="4983480"/>
            <a:ext cx="8138160" cy="548640"/>
          </a:xfrm>
          <a:prstGeom prst="rect">
            <a:avLst/>
          </a:prstGeom>
          <a:noFill/>
        </p:spPr>
        <p:txBody>
          <a:bodyPr wrap="square" lIns="45720" tIns="27432" rIns="45720" bIns="27432" anchor="t">
            <a:spAutoFit/>
          </a:bodyPr>
          <a:lstStyle/>
          <a:p>
            <a:pPr algn="l">
              <a:lnSpc>
                <a:spcPct val="105000"/>
              </a:lnSpc>
            </a:pPr>
            <a:r>
              <a:rPr sz="1600" b="0" i="0">
                <a:solidFill>
                  <a:srgbClr val="E0A526"/>
                </a:solidFill>
                <a:latin typeface="Calibri"/>
              </a:rPr>
              <a:t>Livrable : plan de valorisation en 3 actions + restitution en galerie</a:t>
            </a:r>
          </a:p>
        </p:txBody>
      </p:sp>
      <p:sp>
        <p:nvSpPr>
          <p:cNvPr id="8" name="Chevron 7"/>
          <p:cNvSpPr/>
          <p:nvPr/>
        </p:nvSpPr>
        <p:spPr>
          <a:xfrm>
            <a:off x="32918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1</a:t>
            </a:r>
          </a:p>
        </p:txBody>
      </p:sp>
      <p:sp>
        <p:nvSpPr>
          <p:cNvPr id="9" name="Chevron 8"/>
          <p:cNvSpPr/>
          <p:nvPr/>
        </p:nvSpPr>
        <p:spPr>
          <a:xfrm>
            <a:off x="46634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2</a:t>
            </a:r>
          </a:p>
        </p:txBody>
      </p:sp>
      <p:sp>
        <p:nvSpPr>
          <p:cNvPr id="10" name="Chevron 9"/>
          <p:cNvSpPr/>
          <p:nvPr/>
        </p:nvSpPr>
        <p:spPr>
          <a:xfrm>
            <a:off x="60350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3</a:t>
            </a:r>
          </a:p>
        </p:txBody>
      </p:sp>
      <p:sp>
        <p:nvSpPr>
          <p:cNvPr id="11" name="Chevron 10"/>
          <p:cNvSpPr/>
          <p:nvPr/>
        </p:nvSpPr>
        <p:spPr>
          <a:xfrm>
            <a:off x="74066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4</a:t>
            </a:r>
          </a:p>
        </p:txBody>
      </p:sp>
      <p:sp>
        <p:nvSpPr>
          <p:cNvPr id="12" name="Chevron 11"/>
          <p:cNvSpPr/>
          <p:nvPr/>
        </p:nvSpPr>
        <p:spPr>
          <a:xfrm>
            <a:off x="8778240" y="5852160"/>
            <a:ext cx="1261872" cy="384048"/>
          </a:xfrm>
          <a:prstGeom prst="chevron">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E8F1F3"/>
                </a:solidFill>
                <a:latin typeface="Calibri"/>
              </a:rPr>
              <a:t>5</a:t>
            </a:r>
          </a:p>
        </p:txBody>
      </p:sp>
      <p:sp>
        <p:nvSpPr>
          <p:cNvPr id="13" name="Chevron 12"/>
          <p:cNvSpPr/>
          <p:nvPr/>
        </p:nvSpPr>
        <p:spPr>
          <a:xfrm>
            <a:off x="10149840" y="5852160"/>
            <a:ext cx="1261872" cy="384048"/>
          </a:xfrm>
          <a:prstGeom prst="chevron">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200" b="1" i="0">
                <a:solidFill>
                  <a:srgbClr val="0B3C49"/>
                </a:solidFill>
                <a:latin typeface="Calibri"/>
              </a:rPr>
              <a:t>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6 · DÉPLOIEMENT · DEPLOYMENT</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Déployer : de la synthèse au projet</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42</a:t>
            </a:r>
          </a:p>
        </p:txBody>
      </p:sp>
      <p:sp>
        <p:nvSpPr>
          <p:cNvPr id="13" name="Rectangle 12"/>
          <p:cNvSpPr/>
          <p:nvPr/>
        </p:nvSpPr>
        <p:spPr>
          <a:xfrm>
            <a:off x="502920" y="1463040"/>
            <a:ext cx="2638044" cy="30175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463040"/>
            <a:ext cx="82296" cy="301752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Doctorantes</a:t>
            </a:r>
          </a:p>
        </p:txBody>
      </p:sp>
      <p:sp>
        <p:nvSpPr>
          <p:cNvPr id="16" name="TextBox 15"/>
          <p:cNvSpPr txBox="1"/>
          <p:nvPr/>
        </p:nvSpPr>
        <p:spPr>
          <a:xfrm>
            <a:off x="685800" y="2034540"/>
            <a:ext cx="2363724" cy="2468879"/>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Chapitre « état de l'art » de la thèse · protocole de revue enregistré sur OSF · veille par alertes.</a:t>
            </a:r>
          </a:p>
        </p:txBody>
      </p:sp>
      <p:sp>
        <p:nvSpPr>
          <p:cNvPr id="17" name="Rectangle 16"/>
          <p:cNvSpPr/>
          <p:nvPr/>
        </p:nvSpPr>
        <p:spPr>
          <a:xfrm>
            <a:off x="3342132" y="1463040"/>
            <a:ext cx="2638044" cy="30175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342132" y="1463040"/>
            <a:ext cx="82296" cy="301752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25012"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Enseignantes-chercheures</a:t>
            </a:r>
          </a:p>
        </p:txBody>
      </p:sp>
      <p:sp>
        <p:nvSpPr>
          <p:cNvPr id="20" name="TextBox 19"/>
          <p:cNvSpPr txBox="1"/>
          <p:nvPr/>
        </p:nvSpPr>
        <p:spPr>
          <a:xfrm>
            <a:off x="3525012" y="2034540"/>
            <a:ext cx="2363724" cy="2468879"/>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Revue de portée co-écrite avec ses doctorantes · section « état des connaissances » d'un projet (AUF, CRDI…) · nouveau cours.</a:t>
            </a:r>
          </a:p>
        </p:txBody>
      </p:sp>
      <p:sp>
        <p:nvSpPr>
          <p:cNvPr id="21" name="Rectangle 20"/>
          <p:cNvSpPr/>
          <p:nvPr/>
        </p:nvSpPr>
        <p:spPr>
          <a:xfrm>
            <a:off x="6181344" y="1463040"/>
            <a:ext cx="2638044" cy="30175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81344" y="1463040"/>
            <a:ext cx="82296" cy="301752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64224"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Étudiantes</a:t>
            </a:r>
          </a:p>
        </p:txBody>
      </p:sp>
      <p:sp>
        <p:nvSpPr>
          <p:cNvPr id="24" name="TextBox 23"/>
          <p:cNvSpPr txBox="1"/>
          <p:nvPr/>
        </p:nvSpPr>
        <p:spPr>
          <a:xfrm>
            <a:off x="6364224" y="2034540"/>
            <a:ext cx="2363724" cy="2468879"/>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Chapitre théorique du mémoire · fiche de lecture structurée · première communication.</a:t>
            </a:r>
          </a:p>
        </p:txBody>
      </p:sp>
      <p:sp>
        <p:nvSpPr>
          <p:cNvPr id="25" name="Rectangle 24"/>
          <p:cNvSpPr/>
          <p:nvPr/>
        </p:nvSpPr>
        <p:spPr>
          <a:xfrm>
            <a:off x="9020556" y="1463040"/>
            <a:ext cx="2638044" cy="3017520"/>
          </a:xfrm>
          <a:prstGeom prst="rect">
            <a:avLst/>
          </a:prstGeom>
          <a:solidFill>
            <a:srgbClr val="FFFFFF"/>
          </a:solidFill>
          <a:ln w="15875">
            <a:solidFill>
              <a:srgbClr val="D9E2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20556" y="1463040"/>
            <a:ext cx="82296" cy="301752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03436" y="1554480"/>
            <a:ext cx="2363724" cy="457200"/>
          </a:xfrm>
          <a:prstGeom prst="rect">
            <a:avLst/>
          </a:prstGeom>
          <a:noFill/>
        </p:spPr>
        <p:txBody>
          <a:bodyPr wrap="square" lIns="45720" tIns="27432" rIns="45720" bIns="27432" anchor="t">
            <a:spAutoFit/>
          </a:bodyPr>
          <a:lstStyle/>
          <a:p>
            <a:pPr algn="l">
              <a:lnSpc>
                <a:spcPct val="105000"/>
              </a:lnSpc>
            </a:pPr>
            <a:r>
              <a:rPr sz="1500" b="1" i="0">
                <a:solidFill>
                  <a:srgbClr val="0B3C49"/>
                </a:solidFill>
                <a:latin typeface="Calibri"/>
              </a:rPr>
              <a:t>Pour toutes</a:t>
            </a:r>
          </a:p>
        </p:txBody>
      </p:sp>
      <p:sp>
        <p:nvSpPr>
          <p:cNvPr id="28" name="TextBox 27"/>
          <p:cNvSpPr txBox="1"/>
          <p:nvPr/>
        </p:nvSpPr>
        <p:spPr>
          <a:xfrm>
            <a:off x="9203436" y="2034540"/>
            <a:ext cx="2363724" cy="2468879"/>
          </a:xfrm>
          <a:prstGeom prst="rect">
            <a:avLst/>
          </a:prstGeom>
          <a:noFill/>
        </p:spPr>
        <p:txBody>
          <a:bodyPr wrap="square" lIns="45720" tIns="27432" rIns="45720" bIns="27432" anchor="t">
            <a:spAutoFit/>
          </a:bodyPr>
          <a:lstStyle/>
          <a:p>
            <a:pPr algn="l">
              <a:lnSpc>
                <a:spcPct val="105000"/>
              </a:lnSpc>
            </a:pPr>
            <a:r>
              <a:rPr sz="1350" b="0" i="0">
                <a:solidFill>
                  <a:srgbClr val="222B30"/>
                </a:solidFill>
                <a:latin typeface="Calibri"/>
              </a:rPr>
              <a:t>ORCID à jour · dépôt sur HAL · page auteur revendiquée · déclaration d'usage de l'IA.</a:t>
            </a:r>
          </a:p>
        </p:txBody>
      </p:sp>
      <p:sp>
        <p:nvSpPr>
          <p:cNvPr id="29" name="Rounded Rectangle 28"/>
          <p:cNvSpPr/>
          <p:nvPr/>
        </p:nvSpPr>
        <p:spPr>
          <a:xfrm>
            <a:off x="502920" y="4754880"/>
            <a:ext cx="3611880" cy="137160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4828032"/>
            <a:ext cx="822960" cy="548640"/>
          </a:xfrm>
          <a:prstGeom prst="rect">
            <a:avLst/>
          </a:prstGeom>
          <a:noFill/>
        </p:spPr>
        <p:txBody>
          <a:bodyPr wrap="square" lIns="45720" tIns="27432" rIns="45720" bIns="27432" anchor="t">
            <a:spAutoFit/>
          </a:bodyPr>
          <a:lstStyle/>
          <a:p>
            <a:pPr algn="l">
              <a:lnSpc>
                <a:spcPct val="105000"/>
              </a:lnSpc>
            </a:pPr>
            <a:r>
              <a:rPr sz="2400" b="1" i="0">
                <a:solidFill>
                  <a:srgbClr val="E0A526"/>
                </a:solidFill>
                <a:latin typeface="Georgia"/>
              </a:rPr>
              <a:t>J3</a:t>
            </a:r>
          </a:p>
        </p:txBody>
      </p:sp>
      <p:sp>
        <p:nvSpPr>
          <p:cNvPr id="31" name="TextBox 30"/>
          <p:cNvSpPr txBox="1"/>
          <p:nvPr/>
        </p:nvSpPr>
        <p:spPr>
          <a:xfrm>
            <a:off x="1463040" y="4828032"/>
            <a:ext cx="2560320" cy="1234440"/>
          </a:xfrm>
          <a:prstGeom prst="rect">
            <a:avLst/>
          </a:prstGeom>
          <a:noFill/>
        </p:spPr>
        <p:txBody>
          <a:bodyPr wrap="square" lIns="45720" tIns="27432" rIns="45720" bIns="27432" anchor="ctr">
            <a:spAutoFit/>
          </a:bodyPr>
          <a:lstStyle/>
          <a:p>
            <a:pPr algn="l">
              <a:lnSpc>
                <a:spcPct val="105000"/>
              </a:lnSpc>
            </a:pPr>
            <a:r>
              <a:rPr sz="1350" b="0" i="0">
                <a:solidFill>
                  <a:srgbClr val="FFFFFF"/>
                </a:solidFill>
                <a:latin typeface="Calibri"/>
              </a:rPr>
              <a:t>Votre tableau CSV d'Elicit devient un jeu de données dans Orange ou KNIME</a:t>
            </a:r>
          </a:p>
        </p:txBody>
      </p:sp>
      <p:sp>
        <p:nvSpPr>
          <p:cNvPr id="32" name="Rounded Rectangle 31"/>
          <p:cNvSpPr/>
          <p:nvPr/>
        </p:nvSpPr>
        <p:spPr>
          <a:xfrm>
            <a:off x="4279392" y="4754880"/>
            <a:ext cx="3611880" cy="137160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62272" y="4828032"/>
            <a:ext cx="822960" cy="548640"/>
          </a:xfrm>
          <a:prstGeom prst="rect">
            <a:avLst/>
          </a:prstGeom>
          <a:noFill/>
        </p:spPr>
        <p:txBody>
          <a:bodyPr wrap="square" lIns="45720" tIns="27432" rIns="45720" bIns="27432" anchor="t">
            <a:spAutoFit/>
          </a:bodyPr>
          <a:lstStyle/>
          <a:p>
            <a:pPr algn="l">
              <a:lnSpc>
                <a:spcPct val="105000"/>
              </a:lnSpc>
            </a:pPr>
            <a:r>
              <a:rPr sz="2400" b="1" i="0">
                <a:solidFill>
                  <a:srgbClr val="E0A526"/>
                </a:solidFill>
                <a:latin typeface="Georgia"/>
              </a:rPr>
              <a:t>J4</a:t>
            </a:r>
          </a:p>
        </p:txBody>
      </p:sp>
      <p:sp>
        <p:nvSpPr>
          <p:cNvPr id="34" name="TextBox 33"/>
          <p:cNvSpPr txBox="1"/>
          <p:nvPr/>
        </p:nvSpPr>
        <p:spPr>
          <a:xfrm>
            <a:off x="5239512" y="4828032"/>
            <a:ext cx="2560320" cy="1234440"/>
          </a:xfrm>
          <a:prstGeom prst="rect">
            <a:avLst/>
          </a:prstGeom>
          <a:noFill/>
        </p:spPr>
        <p:txBody>
          <a:bodyPr wrap="square" lIns="45720" tIns="27432" rIns="45720" bIns="27432" anchor="ctr">
            <a:spAutoFit/>
          </a:bodyPr>
          <a:lstStyle/>
          <a:p>
            <a:pPr algn="l">
              <a:lnSpc>
                <a:spcPct val="105000"/>
              </a:lnSpc>
            </a:pPr>
            <a:r>
              <a:rPr sz="1350" b="0" i="0">
                <a:solidFill>
                  <a:srgbClr val="FFFFFF"/>
                </a:solidFill>
                <a:latin typeface="Calibri"/>
              </a:rPr>
              <a:t>Votre bibliographie triée alimente votre carnet RAG et votre état de l'art</a:t>
            </a:r>
          </a:p>
        </p:txBody>
      </p:sp>
      <p:sp>
        <p:nvSpPr>
          <p:cNvPr id="35" name="Rounded Rectangle 34"/>
          <p:cNvSpPr/>
          <p:nvPr/>
        </p:nvSpPr>
        <p:spPr>
          <a:xfrm>
            <a:off x="8055864" y="4754880"/>
            <a:ext cx="3611880" cy="1371600"/>
          </a:xfrm>
          <a:prstGeom prst="roundRect">
            <a:avLst>
              <a:gd name="adj" fmla="val 8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38744" y="4828032"/>
            <a:ext cx="822960" cy="548640"/>
          </a:xfrm>
          <a:prstGeom prst="rect">
            <a:avLst/>
          </a:prstGeom>
          <a:noFill/>
        </p:spPr>
        <p:txBody>
          <a:bodyPr wrap="square" lIns="45720" tIns="27432" rIns="45720" bIns="27432" anchor="t">
            <a:spAutoFit/>
          </a:bodyPr>
          <a:lstStyle/>
          <a:p>
            <a:pPr algn="l">
              <a:lnSpc>
                <a:spcPct val="105000"/>
              </a:lnSpc>
            </a:pPr>
            <a:r>
              <a:rPr sz="2400" b="1" i="0">
                <a:solidFill>
                  <a:srgbClr val="E0A526"/>
                </a:solidFill>
                <a:latin typeface="Georgia"/>
              </a:rPr>
              <a:t>J5</a:t>
            </a:r>
          </a:p>
        </p:txBody>
      </p:sp>
      <p:sp>
        <p:nvSpPr>
          <p:cNvPr id="37" name="TextBox 36"/>
          <p:cNvSpPr txBox="1"/>
          <p:nvPr/>
        </p:nvSpPr>
        <p:spPr>
          <a:xfrm>
            <a:off x="9015984" y="4828032"/>
            <a:ext cx="2560320" cy="1234440"/>
          </a:xfrm>
          <a:prstGeom prst="rect">
            <a:avLst/>
          </a:prstGeom>
          <a:noFill/>
        </p:spPr>
        <p:txBody>
          <a:bodyPr wrap="square" lIns="45720" tIns="27432" rIns="45720" bIns="27432" anchor="ctr">
            <a:spAutoFit/>
          </a:bodyPr>
          <a:lstStyle/>
          <a:p>
            <a:pPr algn="l">
              <a:lnSpc>
                <a:spcPct val="105000"/>
              </a:lnSpc>
            </a:pPr>
            <a:r>
              <a:rPr sz="1350" b="0" i="0">
                <a:solidFill>
                  <a:srgbClr val="FFFFFF"/>
                </a:solidFill>
                <a:latin typeface="Calibri"/>
              </a:rPr>
              <a:t>Votre note méthodologique nourrit votre cas d'usage personnel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PHASE 6 · DÉPLOIEMENT · DEPLOYMENT</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Restitution en galerie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1" i="0">
                <a:solidFill>
                  <a:srgbClr val="0B3C49"/>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43</a:t>
            </a:r>
          </a:p>
        </p:txBody>
      </p:sp>
      <p:sp>
        <p:nvSpPr>
          <p:cNvPr id="13" name="Oval 12"/>
          <p:cNvSpPr/>
          <p:nvPr/>
        </p:nvSpPr>
        <p:spPr>
          <a:xfrm>
            <a:off x="502920" y="1609344"/>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1</a:t>
            </a:r>
          </a:p>
        </p:txBody>
      </p:sp>
      <p:sp>
        <p:nvSpPr>
          <p:cNvPr id="14" name="TextBox 13"/>
          <p:cNvSpPr txBox="1"/>
          <p:nvPr/>
        </p:nvSpPr>
        <p:spPr>
          <a:xfrm>
            <a:off x="1097280" y="1554480"/>
            <a:ext cx="6263640" cy="7772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Chaque groupe affiche </a:t>
            </a:r>
            <a:r>
              <a:rPr sz="1700" b="1" i="0">
                <a:solidFill>
                  <a:srgbClr val="222B30"/>
                </a:solidFill>
                <a:latin typeface="Calibri"/>
              </a:rPr>
              <a:t>un livrable</a:t>
            </a:r>
            <a:r>
              <a:rPr sz="1700" b="0" i="0">
                <a:solidFill>
                  <a:srgbClr val="222B30"/>
                </a:solidFill>
                <a:latin typeface="Calibri"/>
              </a:rPr>
              <a:t> (volontaire)</a:t>
            </a:r>
          </a:p>
        </p:txBody>
      </p:sp>
      <p:sp>
        <p:nvSpPr>
          <p:cNvPr id="15" name="Oval 14"/>
          <p:cNvSpPr/>
          <p:nvPr/>
        </p:nvSpPr>
        <p:spPr>
          <a:xfrm>
            <a:off x="502920" y="2459736"/>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2</a:t>
            </a:r>
          </a:p>
        </p:txBody>
      </p:sp>
      <p:sp>
        <p:nvSpPr>
          <p:cNvPr id="16" name="TextBox 15"/>
          <p:cNvSpPr txBox="1"/>
          <p:nvPr/>
        </p:nvSpPr>
        <p:spPr>
          <a:xfrm>
            <a:off x="1097280" y="2404872"/>
            <a:ext cx="6263640" cy="7772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Les autres groupes circulent : </a:t>
            </a:r>
            <a:r>
              <a:rPr sz="1700" b="1" i="0">
                <a:solidFill>
                  <a:srgbClr val="222B30"/>
                </a:solidFill>
                <a:latin typeface="Calibri"/>
              </a:rPr>
              <a:t>5 minutes par poste</a:t>
            </a:r>
          </a:p>
        </p:txBody>
      </p:sp>
      <p:sp>
        <p:nvSpPr>
          <p:cNvPr id="17" name="Oval 16"/>
          <p:cNvSpPr/>
          <p:nvPr/>
        </p:nvSpPr>
        <p:spPr>
          <a:xfrm>
            <a:off x="502920" y="3310127"/>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3</a:t>
            </a:r>
          </a:p>
        </p:txBody>
      </p:sp>
      <p:sp>
        <p:nvSpPr>
          <p:cNvPr id="18" name="TextBox 17"/>
          <p:cNvSpPr txBox="1"/>
          <p:nvPr/>
        </p:nvSpPr>
        <p:spPr>
          <a:xfrm>
            <a:off x="1097280" y="3255263"/>
            <a:ext cx="6263640" cy="7772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Post-it vert : </a:t>
            </a:r>
            <a:r>
              <a:rPr sz="1700" b="1" i="0">
                <a:solidFill>
                  <a:srgbClr val="222B30"/>
                </a:solidFill>
                <a:latin typeface="Calibri"/>
              </a:rPr>
              <a:t>une force</a:t>
            </a:r>
            <a:r>
              <a:rPr sz="1700" b="0" i="0">
                <a:solidFill>
                  <a:srgbClr val="222B30"/>
                </a:solidFill>
                <a:latin typeface="Calibri"/>
              </a:rPr>
              <a:t> · post-it jaune : </a:t>
            </a:r>
            <a:r>
              <a:rPr sz="1700" b="1" i="0">
                <a:solidFill>
                  <a:srgbClr val="222B30"/>
                </a:solidFill>
                <a:latin typeface="Calibri"/>
              </a:rPr>
              <a:t>une question</a:t>
            </a:r>
          </a:p>
        </p:txBody>
      </p:sp>
      <p:sp>
        <p:nvSpPr>
          <p:cNvPr id="19" name="Oval 18"/>
          <p:cNvSpPr/>
          <p:nvPr/>
        </p:nvSpPr>
        <p:spPr>
          <a:xfrm>
            <a:off x="502920" y="4160520"/>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4</a:t>
            </a:r>
          </a:p>
        </p:txBody>
      </p:sp>
      <p:sp>
        <p:nvSpPr>
          <p:cNvPr id="20" name="TextBox 19"/>
          <p:cNvSpPr txBox="1"/>
          <p:nvPr/>
        </p:nvSpPr>
        <p:spPr>
          <a:xfrm>
            <a:off x="1097280" y="4105656"/>
            <a:ext cx="6263640" cy="7772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La formatrice commente </a:t>
            </a:r>
            <a:r>
              <a:rPr sz="1700" b="1" i="0">
                <a:solidFill>
                  <a:srgbClr val="222B30"/>
                </a:solidFill>
                <a:latin typeface="Calibri"/>
              </a:rPr>
              <a:t>deux livrables</a:t>
            </a:r>
            <a:r>
              <a:rPr sz="1700" b="0" i="0">
                <a:solidFill>
                  <a:srgbClr val="222B30"/>
                </a:solidFill>
                <a:latin typeface="Calibri"/>
              </a:rPr>
              <a:t> en plénière</a:t>
            </a:r>
          </a:p>
        </p:txBody>
      </p:sp>
      <p:sp>
        <p:nvSpPr>
          <p:cNvPr id="21" name="Oval 20"/>
          <p:cNvSpPr/>
          <p:nvPr/>
        </p:nvSpPr>
        <p:spPr>
          <a:xfrm>
            <a:off x="502920" y="5010912"/>
            <a:ext cx="438912" cy="438912"/>
          </a:xfrm>
          <a:prstGeom prst="ellipse">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i="0">
                <a:solidFill>
                  <a:srgbClr val="FFFFFF"/>
                </a:solidFill>
                <a:latin typeface="Calibri"/>
              </a:rPr>
              <a:t>5</a:t>
            </a:r>
          </a:p>
        </p:txBody>
      </p:sp>
      <p:sp>
        <p:nvSpPr>
          <p:cNvPr id="22" name="TextBox 21"/>
          <p:cNvSpPr txBox="1"/>
          <p:nvPr/>
        </p:nvSpPr>
        <p:spPr>
          <a:xfrm>
            <a:off x="1097280" y="4956048"/>
            <a:ext cx="6263640" cy="777240"/>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On retient </a:t>
            </a:r>
            <a:r>
              <a:rPr sz="1700" b="1" i="0">
                <a:solidFill>
                  <a:srgbClr val="222B30"/>
                </a:solidFill>
                <a:latin typeface="Calibri"/>
              </a:rPr>
              <a:t>une leçon par discipline</a:t>
            </a:r>
          </a:p>
        </p:txBody>
      </p:sp>
      <p:sp>
        <p:nvSpPr>
          <p:cNvPr id="23" name="Rectangle 22"/>
          <p:cNvSpPr/>
          <p:nvPr/>
        </p:nvSpPr>
        <p:spPr>
          <a:xfrm>
            <a:off x="7863840" y="1554480"/>
            <a:ext cx="3794760" cy="4480560"/>
          </a:xfrm>
          <a:prstGeom prst="rect">
            <a:avLst/>
          </a:prstGeom>
          <a:solidFill>
            <a:srgbClr val="FB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46720" y="1645920"/>
            <a:ext cx="3474720" cy="457200"/>
          </a:xfrm>
          <a:prstGeom prst="rect">
            <a:avLst/>
          </a:prstGeom>
          <a:noFill/>
        </p:spPr>
        <p:txBody>
          <a:bodyPr wrap="square" lIns="45720" tIns="27432" rIns="45720" bIns="27432" anchor="t">
            <a:spAutoFit/>
          </a:bodyPr>
          <a:lstStyle/>
          <a:p>
            <a:pPr algn="l">
              <a:lnSpc>
                <a:spcPct val="105000"/>
              </a:lnSpc>
            </a:pPr>
            <a:r>
              <a:rPr sz="1600" b="1" i="0">
                <a:solidFill>
                  <a:srgbClr val="0B3C49"/>
                </a:solidFill>
                <a:latin typeface="Calibri"/>
              </a:rPr>
              <a:t>Ce que l'on regarde</a:t>
            </a:r>
          </a:p>
        </p:txBody>
      </p:sp>
      <p:sp>
        <p:nvSpPr>
          <p:cNvPr id="25" name="TextBox 24"/>
          <p:cNvSpPr txBox="1"/>
          <p:nvPr/>
        </p:nvSpPr>
        <p:spPr>
          <a:xfrm>
            <a:off x="8046720" y="2103120"/>
            <a:ext cx="3474720" cy="3840480"/>
          </a:xfrm>
          <a:prstGeom prst="rect">
            <a:avLst/>
          </a:prstGeom>
          <a:noFill/>
        </p:spPr>
        <p:txBody>
          <a:bodyPr wrap="square">
            <a:spAutoFit/>
          </a:bodyPr>
          <a:lstStyle/>
          <a:p>
            <a:pPr>
              <a:lnSpc>
                <a:spcPct val="105000"/>
              </a:lnSpc>
              <a:spcAft>
                <a:spcPts val="600"/>
              </a:spcAft>
            </a:pPr>
            <a:r>
              <a:rPr sz="1100">
                <a:solidFill>
                  <a:srgbClr val="E0A526"/>
                </a:solidFill>
                <a:latin typeface="Calibri"/>
              </a:rPr>
              <a:t>■  </a:t>
            </a:r>
            <a:r>
              <a:rPr sz="1500" b="0" i="0">
                <a:solidFill>
                  <a:srgbClr val="222B30"/>
                </a:solidFill>
                <a:latin typeface="Calibri"/>
              </a:rPr>
              <a:t>La question est-elle précise ?</a:t>
            </a:r>
          </a:p>
          <a:p>
            <a:pPr>
              <a:lnSpc>
                <a:spcPct val="105000"/>
              </a:lnSpc>
              <a:spcAft>
                <a:spcPts val="600"/>
              </a:spcAft>
            </a:pPr>
            <a:r>
              <a:rPr sz="1100">
                <a:solidFill>
                  <a:srgbClr val="E0A526"/>
                </a:solidFill>
                <a:latin typeface="Calibri"/>
              </a:rPr>
              <a:t>■  </a:t>
            </a:r>
            <a:r>
              <a:rPr sz="1500" b="0" i="0">
                <a:solidFill>
                  <a:srgbClr val="222B30"/>
                </a:solidFill>
                <a:latin typeface="Calibri"/>
              </a:rPr>
              <a:t>Les sources sont-elles vérifiées ?</a:t>
            </a:r>
          </a:p>
          <a:p>
            <a:pPr>
              <a:lnSpc>
                <a:spcPct val="105000"/>
              </a:lnSpc>
              <a:spcAft>
                <a:spcPts val="600"/>
              </a:spcAft>
            </a:pPr>
            <a:r>
              <a:rPr sz="1100">
                <a:solidFill>
                  <a:srgbClr val="E0A526"/>
                </a:solidFill>
                <a:latin typeface="Calibri"/>
              </a:rPr>
              <a:t>■  </a:t>
            </a:r>
            <a:r>
              <a:rPr sz="1500" b="0" i="0">
                <a:solidFill>
                  <a:srgbClr val="222B30"/>
                </a:solidFill>
                <a:latin typeface="Calibri"/>
              </a:rPr>
              <a:t>Les biais sont-ils nommés ?</a:t>
            </a:r>
          </a:p>
          <a:p>
            <a:pPr>
              <a:lnSpc>
                <a:spcPct val="105000"/>
              </a:lnSpc>
              <a:spcAft>
                <a:spcPts val="600"/>
              </a:spcAft>
            </a:pPr>
            <a:r>
              <a:rPr sz="1100">
                <a:solidFill>
                  <a:srgbClr val="E0A526"/>
                </a:solidFill>
                <a:latin typeface="Calibri"/>
              </a:rPr>
              <a:t>■  </a:t>
            </a:r>
            <a:r>
              <a:rPr sz="1500" b="0" i="0">
                <a:solidFill>
                  <a:srgbClr val="222B30"/>
                </a:solidFill>
                <a:latin typeface="Calibri"/>
              </a:rPr>
              <a:t>La valorisation est-elle réaliste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9144000" cy="320040"/>
          </a:xfrm>
          <a:prstGeom prst="rect">
            <a:avLst/>
          </a:prstGeom>
          <a:noFill/>
        </p:spPr>
        <p:txBody>
          <a:bodyPr wrap="square" lIns="45720" tIns="27432" rIns="45720" bIns="27432" anchor="t">
            <a:spAutoFit/>
          </a:bodyPr>
          <a:lstStyle/>
          <a:p>
            <a:pPr algn="l">
              <a:lnSpc>
                <a:spcPct val="105000"/>
              </a:lnSpc>
            </a:pPr>
            <a:r>
              <a:rPr sz="1100" b="1" i="0">
                <a:solidFill>
                  <a:srgbClr val="E0A526"/>
                </a:solidFill>
                <a:latin typeface="Calibri"/>
              </a:rPr>
              <a:t>CLÔTURE</a:t>
            </a:r>
          </a:p>
        </p:txBody>
      </p:sp>
      <p:sp>
        <p:nvSpPr>
          <p:cNvPr id="4" name="TextBox 3"/>
          <p:cNvSpPr txBox="1"/>
          <p:nvPr/>
        </p:nvSpPr>
        <p:spPr>
          <a:xfrm>
            <a:off x="502920" y="566928"/>
            <a:ext cx="11155680" cy="822960"/>
          </a:xfrm>
          <a:prstGeom prst="rect">
            <a:avLst/>
          </a:prstGeom>
          <a:noFill/>
        </p:spPr>
        <p:txBody>
          <a:bodyPr wrap="square" lIns="45720" tIns="27432" rIns="45720" bIns="27432" anchor="t">
            <a:spAutoFit/>
          </a:bodyPr>
          <a:lstStyle/>
          <a:p>
            <a:pPr algn="l">
              <a:lnSpc>
                <a:spcPct val="105000"/>
              </a:lnSpc>
            </a:pPr>
            <a:r>
              <a:rPr sz="3000" b="1" i="0">
                <a:solidFill>
                  <a:srgbClr val="0B3C49"/>
                </a:solidFill>
                <a:latin typeface="Georgia"/>
              </a:rPr>
              <a:t>Check-list de fin de journée</a:t>
            </a:r>
          </a:p>
        </p:txBody>
      </p:sp>
      <p:sp>
        <p:nvSpPr>
          <p:cNvPr id="5" name="TextBox 4"/>
          <p:cNvSpPr txBox="1"/>
          <p:nvPr/>
        </p:nvSpPr>
        <p:spPr>
          <a:xfrm>
            <a:off x="457200" y="6473952"/>
            <a:ext cx="4114800" cy="274320"/>
          </a:xfrm>
          <a:prstGeom prst="rect">
            <a:avLst/>
          </a:prstGeom>
          <a:noFill/>
        </p:spPr>
        <p:txBody>
          <a:bodyPr wrap="square" lIns="45720" tIns="27432" rIns="45720" bIns="27432" anchor="t">
            <a:spAutoFit/>
          </a:bodyPr>
          <a:lstStyle/>
          <a:p>
            <a:pPr algn="l">
              <a:lnSpc>
                <a:spcPct val="105000"/>
              </a:lnSpc>
            </a:pPr>
            <a:r>
              <a:rPr sz="900" b="0" i="0">
                <a:solidFill>
                  <a:srgbClr val="6B7C82"/>
                </a:solidFill>
                <a:latin typeface="Calibri"/>
              </a:rPr>
              <a:t>M2-nonIT · IA pour la recherche documentaire · J2</a:t>
            </a:r>
          </a:p>
        </p:txBody>
      </p:sp>
      <p:sp>
        <p:nvSpPr>
          <p:cNvPr id="6" name="Rectangle 5"/>
          <p:cNvSpPr/>
          <p:nvPr/>
        </p:nvSpPr>
        <p:spPr>
          <a:xfrm>
            <a:off x="745236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1</a:t>
            </a:r>
          </a:p>
        </p:txBody>
      </p:sp>
      <p:sp>
        <p:nvSpPr>
          <p:cNvPr id="7" name="Rectangle 6"/>
          <p:cNvSpPr/>
          <p:nvPr/>
        </p:nvSpPr>
        <p:spPr>
          <a:xfrm>
            <a:off x="8019288"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2</a:t>
            </a:r>
          </a:p>
        </p:txBody>
      </p:sp>
      <p:sp>
        <p:nvSpPr>
          <p:cNvPr id="8" name="Rectangle 7"/>
          <p:cNvSpPr/>
          <p:nvPr/>
        </p:nvSpPr>
        <p:spPr>
          <a:xfrm>
            <a:off x="8586216"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3</a:t>
            </a:r>
          </a:p>
        </p:txBody>
      </p:sp>
      <p:sp>
        <p:nvSpPr>
          <p:cNvPr id="9" name="Rectangle 8"/>
          <p:cNvSpPr/>
          <p:nvPr/>
        </p:nvSpPr>
        <p:spPr>
          <a:xfrm>
            <a:off x="9153144"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4</a:t>
            </a:r>
          </a:p>
        </p:txBody>
      </p:sp>
      <p:sp>
        <p:nvSpPr>
          <p:cNvPr id="10" name="Rectangle 9"/>
          <p:cNvSpPr/>
          <p:nvPr/>
        </p:nvSpPr>
        <p:spPr>
          <a:xfrm>
            <a:off x="9720072"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5</a:t>
            </a:r>
          </a:p>
        </p:txBody>
      </p:sp>
      <p:sp>
        <p:nvSpPr>
          <p:cNvPr id="11" name="Rectangle 10"/>
          <p:cNvSpPr/>
          <p:nvPr/>
        </p:nvSpPr>
        <p:spPr>
          <a:xfrm>
            <a:off x="10287000" y="6510528"/>
            <a:ext cx="512064" cy="201168"/>
          </a:xfrm>
          <a:prstGeom prst="rect">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900" b="0" i="0">
                <a:solidFill>
                  <a:srgbClr val="6B7C82"/>
                </a:solidFill>
                <a:latin typeface="Calibri"/>
              </a:rPr>
              <a:t>6</a:t>
            </a:r>
          </a:p>
        </p:txBody>
      </p:sp>
      <p:sp>
        <p:nvSpPr>
          <p:cNvPr id="12" name="TextBox 11"/>
          <p:cNvSpPr txBox="1"/>
          <p:nvPr/>
        </p:nvSpPr>
        <p:spPr>
          <a:xfrm>
            <a:off x="10972800" y="6473952"/>
            <a:ext cx="822960" cy="274320"/>
          </a:xfrm>
          <a:prstGeom prst="rect">
            <a:avLst/>
          </a:prstGeom>
          <a:noFill/>
        </p:spPr>
        <p:txBody>
          <a:bodyPr wrap="square" lIns="45720" tIns="27432" rIns="45720" bIns="27432" anchor="t">
            <a:spAutoFit/>
          </a:bodyPr>
          <a:lstStyle/>
          <a:p>
            <a:pPr algn="r">
              <a:lnSpc>
                <a:spcPct val="105000"/>
              </a:lnSpc>
            </a:pPr>
            <a:r>
              <a:rPr sz="900" b="0" i="0">
                <a:solidFill>
                  <a:srgbClr val="6B7C82"/>
                </a:solidFill>
                <a:latin typeface="Calibri"/>
              </a:rPr>
              <a:t>44</a:t>
            </a:r>
          </a:p>
        </p:txBody>
      </p:sp>
      <p:sp>
        <p:nvSpPr>
          <p:cNvPr id="13" name="Rectangle 12"/>
          <p:cNvSpPr/>
          <p:nvPr/>
        </p:nvSpPr>
        <p:spPr>
          <a:xfrm>
            <a:off x="502920" y="1600200"/>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150876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Question PICO(S) et critères d'éligibilité</a:t>
            </a:r>
          </a:p>
        </p:txBody>
      </p:sp>
      <p:sp>
        <p:nvSpPr>
          <p:cNvPr id="15" name="Rectangle 14"/>
          <p:cNvSpPr/>
          <p:nvPr/>
        </p:nvSpPr>
        <p:spPr>
          <a:xfrm>
            <a:off x="502920" y="2377440"/>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228600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Équation FR / EN testée</a:t>
            </a:r>
          </a:p>
        </p:txBody>
      </p:sp>
      <p:sp>
        <p:nvSpPr>
          <p:cNvPr id="17" name="Rectangle 16"/>
          <p:cNvSpPr/>
          <p:nvPr/>
        </p:nvSpPr>
        <p:spPr>
          <a:xfrm>
            <a:off x="502920" y="3154679"/>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3063239"/>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Journal de recherche daté</a:t>
            </a:r>
          </a:p>
        </p:txBody>
      </p:sp>
      <p:sp>
        <p:nvSpPr>
          <p:cNvPr id="19" name="Rectangle 18"/>
          <p:cNvSpPr/>
          <p:nvPr/>
        </p:nvSpPr>
        <p:spPr>
          <a:xfrm>
            <a:off x="502920" y="3931919"/>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3840479"/>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Graphe Connected Papers commenté</a:t>
            </a:r>
          </a:p>
        </p:txBody>
      </p:sp>
      <p:sp>
        <p:nvSpPr>
          <p:cNvPr id="21" name="Rectangle 20"/>
          <p:cNvSpPr/>
          <p:nvPr/>
        </p:nvSpPr>
        <p:spPr>
          <a:xfrm>
            <a:off x="502920" y="4709159"/>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61772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10 à 15 références dans Zotero</a:t>
            </a:r>
          </a:p>
        </p:txBody>
      </p:sp>
      <p:sp>
        <p:nvSpPr>
          <p:cNvPr id="23" name="Rectangle 22"/>
          <p:cNvSpPr/>
          <p:nvPr/>
        </p:nvSpPr>
        <p:spPr>
          <a:xfrm>
            <a:off x="502920" y="5486400"/>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51560" y="539496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Tableau d'extraction + 3 vérifications</a:t>
            </a:r>
          </a:p>
        </p:txBody>
      </p:sp>
      <p:sp>
        <p:nvSpPr>
          <p:cNvPr id="25" name="Rectangle 24"/>
          <p:cNvSpPr/>
          <p:nvPr/>
        </p:nvSpPr>
        <p:spPr>
          <a:xfrm>
            <a:off x="6172200" y="1600200"/>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20840" y="150876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Effectifs du diagramme PRISMA</a:t>
            </a:r>
          </a:p>
        </p:txBody>
      </p:sp>
      <p:sp>
        <p:nvSpPr>
          <p:cNvPr id="27" name="Rectangle 26"/>
          <p:cNvSpPr/>
          <p:nvPr/>
        </p:nvSpPr>
        <p:spPr>
          <a:xfrm>
            <a:off x="6172200" y="2377440"/>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20840" y="228600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Journal des erreurs de l'IA</a:t>
            </a:r>
          </a:p>
        </p:txBody>
      </p:sp>
      <p:sp>
        <p:nvSpPr>
          <p:cNvPr id="29" name="Rectangle 28"/>
          <p:cNvSpPr/>
          <p:nvPr/>
        </p:nvSpPr>
        <p:spPr>
          <a:xfrm>
            <a:off x="6172200" y="3154679"/>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20840" y="3063239"/>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Synthèse sourcée de 300 à 500 mots</a:t>
            </a:r>
          </a:p>
        </p:txBody>
      </p:sp>
      <p:sp>
        <p:nvSpPr>
          <p:cNvPr id="31" name="Rectangle 30"/>
          <p:cNvSpPr/>
          <p:nvPr/>
        </p:nvSpPr>
        <p:spPr>
          <a:xfrm>
            <a:off x="6172200" y="3931919"/>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20840" y="3840479"/>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Grille d'audit qualité – biais – genre</a:t>
            </a:r>
          </a:p>
        </p:txBody>
      </p:sp>
      <p:sp>
        <p:nvSpPr>
          <p:cNvPr id="33" name="Rectangle 32"/>
          <p:cNvSpPr/>
          <p:nvPr/>
        </p:nvSpPr>
        <p:spPr>
          <a:xfrm>
            <a:off x="6172200" y="4709159"/>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20840" y="461772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Déclaration d'usage de l'IA</a:t>
            </a:r>
          </a:p>
        </p:txBody>
      </p:sp>
      <p:sp>
        <p:nvSpPr>
          <p:cNvPr id="35" name="Rectangle 34"/>
          <p:cNvSpPr/>
          <p:nvPr/>
        </p:nvSpPr>
        <p:spPr>
          <a:xfrm>
            <a:off x="6172200" y="5486400"/>
            <a:ext cx="384048" cy="384048"/>
          </a:xfrm>
          <a:prstGeom prst="rect">
            <a:avLst/>
          </a:prstGeom>
          <a:solidFill>
            <a:srgbClr val="FFFFFF"/>
          </a:solidFill>
          <a:ln w="15875">
            <a:solidFill>
              <a:srgbClr val="1F7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20840" y="5394960"/>
            <a:ext cx="4937760" cy="566928"/>
          </a:xfrm>
          <a:prstGeom prst="rect">
            <a:avLst/>
          </a:prstGeom>
          <a:noFill/>
        </p:spPr>
        <p:txBody>
          <a:bodyPr wrap="square" lIns="45720" tIns="27432" rIns="45720" bIns="27432" anchor="ctr">
            <a:spAutoFit/>
          </a:bodyPr>
          <a:lstStyle/>
          <a:p>
            <a:pPr algn="l">
              <a:lnSpc>
                <a:spcPct val="105000"/>
              </a:lnSpc>
            </a:pPr>
            <a:r>
              <a:rPr sz="1700" b="0" i="0">
                <a:solidFill>
                  <a:srgbClr val="222B30"/>
                </a:solidFill>
                <a:latin typeface="Calibri"/>
              </a:rPr>
              <a:t>Plan de valorisation en 3 actions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3C49"/>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005840"/>
            <a:ext cx="10058400" cy="1097280"/>
          </a:xfrm>
          <a:prstGeom prst="rect">
            <a:avLst/>
          </a:prstGeom>
          <a:noFill/>
        </p:spPr>
        <p:txBody>
          <a:bodyPr wrap="square" lIns="45720" tIns="27432" rIns="45720" bIns="27432" anchor="t">
            <a:spAutoFit/>
          </a:bodyPr>
          <a:lstStyle/>
          <a:p>
            <a:pPr algn="l">
              <a:lnSpc>
                <a:spcPct val="105000"/>
              </a:lnSpc>
            </a:pPr>
            <a:r>
              <a:rPr sz="4400" b="1" i="0">
                <a:solidFill>
                  <a:srgbClr val="FFFFFF"/>
                </a:solidFill>
                <a:latin typeface="Georgia"/>
              </a:rPr>
              <a:t>Quiz, questionnaire et merci !</a:t>
            </a:r>
          </a:p>
        </p:txBody>
      </p:sp>
      <p:sp>
        <p:nvSpPr>
          <p:cNvPr id="4" name="TextBox 3"/>
          <p:cNvSpPr txBox="1"/>
          <p:nvPr/>
        </p:nvSpPr>
        <p:spPr>
          <a:xfrm>
            <a:off x="914400" y="2286000"/>
            <a:ext cx="10058400" cy="1645920"/>
          </a:xfrm>
          <a:prstGeom prst="rect">
            <a:avLst/>
          </a:prstGeom>
          <a:noFill/>
        </p:spPr>
        <p:txBody>
          <a:bodyPr wrap="square" lIns="45720" tIns="27432" rIns="45720" bIns="27432" anchor="t">
            <a:spAutoFit/>
          </a:bodyPr>
          <a:lstStyle/>
          <a:p>
            <a:pPr algn="l">
              <a:lnSpc>
                <a:spcPct val="105000"/>
              </a:lnSpc>
            </a:pPr>
            <a:r>
              <a:rPr sz="2200" b="0" i="0" dirty="0">
                <a:solidFill>
                  <a:srgbClr val="E8F1F3"/>
                </a:solidFill>
                <a:latin typeface="Calibri"/>
              </a:rPr>
              <a:t>Quiz des acquis : 12 questions · 20 minutes · 20 points</a:t>
            </a:r>
          </a:p>
          <a:p>
            <a:pPr algn="l">
              <a:lnSpc>
                <a:spcPct val="105000"/>
              </a:lnSpc>
            </a:pPr>
            <a:r>
              <a:rPr sz="2200" b="0" i="0" dirty="0">
                <a:solidFill>
                  <a:srgbClr val="E8F1F3"/>
                </a:solidFill>
                <a:latin typeface="Calibri"/>
              </a:rPr>
              <a:t>Questionnaire à </a:t>
            </a:r>
            <a:r>
              <a:rPr sz="2200" b="0" i="0" dirty="0" err="1">
                <a:solidFill>
                  <a:srgbClr val="E8F1F3"/>
                </a:solidFill>
                <a:latin typeface="Calibri"/>
              </a:rPr>
              <a:t>chaud</a:t>
            </a:r>
            <a:r>
              <a:rPr sz="2200" b="0" i="0" dirty="0">
                <a:solidFill>
                  <a:srgbClr val="E8F1F3"/>
                </a:solidFill>
                <a:latin typeface="Calibri"/>
              </a:rPr>
              <a:t> : 5 questions, anonyme</a:t>
            </a:r>
          </a:p>
        </p:txBody>
      </p:sp>
      <p:sp>
        <p:nvSpPr>
          <p:cNvPr id="5" name="Rounded Rectangle 4"/>
          <p:cNvSpPr/>
          <p:nvPr/>
        </p:nvSpPr>
        <p:spPr>
          <a:xfrm>
            <a:off x="914400" y="4023360"/>
            <a:ext cx="10332720" cy="1188720"/>
          </a:xfrm>
          <a:prstGeom prst="roundRect">
            <a:avLst>
              <a:gd name="adj" fmla="val 12000"/>
            </a:avLst>
          </a:prstGeom>
          <a:solidFill>
            <a:srgbClr val="1F7A8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3000" b="1" i="0">
                <a:solidFill>
                  <a:srgbClr val="E0A526"/>
                </a:solidFill>
                <a:latin typeface="Georgia"/>
              </a:rPr>
              <a:t>« L'IA propose, vous vérifiez. »</a:t>
            </a:r>
          </a:p>
        </p:txBody>
      </p:sp>
      <p:sp>
        <p:nvSpPr>
          <p:cNvPr id="6" name="TextBox 5"/>
          <p:cNvSpPr txBox="1"/>
          <p:nvPr/>
        </p:nvSpPr>
        <p:spPr>
          <a:xfrm>
            <a:off x="914400" y="5577840"/>
            <a:ext cx="10058400" cy="731520"/>
          </a:xfrm>
          <a:prstGeom prst="rect">
            <a:avLst/>
          </a:prstGeom>
          <a:noFill/>
        </p:spPr>
        <p:txBody>
          <a:bodyPr wrap="square" lIns="45720" tIns="27432" rIns="45720" bIns="27432" anchor="t">
            <a:spAutoFit/>
          </a:bodyPr>
          <a:lstStyle/>
          <a:p>
            <a:pPr algn="l">
              <a:lnSpc>
                <a:spcPct val="105000"/>
              </a:lnSpc>
            </a:pPr>
            <a:r>
              <a:rPr sz="1500" b="0" i="0">
                <a:solidFill>
                  <a:srgbClr val="FFFFFF"/>
                </a:solidFill>
                <a:latin typeface="Calibri"/>
              </a:rPr>
              <a:t>Ahoéfa Gaëlle-Fernanda ATTIKPO · M2-nonIT · Université de Lomé – UniPod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5327</Words>
  <Application>Microsoft Office PowerPoint</Application>
  <PresentationFormat>Widescreen</PresentationFormat>
  <Paragraphs>1079</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Ahoéfa</dc:creator>
  <cp:keywords/>
  <dc:description>generated using python-pptx</dc:description>
  <cp:lastModifiedBy>ATD</cp:lastModifiedBy>
  <cp:revision>2</cp:revision>
  <dcterms:created xsi:type="dcterms:W3CDTF">2013-01-27T09:14:16Z</dcterms:created>
  <dcterms:modified xsi:type="dcterms:W3CDTF">2026-10-20T19:01:29Z</dcterms:modified>
  <cp:category/>
</cp:coreProperties>
</file>