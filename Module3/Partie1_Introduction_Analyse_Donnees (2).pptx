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M3-nonIT  ·  PARTIE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Analyse de données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Orange Data Mining  ·  KNIME Analytics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Intermédiaire et Avancée en Intelligence Artificielle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les Femmes Chercheures  ·  Volet Non-IT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21–25 septembre 2026  ·  Université de Lomé — UniPod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Contenu de la partie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0058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 &amp; contexte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2984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Pourquoi l’analyse de données en recherche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Qu’est-ce que l’analyse de données 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9842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Définition, étapes et finalités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377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Types de données en recherche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670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Quantitatives, qualitatives — exemples disciplinaires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063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cycle de l’analyse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3558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Collecte → Préparation → Exploration → Visualisation → Interprétation → Communication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7490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Processus détaillés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041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Méthodes, pièges et bonnes pratiques pour chaque étape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4348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Types de graphiques en détail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7274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Histogramme, boxplot, scatter, barres, mosaic, sieve, nuage de mots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120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5120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Exemples par discipline &amp; synthèse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54132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d’usage éducation, santé, droit, SHS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Objectifs pédagogiques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70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143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Comprendre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étapes fondamentales de l’analyse de données et le rôle central de la visualisation dans le cycle de la recherche.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170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95160" y="1143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Distinguer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95160" y="16459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types de données (quantitatives / qualitatives) et choisir les traitements et visualisations adaptés à chaque type.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47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Maîtriser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40233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cycle complet : collecte, préparation, exploration, visualisation, interprétation et communication des résultats.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474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5478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Appliquer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40233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 choix de graphiques pertinents à des questions de recherche concrètes (éducation, santé, droit, SHS).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 cible &amp; prérequis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394960" cy="4937760"/>
          </a:xfrm>
          <a:prstGeom prst="roundRect">
            <a:avLst>
              <a:gd name="adj" fmla="val 18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80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 CIBLE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Enseignantes-chercheures et chercheures en 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▸  Lettres &amp; Sciences Humaines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▸  Sciences Sociales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▸  Santé &amp; Sciences de la vie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▸  Droit &amp; Sciences juridiques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▸  Sciences de l’éducation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▸  Toute discipline hors informatique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5394960" cy="4937760"/>
          </a:xfrm>
          <a:prstGeom prst="roundRect">
            <a:avLst>
              <a:gd name="adj" fmla="val 18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280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PRÉREQUIS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Aucun prérequis technique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224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Vous n’avez pas besoin de savoir programmer. Les outils présentés fonctionnent par glisser-déposer et configuration visuelle.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566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Compétences utiles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Aisance avec un ordinateur et les fichiers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4480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Notions de tableur (Excel / LibreOffice)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4937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Curiosité pour explorer ses propres données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Contexte de la formation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Pourquoi l’analyse de données en recherche 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61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Passer des données brutes aux insights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données seules ne parlent pas. L’analyse transforme des observations dispersées en connaissances scientifiques structurées et exploitables.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957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286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Renforcer la rigueur scientifique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651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analyse structurée réduit les biais, améliore la reproductibilité et renforce la crédibilité des résultats auprès des pairs et des comités.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301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520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Valoriser ses travaux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886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 visualisations claires facilitent la communication des résultats dans les articles, conférences, rapports et actions de vulgarisation.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646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754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S’intégrer à l’écosystème 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5120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Comprendre et préparer ses données est le socle de toute démarche « AI Ready ». Sans données propres et explorées, pas d’IA utile ni fiable.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Généralités sur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l’analyse de données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Qu’est-ce que l’analyse de données 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L’analyse de données est le processus qui consiste à inspecter, nettoyer, transformer et modéliser des données afin d’en extraire des informations utiles, de formuler des conclusions et de soutenir la prise de décision — en recherche comme en action publique.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8346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07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Comprendre la structure, les distributions, les valeurs manquantes, les relations entre variables et les éventuelles anomalies.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56032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8346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907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3520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Décrire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402336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Résumer les données par des statistiques descriptives, des tableaux croisés et des visualisations claires et lisibles.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256032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28346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9077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66760" y="3520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Interpréter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66760" y="402336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Relier les observations aux questions de recherche, formuler des conclusions argumentées et identifier les limites.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Types de données rencontrées en recherche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DONNÉES QUANTITATIVES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Mesures numériques — moyennes, écarts, corrélations.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Continues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Peuvent prendre n’importe quelle valeur dans un intervalle : âge, revenu, température, score, durée, IMC, tension artérielle, note sur 20.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Discrètes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Valeurs entières dénombrables : nombre d’enfants, de publications, de consultations, de jours d’absence.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Exemples disciplinaires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526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SHS : score Likert (1–5), taux de réponse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Santé : durée d’hospitalisation, charge virale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Éducation : notes, taux d’absentéisme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914400"/>
            <a:ext cx="5394960" cy="5029200"/>
          </a:xfrm>
          <a:prstGeom prst="roundRect">
            <a:avLst>
              <a:gd name="adj" fmla="val 1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097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DONNÉES QUALITATIVES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Catégories, ordres ou textes — on compte, on croise, on code.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Nominales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 d’ordre naturel : genre, région, discipline, statut matrimonial, type de contentieux, diagnostic.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Ordinales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33375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Ordre significatif : niveau d’études, satisfaction (faible → élevé), grade clinique, échelle de Likert.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4069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Textuelles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44348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Réponses ouvertes, entretiens, articles, décisions de justice — nécessitent un codage ou une analyse textuelle.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cycle de l’analyse de données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53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Collecte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Enquêtes, bases, entretiens, observations, archives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0058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2801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353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Préparation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26280" y="2011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Nettoyage, formatage, manquants, recodage, anonymisation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0058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2801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353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6112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66760" y="2011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Statistiques descriptives, distributions, tableaux croisés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7490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822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Visualisation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5800" y="4480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Graphiques, tableaux, cartes, nuages de mots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97680" y="347472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37490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822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2064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Interprétation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526280" y="4480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Lien aux questions de recherche, conclusions, limites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38160" y="347472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66760" y="37490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3822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6112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Communication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366760" y="4480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Rapports, articles, présentations, vulgarisation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Collecte — sources et enjeux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Enquêtes par questionnaire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Papier ou en ligne (Google Forms, KoBo…). Attention au biais de non-réponse et à la formulation des questions.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Bases de données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2801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Institutionnelles (universités, hôpitaux, tribunaux) ou publiques (open data). Vérifier droits d’accès et qualité.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Entretiens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Semi-directifs ou libres. Nécessitent transcription, anonymisation et codage thématique avant analyse.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Observations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971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Grilles d’observation structurées (comportements, interactions). Utile en éducation et santé communautaire.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Archives &amp; dossiers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Dossiers médicaux, décisions de justice, archives administratives. Respect strict de la confidentialité.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Données secondaires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46634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Rapports, publications, open data. Toujours citer la source et documenter les transformations.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Préparation — nettoyage et structuration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623560" cy="2423160"/>
          </a:xfrm>
          <a:prstGeom prst="roundRect">
            <a:avLst>
              <a:gd name="adj" fmla="val 30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Nettoyage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Corriger les erreurs de saisie (fautes, codes incohérents)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Éliminer ou fusionner les doublons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Vérifier la cohérence interne (âge vs date de naissance)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914400"/>
            <a:ext cx="5623560" cy="2423160"/>
          </a:xfrm>
          <a:prstGeom prst="roundRect">
            <a:avLst>
              <a:gd name="adj" fmla="val 30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0972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155448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Unifier les formats de dates, d’unités et de codages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01168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Standardiser les libellés de catégories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Convertir les types (texte → numérique si pertinent)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5623560" cy="2423160"/>
          </a:xfrm>
          <a:prstGeom prst="roundRect">
            <a:avLst>
              <a:gd name="adj" fmla="val 30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033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Valeurs manquantes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416052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Identifier le taux et le pattern de manquants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61772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Documenter : MCAR, MAR ou MNAR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507492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Décider : exclure, imputer ou conserver comme catégorie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520440"/>
            <a:ext cx="5623560" cy="2423160"/>
          </a:xfrm>
          <a:prstGeom prst="roundRect">
            <a:avLst>
              <a:gd name="adj" fmla="val 30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7033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Recodage &amp; anonymisation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37960" y="416052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Créer des scores, indicateurs, regroupements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461772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Supprimer ou masquer les identifiants personnels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507492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Rédiger un codebook / dictionnaire de variables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Exploration — comprendre avant d’interpréter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Objectif : comprendre la structure des données avant toute interprétation avancée ou modélisation.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Statistiques descriptives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Moyenne, médiane, mode, écart-type, min/max, quartiles. Où se situe le centre ? Quelle est la dispersion 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Fréquences &amp; pourcentages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6916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les variables catégorielles : effectifs, proportions, modalités dominantes. Attention aux catégories rares.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Tableaux croisés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Croiser deux (ou plus) variables catégorielles. Observer les associations, cellules vides, déséquilibres.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Valeurs aberrantes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3200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Repérer les outliers (IQR, z-score). Erreurs, cas particuliers ou signaux importants 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Forme des distributions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Normalité, asymétrie, multimodalités. Influence le choix des tests et visualisations.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Qualité globale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47091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Taux de manquants par variable, cohérence des codages, problèmes de collecte à documenter.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Visualisation — voir pour comprendre et communiquer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97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« Une image vaut mille mots » — en recherche, une bonne visualisation peut valoir mille lignes de résultats statistiques. Elle révèle, guide, communique et détecte.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743200" cy="36576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04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Révéler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Patterns, clusters, outliers et tendances invisibles dans les tableaux de chiffres.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2103120"/>
            <a:ext cx="2743200" cy="36576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23317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404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Communiquer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35661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Faciliter la compréhension par des pairs non-spécialistes, des décideurs ou le grand public.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103120"/>
            <a:ext cx="2743200" cy="36576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23317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404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Guider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visualisations interactives orientent les prochaines questions et hypothèses de recherche.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98280" y="2103120"/>
            <a:ext cx="2743200" cy="36576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1160" y="23317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2404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8116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Détecter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81160" y="35661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Anomalies, erreurs de collecte, valeurs aberrantes et problèmes de qualité des données.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&amp; 6. Interprétation &amp; Communication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INTERPRÉTATION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Principes directeurs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Relier toujours les résultats aux questions de recherche initiales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Distinguer corrélation et causalité — une association n’implique pas un lien causal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Tenir compte des limites (échantillon, biais, manquants)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Éviter la surinterprétation des patterns visuels isolés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Comparer avec la littérature et les hypothèses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Documenter les choix méthodologiques et les exclusions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914400"/>
            <a:ext cx="5394960" cy="5029200"/>
          </a:xfrm>
          <a:prstGeom prst="roundRect">
            <a:avLst>
              <a:gd name="adj" fmla="val 1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097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COMMUNICATION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Supports et bonnes pratiques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Articles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2011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Figures claires, légendes complètes, sources et notes méthodologiques.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Conférences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Graphiques lisibles à distance, messages clés en une phrase.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Rapports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Tableaux + visualisations complémentaires, recommandations.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Vulgarisation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Simplifier sans dénaturer ; métaphores et exemples.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Reproductibilité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4754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Partager le workflow, le codebook et les données anonymisées.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Types de graphiques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détail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Choisir le bon graphique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Selon la nature des données (numérique / catégorielle) et le message (distribution, comparaison, relation, composition).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37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Histogramme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Distribution d’une variable numérique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737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Box Plot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Comparaison de distributions entre groupes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737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Scatter Plot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Relation entre deux variables numériques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931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" y="4434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Diagramme en barres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4846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Fréquences ou moyennes par catégorie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0" y="36576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3931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34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Mosaic / Sieve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26280" y="4846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Associations entre variables catégorielles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38160" y="36576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3931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66760" y="4434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Nuage de mots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66760" y="4846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Fréquence des termes dans un corpus textuel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Histogramme — distribution d’une variable numérique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Principe : découper l’axe des valeurs en intervalles (bins) et compter le nombre d’observations dans chaque intervalle. La hauteur des barres représente la fréquence (ou la densité).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quoi ça sert 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Voir la forme de la distribution (normale, asymétrique, bimodale…)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Repérer les concentrations et les zones vides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Identifier les outliers isolés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Comparer à une référence théorique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Bonnes pratiques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377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Choisir un nombre de bins adapté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32004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Toujours indiquer l’unité et le 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4023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Éviter de superposer trop de distributions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4846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Compléter par moyenne / médiane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Exemples concrets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2377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Santé : distribution de l’âge des patients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38160" y="32004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Éducation : distribution des notes à un examen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38160" y="4023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SHS : scores d’une échelle de satisfaction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Box Plot — comparaison de distributions entre groupes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Principe : pour chaque groupe, la « boîte » représente l’intervalle interquartile (Q1–Q3), la ligne centrale la médiane, et les « moustaches » s’étendent jusqu’aux valeurs non aberrantes. Les points isolés sont des outliers.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quoi ça sert 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Comparer médiane, dispersion et outliers entre groupes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Repérer les asymétries (médiane décalée)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Identifier les groupes plus homogènes ou variables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Bonnes pratiques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2468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Limiter le nombre de groupes (lisibilité)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3474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Indiquer les effectifs (n) par groupe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4480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Compléter par un test si besoin (reste exploratoire)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Exemples concrets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2468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Éducation : satisfaction selon la filière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3474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Santé : durée d’hospitalisation selon le diagnostic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4480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Droit : durée des procédures selon le type de contentieux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Scatter Plot &amp; Diagramme en barres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SCATTER PLOT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Relation entre deux variables numériques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Chaque observation est un point (x, y). On cherche une tendance, des clusters ou des outliers. Souvent enrichi d’une droite de régression.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Éducation : charge de travail vs satisfaction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Santé : IMC vs tension artérielle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SHS : revenu vs accès aux services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822960"/>
            <a:ext cx="5394960" cy="5029200"/>
          </a:xfrm>
          <a:prstGeom prst="roundRect">
            <a:avLst>
              <a:gd name="adj" fmla="val 1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005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DIAGRAMME EN BARRES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Fréquences ou moyennes par catégorie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Chaque barre représente une catégorie. Longueur = effectif, % ou moyenne. Version empilée pour les compositions.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926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2918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Droit : fréquences des types de contentieux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Santé : consultations par zone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Éducation : filières selon le genre (empilé)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Mosaic, Sieve &amp; Nuage de mots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749040" cy="5029200"/>
          </a:xfrm>
          <a:prstGeom prst="roundRect">
            <a:avLst>
              <a:gd name="adj" fmla="val 19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MOSAIC DISPLAY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Relations entre variables catégorielles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Rectangles proportionnels aux fréquences jointes. Idéal en SHS pour croiser genre × statut × opinion.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7490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Genre × niveau d’études × opinion sur une politique publique. Les cellules sur- ou sous-représentées apparaissent immédiatement.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822960"/>
            <a:ext cx="3749040" cy="5029200"/>
          </a:xfrm>
          <a:prstGeom prst="roundRect">
            <a:avLst>
              <a:gd name="adj" fmla="val 19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005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SIEVE DIAGRAM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Observé vs attendu sous indépendance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0116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 fréquences observées et attendues. La densité des points indique la force de l’association.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37490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 de contentieux × issue de la décision (favorable / défavorable). Les densités révèlent les associations fortes.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822960"/>
            <a:ext cx="3474720" cy="502920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NUAGE DE MOTS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5820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Fréquence des termes dans un corpus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58200" y="20116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 mots les plus fréquents apparaissent plus grands. Exploration rapide de réponses ouvertes ou d’entretiens.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5820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58200" y="37490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Réponses ouvertes sur les motivations d’un choix de filière ou de métier.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Formation IA Femmes Chercheures  |  Module Analyse de données No-Code  |  ProDigiT / ATD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Exemples par discipline &amp; points clés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Éducation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777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Réussite scolaire 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7772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Histogrammes notes · Boxplots contexte socio-éco · Scatter charge × satisfaction · Barres empilées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Santé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Couverture vaccinale &amp; profils 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77840" y="1554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Séries temporelles · Cartes · Histogrammes âge · Boxplots durée séjour · Barres diagnostics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Droit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Contentieux les plus fréquents 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23317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Barres fréquences · Boxplots durée procédures · Mosaic type × issue · Sieve associations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Opinions dominantes 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31089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Nuages de mots · Co-occurrences · Mosaic genre × opinion · Sieve · Barres d’opinions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10642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97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Points clés : comprendre les données avant de visualiser · cycle itératif et documenté · choix du graphique stratégique · éthique et reproductibilité prioritaires.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Partie 2 : Approche No-Code · Orange Data Mining · KNIME Analytics Platform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Université de Lomé — UniPod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Partie 1 — Introduction &amp; Analyse de données</dc:title>
  <dc:subject>PptxGenJS Presentation</dc:subject>
  <dc:creator>Formation IA Femmes Chercheures · ProDigiT / ATD</dc:creator>
  <cp:lastModifiedBy>Formation IA Femmes Chercheures · ProDigiT / ATD</cp:lastModifiedBy>
  <cp:revision>1</cp:revision>
  <dcterms:created xsi:type="dcterms:W3CDTF">2026-10-20T21:03:45Z</dcterms:created>
  <dcterms:modified xsi:type="dcterms:W3CDTF">2026-10-20T21:03:45Z</dcterms:modified>
</cp:coreProperties>
</file>